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 bookmarkIdSeed="2">
  <p:sldMasterIdLst>
    <p:sldMasterId id="2147483648" r:id="rId1"/>
    <p:sldMasterId id="2147483657" r:id="rId2"/>
  </p:sldMasterIdLst>
  <p:notesMasterIdLst>
    <p:notesMasterId r:id="rId14"/>
  </p:notesMasterIdLst>
  <p:sldIdLst>
    <p:sldId id="1257" r:id="rId3"/>
    <p:sldId id="1393" r:id="rId4"/>
    <p:sldId id="1426" r:id="rId5"/>
    <p:sldId id="1429" r:id="rId6"/>
    <p:sldId id="1427" r:id="rId7"/>
    <p:sldId id="1428" r:id="rId8"/>
    <p:sldId id="1425" r:id="rId9"/>
    <p:sldId id="1430" r:id="rId10"/>
    <p:sldId id="1423" r:id="rId11"/>
    <p:sldId id="1424" r:id="rId12"/>
    <p:sldId id="99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4DC5EF-F422-4A4A-AE2D-E811906D492D}">
          <p14:sldIdLst>
            <p14:sldId id="1257"/>
            <p14:sldId id="1393"/>
            <p14:sldId id="1426"/>
            <p14:sldId id="1429"/>
            <p14:sldId id="1427"/>
            <p14:sldId id="1428"/>
            <p14:sldId id="1425"/>
            <p14:sldId id="1430"/>
            <p14:sldId id="1423"/>
            <p14:sldId id="1424"/>
            <p14:sldId id="9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307E"/>
    <a:srgbClr val="0000CC"/>
    <a:srgbClr val="F9BC12"/>
    <a:srgbClr val="0000FF"/>
    <a:srgbClr val="B962FF"/>
    <a:srgbClr val="FDCB0B"/>
    <a:srgbClr val="FFD700"/>
    <a:srgbClr val="FFD801"/>
    <a:srgbClr val="EFB914"/>
    <a:srgbClr val="F5B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20" autoAdjust="0"/>
    <p:restoredTop sz="97059" autoAdjust="0"/>
  </p:normalViewPr>
  <p:slideViewPr>
    <p:cSldViewPr snapToGrid="0" snapToObjects="1">
      <p:cViewPr varScale="1">
        <p:scale>
          <a:sx n="124" d="100"/>
          <a:sy n="124" d="100"/>
        </p:scale>
        <p:origin x="384" y="184"/>
      </p:cViewPr>
      <p:guideLst/>
    </p:cSldViewPr>
  </p:slideViewPr>
  <p:outlineViewPr>
    <p:cViewPr>
      <p:scale>
        <a:sx n="33" d="100"/>
        <a:sy n="33" d="100"/>
      </p:scale>
      <p:origin x="0" y="-3432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2025/4/9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0564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4868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973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0550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7809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7403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3328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5909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3667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939" y="-8628"/>
            <a:ext cx="8755906" cy="901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区块链技术与应用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B135FE-0B53-4AC4-B659-90621587F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71879" y="0"/>
            <a:ext cx="3012141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680" indent="-36068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/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/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/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/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/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/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/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/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/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/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84CEC7B-57FC-4F9E-AA77-21D3AC7B4B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直线连接符 8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841371-3C71-4398-BE31-04FC89440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279A2F-85B5-794E-ADF1-0805CD3C44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lab.fudan.edu.cn/blockchain/experiment/lis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-lab.fudan.edu.cn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hyperlink" Target="https://i-lab.fudan.edu.cn/gcyjskx/qkljsxnfzjxpt.htm" TargetMode="Externa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125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第三章 比特币</a:t>
            </a:r>
            <a:br>
              <a:rPr kumimoji="1" lang="en-US" altLang="zh-CN" dirty="0"/>
            </a:br>
            <a:r>
              <a:rPr kumimoji="1" lang="en-US" altLang="zh-CN" sz="3600" dirty="0"/>
              <a:t>——</a:t>
            </a:r>
            <a:r>
              <a:rPr kumimoji="1" lang="zh-CN" altLang="en-US" sz="3600" dirty="0"/>
              <a:t>比特币安全性</a:t>
            </a:r>
            <a:r>
              <a:rPr kumimoji="1" lang="en-US" altLang="zh-CN" sz="3600" dirty="0"/>
              <a:t>&amp;</a:t>
            </a:r>
            <a:r>
              <a:rPr kumimoji="1" lang="zh-CN" altLang="en-US" sz="3600" dirty="0"/>
              <a:t>实验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11207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授课教师：侯璐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/>
              <a:t>信息与通信工程学院</a:t>
            </a:r>
            <a:endParaRPr kumimoji="1" lang="en-US" altLang="zh-C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3.9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比特币安全性分析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3.10 </a:t>
            </a:r>
            <a:r>
              <a:rPr kumimoji="1" lang="zh-CN" altLang="en-US" dirty="0">
                <a:latin typeface="Garamond" panose="02020404030301010803" pitchFamily="18" charset="0"/>
              </a:rPr>
              <a:t>比特币实验平台</a:t>
            </a:r>
            <a:endParaRPr kumimoji="1"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  <p:sp>
        <p:nvSpPr>
          <p:cNvPr id="6" name="矩形标注 6">
            <a:extLst>
              <a:ext uri="{FF2B5EF4-FFF2-40B4-BE49-F238E27FC236}">
                <a16:creationId xmlns:a16="http://schemas.microsoft.com/office/drawing/2014/main" id="{623C7858-36BD-405E-BDC0-6FDF6548BAD3}"/>
              </a:ext>
            </a:extLst>
          </p:cNvPr>
          <p:cNvSpPr/>
          <p:nvPr/>
        </p:nvSpPr>
        <p:spPr>
          <a:xfrm>
            <a:off x="6565308" y="1522857"/>
            <a:ext cx="3255413" cy="2811017"/>
          </a:xfrm>
          <a:prstGeom prst="wedgeRectCallout">
            <a:avLst>
              <a:gd name="adj1" fmla="val -97116"/>
              <a:gd name="adj2" fmla="val -4039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单点故障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双花攻击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自私采矿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51%</a:t>
            </a: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攻击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矿池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07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单点故障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(Single-point Failure)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642897" y="6356350"/>
            <a:ext cx="1154247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43A772C-76DD-49AB-B008-58997C20AB3C}"/>
              </a:ext>
            </a:extLst>
          </p:cNvPr>
          <p:cNvSpPr txBox="1"/>
          <p:nvPr/>
        </p:nvSpPr>
        <p:spPr>
          <a:xfrm>
            <a:off x="701406" y="1445936"/>
            <a:ext cx="10553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比特币去中心化机制，全球无数节点共同维护区块链账本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A6BF84FF-1FFA-377E-AA48-4BA539C69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75" y="1834507"/>
            <a:ext cx="574604" cy="574604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934B63C2-6768-4C88-8AA1-9F000D611652}"/>
              </a:ext>
            </a:extLst>
          </p:cNvPr>
          <p:cNvSpPr txBox="1"/>
          <p:nvPr/>
        </p:nvSpPr>
        <p:spPr>
          <a:xfrm>
            <a:off x="697635" y="193714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什么是单点故障？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28171A22-B35C-4FCF-82B5-45A8F798A2E9}"/>
              </a:ext>
            </a:extLst>
          </p:cNvPr>
          <p:cNvSpPr txBox="1"/>
          <p:nvPr/>
        </p:nvSpPr>
        <p:spPr>
          <a:xfrm>
            <a:off x="1207822" y="240523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中心化系统</a:t>
            </a:r>
          </a:p>
        </p:txBody>
      </p:sp>
      <p:sp>
        <p:nvSpPr>
          <p:cNvPr id="105" name="星形: 六角 104">
            <a:extLst>
              <a:ext uri="{FF2B5EF4-FFF2-40B4-BE49-F238E27FC236}">
                <a16:creationId xmlns:a16="http://schemas.microsoft.com/office/drawing/2014/main" id="{47A46BD3-63E3-4979-9AA9-DE685E5CFDEA}"/>
              </a:ext>
            </a:extLst>
          </p:cNvPr>
          <p:cNvSpPr/>
          <p:nvPr/>
        </p:nvSpPr>
        <p:spPr>
          <a:xfrm>
            <a:off x="1692570" y="2787857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2CE23569-C1A1-4786-B5D4-27C22BB35293}"/>
              </a:ext>
            </a:extLst>
          </p:cNvPr>
          <p:cNvSpPr/>
          <p:nvPr/>
        </p:nvSpPr>
        <p:spPr>
          <a:xfrm>
            <a:off x="574621" y="3269417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5F599AED-9381-4DE0-9BFC-033ACAC3E469}"/>
              </a:ext>
            </a:extLst>
          </p:cNvPr>
          <p:cNvSpPr/>
          <p:nvPr/>
        </p:nvSpPr>
        <p:spPr>
          <a:xfrm>
            <a:off x="1098769" y="3678670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F4207080-E7F3-493F-9354-C67EC58F2223}"/>
              </a:ext>
            </a:extLst>
          </p:cNvPr>
          <p:cNvSpPr/>
          <p:nvPr/>
        </p:nvSpPr>
        <p:spPr>
          <a:xfrm>
            <a:off x="1791511" y="3850120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FED4AD7F-D507-47AC-B665-B12C4B2435C5}"/>
              </a:ext>
            </a:extLst>
          </p:cNvPr>
          <p:cNvSpPr/>
          <p:nvPr/>
        </p:nvSpPr>
        <p:spPr>
          <a:xfrm>
            <a:off x="2484253" y="3678670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2F762C3A-B896-441B-8513-FD88AA7D19B5}"/>
              </a:ext>
            </a:extLst>
          </p:cNvPr>
          <p:cNvSpPr/>
          <p:nvPr/>
        </p:nvSpPr>
        <p:spPr>
          <a:xfrm>
            <a:off x="3079696" y="3269417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0E5990A5-D7C0-4F6E-8292-F67EF9D3F968}"/>
              </a:ext>
            </a:extLst>
          </p:cNvPr>
          <p:cNvCxnSpPr>
            <a:stCxn id="106" idx="6"/>
            <a:endCxn id="105" idx="3"/>
          </p:cNvCxnSpPr>
          <p:nvPr/>
        </p:nvCxnSpPr>
        <p:spPr>
          <a:xfrm flipV="1">
            <a:off x="746071" y="3064856"/>
            <a:ext cx="946499" cy="29028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19CFD71-CD73-44EE-A49E-DA38C3E8DCD0}"/>
              </a:ext>
            </a:extLst>
          </p:cNvPr>
          <p:cNvCxnSpPr>
            <a:stCxn id="107" idx="7"/>
            <a:endCxn id="105" idx="2"/>
          </p:cNvCxnSpPr>
          <p:nvPr/>
        </p:nvCxnSpPr>
        <p:spPr>
          <a:xfrm flipV="1">
            <a:off x="1245111" y="3157189"/>
            <a:ext cx="632125" cy="546589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EFFAFB24-4231-48D1-8A6C-478F7CB743EC}"/>
              </a:ext>
            </a:extLst>
          </p:cNvPr>
          <p:cNvCxnSpPr>
            <a:stCxn id="108" idx="0"/>
            <a:endCxn id="105" idx="2"/>
          </p:cNvCxnSpPr>
          <p:nvPr/>
        </p:nvCxnSpPr>
        <p:spPr>
          <a:xfrm flipV="1">
            <a:off x="1877236" y="3157189"/>
            <a:ext cx="0" cy="692931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83DEA43F-E82E-4F7E-84C3-DF97392C3130}"/>
              </a:ext>
            </a:extLst>
          </p:cNvPr>
          <p:cNvCxnSpPr>
            <a:stCxn id="109" idx="1"/>
            <a:endCxn id="105" idx="2"/>
          </p:cNvCxnSpPr>
          <p:nvPr/>
        </p:nvCxnSpPr>
        <p:spPr>
          <a:xfrm flipH="1" flipV="1">
            <a:off x="1877236" y="3157189"/>
            <a:ext cx="632125" cy="546589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A05CC3B2-EBAC-439D-8422-812EFFACC467}"/>
              </a:ext>
            </a:extLst>
          </p:cNvPr>
          <p:cNvCxnSpPr>
            <a:stCxn id="110" idx="2"/>
            <a:endCxn id="105" idx="1"/>
          </p:cNvCxnSpPr>
          <p:nvPr/>
        </p:nvCxnSpPr>
        <p:spPr>
          <a:xfrm flipH="1" flipV="1">
            <a:off x="2061902" y="3064856"/>
            <a:ext cx="1017794" cy="29028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E7AB4938-DBDC-456D-BF16-4B71264CB30E}"/>
              </a:ext>
            </a:extLst>
          </p:cNvPr>
          <p:cNvSpPr txBox="1"/>
          <p:nvPr/>
        </p:nvSpPr>
        <p:spPr>
          <a:xfrm>
            <a:off x="1323238" y="414544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单点故障</a:t>
            </a:r>
          </a:p>
        </p:txBody>
      </p:sp>
      <p:sp>
        <p:nvSpPr>
          <p:cNvPr id="122" name="星形: 六角 121">
            <a:extLst>
              <a:ext uri="{FF2B5EF4-FFF2-40B4-BE49-F238E27FC236}">
                <a16:creationId xmlns:a16="http://schemas.microsoft.com/office/drawing/2014/main" id="{78EF0CCE-34DC-4125-B1D1-9CAE1B70C122}"/>
              </a:ext>
            </a:extLst>
          </p:cNvPr>
          <p:cNvSpPr/>
          <p:nvPr/>
        </p:nvSpPr>
        <p:spPr>
          <a:xfrm>
            <a:off x="1692570" y="4605386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EFCF1680-2A9A-4F5B-89FB-0E201D4B0486}"/>
              </a:ext>
            </a:extLst>
          </p:cNvPr>
          <p:cNvSpPr/>
          <p:nvPr/>
        </p:nvSpPr>
        <p:spPr>
          <a:xfrm>
            <a:off x="574621" y="5086946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9EB4E609-6E01-4AC1-9329-38990A869086}"/>
              </a:ext>
            </a:extLst>
          </p:cNvPr>
          <p:cNvSpPr/>
          <p:nvPr/>
        </p:nvSpPr>
        <p:spPr>
          <a:xfrm>
            <a:off x="1098769" y="5496199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EFA7CC21-43CB-4285-9691-8E98120EFD23}"/>
              </a:ext>
            </a:extLst>
          </p:cNvPr>
          <p:cNvSpPr/>
          <p:nvPr/>
        </p:nvSpPr>
        <p:spPr>
          <a:xfrm>
            <a:off x="1791511" y="5667649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262A1AA1-A367-429E-98D9-533962656F92}"/>
              </a:ext>
            </a:extLst>
          </p:cNvPr>
          <p:cNvSpPr/>
          <p:nvPr/>
        </p:nvSpPr>
        <p:spPr>
          <a:xfrm>
            <a:off x="2484253" y="5496199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101253AD-C34F-4DD8-A586-AC28B67D7AF3}"/>
              </a:ext>
            </a:extLst>
          </p:cNvPr>
          <p:cNvSpPr/>
          <p:nvPr/>
        </p:nvSpPr>
        <p:spPr>
          <a:xfrm>
            <a:off x="3079696" y="5086946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D15DFDAC-9F1F-460A-A798-93A5BCD46093}"/>
              </a:ext>
            </a:extLst>
          </p:cNvPr>
          <p:cNvCxnSpPr>
            <a:stCxn id="123" idx="6"/>
            <a:endCxn id="122" idx="3"/>
          </p:cNvCxnSpPr>
          <p:nvPr/>
        </p:nvCxnSpPr>
        <p:spPr>
          <a:xfrm flipV="1">
            <a:off x="746071" y="4882385"/>
            <a:ext cx="946499" cy="29028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5BE3E243-0848-4533-8800-19EB76D890D5}"/>
              </a:ext>
            </a:extLst>
          </p:cNvPr>
          <p:cNvCxnSpPr>
            <a:stCxn id="124" idx="7"/>
            <a:endCxn id="122" idx="2"/>
          </p:cNvCxnSpPr>
          <p:nvPr/>
        </p:nvCxnSpPr>
        <p:spPr>
          <a:xfrm flipV="1">
            <a:off x="1245111" y="4974718"/>
            <a:ext cx="632125" cy="546589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BF42D62E-5B1D-434B-A182-F9205D983565}"/>
              </a:ext>
            </a:extLst>
          </p:cNvPr>
          <p:cNvCxnSpPr>
            <a:stCxn id="125" idx="0"/>
            <a:endCxn id="122" idx="2"/>
          </p:cNvCxnSpPr>
          <p:nvPr/>
        </p:nvCxnSpPr>
        <p:spPr>
          <a:xfrm flipV="1">
            <a:off x="1877236" y="4974718"/>
            <a:ext cx="0" cy="692931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21CC8CDA-56A4-4267-9A55-98ED4C3318A9}"/>
              </a:ext>
            </a:extLst>
          </p:cNvPr>
          <p:cNvCxnSpPr>
            <a:stCxn id="126" idx="1"/>
            <a:endCxn id="122" idx="2"/>
          </p:cNvCxnSpPr>
          <p:nvPr/>
        </p:nvCxnSpPr>
        <p:spPr>
          <a:xfrm flipH="1" flipV="1">
            <a:off x="1877236" y="4974718"/>
            <a:ext cx="632125" cy="546589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BDE87EF1-7BEA-4151-965F-ACBF864B2F97}"/>
              </a:ext>
            </a:extLst>
          </p:cNvPr>
          <p:cNvCxnSpPr>
            <a:stCxn id="127" idx="2"/>
            <a:endCxn id="122" idx="1"/>
          </p:cNvCxnSpPr>
          <p:nvPr/>
        </p:nvCxnSpPr>
        <p:spPr>
          <a:xfrm flipH="1" flipV="1">
            <a:off x="2061902" y="4882385"/>
            <a:ext cx="1017794" cy="29028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乘号 176">
            <a:extLst>
              <a:ext uri="{FF2B5EF4-FFF2-40B4-BE49-F238E27FC236}">
                <a16:creationId xmlns:a16="http://schemas.microsoft.com/office/drawing/2014/main" id="{980BF6F5-4A5F-4E4A-B443-FF61CE9E2FB4}"/>
              </a:ext>
            </a:extLst>
          </p:cNvPr>
          <p:cNvSpPr/>
          <p:nvPr/>
        </p:nvSpPr>
        <p:spPr>
          <a:xfrm>
            <a:off x="1561173" y="4463234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4" name="乘号 176">
            <a:extLst>
              <a:ext uri="{FF2B5EF4-FFF2-40B4-BE49-F238E27FC236}">
                <a16:creationId xmlns:a16="http://schemas.microsoft.com/office/drawing/2014/main" id="{E3B5DB44-3BB8-47F6-BB2F-1A53037D11B6}"/>
              </a:ext>
            </a:extLst>
          </p:cNvPr>
          <p:cNvSpPr/>
          <p:nvPr/>
        </p:nvSpPr>
        <p:spPr>
          <a:xfrm>
            <a:off x="851494" y="4718649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5" name="乘号 176">
            <a:extLst>
              <a:ext uri="{FF2B5EF4-FFF2-40B4-BE49-F238E27FC236}">
                <a16:creationId xmlns:a16="http://schemas.microsoft.com/office/drawing/2014/main" id="{2B712E93-576B-471A-8D27-2EE92DE7B459}"/>
              </a:ext>
            </a:extLst>
          </p:cNvPr>
          <p:cNvSpPr/>
          <p:nvPr/>
        </p:nvSpPr>
        <p:spPr>
          <a:xfrm>
            <a:off x="1175725" y="5011120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6" name="乘号 176">
            <a:extLst>
              <a:ext uri="{FF2B5EF4-FFF2-40B4-BE49-F238E27FC236}">
                <a16:creationId xmlns:a16="http://schemas.microsoft.com/office/drawing/2014/main" id="{7221F5E1-DC91-4315-B27F-EA409800FC29}"/>
              </a:ext>
            </a:extLst>
          </p:cNvPr>
          <p:cNvSpPr/>
          <p:nvPr/>
        </p:nvSpPr>
        <p:spPr>
          <a:xfrm>
            <a:off x="1566080" y="5115422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7" name="乘号 176">
            <a:extLst>
              <a:ext uri="{FF2B5EF4-FFF2-40B4-BE49-F238E27FC236}">
                <a16:creationId xmlns:a16="http://schemas.microsoft.com/office/drawing/2014/main" id="{0EAB5416-189D-4B45-A038-9682D2021055}"/>
              </a:ext>
            </a:extLst>
          </p:cNvPr>
          <p:cNvSpPr/>
          <p:nvPr/>
        </p:nvSpPr>
        <p:spPr>
          <a:xfrm>
            <a:off x="1942237" y="5005482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8" name="乘号 176">
            <a:extLst>
              <a:ext uri="{FF2B5EF4-FFF2-40B4-BE49-F238E27FC236}">
                <a16:creationId xmlns:a16="http://schemas.microsoft.com/office/drawing/2014/main" id="{9F3DD892-54D5-40C9-8C99-FD98757D3F9C}"/>
              </a:ext>
            </a:extLst>
          </p:cNvPr>
          <p:cNvSpPr/>
          <p:nvPr/>
        </p:nvSpPr>
        <p:spPr>
          <a:xfrm>
            <a:off x="2241959" y="4740614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4CCBAC88-B2BE-4484-AFA0-5973DF839F35}"/>
              </a:ext>
            </a:extLst>
          </p:cNvPr>
          <p:cNvSpPr txBox="1"/>
          <p:nvPr/>
        </p:nvSpPr>
        <p:spPr>
          <a:xfrm>
            <a:off x="118661" y="5947549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中心节点发生故障，整个系统瘫痪</a:t>
            </a:r>
          </a:p>
        </p:txBody>
      </p:sp>
      <p:pic>
        <p:nvPicPr>
          <p:cNvPr id="140" name="图片 139">
            <a:extLst>
              <a:ext uri="{FF2B5EF4-FFF2-40B4-BE49-F238E27FC236}">
                <a16:creationId xmlns:a16="http://schemas.microsoft.com/office/drawing/2014/main" id="{DF6CF6CC-615B-44BF-9D6E-F670B23E8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1" y="1834507"/>
            <a:ext cx="574606" cy="574606"/>
          </a:xfrm>
          <a:prstGeom prst="rect">
            <a:avLst/>
          </a:prstGeom>
        </p:spPr>
      </p:pic>
      <p:sp>
        <p:nvSpPr>
          <p:cNvPr id="141" name="文本框 140">
            <a:extLst>
              <a:ext uri="{FF2B5EF4-FFF2-40B4-BE49-F238E27FC236}">
                <a16:creationId xmlns:a16="http://schemas.microsoft.com/office/drawing/2014/main" id="{B6B04CB0-593E-4891-BFF3-E1EDEDC3AC08}"/>
              </a:ext>
            </a:extLst>
          </p:cNvPr>
          <p:cNvSpPr txBox="1"/>
          <p:nvPr/>
        </p:nvSpPr>
        <p:spPr>
          <a:xfrm>
            <a:off x="4469947" y="193714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解决方法：分布式容灾</a:t>
            </a:r>
          </a:p>
        </p:txBody>
      </p:sp>
      <p:sp>
        <p:nvSpPr>
          <p:cNvPr id="142" name="星形: 六角 141">
            <a:extLst>
              <a:ext uri="{FF2B5EF4-FFF2-40B4-BE49-F238E27FC236}">
                <a16:creationId xmlns:a16="http://schemas.microsoft.com/office/drawing/2014/main" id="{F7FEE3EB-1DFA-430A-ADD9-D5890D2FEFE8}"/>
              </a:ext>
            </a:extLst>
          </p:cNvPr>
          <p:cNvSpPr/>
          <p:nvPr/>
        </p:nvSpPr>
        <p:spPr>
          <a:xfrm>
            <a:off x="4702470" y="2746735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3" name="星形: 六角 142">
            <a:extLst>
              <a:ext uri="{FF2B5EF4-FFF2-40B4-BE49-F238E27FC236}">
                <a16:creationId xmlns:a16="http://schemas.microsoft.com/office/drawing/2014/main" id="{EBE3B1F4-9BA6-4FCE-8F29-5B549BE79740}"/>
              </a:ext>
            </a:extLst>
          </p:cNvPr>
          <p:cNvSpPr/>
          <p:nvPr/>
        </p:nvSpPr>
        <p:spPr>
          <a:xfrm>
            <a:off x="4716496" y="3519112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4" name="星形: 六角 143">
            <a:extLst>
              <a:ext uri="{FF2B5EF4-FFF2-40B4-BE49-F238E27FC236}">
                <a16:creationId xmlns:a16="http://schemas.microsoft.com/office/drawing/2014/main" id="{0ED2AA6A-CC25-4334-B5FD-AA4955B0CBF1}"/>
              </a:ext>
            </a:extLst>
          </p:cNvPr>
          <p:cNvSpPr/>
          <p:nvPr/>
        </p:nvSpPr>
        <p:spPr>
          <a:xfrm>
            <a:off x="5804570" y="2751814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5" name="星形: 六角 144">
            <a:extLst>
              <a:ext uri="{FF2B5EF4-FFF2-40B4-BE49-F238E27FC236}">
                <a16:creationId xmlns:a16="http://schemas.microsoft.com/office/drawing/2014/main" id="{C12F342E-6EAB-4F8C-BCBA-5999A9F51E96}"/>
              </a:ext>
            </a:extLst>
          </p:cNvPr>
          <p:cNvSpPr/>
          <p:nvPr/>
        </p:nvSpPr>
        <p:spPr>
          <a:xfrm>
            <a:off x="5804570" y="3522666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F6675443-F1AA-40FB-B0F5-C02383584E0B}"/>
              </a:ext>
            </a:extLst>
          </p:cNvPr>
          <p:cNvCxnSpPr>
            <a:cxnSpLocks/>
            <a:stCxn id="151" idx="2"/>
          </p:cNvCxnSpPr>
          <p:nvPr/>
        </p:nvCxnSpPr>
        <p:spPr>
          <a:xfrm>
            <a:off x="5417914" y="2708732"/>
            <a:ext cx="0" cy="1436710"/>
          </a:xfrm>
          <a:prstGeom prst="line">
            <a:avLst/>
          </a:prstGeom>
          <a:ln w="19050">
            <a:solidFill>
              <a:srgbClr val="0000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文本框 150">
            <a:extLst>
              <a:ext uri="{FF2B5EF4-FFF2-40B4-BE49-F238E27FC236}">
                <a16:creationId xmlns:a16="http://schemas.microsoft.com/office/drawing/2014/main" id="{F884DFF9-3078-4A89-805F-DBAFBB40DDA0}"/>
              </a:ext>
            </a:extLst>
          </p:cNvPr>
          <p:cNvSpPr txBox="1"/>
          <p:nvPr/>
        </p:nvSpPr>
        <p:spPr>
          <a:xfrm>
            <a:off x="4861511" y="2339400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地理分离</a:t>
            </a:r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83948845-993E-44D8-A2FB-DE967CC6E730}"/>
              </a:ext>
            </a:extLst>
          </p:cNvPr>
          <p:cNvSpPr/>
          <p:nvPr/>
        </p:nvSpPr>
        <p:spPr>
          <a:xfrm>
            <a:off x="4030788" y="3089637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DEDD93C4-6A56-41F2-8D85-B21876953A73}"/>
              </a:ext>
            </a:extLst>
          </p:cNvPr>
          <p:cNvSpPr/>
          <p:nvPr/>
        </p:nvSpPr>
        <p:spPr>
          <a:xfrm>
            <a:off x="4149205" y="3959512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8E55D210-70AE-4429-8E35-6CE5F52AC07C}"/>
              </a:ext>
            </a:extLst>
          </p:cNvPr>
          <p:cNvSpPr/>
          <p:nvPr/>
        </p:nvSpPr>
        <p:spPr>
          <a:xfrm>
            <a:off x="4815437" y="4291489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68346E02-0DEE-4729-B676-BB27A518E62A}"/>
              </a:ext>
            </a:extLst>
          </p:cNvPr>
          <p:cNvSpPr/>
          <p:nvPr/>
        </p:nvSpPr>
        <p:spPr>
          <a:xfrm>
            <a:off x="6560557" y="3963260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484374E1-A02A-45CA-BB4E-0B9B6BC8ABF1}"/>
              </a:ext>
            </a:extLst>
          </p:cNvPr>
          <p:cNvSpPr/>
          <p:nvPr/>
        </p:nvSpPr>
        <p:spPr>
          <a:xfrm>
            <a:off x="6578630" y="3130006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60EBFA32-32DA-44B2-B8C6-2DE252837380}"/>
              </a:ext>
            </a:extLst>
          </p:cNvPr>
          <p:cNvCxnSpPr>
            <a:cxnSpLocks/>
            <a:stCxn id="153" idx="6"/>
            <a:endCxn id="142" idx="3"/>
          </p:cNvCxnSpPr>
          <p:nvPr/>
        </p:nvCxnSpPr>
        <p:spPr>
          <a:xfrm flipV="1">
            <a:off x="4202238" y="3023734"/>
            <a:ext cx="500232" cy="151628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33B190F5-01D1-4178-A375-F209FAAEE12A}"/>
              </a:ext>
            </a:extLst>
          </p:cNvPr>
          <p:cNvCxnSpPr>
            <a:cxnSpLocks/>
            <a:stCxn id="154" idx="7"/>
            <a:endCxn id="143" idx="3"/>
          </p:cNvCxnSpPr>
          <p:nvPr/>
        </p:nvCxnSpPr>
        <p:spPr>
          <a:xfrm flipV="1">
            <a:off x="4295547" y="3796111"/>
            <a:ext cx="420949" cy="188509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2EC0B990-3570-441C-897F-47F1D8D10C51}"/>
              </a:ext>
            </a:extLst>
          </p:cNvPr>
          <p:cNvCxnSpPr>
            <a:cxnSpLocks/>
            <a:stCxn id="155" idx="0"/>
            <a:endCxn id="143" idx="2"/>
          </p:cNvCxnSpPr>
          <p:nvPr/>
        </p:nvCxnSpPr>
        <p:spPr>
          <a:xfrm flipV="1">
            <a:off x="4901162" y="3888444"/>
            <a:ext cx="0" cy="403045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1599D657-3E41-4FF3-9E88-E7F0DB09934F}"/>
              </a:ext>
            </a:extLst>
          </p:cNvPr>
          <p:cNvCxnSpPr>
            <a:cxnSpLocks/>
            <a:stCxn id="156" idx="1"/>
            <a:endCxn id="145" idx="1"/>
          </p:cNvCxnSpPr>
          <p:nvPr/>
        </p:nvCxnSpPr>
        <p:spPr>
          <a:xfrm flipH="1" flipV="1">
            <a:off x="6173902" y="3799665"/>
            <a:ext cx="411763" cy="188703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9822EDC1-0F44-44D7-A5D1-B540B11B1CB7}"/>
              </a:ext>
            </a:extLst>
          </p:cNvPr>
          <p:cNvCxnSpPr>
            <a:cxnSpLocks/>
            <a:stCxn id="157" idx="2"/>
            <a:endCxn id="144" idx="1"/>
          </p:cNvCxnSpPr>
          <p:nvPr/>
        </p:nvCxnSpPr>
        <p:spPr>
          <a:xfrm flipH="1" flipV="1">
            <a:off x="6173902" y="3028813"/>
            <a:ext cx="404728" cy="186918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椭圆 168">
            <a:extLst>
              <a:ext uri="{FF2B5EF4-FFF2-40B4-BE49-F238E27FC236}">
                <a16:creationId xmlns:a16="http://schemas.microsoft.com/office/drawing/2014/main" id="{5F4E4477-2C66-48C9-80C5-54ECEF79CDC6}"/>
              </a:ext>
            </a:extLst>
          </p:cNvPr>
          <p:cNvSpPr/>
          <p:nvPr/>
        </p:nvSpPr>
        <p:spPr>
          <a:xfrm>
            <a:off x="5913122" y="4324198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AC21C3DC-7407-4CE0-9BA3-5ACE11E1B1A0}"/>
              </a:ext>
            </a:extLst>
          </p:cNvPr>
          <p:cNvCxnSpPr>
            <a:cxnSpLocks/>
            <a:stCxn id="169" idx="0"/>
            <a:endCxn id="145" idx="2"/>
          </p:cNvCxnSpPr>
          <p:nvPr/>
        </p:nvCxnSpPr>
        <p:spPr>
          <a:xfrm flipH="1" flipV="1">
            <a:off x="5989236" y="3891998"/>
            <a:ext cx="9611" cy="432200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星形: 六角 175">
            <a:extLst>
              <a:ext uri="{FF2B5EF4-FFF2-40B4-BE49-F238E27FC236}">
                <a16:creationId xmlns:a16="http://schemas.microsoft.com/office/drawing/2014/main" id="{0FF2E356-395C-4B85-9296-E139A7B135F7}"/>
              </a:ext>
            </a:extLst>
          </p:cNvPr>
          <p:cNvSpPr/>
          <p:nvPr/>
        </p:nvSpPr>
        <p:spPr>
          <a:xfrm>
            <a:off x="4720973" y="5030248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7" name="星形: 六角 176">
            <a:extLst>
              <a:ext uri="{FF2B5EF4-FFF2-40B4-BE49-F238E27FC236}">
                <a16:creationId xmlns:a16="http://schemas.microsoft.com/office/drawing/2014/main" id="{97666889-35BF-434C-8C51-A878A9A44EC4}"/>
              </a:ext>
            </a:extLst>
          </p:cNvPr>
          <p:cNvSpPr/>
          <p:nvPr/>
        </p:nvSpPr>
        <p:spPr>
          <a:xfrm>
            <a:off x="4734999" y="5802625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8" name="星形: 六角 177">
            <a:extLst>
              <a:ext uri="{FF2B5EF4-FFF2-40B4-BE49-F238E27FC236}">
                <a16:creationId xmlns:a16="http://schemas.microsoft.com/office/drawing/2014/main" id="{DB935071-20B5-4DD8-94D1-39BB8081EE9F}"/>
              </a:ext>
            </a:extLst>
          </p:cNvPr>
          <p:cNvSpPr/>
          <p:nvPr/>
        </p:nvSpPr>
        <p:spPr>
          <a:xfrm>
            <a:off x="5823073" y="5035327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9" name="星形: 六角 178">
            <a:extLst>
              <a:ext uri="{FF2B5EF4-FFF2-40B4-BE49-F238E27FC236}">
                <a16:creationId xmlns:a16="http://schemas.microsoft.com/office/drawing/2014/main" id="{7A4A74E9-A56C-4BDE-8127-8DB1279A05E6}"/>
              </a:ext>
            </a:extLst>
          </p:cNvPr>
          <p:cNvSpPr/>
          <p:nvPr/>
        </p:nvSpPr>
        <p:spPr>
          <a:xfrm>
            <a:off x="5823073" y="5806179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13735926-90C1-4377-B4E0-54F3733028FB}"/>
              </a:ext>
            </a:extLst>
          </p:cNvPr>
          <p:cNvCxnSpPr>
            <a:cxnSpLocks/>
          </p:cNvCxnSpPr>
          <p:nvPr/>
        </p:nvCxnSpPr>
        <p:spPr>
          <a:xfrm>
            <a:off x="5436417" y="4992245"/>
            <a:ext cx="0" cy="1436710"/>
          </a:xfrm>
          <a:prstGeom prst="line">
            <a:avLst/>
          </a:prstGeom>
          <a:ln w="19050">
            <a:solidFill>
              <a:srgbClr val="0000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椭圆 181">
            <a:extLst>
              <a:ext uri="{FF2B5EF4-FFF2-40B4-BE49-F238E27FC236}">
                <a16:creationId xmlns:a16="http://schemas.microsoft.com/office/drawing/2014/main" id="{9E96F845-3B3D-4379-9810-F1E776E385AD}"/>
              </a:ext>
            </a:extLst>
          </p:cNvPr>
          <p:cNvSpPr/>
          <p:nvPr/>
        </p:nvSpPr>
        <p:spPr>
          <a:xfrm>
            <a:off x="4049291" y="5373150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037C2267-F4AD-4541-84FD-F659007E36AD}"/>
              </a:ext>
            </a:extLst>
          </p:cNvPr>
          <p:cNvSpPr/>
          <p:nvPr/>
        </p:nvSpPr>
        <p:spPr>
          <a:xfrm>
            <a:off x="4167708" y="6243025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D79AB0DE-496D-439C-89FC-E5103144B9B9}"/>
              </a:ext>
            </a:extLst>
          </p:cNvPr>
          <p:cNvSpPr/>
          <p:nvPr/>
        </p:nvSpPr>
        <p:spPr>
          <a:xfrm>
            <a:off x="4833940" y="6575002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A6638726-28CF-46F1-A8C8-FF6CE25BB4BF}"/>
              </a:ext>
            </a:extLst>
          </p:cNvPr>
          <p:cNvSpPr/>
          <p:nvPr/>
        </p:nvSpPr>
        <p:spPr>
          <a:xfrm>
            <a:off x="6579060" y="6246773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464D0BA7-B389-4C1B-8934-CB9D994EAE67}"/>
              </a:ext>
            </a:extLst>
          </p:cNvPr>
          <p:cNvSpPr/>
          <p:nvPr/>
        </p:nvSpPr>
        <p:spPr>
          <a:xfrm>
            <a:off x="6597133" y="5413519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CF5E380D-290D-4D9A-83EB-B17F3ECC5078}"/>
              </a:ext>
            </a:extLst>
          </p:cNvPr>
          <p:cNvCxnSpPr>
            <a:cxnSpLocks/>
            <a:stCxn id="182" idx="6"/>
            <a:endCxn id="176" idx="3"/>
          </p:cNvCxnSpPr>
          <p:nvPr/>
        </p:nvCxnSpPr>
        <p:spPr>
          <a:xfrm flipV="1">
            <a:off x="4220741" y="5307247"/>
            <a:ext cx="500232" cy="151628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8B773520-6872-43AC-BBBC-48EA25386B4B}"/>
              </a:ext>
            </a:extLst>
          </p:cNvPr>
          <p:cNvCxnSpPr>
            <a:cxnSpLocks/>
            <a:stCxn id="183" idx="7"/>
            <a:endCxn id="177" idx="3"/>
          </p:cNvCxnSpPr>
          <p:nvPr/>
        </p:nvCxnSpPr>
        <p:spPr>
          <a:xfrm flipV="1">
            <a:off x="4314050" y="6079624"/>
            <a:ext cx="420949" cy="188509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A61105EF-5736-4F30-A0D3-9DA4F1DCD6D6}"/>
              </a:ext>
            </a:extLst>
          </p:cNvPr>
          <p:cNvCxnSpPr>
            <a:cxnSpLocks/>
            <a:stCxn id="184" idx="0"/>
            <a:endCxn id="177" idx="2"/>
          </p:cNvCxnSpPr>
          <p:nvPr/>
        </p:nvCxnSpPr>
        <p:spPr>
          <a:xfrm flipV="1">
            <a:off x="4919665" y="6171957"/>
            <a:ext cx="0" cy="403045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C40E5AAC-15F7-4FCC-972A-7CBBF1B2D38A}"/>
              </a:ext>
            </a:extLst>
          </p:cNvPr>
          <p:cNvCxnSpPr>
            <a:cxnSpLocks/>
            <a:stCxn id="185" idx="1"/>
            <a:endCxn id="179" idx="1"/>
          </p:cNvCxnSpPr>
          <p:nvPr/>
        </p:nvCxnSpPr>
        <p:spPr>
          <a:xfrm flipH="1" flipV="1">
            <a:off x="6192405" y="6083178"/>
            <a:ext cx="411763" cy="188703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FFC2232D-B055-4D9A-976A-398545C1F79F}"/>
              </a:ext>
            </a:extLst>
          </p:cNvPr>
          <p:cNvCxnSpPr>
            <a:cxnSpLocks/>
            <a:stCxn id="186" idx="3"/>
            <a:endCxn id="179" idx="0"/>
          </p:cNvCxnSpPr>
          <p:nvPr/>
        </p:nvCxnSpPr>
        <p:spPr>
          <a:xfrm flipH="1">
            <a:off x="6192405" y="5559861"/>
            <a:ext cx="429836" cy="33865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椭圆 191">
            <a:extLst>
              <a:ext uri="{FF2B5EF4-FFF2-40B4-BE49-F238E27FC236}">
                <a16:creationId xmlns:a16="http://schemas.microsoft.com/office/drawing/2014/main" id="{9607AC67-920A-4B35-BD83-AC6B14AE935F}"/>
              </a:ext>
            </a:extLst>
          </p:cNvPr>
          <p:cNvSpPr/>
          <p:nvPr/>
        </p:nvSpPr>
        <p:spPr>
          <a:xfrm>
            <a:off x="5931625" y="6607711"/>
            <a:ext cx="171450" cy="171450"/>
          </a:xfrm>
          <a:prstGeom prst="ellipse">
            <a:avLst/>
          </a:prstGeom>
          <a:solidFill>
            <a:srgbClr val="F9B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6C147BA2-1C4C-45B6-9876-B26CD239C230}"/>
              </a:ext>
            </a:extLst>
          </p:cNvPr>
          <p:cNvCxnSpPr>
            <a:cxnSpLocks/>
            <a:stCxn id="192" idx="0"/>
            <a:endCxn id="179" idx="2"/>
          </p:cNvCxnSpPr>
          <p:nvPr/>
        </p:nvCxnSpPr>
        <p:spPr>
          <a:xfrm flipH="1" flipV="1">
            <a:off x="6007739" y="6175511"/>
            <a:ext cx="9611" cy="432200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乘号 176">
            <a:extLst>
              <a:ext uri="{FF2B5EF4-FFF2-40B4-BE49-F238E27FC236}">
                <a16:creationId xmlns:a16="http://schemas.microsoft.com/office/drawing/2014/main" id="{653F8167-C02C-4C60-93B3-612DD9EA7DF8}"/>
              </a:ext>
            </a:extLst>
          </p:cNvPr>
          <p:cNvSpPr/>
          <p:nvPr/>
        </p:nvSpPr>
        <p:spPr>
          <a:xfrm>
            <a:off x="5686527" y="4902690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198" name="图片 197">
            <a:extLst>
              <a:ext uri="{FF2B5EF4-FFF2-40B4-BE49-F238E27FC236}">
                <a16:creationId xmlns:a16="http://schemas.microsoft.com/office/drawing/2014/main" id="{DF25EDC6-0701-4608-B033-D494A077A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874" y="1830632"/>
            <a:ext cx="574606" cy="574606"/>
          </a:xfrm>
          <a:prstGeom prst="rect">
            <a:avLst/>
          </a:prstGeom>
        </p:spPr>
      </p:pic>
      <p:sp>
        <p:nvSpPr>
          <p:cNvPr id="199" name="矩形 198">
            <a:extLst>
              <a:ext uri="{FF2B5EF4-FFF2-40B4-BE49-F238E27FC236}">
                <a16:creationId xmlns:a16="http://schemas.microsoft.com/office/drawing/2014/main" id="{CC47BFF7-8D66-4642-A0FD-0FB996002BE0}"/>
              </a:ext>
            </a:extLst>
          </p:cNvPr>
          <p:cNvSpPr/>
          <p:nvPr/>
        </p:nvSpPr>
        <p:spPr>
          <a:xfrm>
            <a:off x="4005858" y="4511320"/>
            <a:ext cx="336133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节点间如何同步？分布式共识</a:t>
            </a:r>
          </a:p>
        </p:txBody>
      </p:sp>
      <p:pic>
        <p:nvPicPr>
          <p:cNvPr id="200" name="图片 199">
            <a:extLst>
              <a:ext uri="{FF2B5EF4-FFF2-40B4-BE49-F238E27FC236}">
                <a16:creationId xmlns:a16="http://schemas.microsoft.com/office/drawing/2014/main" id="{935B36B9-087C-4263-936E-D5EBA5D326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54" y="4395155"/>
            <a:ext cx="601662" cy="601662"/>
          </a:xfrm>
          <a:prstGeom prst="rect">
            <a:avLst/>
          </a:prstGeom>
        </p:spPr>
      </p:pic>
      <p:sp>
        <p:nvSpPr>
          <p:cNvPr id="201" name="文本框 200">
            <a:extLst>
              <a:ext uri="{FF2B5EF4-FFF2-40B4-BE49-F238E27FC236}">
                <a16:creationId xmlns:a16="http://schemas.microsoft.com/office/drawing/2014/main" id="{A0D4898B-20A1-4BCC-AAF9-1D2573F6EF6A}"/>
              </a:ext>
            </a:extLst>
          </p:cNvPr>
          <p:cNvSpPr txBox="1"/>
          <p:nvPr/>
        </p:nvSpPr>
        <p:spPr>
          <a:xfrm>
            <a:off x="8579442" y="193714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比特币系统</a:t>
            </a:r>
          </a:p>
        </p:txBody>
      </p:sp>
      <p:sp>
        <p:nvSpPr>
          <p:cNvPr id="202" name="星形: 六角 201">
            <a:extLst>
              <a:ext uri="{FF2B5EF4-FFF2-40B4-BE49-F238E27FC236}">
                <a16:creationId xmlns:a16="http://schemas.microsoft.com/office/drawing/2014/main" id="{AC8D961D-0DED-4C16-9363-BC7E8C6781A1}"/>
              </a:ext>
            </a:extLst>
          </p:cNvPr>
          <p:cNvSpPr/>
          <p:nvPr/>
        </p:nvSpPr>
        <p:spPr>
          <a:xfrm>
            <a:off x="8180380" y="2456058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3" name="星形: 六角 202">
            <a:extLst>
              <a:ext uri="{FF2B5EF4-FFF2-40B4-BE49-F238E27FC236}">
                <a16:creationId xmlns:a16="http://schemas.microsoft.com/office/drawing/2014/main" id="{2E283F8A-C769-4623-BD8C-56A4CFA4CFFC}"/>
              </a:ext>
            </a:extLst>
          </p:cNvPr>
          <p:cNvSpPr/>
          <p:nvPr/>
        </p:nvSpPr>
        <p:spPr>
          <a:xfrm>
            <a:off x="11427813" y="2416688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4" name="星形: 六角 203">
            <a:extLst>
              <a:ext uri="{FF2B5EF4-FFF2-40B4-BE49-F238E27FC236}">
                <a16:creationId xmlns:a16="http://schemas.microsoft.com/office/drawing/2014/main" id="{D7DE01E5-1C3C-4670-8EF1-CEF098B69736}"/>
              </a:ext>
            </a:extLst>
          </p:cNvPr>
          <p:cNvSpPr/>
          <p:nvPr/>
        </p:nvSpPr>
        <p:spPr>
          <a:xfrm>
            <a:off x="8180380" y="4276366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5" name="星形: 六角 204">
            <a:extLst>
              <a:ext uri="{FF2B5EF4-FFF2-40B4-BE49-F238E27FC236}">
                <a16:creationId xmlns:a16="http://schemas.microsoft.com/office/drawing/2014/main" id="{45BFFA74-15AD-473B-A732-76A5E69021FE}"/>
              </a:ext>
            </a:extLst>
          </p:cNvPr>
          <p:cNvSpPr/>
          <p:nvPr/>
        </p:nvSpPr>
        <p:spPr>
          <a:xfrm>
            <a:off x="11427813" y="4301288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8EC794D3-CCA3-4545-A878-1819A8780A88}"/>
              </a:ext>
            </a:extLst>
          </p:cNvPr>
          <p:cNvSpPr txBox="1"/>
          <p:nvPr/>
        </p:nvSpPr>
        <p:spPr>
          <a:xfrm>
            <a:off x="7814284" y="2457294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8D29EF8A-B374-44D6-A8ED-CB7AB14C6BC4}"/>
              </a:ext>
            </a:extLst>
          </p:cNvPr>
          <p:cNvSpPr txBox="1"/>
          <p:nvPr/>
        </p:nvSpPr>
        <p:spPr>
          <a:xfrm>
            <a:off x="7814284" y="425109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D2FDC2C6-A175-4D1C-983A-107774185831}"/>
              </a:ext>
            </a:extLst>
          </p:cNvPr>
          <p:cNvSpPr txBox="1"/>
          <p:nvPr/>
        </p:nvSpPr>
        <p:spPr>
          <a:xfrm>
            <a:off x="11797145" y="241668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B59C9988-F9F1-41BF-8CE2-D3D35E98B46E}"/>
              </a:ext>
            </a:extLst>
          </p:cNvPr>
          <p:cNvSpPr txBox="1"/>
          <p:nvPr/>
        </p:nvSpPr>
        <p:spPr>
          <a:xfrm>
            <a:off x="11785878" y="4291872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D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69642A0B-07EB-4BE3-B1D3-F5CA5035BF07}"/>
              </a:ext>
            </a:extLst>
          </p:cNvPr>
          <p:cNvSpPr/>
          <p:nvPr/>
        </p:nvSpPr>
        <p:spPr>
          <a:xfrm>
            <a:off x="7943619" y="284898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DBC1D6AA-0F35-4E03-82D4-202EE3B59462}"/>
              </a:ext>
            </a:extLst>
          </p:cNvPr>
          <p:cNvSpPr/>
          <p:nvPr/>
        </p:nvSpPr>
        <p:spPr>
          <a:xfrm>
            <a:off x="8718781" y="284898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12" name="直线箭头连接符 13">
            <a:extLst>
              <a:ext uri="{FF2B5EF4-FFF2-40B4-BE49-F238E27FC236}">
                <a16:creationId xmlns:a16="http://schemas.microsoft.com/office/drawing/2014/main" id="{C358A14A-84A1-482E-A9F8-41B4F252B1DA}"/>
              </a:ext>
            </a:extLst>
          </p:cNvPr>
          <p:cNvCxnSpPr>
            <a:cxnSpLocks/>
          </p:cNvCxnSpPr>
          <p:nvPr/>
        </p:nvCxnSpPr>
        <p:spPr>
          <a:xfrm flipH="1">
            <a:off x="8375881" y="306095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箭头连接符 14">
            <a:extLst>
              <a:ext uri="{FF2B5EF4-FFF2-40B4-BE49-F238E27FC236}">
                <a16:creationId xmlns:a16="http://schemas.microsoft.com/office/drawing/2014/main" id="{2779C8B7-2FA6-4B2F-B2AB-14D918A8CE97}"/>
              </a:ext>
            </a:extLst>
          </p:cNvPr>
          <p:cNvCxnSpPr>
            <a:cxnSpLocks/>
          </p:cNvCxnSpPr>
          <p:nvPr/>
        </p:nvCxnSpPr>
        <p:spPr>
          <a:xfrm flipH="1">
            <a:off x="9151043" y="306095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矩形 213">
            <a:extLst>
              <a:ext uri="{FF2B5EF4-FFF2-40B4-BE49-F238E27FC236}">
                <a16:creationId xmlns:a16="http://schemas.microsoft.com/office/drawing/2014/main" id="{0C9C4756-477A-40D6-88BF-D36AD6D8ABFB}"/>
              </a:ext>
            </a:extLst>
          </p:cNvPr>
          <p:cNvSpPr/>
          <p:nvPr/>
        </p:nvSpPr>
        <p:spPr>
          <a:xfrm>
            <a:off x="9487626" y="284898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C030FC17-0798-43CB-AD5E-701E7DBCDEA5}"/>
              </a:ext>
            </a:extLst>
          </p:cNvPr>
          <p:cNvSpPr/>
          <p:nvPr/>
        </p:nvSpPr>
        <p:spPr>
          <a:xfrm>
            <a:off x="7938063" y="382591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DFC4870A-BC37-4B5D-812E-45A9C14BFC4B}"/>
              </a:ext>
            </a:extLst>
          </p:cNvPr>
          <p:cNvSpPr/>
          <p:nvPr/>
        </p:nvSpPr>
        <p:spPr>
          <a:xfrm>
            <a:off x="8713225" y="382591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17" name="直线箭头连接符 13">
            <a:extLst>
              <a:ext uri="{FF2B5EF4-FFF2-40B4-BE49-F238E27FC236}">
                <a16:creationId xmlns:a16="http://schemas.microsoft.com/office/drawing/2014/main" id="{DBF44734-A83B-41EA-B571-61B3FA0EE486}"/>
              </a:ext>
            </a:extLst>
          </p:cNvPr>
          <p:cNvCxnSpPr>
            <a:cxnSpLocks/>
          </p:cNvCxnSpPr>
          <p:nvPr/>
        </p:nvCxnSpPr>
        <p:spPr>
          <a:xfrm flipH="1">
            <a:off x="8370325" y="403788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线箭头连接符 14">
            <a:extLst>
              <a:ext uri="{FF2B5EF4-FFF2-40B4-BE49-F238E27FC236}">
                <a16:creationId xmlns:a16="http://schemas.microsoft.com/office/drawing/2014/main" id="{731BD292-0EA8-4CA1-99E3-5000D7A4F0FC}"/>
              </a:ext>
            </a:extLst>
          </p:cNvPr>
          <p:cNvCxnSpPr>
            <a:cxnSpLocks/>
          </p:cNvCxnSpPr>
          <p:nvPr/>
        </p:nvCxnSpPr>
        <p:spPr>
          <a:xfrm flipH="1">
            <a:off x="9145487" y="403788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矩形 218">
            <a:extLst>
              <a:ext uri="{FF2B5EF4-FFF2-40B4-BE49-F238E27FC236}">
                <a16:creationId xmlns:a16="http://schemas.microsoft.com/office/drawing/2014/main" id="{686862B2-A1EE-4A80-B245-6E72395BB7C8}"/>
              </a:ext>
            </a:extLst>
          </p:cNvPr>
          <p:cNvSpPr/>
          <p:nvPr/>
        </p:nvSpPr>
        <p:spPr>
          <a:xfrm>
            <a:off x="9482070" y="382591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9D8E52B6-2097-4A44-990E-CABE43581DF7}"/>
              </a:ext>
            </a:extLst>
          </p:cNvPr>
          <p:cNvSpPr/>
          <p:nvPr/>
        </p:nvSpPr>
        <p:spPr>
          <a:xfrm flipH="1">
            <a:off x="10145598" y="284898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16FCF08A-9A5C-48D5-8C4D-517F634D7C92}"/>
              </a:ext>
            </a:extLst>
          </p:cNvPr>
          <p:cNvSpPr/>
          <p:nvPr/>
        </p:nvSpPr>
        <p:spPr>
          <a:xfrm flipH="1">
            <a:off x="10920760" y="284898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22" name="直线箭头连接符 13">
            <a:extLst>
              <a:ext uri="{FF2B5EF4-FFF2-40B4-BE49-F238E27FC236}">
                <a16:creationId xmlns:a16="http://schemas.microsoft.com/office/drawing/2014/main" id="{75834D14-44EB-4802-A8E4-804EB59A3B13}"/>
              </a:ext>
            </a:extLst>
          </p:cNvPr>
          <p:cNvCxnSpPr>
            <a:cxnSpLocks/>
          </p:cNvCxnSpPr>
          <p:nvPr/>
        </p:nvCxnSpPr>
        <p:spPr>
          <a:xfrm>
            <a:off x="10577860" y="306095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14">
            <a:extLst>
              <a:ext uri="{FF2B5EF4-FFF2-40B4-BE49-F238E27FC236}">
                <a16:creationId xmlns:a16="http://schemas.microsoft.com/office/drawing/2014/main" id="{CF1C86B0-D146-437C-8A49-C8B66D05A65C}"/>
              </a:ext>
            </a:extLst>
          </p:cNvPr>
          <p:cNvCxnSpPr>
            <a:cxnSpLocks/>
          </p:cNvCxnSpPr>
          <p:nvPr/>
        </p:nvCxnSpPr>
        <p:spPr>
          <a:xfrm>
            <a:off x="11353022" y="306095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矩形 223">
            <a:extLst>
              <a:ext uri="{FF2B5EF4-FFF2-40B4-BE49-F238E27FC236}">
                <a16:creationId xmlns:a16="http://schemas.microsoft.com/office/drawing/2014/main" id="{720340B8-732F-4365-9AC6-B97F9857A5EA}"/>
              </a:ext>
            </a:extLst>
          </p:cNvPr>
          <p:cNvSpPr/>
          <p:nvPr/>
        </p:nvSpPr>
        <p:spPr>
          <a:xfrm flipH="1">
            <a:off x="11689605" y="284898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EFD8420D-6728-4396-91BA-623613BF6A47}"/>
              </a:ext>
            </a:extLst>
          </p:cNvPr>
          <p:cNvSpPr/>
          <p:nvPr/>
        </p:nvSpPr>
        <p:spPr>
          <a:xfrm flipH="1">
            <a:off x="10131942" y="382869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82592A69-AFD0-4B1E-8755-83948CC223D8}"/>
              </a:ext>
            </a:extLst>
          </p:cNvPr>
          <p:cNvSpPr/>
          <p:nvPr/>
        </p:nvSpPr>
        <p:spPr>
          <a:xfrm flipH="1">
            <a:off x="10907104" y="382869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27" name="直线箭头连接符 13">
            <a:extLst>
              <a:ext uri="{FF2B5EF4-FFF2-40B4-BE49-F238E27FC236}">
                <a16:creationId xmlns:a16="http://schemas.microsoft.com/office/drawing/2014/main" id="{05EF2589-8CBA-4BBD-B25C-2C8DD867A2C9}"/>
              </a:ext>
            </a:extLst>
          </p:cNvPr>
          <p:cNvCxnSpPr>
            <a:cxnSpLocks/>
          </p:cNvCxnSpPr>
          <p:nvPr/>
        </p:nvCxnSpPr>
        <p:spPr>
          <a:xfrm>
            <a:off x="10564204" y="404066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箭头连接符 14">
            <a:extLst>
              <a:ext uri="{FF2B5EF4-FFF2-40B4-BE49-F238E27FC236}">
                <a16:creationId xmlns:a16="http://schemas.microsoft.com/office/drawing/2014/main" id="{A14271F7-A87A-4052-AC1C-B397D4E956F6}"/>
              </a:ext>
            </a:extLst>
          </p:cNvPr>
          <p:cNvCxnSpPr>
            <a:cxnSpLocks/>
          </p:cNvCxnSpPr>
          <p:nvPr/>
        </p:nvCxnSpPr>
        <p:spPr>
          <a:xfrm>
            <a:off x="11339366" y="404066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矩形 228">
            <a:extLst>
              <a:ext uri="{FF2B5EF4-FFF2-40B4-BE49-F238E27FC236}">
                <a16:creationId xmlns:a16="http://schemas.microsoft.com/office/drawing/2014/main" id="{03C78898-0E55-4B83-9B9A-89FF2F65002A}"/>
              </a:ext>
            </a:extLst>
          </p:cNvPr>
          <p:cNvSpPr/>
          <p:nvPr/>
        </p:nvSpPr>
        <p:spPr>
          <a:xfrm flipH="1">
            <a:off x="11675949" y="382869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74495AD6-08F1-4E7A-B7B0-7913FE6B5017}"/>
              </a:ext>
            </a:extLst>
          </p:cNvPr>
          <p:cNvSpPr/>
          <p:nvPr/>
        </p:nvSpPr>
        <p:spPr>
          <a:xfrm>
            <a:off x="8543147" y="3369886"/>
            <a:ext cx="353278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比特币如何做分布式共识？</a:t>
            </a:r>
            <a:r>
              <a:rPr kumimoji="1" lang="en-US" altLang="zh-CN" dirty="0" err="1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PoW</a:t>
            </a:r>
            <a:endParaRPr kumimoji="1" lang="zh-CN" altLang="en-US" dirty="0">
              <a:solidFill>
                <a:srgbClr val="002060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231" name="图片 230">
            <a:extLst>
              <a:ext uri="{FF2B5EF4-FFF2-40B4-BE49-F238E27FC236}">
                <a16:creationId xmlns:a16="http://schemas.microsoft.com/office/drawing/2014/main" id="{A68D0B80-7793-457D-9605-3B83E0EB95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485" y="3253721"/>
            <a:ext cx="601662" cy="601662"/>
          </a:xfrm>
          <a:prstGeom prst="rect">
            <a:avLst/>
          </a:prstGeom>
        </p:spPr>
      </p:pic>
      <p:sp>
        <p:nvSpPr>
          <p:cNvPr id="232" name="星形: 六角 231">
            <a:extLst>
              <a:ext uri="{FF2B5EF4-FFF2-40B4-BE49-F238E27FC236}">
                <a16:creationId xmlns:a16="http://schemas.microsoft.com/office/drawing/2014/main" id="{902E8F49-DE3A-4379-9365-2637C4A344CA}"/>
              </a:ext>
            </a:extLst>
          </p:cNvPr>
          <p:cNvSpPr/>
          <p:nvPr/>
        </p:nvSpPr>
        <p:spPr>
          <a:xfrm>
            <a:off x="8177112" y="4948367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3" name="星形: 六角 232">
            <a:extLst>
              <a:ext uri="{FF2B5EF4-FFF2-40B4-BE49-F238E27FC236}">
                <a16:creationId xmlns:a16="http://schemas.microsoft.com/office/drawing/2014/main" id="{DCF31ED1-6D8B-4761-BBA4-ABFD34A1F283}"/>
              </a:ext>
            </a:extLst>
          </p:cNvPr>
          <p:cNvSpPr/>
          <p:nvPr/>
        </p:nvSpPr>
        <p:spPr>
          <a:xfrm>
            <a:off x="11424545" y="4908997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4" name="星形: 六角 233">
            <a:extLst>
              <a:ext uri="{FF2B5EF4-FFF2-40B4-BE49-F238E27FC236}">
                <a16:creationId xmlns:a16="http://schemas.microsoft.com/office/drawing/2014/main" id="{25E03550-5EF8-4F28-B918-08A1DDF3B222}"/>
              </a:ext>
            </a:extLst>
          </p:cNvPr>
          <p:cNvSpPr/>
          <p:nvPr/>
        </p:nvSpPr>
        <p:spPr>
          <a:xfrm>
            <a:off x="8196162" y="6330525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5" name="星形: 六角 234">
            <a:extLst>
              <a:ext uri="{FF2B5EF4-FFF2-40B4-BE49-F238E27FC236}">
                <a16:creationId xmlns:a16="http://schemas.microsoft.com/office/drawing/2014/main" id="{AAE84C07-37A4-4CB5-B87B-06464A0BBBBC}"/>
              </a:ext>
            </a:extLst>
          </p:cNvPr>
          <p:cNvSpPr/>
          <p:nvPr/>
        </p:nvSpPr>
        <p:spPr>
          <a:xfrm>
            <a:off x="11443595" y="6355447"/>
            <a:ext cx="369332" cy="369332"/>
          </a:xfrm>
          <a:prstGeom prst="star6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C48695B7-EFAD-4AE8-8742-43C09366C80C}"/>
              </a:ext>
            </a:extLst>
          </p:cNvPr>
          <p:cNvSpPr txBox="1"/>
          <p:nvPr/>
        </p:nvSpPr>
        <p:spPr>
          <a:xfrm>
            <a:off x="7811016" y="4949603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417198FD-612C-4652-B60E-7CA9D9B62A5B}"/>
              </a:ext>
            </a:extLst>
          </p:cNvPr>
          <p:cNvSpPr txBox="1"/>
          <p:nvPr/>
        </p:nvSpPr>
        <p:spPr>
          <a:xfrm>
            <a:off x="7830066" y="6305255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374902CA-E719-4D8E-9E5B-04289BB9D1F9}"/>
              </a:ext>
            </a:extLst>
          </p:cNvPr>
          <p:cNvSpPr txBox="1"/>
          <p:nvPr/>
        </p:nvSpPr>
        <p:spPr>
          <a:xfrm>
            <a:off x="11793877" y="4908997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C20B6D37-9D92-448C-B457-B1E2BBC8B92C}"/>
              </a:ext>
            </a:extLst>
          </p:cNvPr>
          <p:cNvSpPr txBox="1"/>
          <p:nvPr/>
        </p:nvSpPr>
        <p:spPr>
          <a:xfrm>
            <a:off x="11801660" y="634603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D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DB2A07B5-009C-41B2-A6ED-A7703F4D23C0}"/>
              </a:ext>
            </a:extLst>
          </p:cNvPr>
          <p:cNvSpPr/>
          <p:nvPr/>
        </p:nvSpPr>
        <p:spPr>
          <a:xfrm>
            <a:off x="7940351" y="534129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D0B239F6-C195-47B0-A5D6-C690EBDD49A2}"/>
              </a:ext>
            </a:extLst>
          </p:cNvPr>
          <p:cNvSpPr/>
          <p:nvPr/>
        </p:nvSpPr>
        <p:spPr>
          <a:xfrm>
            <a:off x="8715513" y="534129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42" name="直线箭头连接符 13">
            <a:extLst>
              <a:ext uri="{FF2B5EF4-FFF2-40B4-BE49-F238E27FC236}">
                <a16:creationId xmlns:a16="http://schemas.microsoft.com/office/drawing/2014/main" id="{7DA10E09-5836-4FF7-85AF-E1EDBAF2D200}"/>
              </a:ext>
            </a:extLst>
          </p:cNvPr>
          <p:cNvCxnSpPr>
            <a:cxnSpLocks/>
          </p:cNvCxnSpPr>
          <p:nvPr/>
        </p:nvCxnSpPr>
        <p:spPr>
          <a:xfrm flipH="1">
            <a:off x="8372613" y="555326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线箭头连接符 14">
            <a:extLst>
              <a:ext uri="{FF2B5EF4-FFF2-40B4-BE49-F238E27FC236}">
                <a16:creationId xmlns:a16="http://schemas.microsoft.com/office/drawing/2014/main" id="{42184FF6-B601-45B7-8646-7BFEF4A94745}"/>
              </a:ext>
            </a:extLst>
          </p:cNvPr>
          <p:cNvCxnSpPr>
            <a:cxnSpLocks/>
          </p:cNvCxnSpPr>
          <p:nvPr/>
        </p:nvCxnSpPr>
        <p:spPr>
          <a:xfrm flipH="1">
            <a:off x="9147775" y="555326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矩形 243">
            <a:extLst>
              <a:ext uri="{FF2B5EF4-FFF2-40B4-BE49-F238E27FC236}">
                <a16:creationId xmlns:a16="http://schemas.microsoft.com/office/drawing/2014/main" id="{298AE233-46C8-4C98-8E4D-43F7D55747BE}"/>
              </a:ext>
            </a:extLst>
          </p:cNvPr>
          <p:cNvSpPr/>
          <p:nvPr/>
        </p:nvSpPr>
        <p:spPr>
          <a:xfrm>
            <a:off x="9484358" y="534128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420EBCF7-192C-4648-8162-E3EB010F65BF}"/>
              </a:ext>
            </a:extLst>
          </p:cNvPr>
          <p:cNvSpPr/>
          <p:nvPr/>
        </p:nvSpPr>
        <p:spPr>
          <a:xfrm>
            <a:off x="7953845" y="58800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B502DE9A-BEAB-48E8-A2C8-76A80E7BCBDC}"/>
              </a:ext>
            </a:extLst>
          </p:cNvPr>
          <p:cNvSpPr/>
          <p:nvPr/>
        </p:nvSpPr>
        <p:spPr>
          <a:xfrm>
            <a:off x="8729007" y="58800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47" name="直线箭头连接符 13">
            <a:extLst>
              <a:ext uri="{FF2B5EF4-FFF2-40B4-BE49-F238E27FC236}">
                <a16:creationId xmlns:a16="http://schemas.microsoft.com/office/drawing/2014/main" id="{E13B39D0-0A37-4D03-8E54-6CD2F461D96F}"/>
              </a:ext>
            </a:extLst>
          </p:cNvPr>
          <p:cNvCxnSpPr>
            <a:cxnSpLocks/>
          </p:cNvCxnSpPr>
          <p:nvPr/>
        </p:nvCxnSpPr>
        <p:spPr>
          <a:xfrm flipH="1">
            <a:off x="8386107" y="60920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线箭头连接符 14">
            <a:extLst>
              <a:ext uri="{FF2B5EF4-FFF2-40B4-BE49-F238E27FC236}">
                <a16:creationId xmlns:a16="http://schemas.microsoft.com/office/drawing/2014/main" id="{765D38B2-31A5-431A-8846-8AC1763830D8}"/>
              </a:ext>
            </a:extLst>
          </p:cNvPr>
          <p:cNvCxnSpPr>
            <a:cxnSpLocks/>
          </p:cNvCxnSpPr>
          <p:nvPr/>
        </p:nvCxnSpPr>
        <p:spPr>
          <a:xfrm flipH="1">
            <a:off x="9161269" y="60920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矩形 248">
            <a:extLst>
              <a:ext uri="{FF2B5EF4-FFF2-40B4-BE49-F238E27FC236}">
                <a16:creationId xmlns:a16="http://schemas.microsoft.com/office/drawing/2014/main" id="{604D785D-9907-4083-A328-9549E7252C78}"/>
              </a:ext>
            </a:extLst>
          </p:cNvPr>
          <p:cNvSpPr/>
          <p:nvPr/>
        </p:nvSpPr>
        <p:spPr>
          <a:xfrm>
            <a:off x="9497852" y="58800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F58D2826-8BA6-4885-8231-89D2029BFC15}"/>
              </a:ext>
            </a:extLst>
          </p:cNvPr>
          <p:cNvSpPr/>
          <p:nvPr/>
        </p:nvSpPr>
        <p:spPr>
          <a:xfrm flipH="1">
            <a:off x="10142330" y="534129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48C58DF3-86ED-4F35-B4AE-BC2E8CA4ED6F}"/>
              </a:ext>
            </a:extLst>
          </p:cNvPr>
          <p:cNvSpPr/>
          <p:nvPr/>
        </p:nvSpPr>
        <p:spPr>
          <a:xfrm flipH="1">
            <a:off x="10917492" y="534129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52" name="直线箭头连接符 13">
            <a:extLst>
              <a:ext uri="{FF2B5EF4-FFF2-40B4-BE49-F238E27FC236}">
                <a16:creationId xmlns:a16="http://schemas.microsoft.com/office/drawing/2014/main" id="{56842F06-1A52-4A6C-B643-886F59F54C63}"/>
              </a:ext>
            </a:extLst>
          </p:cNvPr>
          <p:cNvCxnSpPr>
            <a:cxnSpLocks/>
          </p:cNvCxnSpPr>
          <p:nvPr/>
        </p:nvCxnSpPr>
        <p:spPr>
          <a:xfrm>
            <a:off x="10574592" y="555326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线箭头连接符 14">
            <a:extLst>
              <a:ext uri="{FF2B5EF4-FFF2-40B4-BE49-F238E27FC236}">
                <a16:creationId xmlns:a16="http://schemas.microsoft.com/office/drawing/2014/main" id="{E0D46E35-E7C2-48F3-8991-C1CE917EEA0A}"/>
              </a:ext>
            </a:extLst>
          </p:cNvPr>
          <p:cNvCxnSpPr>
            <a:cxnSpLocks/>
          </p:cNvCxnSpPr>
          <p:nvPr/>
        </p:nvCxnSpPr>
        <p:spPr>
          <a:xfrm>
            <a:off x="11349754" y="555326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矩形 253">
            <a:extLst>
              <a:ext uri="{FF2B5EF4-FFF2-40B4-BE49-F238E27FC236}">
                <a16:creationId xmlns:a16="http://schemas.microsoft.com/office/drawing/2014/main" id="{E53B6742-F8E0-4D74-80B4-02CA5A9ACC2C}"/>
              </a:ext>
            </a:extLst>
          </p:cNvPr>
          <p:cNvSpPr/>
          <p:nvPr/>
        </p:nvSpPr>
        <p:spPr>
          <a:xfrm flipH="1">
            <a:off x="11686337" y="534128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992900F8-9B6D-494F-857E-0762E10C5C95}"/>
              </a:ext>
            </a:extLst>
          </p:cNvPr>
          <p:cNvSpPr/>
          <p:nvPr/>
        </p:nvSpPr>
        <p:spPr>
          <a:xfrm flipH="1">
            <a:off x="10147724" y="588285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6C506B4C-1E7D-411B-90AA-78752CFE1BFE}"/>
              </a:ext>
            </a:extLst>
          </p:cNvPr>
          <p:cNvSpPr/>
          <p:nvPr/>
        </p:nvSpPr>
        <p:spPr>
          <a:xfrm flipH="1">
            <a:off x="10922886" y="588285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57" name="直线箭头连接符 13">
            <a:extLst>
              <a:ext uri="{FF2B5EF4-FFF2-40B4-BE49-F238E27FC236}">
                <a16:creationId xmlns:a16="http://schemas.microsoft.com/office/drawing/2014/main" id="{15DCEC4A-5508-44B0-AC74-092DBCE376C5}"/>
              </a:ext>
            </a:extLst>
          </p:cNvPr>
          <p:cNvCxnSpPr>
            <a:cxnSpLocks/>
          </p:cNvCxnSpPr>
          <p:nvPr/>
        </p:nvCxnSpPr>
        <p:spPr>
          <a:xfrm>
            <a:off x="10579986" y="609482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线箭头连接符 14">
            <a:extLst>
              <a:ext uri="{FF2B5EF4-FFF2-40B4-BE49-F238E27FC236}">
                <a16:creationId xmlns:a16="http://schemas.microsoft.com/office/drawing/2014/main" id="{D67BCE8B-12FE-499F-A7E9-F05238F0630C}"/>
              </a:ext>
            </a:extLst>
          </p:cNvPr>
          <p:cNvCxnSpPr>
            <a:cxnSpLocks/>
          </p:cNvCxnSpPr>
          <p:nvPr/>
        </p:nvCxnSpPr>
        <p:spPr>
          <a:xfrm>
            <a:off x="11355148" y="609482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矩形 258">
            <a:extLst>
              <a:ext uri="{FF2B5EF4-FFF2-40B4-BE49-F238E27FC236}">
                <a16:creationId xmlns:a16="http://schemas.microsoft.com/office/drawing/2014/main" id="{6F6BB408-B860-4F7A-BD38-924C1364C187}"/>
              </a:ext>
            </a:extLst>
          </p:cNvPr>
          <p:cNvSpPr/>
          <p:nvPr/>
        </p:nvSpPr>
        <p:spPr>
          <a:xfrm flipH="1">
            <a:off x="11691731" y="588285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62" name="乘号 176">
            <a:extLst>
              <a:ext uri="{FF2B5EF4-FFF2-40B4-BE49-F238E27FC236}">
                <a16:creationId xmlns:a16="http://schemas.microsoft.com/office/drawing/2014/main" id="{29520F70-772D-40FE-AF50-59BB6E03184D}"/>
              </a:ext>
            </a:extLst>
          </p:cNvPr>
          <p:cNvSpPr/>
          <p:nvPr/>
        </p:nvSpPr>
        <p:spPr>
          <a:xfrm>
            <a:off x="11319080" y="6234046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566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/>
      <p:bldP spid="104" grpId="0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21" grpId="0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/>
      <p:bldP spid="141" grpId="0"/>
      <p:bldP spid="142" grpId="0" animBg="1"/>
      <p:bldP spid="143" grpId="0" animBg="1"/>
      <p:bldP spid="144" grpId="0" animBg="1"/>
      <p:bldP spid="145" grpId="0" animBg="1"/>
      <p:bldP spid="151" grpId="0"/>
      <p:bldP spid="153" grpId="0" animBg="1"/>
      <p:bldP spid="154" grpId="0" animBg="1"/>
      <p:bldP spid="155" grpId="0" animBg="1"/>
      <p:bldP spid="156" grpId="0" animBg="1"/>
      <p:bldP spid="157" grpId="0" animBg="1"/>
      <p:bldP spid="169" grpId="0" animBg="1"/>
      <p:bldP spid="176" grpId="0" animBg="1"/>
      <p:bldP spid="177" grpId="0" animBg="1"/>
      <p:bldP spid="178" grpId="0" animBg="1"/>
      <p:bldP spid="179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92" grpId="0" animBg="1"/>
      <p:bldP spid="194" grpId="0" animBg="1"/>
      <p:bldP spid="199" grpId="0" animBg="1"/>
      <p:bldP spid="201" grpId="0"/>
      <p:bldP spid="202" grpId="0" animBg="1"/>
      <p:bldP spid="203" grpId="0" animBg="1"/>
      <p:bldP spid="204" grpId="0" animBg="1"/>
      <p:bldP spid="205" grpId="0" animBg="1"/>
      <p:bldP spid="206" grpId="0"/>
      <p:bldP spid="207" grpId="0"/>
      <p:bldP spid="208" grpId="0"/>
      <p:bldP spid="209" grpId="0"/>
      <p:bldP spid="210" grpId="0" animBg="1"/>
      <p:bldP spid="211" grpId="0" animBg="1"/>
      <p:bldP spid="214" grpId="0" animBg="1"/>
      <p:bldP spid="215" grpId="0" animBg="1"/>
      <p:bldP spid="216" grpId="0" animBg="1"/>
      <p:bldP spid="219" grpId="0" animBg="1"/>
      <p:bldP spid="220" grpId="0" animBg="1"/>
      <p:bldP spid="221" grpId="0" animBg="1"/>
      <p:bldP spid="224" grpId="0" animBg="1"/>
      <p:bldP spid="225" grpId="0" animBg="1"/>
      <p:bldP spid="226" grpId="0" animBg="1"/>
      <p:bldP spid="229" grpId="0" animBg="1"/>
      <p:bldP spid="230" grpId="0" animBg="1"/>
      <p:bldP spid="232" grpId="0" animBg="1"/>
      <p:bldP spid="233" grpId="0" animBg="1"/>
      <p:bldP spid="234" grpId="0" animBg="1"/>
      <p:bldP spid="235" grpId="0" animBg="1"/>
      <p:bldP spid="236" grpId="0"/>
      <p:bldP spid="237" grpId="0"/>
      <p:bldP spid="238" grpId="0"/>
      <p:bldP spid="239" grpId="0"/>
      <p:bldP spid="240" grpId="0" animBg="1"/>
      <p:bldP spid="241" grpId="0" animBg="1"/>
      <p:bldP spid="244" grpId="0" animBg="1"/>
      <p:bldP spid="245" grpId="0" animBg="1"/>
      <p:bldP spid="246" grpId="0" animBg="1"/>
      <p:bldP spid="249" grpId="0" animBg="1"/>
      <p:bldP spid="250" grpId="0" animBg="1"/>
      <p:bldP spid="251" grpId="0" animBg="1"/>
      <p:bldP spid="254" grpId="0" animBg="1"/>
      <p:bldP spid="255" grpId="0" animBg="1"/>
      <p:bldP spid="256" grpId="0" animBg="1"/>
      <p:bldP spid="259" grpId="0" animBg="1"/>
      <p:bldP spid="2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双花攻击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(Double-spending Attack)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3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" name="直线箭头连接符 14">
            <a:extLst>
              <a:ext uri="{FF2B5EF4-FFF2-40B4-BE49-F238E27FC236}">
                <a16:creationId xmlns:a16="http://schemas.microsoft.com/office/drawing/2014/main" id="{3AFB53D4-BF41-2650-5A20-854594822E19}"/>
              </a:ext>
            </a:extLst>
          </p:cNvPr>
          <p:cNvCxnSpPr>
            <a:cxnSpLocks/>
          </p:cNvCxnSpPr>
          <p:nvPr/>
        </p:nvCxnSpPr>
        <p:spPr>
          <a:xfrm flipH="1">
            <a:off x="2487412" y="443293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BD183310-330A-096A-2938-0625A0B8146F}"/>
              </a:ext>
            </a:extLst>
          </p:cNvPr>
          <p:cNvSpPr/>
          <p:nvPr/>
        </p:nvSpPr>
        <p:spPr>
          <a:xfrm>
            <a:off x="521663" y="421429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59C39F-5C85-97BF-D4E5-964678058715}"/>
              </a:ext>
            </a:extLst>
          </p:cNvPr>
          <p:cNvSpPr/>
          <p:nvPr/>
        </p:nvSpPr>
        <p:spPr>
          <a:xfrm>
            <a:off x="1296825" y="4214299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" name="直线箭头连接符 13">
            <a:extLst>
              <a:ext uri="{FF2B5EF4-FFF2-40B4-BE49-F238E27FC236}">
                <a16:creationId xmlns:a16="http://schemas.microsoft.com/office/drawing/2014/main" id="{33579CBA-D758-8B83-3203-DB35D989229F}"/>
              </a:ext>
            </a:extLst>
          </p:cNvPr>
          <p:cNvCxnSpPr>
            <a:cxnSpLocks/>
          </p:cNvCxnSpPr>
          <p:nvPr/>
        </p:nvCxnSpPr>
        <p:spPr>
          <a:xfrm flipH="1">
            <a:off x="953925" y="442627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4">
            <a:extLst>
              <a:ext uri="{FF2B5EF4-FFF2-40B4-BE49-F238E27FC236}">
                <a16:creationId xmlns:a16="http://schemas.microsoft.com/office/drawing/2014/main" id="{E11E58BA-2D30-0B49-1944-CFFC823DE8C3}"/>
              </a:ext>
            </a:extLst>
          </p:cNvPr>
          <p:cNvCxnSpPr>
            <a:cxnSpLocks/>
          </p:cNvCxnSpPr>
          <p:nvPr/>
        </p:nvCxnSpPr>
        <p:spPr>
          <a:xfrm flipH="1">
            <a:off x="1729087" y="442627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0BB1166-33E7-1CB3-E287-6F4F19B0A2C7}"/>
              </a:ext>
            </a:extLst>
          </p:cNvPr>
          <p:cNvSpPr/>
          <p:nvPr/>
        </p:nvSpPr>
        <p:spPr>
          <a:xfrm>
            <a:off x="2065670" y="421429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D6A7D3-8E8F-7C97-5EBE-9E8D56A90EB9}"/>
              </a:ext>
            </a:extLst>
          </p:cNvPr>
          <p:cNvSpPr/>
          <p:nvPr/>
        </p:nvSpPr>
        <p:spPr>
          <a:xfrm>
            <a:off x="2065670" y="4894164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B53A7EB-B121-A43D-B1CA-C0D51D7A57E4}"/>
              </a:ext>
            </a:extLst>
          </p:cNvPr>
          <p:cNvCxnSpPr>
            <a:stCxn id="16" idx="1"/>
            <a:endCxn id="12" idx="3"/>
          </p:cNvCxnSpPr>
          <p:nvPr/>
        </p:nvCxnSpPr>
        <p:spPr>
          <a:xfrm flipH="1" flipV="1">
            <a:off x="1729087" y="4426274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BCE76680-9A0D-DED7-A4A2-6597204E99F7}"/>
              </a:ext>
            </a:extLst>
          </p:cNvPr>
          <p:cNvSpPr/>
          <p:nvPr/>
        </p:nvSpPr>
        <p:spPr>
          <a:xfrm>
            <a:off x="2830312" y="422096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59B40A-807C-D6C8-BC80-65C5FC1DD7FF}"/>
              </a:ext>
            </a:extLst>
          </p:cNvPr>
          <p:cNvSpPr/>
          <p:nvPr/>
        </p:nvSpPr>
        <p:spPr>
          <a:xfrm>
            <a:off x="2825371" y="4892946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0" name="直线箭头连接符 14">
            <a:extLst>
              <a:ext uri="{FF2B5EF4-FFF2-40B4-BE49-F238E27FC236}">
                <a16:creationId xmlns:a16="http://schemas.microsoft.com/office/drawing/2014/main" id="{70B00036-14E9-2E8F-67DA-E538475A8C94}"/>
              </a:ext>
            </a:extLst>
          </p:cNvPr>
          <p:cNvCxnSpPr>
            <a:cxnSpLocks/>
          </p:cNvCxnSpPr>
          <p:nvPr/>
        </p:nvCxnSpPr>
        <p:spPr>
          <a:xfrm flipH="1">
            <a:off x="2497932" y="512086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E134E28-7F5C-0AA8-B5B8-87D39F5C90CE}"/>
              </a:ext>
            </a:extLst>
          </p:cNvPr>
          <p:cNvSpPr/>
          <p:nvPr/>
        </p:nvSpPr>
        <p:spPr>
          <a:xfrm>
            <a:off x="3598869" y="4891085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2" name="直线箭头连接符 14">
            <a:extLst>
              <a:ext uri="{FF2B5EF4-FFF2-40B4-BE49-F238E27FC236}">
                <a16:creationId xmlns:a16="http://schemas.microsoft.com/office/drawing/2014/main" id="{55B8BC3B-FD9F-EABB-E645-3D6705200584}"/>
              </a:ext>
            </a:extLst>
          </p:cNvPr>
          <p:cNvCxnSpPr>
            <a:cxnSpLocks/>
          </p:cNvCxnSpPr>
          <p:nvPr/>
        </p:nvCxnSpPr>
        <p:spPr>
          <a:xfrm flipH="1">
            <a:off x="3255969" y="512086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BD6C579-65B2-5011-8CE0-18CC7ED1DE47}"/>
              </a:ext>
            </a:extLst>
          </p:cNvPr>
          <p:cNvSpPr/>
          <p:nvPr/>
        </p:nvSpPr>
        <p:spPr>
          <a:xfrm>
            <a:off x="4366909" y="4908891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4" name="直线箭头连接符 14">
            <a:extLst>
              <a:ext uri="{FF2B5EF4-FFF2-40B4-BE49-F238E27FC236}">
                <a16:creationId xmlns:a16="http://schemas.microsoft.com/office/drawing/2014/main" id="{84ABCC9E-5222-F30B-A1E6-85CB3AE15C95}"/>
              </a:ext>
            </a:extLst>
          </p:cNvPr>
          <p:cNvCxnSpPr>
            <a:cxnSpLocks/>
          </p:cNvCxnSpPr>
          <p:nvPr/>
        </p:nvCxnSpPr>
        <p:spPr>
          <a:xfrm flipH="1">
            <a:off x="4024009" y="512086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F9C7EC36-7C76-07B3-2BFC-9AB11AB49DD6}"/>
              </a:ext>
            </a:extLst>
          </p:cNvPr>
          <p:cNvSpPr/>
          <p:nvPr/>
        </p:nvSpPr>
        <p:spPr>
          <a:xfrm>
            <a:off x="5135649" y="4891085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6" name="直线箭头连接符 14">
            <a:extLst>
              <a:ext uri="{FF2B5EF4-FFF2-40B4-BE49-F238E27FC236}">
                <a16:creationId xmlns:a16="http://schemas.microsoft.com/office/drawing/2014/main" id="{8A7335B9-995E-66E8-3285-0667F2CED82D}"/>
              </a:ext>
            </a:extLst>
          </p:cNvPr>
          <p:cNvCxnSpPr>
            <a:cxnSpLocks/>
          </p:cNvCxnSpPr>
          <p:nvPr/>
        </p:nvCxnSpPr>
        <p:spPr>
          <a:xfrm flipH="1">
            <a:off x="4792749" y="512086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14">
            <a:extLst>
              <a:ext uri="{FF2B5EF4-FFF2-40B4-BE49-F238E27FC236}">
                <a16:creationId xmlns:a16="http://schemas.microsoft.com/office/drawing/2014/main" id="{73FF24EA-F637-85D8-644E-D44250FA584A}"/>
              </a:ext>
            </a:extLst>
          </p:cNvPr>
          <p:cNvCxnSpPr>
            <a:cxnSpLocks/>
          </p:cNvCxnSpPr>
          <p:nvPr/>
        </p:nvCxnSpPr>
        <p:spPr>
          <a:xfrm flipH="1">
            <a:off x="3256257" y="443293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FCE99940-5EDB-804F-3AD8-4061D5B01EBB}"/>
              </a:ext>
            </a:extLst>
          </p:cNvPr>
          <p:cNvSpPr/>
          <p:nvPr/>
        </p:nvSpPr>
        <p:spPr>
          <a:xfrm>
            <a:off x="3599157" y="422096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1F5ACAB-6246-4667-814C-AE322359F96E}"/>
              </a:ext>
            </a:extLst>
          </p:cNvPr>
          <p:cNvCxnSpPr>
            <a:cxnSpLocks/>
          </p:cNvCxnSpPr>
          <p:nvPr/>
        </p:nvCxnSpPr>
        <p:spPr>
          <a:xfrm>
            <a:off x="6096000" y="2039815"/>
            <a:ext cx="0" cy="4158762"/>
          </a:xfrm>
          <a:prstGeom prst="line">
            <a:avLst/>
          </a:prstGeom>
          <a:ln w="28575">
            <a:solidFill>
              <a:srgbClr val="5B307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D43A772C-76DD-49AB-B008-58997C20AB3C}"/>
              </a:ext>
            </a:extLst>
          </p:cNvPr>
          <p:cNvSpPr txBox="1"/>
          <p:nvPr/>
        </p:nvSpPr>
        <p:spPr>
          <a:xfrm>
            <a:off x="712379" y="1465175"/>
            <a:ext cx="10553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恶意节点尝试将</a:t>
            </a: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同一笔比特币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同时支付给两个不同的地址，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e.g.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，电商购物，收到货后再回滚交易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A6BF84FF-1FFA-377E-AA48-4BA539C69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75" y="1834507"/>
            <a:ext cx="574604" cy="574604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934B63C2-6768-4C88-8AA1-9F000D611652}"/>
              </a:ext>
            </a:extLst>
          </p:cNvPr>
          <p:cNvSpPr txBox="1"/>
          <p:nvPr/>
        </p:nvSpPr>
        <p:spPr>
          <a:xfrm>
            <a:off x="697635" y="193714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链上双花：通过分叉攻击进行双花</a:t>
            </a:r>
          </a:p>
        </p:txBody>
      </p:sp>
      <p:cxnSp>
        <p:nvCxnSpPr>
          <p:cNvPr id="38" name="直线箭头连接符 14">
            <a:extLst>
              <a:ext uri="{FF2B5EF4-FFF2-40B4-BE49-F238E27FC236}">
                <a16:creationId xmlns:a16="http://schemas.microsoft.com/office/drawing/2014/main" id="{1A104236-58E5-4DDB-880D-CBA68B50C79B}"/>
              </a:ext>
            </a:extLst>
          </p:cNvPr>
          <p:cNvCxnSpPr>
            <a:cxnSpLocks/>
          </p:cNvCxnSpPr>
          <p:nvPr/>
        </p:nvCxnSpPr>
        <p:spPr>
          <a:xfrm flipH="1">
            <a:off x="2457880" y="320637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460FB732-16A6-4C89-8A9F-409ADF262C70}"/>
              </a:ext>
            </a:extLst>
          </p:cNvPr>
          <p:cNvSpPr/>
          <p:nvPr/>
        </p:nvSpPr>
        <p:spPr>
          <a:xfrm>
            <a:off x="492131" y="298773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E9CC892-2F33-4001-8D61-655628B156A3}"/>
              </a:ext>
            </a:extLst>
          </p:cNvPr>
          <p:cNvSpPr/>
          <p:nvPr/>
        </p:nvSpPr>
        <p:spPr>
          <a:xfrm>
            <a:off x="1267293" y="2987738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1" name="直线箭头连接符 13">
            <a:extLst>
              <a:ext uri="{FF2B5EF4-FFF2-40B4-BE49-F238E27FC236}">
                <a16:creationId xmlns:a16="http://schemas.microsoft.com/office/drawing/2014/main" id="{2CBFE2C9-BAAA-4CAC-822D-C65DCBDC78B4}"/>
              </a:ext>
            </a:extLst>
          </p:cNvPr>
          <p:cNvCxnSpPr>
            <a:cxnSpLocks/>
          </p:cNvCxnSpPr>
          <p:nvPr/>
        </p:nvCxnSpPr>
        <p:spPr>
          <a:xfrm flipH="1">
            <a:off x="924393" y="319971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14">
            <a:extLst>
              <a:ext uri="{FF2B5EF4-FFF2-40B4-BE49-F238E27FC236}">
                <a16:creationId xmlns:a16="http://schemas.microsoft.com/office/drawing/2014/main" id="{EAD7C0B3-507D-48F0-BBB1-5BD9B80C69FF}"/>
              </a:ext>
            </a:extLst>
          </p:cNvPr>
          <p:cNvCxnSpPr>
            <a:cxnSpLocks/>
          </p:cNvCxnSpPr>
          <p:nvPr/>
        </p:nvCxnSpPr>
        <p:spPr>
          <a:xfrm flipH="1">
            <a:off x="1699555" y="319971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BBBD1833-828E-4F1A-8563-208C1FFCF371}"/>
              </a:ext>
            </a:extLst>
          </p:cNvPr>
          <p:cNvSpPr/>
          <p:nvPr/>
        </p:nvSpPr>
        <p:spPr>
          <a:xfrm>
            <a:off x="2036138" y="298773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99A8394-EA9C-4C86-A0CA-754A9FCD1E7E}"/>
              </a:ext>
            </a:extLst>
          </p:cNvPr>
          <p:cNvSpPr/>
          <p:nvPr/>
        </p:nvSpPr>
        <p:spPr>
          <a:xfrm>
            <a:off x="2800780" y="299440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5" name="直线箭头连接符 14">
            <a:extLst>
              <a:ext uri="{FF2B5EF4-FFF2-40B4-BE49-F238E27FC236}">
                <a16:creationId xmlns:a16="http://schemas.microsoft.com/office/drawing/2014/main" id="{61B5F205-9C5D-4471-8AE1-40AB548B2B61}"/>
              </a:ext>
            </a:extLst>
          </p:cNvPr>
          <p:cNvCxnSpPr>
            <a:cxnSpLocks/>
          </p:cNvCxnSpPr>
          <p:nvPr/>
        </p:nvCxnSpPr>
        <p:spPr>
          <a:xfrm flipH="1">
            <a:off x="3226725" y="320637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2726799D-8813-486C-93B8-F8D4BE2D4FF8}"/>
              </a:ext>
            </a:extLst>
          </p:cNvPr>
          <p:cNvSpPr/>
          <p:nvPr/>
        </p:nvSpPr>
        <p:spPr>
          <a:xfrm>
            <a:off x="3569625" y="299440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0C93181-1B32-4321-92D7-3B7B5EC9DB15}"/>
              </a:ext>
            </a:extLst>
          </p:cNvPr>
          <p:cNvSpPr txBox="1"/>
          <p:nvPr/>
        </p:nvSpPr>
        <p:spPr>
          <a:xfrm>
            <a:off x="1891754" y="2413095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93563558-9DC9-4033-BCC7-1DF4D735F65B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2254193" y="2782427"/>
            <a:ext cx="0" cy="20845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FE2B03EF-0AAA-4275-A237-40820B24404E}"/>
              </a:ext>
            </a:extLst>
          </p:cNvPr>
          <p:cNvSpPr txBox="1"/>
          <p:nvPr/>
        </p:nvSpPr>
        <p:spPr>
          <a:xfrm>
            <a:off x="1919627" y="3654273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F386C90-2120-4DF9-BBC6-055552F2FA99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2282066" y="4023605"/>
            <a:ext cx="0" cy="20845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3394C000-D01B-4267-9E2C-F4E4909F6D6C}"/>
              </a:ext>
            </a:extLst>
          </p:cNvPr>
          <p:cNvSpPr txBox="1"/>
          <p:nvPr/>
        </p:nvSpPr>
        <p:spPr>
          <a:xfrm>
            <a:off x="4136568" y="302171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最长合法链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59A3295-12AB-4252-8F2D-87D44BF692C5}"/>
              </a:ext>
            </a:extLst>
          </p:cNvPr>
          <p:cNvSpPr txBox="1"/>
          <p:nvPr/>
        </p:nvSpPr>
        <p:spPr>
          <a:xfrm>
            <a:off x="4134752" y="53122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最长合法链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90CC0FF-B51E-48D3-8970-3A0C57343D11}"/>
              </a:ext>
            </a:extLst>
          </p:cNvPr>
          <p:cNvSpPr txBox="1"/>
          <p:nvPr/>
        </p:nvSpPr>
        <p:spPr>
          <a:xfrm>
            <a:off x="4126605" y="425780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孤链</a:t>
            </a: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7F1CC7AE-85FA-4492-B008-0E866906F2D9}"/>
              </a:ext>
            </a:extLst>
          </p:cNvPr>
          <p:cNvSpPr/>
          <p:nvPr/>
        </p:nvSpPr>
        <p:spPr>
          <a:xfrm>
            <a:off x="1615404" y="4304924"/>
            <a:ext cx="275344" cy="275344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DC5995C-1176-4F2F-B83C-33EF4560D1BA}"/>
              </a:ext>
            </a:extLst>
          </p:cNvPr>
          <p:cNvCxnSpPr>
            <a:cxnSpLocks/>
            <a:stCxn id="58" idx="3"/>
          </p:cNvCxnSpPr>
          <p:nvPr/>
        </p:nvCxnSpPr>
        <p:spPr>
          <a:xfrm flipH="1">
            <a:off x="1452738" y="4539945"/>
            <a:ext cx="202989" cy="368946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902BB852-BDE1-49BD-82E1-7669712D4ABC}"/>
              </a:ext>
            </a:extLst>
          </p:cNvPr>
          <p:cNvSpPr txBox="1"/>
          <p:nvPr/>
        </p:nvSpPr>
        <p:spPr>
          <a:xfrm>
            <a:off x="306685" y="4888961"/>
            <a:ext cx="1527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分叉攻击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Forking Attack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2180142-02F0-4817-BA7A-69AEF43E91D0}"/>
              </a:ext>
            </a:extLst>
          </p:cNvPr>
          <p:cNvSpPr/>
          <p:nvPr/>
        </p:nvSpPr>
        <p:spPr>
          <a:xfrm>
            <a:off x="1946374" y="6007377"/>
            <a:ext cx="241113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什么情况下能成功？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79257899-21E8-4D70-B8B3-851C888E7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12" y="5891212"/>
            <a:ext cx="601662" cy="601662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5112ACFC-F519-4210-822E-208168294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441" y="1937143"/>
            <a:ext cx="574606" cy="574606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7EE0F98A-ABFC-4F71-84A6-3D5080A0834B}"/>
              </a:ext>
            </a:extLst>
          </p:cNvPr>
          <p:cNvSpPr txBox="1"/>
          <p:nvPr/>
        </p:nvSpPr>
        <p:spPr>
          <a:xfrm>
            <a:off x="6780280" y="203977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链下双花：零确认攻击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2B2CC28-3EF8-4CC4-9769-C3B16A09A0CB}"/>
              </a:ext>
            </a:extLst>
          </p:cNvPr>
          <p:cNvSpPr/>
          <p:nvPr/>
        </p:nvSpPr>
        <p:spPr>
          <a:xfrm>
            <a:off x="6796301" y="2981073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082DB508-2EB9-41C3-88D1-C918B56FBB8C}"/>
              </a:ext>
            </a:extLst>
          </p:cNvPr>
          <p:cNvCxnSpPr>
            <a:cxnSpLocks/>
          </p:cNvCxnSpPr>
          <p:nvPr/>
        </p:nvCxnSpPr>
        <p:spPr>
          <a:xfrm>
            <a:off x="7798143" y="2788625"/>
            <a:ext cx="0" cy="20845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889EFD98-9219-49CC-B5C4-506CE338F6AA}"/>
              </a:ext>
            </a:extLst>
          </p:cNvPr>
          <p:cNvSpPr txBox="1"/>
          <p:nvPr/>
        </p:nvSpPr>
        <p:spPr>
          <a:xfrm>
            <a:off x="8160582" y="2894335"/>
            <a:ext cx="312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交易还未打包上链时就发货（商家以探测到交易为准）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1A7C814-16F7-4FBA-9F35-FDDC1729365C}"/>
              </a:ext>
            </a:extLst>
          </p:cNvPr>
          <p:cNvSpPr txBox="1"/>
          <p:nvPr/>
        </p:nvSpPr>
        <p:spPr>
          <a:xfrm>
            <a:off x="7435704" y="2443084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AA13CE1-8C09-48F1-AC1A-EC09C8058B33}"/>
              </a:ext>
            </a:extLst>
          </p:cNvPr>
          <p:cNvSpPr/>
          <p:nvPr/>
        </p:nvSpPr>
        <p:spPr>
          <a:xfrm>
            <a:off x="7562843" y="2987738"/>
            <a:ext cx="432262" cy="423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1" name="直线箭头连接符 13">
            <a:extLst>
              <a:ext uri="{FF2B5EF4-FFF2-40B4-BE49-F238E27FC236}">
                <a16:creationId xmlns:a16="http://schemas.microsoft.com/office/drawing/2014/main" id="{9DB96E96-CDFC-4563-A18B-81997325FA96}"/>
              </a:ext>
            </a:extLst>
          </p:cNvPr>
          <p:cNvCxnSpPr>
            <a:cxnSpLocks/>
          </p:cNvCxnSpPr>
          <p:nvPr/>
        </p:nvCxnSpPr>
        <p:spPr>
          <a:xfrm flipH="1">
            <a:off x="7219943" y="319971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48B2353F-A389-4487-A99D-9EE61C3D5431}"/>
              </a:ext>
            </a:extLst>
          </p:cNvPr>
          <p:cNvSpPr/>
          <p:nvPr/>
        </p:nvSpPr>
        <p:spPr>
          <a:xfrm>
            <a:off x="6784343" y="4257884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B976CBDB-BF6E-4B91-8027-6DA573462B92}"/>
              </a:ext>
            </a:extLst>
          </p:cNvPr>
          <p:cNvCxnSpPr>
            <a:cxnSpLocks/>
          </p:cNvCxnSpPr>
          <p:nvPr/>
        </p:nvCxnSpPr>
        <p:spPr>
          <a:xfrm>
            <a:off x="7786185" y="4065436"/>
            <a:ext cx="0" cy="20845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C9434B7C-F38A-4469-A6E6-10DAA91CB7F0}"/>
              </a:ext>
            </a:extLst>
          </p:cNvPr>
          <p:cNvSpPr/>
          <p:nvPr/>
        </p:nvSpPr>
        <p:spPr>
          <a:xfrm>
            <a:off x="7550885" y="4264549"/>
            <a:ext cx="432262" cy="4239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5" name="直线箭头连接符 13">
            <a:extLst>
              <a:ext uri="{FF2B5EF4-FFF2-40B4-BE49-F238E27FC236}">
                <a16:creationId xmlns:a16="http://schemas.microsoft.com/office/drawing/2014/main" id="{A520D4C2-DD4A-4155-A97E-7B6833093E36}"/>
              </a:ext>
            </a:extLst>
          </p:cNvPr>
          <p:cNvCxnSpPr>
            <a:cxnSpLocks/>
          </p:cNvCxnSpPr>
          <p:nvPr/>
        </p:nvCxnSpPr>
        <p:spPr>
          <a:xfrm flipH="1">
            <a:off x="7207985" y="447652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4AE141B4-743B-4126-8739-F6DD43B3F857}"/>
              </a:ext>
            </a:extLst>
          </p:cNvPr>
          <p:cNvSpPr txBox="1"/>
          <p:nvPr/>
        </p:nvSpPr>
        <p:spPr>
          <a:xfrm>
            <a:off x="7435704" y="3725798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E82B26A-5482-491B-AE32-5B8581721429}"/>
              </a:ext>
            </a:extLst>
          </p:cNvPr>
          <p:cNvSpPr/>
          <p:nvPr/>
        </p:nvSpPr>
        <p:spPr>
          <a:xfrm>
            <a:off x="7564439" y="4934003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44D907C9-10EE-4BBA-96A3-EA6529842238}"/>
              </a:ext>
            </a:extLst>
          </p:cNvPr>
          <p:cNvCxnSpPr>
            <a:stCxn id="87" idx="1"/>
          </p:cNvCxnSpPr>
          <p:nvPr/>
        </p:nvCxnSpPr>
        <p:spPr>
          <a:xfrm flipH="1" flipV="1">
            <a:off x="7227856" y="4466113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57BEAD1B-93F4-4639-BFAF-CE7AA1D4065A}"/>
              </a:ext>
            </a:extLst>
          </p:cNvPr>
          <p:cNvSpPr/>
          <p:nvPr/>
        </p:nvSpPr>
        <p:spPr>
          <a:xfrm>
            <a:off x="8324140" y="4932785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0" name="直线箭头连接符 14">
            <a:extLst>
              <a:ext uri="{FF2B5EF4-FFF2-40B4-BE49-F238E27FC236}">
                <a16:creationId xmlns:a16="http://schemas.microsoft.com/office/drawing/2014/main" id="{369E09DF-6250-4B3C-84A4-705E251B97AF}"/>
              </a:ext>
            </a:extLst>
          </p:cNvPr>
          <p:cNvCxnSpPr>
            <a:cxnSpLocks/>
          </p:cNvCxnSpPr>
          <p:nvPr/>
        </p:nvCxnSpPr>
        <p:spPr>
          <a:xfrm flipH="1">
            <a:off x="7996701" y="516070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F9CE9632-2FD6-4030-A0C7-EA8ACFCFB960}"/>
              </a:ext>
            </a:extLst>
          </p:cNvPr>
          <p:cNvSpPr/>
          <p:nvPr/>
        </p:nvSpPr>
        <p:spPr>
          <a:xfrm>
            <a:off x="9097638" y="4930924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2" name="直线箭头连接符 14">
            <a:extLst>
              <a:ext uri="{FF2B5EF4-FFF2-40B4-BE49-F238E27FC236}">
                <a16:creationId xmlns:a16="http://schemas.microsoft.com/office/drawing/2014/main" id="{CD8E9FC0-BEA4-4252-8464-AD4B1446B2B6}"/>
              </a:ext>
            </a:extLst>
          </p:cNvPr>
          <p:cNvCxnSpPr>
            <a:cxnSpLocks/>
          </p:cNvCxnSpPr>
          <p:nvPr/>
        </p:nvCxnSpPr>
        <p:spPr>
          <a:xfrm flipH="1">
            <a:off x="8754738" y="516070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>
            <a:extLst>
              <a:ext uri="{FF2B5EF4-FFF2-40B4-BE49-F238E27FC236}">
                <a16:creationId xmlns:a16="http://schemas.microsoft.com/office/drawing/2014/main" id="{FF32E2DA-D257-4D95-AF97-F64360AE5DDD}"/>
              </a:ext>
            </a:extLst>
          </p:cNvPr>
          <p:cNvSpPr/>
          <p:nvPr/>
        </p:nvSpPr>
        <p:spPr>
          <a:xfrm>
            <a:off x="9865678" y="4948730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4" name="直线箭头连接符 14">
            <a:extLst>
              <a:ext uri="{FF2B5EF4-FFF2-40B4-BE49-F238E27FC236}">
                <a16:creationId xmlns:a16="http://schemas.microsoft.com/office/drawing/2014/main" id="{A08394C9-4D67-4E62-986A-AB2B523C7BE7}"/>
              </a:ext>
            </a:extLst>
          </p:cNvPr>
          <p:cNvCxnSpPr>
            <a:cxnSpLocks/>
          </p:cNvCxnSpPr>
          <p:nvPr/>
        </p:nvCxnSpPr>
        <p:spPr>
          <a:xfrm flipH="1">
            <a:off x="9522778" y="516070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 94">
            <a:extLst>
              <a:ext uri="{FF2B5EF4-FFF2-40B4-BE49-F238E27FC236}">
                <a16:creationId xmlns:a16="http://schemas.microsoft.com/office/drawing/2014/main" id="{C20B12F4-2DAA-4AA7-84B0-475196A87439}"/>
              </a:ext>
            </a:extLst>
          </p:cNvPr>
          <p:cNvSpPr/>
          <p:nvPr/>
        </p:nvSpPr>
        <p:spPr>
          <a:xfrm>
            <a:off x="10634418" y="4930924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6" name="直线箭头连接符 14">
            <a:extLst>
              <a:ext uri="{FF2B5EF4-FFF2-40B4-BE49-F238E27FC236}">
                <a16:creationId xmlns:a16="http://schemas.microsoft.com/office/drawing/2014/main" id="{FBF80867-BCAA-437A-9ED9-678602895DA5}"/>
              </a:ext>
            </a:extLst>
          </p:cNvPr>
          <p:cNvCxnSpPr>
            <a:cxnSpLocks/>
          </p:cNvCxnSpPr>
          <p:nvPr/>
        </p:nvCxnSpPr>
        <p:spPr>
          <a:xfrm flipH="1">
            <a:off x="10291518" y="516070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B3A66B44-2CB8-439A-B6CD-530EDBCA32F2}"/>
              </a:ext>
            </a:extLst>
          </p:cNvPr>
          <p:cNvSpPr txBox="1"/>
          <p:nvPr/>
        </p:nvSpPr>
        <p:spPr>
          <a:xfrm>
            <a:off x="7999864" y="426891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未被打包进区块</a:t>
            </a: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81A23122-3F25-4183-A856-85754E888BA6}"/>
              </a:ext>
            </a:extLst>
          </p:cNvPr>
          <p:cNvCxnSpPr>
            <a:cxnSpLocks/>
            <a:stCxn id="99" idx="0"/>
            <a:endCxn id="87" idx="2"/>
          </p:cNvCxnSpPr>
          <p:nvPr/>
        </p:nvCxnSpPr>
        <p:spPr>
          <a:xfrm flipH="1" flipV="1">
            <a:off x="7780570" y="5357952"/>
            <a:ext cx="934" cy="227614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BFA0C2D5-A887-4255-8ADC-9570FA2C5586}"/>
              </a:ext>
            </a:extLst>
          </p:cNvPr>
          <p:cNvSpPr txBox="1"/>
          <p:nvPr/>
        </p:nvSpPr>
        <p:spPr>
          <a:xfrm>
            <a:off x="7419065" y="5585566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C7765C0A-B1BD-4712-A450-DFF028F1B413}"/>
              </a:ext>
            </a:extLst>
          </p:cNvPr>
          <p:cNvSpPr txBox="1"/>
          <p:nvPr/>
        </p:nvSpPr>
        <p:spPr>
          <a:xfrm>
            <a:off x="9909934" y="552742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最长合法链</a:t>
            </a:r>
          </a:p>
        </p:txBody>
      </p:sp>
    </p:spTree>
    <p:extLst>
      <p:ext uri="{BB962C8B-B14F-4D97-AF65-F5344CB8AC3E}">
        <p14:creationId xmlns:p14="http://schemas.microsoft.com/office/powerpoint/2010/main" val="273286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3" grpId="0" animBg="1"/>
      <p:bldP spid="25" grpId="0" animBg="1"/>
      <p:bldP spid="28" grpId="0" animBg="1"/>
      <p:bldP spid="34" grpId="0"/>
      <p:bldP spid="37" grpId="0"/>
      <p:bldP spid="39" grpId="0" animBg="1"/>
      <p:bldP spid="40" grpId="0" animBg="1"/>
      <p:bldP spid="43" grpId="0" animBg="1"/>
      <p:bldP spid="44" grpId="0" animBg="1"/>
      <p:bldP spid="46" grpId="0" animBg="1"/>
      <p:bldP spid="51" grpId="0"/>
      <p:bldP spid="53" grpId="0"/>
      <p:bldP spid="55" grpId="0"/>
      <p:bldP spid="56" grpId="0"/>
      <p:bldP spid="57" grpId="0"/>
      <p:bldP spid="58" grpId="0" animBg="1"/>
      <p:bldP spid="63" grpId="0"/>
      <p:bldP spid="64" grpId="0" animBg="1"/>
      <p:bldP spid="67" grpId="0"/>
      <p:bldP spid="69" grpId="0" animBg="1"/>
      <p:bldP spid="78" grpId="0"/>
      <p:bldP spid="79" grpId="0"/>
      <p:bldP spid="80" grpId="0" animBg="1"/>
      <p:bldP spid="82" grpId="0" animBg="1"/>
      <p:bldP spid="84" grpId="0" animBg="1"/>
      <p:bldP spid="86" grpId="0"/>
      <p:bldP spid="87" grpId="0" animBg="1"/>
      <p:bldP spid="89" grpId="0" animBg="1"/>
      <p:bldP spid="91" grpId="0" animBg="1"/>
      <p:bldP spid="93" grpId="0" animBg="1"/>
      <p:bldP spid="95" grpId="0" animBg="1"/>
      <p:bldP spid="97" grpId="0"/>
      <p:bldP spid="99" grpId="0"/>
      <p:bldP spid="1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自私采矿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(Selfish Mining)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4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" name="直线箭头连接符 14">
            <a:extLst>
              <a:ext uri="{FF2B5EF4-FFF2-40B4-BE49-F238E27FC236}">
                <a16:creationId xmlns:a16="http://schemas.microsoft.com/office/drawing/2014/main" id="{3AFB53D4-BF41-2650-5A20-854594822E19}"/>
              </a:ext>
            </a:extLst>
          </p:cNvPr>
          <p:cNvCxnSpPr>
            <a:cxnSpLocks/>
          </p:cNvCxnSpPr>
          <p:nvPr/>
        </p:nvCxnSpPr>
        <p:spPr>
          <a:xfrm flipH="1">
            <a:off x="2487412" y="284612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BD183310-330A-096A-2938-0625A0B8146F}"/>
              </a:ext>
            </a:extLst>
          </p:cNvPr>
          <p:cNvSpPr/>
          <p:nvPr/>
        </p:nvSpPr>
        <p:spPr>
          <a:xfrm>
            <a:off x="521663" y="262748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59C39F-5C85-97BF-D4E5-964678058715}"/>
              </a:ext>
            </a:extLst>
          </p:cNvPr>
          <p:cNvSpPr/>
          <p:nvPr/>
        </p:nvSpPr>
        <p:spPr>
          <a:xfrm>
            <a:off x="1296825" y="262748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" name="直线箭头连接符 13">
            <a:extLst>
              <a:ext uri="{FF2B5EF4-FFF2-40B4-BE49-F238E27FC236}">
                <a16:creationId xmlns:a16="http://schemas.microsoft.com/office/drawing/2014/main" id="{33579CBA-D758-8B83-3203-DB35D989229F}"/>
              </a:ext>
            </a:extLst>
          </p:cNvPr>
          <p:cNvCxnSpPr>
            <a:cxnSpLocks/>
          </p:cNvCxnSpPr>
          <p:nvPr/>
        </p:nvCxnSpPr>
        <p:spPr>
          <a:xfrm flipH="1">
            <a:off x="953925" y="283945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4">
            <a:extLst>
              <a:ext uri="{FF2B5EF4-FFF2-40B4-BE49-F238E27FC236}">
                <a16:creationId xmlns:a16="http://schemas.microsoft.com/office/drawing/2014/main" id="{E11E58BA-2D30-0B49-1944-CFFC823DE8C3}"/>
              </a:ext>
            </a:extLst>
          </p:cNvPr>
          <p:cNvCxnSpPr>
            <a:cxnSpLocks/>
          </p:cNvCxnSpPr>
          <p:nvPr/>
        </p:nvCxnSpPr>
        <p:spPr>
          <a:xfrm flipH="1">
            <a:off x="1729087" y="283945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0BB1166-33E7-1CB3-E287-6F4F19B0A2C7}"/>
              </a:ext>
            </a:extLst>
          </p:cNvPr>
          <p:cNvSpPr/>
          <p:nvPr/>
        </p:nvSpPr>
        <p:spPr>
          <a:xfrm>
            <a:off x="2065670" y="262748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D6A7D3-8E8F-7C97-5EBE-9E8D56A90EB9}"/>
              </a:ext>
            </a:extLst>
          </p:cNvPr>
          <p:cNvSpPr/>
          <p:nvPr/>
        </p:nvSpPr>
        <p:spPr>
          <a:xfrm>
            <a:off x="2065670" y="3307346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B53A7EB-B121-A43D-B1CA-C0D51D7A57E4}"/>
              </a:ext>
            </a:extLst>
          </p:cNvPr>
          <p:cNvCxnSpPr>
            <a:stCxn id="16" idx="1"/>
            <a:endCxn id="12" idx="3"/>
          </p:cNvCxnSpPr>
          <p:nvPr/>
        </p:nvCxnSpPr>
        <p:spPr>
          <a:xfrm flipH="1" flipV="1">
            <a:off x="1729087" y="2839456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BCE76680-9A0D-DED7-A4A2-6597204E99F7}"/>
              </a:ext>
            </a:extLst>
          </p:cNvPr>
          <p:cNvSpPr/>
          <p:nvPr/>
        </p:nvSpPr>
        <p:spPr>
          <a:xfrm>
            <a:off x="2830312" y="263414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59B40A-807C-D6C8-BC80-65C5FC1DD7FF}"/>
              </a:ext>
            </a:extLst>
          </p:cNvPr>
          <p:cNvSpPr/>
          <p:nvPr/>
        </p:nvSpPr>
        <p:spPr>
          <a:xfrm>
            <a:off x="2825371" y="3306128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0" name="直线箭头连接符 14">
            <a:extLst>
              <a:ext uri="{FF2B5EF4-FFF2-40B4-BE49-F238E27FC236}">
                <a16:creationId xmlns:a16="http://schemas.microsoft.com/office/drawing/2014/main" id="{70B00036-14E9-2E8F-67DA-E538475A8C94}"/>
              </a:ext>
            </a:extLst>
          </p:cNvPr>
          <p:cNvCxnSpPr>
            <a:cxnSpLocks/>
          </p:cNvCxnSpPr>
          <p:nvPr/>
        </p:nvCxnSpPr>
        <p:spPr>
          <a:xfrm flipH="1">
            <a:off x="2497932" y="353404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E134E28-7F5C-0AA8-B5B8-87D39F5C90CE}"/>
              </a:ext>
            </a:extLst>
          </p:cNvPr>
          <p:cNvSpPr/>
          <p:nvPr/>
        </p:nvSpPr>
        <p:spPr>
          <a:xfrm>
            <a:off x="3598869" y="3304267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2" name="直线箭头连接符 14">
            <a:extLst>
              <a:ext uri="{FF2B5EF4-FFF2-40B4-BE49-F238E27FC236}">
                <a16:creationId xmlns:a16="http://schemas.microsoft.com/office/drawing/2014/main" id="{55B8BC3B-FD9F-EABB-E645-3D6705200584}"/>
              </a:ext>
            </a:extLst>
          </p:cNvPr>
          <p:cNvCxnSpPr>
            <a:cxnSpLocks/>
          </p:cNvCxnSpPr>
          <p:nvPr/>
        </p:nvCxnSpPr>
        <p:spPr>
          <a:xfrm flipH="1">
            <a:off x="3255969" y="353404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BD6C579-65B2-5011-8CE0-18CC7ED1DE47}"/>
              </a:ext>
            </a:extLst>
          </p:cNvPr>
          <p:cNvSpPr/>
          <p:nvPr/>
        </p:nvSpPr>
        <p:spPr>
          <a:xfrm>
            <a:off x="4366909" y="3322073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4" name="直线箭头连接符 14">
            <a:extLst>
              <a:ext uri="{FF2B5EF4-FFF2-40B4-BE49-F238E27FC236}">
                <a16:creationId xmlns:a16="http://schemas.microsoft.com/office/drawing/2014/main" id="{84ABCC9E-5222-F30B-A1E6-85CB3AE15C95}"/>
              </a:ext>
            </a:extLst>
          </p:cNvPr>
          <p:cNvCxnSpPr>
            <a:cxnSpLocks/>
          </p:cNvCxnSpPr>
          <p:nvPr/>
        </p:nvCxnSpPr>
        <p:spPr>
          <a:xfrm flipH="1">
            <a:off x="4024009" y="353404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F9C7EC36-7C76-07B3-2BFC-9AB11AB49DD6}"/>
              </a:ext>
            </a:extLst>
          </p:cNvPr>
          <p:cNvSpPr/>
          <p:nvPr/>
        </p:nvSpPr>
        <p:spPr>
          <a:xfrm>
            <a:off x="5135649" y="3304267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6" name="直线箭头连接符 14">
            <a:extLst>
              <a:ext uri="{FF2B5EF4-FFF2-40B4-BE49-F238E27FC236}">
                <a16:creationId xmlns:a16="http://schemas.microsoft.com/office/drawing/2014/main" id="{8A7335B9-995E-66E8-3285-0667F2CED82D}"/>
              </a:ext>
            </a:extLst>
          </p:cNvPr>
          <p:cNvCxnSpPr>
            <a:cxnSpLocks/>
          </p:cNvCxnSpPr>
          <p:nvPr/>
        </p:nvCxnSpPr>
        <p:spPr>
          <a:xfrm flipH="1">
            <a:off x="4792749" y="353404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14">
            <a:extLst>
              <a:ext uri="{FF2B5EF4-FFF2-40B4-BE49-F238E27FC236}">
                <a16:creationId xmlns:a16="http://schemas.microsoft.com/office/drawing/2014/main" id="{73FF24EA-F637-85D8-644E-D44250FA584A}"/>
              </a:ext>
            </a:extLst>
          </p:cNvPr>
          <p:cNvCxnSpPr>
            <a:cxnSpLocks/>
          </p:cNvCxnSpPr>
          <p:nvPr/>
        </p:nvCxnSpPr>
        <p:spPr>
          <a:xfrm flipH="1">
            <a:off x="3256257" y="284611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FCE99940-5EDB-804F-3AD8-4061D5B01EBB}"/>
              </a:ext>
            </a:extLst>
          </p:cNvPr>
          <p:cNvSpPr/>
          <p:nvPr/>
        </p:nvSpPr>
        <p:spPr>
          <a:xfrm>
            <a:off x="3599157" y="263414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E2B03EF-0AAA-4275-A237-40820B24404E}"/>
              </a:ext>
            </a:extLst>
          </p:cNvPr>
          <p:cNvSpPr txBox="1"/>
          <p:nvPr/>
        </p:nvSpPr>
        <p:spPr>
          <a:xfrm>
            <a:off x="1919627" y="2067455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F386C90-2120-4DF9-BBC6-055552F2FA99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2282066" y="2436787"/>
            <a:ext cx="0" cy="208456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059A3295-12AB-4252-8F2D-87D44BF692C5}"/>
              </a:ext>
            </a:extLst>
          </p:cNvPr>
          <p:cNvSpPr txBox="1"/>
          <p:nvPr/>
        </p:nvSpPr>
        <p:spPr>
          <a:xfrm>
            <a:off x="7108112" y="333102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恶意节点隐藏链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3A943F6-EF06-4342-8BF8-10F731B2E3F4}"/>
              </a:ext>
            </a:extLst>
          </p:cNvPr>
          <p:cNvSpPr txBox="1"/>
          <p:nvPr/>
        </p:nvSpPr>
        <p:spPr>
          <a:xfrm>
            <a:off x="667730" y="1392783"/>
            <a:ext cx="110847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恶意节点沿着某个链构建（例如，构建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个新区块），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但不发布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，直到达到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个确认后，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一次性发布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，实现双花攻击。</a:t>
            </a:r>
          </a:p>
        </p:txBody>
      </p:sp>
      <p:cxnSp>
        <p:nvCxnSpPr>
          <p:cNvPr id="76" name="直线箭头连接符 14">
            <a:extLst>
              <a:ext uri="{FF2B5EF4-FFF2-40B4-BE49-F238E27FC236}">
                <a16:creationId xmlns:a16="http://schemas.microsoft.com/office/drawing/2014/main" id="{3D0A6E12-79A6-4EA7-81CE-3FE1B8814ABB}"/>
              </a:ext>
            </a:extLst>
          </p:cNvPr>
          <p:cNvCxnSpPr>
            <a:cxnSpLocks/>
          </p:cNvCxnSpPr>
          <p:nvPr/>
        </p:nvCxnSpPr>
        <p:spPr>
          <a:xfrm flipH="1">
            <a:off x="4768124" y="284612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线箭头连接符 14">
            <a:extLst>
              <a:ext uri="{FF2B5EF4-FFF2-40B4-BE49-F238E27FC236}">
                <a16:creationId xmlns:a16="http://schemas.microsoft.com/office/drawing/2014/main" id="{A63004C3-18E3-495B-8E10-12F257506E39}"/>
              </a:ext>
            </a:extLst>
          </p:cNvPr>
          <p:cNvCxnSpPr>
            <a:cxnSpLocks/>
          </p:cNvCxnSpPr>
          <p:nvPr/>
        </p:nvCxnSpPr>
        <p:spPr>
          <a:xfrm flipH="1">
            <a:off x="4009799" y="283945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9916939F-CD44-4C68-A684-65B4F2CA47C9}"/>
              </a:ext>
            </a:extLst>
          </p:cNvPr>
          <p:cNvSpPr/>
          <p:nvPr/>
        </p:nvSpPr>
        <p:spPr>
          <a:xfrm>
            <a:off x="4346382" y="262748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76A18D4-1BEF-437A-B6C1-E466C8ABD6E0}"/>
              </a:ext>
            </a:extLst>
          </p:cNvPr>
          <p:cNvSpPr/>
          <p:nvPr/>
        </p:nvSpPr>
        <p:spPr>
          <a:xfrm>
            <a:off x="5111024" y="263414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4" name="直线箭头连接符 14">
            <a:extLst>
              <a:ext uri="{FF2B5EF4-FFF2-40B4-BE49-F238E27FC236}">
                <a16:creationId xmlns:a16="http://schemas.microsoft.com/office/drawing/2014/main" id="{6F2F54C9-AB17-45DB-900B-9AE6164ED77F}"/>
              </a:ext>
            </a:extLst>
          </p:cNvPr>
          <p:cNvCxnSpPr>
            <a:cxnSpLocks/>
          </p:cNvCxnSpPr>
          <p:nvPr/>
        </p:nvCxnSpPr>
        <p:spPr>
          <a:xfrm flipH="1">
            <a:off x="5536969" y="284611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>
            <a:extLst>
              <a:ext uri="{FF2B5EF4-FFF2-40B4-BE49-F238E27FC236}">
                <a16:creationId xmlns:a16="http://schemas.microsoft.com/office/drawing/2014/main" id="{53F45914-DC50-4E71-9821-180F5D57F463}"/>
              </a:ext>
            </a:extLst>
          </p:cNvPr>
          <p:cNvSpPr/>
          <p:nvPr/>
        </p:nvSpPr>
        <p:spPr>
          <a:xfrm>
            <a:off x="5879869" y="263414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29CD58AF-2A02-44CF-85E8-F120561D1D0B}"/>
              </a:ext>
            </a:extLst>
          </p:cNvPr>
          <p:cNvSpPr txBox="1"/>
          <p:nvPr/>
        </p:nvSpPr>
        <p:spPr>
          <a:xfrm>
            <a:off x="5602916" y="2067455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次确认</a:t>
            </a: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DAEE2791-16CD-49EC-81C6-9EFBE8A6E38E}"/>
              </a:ext>
            </a:extLst>
          </p:cNvPr>
          <p:cNvCxnSpPr>
            <a:cxnSpLocks/>
            <a:stCxn id="106" idx="2"/>
            <a:endCxn id="105" idx="0"/>
          </p:cNvCxnSpPr>
          <p:nvPr/>
        </p:nvCxnSpPr>
        <p:spPr>
          <a:xfrm>
            <a:off x="6096000" y="2436787"/>
            <a:ext cx="0" cy="197358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90833F40-8A4D-4828-B462-D0920B7271FE}"/>
              </a:ext>
            </a:extLst>
          </p:cNvPr>
          <p:cNvSpPr/>
          <p:nvPr/>
        </p:nvSpPr>
        <p:spPr>
          <a:xfrm>
            <a:off x="5907110" y="3315869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9" name="直线箭头连接符 14">
            <a:extLst>
              <a:ext uri="{FF2B5EF4-FFF2-40B4-BE49-F238E27FC236}">
                <a16:creationId xmlns:a16="http://schemas.microsoft.com/office/drawing/2014/main" id="{5F6925DB-F099-411E-AAF4-9B1CA79AC16B}"/>
              </a:ext>
            </a:extLst>
          </p:cNvPr>
          <p:cNvCxnSpPr>
            <a:cxnSpLocks/>
          </p:cNvCxnSpPr>
          <p:nvPr/>
        </p:nvCxnSpPr>
        <p:spPr>
          <a:xfrm flipH="1">
            <a:off x="5564210" y="352784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791EDC8B-B4CA-40D6-B138-96780082BE49}"/>
              </a:ext>
            </a:extLst>
          </p:cNvPr>
          <p:cNvSpPr/>
          <p:nvPr/>
        </p:nvSpPr>
        <p:spPr>
          <a:xfrm>
            <a:off x="6675850" y="3298063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1" name="直线箭头连接符 14">
            <a:extLst>
              <a:ext uri="{FF2B5EF4-FFF2-40B4-BE49-F238E27FC236}">
                <a16:creationId xmlns:a16="http://schemas.microsoft.com/office/drawing/2014/main" id="{60A6B8ED-707C-4F19-8933-811DB410A72B}"/>
              </a:ext>
            </a:extLst>
          </p:cNvPr>
          <p:cNvCxnSpPr>
            <a:cxnSpLocks/>
          </p:cNvCxnSpPr>
          <p:nvPr/>
        </p:nvCxnSpPr>
        <p:spPr>
          <a:xfrm flipH="1">
            <a:off x="6332950" y="352784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4BDD9CAC-EF56-4988-962C-D5F9BBE3C745}"/>
              </a:ext>
            </a:extLst>
          </p:cNvPr>
          <p:cNvSpPr txBox="1"/>
          <p:nvPr/>
        </p:nvSpPr>
        <p:spPr>
          <a:xfrm>
            <a:off x="6303691" y="266724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最长合法链</a:t>
            </a:r>
          </a:p>
        </p:txBody>
      </p:sp>
      <p:cxnSp>
        <p:nvCxnSpPr>
          <p:cNvPr id="9" name="连接符: 曲线 8">
            <a:extLst>
              <a:ext uri="{FF2B5EF4-FFF2-40B4-BE49-F238E27FC236}">
                <a16:creationId xmlns:a16="http://schemas.microsoft.com/office/drawing/2014/main" id="{EBEBCA24-9313-4FD8-BBA5-025E737C807D}"/>
              </a:ext>
            </a:extLst>
          </p:cNvPr>
          <p:cNvCxnSpPr>
            <a:stCxn id="56" idx="3"/>
            <a:endCxn id="112" idx="3"/>
          </p:cNvCxnSpPr>
          <p:nvPr/>
        </p:nvCxnSpPr>
        <p:spPr>
          <a:xfrm flipH="1" flipV="1">
            <a:off x="7642519" y="2851913"/>
            <a:ext cx="1266086" cy="663780"/>
          </a:xfrm>
          <a:prstGeom prst="curvedConnector3">
            <a:avLst>
              <a:gd name="adj1" fmla="val -29275"/>
            </a:avLst>
          </a:prstGeom>
          <a:ln w="1270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50BE3F9D-0444-4DC7-ADCD-05FE3529BC8B}"/>
              </a:ext>
            </a:extLst>
          </p:cNvPr>
          <p:cNvSpPr txBox="1"/>
          <p:nvPr/>
        </p:nvSpPr>
        <p:spPr>
          <a:xfrm>
            <a:off x="9409351" y="2839456"/>
            <a:ext cx="233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一次性发布，替换最长合法链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C099ED0A-E8BD-469D-A65F-FB43F1041212}"/>
              </a:ext>
            </a:extLst>
          </p:cNvPr>
          <p:cNvSpPr/>
          <p:nvPr/>
        </p:nvSpPr>
        <p:spPr>
          <a:xfrm>
            <a:off x="9510267" y="2163131"/>
            <a:ext cx="241113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什么情况下能成功？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3948412B-D9F9-4158-B472-9BC058226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605" y="2046966"/>
            <a:ext cx="601662" cy="601662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7AF2ADC1-3D2E-4AF5-B455-0CAD3C603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23" y="2051920"/>
            <a:ext cx="574604" cy="574604"/>
          </a:xfrm>
          <a:prstGeom prst="rect">
            <a:avLst/>
          </a:prstGeom>
        </p:spPr>
      </p:pic>
      <p:pic>
        <p:nvPicPr>
          <p:cNvPr id="117" name="图片 116">
            <a:extLst>
              <a:ext uri="{FF2B5EF4-FFF2-40B4-BE49-F238E27FC236}">
                <a16:creationId xmlns:a16="http://schemas.microsoft.com/office/drawing/2014/main" id="{44DE0AEA-FB95-4740-9B36-03DE85116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021" y="4082074"/>
            <a:ext cx="574606" cy="574606"/>
          </a:xfrm>
          <a:prstGeom prst="rect">
            <a:avLst/>
          </a:prstGeom>
        </p:spPr>
      </p:pic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6D5DED5-B21F-4105-B783-F22C34EFFAF5}"/>
              </a:ext>
            </a:extLst>
          </p:cNvPr>
          <p:cNvCxnSpPr/>
          <p:nvPr/>
        </p:nvCxnSpPr>
        <p:spPr>
          <a:xfrm>
            <a:off x="233082" y="3944471"/>
            <a:ext cx="11688320" cy="0"/>
          </a:xfrm>
          <a:prstGeom prst="line">
            <a:avLst/>
          </a:prstGeom>
          <a:ln w="19050">
            <a:solidFill>
              <a:srgbClr val="5B307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 117">
            <a:extLst>
              <a:ext uri="{FF2B5EF4-FFF2-40B4-BE49-F238E27FC236}">
                <a16:creationId xmlns:a16="http://schemas.microsoft.com/office/drawing/2014/main" id="{4A479DE7-9E84-47DB-A0F9-857DE11DD3F5}"/>
              </a:ext>
            </a:extLst>
          </p:cNvPr>
          <p:cNvSpPr/>
          <p:nvPr/>
        </p:nvSpPr>
        <p:spPr>
          <a:xfrm>
            <a:off x="953925" y="418099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AF4F5265-AF8F-4634-9A9F-09929429C335}"/>
              </a:ext>
            </a:extLst>
          </p:cNvPr>
          <p:cNvSpPr/>
          <p:nvPr/>
        </p:nvSpPr>
        <p:spPr>
          <a:xfrm>
            <a:off x="1729087" y="418099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0" name="直线箭头连接符 13">
            <a:extLst>
              <a:ext uri="{FF2B5EF4-FFF2-40B4-BE49-F238E27FC236}">
                <a16:creationId xmlns:a16="http://schemas.microsoft.com/office/drawing/2014/main" id="{E1E9A065-BA15-4552-8326-82FBC6B8AD6D}"/>
              </a:ext>
            </a:extLst>
          </p:cNvPr>
          <p:cNvCxnSpPr>
            <a:cxnSpLocks/>
          </p:cNvCxnSpPr>
          <p:nvPr/>
        </p:nvCxnSpPr>
        <p:spPr>
          <a:xfrm flipH="1">
            <a:off x="1386187" y="439296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>
            <a:extLst>
              <a:ext uri="{FF2B5EF4-FFF2-40B4-BE49-F238E27FC236}">
                <a16:creationId xmlns:a16="http://schemas.microsoft.com/office/drawing/2014/main" id="{BE1A8688-35B3-4AD6-A913-DD090A17045B}"/>
              </a:ext>
            </a:extLst>
          </p:cNvPr>
          <p:cNvSpPr/>
          <p:nvPr/>
        </p:nvSpPr>
        <p:spPr>
          <a:xfrm>
            <a:off x="2497932" y="4851996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304D95B6-4D24-4C9A-AEFC-BF579100AE70}"/>
              </a:ext>
            </a:extLst>
          </p:cNvPr>
          <p:cNvCxnSpPr>
            <a:stCxn id="121" idx="1"/>
          </p:cNvCxnSpPr>
          <p:nvPr/>
        </p:nvCxnSpPr>
        <p:spPr>
          <a:xfrm flipH="1" flipV="1">
            <a:off x="2161349" y="4384106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>
            <a:extLst>
              <a:ext uri="{FF2B5EF4-FFF2-40B4-BE49-F238E27FC236}">
                <a16:creationId xmlns:a16="http://schemas.microsoft.com/office/drawing/2014/main" id="{C8D3C669-4C9D-4E72-88BA-2BBA3E14C2A7}"/>
              </a:ext>
            </a:extLst>
          </p:cNvPr>
          <p:cNvSpPr/>
          <p:nvPr/>
        </p:nvSpPr>
        <p:spPr>
          <a:xfrm>
            <a:off x="3273094" y="4851996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24" name="直线箭头连接符 14">
            <a:extLst>
              <a:ext uri="{FF2B5EF4-FFF2-40B4-BE49-F238E27FC236}">
                <a16:creationId xmlns:a16="http://schemas.microsoft.com/office/drawing/2014/main" id="{AD6DD4CA-02C3-41E0-9911-09F6C06620C1}"/>
              </a:ext>
            </a:extLst>
          </p:cNvPr>
          <p:cNvCxnSpPr>
            <a:cxnSpLocks/>
          </p:cNvCxnSpPr>
          <p:nvPr/>
        </p:nvCxnSpPr>
        <p:spPr>
          <a:xfrm flipH="1">
            <a:off x="2919674" y="507991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908834D-297E-4758-938B-AB4A7951BA9B}"/>
              </a:ext>
            </a:extLst>
          </p:cNvPr>
          <p:cNvSpPr txBox="1"/>
          <p:nvPr/>
        </p:nvSpPr>
        <p:spPr>
          <a:xfrm>
            <a:off x="3671701" y="487930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恶意节点隐藏链（不发布）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4BB040B-A971-406C-980D-BA45CBE9D7B3}"/>
              </a:ext>
            </a:extLst>
          </p:cNvPr>
          <p:cNvSpPr txBox="1"/>
          <p:nvPr/>
        </p:nvSpPr>
        <p:spPr>
          <a:xfrm>
            <a:off x="2927420" y="420829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正常节点正在构建</a:t>
            </a:r>
          </a:p>
        </p:txBody>
      </p:sp>
      <p:cxnSp>
        <p:nvCxnSpPr>
          <p:cNvPr id="127" name="直线箭头连接符 14">
            <a:extLst>
              <a:ext uri="{FF2B5EF4-FFF2-40B4-BE49-F238E27FC236}">
                <a16:creationId xmlns:a16="http://schemas.microsoft.com/office/drawing/2014/main" id="{8B56AAA1-30E9-43B0-B3AE-73DD11FF5CB4}"/>
              </a:ext>
            </a:extLst>
          </p:cNvPr>
          <p:cNvCxnSpPr>
            <a:cxnSpLocks/>
          </p:cNvCxnSpPr>
          <p:nvPr/>
        </p:nvCxnSpPr>
        <p:spPr>
          <a:xfrm flipH="1">
            <a:off x="2158575" y="439296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矩形 127">
            <a:extLst>
              <a:ext uri="{FF2B5EF4-FFF2-40B4-BE49-F238E27FC236}">
                <a16:creationId xmlns:a16="http://schemas.microsoft.com/office/drawing/2014/main" id="{D46E00C7-2326-4142-B595-FAB689A5C4EF}"/>
              </a:ext>
            </a:extLst>
          </p:cNvPr>
          <p:cNvSpPr/>
          <p:nvPr/>
        </p:nvSpPr>
        <p:spPr>
          <a:xfrm>
            <a:off x="2495158" y="4180989"/>
            <a:ext cx="432262" cy="423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426E497B-7426-4E00-855C-77DB23D7D310}"/>
              </a:ext>
            </a:extLst>
          </p:cNvPr>
          <p:cNvSpPr/>
          <p:nvPr/>
        </p:nvSpPr>
        <p:spPr>
          <a:xfrm>
            <a:off x="6874051" y="418454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B3B6ED98-04C8-473A-B365-A2AE7BC00AC6}"/>
              </a:ext>
            </a:extLst>
          </p:cNvPr>
          <p:cNvSpPr/>
          <p:nvPr/>
        </p:nvSpPr>
        <p:spPr>
          <a:xfrm>
            <a:off x="7649213" y="418454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1" name="直线箭头连接符 13">
            <a:extLst>
              <a:ext uri="{FF2B5EF4-FFF2-40B4-BE49-F238E27FC236}">
                <a16:creationId xmlns:a16="http://schemas.microsoft.com/office/drawing/2014/main" id="{8F6CB611-2C4B-4AE8-A094-820515676F52}"/>
              </a:ext>
            </a:extLst>
          </p:cNvPr>
          <p:cNvCxnSpPr>
            <a:cxnSpLocks/>
          </p:cNvCxnSpPr>
          <p:nvPr/>
        </p:nvCxnSpPr>
        <p:spPr>
          <a:xfrm flipH="1">
            <a:off x="7306313" y="439652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DFF3D43B-14ED-4022-A65C-0BBABA897C40}"/>
              </a:ext>
            </a:extLst>
          </p:cNvPr>
          <p:cNvSpPr/>
          <p:nvPr/>
        </p:nvSpPr>
        <p:spPr>
          <a:xfrm>
            <a:off x="8418058" y="4855553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50683A12-EABD-45F5-91F0-58FE3822D656}"/>
              </a:ext>
            </a:extLst>
          </p:cNvPr>
          <p:cNvCxnSpPr>
            <a:stCxn id="132" idx="1"/>
          </p:cNvCxnSpPr>
          <p:nvPr/>
        </p:nvCxnSpPr>
        <p:spPr>
          <a:xfrm flipH="1" flipV="1">
            <a:off x="8081475" y="4387663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>
            <a:extLst>
              <a:ext uri="{FF2B5EF4-FFF2-40B4-BE49-F238E27FC236}">
                <a16:creationId xmlns:a16="http://schemas.microsoft.com/office/drawing/2014/main" id="{32126940-A7F2-47C5-AAB7-B135A6C519E9}"/>
              </a:ext>
            </a:extLst>
          </p:cNvPr>
          <p:cNvSpPr/>
          <p:nvPr/>
        </p:nvSpPr>
        <p:spPr>
          <a:xfrm>
            <a:off x="9193220" y="4855553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5" name="直线箭头连接符 14">
            <a:extLst>
              <a:ext uri="{FF2B5EF4-FFF2-40B4-BE49-F238E27FC236}">
                <a16:creationId xmlns:a16="http://schemas.microsoft.com/office/drawing/2014/main" id="{A66FCED7-6FB5-4BF4-8315-ABB7983CC444}"/>
              </a:ext>
            </a:extLst>
          </p:cNvPr>
          <p:cNvCxnSpPr>
            <a:cxnSpLocks/>
          </p:cNvCxnSpPr>
          <p:nvPr/>
        </p:nvCxnSpPr>
        <p:spPr>
          <a:xfrm flipH="1">
            <a:off x="8839800" y="5083473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3CFC12DB-B955-4F72-A9D3-D5F5CA6AF2AE}"/>
              </a:ext>
            </a:extLst>
          </p:cNvPr>
          <p:cNvSpPr txBox="1"/>
          <p:nvPr/>
        </p:nvSpPr>
        <p:spPr>
          <a:xfrm>
            <a:off x="9604442" y="4740804"/>
            <a:ext cx="2149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恶意节点立刻发布两个新区块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D6909E9-FB04-4084-AF06-80B0AF39AAC0}"/>
              </a:ext>
            </a:extLst>
          </p:cNvPr>
          <p:cNvSpPr txBox="1"/>
          <p:nvPr/>
        </p:nvSpPr>
        <p:spPr>
          <a:xfrm>
            <a:off x="8847546" y="421185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正常节点挖到新区块</a:t>
            </a:r>
          </a:p>
        </p:txBody>
      </p:sp>
      <p:cxnSp>
        <p:nvCxnSpPr>
          <p:cNvPr id="138" name="直线箭头连接符 14">
            <a:extLst>
              <a:ext uri="{FF2B5EF4-FFF2-40B4-BE49-F238E27FC236}">
                <a16:creationId xmlns:a16="http://schemas.microsoft.com/office/drawing/2014/main" id="{92DBD38B-FF0E-42CE-BCB0-72B7E71BC2E6}"/>
              </a:ext>
            </a:extLst>
          </p:cNvPr>
          <p:cNvCxnSpPr>
            <a:cxnSpLocks/>
          </p:cNvCxnSpPr>
          <p:nvPr/>
        </p:nvCxnSpPr>
        <p:spPr>
          <a:xfrm flipH="1">
            <a:off x="8078701" y="439652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矩形 139">
            <a:extLst>
              <a:ext uri="{FF2B5EF4-FFF2-40B4-BE49-F238E27FC236}">
                <a16:creationId xmlns:a16="http://schemas.microsoft.com/office/drawing/2014/main" id="{F4F7E308-0AB6-4667-A5E5-AE3877550317}"/>
              </a:ext>
            </a:extLst>
          </p:cNvPr>
          <p:cNvSpPr/>
          <p:nvPr/>
        </p:nvSpPr>
        <p:spPr>
          <a:xfrm>
            <a:off x="8424375" y="418454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63AEBA3C-9DC0-479E-A7A3-3F47D0EAC3DF}"/>
              </a:ext>
            </a:extLst>
          </p:cNvPr>
          <p:cNvSpPr/>
          <p:nvPr/>
        </p:nvSpPr>
        <p:spPr>
          <a:xfrm>
            <a:off x="953925" y="562674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FC941CD6-957C-4DFE-A573-88B007D9B5C6}"/>
              </a:ext>
            </a:extLst>
          </p:cNvPr>
          <p:cNvSpPr/>
          <p:nvPr/>
        </p:nvSpPr>
        <p:spPr>
          <a:xfrm>
            <a:off x="1729087" y="562674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43" name="直线箭头连接符 13">
            <a:extLst>
              <a:ext uri="{FF2B5EF4-FFF2-40B4-BE49-F238E27FC236}">
                <a16:creationId xmlns:a16="http://schemas.microsoft.com/office/drawing/2014/main" id="{08B4EF48-AB39-46F8-8878-FE81F1AD04C0}"/>
              </a:ext>
            </a:extLst>
          </p:cNvPr>
          <p:cNvCxnSpPr>
            <a:cxnSpLocks/>
          </p:cNvCxnSpPr>
          <p:nvPr/>
        </p:nvCxnSpPr>
        <p:spPr>
          <a:xfrm flipH="1">
            <a:off x="1386187" y="583871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矩形 143">
            <a:extLst>
              <a:ext uri="{FF2B5EF4-FFF2-40B4-BE49-F238E27FC236}">
                <a16:creationId xmlns:a16="http://schemas.microsoft.com/office/drawing/2014/main" id="{921B9FDE-9193-4775-831D-A1C4C3442FEF}"/>
              </a:ext>
            </a:extLst>
          </p:cNvPr>
          <p:cNvSpPr/>
          <p:nvPr/>
        </p:nvSpPr>
        <p:spPr>
          <a:xfrm>
            <a:off x="2497932" y="6297748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14E22B7F-5C03-47BE-A907-26B85E852BA0}"/>
              </a:ext>
            </a:extLst>
          </p:cNvPr>
          <p:cNvCxnSpPr>
            <a:stCxn id="144" idx="1"/>
          </p:cNvCxnSpPr>
          <p:nvPr/>
        </p:nvCxnSpPr>
        <p:spPr>
          <a:xfrm flipH="1" flipV="1">
            <a:off x="2161349" y="5829858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FD964E8A-21D7-4E76-A0EB-D322F9CF9343}"/>
              </a:ext>
            </a:extLst>
          </p:cNvPr>
          <p:cNvSpPr/>
          <p:nvPr/>
        </p:nvSpPr>
        <p:spPr>
          <a:xfrm>
            <a:off x="3273094" y="6297748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47" name="直线箭头连接符 14">
            <a:extLst>
              <a:ext uri="{FF2B5EF4-FFF2-40B4-BE49-F238E27FC236}">
                <a16:creationId xmlns:a16="http://schemas.microsoft.com/office/drawing/2014/main" id="{4EB3404D-034C-495C-8644-DC331E946211}"/>
              </a:ext>
            </a:extLst>
          </p:cNvPr>
          <p:cNvCxnSpPr>
            <a:cxnSpLocks/>
          </p:cNvCxnSpPr>
          <p:nvPr/>
        </p:nvCxnSpPr>
        <p:spPr>
          <a:xfrm flipH="1">
            <a:off x="2919674" y="6525668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箭头连接符 14">
            <a:extLst>
              <a:ext uri="{FF2B5EF4-FFF2-40B4-BE49-F238E27FC236}">
                <a16:creationId xmlns:a16="http://schemas.microsoft.com/office/drawing/2014/main" id="{E66B9353-A0B3-426C-9778-BA2602C220A3}"/>
              </a:ext>
            </a:extLst>
          </p:cNvPr>
          <p:cNvCxnSpPr>
            <a:cxnSpLocks/>
          </p:cNvCxnSpPr>
          <p:nvPr/>
        </p:nvCxnSpPr>
        <p:spPr>
          <a:xfrm flipH="1">
            <a:off x="2158575" y="583871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矩形 148">
            <a:extLst>
              <a:ext uri="{FF2B5EF4-FFF2-40B4-BE49-F238E27FC236}">
                <a16:creationId xmlns:a16="http://schemas.microsoft.com/office/drawing/2014/main" id="{777B288D-4D60-4ADC-A7A1-E6D7EC825EA9}"/>
              </a:ext>
            </a:extLst>
          </p:cNvPr>
          <p:cNvSpPr/>
          <p:nvPr/>
        </p:nvSpPr>
        <p:spPr>
          <a:xfrm>
            <a:off x="2504249" y="562674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B595528-DFFC-43AB-ADED-2E215551E20F}"/>
              </a:ext>
            </a:extLst>
          </p:cNvPr>
          <p:cNvSpPr/>
          <p:nvPr/>
        </p:nvSpPr>
        <p:spPr>
          <a:xfrm>
            <a:off x="7873997" y="6299147"/>
            <a:ext cx="241113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什么情况下能成功？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151" name="图片 150">
            <a:extLst>
              <a:ext uri="{FF2B5EF4-FFF2-40B4-BE49-F238E27FC236}">
                <a16:creationId xmlns:a16="http://schemas.microsoft.com/office/drawing/2014/main" id="{F1C898C4-8326-40D9-B60A-2DBE13BD1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335" y="6182982"/>
            <a:ext cx="601662" cy="601662"/>
          </a:xfrm>
          <a:prstGeom prst="rect">
            <a:avLst/>
          </a:prstGeom>
        </p:spPr>
      </p:pic>
      <p:sp>
        <p:nvSpPr>
          <p:cNvPr id="152" name="文本框 151">
            <a:extLst>
              <a:ext uri="{FF2B5EF4-FFF2-40B4-BE49-F238E27FC236}">
                <a16:creationId xmlns:a16="http://schemas.microsoft.com/office/drawing/2014/main" id="{DADBB57C-1124-453A-A5E5-266FA20DBFDF}"/>
              </a:ext>
            </a:extLst>
          </p:cNvPr>
          <p:cNvSpPr txBox="1"/>
          <p:nvPr/>
        </p:nvSpPr>
        <p:spPr>
          <a:xfrm>
            <a:off x="3705356" y="634100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最长合法链</a:t>
            </a: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50C74CE1-6D7E-48F5-A8CA-4C21E1785CCE}"/>
              </a:ext>
            </a:extLst>
          </p:cNvPr>
          <p:cNvSpPr txBox="1"/>
          <p:nvPr/>
        </p:nvSpPr>
        <p:spPr>
          <a:xfrm>
            <a:off x="2927420" y="56451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孤链</a:t>
            </a:r>
          </a:p>
        </p:txBody>
      </p:sp>
      <p:sp>
        <p:nvSpPr>
          <p:cNvPr id="154" name="乘号 176">
            <a:extLst>
              <a:ext uri="{FF2B5EF4-FFF2-40B4-BE49-F238E27FC236}">
                <a16:creationId xmlns:a16="http://schemas.microsoft.com/office/drawing/2014/main" id="{AAB81171-AB8D-4D56-A65C-9046FF6341ED}"/>
              </a:ext>
            </a:extLst>
          </p:cNvPr>
          <p:cNvSpPr/>
          <p:nvPr/>
        </p:nvSpPr>
        <p:spPr>
          <a:xfrm>
            <a:off x="2412487" y="5523002"/>
            <a:ext cx="615786" cy="615786"/>
          </a:xfrm>
          <a:prstGeom prst="mathMultiply">
            <a:avLst>
              <a:gd name="adj1" fmla="val 3412"/>
            </a:avLst>
          </a:prstGeom>
          <a:solidFill>
            <a:srgbClr val="EE1A1A"/>
          </a:solidFill>
          <a:ln>
            <a:solidFill>
              <a:srgbClr val="EE1A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1A9933BF-AC80-42F2-9FF0-3C93938CFCD8}"/>
              </a:ext>
            </a:extLst>
          </p:cNvPr>
          <p:cNvSpPr/>
          <p:nvPr/>
        </p:nvSpPr>
        <p:spPr>
          <a:xfrm>
            <a:off x="7880673" y="5685979"/>
            <a:ext cx="241113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恶意节点有什么好处？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156" name="图片 155">
            <a:extLst>
              <a:ext uri="{FF2B5EF4-FFF2-40B4-BE49-F238E27FC236}">
                <a16:creationId xmlns:a16="http://schemas.microsoft.com/office/drawing/2014/main" id="{F156AE93-2314-409A-A766-35B01295E2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011" y="5569814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3" grpId="0" animBg="1"/>
      <p:bldP spid="25" grpId="0" animBg="1"/>
      <p:bldP spid="28" grpId="0" animBg="1"/>
      <p:bldP spid="53" grpId="0"/>
      <p:bldP spid="56" grpId="0"/>
      <p:bldP spid="75" grpId="0"/>
      <p:bldP spid="101" grpId="0" animBg="1"/>
      <p:bldP spid="102" grpId="0" animBg="1"/>
      <p:bldP spid="105" grpId="0" animBg="1"/>
      <p:bldP spid="106" grpId="0"/>
      <p:bldP spid="108" grpId="0" animBg="1"/>
      <p:bldP spid="110" grpId="0" animBg="1"/>
      <p:bldP spid="112" grpId="0"/>
      <p:bldP spid="113" grpId="0"/>
      <p:bldP spid="114" grpId="0" animBg="1"/>
      <p:bldP spid="118" grpId="0" animBg="1"/>
      <p:bldP spid="119" grpId="0" animBg="1"/>
      <p:bldP spid="121" grpId="0" animBg="1"/>
      <p:bldP spid="123" grpId="0" animBg="1"/>
      <p:bldP spid="125" grpId="0"/>
      <p:bldP spid="126" grpId="0"/>
      <p:bldP spid="128" grpId="0" animBg="1"/>
      <p:bldP spid="129" grpId="0" animBg="1"/>
      <p:bldP spid="130" grpId="0" animBg="1"/>
      <p:bldP spid="132" grpId="0" animBg="1"/>
      <p:bldP spid="134" grpId="0" animBg="1"/>
      <p:bldP spid="136" grpId="0"/>
      <p:bldP spid="137" grpId="0"/>
      <p:bldP spid="140" grpId="0" animBg="1"/>
      <p:bldP spid="141" grpId="0" animBg="1"/>
      <p:bldP spid="142" grpId="0" animBg="1"/>
      <p:bldP spid="144" grpId="0" animBg="1"/>
      <p:bldP spid="146" grpId="0" animBg="1"/>
      <p:bldP spid="149" grpId="0" animBg="1"/>
      <p:bldP spid="150" grpId="0" animBg="1"/>
      <p:bldP spid="152" grpId="0"/>
      <p:bldP spid="153" grpId="0"/>
      <p:bldP spid="154" grpId="0" animBg="1"/>
      <p:bldP spid="1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51%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攻击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(51% Attack)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5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" name="直线箭头连接符 14">
            <a:extLst>
              <a:ext uri="{FF2B5EF4-FFF2-40B4-BE49-F238E27FC236}">
                <a16:creationId xmlns:a16="http://schemas.microsoft.com/office/drawing/2014/main" id="{3AFB53D4-BF41-2650-5A20-854594822E19}"/>
              </a:ext>
            </a:extLst>
          </p:cNvPr>
          <p:cNvCxnSpPr>
            <a:cxnSpLocks/>
          </p:cNvCxnSpPr>
          <p:nvPr/>
        </p:nvCxnSpPr>
        <p:spPr>
          <a:xfrm flipH="1">
            <a:off x="4354612" y="256776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BD183310-330A-096A-2938-0625A0B8146F}"/>
              </a:ext>
            </a:extLst>
          </p:cNvPr>
          <p:cNvSpPr/>
          <p:nvPr/>
        </p:nvSpPr>
        <p:spPr>
          <a:xfrm>
            <a:off x="2388863" y="234912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59C39F-5C85-97BF-D4E5-964678058715}"/>
              </a:ext>
            </a:extLst>
          </p:cNvPr>
          <p:cNvSpPr/>
          <p:nvPr/>
        </p:nvSpPr>
        <p:spPr>
          <a:xfrm>
            <a:off x="3164025" y="234912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" name="直线箭头连接符 13">
            <a:extLst>
              <a:ext uri="{FF2B5EF4-FFF2-40B4-BE49-F238E27FC236}">
                <a16:creationId xmlns:a16="http://schemas.microsoft.com/office/drawing/2014/main" id="{33579CBA-D758-8B83-3203-DB35D989229F}"/>
              </a:ext>
            </a:extLst>
          </p:cNvPr>
          <p:cNvCxnSpPr>
            <a:cxnSpLocks/>
          </p:cNvCxnSpPr>
          <p:nvPr/>
        </p:nvCxnSpPr>
        <p:spPr>
          <a:xfrm flipH="1">
            <a:off x="2821125" y="256109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4">
            <a:extLst>
              <a:ext uri="{FF2B5EF4-FFF2-40B4-BE49-F238E27FC236}">
                <a16:creationId xmlns:a16="http://schemas.microsoft.com/office/drawing/2014/main" id="{E11E58BA-2D30-0B49-1944-CFFC823DE8C3}"/>
              </a:ext>
            </a:extLst>
          </p:cNvPr>
          <p:cNvCxnSpPr>
            <a:cxnSpLocks/>
          </p:cNvCxnSpPr>
          <p:nvPr/>
        </p:nvCxnSpPr>
        <p:spPr>
          <a:xfrm flipH="1">
            <a:off x="3596287" y="256109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0BB1166-33E7-1CB3-E287-6F4F19B0A2C7}"/>
              </a:ext>
            </a:extLst>
          </p:cNvPr>
          <p:cNvSpPr/>
          <p:nvPr/>
        </p:nvSpPr>
        <p:spPr>
          <a:xfrm>
            <a:off x="3932870" y="234912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D6A7D3-8E8F-7C97-5EBE-9E8D56A90EB9}"/>
              </a:ext>
            </a:extLst>
          </p:cNvPr>
          <p:cNvSpPr/>
          <p:nvPr/>
        </p:nvSpPr>
        <p:spPr>
          <a:xfrm>
            <a:off x="3176331" y="3704025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CE76680-9A0D-DED7-A4A2-6597204E99F7}"/>
              </a:ext>
            </a:extLst>
          </p:cNvPr>
          <p:cNvSpPr/>
          <p:nvPr/>
        </p:nvSpPr>
        <p:spPr>
          <a:xfrm>
            <a:off x="4697512" y="235578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59B40A-807C-D6C8-BC80-65C5FC1DD7FF}"/>
              </a:ext>
            </a:extLst>
          </p:cNvPr>
          <p:cNvSpPr/>
          <p:nvPr/>
        </p:nvSpPr>
        <p:spPr>
          <a:xfrm>
            <a:off x="3936032" y="3702807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0" name="直线箭头连接符 14">
            <a:extLst>
              <a:ext uri="{FF2B5EF4-FFF2-40B4-BE49-F238E27FC236}">
                <a16:creationId xmlns:a16="http://schemas.microsoft.com/office/drawing/2014/main" id="{70B00036-14E9-2E8F-67DA-E538475A8C94}"/>
              </a:ext>
            </a:extLst>
          </p:cNvPr>
          <p:cNvCxnSpPr>
            <a:cxnSpLocks/>
          </p:cNvCxnSpPr>
          <p:nvPr/>
        </p:nvCxnSpPr>
        <p:spPr>
          <a:xfrm flipH="1">
            <a:off x="3608593" y="393072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E134E28-7F5C-0AA8-B5B8-87D39F5C90CE}"/>
              </a:ext>
            </a:extLst>
          </p:cNvPr>
          <p:cNvSpPr/>
          <p:nvPr/>
        </p:nvSpPr>
        <p:spPr>
          <a:xfrm>
            <a:off x="4709530" y="3700946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2" name="直线箭头连接符 14">
            <a:extLst>
              <a:ext uri="{FF2B5EF4-FFF2-40B4-BE49-F238E27FC236}">
                <a16:creationId xmlns:a16="http://schemas.microsoft.com/office/drawing/2014/main" id="{55B8BC3B-FD9F-EABB-E645-3D6705200584}"/>
              </a:ext>
            </a:extLst>
          </p:cNvPr>
          <p:cNvCxnSpPr>
            <a:cxnSpLocks/>
          </p:cNvCxnSpPr>
          <p:nvPr/>
        </p:nvCxnSpPr>
        <p:spPr>
          <a:xfrm flipH="1">
            <a:off x="4366630" y="39307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BD6C579-65B2-5011-8CE0-18CC7ED1DE47}"/>
              </a:ext>
            </a:extLst>
          </p:cNvPr>
          <p:cNvSpPr/>
          <p:nvPr/>
        </p:nvSpPr>
        <p:spPr>
          <a:xfrm>
            <a:off x="5477570" y="3718752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4" name="直线箭头连接符 14">
            <a:extLst>
              <a:ext uri="{FF2B5EF4-FFF2-40B4-BE49-F238E27FC236}">
                <a16:creationId xmlns:a16="http://schemas.microsoft.com/office/drawing/2014/main" id="{84ABCC9E-5222-F30B-A1E6-85CB3AE15C95}"/>
              </a:ext>
            </a:extLst>
          </p:cNvPr>
          <p:cNvCxnSpPr>
            <a:cxnSpLocks/>
          </p:cNvCxnSpPr>
          <p:nvPr/>
        </p:nvCxnSpPr>
        <p:spPr>
          <a:xfrm flipH="1">
            <a:off x="5134670" y="39307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F9C7EC36-7C76-07B3-2BFC-9AB11AB49DD6}"/>
              </a:ext>
            </a:extLst>
          </p:cNvPr>
          <p:cNvSpPr/>
          <p:nvPr/>
        </p:nvSpPr>
        <p:spPr>
          <a:xfrm>
            <a:off x="6246310" y="3700946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6" name="直线箭头连接符 14">
            <a:extLst>
              <a:ext uri="{FF2B5EF4-FFF2-40B4-BE49-F238E27FC236}">
                <a16:creationId xmlns:a16="http://schemas.microsoft.com/office/drawing/2014/main" id="{8A7335B9-995E-66E8-3285-0667F2CED82D}"/>
              </a:ext>
            </a:extLst>
          </p:cNvPr>
          <p:cNvCxnSpPr>
            <a:cxnSpLocks/>
          </p:cNvCxnSpPr>
          <p:nvPr/>
        </p:nvCxnSpPr>
        <p:spPr>
          <a:xfrm flipH="1">
            <a:off x="5903410" y="39307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14">
            <a:extLst>
              <a:ext uri="{FF2B5EF4-FFF2-40B4-BE49-F238E27FC236}">
                <a16:creationId xmlns:a16="http://schemas.microsoft.com/office/drawing/2014/main" id="{73FF24EA-F637-85D8-644E-D44250FA584A}"/>
              </a:ext>
            </a:extLst>
          </p:cNvPr>
          <p:cNvCxnSpPr>
            <a:cxnSpLocks/>
          </p:cNvCxnSpPr>
          <p:nvPr/>
        </p:nvCxnSpPr>
        <p:spPr>
          <a:xfrm flipH="1">
            <a:off x="5123457" y="256775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FCE99940-5EDB-804F-3AD8-4061D5B01EBB}"/>
              </a:ext>
            </a:extLst>
          </p:cNvPr>
          <p:cNvSpPr/>
          <p:nvPr/>
        </p:nvSpPr>
        <p:spPr>
          <a:xfrm>
            <a:off x="5466357" y="235578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E2B03EF-0AAA-4275-A237-40820B24404E}"/>
              </a:ext>
            </a:extLst>
          </p:cNvPr>
          <p:cNvSpPr txBox="1"/>
          <p:nvPr/>
        </p:nvSpPr>
        <p:spPr>
          <a:xfrm>
            <a:off x="183749" y="1882789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篡改历史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3A943F6-EF06-4342-8BF8-10F731B2E3F4}"/>
              </a:ext>
            </a:extLst>
          </p:cNvPr>
          <p:cNvSpPr txBox="1"/>
          <p:nvPr/>
        </p:nvSpPr>
        <p:spPr>
          <a:xfrm>
            <a:off x="667730" y="1392783"/>
            <a:ext cx="11084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恶意节点算力占全网算力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51%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以上，恶意节点可以实现</a:t>
            </a: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任何非法行为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，如：篡改、双花、分叉等</a:t>
            </a:r>
          </a:p>
        </p:txBody>
      </p:sp>
      <p:cxnSp>
        <p:nvCxnSpPr>
          <p:cNvPr id="76" name="直线箭头连接符 14">
            <a:extLst>
              <a:ext uri="{FF2B5EF4-FFF2-40B4-BE49-F238E27FC236}">
                <a16:creationId xmlns:a16="http://schemas.microsoft.com/office/drawing/2014/main" id="{3D0A6E12-79A6-4EA7-81CE-3FE1B8814ABB}"/>
              </a:ext>
            </a:extLst>
          </p:cNvPr>
          <p:cNvCxnSpPr>
            <a:cxnSpLocks/>
          </p:cNvCxnSpPr>
          <p:nvPr/>
        </p:nvCxnSpPr>
        <p:spPr>
          <a:xfrm flipH="1">
            <a:off x="6635324" y="256776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线箭头连接符 14">
            <a:extLst>
              <a:ext uri="{FF2B5EF4-FFF2-40B4-BE49-F238E27FC236}">
                <a16:creationId xmlns:a16="http://schemas.microsoft.com/office/drawing/2014/main" id="{A63004C3-18E3-495B-8E10-12F257506E39}"/>
              </a:ext>
            </a:extLst>
          </p:cNvPr>
          <p:cNvCxnSpPr>
            <a:cxnSpLocks/>
          </p:cNvCxnSpPr>
          <p:nvPr/>
        </p:nvCxnSpPr>
        <p:spPr>
          <a:xfrm flipH="1">
            <a:off x="5876999" y="256109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9916939F-CD44-4C68-A684-65B4F2CA47C9}"/>
              </a:ext>
            </a:extLst>
          </p:cNvPr>
          <p:cNvSpPr/>
          <p:nvPr/>
        </p:nvSpPr>
        <p:spPr>
          <a:xfrm>
            <a:off x="6213582" y="234912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76A18D4-1BEF-437A-B6C1-E466C8ABD6E0}"/>
              </a:ext>
            </a:extLst>
          </p:cNvPr>
          <p:cNvSpPr/>
          <p:nvPr/>
        </p:nvSpPr>
        <p:spPr>
          <a:xfrm>
            <a:off x="6978224" y="235578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4" name="直线箭头连接符 14">
            <a:extLst>
              <a:ext uri="{FF2B5EF4-FFF2-40B4-BE49-F238E27FC236}">
                <a16:creationId xmlns:a16="http://schemas.microsoft.com/office/drawing/2014/main" id="{6F2F54C9-AB17-45DB-900B-9AE6164ED77F}"/>
              </a:ext>
            </a:extLst>
          </p:cNvPr>
          <p:cNvCxnSpPr>
            <a:cxnSpLocks/>
          </p:cNvCxnSpPr>
          <p:nvPr/>
        </p:nvCxnSpPr>
        <p:spPr>
          <a:xfrm flipH="1">
            <a:off x="7404169" y="256775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>
            <a:extLst>
              <a:ext uri="{FF2B5EF4-FFF2-40B4-BE49-F238E27FC236}">
                <a16:creationId xmlns:a16="http://schemas.microsoft.com/office/drawing/2014/main" id="{53F45914-DC50-4E71-9821-180F5D57F463}"/>
              </a:ext>
            </a:extLst>
          </p:cNvPr>
          <p:cNvSpPr/>
          <p:nvPr/>
        </p:nvSpPr>
        <p:spPr>
          <a:xfrm>
            <a:off x="7747069" y="235578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90833F40-8A4D-4828-B462-D0920B7271FE}"/>
              </a:ext>
            </a:extLst>
          </p:cNvPr>
          <p:cNvSpPr/>
          <p:nvPr/>
        </p:nvSpPr>
        <p:spPr>
          <a:xfrm>
            <a:off x="7017771" y="3712548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9" name="直线箭头连接符 14">
            <a:extLst>
              <a:ext uri="{FF2B5EF4-FFF2-40B4-BE49-F238E27FC236}">
                <a16:creationId xmlns:a16="http://schemas.microsoft.com/office/drawing/2014/main" id="{5F6925DB-F099-411E-AAF4-9B1CA79AC16B}"/>
              </a:ext>
            </a:extLst>
          </p:cNvPr>
          <p:cNvCxnSpPr>
            <a:cxnSpLocks/>
          </p:cNvCxnSpPr>
          <p:nvPr/>
        </p:nvCxnSpPr>
        <p:spPr>
          <a:xfrm flipH="1">
            <a:off x="6674871" y="392452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4BDD9CAC-EF56-4988-962C-D5F9BBE3C745}"/>
              </a:ext>
            </a:extLst>
          </p:cNvPr>
          <p:cNvSpPr txBox="1"/>
          <p:nvPr/>
        </p:nvSpPr>
        <p:spPr>
          <a:xfrm>
            <a:off x="9742518" y="23709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最长合法链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4BB040B-A971-406C-980D-BA45CBE9D7B3}"/>
              </a:ext>
            </a:extLst>
          </p:cNvPr>
          <p:cNvSpPr txBox="1"/>
          <p:nvPr/>
        </p:nvSpPr>
        <p:spPr>
          <a:xfrm>
            <a:off x="145093" y="2278230"/>
            <a:ext cx="2072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恶意节点占有多数算力，具有更高的概率挖出新区块，总有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某一个时刻扩展为最长合法链</a:t>
            </a:r>
          </a:p>
        </p:txBody>
      </p: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50683A12-EABD-45F5-91F0-58FE3822D656}"/>
              </a:ext>
            </a:extLst>
          </p:cNvPr>
          <p:cNvCxnSpPr>
            <a:cxnSpLocks/>
          </p:cNvCxnSpPr>
          <p:nvPr/>
        </p:nvCxnSpPr>
        <p:spPr>
          <a:xfrm flipH="1" flipV="1">
            <a:off x="2837068" y="3252484"/>
            <a:ext cx="336583" cy="679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箭头连接符 14">
            <a:extLst>
              <a:ext uri="{FF2B5EF4-FFF2-40B4-BE49-F238E27FC236}">
                <a16:creationId xmlns:a16="http://schemas.microsoft.com/office/drawing/2014/main" id="{1B9F3062-5FB4-4949-813A-2DEC20871BBF}"/>
              </a:ext>
            </a:extLst>
          </p:cNvPr>
          <p:cNvCxnSpPr>
            <a:cxnSpLocks/>
          </p:cNvCxnSpPr>
          <p:nvPr/>
        </p:nvCxnSpPr>
        <p:spPr>
          <a:xfrm flipH="1">
            <a:off x="8182505" y="256776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AD997CED-53E1-4B4F-9E30-79BCFCF98C26}"/>
              </a:ext>
            </a:extLst>
          </p:cNvPr>
          <p:cNvSpPr/>
          <p:nvPr/>
        </p:nvSpPr>
        <p:spPr>
          <a:xfrm>
            <a:off x="8525405" y="235578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9" name="直线箭头连接符 14">
            <a:extLst>
              <a:ext uri="{FF2B5EF4-FFF2-40B4-BE49-F238E27FC236}">
                <a16:creationId xmlns:a16="http://schemas.microsoft.com/office/drawing/2014/main" id="{FE2DE8D2-DD0C-48EB-90BE-5D25593320F5}"/>
              </a:ext>
            </a:extLst>
          </p:cNvPr>
          <p:cNvCxnSpPr>
            <a:cxnSpLocks/>
          </p:cNvCxnSpPr>
          <p:nvPr/>
        </p:nvCxnSpPr>
        <p:spPr>
          <a:xfrm flipH="1">
            <a:off x="8951350" y="256775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F5065C7E-37D1-4B19-AF9D-7DA958FF0C82}"/>
              </a:ext>
            </a:extLst>
          </p:cNvPr>
          <p:cNvSpPr/>
          <p:nvPr/>
        </p:nvSpPr>
        <p:spPr>
          <a:xfrm>
            <a:off x="9294250" y="235578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52E85DB-A40E-4203-A1B0-85D13D2C8BEE}"/>
              </a:ext>
            </a:extLst>
          </p:cNvPr>
          <p:cNvSpPr txBox="1"/>
          <p:nvPr/>
        </p:nvSpPr>
        <p:spPr>
          <a:xfrm>
            <a:off x="2597984" y="1799385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 100 BTC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DAF3A6B0-2589-4A5B-8AC4-A7CDE8DB4019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380156" y="2163623"/>
            <a:ext cx="0" cy="185498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14">
            <a:extLst>
              <a:ext uri="{FF2B5EF4-FFF2-40B4-BE49-F238E27FC236}">
                <a16:creationId xmlns:a16="http://schemas.microsoft.com/office/drawing/2014/main" id="{FDEADC8C-44A2-49EE-86C1-F9A280026D9F}"/>
              </a:ext>
            </a:extLst>
          </p:cNvPr>
          <p:cNvCxnSpPr>
            <a:cxnSpLocks/>
          </p:cNvCxnSpPr>
          <p:nvPr/>
        </p:nvCxnSpPr>
        <p:spPr>
          <a:xfrm flipH="1">
            <a:off x="4354612" y="326681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>
            <a:extLst>
              <a:ext uri="{FF2B5EF4-FFF2-40B4-BE49-F238E27FC236}">
                <a16:creationId xmlns:a16="http://schemas.microsoft.com/office/drawing/2014/main" id="{CEA9B052-E899-4C30-B6BE-4F9C73B51000}"/>
              </a:ext>
            </a:extLst>
          </p:cNvPr>
          <p:cNvSpPr/>
          <p:nvPr/>
        </p:nvSpPr>
        <p:spPr>
          <a:xfrm>
            <a:off x="2388863" y="304817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95579C08-6989-4209-BCC3-009040EF31EB}"/>
              </a:ext>
            </a:extLst>
          </p:cNvPr>
          <p:cNvSpPr/>
          <p:nvPr/>
        </p:nvSpPr>
        <p:spPr>
          <a:xfrm>
            <a:off x="3164025" y="3048177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57" name="直线箭头连接符 13">
            <a:extLst>
              <a:ext uri="{FF2B5EF4-FFF2-40B4-BE49-F238E27FC236}">
                <a16:creationId xmlns:a16="http://schemas.microsoft.com/office/drawing/2014/main" id="{EAA5BD00-7E28-478F-B73A-56F1D413B522}"/>
              </a:ext>
            </a:extLst>
          </p:cNvPr>
          <p:cNvCxnSpPr>
            <a:cxnSpLocks/>
          </p:cNvCxnSpPr>
          <p:nvPr/>
        </p:nvCxnSpPr>
        <p:spPr>
          <a:xfrm flipH="1">
            <a:off x="2821125" y="326015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线箭头连接符 14">
            <a:extLst>
              <a:ext uri="{FF2B5EF4-FFF2-40B4-BE49-F238E27FC236}">
                <a16:creationId xmlns:a16="http://schemas.microsoft.com/office/drawing/2014/main" id="{5348B161-AB7A-4680-BF23-3ABD2BAD5611}"/>
              </a:ext>
            </a:extLst>
          </p:cNvPr>
          <p:cNvCxnSpPr>
            <a:cxnSpLocks/>
          </p:cNvCxnSpPr>
          <p:nvPr/>
        </p:nvCxnSpPr>
        <p:spPr>
          <a:xfrm flipH="1">
            <a:off x="3596287" y="326015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矩形 158">
            <a:extLst>
              <a:ext uri="{FF2B5EF4-FFF2-40B4-BE49-F238E27FC236}">
                <a16:creationId xmlns:a16="http://schemas.microsoft.com/office/drawing/2014/main" id="{DBB0AEAA-3555-4B91-9DAB-285B69B038C8}"/>
              </a:ext>
            </a:extLst>
          </p:cNvPr>
          <p:cNvSpPr/>
          <p:nvPr/>
        </p:nvSpPr>
        <p:spPr>
          <a:xfrm>
            <a:off x="3932870" y="304817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1F0B1C38-24EC-45DE-94E1-A7ECBA95B8BA}"/>
              </a:ext>
            </a:extLst>
          </p:cNvPr>
          <p:cNvSpPr/>
          <p:nvPr/>
        </p:nvSpPr>
        <p:spPr>
          <a:xfrm>
            <a:off x="4697512" y="305484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61" name="直线箭头连接符 14">
            <a:extLst>
              <a:ext uri="{FF2B5EF4-FFF2-40B4-BE49-F238E27FC236}">
                <a16:creationId xmlns:a16="http://schemas.microsoft.com/office/drawing/2014/main" id="{4B8EB68C-81A2-4599-8910-F48D864208D0}"/>
              </a:ext>
            </a:extLst>
          </p:cNvPr>
          <p:cNvCxnSpPr>
            <a:cxnSpLocks/>
          </p:cNvCxnSpPr>
          <p:nvPr/>
        </p:nvCxnSpPr>
        <p:spPr>
          <a:xfrm flipH="1">
            <a:off x="5123457" y="326681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矩形 161">
            <a:extLst>
              <a:ext uri="{FF2B5EF4-FFF2-40B4-BE49-F238E27FC236}">
                <a16:creationId xmlns:a16="http://schemas.microsoft.com/office/drawing/2014/main" id="{93E7CA0B-7900-4170-B062-F239630C04D2}"/>
              </a:ext>
            </a:extLst>
          </p:cNvPr>
          <p:cNvSpPr/>
          <p:nvPr/>
        </p:nvSpPr>
        <p:spPr>
          <a:xfrm>
            <a:off x="5466357" y="305484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63" name="直线箭头连接符 14">
            <a:extLst>
              <a:ext uri="{FF2B5EF4-FFF2-40B4-BE49-F238E27FC236}">
                <a16:creationId xmlns:a16="http://schemas.microsoft.com/office/drawing/2014/main" id="{B310ED42-61DA-4145-87E4-A050677B3D8E}"/>
              </a:ext>
            </a:extLst>
          </p:cNvPr>
          <p:cNvCxnSpPr>
            <a:cxnSpLocks/>
          </p:cNvCxnSpPr>
          <p:nvPr/>
        </p:nvCxnSpPr>
        <p:spPr>
          <a:xfrm flipH="1">
            <a:off x="6635324" y="326681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箭头连接符 14">
            <a:extLst>
              <a:ext uri="{FF2B5EF4-FFF2-40B4-BE49-F238E27FC236}">
                <a16:creationId xmlns:a16="http://schemas.microsoft.com/office/drawing/2014/main" id="{A1F905F2-1432-446D-870D-1723A17011C3}"/>
              </a:ext>
            </a:extLst>
          </p:cNvPr>
          <p:cNvCxnSpPr>
            <a:cxnSpLocks/>
          </p:cNvCxnSpPr>
          <p:nvPr/>
        </p:nvCxnSpPr>
        <p:spPr>
          <a:xfrm flipH="1">
            <a:off x="5876999" y="3260151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 164">
            <a:extLst>
              <a:ext uri="{FF2B5EF4-FFF2-40B4-BE49-F238E27FC236}">
                <a16:creationId xmlns:a16="http://schemas.microsoft.com/office/drawing/2014/main" id="{608CC673-FF0F-4028-BAA0-F3046EF767E5}"/>
              </a:ext>
            </a:extLst>
          </p:cNvPr>
          <p:cNvSpPr/>
          <p:nvPr/>
        </p:nvSpPr>
        <p:spPr>
          <a:xfrm>
            <a:off x="6213582" y="3048176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3F022D80-559A-426E-9157-B18E31093FB2}"/>
              </a:ext>
            </a:extLst>
          </p:cNvPr>
          <p:cNvSpPr/>
          <p:nvPr/>
        </p:nvSpPr>
        <p:spPr>
          <a:xfrm>
            <a:off x="6978224" y="305484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67" name="直线箭头连接符 14">
            <a:extLst>
              <a:ext uri="{FF2B5EF4-FFF2-40B4-BE49-F238E27FC236}">
                <a16:creationId xmlns:a16="http://schemas.microsoft.com/office/drawing/2014/main" id="{145AA78C-4D98-4DF4-8077-C3AA313585D0}"/>
              </a:ext>
            </a:extLst>
          </p:cNvPr>
          <p:cNvCxnSpPr>
            <a:cxnSpLocks/>
          </p:cNvCxnSpPr>
          <p:nvPr/>
        </p:nvCxnSpPr>
        <p:spPr>
          <a:xfrm flipH="1">
            <a:off x="7404169" y="326681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>
            <a:extLst>
              <a:ext uri="{FF2B5EF4-FFF2-40B4-BE49-F238E27FC236}">
                <a16:creationId xmlns:a16="http://schemas.microsoft.com/office/drawing/2014/main" id="{85C762FE-F042-4DF8-A15C-9C56E947681E}"/>
              </a:ext>
            </a:extLst>
          </p:cNvPr>
          <p:cNvSpPr/>
          <p:nvPr/>
        </p:nvSpPr>
        <p:spPr>
          <a:xfrm>
            <a:off x="7747069" y="305484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69" name="直线箭头连接符 14">
            <a:extLst>
              <a:ext uri="{FF2B5EF4-FFF2-40B4-BE49-F238E27FC236}">
                <a16:creationId xmlns:a16="http://schemas.microsoft.com/office/drawing/2014/main" id="{AF52DAB6-112C-4993-ABA5-C72C0288DD78}"/>
              </a:ext>
            </a:extLst>
          </p:cNvPr>
          <p:cNvCxnSpPr>
            <a:cxnSpLocks/>
          </p:cNvCxnSpPr>
          <p:nvPr/>
        </p:nvCxnSpPr>
        <p:spPr>
          <a:xfrm flipH="1">
            <a:off x="8182505" y="326681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909DB1E7-E70F-41A8-AF12-2F7C179F7A59}"/>
              </a:ext>
            </a:extLst>
          </p:cNvPr>
          <p:cNvSpPr/>
          <p:nvPr/>
        </p:nvSpPr>
        <p:spPr>
          <a:xfrm>
            <a:off x="8525405" y="305484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1" name="直线箭头连接符 14">
            <a:extLst>
              <a:ext uri="{FF2B5EF4-FFF2-40B4-BE49-F238E27FC236}">
                <a16:creationId xmlns:a16="http://schemas.microsoft.com/office/drawing/2014/main" id="{19DE924A-B533-4A2E-872B-99D6BC22B75E}"/>
              </a:ext>
            </a:extLst>
          </p:cNvPr>
          <p:cNvCxnSpPr>
            <a:cxnSpLocks/>
          </p:cNvCxnSpPr>
          <p:nvPr/>
        </p:nvCxnSpPr>
        <p:spPr>
          <a:xfrm flipH="1">
            <a:off x="8951350" y="326681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>
            <a:extLst>
              <a:ext uri="{FF2B5EF4-FFF2-40B4-BE49-F238E27FC236}">
                <a16:creationId xmlns:a16="http://schemas.microsoft.com/office/drawing/2014/main" id="{62146627-1B03-4735-9EC3-E3E1E9714B07}"/>
              </a:ext>
            </a:extLst>
          </p:cNvPr>
          <p:cNvSpPr/>
          <p:nvPr/>
        </p:nvSpPr>
        <p:spPr>
          <a:xfrm>
            <a:off x="9294250" y="305484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7887B315-3FF2-40A8-83DD-35466AF2E38E}"/>
              </a:ext>
            </a:extLst>
          </p:cNvPr>
          <p:cNvSpPr/>
          <p:nvPr/>
        </p:nvSpPr>
        <p:spPr>
          <a:xfrm>
            <a:off x="7764634" y="3702807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5" name="直线箭头连接符 14">
            <a:extLst>
              <a:ext uri="{FF2B5EF4-FFF2-40B4-BE49-F238E27FC236}">
                <a16:creationId xmlns:a16="http://schemas.microsoft.com/office/drawing/2014/main" id="{42701B91-78C8-425F-A41D-CF39040FA8AF}"/>
              </a:ext>
            </a:extLst>
          </p:cNvPr>
          <p:cNvCxnSpPr>
            <a:cxnSpLocks/>
          </p:cNvCxnSpPr>
          <p:nvPr/>
        </p:nvCxnSpPr>
        <p:spPr>
          <a:xfrm flipH="1">
            <a:off x="7437195" y="3930727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 175">
            <a:extLst>
              <a:ext uri="{FF2B5EF4-FFF2-40B4-BE49-F238E27FC236}">
                <a16:creationId xmlns:a16="http://schemas.microsoft.com/office/drawing/2014/main" id="{690DA9F9-20B1-4465-9065-1B599BE606CF}"/>
              </a:ext>
            </a:extLst>
          </p:cNvPr>
          <p:cNvSpPr/>
          <p:nvPr/>
        </p:nvSpPr>
        <p:spPr>
          <a:xfrm>
            <a:off x="8538132" y="3700946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7" name="直线箭头连接符 14">
            <a:extLst>
              <a:ext uri="{FF2B5EF4-FFF2-40B4-BE49-F238E27FC236}">
                <a16:creationId xmlns:a16="http://schemas.microsoft.com/office/drawing/2014/main" id="{41308C97-A36D-4710-BA9E-5F0103353ECC}"/>
              </a:ext>
            </a:extLst>
          </p:cNvPr>
          <p:cNvCxnSpPr>
            <a:cxnSpLocks/>
          </p:cNvCxnSpPr>
          <p:nvPr/>
        </p:nvCxnSpPr>
        <p:spPr>
          <a:xfrm flipH="1">
            <a:off x="8195232" y="39307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矩形 177">
            <a:extLst>
              <a:ext uri="{FF2B5EF4-FFF2-40B4-BE49-F238E27FC236}">
                <a16:creationId xmlns:a16="http://schemas.microsoft.com/office/drawing/2014/main" id="{64127CFA-40C1-4B5B-ABB2-3703B4EA44D7}"/>
              </a:ext>
            </a:extLst>
          </p:cNvPr>
          <p:cNvSpPr/>
          <p:nvPr/>
        </p:nvSpPr>
        <p:spPr>
          <a:xfrm>
            <a:off x="9306172" y="3718752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9" name="直线箭头连接符 14">
            <a:extLst>
              <a:ext uri="{FF2B5EF4-FFF2-40B4-BE49-F238E27FC236}">
                <a16:creationId xmlns:a16="http://schemas.microsoft.com/office/drawing/2014/main" id="{31CA5EE2-47BF-45F6-B9EF-DA0D5EB72134}"/>
              </a:ext>
            </a:extLst>
          </p:cNvPr>
          <p:cNvCxnSpPr>
            <a:cxnSpLocks/>
          </p:cNvCxnSpPr>
          <p:nvPr/>
        </p:nvCxnSpPr>
        <p:spPr>
          <a:xfrm flipH="1">
            <a:off x="8963272" y="39307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矩形 179">
            <a:extLst>
              <a:ext uri="{FF2B5EF4-FFF2-40B4-BE49-F238E27FC236}">
                <a16:creationId xmlns:a16="http://schemas.microsoft.com/office/drawing/2014/main" id="{FEE51577-774D-4A38-A813-B909002110EE}"/>
              </a:ext>
            </a:extLst>
          </p:cNvPr>
          <p:cNvSpPr/>
          <p:nvPr/>
        </p:nvSpPr>
        <p:spPr>
          <a:xfrm>
            <a:off x="10074912" y="3700946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81" name="直线箭头连接符 14">
            <a:extLst>
              <a:ext uri="{FF2B5EF4-FFF2-40B4-BE49-F238E27FC236}">
                <a16:creationId xmlns:a16="http://schemas.microsoft.com/office/drawing/2014/main" id="{ED49E2A5-6E82-4FA0-AE75-4C27069B1910}"/>
              </a:ext>
            </a:extLst>
          </p:cNvPr>
          <p:cNvCxnSpPr>
            <a:cxnSpLocks/>
          </p:cNvCxnSpPr>
          <p:nvPr/>
        </p:nvCxnSpPr>
        <p:spPr>
          <a:xfrm flipH="1">
            <a:off x="9732012" y="39307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矩形 181">
            <a:extLst>
              <a:ext uri="{FF2B5EF4-FFF2-40B4-BE49-F238E27FC236}">
                <a16:creationId xmlns:a16="http://schemas.microsoft.com/office/drawing/2014/main" id="{B1B4797F-E666-469C-B1D2-6CDDF1441C5F}"/>
              </a:ext>
            </a:extLst>
          </p:cNvPr>
          <p:cNvSpPr/>
          <p:nvPr/>
        </p:nvSpPr>
        <p:spPr>
          <a:xfrm>
            <a:off x="10846373" y="3712548"/>
            <a:ext cx="432262" cy="4239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83" name="直线箭头连接符 14">
            <a:extLst>
              <a:ext uri="{FF2B5EF4-FFF2-40B4-BE49-F238E27FC236}">
                <a16:creationId xmlns:a16="http://schemas.microsoft.com/office/drawing/2014/main" id="{EA3542DC-8CC8-4637-9C74-E51148C38C9C}"/>
              </a:ext>
            </a:extLst>
          </p:cNvPr>
          <p:cNvCxnSpPr>
            <a:cxnSpLocks/>
          </p:cNvCxnSpPr>
          <p:nvPr/>
        </p:nvCxnSpPr>
        <p:spPr>
          <a:xfrm flipH="1">
            <a:off x="10503473" y="3924522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>
            <a:extLst>
              <a:ext uri="{FF2B5EF4-FFF2-40B4-BE49-F238E27FC236}">
                <a16:creationId xmlns:a16="http://schemas.microsoft.com/office/drawing/2014/main" id="{F0739541-79D5-4DFA-9424-5FB8729F7857}"/>
              </a:ext>
            </a:extLst>
          </p:cNvPr>
          <p:cNvSpPr txBox="1"/>
          <p:nvPr/>
        </p:nvSpPr>
        <p:spPr>
          <a:xfrm>
            <a:off x="11289977" y="3601356"/>
            <a:ext cx="925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最长合法链</a:t>
            </a: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9135E73A-875D-4DA6-850D-D8DEFA341C4A}"/>
              </a:ext>
            </a:extLst>
          </p:cNvPr>
          <p:cNvSpPr txBox="1"/>
          <p:nvPr/>
        </p:nvSpPr>
        <p:spPr>
          <a:xfrm>
            <a:off x="9720195" y="30742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孤链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53C7CE32-D632-49C2-A26F-AF7A75FA3DB4}"/>
              </a:ext>
            </a:extLst>
          </p:cNvPr>
          <p:cNvSpPr txBox="1"/>
          <p:nvPr/>
        </p:nvSpPr>
        <p:spPr>
          <a:xfrm>
            <a:off x="2630754" y="4290821"/>
            <a:ext cx="1533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 50 BTC</a:t>
            </a:r>
            <a:endParaRPr lang="zh-CN" altLang="en-US" b="1" dirty="0">
              <a:solidFill>
                <a:srgbClr val="FF0000"/>
              </a:solidFill>
              <a:latin typeface="Garamond" panose="020204040303010108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2D6078CB-5249-4034-A6D2-FCE475041EC2}"/>
              </a:ext>
            </a:extLst>
          </p:cNvPr>
          <p:cNvCxnSpPr>
            <a:cxnSpLocks/>
            <a:stCxn id="186" idx="0"/>
            <a:endCxn id="16" idx="2"/>
          </p:cNvCxnSpPr>
          <p:nvPr/>
        </p:nvCxnSpPr>
        <p:spPr>
          <a:xfrm flipH="1" flipV="1">
            <a:off x="3392462" y="4127974"/>
            <a:ext cx="4881" cy="162847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文本框 187">
            <a:extLst>
              <a:ext uri="{FF2B5EF4-FFF2-40B4-BE49-F238E27FC236}">
                <a16:creationId xmlns:a16="http://schemas.microsoft.com/office/drawing/2014/main" id="{28891370-7949-4693-98BF-CB6E3BF2AED4}"/>
              </a:ext>
            </a:extLst>
          </p:cNvPr>
          <p:cNvSpPr txBox="1"/>
          <p:nvPr/>
        </p:nvSpPr>
        <p:spPr>
          <a:xfrm>
            <a:off x="1842740" y="37323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恶意节点</a:t>
            </a:r>
          </a:p>
        </p:txBody>
      </p: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91BF06B2-BA21-4072-ACA9-5B548AAACCEB}"/>
              </a:ext>
            </a:extLst>
          </p:cNvPr>
          <p:cNvCxnSpPr>
            <a:cxnSpLocks/>
            <a:stCxn id="188" idx="3"/>
            <a:endCxn id="16" idx="1"/>
          </p:cNvCxnSpPr>
          <p:nvPr/>
        </p:nvCxnSpPr>
        <p:spPr>
          <a:xfrm flipV="1">
            <a:off x="2950736" y="3916000"/>
            <a:ext cx="225595" cy="106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42C738E-C2E8-42D6-99DE-7721FFDA3B12}"/>
              </a:ext>
            </a:extLst>
          </p:cNvPr>
          <p:cNvSpPr txBox="1"/>
          <p:nvPr/>
        </p:nvSpPr>
        <p:spPr>
          <a:xfrm>
            <a:off x="163190" y="4674456"/>
            <a:ext cx="11822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比特币安全性保障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C9DF770E-823F-4BA4-AA34-8651414B3DAC}"/>
              </a:ext>
            </a:extLst>
          </p:cNvPr>
          <p:cNvSpPr txBox="1"/>
          <p:nvPr/>
        </p:nvSpPr>
        <p:spPr>
          <a:xfrm>
            <a:off x="352995" y="5076796"/>
            <a:ext cx="610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算力保障：参与比特币网络的算力越多越安全；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7280ACD5-4AD5-4EE9-9657-45E07D8D8A02}"/>
              </a:ext>
            </a:extLst>
          </p:cNvPr>
          <p:cNvSpPr txBox="1"/>
          <p:nvPr/>
        </p:nvSpPr>
        <p:spPr>
          <a:xfrm>
            <a:off x="352995" y="5429223"/>
            <a:ext cx="11047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博弈保障：比特币价格越高越安全（价格越高，诚实节点的收益越高，理性节点倾向于诚实行为）；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F88637E5-66D9-4CA3-9BF3-2A88E674E266}"/>
              </a:ext>
            </a:extLst>
          </p:cNvPr>
          <p:cNvSpPr txBox="1"/>
          <p:nvPr/>
        </p:nvSpPr>
        <p:spPr>
          <a:xfrm>
            <a:off x="353470" y="5803161"/>
            <a:ext cx="11047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成本保障：攻击成本越高越安全（攻击算力要求高、攻击后币值下降导致的损失高）。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A05B24B-2C84-4F2A-9E9C-F66B17B7D7F8}"/>
              </a:ext>
            </a:extLst>
          </p:cNvPr>
          <p:cNvSpPr txBox="1"/>
          <p:nvPr/>
        </p:nvSpPr>
        <p:spPr>
          <a:xfrm>
            <a:off x="888263" y="6308208"/>
            <a:ext cx="8925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演示系统：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hlinkClick r:id="rId3"/>
              </a:rPr>
              <a:t>https://ilab.fudan.edu.cn/blockchain/experiment/list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709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3" grpId="0" animBg="1"/>
      <p:bldP spid="25" grpId="0" animBg="1"/>
      <p:bldP spid="28" grpId="0" animBg="1"/>
      <p:bldP spid="53" grpId="0"/>
      <p:bldP spid="75" grpId="0"/>
      <p:bldP spid="101" grpId="0" animBg="1"/>
      <p:bldP spid="102" grpId="0" animBg="1"/>
      <p:bldP spid="105" grpId="0" animBg="1"/>
      <p:bldP spid="108" grpId="0" animBg="1"/>
      <p:bldP spid="112" grpId="0"/>
      <p:bldP spid="126" grpId="0"/>
      <p:bldP spid="88" grpId="0" animBg="1"/>
      <p:bldP spid="90" grpId="0" animBg="1"/>
      <p:bldP spid="91" grpId="0"/>
      <p:bldP spid="103" grpId="0" animBg="1"/>
      <p:bldP spid="139" grpId="0" animBg="1"/>
      <p:bldP spid="159" grpId="0" animBg="1"/>
      <p:bldP spid="160" grpId="0" animBg="1"/>
      <p:bldP spid="162" grpId="0" animBg="1"/>
      <p:bldP spid="165" grpId="0" animBg="1"/>
      <p:bldP spid="166" grpId="0" animBg="1"/>
      <p:bldP spid="168" grpId="0" animBg="1"/>
      <p:bldP spid="170" grpId="0" animBg="1"/>
      <p:bldP spid="172" grpId="0" animBg="1"/>
      <p:bldP spid="174" grpId="0" animBg="1"/>
      <p:bldP spid="176" grpId="0" animBg="1"/>
      <p:bldP spid="178" grpId="0" animBg="1"/>
      <p:bldP spid="180" grpId="0" animBg="1"/>
      <p:bldP spid="182" grpId="0" animBg="1"/>
      <p:bldP spid="184" grpId="0"/>
      <p:bldP spid="185" grpId="0"/>
      <p:bldP spid="186" grpId="0"/>
      <p:bldP spid="188" grpId="0"/>
      <p:bldP spid="190" grpId="0"/>
      <p:bldP spid="191" grpId="0"/>
      <p:bldP spid="192" grpId="0"/>
      <p:bldP spid="193" grpId="0"/>
      <p:bldP spid="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矿池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(Mining Pool)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6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DF846FD-8901-4E66-BC3F-CF3161195DB4}"/>
              </a:ext>
            </a:extLst>
          </p:cNvPr>
          <p:cNvSpPr txBox="1"/>
          <p:nvPr/>
        </p:nvSpPr>
        <p:spPr>
          <a:xfrm>
            <a:off x="667730" y="1392783"/>
            <a:ext cx="11084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将多个节点汇集为一个整体，共同进行</a:t>
            </a:r>
            <a:r>
              <a:rPr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PoW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，从而提升整体的算力</a:t>
            </a:r>
          </a:p>
        </p:txBody>
      </p:sp>
      <p:sp>
        <p:nvSpPr>
          <p:cNvPr id="4" name="星形: 五角 3">
            <a:extLst>
              <a:ext uri="{FF2B5EF4-FFF2-40B4-BE49-F238E27FC236}">
                <a16:creationId xmlns:a16="http://schemas.microsoft.com/office/drawing/2014/main" id="{2944F70A-8A8D-4D7A-90F9-C86FA40809A8}"/>
              </a:ext>
            </a:extLst>
          </p:cNvPr>
          <p:cNvSpPr/>
          <p:nvPr/>
        </p:nvSpPr>
        <p:spPr>
          <a:xfrm>
            <a:off x="973715" y="1916035"/>
            <a:ext cx="369332" cy="369332"/>
          </a:xfrm>
          <a:prstGeom prst="star5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E01CE4-353F-4AD1-9DFD-FF69F12AC8E7}"/>
              </a:ext>
            </a:extLst>
          </p:cNvPr>
          <p:cNvSpPr/>
          <p:nvPr/>
        </p:nvSpPr>
        <p:spPr>
          <a:xfrm>
            <a:off x="199593" y="2411650"/>
            <a:ext cx="1917576" cy="1917576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9281E7-5475-4F58-A4D6-A753041B7EEF}"/>
              </a:ext>
            </a:extLst>
          </p:cNvPr>
          <p:cNvSpPr/>
          <p:nvPr/>
        </p:nvSpPr>
        <p:spPr>
          <a:xfrm>
            <a:off x="358665" y="2615437"/>
            <a:ext cx="369332" cy="369332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D73BBD7-60CE-4D12-95F8-7AE58AB6EC23}"/>
              </a:ext>
            </a:extLst>
          </p:cNvPr>
          <p:cNvSpPr/>
          <p:nvPr/>
        </p:nvSpPr>
        <p:spPr>
          <a:xfrm>
            <a:off x="973715" y="2615437"/>
            <a:ext cx="369332" cy="369332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6CD034-2CEA-4B47-A247-FB489962EC03}"/>
              </a:ext>
            </a:extLst>
          </p:cNvPr>
          <p:cNvSpPr/>
          <p:nvPr/>
        </p:nvSpPr>
        <p:spPr>
          <a:xfrm>
            <a:off x="1585235" y="2615437"/>
            <a:ext cx="369332" cy="369332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FA1E70D-E92F-4880-BDB2-B4A0AA62D13E}"/>
              </a:ext>
            </a:extLst>
          </p:cNvPr>
          <p:cNvSpPr/>
          <p:nvPr/>
        </p:nvSpPr>
        <p:spPr>
          <a:xfrm>
            <a:off x="358665" y="3178310"/>
            <a:ext cx="369332" cy="369332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AB03D21-CF84-433D-8414-6342EE46EA6C}"/>
              </a:ext>
            </a:extLst>
          </p:cNvPr>
          <p:cNvSpPr/>
          <p:nvPr/>
        </p:nvSpPr>
        <p:spPr>
          <a:xfrm>
            <a:off x="973715" y="3178310"/>
            <a:ext cx="369332" cy="369332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6B6E750-38E0-4DF3-B238-321657E6C701}"/>
              </a:ext>
            </a:extLst>
          </p:cNvPr>
          <p:cNvSpPr/>
          <p:nvPr/>
        </p:nvSpPr>
        <p:spPr>
          <a:xfrm>
            <a:off x="1585235" y="3178310"/>
            <a:ext cx="369332" cy="369332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CAF27FA-B154-46B9-B836-CA788F22772D}"/>
              </a:ext>
            </a:extLst>
          </p:cNvPr>
          <p:cNvSpPr/>
          <p:nvPr/>
        </p:nvSpPr>
        <p:spPr>
          <a:xfrm>
            <a:off x="358665" y="3741183"/>
            <a:ext cx="369332" cy="369332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C5768FA-78A6-4D8A-AF9C-40DB5A825ECB}"/>
              </a:ext>
            </a:extLst>
          </p:cNvPr>
          <p:cNvSpPr/>
          <p:nvPr/>
        </p:nvSpPr>
        <p:spPr>
          <a:xfrm>
            <a:off x="973715" y="3741183"/>
            <a:ext cx="369332" cy="369332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D280435-6DF2-45EB-8C97-725FA7F7B3C5}"/>
              </a:ext>
            </a:extLst>
          </p:cNvPr>
          <p:cNvSpPr/>
          <p:nvPr/>
        </p:nvSpPr>
        <p:spPr>
          <a:xfrm>
            <a:off x="1585235" y="3741183"/>
            <a:ext cx="369332" cy="369332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41B2983-0146-4C93-90F9-4C35037458B1}"/>
              </a:ext>
            </a:extLst>
          </p:cNvPr>
          <p:cNvSpPr txBox="1"/>
          <p:nvPr/>
        </p:nvSpPr>
        <p:spPr>
          <a:xfrm>
            <a:off x="1250716" y="1782152"/>
            <a:ext cx="1917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矿池管理员（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Pool Manager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B11DF28-C215-4C0C-B209-7CD5D7E51BFD}"/>
              </a:ext>
            </a:extLst>
          </p:cNvPr>
          <p:cNvSpPr txBox="1"/>
          <p:nvPr/>
        </p:nvSpPr>
        <p:spPr>
          <a:xfrm>
            <a:off x="818185" y="430405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矿池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0014AE2-29A4-4058-89AC-75CCD3F0908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158381" y="2192784"/>
            <a:ext cx="0" cy="218866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97B9353E-8BDA-40FB-81E7-1ED7624B7B98}"/>
              </a:ext>
            </a:extLst>
          </p:cNvPr>
          <p:cNvSpPr txBox="1"/>
          <p:nvPr/>
        </p:nvSpPr>
        <p:spPr>
          <a:xfrm>
            <a:off x="2227076" y="37411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矿工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358F545-322A-43F8-88D7-B1B834643CF1}"/>
              </a:ext>
            </a:extLst>
          </p:cNvPr>
          <p:cNvCxnSpPr>
            <a:stCxn id="42" idx="3"/>
            <a:endCxn id="48" idx="1"/>
          </p:cNvCxnSpPr>
          <p:nvPr/>
        </p:nvCxnSpPr>
        <p:spPr>
          <a:xfrm>
            <a:off x="1954567" y="3925849"/>
            <a:ext cx="272509" cy="0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片 51">
            <a:extLst>
              <a:ext uri="{FF2B5EF4-FFF2-40B4-BE49-F238E27FC236}">
                <a16:creationId xmlns:a16="http://schemas.microsoft.com/office/drawing/2014/main" id="{25AA3456-888C-43AA-AD24-568C47C87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684" y="1742516"/>
            <a:ext cx="574604" cy="574604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4A0FCB83-0445-4B0A-8406-983D3F060677}"/>
              </a:ext>
            </a:extLst>
          </p:cNvPr>
          <p:cNvSpPr txBox="1"/>
          <p:nvPr/>
        </p:nvSpPr>
        <p:spPr>
          <a:xfrm>
            <a:off x="3770403" y="186896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任务分配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7B9114E-9E62-44BA-9853-F81E92DC1AE4}"/>
              </a:ext>
            </a:extLst>
          </p:cNvPr>
          <p:cNvSpPr txBox="1"/>
          <p:nvPr/>
        </p:nvSpPr>
        <p:spPr>
          <a:xfrm>
            <a:off x="3280846" y="2394459"/>
            <a:ext cx="38846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管理员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负责组装新区块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负责与比特币网络通信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负责任务分配</a:t>
            </a: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4C2734F0-B2C4-4C4B-8F81-F28734FA6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204" y="1742516"/>
            <a:ext cx="574606" cy="574606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19C7F017-E2EA-4B19-9CE8-042D972BE0CB}"/>
              </a:ext>
            </a:extLst>
          </p:cNvPr>
          <p:cNvSpPr txBox="1"/>
          <p:nvPr/>
        </p:nvSpPr>
        <p:spPr>
          <a:xfrm>
            <a:off x="3230684" y="3556146"/>
            <a:ext cx="38846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矿工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负责计算哈希值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9D8277C-26D5-4EB7-BD11-6B578E296E77}"/>
              </a:ext>
            </a:extLst>
          </p:cNvPr>
          <p:cNvSpPr txBox="1"/>
          <p:nvPr/>
        </p:nvSpPr>
        <p:spPr>
          <a:xfrm>
            <a:off x="7443923" y="186896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收益分配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AF58F32-3E77-4CC1-B17F-8777340A5B7B}"/>
              </a:ext>
            </a:extLst>
          </p:cNvPr>
          <p:cNvSpPr txBox="1"/>
          <p:nvPr/>
        </p:nvSpPr>
        <p:spPr>
          <a:xfrm>
            <a:off x="6898304" y="2392317"/>
            <a:ext cx="388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收益来源：出块奖励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交易费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BFCA5D4-D166-4801-8ECD-AA5DBE8544D6}"/>
              </a:ext>
            </a:extLst>
          </p:cNvPr>
          <p:cNvSpPr txBox="1"/>
          <p:nvPr/>
        </p:nvSpPr>
        <p:spPr>
          <a:xfrm>
            <a:off x="6898304" y="2829618"/>
            <a:ext cx="4982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收益分配方法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：管理员和最终解决</a:t>
            </a:r>
            <a:r>
              <a:rPr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PoW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的矿工按一定比例分配，其他人无奖励。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A602852-681C-418F-ABBF-C29F47BF9189}"/>
              </a:ext>
            </a:extLst>
          </p:cNvPr>
          <p:cNvSpPr txBox="1"/>
          <p:nvPr/>
        </p:nvSpPr>
        <p:spPr>
          <a:xfrm>
            <a:off x="6898304" y="3475949"/>
            <a:ext cx="4982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收益分配方法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II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：无论谁解决</a:t>
            </a:r>
            <a:r>
              <a:rPr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PoW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问题，所有收益由全体矿工均分。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F276DB7-6BC1-4604-B759-E36E097C0459}"/>
              </a:ext>
            </a:extLst>
          </p:cNvPr>
          <p:cNvSpPr txBox="1"/>
          <p:nvPr/>
        </p:nvSpPr>
        <p:spPr>
          <a:xfrm>
            <a:off x="6898304" y="4122280"/>
            <a:ext cx="4982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收益分配方法</a:t>
            </a:r>
            <a:r>
              <a:rPr lang="en-US" altLang="zh-CN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III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每股收益（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Pay Per Share, PPS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）：按照矿工做出的实际贡献分配。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1F08872-306F-4614-9A17-4CA323EA4C54}"/>
              </a:ext>
            </a:extLst>
          </p:cNvPr>
          <p:cNvSpPr/>
          <p:nvPr/>
        </p:nvSpPr>
        <p:spPr>
          <a:xfrm>
            <a:off x="8224537" y="4950464"/>
            <a:ext cx="2948288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只有挖出和没挖出，怎么衡量实际贡献？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FE3701FB-17D9-4941-A00E-EF9C6FBD38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89" y="4963607"/>
            <a:ext cx="601662" cy="6016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9542AA8-74CE-4B66-9AE1-213C9F1376B3}"/>
                  </a:ext>
                </a:extLst>
              </p:cNvPr>
              <p:cNvSpPr txBox="1"/>
              <p:nvPr/>
            </p:nvSpPr>
            <p:spPr>
              <a:xfrm>
                <a:off x="287461" y="4982190"/>
                <a:ext cx="6965884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b="1" dirty="0">
                    <a:solidFill>
                      <a:srgbClr val="5B307E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</a:rPr>
                  <a:t>PPS——</a:t>
                </a:r>
                <a:r>
                  <a:rPr lang="zh-CN" altLang="en-US" b="1" dirty="0">
                    <a:solidFill>
                      <a:srgbClr val="5B307E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</a:rPr>
                  <a:t>按照弱区块（</a:t>
                </a:r>
                <a:r>
                  <a:rPr lang="en-US" altLang="zh-CN" b="1" dirty="0">
                    <a:solidFill>
                      <a:srgbClr val="5B307E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</a:rPr>
                  <a:t>Almost valid block</a:t>
                </a:r>
                <a:r>
                  <a:rPr lang="zh-CN" altLang="en-US" b="1" dirty="0">
                    <a:solidFill>
                      <a:srgbClr val="5B307E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</a:rPr>
                  <a:t>）数量分配</a:t>
                </a:r>
                <a:endParaRPr lang="en-US" altLang="zh-CN" b="1" dirty="0">
                  <a:solidFill>
                    <a:srgbClr val="5B307E"/>
                  </a:solidFill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合法区块（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Valid block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）：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，其中，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为目标值</a:t>
                </a:r>
                <a:endParaRPr lang="en-US" altLang="zh-CN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弱区块：</a:t>
                </a:r>
                <a:r>
                  <a:rPr lang="en-US" altLang="zh-CN" b="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矿工每挖到一个“弱区块”，获得一份股权（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Share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）</a:t>
                </a:r>
                <a:endParaRPr lang="en-US" altLang="zh-CN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矿工算力越强，全力挖矿，则收获股权越多</a:t>
                </a: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9542AA8-74CE-4B66-9AE1-213C9F137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61" y="4982190"/>
                <a:ext cx="6965884" cy="1477328"/>
              </a:xfrm>
              <a:prstGeom prst="rect">
                <a:avLst/>
              </a:prstGeom>
              <a:blipFill>
                <a:blip r:embed="rId6"/>
                <a:stretch>
                  <a:fillRect l="-525" t="-2469" b="-4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矩形 64">
            <a:extLst>
              <a:ext uri="{FF2B5EF4-FFF2-40B4-BE49-F238E27FC236}">
                <a16:creationId xmlns:a16="http://schemas.microsoft.com/office/drawing/2014/main" id="{9D37C670-6C34-466F-9210-6DE859B98BFB}"/>
              </a:ext>
            </a:extLst>
          </p:cNvPr>
          <p:cNvSpPr/>
          <p:nvPr/>
        </p:nvSpPr>
        <p:spPr>
          <a:xfrm>
            <a:off x="8221650" y="5936644"/>
            <a:ext cx="2951175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矿工在挖到新区块后能否将出块奖励据为己有？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42B7B516-90E1-4637-B926-8A6031457F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88" y="5958979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4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" grpId="0" animBg="1"/>
      <p:bldP spid="5" grpId="0" animBg="1"/>
      <p:bldP spid="6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34" grpId="0"/>
      <p:bldP spid="44" grpId="0"/>
      <p:bldP spid="48" grpId="0"/>
      <p:bldP spid="53" grpId="0"/>
      <p:bldP spid="54" grpId="0"/>
      <p:bldP spid="56" grpId="0"/>
      <p:bldP spid="57" grpId="0"/>
      <p:bldP spid="58" grpId="0"/>
      <p:bldP spid="59" grpId="0"/>
      <p:bldP spid="60" grpId="0"/>
      <p:bldP spid="61" grpId="0"/>
      <p:bldP spid="62" grpId="0" animBg="1"/>
      <p:bldP spid="64" grpId="0"/>
      <p:bldP spid="6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比特币安全性分析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E4E565-6D5F-4CD1-80E1-ED2C4740D4C2}"/>
              </a:ext>
            </a:extLst>
          </p:cNvPr>
          <p:cNvSpPr txBox="1"/>
          <p:nvPr/>
        </p:nvSpPr>
        <p:spPr>
          <a:xfrm>
            <a:off x="600075" y="1485900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私钥丢失后，能否挂失？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C91AC09-5FE4-42A2-ABB6-C039C437CB91}"/>
              </a:ext>
            </a:extLst>
          </p:cNvPr>
          <p:cNvSpPr txBox="1"/>
          <p:nvPr/>
        </p:nvSpPr>
        <p:spPr>
          <a:xfrm>
            <a:off x="600075" y="2077863"/>
            <a:ext cx="4806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交易的输出脚本里，地址写错了，怎么办？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6AE9A67-272D-483B-B9F8-045B5EA5AF33}"/>
              </a:ext>
            </a:extLst>
          </p:cNvPr>
          <p:cNvSpPr txBox="1"/>
          <p:nvPr/>
        </p:nvSpPr>
        <p:spPr>
          <a:xfrm>
            <a:off x="611790" y="2669826"/>
            <a:ext cx="4719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自身账户出现安全隐患后，应该怎么办？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8F5E914-3C06-4984-9690-BB3F0566F46F}"/>
              </a:ext>
            </a:extLst>
          </p:cNvPr>
          <p:cNvSpPr txBox="1"/>
          <p:nvPr/>
        </p:nvSpPr>
        <p:spPr>
          <a:xfrm>
            <a:off x="600075" y="3261789"/>
            <a:ext cx="5729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4.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为了提升比特币安全性，矿池是不是算力越大越好？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D3B4E6-BF89-4451-A351-4730D9FE1374}"/>
              </a:ext>
            </a:extLst>
          </p:cNvPr>
          <p:cNvSpPr txBox="1"/>
          <p:nvPr/>
        </p:nvSpPr>
        <p:spPr>
          <a:xfrm>
            <a:off x="611790" y="3853752"/>
            <a:ext cx="5484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5.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一笔交易的输出有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BTC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，如果输入交易只花费了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BTC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，会发生什么？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2E2F10-9028-457A-B60C-5F3DB91250AC}"/>
              </a:ext>
            </a:extLst>
          </p:cNvPr>
          <p:cNvSpPr txBox="1"/>
          <p:nvPr/>
        </p:nvSpPr>
        <p:spPr>
          <a:xfrm>
            <a:off x="611790" y="4722714"/>
            <a:ext cx="571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6.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比特币被称作一种加密货币，为什么要用“加密”？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190317-5E0D-48C5-8245-DC75F0F01C34}"/>
              </a:ext>
            </a:extLst>
          </p:cNvPr>
          <p:cNvSpPr txBox="1"/>
          <p:nvPr/>
        </p:nvSpPr>
        <p:spPr>
          <a:xfrm>
            <a:off x="611790" y="5314677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7.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比特币是匿名的吗？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5F9532-1E97-40D2-87B0-0AA2FE898126}"/>
              </a:ext>
            </a:extLst>
          </p:cNvPr>
          <p:cNvSpPr txBox="1"/>
          <p:nvPr/>
        </p:nvSpPr>
        <p:spPr>
          <a:xfrm>
            <a:off x="6292718" y="1485900"/>
            <a:ext cx="5833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答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：没人任何办法，该地址上的全部比特币可能丢失。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EEF731C-2480-4B78-9D62-340D1D9659E4}"/>
              </a:ext>
            </a:extLst>
          </p:cNvPr>
          <p:cNvCxnSpPr>
            <a:cxnSpLocks/>
          </p:cNvCxnSpPr>
          <p:nvPr/>
        </p:nvCxnSpPr>
        <p:spPr>
          <a:xfrm>
            <a:off x="6096000" y="1371600"/>
            <a:ext cx="0" cy="5284177"/>
          </a:xfrm>
          <a:prstGeom prst="line">
            <a:avLst/>
          </a:prstGeom>
          <a:ln w="28575">
            <a:solidFill>
              <a:srgbClr val="5B307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E286E-A42A-4F92-B287-6724A0A630F4}"/>
              </a:ext>
            </a:extLst>
          </p:cNvPr>
          <p:cNvSpPr txBox="1"/>
          <p:nvPr/>
        </p:nvSpPr>
        <p:spPr>
          <a:xfrm>
            <a:off x="6292717" y="2082154"/>
            <a:ext cx="4094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答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：没有任何办法，不能找人修改。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FD36166-2DAB-4BB3-B04E-FDEDB39990C8}"/>
              </a:ext>
            </a:extLst>
          </p:cNvPr>
          <p:cNvSpPr txBox="1"/>
          <p:nvPr/>
        </p:nvSpPr>
        <p:spPr>
          <a:xfrm>
            <a:off x="6292718" y="2685699"/>
            <a:ext cx="4679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答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：立刻把全部比特币转至另一个新账户。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3C4C4A-5C52-4EA6-8D77-0736A3936F2B}"/>
              </a:ext>
            </a:extLst>
          </p:cNvPr>
          <p:cNvSpPr txBox="1"/>
          <p:nvPr/>
        </p:nvSpPr>
        <p:spPr>
          <a:xfrm>
            <a:off x="6319969" y="3261789"/>
            <a:ext cx="4624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答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：矿池算力越大，越可能发起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51%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攻击。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F66F140-F7AA-44A8-8EB2-CF99A4F1CD7D}"/>
              </a:ext>
            </a:extLst>
          </p:cNvPr>
          <p:cNvSpPr txBox="1"/>
          <p:nvPr/>
        </p:nvSpPr>
        <p:spPr>
          <a:xfrm>
            <a:off x="6329528" y="3837879"/>
            <a:ext cx="190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答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：找零操作。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0BD4EE5-DC01-4464-94C7-BBB15D4D51EF}"/>
              </a:ext>
            </a:extLst>
          </p:cNvPr>
          <p:cNvSpPr txBox="1"/>
          <p:nvPr/>
        </p:nvSpPr>
        <p:spPr>
          <a:xfrm>
            <a:off x="6292718" y="4578244"/>
            <a:ext cx="5354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答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：比特币全网信息不加密，这里“加密”指采用了非对称加密的签名。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C9B15B7-6EA1-4113-9A98-08B242E813B6}"/>
              </a:ext>
            </a:extLst>
          </p:cNvPr>
          <p:cNvSpPr txBox="1"/>
          <p:nvPr/>
        </p:nvSpPr>
        <p:spPr>
          <a:xfrm>
            <a:off x="6292718" y="5176177"/>
            <a:ext cx="5354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答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：比特币地址不包含任何人的信息，但一旦比特币和实体世界产生关联，就会泄露隐私。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F80807-F4EB-4CE8-BB0C-070F060B5CA4}"/>
              </a:ext>
            </a:extLst>
          </p:cNvPr>
          <p:cNvSpPr txBox="1"/>
          <p:nvPr/>
        </p:nvSpPr>
        <p:spPr>
          <a:xfrm>
            <a:off x="611790" y="5906642"/>
            <a:ext cx="5250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8.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多个人共享同一个账户，能否直接把私钥截取多份，每人分别保存一份？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D5728F-E153-4491-AB22-78BC265808C5}"/>
              </a:ext>
            </a:extLst>
          </p:cNvPr>
          <p:cNvSpPr txBox="1"/>
          <p:nvPr/>
        </p:nvSpPr>
        <p:spPr>
          <a:xfrm>
            <a:off x="6292717" y="6039155"/>
            <a:ext cx="525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答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8.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安全性大幅下降。</a:t>
            </a:r>
          </a:p>
        </p:txBody>
      </p:sp>
    </p:spTree>
    <p:extLst>
      <p:ext uri="{BB962C8B-B14F-4D97-AF65-F5344CB8AC3E}">
        <p14:creationId xmlns:p14="http://schemas.microsoft.com/office/powerpoint/2010/main" val="316517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3" grpId="0"/>
      <p:bldP spid="46" grpId="0"/>
      <p:bldP spid="47" grpId="0"/>
      <p:bldP spid="8" grpId="0"/>
      <p:bldP spid="9" grpId="0"/>
      <p:bldP spid="10" grpId="0"/>
      <p:bldP spid="12" grpId="0"/>
      <p:bldP spid="16" grpId="0"/>
      <p:bldP spid="17" grpId="0"/>
      <p:bldP spid="18" grpId="0"/>
      <p:bldP spid="19" grpId="0"/>
      <p:bldP spid="20" grpId="0"/>
      <p:bldP spid="22" grpId="0"/>
      <p:bldP spid="21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3.9 </a:t>
            </a:r>
            <a:r>
              <a:rPr kumimoji="1" lang="zh-CN" altLang="en-US" dirty="0">
                <a:latin typeface="Garamond" panose="02020404030301010803" pitchFamily="18" charset="0"/>
              </a:rPr>
              <a:t>比特币安全性分析</a:t>
            </a:r>
            <a:endParaRPr kumimoji="1" lang="en-US" altLang="zh-CN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3.10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比特币实验平台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1533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比特币实验平台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C1E066-5A0F-4BFB-BCD5-7172E7065814}"/>
              </a:ext>
            </a:extLst>
          </p:cNvPr>
          <p:cNvSpPr txBox="1"/>
          <p:nvPr/>
        </p:nvSpPr>
        <p:spPr>
          <a:xfrm>
            <a:off x="1887800" y="1600201"/>
            <a:ext cx="6320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复旦大学虚拟仿真实验教学平台：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hlinkClick r:id="rId3"/>
              </a:rPr>
              <a:t>https://i-lab.fudan.edu.cn/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1026" name="Picture 2" descr="复旦大学_锤子简历">
            <a:extLst>
              <a:ext uri="{FF2B5EF4-FFF2-40B4-BE49-F238E27FC236}">
                <a16:creationId xmlns:a16="http://schemas.microsoft.com/office/drawing/2014/main" id="{5AD45888-FCCF-412E-B7AF-CC3806710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15" y="1340545"/>
            <a:ext cx="1450731" cy="1450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7C3FAFB-47D1-476D-B1C9-AF94D28A91E7}"/>
              </a:ext>
            </a:extLst>
          </p:cNvPr>
          <p:cNvSpPr txBox="1"/>
          <p:nvPr/>
        </p:nvSpPr>
        <p:spPr>
          <a:xfrm>
            <a:off x="1887800" y="2065911"/>
            <a:ext cx="824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区块链技术虚拟仿真教学平台：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hlinkClick r:id="rId5"/>
              </a:rPr>
              <a:t>https://i-lab.fudan.edu.cn/gcyjskx/qkljsxnfzjxpt.htm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36CBAEC-45D0-444E-A65B-B8949567D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91" y="538162"/>
            <a:ext cx="1219200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0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EFC88-15A8-8F47-A008-BBB6B0BE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01C0D4-2EC3-7D4D-AAC5-3C4CCB3D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掌握比特币典型的攻击方式和对抗机制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体验比特币交易流程</a:t>
            </a:r>
            <a:endParaRPr kumimoji="1"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E33C2B-DFEA-AB45-B09F-58B1C2A1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7461291"/>
      </p:ext>
    </p:extLst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</TotalTime>
  <Words>1094</Words>
  <Application>Microsoft Macintosh PowerPoint</Application>
  <PresentationFormat>宽屏</PresentationFormat>
  <Paragraphs>149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Microsoft YaHei</vt:lpstr>
      <vt:lpstr>Microsoft YaHei</vt:lpstr>
      <vt:lpstr>Arial</vt:lpstr>
      <vt:lpstr>Cambria Math</vt:lpstr>
      <vt:lpstr>Garamond</vt:lpstr>
      <vt:lpstr>Wingdings</vt:lpstr>
      <vt:lpstr>webwppDefTheme</vt:lpstr>
      <vt:lpstr>Office 主题​​</vt:lpstr>
      <vt:lpstr>第三章 比特币 ——比特币安全性&amp;实验</vt:lpstr>
      <vt:lpstr>本章内容</vt:lpstr>
      <vt:lpstr>单点故障(Single-point Failure)</vt:lpstr>
      <vt:lpstr>双花攻击(Double-spending Attack)</vt:lpstr>
      <vt:lpstr>自私采矿(Selfish Mining)</vt:lpstr>
      <vt:lpstr>51%攻击(51% Attack)</vt:lpstr>
      <vt:lpstr>矿池(Mining Pool)</vt:lpstr>
      <vt:lpstr>比特币安全性分析</vt:lpstr>
      <vt:lpstr>本章内容</vt:lpstr>
      <vt:lpstr>比特币实验平台</vt:lpstr>
      <vt:lpstr>本章总结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比特币</dc:title>
  <dc:creator>Yong Cui</dc:creator>
  <cp:lastModifiedBy>侯璐 h</cp:lastModifiedBy>
  <cp:revision>1092</cp:revision>
  <dcterms:created xsi:type="dcterms:W3CDTF">2021-04-18T13:48:02Z</dcterms:created>
  <dcterms:modified xsi:type="dcterms:W3CDTF">2025-04-09T01:35:37Z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