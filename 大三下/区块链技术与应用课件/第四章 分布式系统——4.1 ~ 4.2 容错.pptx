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autoCompressPictures="0" bookmarkIdSeed="2">
  <p:sldMasterIdLst>
    <p:sldMasterId id="2147483648" r:id="rId1"/>
    <p:sldMasterId id="2147483657" r:id="rId2"/>
  </p:sldMasterIdLst>
  <p:notesMasterIdLst>
    <p:notesMasterId r:id="rId24"/>
  </p:notesMasterIdLst>
  <p:sldIdLst>
    <p:sldId id="1257" r:id="rId3"/>
    <p:sldId id="1062" r:id="rId4"/>
    <p:sldId id="1312" r:id="rId5"/>
    <p:sldId id="1384" r:id="rId6"/>
    <p:sldId id="1311" r:id="rId7"/>
    <p:sldId id="1385" r:id="rId8"/>
    <p:sldId id="1387" r:id="rId9"/>
    <p:sldId id="1388" r:id="rId10"/>
    <p:sldId id="1389" r:id="rId11"/>
    <p:sldId id="1390" r:id="rId12"/>
    <p:sldId id="1391" r:id="rId13"/>
    <p:sldId id="1393" r:id="rId14"/>
    <p:sldId id="1392" r:id="rId15"/>
    <p:sldId id="1394" r:id="rId16"/>
    <p:sldId id="1395" r:id="rId17"/>
    <p:sldId id="1396" r:id="rId18"/>
    <p:sldId id="1397" r:id="rId19"/>
    <p:sldId id="1399" r:id="rId20"/>
    <p:sldId id="1398" r:id="rId21"/>
    <p:sldId id="1401" r:id="rId22"/>
    <p:sldId id="1400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CA4DC5EF-F422-4A4A-AE2D-E811906D492D}">
          <p14:sldIdLst>
            <p14:sldId id="1257"/>
            <p14:sldId id="1062"/>
            <p14:sldId id="1312"/>
            <p14:sldId id="1384"/>
            <p14:sldId id="1311"/>
            <p14:sldId id="1385"/>
            <p14:sldId id="1387"/>
            <p14:sldId id="1388"/>
            <p14:sldId id="1389"/>
            <p14:sldId id="1390"/>
            <p14:sldId id="1391"/>
            <p14:sldId id="1393"/>
            <p14:sldId id="1392"/>
            <p14:sldId id="1394"/>
            <p14:sldId id="1395"/>
            <p14:sldId id="1396"/>
            <p14:sldId id="1397"/>
            <p14:sldId id="1399"/>
            <p14:sldId id="1398"/>
            <p14:sldId id="1401"/>
            <p14:sldId id="140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40A57"/>
    <a:srgbClr val="0000CC"/>
    <a:srgbClr val="FFD700"/>
    <a:srgbClr val="5B307E"/>
    <a:srgbClr val="0000FF"/>
    <a:srgbClr val="A2A2A2"/>
    <a:srgbClr val="B962FF"/>
    <a:srgbClr val="FDCB0B"/>
    <a:srgbClr val="F9BC12"/>
    <a:srgbClr val="FFD8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46F890A9-2807-4EBB-B81D-B2AA78EC7F39}" styleName="深色样式 2 - 强调 5/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6003" autoAdjust="0"/>
  </p:normalViewPr>
  <p:slideViewPr>
    <p:cSldViewPr snapToGrid="0" snapToObjects="1">
      <p:cViewPr varScale="1">
        <p:scale>
          <a:sx n="112" d="100"/>
          <a:sy n="112" d="100"/>
        </p:scale>
        <p:origin x="232" y="336"/>
      </p:cViewPr>
      <p:guideLst/>
    </p:cSldViewPr>
  </p:slideViewPr>
  <p:outlineViewPr>
    <p:cViewPr>
      <p:scale>
        <a:sx n="33" d="100"/>
        <a:sy n="33" d="100"/>
      </p:scale>
      <p:origin x="0" y="-2640"/>
    </p:cViewPr>
  </p:outlineViewPr>
  <p:notesTextViewPr>
    <p:cViewPr>
      <p:scale>
        <a:sx n="145" d="100"/>
        <a:sy n="145" d="100"/>
      </p:scale>
      <p:origin x="0" y="0"/>
    </p:cViewPr>
  </p:notesTextViewPr>
  <p:sorterViewPr>
    <p:cViewPr>
      <p:scale>
        <a:sx n="173" d="100"/>
        <a:sy n="173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E8472-67E5-DE40-B53F-0C0FEA434AA0}" type="datetimeFigureOut">
              <a:rPr kumimoji="1" lang="zh-CN" altLang="en-US" smtClean="0"/>
              <a:t>2026/4/17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0B8802-914A-7C41-BC77-CC54DEE99EE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0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6842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41665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771503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687026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17798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84499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623144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859907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927720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755866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701768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392139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452790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220626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873847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73291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0B8802-914A-7C41-BC77-CC54DEE99EEF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39461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882" y="2308881"/>
            <a:ext cx="10852237" cy="899167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925" y="3565525"/>
            <a:ext cx="10852150" cy="801370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40105" y="727710"/>
            <a:ext cx="3931920" cy="1115060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8420" y="727710"/>
            <a:ext cx="6172200" cy="5403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40105" y="2239645"/>
            <a:ext cx="3931920" cy="3891915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925" y="5605145"/>
            <a:ext cx="10852150" cy="558165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925" y="641350"/>
            <a:ext cx="10852150" cy="455612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6445" cy="68681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95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7770" y="565150"/>
            <a:ext cx="5400040" cy="572770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882" y="623591"/>
            <a:ext cx="10852237" cy="899167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 dirty="0"/>
              <a:t>单击此处编辑母版副标题样式</a:t>
            </a:r>
          </a:p>
        </p:txBody>
      </p:sp>
      <p:sp>
        <p:nvSpPr>
          <p:cNvPr id="7" name="矩形 6"/>
          <p:cNvSpPr/>
          <p:nvPr userDrawn="1"/>
        </p:nvSpPr>
        <p:spPr>
          <a:xfrm>
            <a:off x="-9939" y="-8628"/>
            <a:ext cx="8755906" cy="901955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b="0" spc="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区块链技术与应用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2B135FE-0B53-4AC4-B659-90621587F8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971879" y="0"/>
            <a:ext cx="3012141" cy="9041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0758"/>
            <a:ext cx="10515600" cy="4586694"/>
          </a:xfrm>
        </p:spPr>
        <p:txBody>
          <a:bodyPr/>
          <a:lstStyle>
            <a:lvl1pPr marL="360680" indent="-36068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/>
            </a:lvl1pPr>
            <a:lvl2pPr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/>
            </a:lvl2pPr>
            <a:lvl3pPr>
              <a:lnSpc>
                <a:spcPct val="100000"/>
              </a:lnSpc>
              <a:spcBef>
                <a:spcPts val="600"/>
              </a:spcBef>
              <a:defRPr/>
            </a:lvl3pPr>
            <a:lvl4pPr>
              <a:lnSpc>
                <a:spcPct val="100000"/>
              </a:lnSpc>
              <a:spcBef>
                <a:spcPts val="600"/>
              </a:spcBef>
              <a:defRPr/>
            </a:lvl4pPr>
            <a:lvl5pPr>
              <a:lnSpc>
                <a:spcPct val="100000"/>
              </a:lnSpc>
              <a:spcBef>
                <a:spcPts val="600"/>
              </a:spcBef>
              <a:defRPr/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cxnSp>
        <p:nvCxnSpPr>
          <p:cNvPr id="40" name="直线连接符 39"/>
          <p:cNvCxnSpPr/>
          <p:nvPr userDrawn="1"/>
        </p:nvCxnSpPr>
        <p:spPr>
          <a:xfrm>
            <a:off x="1314788" y="1244212"/>
            <a:ext cx="7295812" cy="0"/>
          </a:xfrm>
          <a:prstGeom prst="line">
            <a:avLst/>
          </a:prstGeom>
          <a:ln w="19050">
            <a:solidFill>
              <a:srgbClr val="5C3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线连接符 63"/>
          <p:cNvCxnSpPr/>
          <p:nvPr userDrawn="1"/>
        </p:nvCxnSpPr>
        <p:spPr>
          <a:xfrm>
            <a:off x="9705401" y="526774"/>
            <a:ext cx="0" cy="503679"/>
          </a:xfrm>
          <a:prstGeom prst="line">
            <a:avLst/>
          </a:prstGeom>
          <a:ln w="12700" cap="rnd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组合 70"/>
          <p:cNvGrpSpPr/>
          <p:nvPr userDrawn="1"/>
        </p:nvGrpSpPr>
        <p:grpSpPr>
          <a:xfrm>
            <a:off x="715452" y="634525"/>
            <a:ext cx="403039" cy="321898"/>
            <a:chOff x="1368170" y="664579"/>
            <a:chExt cx="550582" cy="439737"/>
          </a:xfrm>
          <a:solidFill>
            <a:schemeClr val="bg1"/>
          </a:solidFill>
        </p:grpSpPr>
        <p:sp>
          <p:nvSpPr>
            <p:cNvPr id="72" name="Freeform 1"/>
            <p:cNvSpPr>
              <a:spLocks noChangeArrowheads="1"/>
            </p:cNvSpPr>
            <p:nvPr/>
          </p:nvSpPr>
          <p:spPr bwMode="auto">
            <a:xfrm>
              <a:off x="1481203" y="771778"/>
              <a:ext cx="437549" cy="332538"/>
            </a:xfrm>
            <a:custGeom>
              <a:avLst/>
              <a:gdLst>
                <a:gd name="T0" fmla="*/ 25 w 2647"/>
                <a:gd name="T1" fmla="*/ 1478 h 2011"/>
                <a:gd name="T2" fmla="*/ 525 w 2647"/>
                <a:gd name="T3" fmla="*/ 1865 h 2011"/>
                <a:gd name="T4" fmla="*/ 736 w 2647"/>
                <a:gd name="T5" fmla="*/ 1972 h 2011"/>
                <a:gd name="T6" fmla="*/ 940 w 2647"/>
                <a:gd name="T7" fmla="*/ 2010 h 2011"/>
                <a:gd name="T8" fmla="*/ 1078 w 2647"/>
                <a:gd name="T9" fmla="*/ 1991 h 2011"/>
                <a:gd name="T10" fmla="*/ 1286 w 2647"/>
                <a:gd name="T11" fmla="*/ 1894 h 2011"/>
                <a:gd name="T12" fmla="*/ 1506 w 2647"/>
                <a:gd name="T13" fmla="*/ 1715 h 2011"/>
                <a:gd name="T14" fmla="*/ 1506 w 2647"/>
                <a:gd name="T15" fmla="*/ 1715 h 2011"/>
                <a:gd name="T16" fmla="*/ 2630 w 2647"/>
                <a:gd name="T17" fmla="*/ 624 h 2011"/>
                <a:gd name="T18" fmla="*/ 2646 w 2647"/>
                <a:gd name="T19" fmla="*/ 586 h 2011"/>
                <a:gd name="T20" fmla="*/ 2630 w 2647"/>
                <a:gd name="T21" fmla="*/ 548 h 2011"/>
                <a:gd name="T22" fmla="*/ 2090 w 2647"/>
                <a:gd name="T23" fmla="*/ 21 h 2011"/>
                <a:gd name="T24" fmla="*/ 2016 w 2647"/>
                <a:gd name="T25" fmla="*/ 22 h 2011"/>
                <a:gd name="T26" fmla="*/ 2017 w 2647"/>
                <a:gd name="T27" fmla="*/ 96 h 2011"/>
                <a:gd name="T28" fmla="*/ 2518 w 2647"/>
                <a:gd name="T29" fmla="*/ 586 h 2011"/>
                <a:gd name="T30" fmla="*/ 1433 w 2647"/>
                <a:gd name="T31" fmla="*/ 1639 h 2011"/>
                <a:gd name="T32" fmla="*/ 1433 w 2647"/>
                <a:gd name="T33" fmla="*/ 1639 h 2011"/>
                <a:gd name="T34" fmla="*/ 1167 w 2647"/>
                <a:gd name="T35" fmla="*/ 1843 h 2011"/>
                <a:gd name="T36" fmla="*/ 1051 w 2647"/>
                <a:gd name="T37" fmla="*/ 1889 h 2011"/>
                <a:gd name="T38" fmla="*/ 940 w 2647"/>
                <a:gd name="T39" fmla="*/ 1904 h 2011"/>
                <a:gd name="T40" fmla="*/ 772 w 2647"/>
                <a:gd name="T41" fmla="*/ 1872 h 2011"/>
                <a:gd name="T42" fmla="*/ 474 w 2647"/>
                <a:gd name="T43" fmla="*/ 1704 h 2011"/>
                <a:gd name="T44" fmla="*/ 93 w 2647"/>
                <a:gd name="T45" fmla="*/ 1398 h 2011"/>
                <a:gd name="T46" fmla="*/ 19 w 2647"/>
                <a:gd name="T47" fmla="*/ 1404 h 2011"/>
                <a:gd name="T48" fmla="*/ 25 w 2647"/>
                <a:gd name="T49" fmla="*/ 1478 h 20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47" h="2011">
                  <a:moveTo>
                    <a:pt x="25" y="1478"/>
                  </a:moveTo>
                  <a:cubicBezTo>
                    <a:pt x="219" y="1643"/>
                    <a:pt x="380" y="1773"/>
                    <a:pt x="525" y="1865"/>
                  </a:cubicBezTo>
                  <a:cubicBezTo>
                    <a:pt x="598" y="1911"/>
                    <a:pt x="668" y="1947"/>
                    <a:pt x="736" y="1972"/>
                  </a:cubicBezTo>
                  <a:cubicBezTo>
                    <a:pt x="805" y="1996"/>
                    <a:pt x="872" y="2010"/>
                    <a:pt x="940" y="2010"/>
                  </a:cubicBezTo>
                  <a:cubicBezTo>
                    <a:pt x="986" y="2010"/>
                    <a:pt x="1032" y="2004"/>
                    <a:pt x="1078" y="1991"/>
                  </a:cubicBezTo>
                  <a:cubicBezTo>
                    <a:pt x="1147" y="1973"/>
                    <a:pt x="1216" y="1940"/>
                    <a:pt x="1286" y="1894"/>
                  </a:cubicBezTo>
                  <a:cubicBezTo>
                    <a:pt x="1357" y="1848"/>
                    <a:pt x="1429" y="1789"/>
                    <a:pt x="1506" y="1715"/>
                  </a:cubicBezTo>
                  <a:lnTo>
                    <a:pt x="1506" y="1715"/>
                  </a:lnTo>
                  <a:lnTo>
                    <a:pt x="2630" y="624"/>
                  </a:lnTo>
                  <a:cubicBezTo>
                    <a:pt x="2640" y="614"/>
                    <a:pt x="2646" y="600"/>
                    <a:pt x="2646" y="586"/>
                  </a:cubicBezTo>
                  <a:cubicBezTo>
                    <a:pt x="2646" y="572"/>
                    <a:pt x="2641" y="558"/>
                    <a:pt x="2630" y="548"/>
                  </a:cubicBezTo>
                  <a:lnTo>
                    <a:pt x="2090" y="21"/>
                  </a:lnTo>
                  <a:cubicBezTo>
                    <a:pt x="2069" y="0"/>
                    <a:pt x="2036" y="1"/>
                    <a:pt x="2016" y="22"/>
                  </a:cubicBezTo>
                  <a:cubicBezTo>
                    <a:pt x="1995" y="42"/>
                    <a:pt x="1996" y="76"/>
                    <a:pt x="2017" y="96"/>
                  </a:cubicBezTo>
                  <a:lnTo>
                    <a:pt x="2518" y="586"/>
                  </a:lnTo>
                  <a:lnTo>
                    <a:pt x="1433" y="1639"/>
                  </a:lnTo>
                  <a:lnTo>
                    <a:pt x="1433" y="1639"/>
                  </a:lnTo>
                  <a:cubicBezTo>
                    <a:pt x="1335" y="1733"/>
                    <a:pt x="1247" y="1800"/>
                    <a:pt x="1167" y="1843"/>
                  </a:cubicBezTo>
                  <a:cubicBezTo>
                    <a:pt x="1127" y="1864"/>
                    <a:pt x="1088" y="1879"/>
                    <a:pt x="1051" y="1889"/>
                  </a:cubicBezTo>
                  <a:cubicBezTo>
                    <a:pt x="1013" y="1899"/>
                    <a:pt x="977" y="1904"/>
                    <a:pt x="940" y="1904"/>
                  </a:cubicBezTo>
                  <a:cubicBezTo>
                    <a:pt x="886" y="1904"/>
                    <a:pt x="831" y="1894"/>
                    <a:pt x="772" y="1872"/>
                  </a:cubicBezTo>
                  <a:cubicBezTo>
                    <a:pt x="683" y="1840"/>
                    <a:pt x="586" y="1784"/>
                    <a:pt x="474" y="1704"/>
                  </a:cubicBezTo>
                  <a:cubicBezTo>
                    <a:pt x="363" y="1624"/>
                    <a:pt x="238" y="1521"/>
                    <a:pt x="93" y="1398"/>
                  </a:cubicBezTo>
                  <a:cubicBezTo>
                    <a:pt x="71" y="1379"/>
                    <a:pt x="38" y="1382"/>
                    <a:pt x="19" y="1404"/>
                  </a:cubicBezTo>
                  <a:cubicBezTo>
                    <a:pt x="0" y="1426"/>
                    <a:pt x="3" y="1459"/>
                    <a:pt x="25" y="147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3" name="Freeform 2"/>
            <p:cNvSpPr>
              <a:spLocks noChangeArrowheads="1"/>
            </p:cNvSpPr>
            <p:nvPr/>
          </p:nvSpPr>
          <p:spPr bwMode="auto">
            <a:xfrm>
              <a:off x="1511832" y="868769"/>
              <a:ext cx="356603" cy="190334"/>
            </a:xfrm>
            <a:custGeom>
              <a:avLst/>
              <a:gdLst>
                <a:gd name="T0" fmla="*/ 15 w 2158"/>
                <a:gd name="T1" fmla="*/ 713 h 1152"/>
                <a:gd name="T2" fmla="*/ 432 w 2158"/>
                <a:gd name="T3" fmla="*/ 1033 h 1152"/>
                <a:gd name="T4" fmla="*/ 605 w 2158"/>
                <a:gd name="T5" fmla="*/ 1120 h 1152"/>
                <a:gd name="T6" fmla="*/ 771 w 2158"/>
                <a:gd name="T7" fmla="*/ 1151 h 1152"/>
                <a:gd name="T8" fmla="*/ 896 w 2158"/>
                <a:gd name="T9" fmla="*/ 1132 h 1152"/>
                <a:gd name="T10" fmla="*/ 1089 w 2158"/>
                <a:gd name="T11" fmla="*/ 1036 h 1152"/>
                <a:gd name="T12" fmla="*/ 1305 w 2158"/>
                <a:gd name="T13" fmla="*/ 856 h 1152"/>
                <a:gd name="T14" fmla="*/ 1305 w 2158"/>
                <a:gd name="T15" fmla="*/ 856 h 1152"/>
                <a:gd name="T16" fmla="*/ 2144 w 2158"/>
                <a:gd name="T17" fmla="*/ 57 h 1152"/>
                <a:gd name="T18" fmla="*/ 2145 w 2158"/>
                <a:gd name="T19" fmla="*/ 13 h 1152"/>
                <a:gd name="T20" fmla="*/ 2100 w 2158"/>
                <a:gd name="T21" fmla="*/ 12 h 1152"/>
                <a:gd name="T22" fmla="*/ 1262 w 2158"/>
                <a:gd name="T23" fmla="*/ 811 h 1152"/>
                <a:gd name="T24" fmla="*/ 1262 w 2158"/>
                <a:gd name="T25" fmla="*/ 811 h 1152"/>
                <a:gd name="T26" fmla="*/ 993 w 2158"/>
                <a:gd name="T27" fmla="*/ 1023 h 1152"/>
                <a:gd name="T28" fmla="*/ 878 w 2158"/>
                <a:gd name="T29" fmla="*/ 1072 h 1152"/>
                <a:gd name="T30" fmla="*/ 771 w 2158"/>
                <a:gd name="T31" fmla="*/ 1088 h 1152"/>
                <a:gd name="T32" fmla="*/ 626 w 2158"/>
                <a:gd name="T33" fmla="*/ 1061 h 1152"/>
                <a:gd name="T34" fmla="*/ 376 w 2158"/>
                <a:gd name="T35" fmla="*/ 920 h 1152"/>
                <a:gd name="T36" fmla="*/ 55 w 2158"/>
                <a:gd name="T37" fmla="*/ 665 h 1152"/>
                <a:gd name="T38" fmla="*/ 11 w 2158"/>
                <a:gd name="T39" fmla="*/ 669 h 1152"/>
                <a:gd name="T40" fmla="*/ 15 w 2158"/>
                <a:gd name="T41" fmla="*/ 713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58" h="1152">
                  <a:moveTo>
                    <a:pt x="15" y="713"/>
                  </a:moveTo>
                  <a:cubicBezTo>
                    <a:pt x="179" y="850"/>
                    <a:pt x="312" y="958"/>
                    <a:pt x="432" y="1033"/>
                  </a:cubicBezTo>
                  <a:cubicBezTo>
                    <a:pt x="492" y="1071"/>
                    <a:pt x="549" y="1100"/>
                    <a:pt x="605" y="1120"/>
                  </a:cubicBezTo>
                  <a:cubicBezTo>
                    <a:pt x="661" y="1140"/>
                    <a:pt x="716" y="1151"/>
                    <a:pt x="771" y="1151"/>
                  </a:cubicBezTo>
                  <a:cubicBezTo>
                    <a:pt x="812" y="1151"/>
                    <a:pt x="854" y="1145"/>
                    <a:pt x="896" y="1132"/>
                  </a:cubicBezTo>
                  <a:cubicBezTo>
                    <a:pt x="959" y="1114"/>
                    <a:pt x="1022" y="1082"/>
                    <a:pt x="1089" y="1036"/>
                  </a:cubicBezTo>
                  <a:cubicBezTo>
                    <a:pt x="1156" y="990"/>
                    <a:pt x="1227" y="931"/>
                    <a:pt x="1305" y="856"/>
                  </a:cubicBezTo>
                  <a:lnTo>
                    <a:pt x="1305" y="856"/>
                  </a:lnTo>
                  <a:lnTo>
                    <a:pt x="2144" y="57"/>
                  </a:lnTo>
                  <a:cubicBezTo>
                    <a:pt x="2156" y="45"/>
                    <a:pt x="2157" y="25"/>
                    <a:pt x="2145" y="13"/>
                  </a:cubicBezTo>
                  <a:cubicBezTo>
                    <a:pt x="2133" y="0"/>
                    <a:pt x="2113" y="0"/>
                    <a:pt x="2100" y="12"/>
                  </a:cubicBezTo>
                  <a:lnTo>
                    <a:pt x="1262" y="811"/>
                  </a:lnTo>
                  <a:lnTo>
                    <a:pt x="1262" y="811"/>
                  </a:lnTo>
                  <a:cubicBezTo>
                    <a:pt x="1160" y="908"/>
                    <a:pt x="1072" y="978"/>
                    <a:pt x="993" y="1023"/>
                  </a:cubicBezTo>
                  <a:cubicBezTo>
                    <a:pt x="953" y="1045"/>
                    <a:pt x="915" y="1062"/>
                    <a:pt x="878" y="1072"/>
                  </a:cubicBezTo>
                  <a:cubicBezTo>
                    <a:pt x="842" y="1083"/>
                    <a:pt x="806" y="1088"/>
                    <a:pt x="771" y="1088"/>
                  </a:cubicBezTo>
                  <a:cubicBezTo>
                    <a:pt x="724" y="1088"/>
                    <a:pt x="677" y="1079"/>
                    <a:pt x="626" y="1061"/>
                  </a:cubicBezTo>
                  <a:cubicBezTo>
                    <a:pt x="551" y="1034"/>
                    <a:pt x="469" y="987"/>
                    <a:pt x="376" y="920"/>
                  </a:cubicBezTo>
                  <a:cubicBezTo>
                    <a:pt x="282" y="853"/>
                    <a:pt x="177" y="767"/>
                    <a:pt x="55" y="665"/>
                  </a:cubicBezTo>
                  <a:cubicBezTo>
                    <a:pt x="42" y="654"/>
                    <a:pt x="22" y="656"/>
                    <a:pt x="11" y="669"/>
                  </a:cubicBezTo>
                  <a:cubicBezTo>
                    <a:pt x="0" y="682"/>
                    <a:pt x="1" y="702"/>
                    <a:pt x="15" y="71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4" name="Freeform 3"/>
            <p:cNvSpPr>
              <a:spLocks noChangeArrowheads="1"/>
            </p:cNvSpPr>
            <p:nvPr/>
          </p:nvSpPr>
          <p:spPr bwMode="auto">
            <a:xfrm>
              <a:off x="1540273" y="847620"/>
              <a:ext cx="304826" cy="169186"/>
            </a:xfrm>
            <a:custGeom>
              <a:avLst/>
              <a:gdLst>
                <a:gd name="T0" fmla="*/ 12 w 1845"/>
                <a:gd name="T1" fmla="*/ 672 h 1022"/>
                <a:gd name="T2" fmla="*/ 350 w 1845"/>
                <a:gd name="T3" fmla="*/ 928 h 1022"/>
                <a:gd name="T4" fmla="*/ 488 w 1845"/>
                <a:gd name="T5" fmla="*/ 997 h 1022"/>
                <a:gd name="T6" fmla="*/ 620 w 1845"/>
                <a:gd name="T7" fmla="*/ 1021 h 1022"/>
                <a:gd name="T8" fmla="*/ 734 w 1845"/>
                <a:gd name="T9" fmla="*/ 1003 h 1022"/>
                <a:gd name="T10" fmla="*/ 915 w 1845"/>
                <a:gd name="T11" fmla="*/ 905 h 1022"/>
                <a:gd name="T12" fmla="*/ 1129 w 1845"/>
                <a:gd name="T13" fmla="*/ 720 h 1022"/>
                <a:gd name="T14" fmla="*/ 1129 w 1845"/>
                <a:gd name="T15" fmla="*/ 720 h 1022"/>
                <a:gd name="T16" fmla="*/ 1834 w 1845"/>
                <a:gd name="T17" fmla="*/ 42 h 1022"/>
                <a:gd name="T18" fmla="*/ 1835 w 1845"/>
                <a:gd name="T19" fmla="*/ 10 h 1022"/>
                <a:gd name="T20" fmla="*/ 1802 w 1845"/>
                <a:gd name="T21" fmla="*/ 9 h 1022"/>
                <a:gd name="T22" fmla="*/ 1097 w 1845"/>
                <a:gd name="T23" fmla="*/ 687 h 1022"/>
                <a:gd name="T24" fmla="*/ 1097 w 1845"/>
                <a:gd name="T25" fmla="*/ 687 h 1022"/>
                <a:gd name="T26" fmla="*/ 828 w 1845"/>
                <a:gd name="T27" fmla="*/ 907 h 1022"/>
                <a:gd name="T28" fmla="*/ 720 w 1845"/>
                <a:gd name="T29" fmla="*/ 959 h 1022"/>
                <a:gd name="T30" fmla="*/ 620 w 1845"/>
                <a:gd name="T31" fmla="*/ 975 h 1022"/>
                <a:gd name="T32" fmla="*/ 504 w 1845"/>
                <a:gd name="T33" fmla="*/ 954 h 1022"/>
                <a:gd name="T34" fmla="*/ 302 w 1845"/>
                <a:gd name="T35" fmla="*/ 841 h 1022"/>
                <a:gd name="T36" fmla="*/ 41 w 1845"/>
                <a:gd name="T37" fmla="*/ 636 h 1022"/>
                <a:gd name="T38" fmla="*/ 9 w 1845"/>
                <a:gd name="T39" fmla="*/ 640 h 1022"/>
                <a:gd name="T40" fmla="*/ 12 w 1845"/>
                <a:gd name="T41" fmla="*/ 672 h 10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45" h="1022">
                  <a:moveTo>
                    <a:pt x="12" y="672"/>
                  </a:moveTo>
                  <a:cubicBezTo>
                    <a:pt x="146" y="782"/>
                    <a:pt x="254" y="868"/>
                    <a:pt x="350" y="928"/>
                  </a:cubicBezTo>
                  <a:cubicBezTo>
                    <a:pt x="398" y="958"/>
                    <a:pt x="444" y="981"/>
                    <a:pt x="488" y="997"/>
                  </a:cubicBezTo>
                  <a:cubicBezTo>
                    <a:pt x="533" y="1013"/>
                    <a:pt x="576" y="1021"/>
                    <a:pt x="620" y="1021"/>
                  </a:cubicBezTo>
                  <a:cubicBezTo>
                    <a:pt x="658" y="1021"/>
                    <a:pt x="695" y="1015"/>
                    <a:pt x="734" y="1003"/>
                  </a:cubicBezTo>
                  <a:cubicBezTo>
                    <a:pt x="791" y="984"/>
                    <a:pt x="850" y="952"/>
                    <a:pt x="915" y="905"/>
                  </a:cubicBezTo>
                  <a:cubicBezTo>
                    <a:pt x="980" y="858"/>
                    <a:pt x="1050" y="797"/>
                    <a:pt x="1129" y="720"/>
                  </a:cubicBezTo>
                  <a:lnTo>
                    <a:pt x="1129" y="720"/>
                  </a:lnTo>
                  <a:lnTo>
                    <a:pt x="1834" y="42"/>
                  </a:lnTo>
                  <a:cubicBezTo>
                    <a:pt x="1843" y="34"/>
                    <a:pt x="1844" y="19"/>
                    <a:pt x="1835" y="10"/>
                  </a:cubicBezTo>
                  <a:cubicBezTo>
                    <a:pt x="1826" y="1"/>
                    <a:pt x="1811" y="0"/>
                    <a:pt x="1802" y="9"/>
                  </a:cubicBezTo>
                  <a:lnTo>
                    <a:pt x="1097" y="687"/>
                  </a:lnTo>
                  <a:lnTo>
                    <a:pt x="1097" y="687"/>
                  </a:lnTo>
                  <a:cubicBezTo>
                    <a:pt x="992" y="788"/>
                    <a:pt x="905" y="861"/>
                    <a:pt x="828" y="907"/>
                  </a:cubicBezTo>
                  <a:cubicBezTo>
                    <a:pt x="790" y="931"/>
                    <a:pt x="754" y="948"/>
                    <a:pt x="720" y="959"/>
                  </a:cubicBezTo>
                  <a:cubicBezTo>
                    <a:pt x="685" y="970"/>
                    <a:pt x="653" y="975"/>
                    <a:pt x="620" y="975"/>
                  </a:cubicBezTo>
                  <a:cubicBezTo>
                    <a:pt x="582" y="975"/>
                    <a:pt x="544" y="968"/>
                    <a:pt x="504" y="954"/>
                  </a:cubicBezTo>
                  <a:cubicBezTo>
                    <a:pt x="443" y="932"/>
                    <a:pt x="378" y="894"/>
                    <a:pt x="302" y="841"/>
                  </a:cubicBezTo>
                  <a:cubicBezTo>
                    <a:pt x="227" y="787"/>
                    <a:pt x="141" y="718"/>
                    <a:pt x="41" y="636"/>
                  </a:cubicBezTo>
                  <a:cubicBezTo>
                    <a:pt x="31" y="628"/>
                    <a:pt x="17" y="630"/>
                    <a:pt x="9" y="640"/>
                  </a:cubicBezTo>
                  <a:cubicBezTo>
                    <a:pt x="0" y="649"/>
                    <a:pt x="2" y="664"/>
                    <a:pt x="12" y="67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5" name="Freeform 4"/>
            <p:cNvSpPr>
              <a:spLocks noChangeArrowheads="1"/>
            </p:cNvSpPr>
            <p:nvPr/>
          </p:nvSpPr>
          <p:spPr bwMode="auto">
            <a:xfrm>
              <a:off x="1568713" y="826472"/>
              <a:ext cx="253050" cy="148037"/>
            </a:xfrm>
            <a:custGeom>
              <a:avLst/>
              <a:gdLst>
                <a:gd name="T0" fmla="*/ 8 w 1531"/>
                <a:gd name="T1" fmla="*/ 630 h 895"/>
                <a:gd name="T2" fmla="*/ 269 w 1531"/>
                <a:gd name="T3" fmla="*/ 824 h 895"/>
                <a:gd name="T4" fmla="*/ 374 w 1531"/>
                <a:gd name="T5" fmla="*/ 876 h 895"/>
                <a:gd name="T6" fmla="*/ 473 w 1531"/>
                <a:gd name="T7" fmla="*/ 894 h 895"/>
                <a:gd name="T8" fmla="*/ 573 w 1531"/>
                <a:gd name="T9" fmla="*/ 875 h 895"/>
                <a:gd name="T10" fmla="*/ 739 w 1531"/>
                <a:gd name="T11" fmla="*/ 775 h 895"/>
                <a:gd name="T12" fmla="*/ 953 w 1531"/>
                <a:gd name="T13" fmla="*/ 584 h 895"/>
                <a:gd name="T14" fmla="*/ 953 w 1531"/>
                <a:gd name="T15" fmla="*/ 584 h 895"/>
                <a:gd name="T16" fmla="*/ 1524 w 1531"/>
                <a:gd name="T17" fmla="*/ 27 h 895"/>
                <a:gd name="T18" fmla="*/ 1524 w 1531"/>
                <a:gd name="T19" fmla="*/ 6 h 895"/>
                <a:gd name="T20" fmla="*/ 1503 w 1531"/>
                <a:gd name="T21" fmla="*/ 6 h 895"/>
                <a:gd name="T22" fmla="*/ 932 w 1531"/>
                <a:gd name="T23" fmla="*/ 563 h 895"/>
                <a:gd name="T24" fmla="*/ 932 w 1531"/>
                <a:gd name="T25" fmla="*/ 563 h 895"/>
                <a:gd name="T26" fmla="*/ 663 w 1531"/>
                <a:gd name="T27" fmla="*/ 793 h 895"/>
                <a:gd name="T28" fmla="*/ 562 w 1531"/>
                <a:gd name="T29" fmla="*/ 847 h 895"/>
                <a:gd name="T30" fmla="*/ 473 w 1531"/>
                <a:gd name="T31" fmla="*/ 865 h 895"/>
                <a:gd name="T32" fmla="*/ 384 w 1531"/>
                <a:gd name="T33" fmla="*/ 848 h 895"/>
                <a:gd name="T34" fmla="*/ 229 w 1531"/>
                <a:gd name="T35" fmla="*/ 762 h 895"/>
                <a:gd name="T36" fmla="*/ 26 w 1531"/>
                <a:gd name="T37" fmla="*/ 607 h 895"/>
                <a:gd name="T38" fmla="*/ 5 w 1531"/>
                <a:gd name="T39" fmla="*/ 609 h 895"/>
                <a:gd name="T40" fmla="*/ 8 w 1531"/>
                <a:gd name="T41" fmla="*/ 630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1" h="895">
                  <a:moveTo>
                    <a:pt x="8" y="630"/>
                  </a:moveTo>
                  <a:cubicBezTo>
                    <a:pt x="113" y="714"/>
                    <a:pt x="196" y="779"/>
                    <a:pt x="269" y="824"/>
                  </a:cubicBezTo>
                  <a:cubicBezTo>
                    <a:pt x="306" y="847"/>
                    <a:pt x="340" y="864"/>
                    <a:pt x="374" y="876"/>
                  </a:cubicBezTo>
                  <a:cubicBezTo>
                    <a:pt x="407" y="888"/>
                    <a:pt x="440" y="894"/>
                    <a:pt x="473" y="894"/>
                  </a:cubicBezTo>
                  <a:cubicBezTo>
                    <a:pt x="506" y="894"/>
                    <a:pt x="539" y="888"/>
                    <a:pt x="573" y="875"/>
                  </a:cubicBezTo>
                  <a:cubicBezTo>
                    <a:pt x="624" y="856"/>
                    <a:pt x="678" y="823"/>
                    <a:pt x="739" y="775"/>
                  </a:cubicBezTo>
                  <a:cubicBezTo>
                    <a:pt x="801" y="727"/>
                    <a:pt x="870" y="663"/>
                    <a:pt x="953" y="584"/>
                  </a:cubicBezTo>
                  <a:lnTo>
                    <a:pt x="953" y="584"/>
                  </a:lnTo>
                  <a:lnTo>
                    <a:pt x="1524" y="27"/>
                  </a:lnTo>
                  <a:cubicBezTo>
                    <a:pt x="1529" y="21"/>
                    <a:pt x="1530" y="12"/>
                    <a:pt x="1524" y="6"/>
                  </a:cubicBezTo>
                  <a:cubicBezTo>
                    <a:pt x="1518" y="0"/>
                    <a:pt x="1509" y="0"/>
                    <a:pt x="1503" y="6"/>
                  </a:cubicBezTo>
                  <a:lnTo>
                    <a:pt x="932" y="563"/>
                  </a:lnTo>
                  <a:lnTo>
                    <a:pt x="932" y="563"/>
                  </a:lnTo>
                  <a:cubicBezTo>
                    <a:pt x="823" y="668"/>
                    <a:pt x="737" y="744"/>
                    <a:pt x="663" y="793"/>
                  </a:cubicBezTo>
                  <a:cubicBezTo>
                    <a:pt x="627" y="818"/>
                    <a:pt x="594" y="836"/>
                    <a:pt x="562" y="847"/>
                  </a:cubicBezTo>
                  <a:cubicBezTo>
                    <a:pt x="531" y="859"/>
                    <a:pt x="502" y="865"/>
                    <a:pt x="473" y="865"/>
                  </a:cubicBezTo>
                  <a:cubicBezTo>
                    <a:pt x="444" y="865"/>
                    <a:pt x="415" y="859"/>
                    <a:pt x="384" y="848"/>
                  </a:cubicBezTo>
                  <a:cubicBezTo>
                    <a:pt x="338" y="832"/>
                    <a:pt x="288" y="803"/>
                    <a:pt x="229" y="762"/>
                  </a:cubicBezTo>
                  <a:cubicBezTo>
                    <a:pt x="171" y="722"/>
                    <a:pt x="105" y="669"/>
                    <a:pt x="26" y="607"/>
                  </a:cubicBezTo>
                  <a:cubicBezTo>
                    <a:pt x="20" y="602"/>
                    <a:pt x="10" y="603"/>
                    <a:pt x="5" y="609"/>
                  </a:cubicBezTo>
                  <a:cubicBezTo>
                    <a:pt x="0" y="615"/>
                    <a:pt x="1" y="625"/>
                    <a:pt x="8" y="63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6" name="Freeform 5"/>
            <p:cNvSpPr>
              <a:spLocks noChangeArrowheads="1"/>
            </p:cNvSpPr>
            <p:nvPr/>
          </p:nvSpPr>
          <p:spPr bwMode="auto">
            <a:xfrm>
              <a:off x="1596425" y="805324"/>
              <a:ext cx="201273" cy="127619"/>
            </a:xfrm>
            <a:custGeom>
              <a:avLst/>
              <a:gdLst>
                <a:gd name="T0" fmla="*/ 4 w 1217"/>
                <a:gd name="T1" fmla="*/ 588 h 773"/>
                <a:gd name="T2" fmla="*/ 193 w 1217"/>
                <a:gd name="T3" fmla="*/ 724 h 773"/>
                <a:gd name="T4" fmla="*/ 332 w 1217"/>
                <a:gd name="T5" fmla="*/ 772 h 773"/>
                <a:gd name="T6" fmla="*/ 415 w 1217"/>
                <a:gd name="T7" fmla="*/ 752 h 773"/>
                <a:gd name="T8" fmla="*/ 563 w 1217"/>
                <a:gd name="T9" fmla="*/ 648 h 773"/>
                <a:gd name="T10" fmla="*/ 776 w 1217"/>
                <a:gd name="T11" fmla="*/ 448 h 773"/>
                <a:gd name="T12" fmla="*/ 776 w 1217"/>
                <a:gd name="T13" fmla="*/ 448 h 773"/>
                <a:gd name="T14" fmla="*/ 1213 w 1217"/>
                <a:gd name="T15" fmla="*/ 12 h 773"/>
                <a:gd name="T16" fmla="*/ 1213 w 1217"/>
                <a:gd name="T17" fmla="*/ 2 h 773"/>
                <a:gd name="T18" fmla="*/ 1204 w 1217"/>
                <a:gd name="T19" fmla="*/ 2 h 773"/>
                <a:gd name="T20" fmla="*/ 767 w 1217"/>
                <a:gd name="T21" fmla="*/ 439 h 773"/>
                <a:gd name="T22" fmla="*/ 500 w 1217"/>
                <a:gd name="T23" fmla="*/ 682 h 773"/>
                <a:gd name="T24" fmla="*/ 410 w 1217"/>
                <a:gd name="T25" fmla="*/ 740 h 773"/>
                <a:gd name="T26" fmla="*/ 332 w 1217"/>
                <a:gd name="T27" fmla="*/ 759 h 773"/>
                <a:gd name="T28" fmla="*/ 199 w 1217"/>
                <a:gd name="T29" fmla="*/ 712 h 773"/>
                <a:gd name="T30" fmla="*/ 12 w 1217"/>
                <a:gd name="T31" fmla="*/ 577 h 773"/>
                <a:gd name="T32" fmla="*/ 2 w 1217"/>
                <a:gd name="T33" fmla="*/ 578 h 773"/>
                <a:gd name="T34" fmla="*/ 4 w 1217"/>
                <a:gd name="T35" fmla="*/ 588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17" h="773">
                  <a:moveTo>
                    <a:pt x="4" y="588"/>
                  </a:moveTo>
                  <a:cubicBezTo>
                    <a:pt x="81" y="647"/>
                    <a:pt x="141" y="692"/>
                    <a:pt x="193" y="724"/>
                  </a:cubicBezTo>
                  <a:cubicBezTo>
                    <a:pt x="244" y="755"/>
                    <a:pt x="288" y="772"/>
                    <a:pt x="332" y="772"/>
                  </a:cubicBezTo>
                  <a:cubicBezTo>
                    <a:pt x="359" y="772"/>
                    <a:pt x="386" y="765"/>
                    <a:pt x="415" y="752"/>
                  </a:cubicBezTo>
                  <a:cubicBezTo>
                    <a:pt x="458" y="733"/>
                    <a:pt x="505" y="698"/>
                    <a:pt x="563" y="648"/>
                  </a:cubicBezTo>
                  <a:cubicBezTo>
                    <a:pt x="620" y="597"/>
                    <a:pt x="689" y="531"/>
                    <a:pt x="776" y="448"/>
                  </a:cubicBezTo>
                  <a:lnTo>
                    <a:pt x="776" y="448"/>
                  </a:lnTo>
                  <a:lnTo>
                    <a:pt x="1213" y="12"/>
                  </a:lnTo>
                  <a:cubicBezTo>
                    <a:pt x="1216" y="9"/>
                    <a:pt x="1216" y="5"/>
                    <a:pt x="1213" y="2"/>
                  </a:cubicBezTo>
                  <a:cubicBezTo>
                    <a:pt x="1210" y="0"/>
                    <a:pt x="1206" y="0"/>
                    <a:pt x="1204" y="2"/>
                  </a:cubicBezTo>
                  <a:lnTo>
                    <a:pt x="767" y="439"/>
                  </a:lnTo>
                  <a:cubicBezTo>
                    <a:pt x="651" y="549"/>
                    <a:pt x="568" y="630"/>
                    <a:pt x="500" y="682"/>
                  </a:cubicBezTo>
                  <a:cubicBezTo>
                    <a:pt x="466" y="709"/>
                    <a:pt x="437" y="728"/>
                    <a:pt x="410" y="740"/>
                  </a:cubicBezTo>
                  <a:cubicBezTo>
                    <a:pt x="382" y="753"/>
                    <a:pt x="357" y="759"/>
                    <a:pt x="332" y="759"/>
                  </a:cubicBezTo>
                  <a:cubicBezTo>
                    <a:pt x="291" y="759"/>
                    <a:pt x="250" y="743"/>
                    <a:pt x="199" y="712"/>
                  </a:cubicBezTo>
                  <a:cubicBezTo>
                    <a:pt x="149" y="682"/>
                    <a:pt x="89" y="636"/>
                    <a:pt x="12" y="577"/>
                  </a:cubicBezTo>
                  <a:cubicBezTo>
                    <a:pt x="9" y="575"/>
                    <a:pt x="4" y="575"/>
                    <a:pt x="2" y="578"/>
                  </a:cubicBezTo>
                  <a:cubicBezTo>
                    <a:pt x="0" y="581"/>
                    <a:pt x="1" y="585"/>
                    <a:pt x="4" y="58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7" name="Freeform 6"/>
            <p:cNvSpPr>
              <a:spLocks noChangeArrowheads="1"/>
            </p:cNvSpPr>
            <p:nvPr/>
          </p:nvSpPr>
          <p:spPr bwMode="auto">
            <a:xfrm>
              <a:off x="1368170" y="664579"/>
              <a:ext cx="439737" cy="330350"/>
            </a:xfrm>
            <a:custGeom>
              <a:avLst/>
              <a:gdLst>
                <a:gd name="T0" fmla="*/ 2631 w 2657"/>
                <a:gd name="T1" fmla="*/ 532 h 1998"/>
                <a:gd name="T2" fmla="*/ 2130 w 2657"/>
                <a:gd name="T3" fmla="*/ 145 h 1998"/>
                <a:gd name="T4" fmla="*/ 1920 w 2657"/>
                <a:gd name="T5" fmla="*/ 38 h 1998"/>
                <a:gd name="T6" fmla="*/ 1715 w 2657"/>
                <a:gd name="T7" fmla="*/ 0 h 1998"/>
                <a:gd name="T8" fmla="*/ 1578 w 2657"/>
                <a:gd name="T9" fmla="*/ 19 h 1998"/>
                <a:gd name="T10" fmla="*/ 1370 w 2657"/>
                <a:gd name="T11" fmla="*/ 116 h 1998"/>
                <a:gd name="T12" fmla="*/ 1150 w 2657"/>
                <a:gd name="T13" fmla="*/ 295 h 1998"/>
                <a:gd name="T14" fmla="*/ 1150 w 2657"/>
                <a:gd name="T15" fmla="*/ 295 h 1998"/>
                <a:gd name="T16" fmla="*/ 16 w 2657"/>
                <a:gd name="T17" fmla="*/ 1368 h 1998"/>
                <a:gd name="T18" fmla="*/ 0 w 2657"/>
                <a:gd name="T19" fmla="*/ 1406 h 1998"/>
                <a:gd name="T20" fmla="*/ 16 w 2657"/>
                <a:gd name="T21" fmla="*/ 1444 h 1998"/>
                <a:gd name="T22" fmla="*/ 566 w 2657"/>
                <a:gd name="T23" fmla="*/ 1977 h 1998"/>
                <a:gd name="T24" fmla="*/ 640 w 2657"/>
                <a:gd name="T25" fmla="*/ 1976 h 1998"/>
                <a:gd name="T26" fmla="*/ 639 w 2657"/>
                <a:gd name="T27" fmla="*/ 1901 h 1998"/>
                <a:gd name="T28" fmla="*/ 129 w 2657"/>
                <a:gd name="T29" fmla="*/ 1406 h 1998"/>
                <a:gd name="T30" fmla="*/ 1223 w 2657"/>
                <a:gd name="T31" fmla="*/ 371 h 1998"/>
                <a:gd name="T32" fmla="*/ 1223 w 2657"/>
                <a:gd name="T33" fmla="*/ 371 h 1998"/>
                <a:gd name="T34" fmla="*/ 1489 w 2657"/>
                <a:gd name="T35" fmla="*/ 167 h 1998"/>
                <a:gd name="T36" fmla="*/ 1605 w 2657"/>
                <a:gd name="T37" fmla="*/ 121 h 1998"/>
                <a:gd name="T38" fmla="*/ 1715 w 2657"/>
                <a:gd name="T39" fmla="*/ 106 h 1998"/>
                <a:gd name="T40" fmla="*/ 1884 w 2657"/>
                <a:gd name="T41" fmla="*/ 138 h 1998"/>
                <a:gd name="T42" fmla="*/ 2181 w 2657"/>
                <a:gd name="T43" fmla="*/ 306 h 1998"/>
                <a:gd name="T44" fmla="*/ 2562 w 2657"/>
                <a:gd name="T45" fmla="*/ 612 h 1998"/>
                <a:gd name="T46" fmla="*/ 2637 w 2657"/>
                <a:gd name="T47" fmla="*/ 606 h 1998"/>
                <a:gd name="T48" fmla="*/ 2631 w 2657"/>
                <a:gd name="T49" fmla="*/ 532 h 1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57" h="1998">
                  <a:moveTo>
                    <a:pt x="2631" y="532"/>
                  </a:moveTo>
                  <a:cubicBezTo>
                    <a:pt x="2437" y="367"/>
                    <a:pt x="2276" y="237"/>
                    <a:pt x="2130" y="145"/>
                  </a:cubicBezTo>
                  <a:cubicBezTo>
                    <a:pt x="2058" y="99"/>
                    <a:pt x="1988" y="63"/>
                    <a:pt x="1920" y="38"/>
                  </a:cubicBezTo>
                  <a:cubicBezTo>
                    <a:pt x="1851" y="14"/>
                    <a:pt x="1783" y="0"/>
                    <a:pt x="1715" y="0"/>
                  </a:cubicBezTo>
                  <a:cubicBezTo>
                    <a:pt x="1669" y="0"/>
                    <a:pt x="1623" y="6"/>
                    <a:pt x="1578" y="19"/>
                  </a:cubicBezTo>
                  <a:cubicBezTo>
                    <a:pt x="1509" y="37"/>
                    <a:pt x="1440" y="70"/>
                    <a:pt x="1370" y="116"/>
                  </a:cubicBezTo>
                  <a:cubicBezTo>
                    <a:pt x="1299" y="162"/>
                    <a:pt x="1227" y="221"/>
                    <a:pt x="1150" y="295"/>
                  </a:cubicBezTo>
                  <a:lnTo>
                    <a:pt x="1150" y="295"/>
                  </a:lnTo>
                  <a:lnTo>
                    <a:pt x="16" y="1368"/>
                  </a:lnTo>
                  <a:cubicBezTo>
                    <a:pt x="6" y="1378"/>
                    <a:pt x="0" y="1391"/>
                    <a:pt x="0" y="1406"/>
                  </a:cubicBezTo>
                  <a:cubicBezTo>
                    <a:pt x="0" y="1420"/>
                    <a:pt x="6" y="1434"/>
                    <a:pt x="16" y="1444"/>
                  </a:cubicBezTo>
                  <a:lnTo>
                    <a:pt x="566" y="1977"/>
                  </a:lnTo>
                  <a:cubicBezTo>
                    <a:pt x="587" y="1997"/>
                    <a:pt x="619" y="1997"/>
                    <a:pt x="640" y="1976"/>
                  </a:cubicBezTo>
                  <a:cubicBezTo>
                    <a:pt x="660" y="1955"/>
                    <a:pt x="660" y="1921"/>
                    <a:pt x="639" y="1901"/>
                  </a:cubicBezTo>
                  <a:lnTo>
                    <a:pt x="129" y="1406"/>
                  </a:lnTo>
                  <a:lnTo>
                    <a:pt x="1223" y="371"/>
                  </a:lnTo>
                  <a:lnTo>
                    <a:pt x="1223" y="371"/>
                  </a:lnTo>
                  <a:cubicBezTo>
                    <a:pt x="1321" y="277"/>
                    <a:pt x="1409" y="210"/>
                    <a:pt x="1489" y="167"/>
                  </a:cubicBezTo>
                  <a:cubicBezTo>
                    <a:pt x="1529" y="146"/>
                    <a:pt x="1568" y="131"/>
                    <a:pt x="1605" y="121"/>
                  </a:cubicBezTo>
                  <a:cubicBezTo>
                    <a:pt x="1642" y="111"/>
                    <a:pt x="1679" y="106"/>
                    <a:pt x="1715" y="106"/>
                  </a:cubicBezTo>
                  <a:cubicBezTo>
                    <a:pt x="1770" y="106"/>
                    <a:pt x="1825" y="116"/>
                    <a:pt x="1884" y="138"/>
                  </a:cubicBezTo>
                  <a:cubicBezTo>
                    <a:pt x="1972" y="170"/>
                    <a:pt x="2070" y="226"/>
                    <a:pt x="2181" y="306"/>
                  </a:cubicBezTo>
                  <a:cubicBezTo>
                    <a:pt x="2293" y="387"/>
                    <a:pt x="2418" y="490"/>
                    <a:pt x="2562" y="612"/>
                  </a:cubicBezTo>
                  <a:cubicBezTo>
                    <a:pt x="2585" y="631"/>
                    <a:pt x="2618" y="628"/>
                    <a:pt x="2637" y="606"/>
                  </a:cubicBezTo>
                  <a:cubicBezTo>
                    <a:pt x="2656" y="584"/>
                    <a:pt x="2653" y="551"/>
                    <a:pt x="2631" y="53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8" name="Freeform 7"/>
            <p:cNvSpPr>
              <a:spLocks noChangeArrowheads="1"/>
            </p:cNvSpPr>
            <p:nvPr/>
          </p:nvSpPr>
          <p:spPr bwMode="auto">
            <a:xfrm>
              <a:off x="1419946" y="709792"/>
              <a:ext cx="356603" cy="190334"/>
            </a:xfrm>
            <a:custGeom>
              <a:avLst/>
              <a:gdLst>
                <a:gd name="T0" fmla="*/ 2142 w 2158"/>
                <a:gd name="T1" fmla="*/ 438 h 1152"/>
                <a:gd name="T2" fmla="*/ 1725 w 2158"/>
                <a:gd name="T3" fmla="*/ 118 h 1152"/>
                <a:gd name="T4" fmla="*/ 1552 w 2158"/>
                <a:gd name="T5" fmla="*/ 31 h 1152"/>
                <a:gd name="T6" fmla="*/ 1386 w 2158"/>
                <a:gd name="T7" fmla="*/ 0 h 1152"/>
                <a:gd name="T8" fmla="*/ 1261 w 2158"/>
                <a:gd name="T9" fmla="*/ 19 h 1152"/>
                <a:gd name="T10" fmla="*/ 1068 w 2158"/>
                <a:gd name="T11" fmla="*/ 115 h 1152"/>
                <a:gd name="T12" fmla="*/ 852 w 2158"/>
                <a:gd name="T13" fmla="*/ 295 h 1152"/>
                <a:gd name="T14" fmla="*/ 852 w 2158"/>
                <a:gd name="T15" fmla="*/ 295 h 1152"/>
                <a:gd name="T16" fmla="*/ 13 w 2158"/>
                <a:gd name="T17" fmla="*/ 1094 h 1152"/>
                <a:gd name="T18" fmla="*/ 12 w 2158"/>
                <a:gd name="T19" fmla="*/ 1138 h 1152"/>
                <a:gd name="T20" fmla="*/ 56 w 2158"/>
                <a:gd name="T21" fmla="*/ 1139 h 1152"/>
                <a:gd name="T22" fmla="*/ 895 w 2158"/>
                <a:gd name="T23" fmla="*/ 340 h 1152"/>
                <a:gd name="T24" fmla="*/ 895 w 2158"/>
                <a:gd name="T25" fmla="*/ 340 h 1152"/>
                <a:gd name="T26" fmla="*/ 1164 w 2158"/>
                <a:gd name="T27" fmla="*/ 128 h 1152"/>
                <a:gd name="T28" fmla="*/ 1279 w 2158"/>
                <a:gd name="T29" fmla="*/ 79 h 1152"/>
                <a:gd name="T30" fmla="*/ 1386 w 2158"/>
                <a:gd name="T31" fmla="*/ 63 h 1152"/>
                <a:gd name="T32" fmla="*/ 1531 w 2158"/>
                <a:gd name="T33" fmla="*/ 90 h 1152"/>
                <a:gd name="T34" fmla="*/ 1781 w 2158"/>
                <a:gd name="T35" fmla="*/ 231 h 1152"/>
                <a:gd name="T36" fmla="*/ 2102 w 2158"/>
                <a:gd name="T37" fmla="*/ 486 h 1152"/>
                <a:gd name="T38" fmla="*/ 2146 w 2158"/>
                <a:gd name="T39" fmla="*/ 482 h 1152"/>
                <a:gd name="T40" fmla="*/ 2142 w 2158"/>
                <a:gd name="T41" fmla="*/ 438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58" h="1152">
                  <a:moveTo>
                    <a:pt x="2142" y="438"/>
                  </a:moveTo>
                  <a:cubicBezTo>
                    <a:pt x="1978" y="301"/>
                    <a:pt x="1845" y="193"/>
                    <a:pt x="1725" y="118"/>
                  </a:cubicBezTo>
                  <a:cubicBezTo>
                    <a:pt x="1664" y="80"/>
                    <a:pt x="1608" y="51"/>
                    <a:pt x="1552" y="31"/>
                  </a:cubicBezTo>
                  <a:cubicBezTo>
                    <a:pt x="1496" y="11"/>
                    <a:pt x="1441" y="0"/>
                    <a:pt x="1386" y="0"/>
                  </a:cubicBezTo>
                  <a:cubicBezTo>
                    <a:pt x="1344" y="0"/>
                    <a:pt x="1303" y="6"/>
                    <a:pt x="1261" y="19"/>
                  </a:cubicBezTo>
                  <a:cubicBezTo>
                    <a:pt x="1198" y="37"/>
                    <a:pt x="1135" y="69"/>
                    <a:pt x="1068" y="115"/>
                  </a:cubicBezTo>
                  <a:cubicBezTo>
                    <a:pt x="1000" y="161"/>
                    <a:pt x="930" y="220"/>
                    <a:pt x="852" y="295"/>
                  </a:cubicBezTo>
                  <a:lnTo>
                    <a:pt x="852" y="295"/>
                  </a:lnTo>
                  <a:lnTo>
                    <a:pt x="13" y="1094"/>
                  </a:lnTo>
                  <a:cubicBezTo>
                    <a:pt x="1" y="1106"/>
                    <a:pt x="0" y="1126"/>
                    <a:pt x="12" y="1138"/>
                  </a:cubicBezTo>
                  <a:cubicBezTo>
                    <a:pt x="24" y="1151"/>
                    <a:pt x="44" y="1151"/>
                    <a:pt x="56" y="1139"/>
                  </a:cubicBezTo>
                  <a:lnTo>
                    <a:pt x="895" y="340"/>
                  </a:lnTo>
                  <a:lnTo>
                    <a:pt x="895" y="340"/>
                  </a:lnTo>
                  <a:cubicBezTo>
                    <a:pt x="997" y="243"/>
                    <a:pt x="1085" y="173"/>
                    <a:pt x="1164" y="128"/>
                  </a:cubicBezTo>
                  <a:cubicBezTo>
                    <a:pt x="1204" y="106"/>
                    <a:pt x="1242" y="89"/>
                    <a:pt x="1279" y="79"/>
                  </a:cubicBezTo>
                  <a:cubicBezTo>
                    <a:pt x="1315" y="68"/>
                    <a:pt x="1351" y="63"/>
                    <a:pt x="1386" y="63"/>
                  </a:cubicBezTo>
                  <a:cubicBezTo>
                    <a:pt x="1433" y="63"/>
                    <a:pt x="1480" y="72"/>
                    <a:pt x="1531" y="90"/>
                  </a:cubicBezTo>
                  <a:cubicBezTo>
                    <a:pt x="1606" y="117"/>
                    <a:pt x="1688" y="164"/>
                    <a:pt x="1781" y="231"/>
                  </a:cubicBezTo>
                  <a:cubicBezTo>
                    <a:pt x="1874" y="298"/>
                    <a:pt x="1979" y="384"/>
                    <a:pt x="2102" y="486"/>
                  </a:cubicBezTo>
                  <a:cubicBezTo>
                    <a:pt x="2115" y="497"/>
                    <a:pt x="2135" y="495"/>
                    <a:pt x="2146" y="482"/>
                  </a:cubicBezTo>
                  <a:cubicBezTo>
                    <a:pt x="2157" y="469"/>
                    <a:pt x="2155" y="449"/>
                    <a:pt x="2142" y="43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9" name="Freeform 8"/>
            <p:cNvSpPr>
              <a:spLocks noChangeArrowheads="1"/>
            </p:cNvSpPr>
            <p:nvPr/>
          </p:nvSpPr>
          <p:spPr bwMode="auto">
            <a:xfrm>
              <a:off x="1444012" y="752818"/>
              <a:ext cx="304826" cy="169186"/>
            </a:xfrm>
            <a:custGeom>
              <a:avLst/>
              <a:gdLst>
                <a:gd name="T0" fmla="*/ 1832 w 1844"/>
                <a:gd name="T1" fmla="*/ 349 h 1021"/>
                <a:gd name="T2" fmla="*/ 1494 w 1844"/>
                <a:gd name="T3" fmla="*/ 93 h 1021"/>
                <a:gd name="T4" fmla="*/ 1356 w 1844"/>
                <a:gd name="T5" fmla="*/ 24 h 1021"/>
                <a:gd name="T6" fmla="*/ 1224 w 1844"/>
                <a:gd name="T7" fmla="*/ 0 h 1021"/>
                <a:gd name="T8" fmla="*/ 1110 w 1844"/>
                <a:gd name="T9" fmla="*/ 18 h 1021"/>
                <a:gd name="T10" fmla="*/ 929 w 1844"/>
                <a:gd name="T11" fmla="*/ 116 h 1021"/>
                <a:gd name="T12" fmla="*/ 715 w 1844"/>
                <a:gd name="T13" fmla="*/ 301 h 1021"/>
                <a:gd name="T14" fmla="*/ 714 w 1844"/>
                <a:gd name="T15" fmla="*/ 301 h 1021"/>
                <a:gd name="T16" fmla="*/ 10 w 1844"/>
                <a:gd name="T17" fmla="*/ 978 h 1021"/>
                <a:gd name="T18" fmla="*/ 9 w 1844"/>
                <a:gd name="T19" fmla="*/ 1011 h 1021"/>
                <a:gd name="T20" fmla="*/ 42 w 1844"/>
                <a:gd name="T21" fmla="*/ 1012 h 1021"/>
                <a:gd name="T22" fmla="*/ 746 w 1844"/>
                <a:gd name="T23" fmla="*/ 334 h 1021"/>
                <a:gd name="T24" fmla="*/ 746 w 1844"/>
                <a:gd name="T25" fmla="*/ 334 h 1021"/>
                <a:gd name="T26" fmla="*/ 1016 w 1844"/>
                <a:gd name="T27" fmla="*/ 114 h 1021"/>
                <a:gd name="T28" fmla="*/ 1124 w 1844"/>
                <a:gd name="T29" fmla="*/ 62 h 1021"/>
                <a:gd name="T30" fmla="*/ 1224 w 1844"/>
                <a:gd name="T31" fmla="*/ 46 h 1021"/>
                <a:gd name="T32" fmla="*/ 1340 w 1844"/>
                <a:gd name="T33" fmla="*/ 67 h 1021"/>
                <a:gd name="T34" fmla="*/ 1542 w 1844"/>
                <a:gd name="T35" fmla="*/ 180 h 1021"/>
                <a:gd name="T36" fmla="*/ 1803 w 1844"/>
                <a:gd name="T37" fmla="*/ 385 h 1021"/>
                <a:gd name="T38" fmla="*/ 1835 w 1844"/>
                <a:gd name="T39" fmla="*/ 381 h 1021"/>
                <a:gd name="T40" fmla="*/ 1832 w 1844"/>
                <a:gd name="T41" fmla="*/ 349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44" h="1021">
                  <a:moveTo>
                    <a:pt x="1832" y="349"/>
                  </a:moveTo>
                  <a:cubicBezTo>
                    <a:pt x="1698" y="239"/>
                    <a:pt x="1590" y="153"/>
                    <a:pt x="1494" y="93"/>
                  </a:cubicBezTo>
                  <a:cubicBezTo>
                    <a:pt x="1446" y="63"/>
                    <a:pt x="1400" y="40"/>
                    <a:pt x="1356" y="24"/>
                  </a:cubicBezTo>
                  <a:cubicBezTo>
                    <a:pt x="1311" y="8"/>
                    <a:pt x="1268" y="0"/>
                    <a:pt x="1224" y="0"/>
                  </a:cubicBezTo>
                  <a:cubicBezTo>
                    <a:pt x="1186" y="0"/>
                    <a:pt x="1148" y="6"/>
                    <a:pt x="1110" y="18"/>
                  </a:cubicBezTo>
                  <a:cubicBezTo>
                    <a:pt x="1052" y="37"/>
                    <a:pt x="993" y="69"/>
                    <a:pt x="929" y="116"/>
                  </a:cubicBezTo>
                  <a:cubicBezTo>
                    <a:pt x="864" y="163"/>
                    <a:pt x="794" y="224"/>
                    <a:pt x="715" y="301"/>
                  </a:cubicBezTo>
                  <a:lnTo>
                    <a:pt x="714" y="301"/>
                  </a:lnTo>
                  <a:lnTo>
                    <a:pt x="10" y="978"/>
                  </a:lnTo>
                  <a:cubicBezTo>
                    <a:pt x="1" y="987"/>
                    <a:pt x="0" y="1002"/>
                    <a:pt x="9" y="1011"/>
                  </a:cubicBezTo>
                  <a:cubicBezTo>
                    <a:pt x="18" y="1020"/>
                    <a:pt x="33" y="1020"/>
                    <a:pt x="42" y="1012"/>
                  </a:cubicBezTo>
                  <a:lnTo>
                    <a:pt x="746" y="334"/>
                  </a:lnTo>
                  <a:lnTo>
                    <a:pt x="746" y="334"/>
                  </a:lnTo>
                  <a:cubicBezTo>
                    <a:pt x="851" y="233"/>
                    <a:pt x="939" y="160"/>
                    <a:pt x="1016" y="114"/>
                  </a:cubicBezTo>
                  <a:cubicBezTo>
                    <a:pt x="1054" y="90"/>
                    <a:pt x="1090" y="73"/>
                    <a:pt x="1124" y="62"/>
                  </a:cubicBezTo>
                  <a:cubicBezTo>
                    <a:pt x="1159" y="51"/>
                    <a:pt x="1191" y="46"/>
                    <a:pt x="1224" y="46"/>
                  </a:cubicBezTo>
                  <a:cubicBezTo>
                    <a:pt x="1262" y="46"/>
                    <a:pt x="1300" y="53"/>
                    <a:pt x="1340" y="67"/>
                  </a:cubicBezTo>
                  <a:cubicBezTo>
                    <a:pt x="1401" y="89"/>
                    <a:pt x="1466" y="127"/>
                    <a:pt x="1542" y="180"/>
                  </a:cubicBezTo>
                  <a:cubicBezTo>
                    <a:pt x="1617" y="234"/>
                    <a:pt x="1702" y="303"/>
                    <a:pt x="1803" y="385"/>
                  </a:cubicBezTo>
                  <a:cubicBezTo>
                    <a:pt x="1813" y="393"/>
                    <a:pt x="1827" y="391"/>
                    <a:pt x="1835" y="381"/>
                  </a:cubicBezTo>
                  <a:cubicBezTo>
                    <a:pt x="1843" y="372"/>
                    <a:pt x="1842" y="357"/>
                    <a:pt x="1832" y="34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0" name="Freeform 9"/>
            <p:cNvSpPr>
              <a:spLocks noChangeArrowheads="1"/>
            </p:cNvSpPr>
            <p:nvPr/>
          </p:nvSpPr>
          <p:spPr bwMode="auto">
            <a:xfrm>
              <a:off x="1467348" y="795114"/>
              <a:ext cx="253049" cy="148038"/>
            </a:xfrm>
            <a:custGeom>
              <a:avLst/>
              <a:gdLst>
                <a:gd name="T0" fmla="*/ 1522 w 1530"/>
                <a:gd name="T1" fmla="*/ 264 h 895"/>
                <a:gd name="T2" fmla="*/ 1260 w 1530"/>
                <a:gd name="T3" fmla="*/ 70 h 895"/>
                <a:gd name="T4" fmla="*/ 1156 w 1530"/>
                <a:gd name="T5" fmla="*/ 18 h 895"/>
                <a:gd name="T6" fmla="*/ 1057 w 1530"/>
                <a:gd name="T7" fmla="*/ 0 h 895"/>
                <a:gd name="T8" fmla="*/ 957 w 1530"/>
                <a:gd name="T9" fmla="*/ 19 h 895"/>
                <a:gd name="T10" fmla="*/ 791 w 1530"/>
                <a:gd name="T11" fmla="*/ 119 h 895"/>
                <a:gd name="T12" fmla="*/ 577 w 1530"/>
                <a:gd name="T13" fmla="*/ 310 h 895"/>
                <a:gd name="T14" fmla="*/ 577 w 1530"/>
                <a:gd name="T15" fmla="*/ 310 h 895"/>
                <a:gd name="T16" fmla="*/ 6 w 1530"/>
                <a:gd name="T17" fmla="*/ 867 h 895"/>
                <a:gd name="T18" fmla="*/ 6 w 1530"/>
                <a:gd name="T19" fmla="*/ 888 h 895"/>
                <a:gd name="T20" fmla="*/ 27 w 1530"/>
                <a:gd name="T21" fmla="*/ 888 h 895"/>
                <a:gd name="T22" fmla="*/ 598 w 1530"/>
                <a:gd name="T23" fmla="*/ 331 h 895"/>
                <a:gd name="T24" fmla="*/ 598 w 1530"/>
                <a:gd name="T25" fmla="*/ 331 h 895"/>
                <a:gd name="T26" fmla="*/ 866 w 1530"/>
                <a:gd name="T27" fmla="*/ 101 h 895"/>
                <a:gd name="T28" fmla="*/ 968 w 1530"/>
                <a:gd name="T29" fmla="*/ 47 h 895"/>
                <a:gd name="T30" fmla="*/ 1057 w 1530"/>
                <a:gd name="T31" fmla="*/ 29 h 895"/>
                <a:gd name="T32" fmla="*/ 1146 w 1530"/>
                <a:gd name="T33" fmla="*/ 46 h 895"/>
                <a:gd name="T34" fmla="*/ 1300 w 1530"/>
                <a:gd name="T35" fmla="*/ 132 h 895"/>
                <a:gd name="T36" fmla="*/ 1504 w 1530"/>
                <a:gd name="T37" fmla="*/ 287 h 895"/>
                <a:gd name="T38" fmla="*/ 1524 w 1530"/>
                <a:gd name="T39" fmla="*/ 285 h 895"/>
                <a:gd name="T40" fmla="*/ 1522 w 1530"/>
                <a:gd name="T41" fmla="*/ 264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0" h="895">
                  <a:moveTo>
                    <a:pt x="1522" y="264"/>
                  </a:moveTo>
                  <a:cubicBezTo>
                    <a:pt x="1417" y="180"/>
                    <a:pt x="1334" y="115"/>
                    <a:pt x="1260" y="70"/>
                  </a:cubicBezTo>
                  <a:cubicBezTo>
                    <a:pt x="1224" y="47"/>
                    <a:pt x="1189" y="30"/>
                    <a:pt x="1156" y="18"/>
                  </a:cubicBezTo>
                  <a:cubicBezTo>
                    <a:pt x="1123" y="6"/>
                    <a:pt x="1090" y="0"/>
                    <a:pt x="1057" y="0"/>
                  </a:cubicBezTo>
                  <a:cubicBezTo>
                    <a:pt x="1024" y="0"/>
                    <a:pt x="991" y="6"/>
                    <a:pt x="957" y="19"/>
                  </a:cubicBezTo>
                  <a:cubicBezTo>
                    <a:pt x="906" y="38"/>
                    <a:pt x="852" y="71"/>
                    <a:pt x="791" y="119"/>
                  </a:cubicBezTo>
                  <a:cubicBezTo>
                    <a:pt x="729" y="167"/>
                    <a:pt x="660" y="231"/>
                    <a:pt x="577" y="310"/>
                  </a:cubicBezTo>
                  <a:lnTo>
                    <a:pt x="577" y="310"/>
                  </a:lnTo>
                  <a:lnTo>
                    <a:pt x="6" y="867"/>
                  </a:lnTo>
                  <a:cubicBezTo>
                    <a:pt x="0" y="873"/>
                    <a:pt x="0" y="882"/>
                    <a:pt x="6" y="888"/>
                  </a:cubicBezTo>
                  <a:cubicBezTo>
                    <a:pt x="12" y="894"/>
                    <a:pt x="21" y="894"/>
                    <a:pt x="27" y="888"/>
                  </a:cubicBezTo>
                  <a:lnTo>
                    <a:pt x="598" y="331"/>
                  </a:lnTo>
                  <a:lnTo>
                    <a:pt x="598" y="331"/>
                  </a:lnTo>
                  <a:cubicBezTo>
                    <a:pt x="707" y="226"/>
                    <a:pt x="793" y="150"/>
                    <a:pt x="866" y="101"/>
                  </a:cubicBezTo>
                  <a:cubicBezTo>
                    <a:pt x="903" y="76"/>
                    <a:pt x="936" y="58"/>
                    <a:pt x="968" y="47"/>
                  </a:cubicBezTo>
                  <a:cubicBezTo>
                    <a:pt x="999" y="35"/>
                    <a:pt x="1028" y="29"/>
                    <a:pt x="1057" y="29"/>
                  </a:cubicBezTo>
                  <a:cubicBezTo>
                    <a:pt x="1086" y="29"/>
                    <a:pt x="1115" y="35"/>
                    <a:pt x="1146" y="46"/>
                  </a:cubicBezTo>
                  <a:cubicBezTo>
                    <a:pt x="1192" y="62"/>
                    <a:pt x="1242" y="91"/>
                    <a:pt x="1300" y="132"/>
                  </a:cubicBezTo>
                  <a:cubicBezTo>
                    <a:pt x="1359" y="172"/>
                    <a:pt x="1425" y="225"/>
                    <a:pt x="1504" y="287"/>
                  </a:cubicBezTo>
                  <a:cubicBezTo>
                    <a:pt x="1510" y="292"/>
                    <a:pt x="1518" y="291"/>
                    <a:pt x="1524" y="285"/>
                  </a:cubicBezTo>
                  <a:cubicBezTo>
                    <a:pt x="1529" y="279"/>
                    <a:pt x="1528" y="269"/>
                    <a:pt x="1522" y="26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1" name="Freeform 10"/>
            <p:cNvSpPr>
              <a:spLocks noChangeArrowheads="1"/>
            </p:cNvSpPr>
            <p:nvPr/>
          </p:nvSpPr>
          <p:spPr bwMode="auto">
            <a:xfrm>
              <a:off x="1491413" y="835952"/>
              <a:ext cx="201273" cy="127619"/>
            </a:xfrm>
            <a:custGeom>
              <a:avLst/>
              <a:gdLst>
                <a:gd name="T0" fmla="*/ 1212 w 1217"/>
                <a:gd name="T1" fmla="*/ 184 h 773"/>
                <a:gd name="T2" fmla="*/ 1023 w 1217"/>
                <a:gd name="T3" fmla="*/ 48 h 773"/>
                <a:gd name="T4" fmla="*/ 884 w 1217"/>
                <a:gd name="T5" fmla="*/ 0 h 773"/>
                <a:gd name="T6" fmla="*/ 801 w 1217"/>
                <a:gd name="T7" fmla="*/ 20 h 773"/>
                <a:gd name="T8" fmla="*/ 653 w 1217"/>
                <a:gd name="T9" fmla="*/ 124 h 773"/>
                <a:gd name="T10" fmla="*/ 440 w 1217"/>
                <a:gd name="T11" fmla="*/ 324 h 773"/>
                <a:gd name="T12" fmla="*/ 440 w 1217"/>
                <a:gd name="T13" fmla="*/ 324 h 773"/>
                <a:gd name="T14" fmla="*/ 3 w 1217"/>
                <a:gd name="T15" fmla="*/ 760 h 773"/>
                <a:gd name="T16" fmla="*/ 3 w 1217"/>
                <a:gd name="T17" fmla="*/ 770 h 773"/>
                <a:gd name="T18" fmla="*/ 12 w 1217"/>
                <a:gd name="T19" fmla="*/ 770 h 773"/>
                <a:gd name="T20" fmla="*/ 449 w 1217"/>
                <a:gd name="T21" fmla="*/ 333 h 773"/>
                <a:gd name="T22" fmla="*/ 716 w 1217"/>
                <a:gd name="T23" fmla="*/ 90 h 773"/>
                <a:gd name="T24" fmla="*/ 806 w 1217"/>
                <a:gd name="T25" fmla="*/ 32 h 773"/>
                <a:gd name="T26" fmla="*/ 884 w 1217"/>
                <a:gd name="T27" fmla="*/ 13 h 773"/>
                <a:gd name="T28" fmla="*/ 1016 w 1217"/>
                <a:gd name="T29" fmla="*/ 60 h 773"/>
                <a:gd name="T30" fmla="*/ 1204 w 1217"/>
                <a:gd name="T31" fmla="*/ 195 h 773"/>
                <a:gd name="T32" fmla="*/ 1214 w 1217"/>
                <a:gd name="T33" fmla="*/ 194 h 773"/>
                <a:gd name="T34" fmla="*/ 1212 w 1217"/>
                <a:gd name="T35" fmla="*/ 184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17" h="773">
                  <a:moveTo>
                    <a:pt x="1212" y="184"/>
                  </a:moveTo>
                  <a:cubicBezTo>
                    <a:pt x="1135" y="125"/>
                    <a:pt x="1075" y="80"/>
                    <a:pt x="1023" y="48"/>
                  </a:cubicBezTo>
                  <a:cubicBezTo>
                    <a:pt x="971" y="17"/>
                    <a:pt x="928" y="0"/>
                    <a:pt x="884" y="0"/>
                  </a:cubicBezTo>
                  <a:cubicBezTo>
                    <a:pt x="856" y="0"/>
                    <a:pt x="829" y="7"/>
                    <a:pt x="801" y="20"/>
                  </a:cubicBezTo>
                  <a:cubicBezTo>
                    <a:pt x="758" y="39"/>
                    <a:pt x="711" y="74"/>
                    <a:pt x="653" y="124"/>
                  </a:cubicBezTo>
                  <a:cubicBezTo>
                    <a:pt x="595" y="175"/>
                    <a:pt x="527" y="241"/>
                    <a:pt x="440" y="324"/>
                  </a:cubicBezTo>
                  <a:lnTo>
                    <a:pt x="440" y="324"/>
                  </a:lnTo>
                  <a:lnTo>
                    <a:pt x="3" y="760"/>
                  </a:lnTo>
                  <a:cubicBezTo>
                    <a:pt x="0" y="763"/>
                    <a:pt x="0" y="767"/>
                    <a:pt x="3" y="770"/>
                  </a:cubicBezTo>
                  <a:cubicBezTo>
                    <a:pt x="5" y="772"/>
                    <a:pt x="10" y="772"/>
                    <a:pt x="12" y="770"/>
                  </a:cubicBezTo>
                  <a:lnTo>
                    <a:pt x="449" y="333"/>
                  </a:lnTo>
                  <a:cubicBezTo>
                    <a:pt x="565" y="223"/>
                    <a:pt x="648" y="142"/>
                    <a:pt x="716" y="90"/>
                  </a:cubicBezTo>
                  <a:cubicBezTo>
                    <a:pt x="749" y="63"/>
                    <a:pt x="778" y="44"/>
                    <a:pt x="806" y="32"/>
                  </a:cubicBezTo>
                  <a:cubicBezTo>
                    <a:pt x="833" y="19"/>
                    <a:pt x="859" y="13"/>
                    <a:pt x="884" y="13"/>
                  </a:cubicBezTo>
                  <a:cubicBezTo>
                    <a:pt x="924" y="13"/>
                    <a:pt x="966" y="29"/>
                    <a:pt x="1016" y="60"/>
                  </a:cubicBezTo>
                  <a:cubicBezTo>
                    <a:pt x="1067" y="90"/>
                    <a:pt x="1127" y="136"/>
                    <a:pt x="1204" y="195"/>
                  </a:cubicBezTo>
                  <a:cubicBezTo>
                    <a:pt x="1207" y="197"/>
                    <a:pt x="1211" y="197"/>
                    <a:pt x="1214" y="194"/>
                  </a:cubicBezTo>
                  <a:cubicBezTo>
                    <a:pt x="1216" y="191"/>
                    <a:pt x="1215" y="187"/>
                    <a:pt x="1212" y="18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" name="Freeform 11"/>
            <p:cNvSpPr>
              <a:spLocks noChangeArrowheads="1"/>
            </p:cNvSpPr>
            <p:nvPr/>
          </p:nvSpPr>
          <p:spPr bwMode="auto">
            <a:xfrm>
              <a:off x="1608093" y="858559"/>
              <a:ext cx="72925" cy="48130"/>
            </a:xfrm>
            <a:custGeom>
              <a:avLst/>
              <a:gdLst>
                <a:gd name="T0" fmla="*/ 49 w 442"/>
                <a:gd name="T1" fmla="*/ 200 h 293"/>
                <a:gd name="T2" fmla="*/ 0 w 442"/>
                <a:gd name="T3" fmla="*/ 156 h 293"/>
                <a:gd name="T4" fmla="*/ 45 w 442"/>
                <a:gd name="T5" fmla="*/ 107 h 293"/>
                <a:gd name="T6" fmla="*/ 392 w 442"/>
                <a:gd name="T7" fmla="*/ 91 h 293"/>
                <a:gd name="T8" fmla="*/ 441 w 442"/>
                <a:gd name="T9" fmla="*/ 137 h 293"/>
                <a:gd name="T10" fmla="*/ 396 w 442"/>
                <a:gd name="T11" fmla="*/ 185 h 293"/>
                <a:gd name="T12" fmla="*/ 49 w 442"/>
                <a:gd name="T13" fmla="*/ 20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2" h="293">
                  <a:moveTo>
                    <a:pt x="49" y="200"/>
                  </a:moveTo>
                  <a:lnTo>
                    <a:pt x="0" y="156"/>
                  </a:lnTo>
                  <a:lnTo>
                    <a:pt x="45" y="107"/>
                  </a:lnTo>
                  <a:cubicBezTo>
                    <a:pt x="136" y="7"/>
                    <a:pt x="292" y="0"/>
                    <a:pt x="392" y="91"/>
                  </a:cubicBezTo>
                  <a:lnTo>
                    <a:pt x="441" y="137"/>
                  </a:lnTo>
                  <a:lnTo>
                    <a:pt x="396" y="185"/>
                  </a:lnTo>
                  <a:cubicBezTo>
                    <a:pt x="304" y="285"/>
                    <a:pt x="149" y="292"/>
                    <a:pt x="49" y="20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667831" y="535244"/>
            <a:ext cx="509314" cy="511567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284CEC7B-57FC-4F9E-AA77-21D3AC7B4B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0231"/>
          <a:stretch/>
        </p:blipFill>
        <p:spPr>
          <a:xfrm>
            <a:off x="9882483" y="331921"/>
            <a:ext cx="2101537" cy="9041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cxnSp>
        <p:nvCxnSpPr>
          <p:cNvPr id="9" name="直线连接符 8"/>
          <p:cNvCxnSpPr/>
          <p:nvPr userDrawn="1"/>
        </p:nvCxnSpPr>
        <p:spPr>
          <a:xfrm>
            <a:off x="1314788" y="1244212"/>
            <a:ext cx="7295812" cy="0"/>
          </a:xfrm>
          <a:prstGeom prst="line">
            <a:avLst/>
          </a:prstGeom>
          <a:ln w="19050">
            <a:solidFill>
              <a:srgbClr val="5C3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线连接符 32"/>
          <p:cNvCxnSpPr/>
          <p:nvPr userDrawn="1"/>
        </p:nvCxnSpPr>
        <p:spPr>
          <a:xfrm>
            <a:off x="9705401" y="526774"/>
            <a:ext cx="0" cy="503679"/>
          </a:xfrm>
          <a:prstGeom prst="line">
            <a:avLst/>
          </a:prstGeom>
          <a:ln w="12700" cap="rnd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667831" y="535244"/>
            <a:ext cx="509314" cy="51156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D841371-3C71-4398-BE31-04FC894401C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0231"/>
          <a:stretch/>
        </p:blipFill>
        <p:spPr>
          <a:xfrm>
            <a:off x="9882483" y="331921"/>
            <a:ext cx="2101537" cy="90415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279A2F-85B5-794E-ADF1-0805CD3C44B7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2026/4/17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 hasCustomPrompt="1"/>
          </p:nvPr>
        </p:nvSpPr>
        <p:spPr>
          <a:xfrm>
            <a:off x="669882" y="581225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</a:p>
        </p:txBody>
      </p:sp>
      <p:sp>
        <p:nvSpPr>
          <p:cNvPr id="9" name="文本占位符 8"/>
          <p:cNvSpPr>
            <a:spLocks noGrp="1"/>
          </p:cNvSpPr>
          <p:nvPr>
            <p:ph type="body" idx="1" hasCustomPrompt="1"/>
          </p:nvPr>
        </p:nvSpPr>
        <p:spPr>
          <a:xfrm>
            <a:off x="669925" y="1508125"/>
            <a:ext cx="10852150" cy="4749165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307508" y="365126"/>
            <a:ext cx="8220812" cy="8790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590270"/>
            <a:ext cx="10515600" cy="4586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05394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8D4D1E41-7A09-AB4A-A4E1-09765ADA269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2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9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4.jpe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9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287494"/>
            <a:ext cx="9144000" cy="2002674"/>
          </a:xfrm>
        </p:spPr>
        <p:txBody>
          <a:bodyPr/>
          <a:lstStyle/>
          <a:p>
            <a:r>
              <a:rPr kumimoji="1" lang="zh-CN" altLang="en-US" dirty="0"/>
              <a:t>第四章 分布式系统</a:t>
            </a:r>
            <a:br>
              <a:rPr kumimoji="1" lang="en-US" altLang="zh-CN" dirty="0"/>
            </a:br>
            <a:r>
              <a:rPr kumimoji="1" lang="en-US" altLang="zh-CN" sz="3600" dirty="0"/>
              <a:t>——</a:t>
            </a:r>
            <a:r>
              <a:rPr kumimoji="1" lang="zh-CN" altLang="en-US" sz="3600" dirty="0"/>
              <a:t>容错</a:t>
            </a: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411207"/>
            <a:ext cx="9144000" cy="165797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3200" dirty="0"/>
              <a:t>授课教师：侯璐</a:t>
            </a:r>
            <a:endParaRPr kumimoji="1" lang="en-US" altLang="zh-CN" sz="3200" dirty="0"/>
          </a:p>
          <a:p>
            <a:pPr>
              <a:lnSpc>
                <a:spcPct val="150000"/>
              </a:lnSpc>
            </a:pPr>
            <a:r>
              <a:rPr kumimoji="1" lang="zh-CN" altLang="en-US" sz="3200"/>
              <a:t>信息与通信工程学院</a:t>
            </a:r>
            <a:endParaRPr kumimoji="1" lang="en-US" altLang="zh-CN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本章内容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307508" y="1409610"/>
            <a:ext cx="10515600" cy="4982116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kumimoji="1" lang="en-US" altLang="zh-CN" b="1" dirty="0">
                <a:solidFill>
                  <a:srgbClr val="B962FF"/>
                </a:solidFill>
                <a:latin typeface="Garamond" panose="02020404030301010803" pitchFamily="18" charset="0"/>
              </a:rPr>
              <a:t>4.1 </a:t>
            </a:r>
            <a:r>
              <a:rPr kumimoji="1" lang="zh-CN" altLang="en-US" b="1" dirty="0">
                <a:solidFill>
                  <a:srgbClr val="B962FF"/>
                </a:solidFill>
                <a:latin typeface="Garamond" panose="02020404030301010803" pitchFamily="18" charset="0"/>
              </a:rPr>
              <a:t>分布式系统简介</a:t>
            </a:r>
            <a:endParaRPr kumimoji="1" lang="en-US" altLang="zh-CN" b="1" dirty="0">
              <a:solidFill>
                <a:srgbClr val="B962FF"/>
              </a:solidFill>
              <a:latin typeface="Garamond" panose="02020404030301010803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latin typeface="Garamond" panose="02020404030301010803" pitchFamily="18" charset="0"/>
              </a:rPr>
              <a:t>4.2 </a:t>
            </a:r>
            <a:r>
              <a:rPr kumimoji="1" lang="zh-CN" altLang="en-US" dirty="0">
                <a:latin typeface="Garamond" panose="02020404030301010803" pitchFamily="18" charset="0"/>
              </a:rPr>
              <a:t>分布式容错</a:t>
            </a:r>
            <a:endParaRPr kumimoji="1" lang="en-US" altLang="zh-CN" dirty="0">
              <a:latin typeface="Garamond" panose="02020404030301010803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1</a:t>
            </a:fld>
            <a:endParaRPr kumimoji="1"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分布式系统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>
                <a:latin typeface="Garamond" panose="02020404030301010803" pitchFamily="18" charset="0"/>
                <a:ea typeface="微软雅黑" panose="020B0503020204020204" pitchFamily="34" charset="-122"/>
              </a:rPr>
              <a:t>2</a:t>
            </a:fld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82A8710-7F99-4E3D-94DA-2D61F075F906}"/>
              </a:ext>
            </a:extLst>
          </p:cNvPr>
          <p:cNvSpPr txBox="1"/>
          <p:nvPr/>
        </p:nvSpPr>
        <p:spPr>
          <a:xfrm>
            <a:off x="665018" y="1455375"/>
            <a:ext cx="1101898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概念：分布式系统是指位于联网计算机上的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(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硬件或软件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)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组件仅通过传递信息进行通信和协调行动的系统。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6E60CCE-85AB-4919-A789-5034F533B0E7}"/>
              </a:ext>
            </a:extLst>
          </p:cNvPr>
          <p:cNvSpPr txBox="1"/>
          <p:nvPr/>
        </p:nvSpPr>
        <p:spPr>
          <a:xfrm>
            <a:off x="665018" y="2281851"/>
            <a:ext cx="1101898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作用：效率 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or 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容错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9894C450-5554-4E27-A301-34E3DEFEF7EF}"/>
              </a:ext>
            </a:extLst>
          </p:cNvPr>
          <p:cNvCxnSpPr/>
          <p:nvPr/>
        </p:nvCxnSpPr>
        <p:spPr>
          <a:xfrm>
            <a:off x="6096000" y="2600696"/>
            <a:ext cx="0" cy="4120779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DED266CB-DE2E-455C-BF91-33A2AC4EF9A4}"/>
              </a:ext>
            </a:extLst>
          </p:cNvPr>
          <p:cNvSpPr txBox="1"/>
          <p:nvPr/>
        </p:nvSpPr>
        <p:spPr>
          <a:xfrm>
            <a:off x="630571" y="2780197"/>
            <a:ext cx="103746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效率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263F187-3788-40BC-8261-9899E8287A32}"/>
              </a:ext>
            </a:extLst>
          </p:cNvPr>
          <p:cNvSpPr txBox="1"/>
          <p:nvPr/>
        </p:nvSpPr>
        <p:spPr>
          <a:xfrm>
            <a:off x="6227992" y="2784483"/>
            <a:ext cx="103746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容错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EFFF07D0-60FD-4682-8DCC-E8ADEB23BB40}"/>
              </a:ext>
            </a:extLst>
          </p:cNvPr>
          <p:cNvSpPr/>
          <p:nvPr/>
        </p:nvSpPr>
        <p:spPr>
          <a:xfrm>
            <a:off x="665018" y="3239951"/>
            <a:ext cx="2992582" cy="1412391"/>
          </a:xfrm>
          <a:prstGeom prst="roundRect">
            <a:avLst/>
          </a:prstGeom>
          <a:noFill/>
          <a:ln>
            <a:solidFill>
              <a:srgbClr val="5B30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4820A8F8-71AC-4899-AED2-E9D064D48B5B}"/>
              </a:ext>
            </a:extLst>
          </p:cNvPr>
          <p:cNvSpPr/>
          <p:nvPr/>
        </p:nvSpPr>
        <p:spPr>
          <a:xfrm>
            <a:off x="665018" y="5126521"/>
            <a:ext cx="2992582" cy="1412391"/>
          </a:xfrm>
          <a:prstGeom prst="roundRect">
            <a:avLst/>
          </a:prstGeom>
          <a:noFill/>
          <a:ln>
            <a:solidFill>
              <a:srgbClr val="5B307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244BC7A1-25A7-47A9-A6E8-23A47B1D9D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8922" y="3698496"/>
            <a:ext cx="495300" cy="495300"/>
          </a:xfrm>
          <a:prstGeom prst="rect">
            <a:avLst/>
          </a:prstGeom>
        </p:spPr>
      </p:pic>
      <p:sp>
        <p:nvSpPr>
          <p:cNvPr id="16" name="星形: 五角 15">
            <a:extLst>
              <a:ext uri="{FF2B5EF4-FFF2-40B4-BE49-F238E27FC236}">
                <a16:creationId xmlns:a16="http://schemas.microsoft.com/office/drawing/2014/main" id="{7481839B-17F3-421E-8C2B-7DC37068ADEA}"/>
              </a:ext>
            </a:extLst>
          </p:cNvPr>
          <p:cNvSpPr/>
          <p:nvPr/>
        </p:nvSpPr>
        <p:spPr>
          <a:xfrm>
            <a:off x="988183" y="3460142"/>
            <a:ext cx="225631" cy="225631"/>
          </a:xfrm>
          <a:prstGeom prst="star5">
            <a:avLst/>
          </a:prstGeom>
          <a:solidFill>
            <a:srgbClr val="5B3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4" name="星形: 五角 13">
            <a:extLst>
              <a:ext uri="{FF2B5EF4-FFF2-40B4-BE49-F238E27FC236}">
                <a16:creationId xmlns:a16="http://schemas.microsoft.com/office/drawing/2014/main" id="{3BC03FA2-6DE3-4741-882D-DDEAB09E9507}"/>
              </a:ext>
            </a:extLst>
          </p:cNvPr>
          <p:cNvSpPr/>
          <p:nvPr/>
        </p:nvSpPr>
        <p:spPr>
          <a:xfrm>
            <a:off x="1602433" y="3460142"/>
            <a:ext cx="225631" cy="225631"/>
          </a:xfrm>
          <a:prstGeom prst="star5">
            <a:avLst/>
          </a:prstGeom>
          <a:solidFill>
            <a:srgbClr val="5B3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7" name="星形: 五角 16">
            <a:extLst>
              <a:ext uri="{FF2B5EF4-FFF2-40B4-BE49-F238E27FC236}">
                <a16:creationId xmlns:a16="http://schemas.microsoft.com/office/drawing/2014/main" id="{568606DD-F879-41D1-AB32-7A5CD0E7613C}"/>
              </a:ext>
            </a:extLst>
          </p:cNvPr>
          <p:cNvSpPr/>
          <p:nvPr/>
        </p:nvSpPr>
        <p:spPr>
          <a:xfrm>
            <a:off x="1909558" y="3460142"/>
            <a:ext cx="225631" cy="225631"/>
          </a:xfrm>
          <a:prstGeom prst="star5">
            <a:avLst/>
          </a:prstGeom>
          <a:solidFill>
            <a:srgbClr val="5B3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8" name="星形: 五角 17">
            <a:extLst>
              <a:ext uri="{FF2B5EF4-FFF2-40B4-BE49-F238E27FC236}">
                <a16:creationId xmlns:a16="http://schemas.microsoft.com/office/drawing/2014/main" id="{53228FD1-C29B-4C2E-9248-17B5DBB4FD4B}"/>
              </a:ext>
            </a:extLst>
          </p:cNvPr>
          <p:cNvSpPr/>
          <p:nvPr/>
        </p:nvSpPr>
        <p:spPr>
          <a:xfrm>
            <a:off x="2216683" y="3460142"/>
            <a:ext cx="225631" cy="225631"/>
          </a:xfrm>
          <a:prstGeom prst="star5">
            <a:avLst/>
          </a:prstGeom>
          <a:solidFill>
            <a:srgbClr val="5B3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9" name="星形: 五角 18">
            <a:extLst>
              <a:ext uri="{FF2B5EF4-FFF2-40B4-BE49-F238E27FC236}">
                <a16:creationId xmlns:a16="http://schemas.microsoft.com/office/drawing/2014/main" id="{4500ED72-09AD-442A-A28F-7F5973228134}"/>
              </a:ext>
            </a:extLst>
          </p:cNvPr>
          <p:cNvSpPr/>
          <p:nvPr/>
        </p:nvSpPr>
        <p:spPr>
          <a:xfrm>
            <a:off x="1295308" y="3460142"/>
            <a:ext cx="225631" cy="225631"/>
          </a:xfrm>
          <a:prstGeom prst="star5">
            <a:avLst/>
          </a:prstGeom>
          <a:solidFill>
            <a:srgbClr val="5B3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0" name="星形: 五角 19">
            <a:extLst>
              <a:ext uri="{FF2B5EF4-FFF2-40B4-BE49-F238E27FC236}">
                <a16:creationId xmlns:a16="http://schemas.microsoft.com/office/drawing/2014/main" id="{345ADD7C-9E53-4DD9-AA1F-AFBEE9E82BF8}"/>
              </a:ext>
            </a:extLst>
          </p:cNvPr>
          <p:cNvSpPr/>
          <p:nvPr/>
        </p:nvSpPr>
        <p:spPr>
          <a:xfrm>
            <a:off x="2523808" y="3460142"/>
            <a:ext cx="225631" cy="225631"/>
          </a:xfrm>
          <a:prstGeom prst="star5">
            <a:avLst/>
          </a:prstGeom>
          <a:solidFill>
            <a:srgbClr val="5B3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1" name="星形: 五角 20">
            <a:extLst>
              <a:ext uri="{FF2B5EF4-FFF2-40B4-BE49-F238E27FC236}">
                <a16:creationId xmlns:a16="http://schemas.microsoft.com/office/drawing/2014/main" id="{7747088A-B329-4FAD-A937-FE679FB97D6B}"/>
              </a:ext>
            </a:extLst>
          </p:cNvPr>
          <p:cNvSpPr/>
          <p:nvPr/>
        </p:nvSpPr>
        <p:spPr>
          <a:xfrm>
            <a:off x="2830933" y="3460142"/>
            <a:ext cx="225631" cy="225631"/>
          </a:xfrm>
          <a:prstGeom prst="star5">
            <a:avLst/>
          </a:prstGeom>
          <a:solidFill>
            <a:srgbClr val="5B3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2" name="星形: 五角 21">
            <a:extLst>
              <a:ext uri="{FF2B5EF4-FFF2-40B4-BE49-F238E27FC236}">
                <a16:creationId xmlns:a16="http://schemas.microsoft.com/office/drawing/2014/main" id="{E27AAAD0-60B7-4DB1-80E6-20D10B397CE2}"/>
              </a:ext>
            </a:extLst>
          </p:cNvPr>
          <p:cNvSpPr/>
          <p:nvPr/>
        </p:nvSpPr>
        <p:spPr>
          <a:xfrm>
            <a:off x="3138056" y="3460142"/>
            <a:ext cx="225631" cy="225631"/>
          </a:xfrm>
          <a:prstGeom prst="star5">
            <a:avLst/>
          </a:prstGeom>
          <a:solidFill>
            <a:srgbClr val="5B3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3" name="星形: 五角 22">
            <a:extLst>
              <a:ext uri="{FF2B5EF4-FFF2-40B4-BE49-F238E27FC236}">
                <a16:creationId xmlns:a16="http://schemas.microsoft.com/office/drawing/2014/main" id="{5757ACEB-C86F-4AFB-A394-DBB68D6A3450}"/>
              </a:ext>
            </a:extLst>
          </p:cNvPr>
          <p:cNvSpPr/>
          <p:nvPr/>
        </p:nvSpPr>
        <p:spPr>
          <a:xfrm>
            <a:off x="988183" y="3830722"/>
            <a:ext cx="225631" cy="225631"/>
          </a:xfrm>
          <a:prstGeom prst="star5">
            <a:avLst/>
          </a:prstGeom>
          <a:solidFill>
            <a:srgbClr val="5B3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4" name="星形: 五角 23">
            <a:extLst>
              <a:ext uri="{FF2B5EF4-FFF2-40B4-BE49-F238E27FC236}">
                <a16:creationId xmlns:a16="http://schemas.microsoft.com/office/drawing/2014/main" id="{0CE0E53D-CDCC-44CD-A436-65ECAB47AAD2}"/>
              </a:ext>
            </a:extLst>
          </p:cNvPr>
          <p:cNvSpPr/>
          <p:nvPr/>
        </p:nvSpPr>
        <p:spPr>
          <a:xfrm>
            <a:off x="1602433" y="3830722"/>
            <a:ext cx="225631" cy="225631"/>
          </a:xfrm>
          <a:prstGeom prst="star5">
            <a:avLst/>
          </a:prstGeom>
          <a:solidFill>
            <a:srgbClr val="5B3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5" name="星形: 五角 24">
            <a:extLst>
              <a:ext uri="{FF2B5EF4-FFF2-40B4-BE49-F238E27FC236}">
                <a16:creationId xmlns:a16="http://schemas.microsoft.com/office/drawing/2014/main" id="{6FA89BC9-35B0-4D9C-958C-C330C6DB90C3}"/>
              </a:ext>
            </a:extLst>
          </p:cNvPr>
          <p:cNvSpPr/>
          <p:nvPr/>
        </p:nvSpPr>
        <p:spPr>
          <a:xfrm>
            <a:off x="1909558" y="3830722"/>
            <a:ext cx="225631" cy="225631"/>
          </a:xfrm>
          <a:prstGeom prst="star5">
            <a:avLst/>
          </a:prstGeom>
          <a:solidFill>
            <a:srgbClr val="5B3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6" name="星形: 五角 25">
            <a:extLst>
              <a:ext uri="{FF2B5EF4-FFF2-40B4-BE49-F238E27FC236}">
                <a16:creationId xmlns:a16="http://schemas.microsoft.com/office/drawing/2014/main" id="{8D05FB2D-8500-4B19-842D-4E4607E83E29}"/>
              </a:ext>
            </a:extLst>
          </p:cNvPr>
          <p:cNvSpPr/>
          <p:nvPr/>
        </p:nvSpPr>
        <p:spPr>
          <a:xfrm>
            <a:off x="2216683" y="3830722"/>
            <a:ext cx="225631" cy="225631"/>
          </a:xfrm>
          <a:prstGeom prst="star5">
            <a:avLst/>
          </a:prstGeom>
          <a:solidFill>
            <a:srgbClr val="5B3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7" name="星形: 五角 26">
            <a:extLst>
              <a:ext uri="{FF2B5EF4-FFF2-40B4-BE49-F238E27FC236}">
                <a16:creationId xmlns:a16="http://schemas.microsoft.com/office/drawing/2014/main" id="{82D6C039-50C6-410D-ABFE-D011E9C3A3CB}"/>
              </a:ext>
            </a:extLst>
          </p:cNvPr>
          <p:cNvSpPr/>
          <p:nvPr/>
        </p:nvSpPr>
        <p:spPr>
          <a:xfrm>
            <a:off x="1295308" y="3830722"/>
            <a:ext cx="225631" cy="225631"/>
          </a:xfrm>
          <a:prstGeom prst="star5">
            <a:avLst/>
          </a:prstGeom>
          <a:solidFill>
            <a:srgbClr val="5B3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8" name="星形: 五角 27">
            <a:extLst>
              <a:ext uri="{FF2B5EF4-FFF2-40B4-BE49-F238E27FC236}">
                <a16:creationId xmlns:a16="http://schemas.microsoft.com/office/drawing/2014/main" id="{9FBC7ADD-BB87-432C-BB3F-1C1E8AC87479}"/>
              </a:ext>
            </a:extLst>
          </p:cNvPr>
          <p:cNvSpPr/>
          <p:nvPr/>
        </p:nvSpPr>
        <p:spPr>
          <a:xfrm>
            <a:off x="2523808" y="3830722"/>
            <a:ext cx="225631" cy="225631"/>
          </a:xfrm>
          <a:prstGeom prst="star5">
            <a:avLst/>
          </a:prstGeom>
          <a:solidFill>
            <a:srgbClr val="5B3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9" name="星形: 五角 28">
            <a:extLst>
              <a:ext uri="{FF2B5EF4-FFF2-40B4-BE49-F238E27FC236}">
                <a16:creationId xmlns:a16="http://schemas.microsoft.com/office/drawing/2014/main" id="{73DAF139-98DA-4B9C-8E4E-914DC2A16A72}"/>
              </a:ext>
            </a:extLst>
          </p:cNvPr>
          <p:cNvSpPr/>
          <p:nvPr/>
        </p:nvSpPr>
        <p:spPr>
          <a:xfrm>
            <a:off x="2830933" y="3830722"/>
            <a:ext cx="225631" cy="225631"/>
          </a:xfrm>
          <a:prstGeom prst="star5">
            <a:avLst/>
          </a:prstGeom>
          <a:solidFill>
            <a:srgbClr val="5B3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0" name="星形: 五角 29">
            <a:extLst>
              <a:ext uri="{FF2B5EF4-FFF2-40B4-BE49-F238E27FC236}">
                <a16:creationId xmlns:a16="http://schemas.microsoft.com/office/drawing/2014/main" id="{FA7DE875-8347-4C39-B29E-46B7193B3F7D}"/>
              </a:ext>
            </a:extLst>
          </p:cNvPr>
          <p:cNvSpPr/>
          <p:nvPr/>
        </p:nvSpPr>
        <p:spPr>
          <a:xfrm>
            <a:off x="3138056" y="3830722"/>
            <a:ext cx="225631" cy="225631"/>
          </a:xfrm>
          <a:prstGeom prst="star5">
            <a:avLst/>
          </a:prstGeom>
          <a:solidFill>
            <a:srgbClr val="5B3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1" name="星形: 五角 30">
            <a:extLst>
              <a:ext uri="{FF2B5EF4-FFF2-40B4-BE49-F238E27FC236}">
                <a16:creationId xmlns:a16="http://schemas.microsoft.com/office/drawing/2014/main" id="{93F0BFC5-F70B-450F-B9D4-F5EF8E5E4E28}"/>
              </a:ext>
            </a:extLst>
          </p:cNvPr>
          <p:cNvSpPr/>
          <p:nvPr/>
        </p:nvSpPr>
        <p:spPr>
          <a:xfrm>
            <a:off x="969777" y="4197529"/>
            <a:ext cx="225631" cy="225631"/>
          </a:xfrm>
          <a:prstGeom prst="star5">
            <a:avLst/>
          </a:prstGeom>
          <a:solidFill>
            <a:srgbClr val="5B3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2" name="星形: 五角 31">
            <a:extLst>
              <a:ext uri="{FF2B5EF4-FFF2-40B4-BE49-F238E27FC236}">
                <a16:creationId xmlns:a16="http://schemas.microsoft.com/office/drawing/2014/main" id="{91A62A7F-B00A-4400-8036-33ABB4FDF5FC}"/>
              </a:ext>
            </a:extLst>
          </p:cNvPr>
          <p:cNvSpPr/>
          <p:nvPr/>
        </p:nvSpPr>
        <p:spPr>
          <a:xfrm>
            <a:off x="1584027" y="4197529"/>
            <a:ext cx="225631" cy="225631"/>
          </a:xfrm>
          <a:prstGeom prst="star5">
            <a:avLst/>
          </a:prstGeom>
          <a:solidFill>
            <a:srgbClr val="5B3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3" name="星形: 五角 32">
            <a:extLst>
              <a:ext uri="{FF2B5EF4-FFF2-40B4-BE49-F238E27FC236}">
                <a16:creationId xmlns:a16="http://schemas.microsoft.com/office/drawing/2014/main" id="{1310E2F8-99A1-4DE5-9251-7CC58E518486}"/>
              </a:ext>
            </a:extLst>
          </p:cNvPr>
          <p:cNvSpPr/>
          <p:nvPr/>
        </p:nvSpPr>
        <p:spPr>
          <a:xfrm>
            <a:off x="1891152" y="4197529"/>
            <a:ext cx="225631" cy="225631"/>
          </a:xfrm>
          <a:prstGeom prst="star5">
            <a:avLst/>
          </a:prstGeom>
          <a:solidFill>
            <a:srgbClr val="5B3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4" name="星形: 五角 33">
            <a:extLst>
              <a:ext uri="{FF2B5EF4-FFF2-40B4-BE49-F238E27FC236}">
                <a16:creationId xmlns:a16="http://schemas.microsoft.com/office/drawing/2014/main" id="{6A150527-3602-4B68-AF44-17DFA7C1B7B3}"/>
              </a:ext>
            </a:extLst>
          </p:cNvPr>
          <p:cNvSpPr/>
          <p:nvPr/>
        </p:nvSpPr>
        <p:spPr>
          <a:xfrm>
            <a:off x="2198277" y="4197529"/>
            <a:ext cx="225631" cy="225631"/>
          </a:xfrm>
          <a:prstGeom prst="star5">
            <a:avLst/>
          </a:prstGeom>
          <a:solidFill>
            <a:srgbClr val="5B3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5" name="星形: 五角 34">
            <a:extLst>
              <a:ext uri="{FF2B5EF4-FFF2-40B4-BE49-F238E27FC236}">
                <a16:creationId xmlns:a16="http://schemas.microsoft.com/office/drawing/2014/main" id="{339838C2-EA25-47F9-B3A6-3D374DC6914D}"/>
              </a:ext>
            </a:extLst>
          </p:cNvPr>
          <p:cNvSpPr/>
          <p:nvPr/>
        </p:nvSpPr>
        <p:spPr>
          <a:xfrm>
            <a:off x="1276902" y="4197529"/>
            <a:ext cx="225631" cy="225631"/>
          </a:xfrm>
          <a:prstGeom prst="star5">
            <a:avLst/>
          </a:prstGeom>
          <a:solidFill>
            <a:srgbClr val="5B3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6" name="星形: 五角 35">
            <a:extLst>
              <a:ext uri="{FF2B5EF4-FFF2-40B4-BE49-F238E27FC236}">
                <a16:creationId xmlns:a16="http://schemas.microsoft.com/office/drawing/2014/main" id="{77A53932-B249-4377-9787-859AEF288074}"/>
              </a:ext>
            </a:extLst>
          </p:cNvPr>
          <p:cNvSpPr/>
          <p:nvPr/>
        </p:nvSpPr>
        <p:spPr>
          <a:xfrm>
            <a:off x="2505402" y="4197529"/>
            <a:ext cx="225631" cy="225631"/>
          </a:xfrm>
          <a:prstGeom prst="star5">
            <a:avLst/>
          </a:prstGeom>
          <a:solidFill>
            <a:srgbClr val="5B3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7" name="星形: 五角 36">
            <a:extLst>
              <a:ext uri="{FF2B5EF4-FFF2-40B4-BE49-F238E27FC236}">
                <a16:creationId xmlns:a16="http://schemas.microsoft.com/office/drawing/2014/main" id="{954D1206-3178-46B1-8BB7-76D2842215C3}"/>
              </a:ext>
            </a:extLst>
          </p:cNvPr>
          <p:cNvSpPr/>
          <p:nvPr/>
        </p:nvSpPr>
        <p:spPr>
          <a:xfrm>
            <a:off x="2812527" y="4197529"/>
            <a:ext cx="225631" cy="225631"/>
          </a:xfrm>
          <a:prstGeom prst="star5">
            <a:avLst/>
          </a:prstGeom>
          <a:solidFill>
            <a:srgbClr val="5B3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8" name="星形: 五角 37">
            <a:extLst>
              <a:ext uri="{FF2B5EF4-FFF2-40B4-BE49-F238E27FC236}">
                <a16:creationId xmlns:a16="http://schemas.microsoft.com/office/drawing/2014/main" id="{36AE1ED4-FAE0-4D89-99E8-CDF2B6A8E4BB}"/>
              </a:ext>
            </a:extLst>
          </p:cNvPr>
          <p:cNvSpPr/>
          <p:nvPr/>
        </p:nvSpPr>
        <p:spPr>
          <a:xfrm>
            <a:off x="3119650" y="4197529"/>
            <a:ext cx="225631" cy="225631"/>
          </a:xfrm>
          <a:prstGeom prst="star5">
            <a:avLst/>
          </a:prstGeom>
          <a:solidFill>
            <a:srgbClr val="5B3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" name="箭头: 燕尾形 2">
            <a:extLst>
              <a:ext uri="{FF2B5EF4-FFF2-40B4-BE49-F238E27FC236}">
                <a16:creationId xmlns:a16="http://schemas.microsoft.com/office/drawing/2014/main" id="{EFC28B50-63C7-4E41-9995-4CCB7289B990}"/>
              </a:ext>
            </a:extLst>
          </p:cNvPr>
          <p:cNvSpPr/>
          <p:nvPr/>
        </p:nvSpPr>
        <p:spPr>
          <a:xfrm>
            <a:off x="3859481" y="3762000"/>
            <a:ext cx="735528" cy="363074"/>
          </a:xfrm>
          <a:prstGeom prst="notchedRightArrow">
            <a:avLst/>
          </a:prstGeom>
          <a:solidFill>
            <a:srgbClr val="5B30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CA101902-9463-4454-83D7-78D2E40D2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5564" y="5261627"/>
            <a:ext cx="495300" cy="495300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D8436205-EABA-46C0-8CB5-CC4721A14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4811" y="5672415"/>
            <a:ext cx="495300" cy="495300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A5D917F7-E799-4B98-A695-E76627E05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5564" y="6108700"/>
            <a:ext cx="495300" cy="495300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13DD4886-224F-43BE-9361-088045F14F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6317" y="5666953"/>
            <a:ext cx="495300" cy="495300"/>
          </a:xfrm>
          <a:prstGeom prst="rect">
            <a:avLst/>
          </a:prstGeom>
        </p:spPr>
      </p:pic>
      <p:sp>
        <p:nvSpPr>
          <p:cNvPr id="43" name="星形: 五角 42">
            <a:extLst>
              <a:ext uri="{FF2B5EF4-FFF2-40B4-BE49-F238E27FC236}">
                <a16:creationId xmlns:a16="http://schemas.microsoft.com/office/drawing/2014/main" id="{1E2561B1-90EB-41C0-A291-68549560BB81}"/>
              </a:ext>
            </a:extLst>
          </p:cNvPr>
          <p:cNvSpPr/>
          <p:nvPr/>
        </p:nvSpPr>
        <p:spPr>
          <a:xfrm>
            <a:off x="988183" y="5363855"/>
            <a:ext cx="225631" cy="225631"/>
          </a:xfrm>
          <a:prstGeom prst="star5">
            <a:avLst/>
          </a:prstGeom>
          <a:solidFill>
            <a:srgbClr val="A40A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4" name="星形: 五角 43">
            <a:extLst>
              <a:ext uri="{FF2B5EF4-FFF2-40B4-BE49-F238E27FC236}">
                <a16:creationId xmlns:a16="http://schemas.microsoft.com/office/drawing/2014/main" id="{26FDC6EC-31A7-4E37-9BC5-7ABC4C526F70}"/>
              </a:ext>
            </a:extLst>
          </p:cNvPr>
          <p:cNvSpPr/>
          <p:nvPr/>
        </p:nvSpPr>
        <p:spPr>
          <a:xfrm>
            <a:off x="1602433" y="5363855"/>
            <a:ext cx="225631" cy="225631"/>
          </a:xfrm>
          <a:prstGeom prst="star5">
            <a:avLst/>
          </a:prstGeom>
          <a:solidFill>
            <a:srgbClr val="A40A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5" name="星形: 五角 44">
            <a:extLst>
              <a:ext uri="{FF2B5EF4-FFF2-40B4-BE49-F238E27FC236}">
                <a16:creationId xmlns:a16="http://schemas.microsoft.com/office/drawing/2014/main" id="{1E3C0D6A-6D3D-429E-9AB8-D911590459C8}"/>
              </a:ext>
            </a:extLst>
          </p:cNvPr>
          <p:cNvSpPr/>
          <p:nvPr/>
        </p:nvSpPr>
        <p:spPr>
          <a:xfrm>
            <a:off x="1909558" y="5363855"/>
            <a:ext cx="225631" cy="225631"/>
          </a:xfrm>
          <a:prstGeom prst="star5">
            <a:avLst/>
          </a:prstGeom>
          <a:solidFill>
            <a:srgbClr val="A40A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6" name="星形: 五角 45">
            <a:extLst>
              <a:ext uri="{FF2B5EF4-FFF2-40B4-BE49-F238E27FC236}">
                <a16:creationId xmlns:a16="http://schemas.microsoft.com/office/drawing/2014/main" id="{00AC4185-FC74-4AEF-9D24-E7254745BEDB}"/>
              </a:ext>
            </a:extLst>
          </p:cNvPr>
          <p:cNvSpPr/>
          <p:nvPr/>
        </p:nvSpPr>
        <p:spPr>
          <a:xfrm>
            <a:off x="2216683" y="5363855"/>
            <a:ext cx="225631" cy="225631"/>
          </a:xfrm>
          <a:prstGeom prst="star5">
            <a:avLst/>
          </a:prstGeom>
          <a:solidFill>
            <a:srgbClr val="A40A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7" name="星形: 五角 46">
            <a:extLst>
              <a:ext uri="{FF2B5EF4-FFF2-40B4-BE49-F238E27FC236}">
                <a16:creationId xmlns:a16="http://schemas.microsoft.com/office/drawing/2014/main" id="{A2FB8DD5-6454-4771-82AA-26C751D6F4E7}"/>
              </a:ext>
            </a:extLst>
          </p:cNvPr>
          <p:cNvSpPr/>
          <p:nvPr/>
        </p:nvSpPr>
        <p:spPr>
          <a:xfrm>
            <a:off x="1295308" y="5363855"/>
            <a:ext cx="225631" cy="225631"/>
          </a:xfrm>
          <a:prstGeom prst="star5">
            <a:avLst/>
          </a:prstGeom>
          <a:solidFill>
            <a:srgbClr val="A40A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8" name="星形: 五角 47">
            <a:extLst>
              <a:ext uri="{FF2B5EF4-FFF2-40B4-BE49-F238E27FC236}">
                <a16:creationId xmlns:a16="http://schemas.microsoft.com/office/drawing/2014/main" id="{0ABC9C32-259F-4E45-B5DD-64A99E77549D}"/>
              </a:ext>
            </a:extLst>
          </p:cNvPr>
          <p:cNvSpPr/>
          <p:nvPr/>
        </p:nvSpPr>
        <p:spPr>
          <a:xfrm>
            <a:off x="2523808" y="5363855"/>
            <a:ext cx="225631" cy="225631"/>
          </a:xfrm>
          <a:prstGeom prst="star5">
            <a:avLst/>
          </a:prstGeom>
          <a:solidFill>
            <a:srgbClr val="A40A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9" name="星形: 五角 48">
            <a:extLst>
              <a:ext uri="{FF2B5EF4-FFF2-40B4-BE49-F238E27FC236}">
                <a16:creationId xmlns:a16="http://schemas.microsoft.com/office/drawing/2014/main" id="{2A1CD244-6AFE-4B98-9535-70AADFCD5F43}"/>
              </a:ext>
            </a:extLst>
          </p:cNvPr>
          <p:cNvSpPr/>
          <p:nvPr/>
        </p:nvSpPr>
        <p:spPr>
          <a:xfrm>
            <a:off x="2830933" y="5363855"/>
            <a:ext cx="225631" cy="225631"/>
          </a:xfrm>
          <a:prstGeom prst="star5">
            <a:avLst/>
          </a:prstGeom>
          <a:solidFill>
            <a:srgbClr val="A40A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0" name="星形: 五角 49">
            <a:extLst>
              <a:ext uri="{FF2B5EF4-FFF2-40B4-BE49-F238E27FC236}">
                <a16:creationId xmlns:a16="http://schemas.microsoft.com/office/drawing/2014/main" id="{0B0F1DBD-E479-40D8-8D51-1EAB16D351C3}"/>
              </a:ext>
            </a:extLst>
          </p:cNvPr>
          <p:cNvSpPr/>
          <p:nvPr/>
        </p:nvSpPr>
        <p:spPr>
          <a:xfrm>
            <a:off x="3138056" y="5363855"/>
            <a:ext cx="225631" cy="225631"/>
          </a:xfrm>
          <a:prstGeom prst="star5">
            <a:avLst/>
          </a:prstGeom>
          <a:solidFill>
            <a:srgbClr val="A40A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1" name="星形: 五角 50">
            <a:extLst>
              <a:ext uri="{FF2B5EF4-FFF2-40B4-BE49-F238E27FC236}">
                <a16:creationId xmlns:a16="http://schemas.microsoft.com/office/drawing/2014/main" id="{1930CA66-698B-4E93-B01C-3F5B44473013}"/>
              </a:ext>
            </a:extLst>
          </p:cNvPr>
          <p:cNvSpPr/>
          <p:nvPr/>
        </p:nvSpPr>
        <p:spPr>
          <a:xfrm>
            <a:off x="988183" y="5734435"/>
            <a:ext cx="225631" cy="225631"/>
          </a:xfrm>
          <a:prstGeom prst="star5">
            <a:avLst/>
          </a:prstGeom>
          <a:solidFill>
            <a:srgbClr val="5B3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2" name="星形: 五角 51">
            <a:extLst>
              <a:ext uri="{FF2B5EF4-FFF2-40B4-BE49-F238E27FC236}">
                <a16:creationId xmlns:a16="http://schemas.microsoft.com/office/drawing/2014/main" id="{A9DBD3A5-A84E-443F-9735-BD97FC07EAF5}"/>
              </a:ext>
            </a:extLst>
          </p:cNvPr>
          <p:cNvSpPr/>
          <p:nvPr/>
        </p:nvSpPr>
        <p:spPr>
          <a:xfrm>
            <a:off x="1602433" y="5734435"/>
            <a:ext cx="225631" cy="225631"/>
          </a:xfrm>
          <a:prstGeom prst="star5">
            <a:avLst/>
          </a:prstGeom>
          <a:solidFill>
            <a:srgbClr val="5B3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3" name="星形: 五角 52">
            <a:extLst>
              <a:ext uri="{FF2B5EF4-FFF2-40B4-BE49-F238E27FC236}">
                <a16:creationId xmlns:a16="http://schemas.microsoft.com/office/drawing/2014/main" id="{BC88FA64-7270-48D5-8E47-2C1CA5B72148}"/>
              </a:ext>
            </a:extLst>
          </p:cNvPr>
          <p:cNvSpPr/>
          <p:nvPr/>
        </p:nvSpPr>
        <p:spPr>
          <a:xfrm>
            <a:off x="1909558" y="5734435"/>
            <a:ext cx="225631" cy="225631"/>
          </a:xfrm>
          <a:prstGeom prst="star5">
            <a:avLst/>
          </a:prstGeom>
          <a:solidFill>
            <a:srgbClr val="5B3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4" name="星形: 五角 53">
            <a:extLst>
              <a:ext uri="{FF2B5EF4-FFF2-40B4-BE49-F238E27FC236}">
                <a16:creationId xmlns:a16="http://schemas.microsoft.com/office/drawing/2014/main" id="{8D004D15-D77F-49FB-85B6-82B99F5612A8}"/>
              </a:ext>
            </a:extLst>
          </p:cNvPr>
          <p:cNvSpPr/>
          <p:nvPr/>
        </p:nvSpPr>
        <p:spPr>
          <a:xfrm>
            <a:off x="2216683" y="5734435"/>
            <a:ext cx="225631" cy="225631"/>
          </a:xfrm>
          <a:prstGeom prst="star5">
            <a:avLst/>
          </a:prstGeom>
          <a:solidFill>
            <a:srgbClr val="5B3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5" name="星形: 五角 54">
            <a:extLst>
              <a:ext uri="{FF2B5EF4-FFF2-40B4-BE49-F238E27FC236}">
                <a16:creationId xmlns:a16="http://schemas.microsoft.com/office/drawing/2014/main" id="{B662A41A-8792-4AB2-AD83-C93E8A12663C}"/>
              </a:ext>
            </a:extLst>
          </p:cNvPr>
          <p:cNvSpPr/>
          <p:nvPr/>
        </p:nvSpPr>
        <p:spPr>
          <a:xfrm>
            <a:off x="1295308" y="5734435"/>
            <a:ext cx="225631" cy="225631"/>
          </a:xfrm>
          <a:prstGeom prst="star5">
            <a:avLst/>
          </a:prstGeom>
          <a:solidFill>
            <a:srgbClr val="5B3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6" name="星形: 五角 55">
            <a:extLst>
              <a:ext uri="{FF2B5EF4-FFF2-40B4-BE49-F238E27FC236}">
                <a16:creationId xmlns:a16="http://schemas.microsoft.com/office/drawing/2014/main" id="{7B7637CF-1F71-4E96-BEC7-EEBAD95698A3}"/>
              </a:ext>
            </a:extLst>
          </p:cNvPr>
          <p:cNvSpPr/>
          <p:nvPr/>
        </p:nvSpPr>
        <p:spPr>
          <a:xfrm>
            <a:off x="2523808" y="5734435"/>
            <a:ext cx="225631" cy="225631"/>
          </a:xfrm>
          <a:prstGeom prst="star5">
            <a:avLst/>
          </a:prstGeom>
          <a:solidFill>
            <a:srgbClr val="5B3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7" name="星形: 五角 56">
            <a:extLst>
              <a:ext uri="{FF2B5EF4-FFF2-40B4-BE49-F238E27FC236}">
                <a16:creationId xmlns:a16="http://schemas.microsoft.com/office/drawing/2014/main" id="{9087F00F-545C-4AF9-8282-5DA83E924ED6}"/>
              </a:ext>
            </a:extLst>
          </p:cNvPr>
          <p:cNvSpPr/>
          <p:nvPr/>
        </p:nvSpPr>
        <p:spPr>
          <a:xfrm>
            <a:off x="2830933" y="5734435"/>
            <a:ext cx="225631" cy="225631"/>
          </a:xfrm>
          <a:prstGeom prst="star5">
            <a:avLst/>
          </a:prstGeom>
          <a:solidFill>
            <a:srgbClr val="5B3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8" name="星形: 五角 57">
            <a:extLst>
              <a:ext uri="{FF2B5EF4-FFF2-40B4-BE49-F238E27FC236}">
                <a16:creationId xmlns:a16="http://schemas.microsoft.com/office/drawing/2014/main" id="{E0BA8B29-9D99-4F7E-8666-AE0350A6DB0E}"/>
              </a:ext>
            </a:extLst>
          </p:cNvPr>
          <p:cNvSpPr/>
          <p:nvPr/>
        </p:nvSpPr>
        <p:spPr>
          <a:xfrm>
            <a:off x="3138056" y="5734435"/>
            <a:ext cx="225631" cy="225631"/>
          </a:xfrm>
          <a:prstGeom prst="star5">
            <a:avLst/>
          </a:prstGeom>
          <a:solidFill>
            <a:srgbClr val="5B3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9" name="星形: 五角 58">
            <a:extLst>
              <a:ext uri="{FF2B5EF4-FFF2-40B4-BE49-F238E27FC236}">
                <a16:creationId xmlns:a16="http://schemas.microsoft.com/office/drawing/2014/main" id="{751F6C40-E854-4732-B104-9663CF291055}"/>
              </a:ext>
            </a:extLst>
          </p:cNvPr>
          <p:cNvSpPr/>
          <p:nvPr/>
        </p:nvSpPr>
        <p:spPr>
          <a:xfrm>
            <a:off x="969777" y="6101242"/>
            <a:ext cx="225631" cy="225631"/>
          </a:xfrm>
          <a:prstGeom prst="star5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60" name="星形: 五角 59">
            <a:extLst>
              <a:ext uri="{FF2B5EF4-FFF2-40B4-BE49-F238E27FC236}">
                <a16:creationId xmlns:a16="http://schemas.microsoft.com/office/drawing/2014/main" id="{D5D7EC0B-E3E2-426E-8B8D-3205E7AE2630}"/>
              </a:ext>
            </a:extLst>
          </p:cNvPr>
          <p:cNvSpPr/>
          <p:nvPr/>
        </p:nvSpPr>
        <p:spPr>
          <a:xfrm>
            <a:off x="1584027" y="6101242"/>
            <a:ext cx="225631" cy="225631"/>
          </a:xfrm>
          <a:prstGeom prst="star5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61" name="星形: 五角 60">
            <a:extLst>
              <a:ext uri="{FF2B5EF4-FFF2-40B4-BE49-F238E27FC236}">
                <a16:creationId xmlns:a16="http://schemas.microsoft.com/office/drawing/2014/main" id="{97EED573-BDDF-4249-A7BA-06A79641C647}"/>
              </a:ext>
            </a:extLst>
          </p:cNvPr>
          <p:cNvSpPr/>
          <p:nvPr/>
        </p:nvSpPr>
        <p:spPr>
          <a:xfrm>
            <a:off x="1891152" y="6101242"/>
            <a:ext cx="225631" cy="225631"/>
          </a:xfrm>
          <a:prstGeom prst="star5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62" name="星形: 五角 61">
            <a:extLst>
              <a:ext uri="{FF2B5EF4-FFF2-40B4-BE49-F238E27FC236}">
                <a16:creationId xmlns:a16="http://schemas.microsoft.com/office/drawing/2014/main" id="{AE99B34C-9122-4024-B9FF-C259F5873C89}"/>
              </a:ext>
            </a:extLst>
          </p:cNvPr>
          <p:cNvSpPr/>
          <p:nvPr/>
        </p:nvSpPr>
        <p:spPr>
          <a:xfrm>
            <a:off x="2198277" y="6101242"/>
            <a:ext cx="225631" cy="225631"/>
          </a:xfrm>
          <a:prstGeom prst="star5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63" name="星形: 五角 62">
            <a:extLst>
              <a:ext uri="{FF2B5EF4-FFF2-40B4-BE49-F238E27FC236}">
                <a16:creationId xmlns:a16="http://schemas.microsoft.com/office/drawing/2014/main" id="{2A797B02-E5C4-4B69-9FF6-94747C36CA52}"/>
              </a:ext>
            </a:extLst>
          </p:cNvPr>
          <p:cNvSpPr/>
          <p:nvPr/>
        </p:nvSpPr>
        <p:spPr>
          <a:xfrm>
            <a:off x="1276902" y="6101242"/>
            <a:ext cx="225631" cy="225631"/>
          </a:xfrm>
          <a:prstGeom prst="star5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64" name="星形: 五角 63">
            <a:extLst>
              <a:ext uri="{FF2B5EF4-FFF2-40B4-BE49-F238E27FC236}">
                <a16:creationId xmlns:a16="http://schemas.microsoft.com/office/drawing/2014/main" id="{C79E22DD-9C46-4EA5-A1C6-81DB88BFD4ED}"/>
              </a:ext>
            </a:extLst>
          </p:cNvPr>
          <p:cNvSpPr/>
          <p:nvPr/>
        </p:nvSpPr>
        <p:spPr>
          <a:xfrm>
            <a:off x="2505402" y="6101242"/>
            <a:ext cx="225631" cy="225631"/>
          </a:xfrm>
          <a:prstGeom prst="star5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65" name="星形: 五角 64">
            <a:extLst>
              <a:ext uri="{FF2B5EF4-FFF2-40B4-BE49-F238E27FC236}">
                <a16:creationId xmlns:a16="http://schemas.microsoft.com/office/drawing/2014/main" id="{D95F521A-0599-434A-BCC8-42F8ED502EBF}"/>
              </a:ext>
            </a:extLst>
          </p:cNvPr>
          <p:cNvSpPr/>
          <p:nvPr/>
        </p:nvSpPr>
        <p:spPr>
          <a:xfrm>
            <a:off x="2812527" y="6101242"/>
            <a:ext cx="225631" cy="225631"/>
          </a:xfrm>
          <a:prstGeom prst="star5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66" name="星形: 五角 65">
            <a:extLst>
              <a:ext uri="{FF2B5EF4-FFF2-40B4-BE49-F238E27FC236}">
                <a16:creationId xmlns:a16="http://schemas.microsoft.com/office/drawing/2014/main" id="{416656FE-D640-4CCB-9C3C-F79CD74979B6}"/>
              </a:ext>
            </a:extLst>
          </p:cNvPr>
          <p:cNvSpPr/>
          <p:nvPr/>
        </p:nvSpPr>
        <p:spPr>
          <a:xfrm>
            <a:off x="3119650" y="6101242"/>
            <a:ext cx="225631" cy="225631"/>
          </a:xfrm>
          <a:prstGeom prst="star5">
            <a:avLst/>
          </a:prstGeom>
          <a:solidFill>
            <a:srgbClr val="000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67" name="箭头: 燕尾形 66">
            <a:extLst>
              <a:ext uri="{FF2B5EF4-FFF2-40B4-BE49-F238E27FC236}">
                <a16:creationId xmlns:a16="http://schemas.microsoft.com/office/drawing/2014/main" id="{C342315D-1B3E-4F25-8493-B0D13CC5A805}"/>
              </a:ext>
            </a:extLst>
          </p:cNvPr>
          <p:cNvSpPr/>
          <p:nvPr/>
        </p:nvSpPr>
        <p:spPr>
          <a:xfrm>
            <a:off x="3739367" y="5672415"/>
            <a:ext cx="495300" cy="363074"/>
          </a:xfrm>
          <a:prstGeom prst="notchedRightArrow">
            <a:avLst/>
          </a:prstGeom>
          <a:solidFill>
            <a:srgbClr val="5B30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68" name="箭头: 燕尾形 67">
            <a:extLst>
              <a:ext uri="{FF2B5EF4-FFF2-40B4-BE49-F238E27FC236}">
                <a16:creationId xmlns:a16="http://schemas.microsoft.com/office/drawing/2014/main" id="{A5E64E2A-9CBE-4B57-A598-4DFE3FBC573C}"/>
              </a:ext>
            </a:extLst>
          </p:cNvPr>
          <p:cNvSpPr/>
          <p:nvPr/>
        </p:nvSpPr>
        <p:spPr>
          <a:xfrm>
            <a:off x="3739092" y="6044689"/>
            <a:ext cx="495300" cy="363074"/>
          </a:xfrm>
          <a:prstGeom prst="notchedRightArrow">
            <a:avLst/>
          </a:prstGeom>
          <a:solidFill>
            <a:srgbClr val="00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69" name="箭头: 燕尾形 68">
            <a:extLst>
              <a:ext uri="{FF2B5EF4-FFF2-40B4-BE49-F238E27FC236}">
                <a16:creationId xmlns:a16="http://schemas.microsoft.com/office/drawing/2014/main" id="{FB636FB3-ACA1-4B3D-B2F3-C294EE45F8D4}"/>
              </a:ext>
            </a:extLst>
          </p:cNvPr>
          <p:cNvSpPr/>
          <p:nvPr/>
        </p:nvSpPr>
        <p:spPr>
          <a:xfrm>
            <a:off x="3733111" y="5322522"/>
            <a:ext cx="495300" cy="363074"/>
          </a:xfrm>
          <a:prstGeom prst="notchedRightArrow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pic>
        <p:nvPicPr>
          <p:cNvPr id="70" name="图片 69">
            <a:extLst>
              <a:ext uri="{FF2B5EF4-FFF2-40B4-BE49-F238E27FC236}">
                <a16:creationId xmlns:a16="http://schemas.microsoft.com/office/drawing/2014/main" id="{6DAEE6F6-23F3-45B9-9354-34BC7BE64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92" y="3055964"/>
            <a:ext cx="495300" cy="495300"/>
          </a:xfrm>
          <a:prstGeom prst="rect">
            <a:avLst/>
          </a:prstGeom>
        </p:spPr>
      </p:pic>
      <p:sp>
        <p:nvSpPr>
          <p:cNvPr id="71" name="文本框 70">
            <a:extLst>
              <a:ext uri="{FF2B5EF4-FFF2-40B4-BE49-F238E27FC236}">
                <a16:creationId xmlns:a16="http://schemas.microsoft.com/office/drawing/2014/main" id="{141B559B-01AC-4641-A68D-6BC29E38D557}"/>
              </a:ext>
            </a:extLst>
          </p:cNvPr>
          <p:cNvSpPr txBox="1"/>
          <p:nvPr/>
        </p:nvSpPr>
        <p:spPr>
          <a:xfrm>
            <a:off x="3645971" y="473261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并行计算</a:t>
            </a:r>
          </a:p>
        </p:txBody>
      </p:sp>
      <p:sp>
        <p:nvSpPr>
          <p:cNvPr id="72" name="星形: 五角 71">
            <a:extLst>
              <a:ext uri="{FF2B5EF4-FFF2-40B4-BE49-F238E27FC236}">
                <a16:creationId xmlns:a16="http://schemas.microsoft.com/office/drawing/2014/main" id="{ABA8F6D1-9AEA-4726-B9AD-C22F5DC2D2EB}"/>
              </a:ext>
            </a:extLst>
          </p:cNvPr>
          <p:cNvSpPr/>
          <p:nvPr/>
        </p:nvSpPr>
        <p:spPr>
          <a:xfrm>
            <a:off x="7236526" y="3200891"/>
            <a:ext cx="225631" cy="225631"/>
          </a:xfrm>
          <a:prstGeom prst="star5">
            <a:avLst/>
          </a:prstGeom>
          <a:solidFill>
            <a:srgbClr val="5B3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3" name="箭头: 燕尾形 72">
            <a:extLst>
              <a:ext uri="{FF2B5EF4-FFF2-40B4-BE49-F238E27FC236}">
                <a16:creationId xmlns:a16="http://schemas.microsoft.com/office/drawing/2014/main" id="{C78D3881-CA93-4E9F-A998-F4250E9CBB51}"/>
              </a:ext>
            </a:extLst>
          </p:cNvPr>
          <p:cNvSpPr/>
          <p:nvPr/>
        </p:nvSpPr>
        <p:spPr>
          <a:xfrm>
            <a:off x="8525768" y="3136397"/>
            <a:ext cx="735528" cy="363074"/>
          </a:xfrm>
          <a:prstGeom prst="notchedRightArrow">
            <a:avLst/>
          </a:prstGeom>
          <a:solidFill>
            <a:srgbClr val="5B30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4" name="星形: 五角 73">
            <a:extLst>
              <a:ext uri="{FF2B5EF4-FFF2-40B4-BE49-F238E27FC236}">
                <a16:creationId xmlns:a16="http://schemas.microsoft.com/office/drawing/2014/main" id="{F016FF40-B830-4906-B967-C573C7D55EB1}"/>
              </a:ext>
            </a:extLst>
          </p:cNvPr>
          <p:cNvSpPr/>
          <p:nvPr/>
        </p:nvSpPr>
        <p:spPr>
          <a:xfrm>
            <a:off x="7237395" y="5520256"/>
            <a:ext cx="225631" cy="225631"/>
          </a:xfrm>
          <a:prstGeom prst="star5">
            <a:avLst/>
          </a:prstGeom>
          <a:solidFill>
            <a:srgbClr val="5B307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pic>
        <p:nvPicPr>
          <p:cNvPr id="75" name="图片 74">
            <a:extLst>
              <a:ext uri="{FF2B5EF4-FFF2-40B4-BE49-F238E27FC236}">
                <a16:creationId xmlns:a16="http://schemas.microsoft.com/office/drawing/2014/main" id="{5A8F292D-72D8-4807-A951-34334D9D8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1392" y="4542851"/>
            <a:ext cx="495300" cy="4953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8AB866B-7397-443F-90B6-39C9802128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92" y="6226226"/>
            <a:ext cx="495300" cy="495300"/>
          </a:xfrm>
          <a:prstGeom prst="rect">
            <a:avLst/>
          </a:prstGeom>
        </p:spPr>
      </p:pic>
      <p:pic>
        <p:nvPicPr>
          <p:cNvPr id="77" name="图片 76">
            <a:extLst>
              <a:ext uri="{FF2B5EF4-FFF2-40B4-BE49-F238E27FC236}">
                <a16:creationId xmlns:a16="http://schemas.microsoft.com/office/drawing/2014/main" id="{D3B06058-54C7-4226-A928-5C9516A66C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1392" y="5385422"/>
            <a:ext cx="495300" cy="495300"/>
          </a:xfrm>
          <a:prstGeom prst="rect">
            <a:avLst/>
          </a:prstGeom>
        </p:spPr>
      </p:pic>
      <p:sp>
        <p:nvSpPr>
          <p:cNvPr id="4" name="箭头: 燕尾形 72">
            <a:extLst>
              <a:ext uri="{FF2B5EF4-FFF2-40B4-BE49-F238E27FC236}">
                <a16:creationId xmlns:a16="http://schemas.microsoft.com/office/drawing/2014/main" id="{F58903AF-57BE-4B80-51CD-6EB667BBCB3F}"/>
              </a:ext>
            </a:extLst>
          </p:cNvPr>
          <p:cNvSpPr/>
          <p:nvPr/>
        </p:nvSpPr>
        <p:spPr>
          <a:xfrm>
            <a:off x="8525768" y="6346166"/>
            <a:ext cx="735528" cy="363074"/>
          </a:xfrm>
          <a:prstGeom prst="notchedRightArrow">
            <a:avLst/>
          </a:prstGeom>
          <a:solidFill>
            <a:srgbClr val="5B30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6" name="箭头: 燕尾形 72">
            <a:extLst>
              <a:ext uri="{FF2B5EF4-FFF2-40B4-BE49-F238E27FC236}">
                <a16:creationId xmlns:a16="http://schemas.microsoft.com/office/drawing/2014/main" id="{B476CCBC-2F38-B743-D690-2C24BB89E80B}"/>
              </a:ext>
            </a:extLst>
          </p:cNvPr>
          <p:cNvSpPr/>
          <p:nvPr/>
        </p:nvSpPr>
        <p:spPr>
          <a:xfrm>
            <a:off x="8525768" y="5451534"/>
            <a:ext cx="735528" cy="363074"/>
          </a:xfrm>
          <a:prstGeom prst="notchedRightArrow">
            <a:avLst/>
          </a:prstGeom>
          <a:solidFill>
            <a:srgbClr val="00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8" name="箭头: 燕尾形 72">
            <a:extLst>
              <a:ext uri="{FF2B5EF4-FFF2-40B4-BE49-F238E27FC236}">
                <a16:creationId xmlns:a16="http://schemas.microsoft.com/office/drawing/2014/main" id="{B48A72B8-9B3C-04EF-0D42-CC88C6B82568}"/>
              </a:ext>
            </a:extLst>
          </p:cNvPr>
          <p:cNvSpPr/>
          <p:nvPr/>
        </p:nvSpPr>
        <p:spPr>
          <a:xfrm>
            <a:off x="8534401" y="4608336"/>
            <a:ext cx="735528" cy="363074"/>
          </a:xfrm>
          <a:prstGeom prst="notchedRightArrow">
            <a:avLst/>
          </a:prstGeom>
          <a:solidFill>
            <a:srgbClr val="A40A5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6685546F-4211-4EB1-A00A-868A3E1D69B1}"/>
              </a:ext>
            </a:extLst>
          </p:cNvPr>
          <p:cNvSpPr txBox="1"/>
          <p:nvPr/>
        </p:nvSpPr>
        <p:spPr>
          <a:xfrm>
            <a:off x="8552525" y="3889549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冗余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D1C79046-73B9-4785-9DC4-D1F1BCA11838}"/>
              </a:ext>
            </a:extLst>
          </p:cNvPr>
          <p:cNvSpPr/>
          <p:nvPr/>
        </p:nvSpPr>
        <p:spPr>
          <a:xfrm>
            <a:off x="6799956" y="1992920"/>
            <a:ext cx="2057717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>
                <a:solidFill>
                  <a:srgbClr val="00206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核心区别是什么？</a:t>
            </a:r>
          </a:p>
        </p:txBody>
      </p:sp>
      <p:pic>
        <p:nvPicPr>
          <p:cNvPr id="81" name="图片 80">
            <a:extLst>
              <a:ext uri="{FF2B5EF4-FFF2-40B4-BE49-F238E27FC236}">
                <a16:creationId xmlns:a16="http://schemas.microsoft.com/office/drawing/2014/main" id="{A6D34A74-084E-47D6-AFBA-0FC10CC9780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3652" y="1876755"/>
            <a:ext cx="601662" cy="601662"/>
          </a:xfrm>
          <a:prstGeom prst="rect">
            <a:avLst/>
          </a:prstGeom>
        </p:spPr>
      </p:pic>
      <p:sp>
        <p:nvSpPr>
          <p:cNvPr id="82" name="矩形 81">
            <a:extLst>
              <a:ext uri="{FF2B5EF4-FFF2-40B4-BE49-F238E27FC236}">
                <a16:creationId xmlns:a16="http://schemas.microsoft.com/office/drawing/2014/main" id="{7D671FB2-9236-4292-AF42-36E0AEAC9137}"/>
              </a:ext>
            </a:extLst>
          </p:cNvPr>
          <p:cNvSpPr/>
          <p:nvPr/>
        </p:nvSpPr>
        <p:spPr>
          <a:xfrm>
            <a:off x="9291479" y="1981704"/>
            <a:ext cx="2505666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>
                <a:solidFill>
                  <a:srgbClr val="00206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节点是否做相同的事情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>
                      <p:stCondLst>
                        <p:cond delay="indefinite"/>
                      </p:stCondLst>
                      <p:childTnLst>
                        <p:par>
                          <p:cTn id="200" fill="hold">
                            <p:stCondLst>
                              <p:cond delay="0"/>
                            </p:stCondLst>
                            <p:childTnLst>
                              <p:par>
                                <p:cTn id="2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2" grpId="0" animBg="1"/>
      <p:bldP spid="13" grpId="0" animBg="1"/>
      <p:bldP spid="16" grpId="0" animBg="1"/>
      <p:bldP spid="14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7" grpId="0" animBg="1"/>
      <p:bldP spid="68" grpId="0" animBg="1"/>
      <p:bldP spid="69" grpId="0" animBg="1"/>
      <p:bldP spid="71" grpId="0"/>
      <p:bldP spid="72" grpId="0" animBg="1"/>
      <p:bldP spid="73" grpId="0" animBg="1"/>
      <p:bldP spid="74" grpId="0" animBg="1"/>
      <p:bldP spid="4" grpId="0" animBg="1"/>
      <p:bldP spid="76" grpId="0" animBg="1"/>
      <p:bldP spid="78" grpId="0" animBg="1"/>
      <p:bldP spid="79" grpId="0"/>
      <p:bldP spid="80" grpId="0" animBg="1"/>
      <p:bldP spid="8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分布式系统</a:t>
            </a:r>
            <a:endParaRPr lang="en-US" altLang="zh-CN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3</a:t>
            </a:fld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82A8710-7F99-4E3D-94DA-2D61F075F906}"/>
              </a:ext>
            </a:extLst>
          </p:cNvPr>
          <p:cNvSpPr txBox="1"/>
          <p:nvPr/>
        </p:nvSpPr>
        <p:spPr>
          <a:xfrm>
            <a:off x="517236" y="1471011"/>
            <a:ext cx="1101898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与集中式系统比较</a:t>
            </a:r>
          </a:p>
        </p:txBody>
      </p:sp>
      <p:graphicFrame>
        <p:nvGraphicFramePr>
          <p:cNvPr id="79" name="表格 78">
            <a:extLst>
              <a:ext uri="{FF2B5EF4-FFF2-40B4-BE49-F238E27FC236}">
                <a16:creationId xmlns:a16="http://schemas.microsoft.com/office/drawing/2014/main" id="{62D450D1-EF2C-58F0-486E-E45E0CC9B2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3712853"/>
              </p:ext>
            </p:extLst>
          </p:nvPr>
        </p:nvGraphicFramePr>
        <p:xfrm>
          <a:off x="2032000" y="2232201"/>
          <a:ext cx="8127999" cy="3463544"/>
        </p:xfrm>
        <a:graphic>
          <a:graphicData uri="http://schemas.openxmlformats.org/drawingml/2006/table">
            <a:tbl>
              <a:tblPr firstRow="1" firstCol="1" bandRow="1">
                <a:tableStyleId>{46F890A9-2807-4EBB-B81D-B2AA78EC7F39}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560376102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79301407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897213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分类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分布式系统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集中式系统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349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效率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0835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成本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8539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可靠性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1981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可扩展性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35688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复杂度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低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36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数据一致性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复杂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简单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7373782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69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本章内容</a:t>
            </a: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1307508" y="1409610"/>
            <a:ext cx="10515600" cy="4982116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kumimoji="1" lang="en-US" altLang="zh-CN" dirty="0">
                <a:latin typeface="Garamond" panose="02020404030301010803" pitchFamily="18" charset="0"/>
              </a:rPr>
              <a:t>4.1 </a:t>
            </a:r>
            <a:r>
              <a:rPr kumimoji="1" lang="zh-CN" altLang="en-US" dirty="0">
                <a:latin typeface="Garamond" panose="02020404030301010803" pitchFamily="18" charset="0"/>
              </a:rPr>
              <a:t>分布式系统简介</a:t>
            </a:r>
            <a:endParaRPr kumimoji="1" lang="en-US" altLang="zh-CN" dirty="0">
              <a:latin typeface="Garamond" panose="02020404030301010803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kumimoji="1" lang="en-US" altLang="zh-CN" b="1" dirty="0">
                <a:solidFill>
                  <a:srgbClr val="B962FF"/>
                </a:solidFill>
                <a:latin typeface="Garamond" panose="02020404030301010803" pitchFamily="18" charset="0"/>
              </a:rPr>
              <a:t>4.2 </a:t>
            </a:r>
            <a:r>
              <a:rPr kumimoji="1" lang="zh-CN" altLang="en-US" b="1" dirty="0">
                <a:solidFill>
                  <a:srgbClr val="B962FF"/>
                </a:solidFill>
                <a:latin typeface="Garamond" panose="02020404030301010803" pitchFamily="18" charset="0"/>
              </a:rPr>
              <a:t>分布式容错</a:t>
            </a:r>
            <a:endParaRPr kumimoji="1" lang="en-US" altLang="zh-CN" b="1" dirty="0">
              <a:solidFill>
                <a:srgbClr val="B962FF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矩形标注 6"/>
          <p:cNvSpPr/>
          <p:nvPr/>
        </p:nvSpPr>
        <p:spPr>
          <a:xfrm>
            <a:off x="5836063" y="2185355"/>
            <a:ext cx="4281889" cy="2275809"/>
          </a:xfrm>
          <a:prstGeom prst="wedgeRectCallout">
            <a:avLst>
              <a:gd name="adj1" fmla="val -81204"/>
              <a:gd name="adj2" fmla="val -42433"/>
            </a:avLst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87375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zh-CN" altLang="en-US" sz="2400" dirty="0">
                <a:solidFill>
                  <a:prstClr val="black"/>
                </a:solidFill>
                <a:latin typeface="Garamond" panose="02020404030301010803" pitchFamily="18" charset="0"/>
                <a:ea typeface="Microsoft YaHei" panose="020B0503020204020204" pitchFamily="34" charset="-122"/>
              </a:rPr>
              <a:t>拜占庭容错</a:t>
            </a:r>
            <a:endParaRPr kumimoji="1" lang="en-US" altLang="zh-CN" sz="2400" dirty="0">
              <a:solidFill>
                <a:prstClr val="black"/>
              </a:solidFill>
              <a:latin typeface="Garamond" panose="02020404030301010803" pitchFamily="18" charset="0"/>
              <a:ea typeface="Microsoft YaHei" panose="020B0503020204020204" pitchFamily="34" charset="-122"/>
            </a:endParaRPr>
          </a:p>
          <a:p>
            <a:pPr marL="587375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zh-CN" altLang="en-US" sz="2400" dirty="0">
                <a:solidFill>
                  <a:prstClr val="black"/>
                </a:solidFill>
                <a:latin typeface="Garamond" panose="02020404030301010803" pitchFamily="18" charset="0"/>
                <a:ea typeface="Microsoft YaHei" panose="020B0503020204020204" pitchFamily="34" charset="-122"/>
              </a:rPr>
              <a:t>崩溃容错</a:t>
            </a:r>
            <a:endParaRPr kumimoji="1" lang="en-US" altLang="zh-CN" sz="2400" dirty="0">
              <a:solidFill>
                <a:prstClr val="black"/>
              </a:solidFill>
              <a:latin typeface="Garamond" panose="02020404030301010803" pitchFamily="18" charset="0"/>
              <a:ea typeface="Microsoft YaHei" panose="020B0503020204020204" pitchFamily="34" charset="-122"/>
            </a:endParaRPr>
          </a:p>
          <a:p>
            <a:pPr marL="587375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zh-CN" altLang="en-US" sz="2400" dirty="0">
                <a:solidFill>
                  <a:prstClr val="black"/>
                </a:solidFill>
                <a:latin typeface="Garamond" panose="02020404030301010803" pitchFamily="18" charset="0"/>
                <a:ea typeface="Microsoft YaHei" panose="020B0503020204020204" pitchFamily="34" charset="-122"/>
              </a:rPr>
              <a:t>复制状态机</a:t>
            </a:r>
            <a:endParaRPr kumimoji="1" lang="en-US" altLang="zh-CN" sz="2400" dirty="0">
              <a:solidFill>
                <a:prstClr val="black"/>
              </a:solidFill>
              <a:latin typeface="Garamond" panose="02020404030301010803" pitchFamily="18" charset="0"/>
              <a:ea typeface="Microsoft YaHei" panose="020B0503020204020204" pitchFamily="34" charset="-122"/>
            </a:endParaRPr>
          </a:p>
          <a:p>
            <a:pPr marL="587375" indent="-438150">
              <a:lnSpc>
                <a:spcPct val="130000"/>
              </a:lnSpc>
              <a:spcBef>
                <a:spcPts val="600"/>
              </a:spcBef>
              <a:buFont typeface="+mj-lt"/>
              <a:buAutoNum type="arabicPeriod"/>
            </a:pPr>
            <a:r>
              <a:rPr kumimoji="1" lang="zh-CN" altLang="en-US" sz="2400" dirty="0">
                <a:solidFill>
                  <a:prstClr val="black"/>
                </a:solidFill>
                <a:latin typeface="Garamond" panose="02020404030301010803" pitchFamily="18" charset="0"/>
                <a:ea typeface="Microsoft YaHei" panose="020B0503020204020204" pitchFamily="34" charset="-122"/>
              </a:rPr>
              <a:t>比特币系统</a:t>
            </a:r>
            <a:endParaRPr kumimoji="1" lang="en-US" altLang="zh-CN" sz="2400" dirty="0">
              <a:solidFill>
                <a:prstClr val="black"/>
              </a:solidFill>
              <a:latin typeface="Garamond" panose="02020404030301010803" pitchFamily="18" charset="0"/>
              <a:ea typeface="Microsoft YaHei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4</a:t>
            </a:fld>
            <a:endParaRPr kumimoji="1"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分布式容错（</a:t>
            </a:r>
            <a:r>
              <a:rPr kumimoji="1"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Fault</a:t>
            </a:r>
            <a:r>
              <a:rPr kumimoji="1"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kumimoji="1"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Tolerance</a:t>
            </a:r>
            <a:r>
              <a:rPr kumimoji="1"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，</a:t>
            </a:r>
            <a:r>
              <a:rPr kumimoji="1"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FT</a:t>
            </a:r>
            <a:r>
              <a:rPr kumimoji="1"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>
                <a:latin typeface="Garamond" panose="02020404030301010803" pitchFamily="18" charset="0"/>
                <a:ea typeface="微软雅黑" panose="020B0503020204020204" pitchFamily="34" charset="-122"/>
              </a:rPr>
              <a:t>5</a:t>
            </a:fld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1BEC0B3-27B6-6BDB-3A63-928939EBCB0C}"/>
              </a:ext>
            </a:extLst>
          </p:cNvPr>
          <p:cNvSpPr txBox="1"/>
          <p:nvPr/>
        </p:nvSpPr>
        <p:spPr>
          <a:xfrm>
            <a:off x="665017" y="1214765"/>
            <a:ext cx="1101898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通信模型</a:t>
            </a:r>
          </a:p>
        </p:txBody>
      </p:sp>
      <p:sp>
        <p:nvSpPr>
          <p:cNvPr id="9" name="五角星 8">
            <a:extLst>
              <a:ext uri="{FF2B5EF4-FFF2-40B4-BE49-F238E27FC236}">
                <a16:creationId xmlns:a16="http://schemas.microsoft.com/office/drawing/2014/main" id="{8356ECC0-1330-D0A8-B9EA-1184FDF7AEC7}"/>
              </a:ext>
            </a:extLst>
          </p:cNvPr>
          <p:cNvSpPr/>
          <p:nvPr/>
        </p:nvSpPr>
        <p:spPr>
          <a:xfrm>
            <a:off x="9565574" y="2242403"/>
            <a:ext cx="653143" cy="653143"/>
          </a:xfrm>
          <a:prstGeom prst="star5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0" name="五角星 9">
            <a:extLst>
              <a:ext uri="{FF2B5EF4-FFF2-40B4-BE49-F238E27FC236}">
                <a16:creationId xmlns:a16="http://schemas.microsoft.com/office/drawing/2014/main" id="{605DD79E-31B9-F0FA-EE6B-0B72791F5FF7}"/>
              </a:ext>
            </a:extLst>
          </p:cNvPr>
          <p:cNvSpPr/>
          <p:nvPr/>
        </p:nvSpPr>
        <p:spPr>
          <a:xfrm>
            <a:off x="8400802" y="3222168"/>
            <a:ext cx="653143" cy="653143"/>
          </a:xfrm>
          <a:prstGeom prst="star5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1" name="五角星 10">
            <a:extLst>
              <a:ext uri="{FF2B5EF4-FFF2-40B4-BE49-F238E27FC236}">
                <a16:creationId xmlns:a16="http://schemas.microsoft.com/office/drawing/2014/main" id="{36848D02-CD58-892E-36E0-A268B54F1246}"/>
              </a:ext>
            </a:extLst>
          </p:cNvPr>
          <p:cNvSpPr/>
          <p:nvPr/>
        </p:nvSpPr>
        <p:spPr>
          <a:xfrm>
            <a:off x="10730346" y="3222167"/>
            <a:ext cx="653143" cy="653143"/>
          </a:xfrm>
          <a:prstGeom prst="star5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2" name="五角星 11">
            <a:extLst>
              <a:ext uri="{FF2B5EF4-FFF2-40B4-BE49-F238E27FC236}">
                <a16:creationId xmlns:a16="http://schemas.microsoft.com/office/drawing/2014/main" id="{3972E612-9D7C-E8EC-66BB-C36934FC92E2}"/>
              </a:ext>
            </a:extLst>
          </p:cNvPr>
          <p:cNvSpPr/>
          <p:nvPr/>
        </p:nvSpPr>
        <p:spPr>
          <a:xfrm>
            <a:off x="9053945" y="4666802"/>
            <a:ext cx="653143" cy="653143"/>
          </a:xfrm>
          <a:prstGeom prst="star5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3" name="五角星 12">
            <a:extLst>
              <a:ext uri="{FF2B5EF4-FFF2-40B4-BE49-F238E27FC236}">
                <a16:creationId xmlns:a16="http://schemas.microsoft.com/office/drawing/2014/main" id="{6D8369B9-5CFC-440B-777A-FF3460031EE6}"/>
              </a:ext>
            </a:extLst>
          </p:cNvPr>
          <p:cNvSpPr/>
          <p:nvPr/>
        </p:nvSpPr>
        <p:spPr>
          <a:xfrm>
            <a:off x="10167259" y="4666802"/>
            <a:ext cx="653143" cy="653143"/>
          </a:xfrm>
          <a:prstGeom prst="star5">
            <a:avLst/>
          </a:prstGeom>
          <a:solidFill>
            <a:srgbClr val="5B307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0672FDC6-84E0-32E0-4D1F-8AF6561AA8E4}"/>
              </a:ext>
            </a:extLst>
          </p:cNvPr>
          <p:cNvCxnSpPr>
            <a:cxnSpLocks/>
            <a:stCxn id="9" idx="2"/>
            <a:endCxn id="10" idx="4"/>
          </p:cNvCxnSpPr>
          <p:nvPr/>
        </p:nvCxnSpPr>
        <p:spPr>
          <a:xfrm flipH="1">
            <a:off x="9053944" y="2895544"/>
            <a:ext cx="636370" cy="576102"/>
          </a:xfrm>
          <a:prstGeom prst="straightConnector1">
            <a:avLst/>
          </a:prstGeom>
          <a:ln>
            <a:solidFill>
              <a:srgbClr val="A40A57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ACED5A38-2A77-9B6B-89EE-4533E938013E}"/>
              </a:ext>
            </a:extLst>
          </p:cNvPr>
          <p:cNvCxnSpPr>
            <a:cxnSpLocks/>
            <a:stCxn id="12" idx="0"/>
            <a:endCxn id="10" idx="3"/>
          </p:cNvCxnSpPr>
          <p:nvPr/>
        </p:nvCxnSpPr>
        <p:spPr>
          <a:xfrm flipH="1" flipV="1">
            <a:off x="8929205" y="3875309"/>
            <a:ext cx="451312" cy="791493"/>
          </a:xfrm>
          <a:prstGeom prst="straightConnector1">
            <a:avLst/>
          </a:prstGeom>
          <a:ln>
            <a:solidFill>
              <a:srgbClr val="A40A57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35A0CC38-A8D6-2381-D16E-83DD14DF391F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>
            <a:off x="10093977" y="2895544"/>
            <a:ext cx="636370" cy="576101"/>
          </a:xfrm>
          <a:prstGeom prst="straightConnector1">
            <a:avLst/>
          </a:prstGeom>
          <a:ln>
            <a:solidFill>
              <a:srgbClr val="A40A57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59DB6DFA-8167-A890-6503-416554ECA498}"/>
              </a:ext>
            </a:extLst>
          </p:cNvPr>
          <p:cNvCxnSpPr>
            <a:cxnSpLocks/>
            <a:stCxn id="13" idx="0"/>
            <a:endCxn id="11" idx="2"/>
          </p:cNvCxnSpPr>
          <p:nvPr/>
        </p:nvCxnSpPr>
        <p:spPr>
          <a:xfrm flipV="1">
            <a:off x="10493831" y="3875308"/>
            <a:ext cx="361255" cy="791494"/>
          </a:xfrm>
          <a:prstGeom prst="straightConnector1">
            <a:avLst/>
          </a:prstGeom>
          <a:ln>
            <a:solidFill>
              <a:srgbClr val="A40A57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2D8134D2-DDEA-863B-9A8D-8B26BA5343F5}"/>
              </a:ext>
            </a:extLst>
          </p:cNvPr>
          <p:cNvCxnSpPr>
            <a:cxnSpLocks/>
            <a:stCxn id="12" idx="4"/>
          </p:cNvCxnSpPr>
          <p:nvPr/>
        </p:nvCxnSpPr>
        <p:spPr>
          <a:xfrm flipV="1">
            <a:off x="9707087" y="4911715"/>
            <a:ext cx="386890" cy="4565"/>
          </a:xfrm>
          <a:prstGeom prst="straightConnector1">
            <a:avLst/>
          </a:prstGeom>
          <a:ln>
            <a:solidFill>
              <a:srgbClr val="A40A57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4175E6A0-4824-6450-9F59-EC84EFFC13E3}"/>
              </a:ext>
            </a:extLst>
          </p:cNvPr>
          <p:cNvCxnSpPr>
            <a:stCxn id="12" idx="0"/>
            <a:endCxn id="11" idx="2"/>
          </p:cNvCxnSpPr>
          <p:nvPr/>
        </p:nvCxnSpPr>
        <p:spPr>
          <a:xfrm flipV="1">
            <a:off x="9380517" y="3875308"/>
            <a:ext cx="1474569" cy="791494"/>
          </a:xfrm>
          <a:prstGeom prst="straightConnector1">
            <a:avLst/>
          </a:prstGeom>
          <a:ln>
            <a:solidFill>
              <a:srgbClr val="A40A57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A769E4AA-33DB-905C-17B2-BB010B288EBA}"/>
              </a:ext>
            </a:extLst>
          </p:cNvPr>
          <p:cNvCxnSpPr>
            <a:cxnSpLocks/>
            <a:stCxn id="10" idx="3"/>
            <a:endCxn id="13" idx="0"/>
          </p:cNvCxnSpPr>
          <p:nvPr/>
        </p:nvCxnSpPr>
        <p:spPr>
          <a:xfrm>
            <a:off x="8929205" y="3875309"/>
            <a:ext cx="1564626" cy="791493"/>
          </a:xfrm>
          <a:prstGeom prst="straightConnector1">
            <a:avLst/>
          </a:prstGeom>
          <a:ln>
            <a:solidFill>
              <a:srgbClr val="A40A57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F5F4E9D8-8907-890C-4C71-95D242DE49D2}"/>
              </a:ext>
            </a:extLst>
          </p:cNvPr>
          <p:cNvCxnSpPr>
            <a:cxnSpLocks/>
            <a:stCxn id="12" idx="0"/>
            <a:endCxn id="9" idx="2"/>
          </p:cNvCxnSpPr>
          <p:nvPr/>
        </p:nvCxnSpPr>
        <p:spPr>
          <a:xfrm flipV="1">
            <a:off x="9380517" y="2895544"/>
            <a:ext cx="309797" cy="1771258"/>
          </a:xfrm>
          <a:prstGeom prst="straightConnector1">
            <a:avLst/>
          </a:prstGeom>
          <a:ln>
            <a:solidFill>
              <a:srgbClr val="A40A57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线箭头连接符 37">
            <a:extLst>
              <a:ext uri="{FF2B5EF4-FFF2-40B4-BE49-F238E27FC236}">
                <a16:creationId xmlns:a16="http://schemas.microsoft.com/office/drawing/2014/main" id="{15CE4A5A-36CB-A59D-BAB9-F51C5E711319}"/>
              </a:ext>
            </a:extLst>
          </p:cNvPr>
          <p:cNvCxnSpPr>
            <a:cxnSpLocks/>
            <a:stCxn id="13" idx="0"/>
            <a:endCxn id="9" idx="3"/>
          </p:cNvCxnSpPr>
          <p:nvPr/>
        </p:nvCxnSpPr>
        <p:spPr>
          <a:xfrm flipH="1" flipV="1">
            <a:off x="10093977" y="2895544"/>
            <a:ext cx="399854" cy="1771258"/>
          </a:xfrm>
          <a:prstGeom prst="straightConnector1">
            <a:avLst/>
          </a:prstGeom>
          <a:ln>
            <a:solidFill>
              <a:srgbClr val="A40A57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线箭头连接符 43">
            <a:extLst>
              <a:ext uri="{FF2B5EF4-FFF2-40B4-BE49-F238E27FC236}">
                <a16:creationId xmlns:a16="http://schemas.microsoft.com/office/drawing/2014/main" id="{573F46D3-CEDA-1342-3F7E-43F2783DFF81}"/>
              </a:ext>
            </a:extLst>
          </p:cNvPr>
          <p:cNvCxnSpPr>
            <a:cxnSpLocks/>
            <a:stCxn id="10" idx="4"/>
            <a:endCxn id="11" idx="1"/>
          </p:cNvCxnSpPr>
          <p:nvPr/>
        </p:nvCxnSpPr>
        <p:spPr>
          <a:xfrm flipV="1">
            <a:off x="9053944" y="3471645"/>
            <a:ext cx="1676403" cy="1"/>
          </a:xfrm>
          <a:prstGeom prst="straightConnector1">
            <a:avLst/>
          </a:prstGeom>
          <a:ln>
            <a:solidFill>
              <a:srgbClr val="A40A57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674DBE92-0628-4806-8441-322842844358}"/>
              </a:ext>
            </a:extLst>
          </p:cNvPr>
          <p:cNvSpPr txBox="1"/>
          <p:nvPr/>
        </p:nvSpPr>
        <p:spPr>
          <a:xfrm>
            <a:off x="665017" y="2526273"/>
            <a:ext cx="1101898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故障模型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B8948A9-DE8B-45F4-B26A-A71D16E5E8E8}"/>
              </a:ext>
            </a:extLst>
          </p:cNvPr>
          <p:cNvSpPr txBox="1"/>
          <p:nvPr/>
        </p:nvSpPr>
        <p:spPr>
          <a:xfrm>
            <a:off x="936171" y="296966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拜占庭故障（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Byzantine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Fault,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BF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0A5B53F-6EEC-46F1-9E51-B6AB5CF7F474}"/>
              </a:ext>
            </a:extLst>
          </p:cNvPr>
          <p:cNvSpPr txBox="1"/>
          <p:nvPr/>
        </p:nvSpPr>
        <p:spPr>
          <a:xfrm>
            <a:off x="936171" y="337755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崩溃故障（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Crash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Fault,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CF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E8EB001-D406-4496-B0E7-1331DBE7DBF3}"/>
              </a:ext>
            </a:extLst>
          </p:cNvPr>
          <p:cNvSpPr txBox="1"/>
          <p:nvPr/>
        </p:nvSpPr>
        <p:spPr>
          <a:xfrm>
            <a:off x="665018" y="4263536"/>
            <a:ext cx="38587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共识：对某些信息达成一致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96C144F-230C-4F3D-8485-53CDF30CB0D2}"/>
              </a:ext>
            </a:extLst>
          </p:cNvPr>
          <p:cNvSpPr txBox="1"/>
          <p:nvPr/>
        </p:nvSpPr>
        <p:spPr>
          <a:xfrm>
            <a:off x="665018" y="4623856"/>
            <a:ext cx="7509163" cy="10575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分布式共识：分布式系统中多个节点就某个值或决策达成一致的过程，即使存在节点故障或网络延迟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45DD828-85A9-4D2C-8B7E-3411B87582C1}"/>
              </a:ext>
            </a:extLst>
          </p:cNvPr>
          <p:cNvSpPr txBox="1"/>
          <p:nvPr/>
        </p:nvSpPr>
        <p:spPr>
          <a:xfrm>
            <a:off x="969817" y="5826266"/>
            <a:ext cx="4012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安全性（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Safety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）：能够达成共识。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6083ED9-CAD6-4845-B807-1D599DF08D10}"/>
              </a:ext>
            </a:extLst>
          </p:cNvPr>
          <p:cNvSpPr txBox="1"/>
          <p:nvPr/>
        </p:nvSpPr>
        <p:spPr>
          <a:xfrm>
            <a:off x="969818" y="6347998"/>
            <a:ext cx="58262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活性（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Liveness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）：共识最终能收敛到正确的结果。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091B0C14-9078-45B4-91E0-8CCD5E8498AA}"/>
              </a:ext>
            </a:extLst>
          </p:cNvPr>
          <p:cNvSpPr txBox="1"/>
          <p:nvPr/>
        </p:nvSpPr>
        <p:spPr>
          <a:xfrm>
            <a:off x="968500" y="16692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同步模型：时钟同步，时间一致性。（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Google Spanner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1CE8A6A-6707-4583-BDB9-A5B928002304}"/>
              </a:ext>
            </a:extLst>
          </p:cNvPr>
          <p:cNvSpPr txBox="1"/>
          <p:nvPr/>
        </p:nvSpPr>
        <p:spPr>
          <a:xfrm>
            <a:off x="969818" y="207659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异步模型：时延</a:t>
            </a:r>
            <a:r>
              <a:rPr lang="zh-CN" altLang="en-US" b="1" dirty="0">
                <a:solidFill>
                  <a:srgbClr val="A40A57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理论上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无上限。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720307E4-9253-4006-A2F5-D3DADD0BD639}"/>
              </a:ext>
            </a:extLst>
          </p:cNvPr>
          <p:cNvSpPr txBox="1"/>
          <p:nvPr/>
        </p:nvSpPr>
        <p:spPr>
          <a:xfrm>
            <a:off x="665017" y="3834132"/>
            <a:ext cx="526939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b="1" dirty="0">
                <a:solidFill>
                  <a:srgbClr val="A40A57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分布式容错：抵抗分布式系统中的故障</a:t>
            </a:r>
          </a:p>
        </p:txBody>
      </p:sp>
    </p:spTree>
    <p:extLst>
      <p:ext uri="{BB962C8B-B14F-4D97-AF65-F5344CB8AC3E}">
        <p14:creationId xmlns:p14="http://schemas.microsoft.com/office/powerpoint/2010/main" val="4141883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 animBg="1"/>
      <p:bldP spid="11" grpId="0" animBg="1"/>
      <p:bldP spid="12" grpId="0" animBg="1"/>
      <p:bldP spid="13" grpId="0" animBg="1"/>
      <p:bldP spid="20" grpId="0"/>
      <p:bldP spid="21" grpId="0"/>
      <p:bldP spid="22" grpId="0"/>
      <p:bldP spid="25" grpId="0"/>
      <p:bldP spid="26" grpId="0"/>
      <p:bldP spid="28" grpId="0"/>
      <p:bldP spid="29" grpId="0"/>
      <p:bldP spid="30" grpId="0"/>
      <p:bldP spid="33" grpId="0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拜占庭故障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6</a:t>
            </a:fld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1BEC0B3-27B6-6BDB-3A63-928939EBCB0C}"/>
              </a:ext>
            </a:extLst>
          </p:cNvPr>
          <p:cNvSpPr txBox="1"/>
          <p:nvPr/>
        </p:nvSpPr>
        <p:spPr>
          <a:xfrm>
            <a:off x="430400" y="1563638"/>
            <a:ext cx="444269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solidFill>
                  <a:srgbClr val="191B1F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拜占庭将军问题</a:t>
            </a:r>
            <a:endParaRPr lang="en-US" altLang="zh-CN" sz="2200" dirty="0">
              <a:solidFill>
                <a:srgbClr val="191B1F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EFE2DCD-D449-AD39-F825-A8CCA6E609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1261" y="1354267"/>
            <a:ext cx="5790315" cy="3257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4ECCE5B-9B95-10EA-88F1-4DEC1CA1A94C}"/>
              </a:ext>
            </a:extLst>
          </p:cNvPr>
          <p:cNvSpPr txBox="1"/>
          <p:nvPr/>
        </p:nvSpPr>
        <p:spPr>
          <a:xfrm>
            <a:off x="430400" y="2074840"/>
            <a:ext cx="514172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u="none" strike="noStrike" dirty="0">
                <a:effectLst/>
                <a:latin typeface="Garamond" panose="02020404030301010803" pitchFamily="18" charset="0"/>
                <a:ea typeface="微软雅黑" panose="020B0503020204020204" pitchFamily="34" charset="-122"/>
              </a:rPr>
              <a:t>拜占庭帝国</a:t>
            </a:r>
            <a:r>
              <a:rPr lang="en-US" altLang="zh-CN" b="0" i="0" u="none" strike="noStrike" dirty="0">
                <a:effectLst/>
                <a:latin typeface="Garamond" panose="02020404030301010803" pitchFamily="18" charset="0"/>
                <a:ea typeface="微软雅黑" panose="020B0503020204020204" pitchFamily="34" charset="-122"/>
              </a:rPr>
              <a:t>(</a:t>
            </a:r>
            <a:r>
              <a:rPr lang="en" altLang="zh-CN" b="0" i="0" u="none" strike="noStrike" dirty="0">
                <a:effectLst/>
                <a:latin typeface="Garamond" panose="02020404030301010803" pitchFamily="18" charset="0"/>
                <a:ea typeface="微软雅黑" panose="020B0503020204020204" pitchFamily="34" charset="-122"/>
              </a:rPr>
              <a:t>Byzantine Empire)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  <a:ea typeface="微软雅黑" panose="020B0503020204020204" pitchFamily="34" charset="-122"/>
              </a:rPr>
              <a:t>军队的几个师驻扎在敌城外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  <a:ea typeface="微软雅黑" panose="020B0503020204020204" pitchFamily="34" charset="-122"/>
              </a:rPr>
              <a:t>,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  <a:ea typeface="微软雅黑" panose="020B0503020204020204" pitchFamily="34" charset="-122"/>
              </a:rPr>
              <a:t>每个师都由各自的将军指挥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  <a:ea typeface="微软雅黑" panose="020B0503020204020204" pitchFamily="34" charset="-122"/>
              </a:rPr>
              <a:t>.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  <a:ea typeface="微软雅黑" panose="020B0503020204020204" pitchFamily="34" charset="-122"/>
              </a:rPr>
              <a:t>将军们只能通过信使相互沟通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  <a:ea typeface="微软雅黑" panose="020B0503020204020204" pitchFamily="34" charset="-122"/>
              </a:rPr>
              <a:t>.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  <a:ea typeface="微软雅黑" panose="020B0503020204020204" pitchFamily="34" charset="-122"/>
              </a:rPr>
              <a:t>在观察敌情之后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  <a:ea typeface="微软雅黑" panose="020B0503020204020204" pitchFamily="34" charset="-122"/>
              </a:rPr>
              <a:t>,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  <a:ea typeface="微软雅黑" panose="020B0503020204020204" pitchFamily="34" charset="-122"/>
              </a:rPr>
              <a:t>他们必须制定一个共同的行动计划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  <a:ea typeface="微软雅黑" panose="020B0503020204020204" pitchFamily="34" charset="-122"/>
              </a:rPr>
              <a:t>,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  <a:ea typeface="微软雅黑" panose="020B0503020204020204" pitchFamily="34" charset="-122"/>
              </a:rPr>
              <a:t>如</a:t>
            </a:r>
            <a:r>
              <a:rPr lang="zh-CN" altLang="en-US" b="1" i="0" dirty="0">
                <a:solidFill>
                  <a:srgbClr val="191B1F"/>
                </a:solidFill>
                <a:effectLst/>
                <a:latin typeface="Garamond" panose="02020404030301010803" pitchFamily="18" charset="0"/>
                <a:ea typeface="微软雅黑" panose="020B0503020204020204" pitchFamily="34" charset="-122"/>
              </a:rPr>
              <a:t>进攻</a:t>
            </a:r>
            <a:r>
              <a:rPr lang="en-US" altLang="zh-CN" b="1" i="0" dirty="0">
                <a:solidFill>
                  <a:srgbClr val="191B1F"/>
                </a:solidFill>
                <a:effectLst/>
                <a:latin typeface="Garamond" panose="02020404030301010803" pitchFamily="18" charset="0"/>
                <a:ea typeface="微软雅黑" panose="020B0503020204020204" pitchFamily="34" charset="-122"/>
              </a:rPr>
              <a:t>(</a:t>
            </a:r>
            <a:r>
              <a:rPr lang="en" altLang="zh-CN" b="1" i="0" dirty="0">
                <a:solidFill>
                  <a:srgbClr val="191B1F"/>
                </a:solidFill>
                <a:effectLst/>
                <a:latin typeface="Garamond" panose="02020404030301010803" pitchFamily="18" charset="0"/>
                <a:ea typeface="微软雅黑" panose="020B0503020204020204" pitchFamily="34" charset="-122"/>
              </a:rPr>
              <a:t>Attack)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  <a:ea typeface="微软雅黑" panose="020B0503020204020204" pitchFamily="34" charset="-122"/>
              </a:rPr>
              <a:t>或者</a:t>
            </a:r>
            <a:r>
              <a:rPr lang="zh-CN" altLang="en-US" b="1" i="0" dirty="0">
                <a:solidFill>
                  <a:srgbClr val="191B1F"/>
                </a:solidFill>
                <a:effectLst/>
                <a:latin typeface="Garamond" panose="02020404030301010803" pitchFamily="18" charset="0"/>
                <a:ea typeface="微软雅黑" panose="020B0503020204020204" pitchFamily="34" charset="-122"/>
              </a:rPr>
              <a:t>撤退</a:t>
            </a:r>
            <a:r>
              <a:rPr lang="en-US" altLang="zh-CN" b="1" i="0" dirty="0">
                <a:solidFill>
                  <a:srgbClr val="191B1F"/>
                </a:solidFill>
                <a:effectLst/>
                <a:latin typeface="Garamond" panose="02020404030301010803" pitchFamily="18" charset="0"/>
                <a:ea typeface="微软雅黑" panose="020B0503020204020204" pitchFamily="34" charset="-122"/>
              </a:rPr>
              <a:t>(</a:t>
            </a:r>
            <a:r>
              <a:rPr lang="en" altLang="zh-CN" b="1" i="0" dirty="0">
                <a:solidFill>
                  <a:srgbClr val="191B1F"/>
                </a:solidFill>
                <a:effectLst/>
                <a:latin typeface="Garamond" panose="02020404030301010803" pitchFamily="18" charset="0"/>
                <a:ea typeface="微软雅黑" panose="020B0503020204020204" pitchFamily="34" charset="-122"/>
              </a:rPr>
              <a:t>Retreat)</a:t>
            </a:r>
            <a:r>
              <a:rPr lang="en" altLang="zh-CN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  <a:ea typeface="微软雅黑" panose="020B0503020204020204" pitchFamily="34" charset="-122"/>
              </a:rPr>
              <a:t>,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  <a:ea typeface="微软雅黑" panose="020B0503020204020204" pitchFamily="34" charset="-122"/>
              </a:rPr>
              <a:t>且只有当</a:t>
            </a:r>
            <a:r>
              <a:rPr lang="zh-CN" altLang="en-US" b="1" i="0" dirty="0">
                <a:solidFill>
                  <a:srgbClr val="A40A57"/>
                </a:solidFill>
                <a:effectLst/>
                <a:latin typeface="Garamond" panose="02020404030301010803" pitchFamily="18" charset="0"/>
                <a:ea typeface="微软雅黑" panose="020B0503020204020204" pitchFamily="34" charset="-122"/>
              </a:rPr>
              <a:t>半数以上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  <a:ea typeface="微软雅黑" panose="020B0503020204020204" pitchFamily="34" charset="-122"/>
              </a:rPr>
              <a:t>的将军共同发起进攻时才能取得胜利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  <a:ea typeface="微软雅黑" panose="020B0503020204020204" pitchFamily="34" charset="-122"/>
              </a:rPr>
              <a:t>.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  <a:ea typeface="微软雅黑" panose="020B0503020204020204" pitchFamily="34" charset="-122"/>
              </a:rPr>
              <a:t>然而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  <a:ea typeface="微软雅黑" panose="020B0503020204020204" pitchFamily="34" charset="-122"/>
              </a:rPr>
              <a:t>,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  <a:ea typeface="微软雅黑" panose="020B0503020204020204" pitchFamily="34" charset="-122"/>
              </a:rPr>
              <a:t>其中一些将军可能是叛徒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  <a:ea typeface="微软雅黑" panose="020B0503020204020204" pitchFamily="34" charset="-122"/>
              </a:rPr>
              <a:t>,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  <a:ea typeface="微软雅黑" panose="020B0503020204020204" pitchFamily="34" charset="-122"/>
              </a:rPr>
              <a:t>试图阻止忠诚的将军达成一致的行动计划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  <a:ea typeface="微软雅黑" panose="020B0503020204020204" pitchFamily="34" charset="-122"/>
              </a:rPr>
              <a:t>.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  <a:ea typeface="微软雅黑" panose="020B0503020204020204" pitchFamily="34" charset="-122"/>
              </a:rPr>
              <a:t>更糟糕的是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  <a:ea typeface="微软雅黑" panose="020B0503020204020204" pitchFamily="34" charset="-122"/>
              </a:rPr>
              <a:t>,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  <a:ea typeface="微软雅黑" panose="020B0503020204020204" pitchFamily="34" charset="-122"/>
              </a:rPr>
              <a:t>负责消息传递的信使也可能是叛徒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  <a:ea typeface="微软雅黑" panose="020B0503020204020204" pitchFamily="34" charset="-122"/>
              </a:rPr>
              <a:t>,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  <a:ea typeface="微软雅黑" panose="020B0503020204020204" pitchFamily="34" charset="-122"/>
              </a:rPr>
              <a:t>他们可能篡改或伪造消息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  <a:ea typeface="微软雅黑" panose="020B0503020204020204" pitchFamily="34" charset="-122"/>
              </a:rPr>
              <a:t>,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  <a:ea typeface="微软雅黑" panose="020B0503020204020204" pitchFamily="34" charset="-122"/>
              </a:rPr>
              <a:t>也可能使得消息丢失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Garamond" panose="02020404030301010803" pitchFamily="18" charset="0"/>
                <a:ea typeface="微软雅黑" panose="020B0503020204020204" pitchFamily="34" charset="-122"/>
              </a:rPr>
              <a:t>.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51537EA-FD83-4734-B977-E06879F079B3}"/>
              </a:ext>
            </a:extLst>
          </p:cNvPr>
          <p:cNvSpPr txBox="1"/>
          <p:nvPr/>
        </p:nvSpPr>
        <p:spPr>
          <a:xfrm>
            <a:off x="381625" y="5077549"/>
            <a:ext cx="487610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solidFill>
                  <a:srgbClr val="191B1F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分布式系统中，存在恶意节点，使诚实节点达成一致的协议为拜占庭容错（</a:t>
            </a:r>
            <a:r>
              <a:rPr lang="en-US" altLang="zh-CN" sz="2200" dirty="0">
                <a:solidFill>
                  <a:srgbClr val="191B1F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BFT</a:t>
            </a:r>
            <a:r>
              <a:rPr lang="zh-CN" altLang="en-US" sz="2200" dirty="0">
                <a:solidFill>
                  <a:srgbClr val="191B1F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）协议</a:t>
            </a:r>
            <a:endParaRPr lang="en-US" altLang="zh-CN" sz="2200" dirty="0">
              <a:solidFill>
                <a:srgbClr val="191B1F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DE5AB96-D1B8-46DC-89ED-CADE57E9B462}"/>
              </a:ext>
            </a:extLst>
          </p:cNvPr>
          <p:cNvSpPr txBox="1"/>
          <p:nvPr/>
        </p:nvSpPr>
        <p:spPr>
          <a:xfrm>
            <a:off x="5572126" y="4689275"/>
            <a:ext cx="389119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Garamond" panose="02020404030301010803" pitchFamily="18" charset="0"/>
                <a:ea typeface="微软雅黑" panose="020B0503020204020204" pitchFamily="34" charset="-122"/>
              </a:rPr>
              <a:t>莱斯利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Garamond" panose="02020404030301010803" pitchFamily="18" charset="0"/>
                <a:ea typeface="微软雅黑" panose="020B0503020204020204" pitchFamily="34" charset="-122"/>
              </a:rPr>
              <a:t>·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Garamond" panose="02020404030301010803" pitchFamily="18" charset="0"/>
                <a:ea typeface="微软雅黑" panose="020B0503020204020204" pitchFamily="34" charset="-122"/>
              </a:rPr>
              <a:t>兰伯特（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Garamond" panose="02020404030301010803" pitchFamily="18" charset="0"/>
                <a:ea typeface="微软雅黑" panose="020B0503020204020204" pitchFamily="34" charset="-122"/>
              </a:rPr>
              <a:t>Leslie </a:t>
            </a:r>
            <a:r>
              <a:rPr lang="en-US" altLang="zh-CN" b="0" i="0" dirty="0" err="1">
                <a:solidFill>
                  <a:srgbClr val="333333"/>
                </a:solidFill>
                <a:effectLst/>
                <a:latin typeface="Garamond" panose="02020404030301010803" pitchFamily="18" charset="0"/>
                <a:ea typeface="微软雅黑" panose="020B0503020204020204" pitchFamily="34" charset="-122"/>
              </a:rPr>
              <a:t>Lamport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Garamond" panose="02020404030301010803" pitchFamily="18" charset="0"/>
                <a:ea typeface="微软雅黑" panose="020B0503020204020204" pitchFamily="34" charset="-122"/>
              </a:rPr>
              <a:t>）</a:t>
            </a:r>
            <a:r>
              <a:rPr lang="zh-CN" altLang="en-US" dirty="0">
                <a:solidFill>
                  <a:srgbClr val="333333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，图灵奖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Garamond" panose="02020404030301010803" pitchFamily="18" charset="0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solidFill>
                  <a:srgbClr val="333333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1982</a:t>
            </a:r>
            <a:r>
              <a:rPr lang="zh-CN" altLang="en-US" dirty="0">
                <a:solidFill>
                  <a:srgbClr val="333333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年提出</a:t>
            </a:r>
            <a:r>
              <a:rPr lang="en-US" altLang="zh-CN" dirty="0">
                <a:solidFill>
                  <a:srgbClr val="333333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Byzantine Generals Problem</a:t>
            </a:r>
            <a:endParaRPr lang="zh-CN" altLang="en-US" dirty="0">
              <a:solidFill>
                <a:srgbClr val="333333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0542793-B635-4577-905D-BB9151CF3181}"/>
              </a:ext>
            </a:extLst>
          </p:cNvPr>
          <p:cNvSpPr txBox="1"/>
          <p:nvPr/>
        </p:nvSpPr>
        <p:spPr>
          <a:xfrm>
            <a:off x="5572126" y="584504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333333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A distributed system is one in which the failure of a computer you didn't even know existed can render your own computer unusable'</a:t>
            </a:r>
            <a:endParaRPr lang="zh-CN" altLang="en-US" dirty="0">
              <a:solidFill>
                <a:srgbClr val="333333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D7BDF50-1177-4148-9E53-1F86C76815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3321" y="4634865"/>
            <a:ext cx="2198255" cy="1236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8985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7" grpId="0"/>
      <p:bldP spid="9" grpId="0"/>
      <p:bldP spid="10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拜占庭容错（</a:t>
            </a:r>
            <a:r>
              <a:rPr kumimoji="1"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BFT</a:t>
            </a:r>
            <a:r>
              <a:rPr kumimoji="1"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>
                <a:latin typeface="Garamond" panose="02020404030301010803" pitchFamily="18" charset="0"/>
                <a:ea typeface="微软雅黑" panose="020B0503020204020204" pitchFamily="34" charset="-122"/>
              </a:rPr>
              <a:t>7</a:t>
            </a:fld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0C5F593-9BB8-4138-B70A-7968CDB67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3945" y="1795895"/>
            <a:ext cx="952500" cy="9525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1E8097D-685C-4875-8102-12A03DBFC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9290" y="3984913"/>
            <a:ext cx="952500" cy="9525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CADBEFC-0AD0-49E4-9506-B0EE507DA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9187" y="3229650"/>
            <a:ext cx="762577" cy="76257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A056926-AADC-42C3-BD20-934806E768E5}"/>
              </a:ext>
            </a:extLst>
          </p:cNvPr>
          <p:cNvSpPr txBox="1"/>
          <p:nvPr/>
        </p:nvSpPr>
        <p:spPr>
          <a:xfrm>
            <a:off x="10006445" y="2067790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General A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94A3E16-D187-459F-97C9-C5C47F7EF79A}"/>
              </a:ext>
            </a:extLst>
          </p:cNvPr>
          <p:cNvSpPr txBox="1"/>
          <p:nvPr/>
        </p:nvSpPr>
        <p:spPr>
          <a:xfrm>
            <a:off x="7744056" y="4913496"/>
            <a:ext cx="1096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General B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A5D28EC-13A9-4E5C-A3A6-EA88CED9F24C}"/>
              </a:ext>
            </a:extLst>
          </p:cNvPr>
          <p:cNvSpPr txBox="1"/>
          <p:nvPr/>
        </p:nvSpPr>
        <p:spPr>
          <a:xfrm>
            <a:off x="10155894" y="4932672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General C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E5A7E85-C861-4DB9-9456-B138982948FB}"/>
              </a:ext>
            </a:extLst>
          </p:cNvPr>
          <p:cNvSpPr txBox="1"/>
          <p:nvPr/>
        </p:nvSpPr>
        <p:spPr>
          <a:xfrm>
            <a:off x="445350" y="1483744"/>
            <a:ext cx="131959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目标：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B2607A83-DEB7-4B2B-B42B-91822944D4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4125" y="4079876"/>
            <a:ext cx="762573" cy="762573"/>
          </a:xfrm>
          <a:prstGeom prst="rect">
            <a:avLst/>
          </a:prstGeom>
        </p:spPr>
      </p:pic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6D70C8E0-6887-4759-9572-2F472E649140}"/>
              </a:ext>
            </a:extLst>
          </p:cNvPr>
          <p:cNvCxnSpPr>
            <a:stCxn id="21" idx="0"/>
            <a:endCxn id="5" idx="2"/>
          </p:cNvCxnSpPr>
          <p:nvPr/>
        </p:nvCxnSpPr>
        <p:spPr>
          <a:xfrm flipV="1">
            <a:off x="8325412" y="2748395"/>
            <a:ext cx="1204783" cy="1331481"/>
          </a:xfrm>
          <a:prstGeom prst="straightConnector1">
            <a:avLst/>
          </a:prstGeom>
          <a:ln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AFABE9F4-402B-4F03-9DA3-992CD9CD24E7}"/>
              </a:ext>
            </a:extLst>
          </p:cNvPr>
          <p:cNvCxnSpPr>
            <a:stCxn id="21" idx="3"/>
            <a:endCxn id="6" idx="1"/>
          </p:cNvCxnSpPr>
          <p:nvPr/>
        </p:nvCxnSpPr>
        <p:spPr>
          <a:xfrm>
            <a:off x="8706698" y="4461163"/>
            <a:ext cx="1552592" cy="0"/>
          </a:xfrm>
          <a:prstGeom prst="straightConnector1">
            <a:avLst/>
          </a:prstGeom>
          <a:ln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0BCDA449-1EC1-4816-AC49-8513EBBF8D45}"/>
              </a:ext>
            </a:extLst>
          </p:cNvPr>
          <p:cNvCxnSpPr>
            <a:cxnSpLocks/>
          </p:cNvCxnSpPr>
          <p:nvPr/>
        </p:nvCxnSpPr>
        <p:spPr>
          <a:xfrm flipH="1">
            <a:off x="8128001" y="2748395"/>
            <a:ext cx="1177347" cy="1331481"/>
          </a:xfrm>
          <a:prstGeom prst="straightConnector1">
            <a:avLst/>
          </a:prstGeom>
          <a:ln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5A19189D-90FB-4D95-95CF-06E8E4DF2099}"/>
              </a:ext>
            </a:extLst>
          </p:cNvPr>
          <p:cNvCxnSpPr>
            <a:cxnSpLocks/>
          </p:cNvCxnSpPr>
          <p:nvPr/>
        </p:nvCxnSpPr>
        <p:spPr>
          <a:xfrm flipH="1" flipV="1">
            <a:off x="8706698" y="4252020"/>
            <a:ext cx="1552592" cy="18219"/>
          </a:xfrm>
          <a:prstGeom prst="straightConnector1">
            <a:avLst/>
          </a:prstGeom>
          <a:ln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AC594B82-081E-46DD-85BE-19C18D897713}"/>
              </a:ext>
            </a:extLst>
          </p:cNvPr>
          <p:cNvCxnSpPr>
            <a:cxnSpLocks/>
          </p:cNvCxnSpPr>
          <p:nvPr/>
        </p:nvCxnSpPr>
        <p:spPr>
          <a:xfrm flipH="1" flipV="1">
            <a:off x="9594696" y="2758142"/>
            <a:ext cx="823497" cy="1321734"/>
          </a:xfrm>
          <a:prstGeom prst="straightConnector1">
            <a:avLst/>
          </a:prstGeom>
          <a:ln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C2B1F081-5A01-47A7-A0BC-25FC5BBF37AF}"/>
              </a:ext>
            </a:extLst>
          </p:cNvPr>
          <p:cNvCxnSpPr>
            <a:cxnSpLocks/>
          </p:cNvCxnSpPr>
          <p:nvPr/>
        </p:nvCxnSpPr>
        <p:spPr>
          <a:xfrm>
            <a:off x="9727606" y="2677348"/>
            <a:ext cx="858485" cy="1307565"/>
          </a:xfrm>
          <a:prstGeom prst="straightConnector1">
            <a:avLst/>
          </a:prstGeom>
          <a:ln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extLst>
              <a:ext uri="{FF2B5EF4-FFF2-40B4-BE49-F238E27FC236}">
                <a16:creationId xmlns:a16="http://schemas.microsoft.com/office/drawing/2014/main" id="{C669B4AF-14CA-4E2B-8F88-F5D5EC77B980}"/>
              </a:ext>
            </a:extLst>
          </p:cNvPr>
          <p:cNvSpPr txBox="1"/>
          <p:nvPr/>
        </p:nvSpPr>
        <p:spPr>
          <a:xfrm>
            <a:off x="706876" y="2023218"/>
            <a:ext cx="4628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诚实节点：</a:t>
            </a: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达成一致，无论进攻还是撤退</a:t>
            </a:r>
            <a:endParaRPr lang="en-US" altLang="zh-CN" b="1" dirty="0">
              <a:solidFill>
                <a:srgbClr val="5B307E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598ADD76-2A20-439D-9E42-7557DB264D9F}"/>
              </a:ext>
            </a:extLst>
          </p:cNvPr>
          <p:cNvSpPr txBox="1"/>
          <p:nvPr/>
        </p:nvSpPr>
        <p:spPr>
          <a:xfrm>
            <a:off x="701695" y="2511799"/>
            <a:ext cx="4166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恶意节点：</a:t>
            </a:r>
            <a:r>
              <a:rPr lang="zh-CN" altLang="en-US" b="1" dirty="0">
                <a:solidFill>
                  <a:srgbClr val="0000CC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令诚实节点无法达成一致</a:t>
            </a:r>
            <a:endParaRPr lang="en-US" altLang="zh-CN" b="1" dirty="0">
              <a:solidFill>
                <a:srgbClr val="0000CC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229BC960-31C1-4921-B8AA-1569F371CB9C}"/>
              </a:ext>
            </a:extLst>
          </p:cNvPr>
          <p:cNvSpPr txBox="1"/>
          <p:nvPr/>
        </p:nvSpPr>
        <p:spPr>
          <a:xfrm>
            <a:off x="445350" y="2962747"/>
            <a:ext cx="4499437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口头消息（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Oral Message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）模型：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A5BD2F8D-3EAD-4B0D-B0FC-E94EBD9BEA75}"/>
              </a:ext>
            </a:extLst>
          </p:cNvPr>
          <p:cNvSpPr txBox="1"/>
          <p:nvPr/>
        </p:nvSpPr>
        <p:spPr>
          <a:xfrm>
            <a:off x="701695" y="5233741"/>
            <a:ext cx="5089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诚实节点：收到的消息会</a:t>
            </a: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诚实地转发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给所有人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D78553D9-17BF-4B16-9BDD-CE776EF45A82}"/>
              </a:ext>
            </a:extLst>
          </p:cNvPr>
          <p:cNvSpPr txBox="1"/>
          <p:nvPr/>
        </p:nvSpPr>
        <p:spPr>
          <a:xfrm>
            <a:off x="696514" y="5730608"/>
            <a:ext cx="4166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恶意节点：</a:t>
            </a:r>
            <a:r>
              <a:rPr lang="zh-CN" altLang="en-US" b="1" dirty="0">
                <a:solidFill>
                  <a:srgbClr val="0000CC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会发送任意消息（篡改）</a:t>
            </a:r>
            <a:endParaRPr lang="en-US" altLang="zh-CN" b="1" dirty="0">
              <a:solidFill>
                <a:srgbClr val="0000CC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E148F71C-CEA7-4D37-ACD7-B7AEE9E46D08}"/>
              </a:ext>
            </a:extLst>
          </p:cNvPr>
          <p:cNvSpPr txBox="1"/>
          <p:nvPr/>
        </p:nvSpPr>
        <p:spPr>
          <a:xfrm>
            <a:off x="706876" y="3556514"/>
            <a:ext cx="2050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方法：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M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轮消息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6DC0AAA2-B9FB-4681-9AF3-3956FFA3FC4B}"/>
              </a:ext>
            </a:extLst>
          </p:cNvPr>
          <p:cNvSpPr txBox="1"/>
          <p:nvPr/>
        </p:nvSpPr>
        <p:spPr>
          <a:xfrm>
            <a:off x="1045988" y="4121203"/>
            <a:ext cx="66437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Round 1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：由任意一个节点（可能诚实也可能恶意）发起指令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B7F0BB24-BB71-44FB-B1E4-7AAFEF7CF762}"/>
              </a:ext>
            </a:extLst>
          </p:cNvPr>
          <p:cNvSpPr txBox="1"/>
          <p:nvPr/>
        </p:nvSpPr>
        <p:spPr>
          <a:xfrm>
            <a:off x="1040807" y="4600285"/>
            <a:ext cx="66437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Round 2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：收到消息的节点，把消息转发给其他人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…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861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9" grpId="0"/>
      <p:bldP spid="41" grpId="0"/>
      <p:bldP spid="42" grpId="0"/>
      <p:bldP spid="46" grpId="0"/>
      <p:bldP spid="47" grpId="0"/>
      <p:bldP spid="48" grpId="0"/>
      <p:bldP spid="51" grpId="0"/>
      <p:bldP spid="53" grpId="0"/>
      <p:bldP spid="5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拜占庭容错（</a:t>
            </a:r>
            <a:r>
              <a:rPr kumimoji="1"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BFT</a:t>
            </a:r>
            <a:r>
              <a:rPr kumimoji="1"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>
                <a:latin typeface="Garamond" panose="02020404030301010803" pitchFamily="18" charset="0"/>
                <a:ea typeface="微软雅黑" panose="020B0503020204020204" pitchFamily="34" charset="-122"/>
              </a:rPr>
              <a:t>8</a:t>
            </a:fld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0C5F593-9BB8-4138-B70A-7968CDB67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3945" y="1795895"/>
            <a:ext cx="952500" cy="9525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1E8097D-685C-4875-8102-12A03DBFC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9290" y="3984913"/>
            <a:ext cx="952500" cy="9525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CADBEFC-0AD0-49E4-9506-B0EE507DA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9187" y="3229650"/>
            <a:ext cx="762577" cy="76257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A056926-AADC-42C3-BD20-934806E768E5}"/>
              </a:ext>
            </a:extLst>
          </p:cNvPr>
          <p:cNvSpPr txBox="1"/>
          <p:nvPr/>
        </p:nvSpPr>
        <p:spPr>
          <a:xfrm>
            <a:off x="10006445" y="2067790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General A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94A3E16-D187-459F-97C9-C5C47F7EF79A}"/>
              </a:ext>
            </a:extLst>
          </p:cNvPr>
          <p:cNvSpPr txBox="1"/>
          <p:nvPr/>
        </p:nvSpPr>
        <p:spPr>
          <a:xfrm>
            <a:off x="7744056" y="4913496"/>
            <a:ext cx="1096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General B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A5D28EC-13A9-4E5C-A3A6-EA88CED9F24C}"/>
              </a:ext>
            </a:extLst>
          </p:cNvPr>
          <p:cNvSpPr txBox="1"/>
          <p:nvPr/>
        </p:nvSpPr>
        <p:spPr>
          <a:xfrm>
            <a:off x="10155894" y="4932672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General C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B2607A83-DEB7-4B2B-B42B-91822944D4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4125" y="4079876"/>
            <a:ext cx="762573" cy="762573"/>
          </a:xfrm>
          <a:prstGeom prst="rect">
            <a:avLst/>
          </a:prstGeom>
        </p:spPr>
      </p:pic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6D70C8E0-6887-4759-9572-2F472E649140}"/>
              </a:ext>
            </a:extLst>
          </p:cNvPr>
          <p:cNvCxnSpPr>
            <a:stCxn id="21" idx="0"/>
            <a:endCxn id="5" idx="2"/>
          </p:cNvCxnSpPr>
          <p:nvPr/>
        </p:nvCxnSpPr>
        <p:spPr>
          <a:xfrm flipV="1">
            <a:off x="8325412" y="2748395"/>
            <a:ext cx="1204783" cy="1331481"/>
          </a:xfrm>
          <a:prstGeom prst="straightConnector1">
            <a:avLst/>
          </a:prstGeom>
          <a:ln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AFABE9F4-402B-4F03-9DA3-992CD9CD24E7}"/>
              </a:ext>
            </a:extLst>
          </p:cNvPr>
          <p:cNvCxnSpPr>
            <a:stCxn id="21" idx="3"/>
            <a:endCxn id="6" idx="1"/>
          </p:cNvCxnSpPr>
          <p:nvPr/>
        </p:nvCxnSpPr>
        <p:spPr>
          <a:xfrm>
            <a:off x="8706698" y="4461163"/>
            <a:ext cx="1552592" cy="0"/>
          </a:xfrm>
          <a:prstGeom prst="straightConnector1">
            <a:avLst/>
          </a:prstGeom>
          <a:ln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0BCDA449-1EC1-4816-AC49-8513EBBF8D45}"/>
              </a:ext>
            </a:extLst>
          </p:cNvPr>
          <p:cNvCxnSpPr>
            <a:cxnSpLocks/>
          </p:cNvCxnSpPr>
          <p:nvPr/>
        </p:nvCxnSpPr>
        <p:spPr>
          <a:xfrm flipH="1">
            <a:off x="8128001" y="2748395"/>
            <a:ext cx="1177347" cy="1331481"/>
          </a:xfrm>
          <a:prstGeom prst="straightConnector1">
            <a:avLst/>
          </a:prstGeom>
          <a:ln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5A19189D-90FB-4D95-95CF-06E8E4DF2099}"/>
              </a:ext>
            </a:extLst>
          </p:cNvPr>
          <p:cNvCxnSpPr>
            <a:cxnSpLocks/>
          </p:cNvCxnSpPr>
          <p:nvPr/>
        </p:nvCxnSpPr>
        <p:spPr>
          <a:xfrm flipH="1" flipV="1">
            <a:off x="8706698" y="4252020"/>
            <a:ext cx="1552592" cy="18219"/>
          </a:xfrm>
          <a:prstGeom prst="straightConnector1">
            <a:avLst/>
          </a:prstGeom>
          <a:ln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AC594B82-081E-46DD-85BE-19C18D897713}"/>
              </a:ext>
            </a:extLst>
          </p:cNvPr>
          <p:cNvCxnSpPr>
            <a:cxnSpLocks/>
          </p:cNvCxnSpPr>
          <p:nvPr/>
        </p:nvCxnSpPr>
        <p:spPr>
          <a:xfrm flipH="1" flipV="1">
            <a:off x="9594696" y="2758142"/>
            <a:ext cx="823497" cy="1321734"/>
          </a:xfrm>
          <a:prstGeom prst="straightConnector1">
            <a:avLst/>
          </a:prstGeom>
          <a:ln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C2B1F081-5A01-47A7-A0BC-25FC5BBF37AF}"/>
              </a:ext>
            </a:extLst>
          </p:cNvPr>
          <p:cNvCxnSpPr>
            <a:cxnSpLocks/>
          </p:cNvCxnSpPr>
          <p:nvPr/>
        </p:nvCxnSpPr>
        <p:spPr>
          <a:xfrm>
            <a:off x="9727606" y="2677348"/>
            <a:ext cx="858485" cy="1307565"/>
          </a:xfrm>
          <a:prstGeom prst="straightConnector1">
            <a:avLst/>
          </a:prstGeom>
          <a:ln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C3768D9D-70B0-48B4-87E1-2E3F48EDAB22}"/>
              </a:ext>
            </a:extLst>
          </p:cNvPr>
          <p:cNvSpPr txBox="1"/>
          <p:nvPr/>
        </p:nvSpPr>
        <p:spPr>
          <a:xfrm>
            <a:off x="341745" y="3891797"/>
            <a:ext cx="3674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假设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B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（叛徒将军）先发起消息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graphicFrame>
        <p:nvGraphicFramePr>
          <p:cNvPr id="45" name="表格 45">
            <a:extLst>
              <a:ext uri="{FF2B5EF4-FFF2-40B4-BE49-F238E27FC236}">
                <a16:creationId xmlns:a16="http://schemas.microsoft.com/office/drawing/2014/main" id="{A3E0CAA6-B6FD-46E1-A16E-FB906DDFFA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6066342"/>
              </p:ext>
            </p:extLst>
          </p:nvPr>
        </p:nvGraphicFramePr>
        <p:xfrm>
          <a:off x="420247" y="4460913"/>
          <a:ext cx="705182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955">
                  <a:extLst>
                    <a:ext uri="{9D8B030D-6E8A-4147-A177-3AD203B41FA5}">
                      <a16:colId xmlns:a16="http://schemas.microsoft.com/office/drawing/2014/main" val="357476116"/>
                    </a:ext>
                  </a:extLst>
                </a:gridCol>
                <a:gridCol w="1762955">
                  <a:extLst>
                    <a:ext uri="{9D8B030D-6E8A-4147-A177-3AD203B41FA5}">
                      <a16:colId xmlns:a16="http://schemas.microsoft.com/office/drawing/2014/main" val="3395083664"/>
                    </a:ext>
                  </a:extLst>
                </a:gridCol>
                <a:gridCol w="1762955">
                  <a:extLst>
                    <a:ext uri="{9D8B030D-6E8A-4147-A177-3AD203B41FA5}">
                      <a16:colId xmlns:a16="http://schemas.microsoft.com/office/drawing/2014/main" val="2524584197"/>
                    </a:ext>
                  </a:extLst>
                </a:gridCol>
                <a:gridCol w="1762955">
                  <a:extLst>
                    <a:ext uri="{9D8B030D-6E8A-4147-A177-3AD203B41FA5}">
                      <a16:colId xmlns:a16="http://schemas.microsoft.com/office/drawing/2014/main" val="32424674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行给列发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A</a:t>
                      </a:r>
                      <a:endParaRPr lang="zh-CN" altLang="en-US" b="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B</a:t>
                      </a:r>
                      <a:endParaRPr lang="zh-CN" altLang="en-US" b="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C</a:t>
                      </a:r>
                      <a:endParaRPr lang="zh-CN" altLang="en-US" b="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0400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A</a:t>
                      </a:r>
                      <a:endParaRPr lang="zh-CN" altLang="en-US" baseline="0" dirty="0"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-</a:t>
                      </a:r>
                      <a:endParaRPr lang="zh-CN" altLang="en-US" baseline="0" dirty="0"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0000FF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Attack</a:t>
                      </a:r>
                      <a:endParaRPr lang="zh-CN" altLang="en-US" baseline="0" dirty="0">
                        <a:solidFill>
                          <a:srgbClr val="0000FF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Attack</a:t>
                      </a:r>
                      <a:endParaRPr lang="zh-CN" altLang="en-US" baseline="0" dirty="0"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7093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B</a:t>
                      </a:r>
                      <a:endParaRPr lang="zh-CN" altLang="en-US" baseline="0" dirty="0"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Attack</a:t>
                      </a:r>
                      <a:endParaRPr lang="zh-CN" altLang="en-US" baseline="0" dirty="0"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0000FF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-</a:t>
                      </a:r>
                      <a:endParaRPr lang="zh-CN" altLang="en-US" baseline="0" dirty="0">
                        <a:solidFill>
                          <a:srgbClr val="0000FF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Retreat</a:t>
                      </a:r>
                      <a:endParaRPr lang="zh-CN" altLang="en-US" baseline="0" dirty="0"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330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C</a:t>
                      </a:r>
                      <a:endParaRPr lang="zh-CN" altLang="en-US" baseline="0" dirty="0"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Retreat</a:t>
                      </a:r>
                      <a:endParaRPr lang="zh-CN" altLang="en-US" baseline="0" dirty="0"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0000FF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Retreat</a:t>
                      </a:r>
                      <a:endParaRPr lang="zh-CN" altLang="en-US" baseline="0" dirty="0">
                        <a:solidFill>
                          <a:srgbClr val="0000FF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-</a:t>
                      </a:r>
                      <a:endParaRPr lang="zh-CN" altLang="en-US" baseline="0" dirty="0"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3232859"/>
                  </a:ext>
                </a:extLst>
              </a:tr>
            </a:tbl>
          </a:graphicData>
        </a:graphic>
      </p:graphicFrame>
      <p:sp>
        <p:nvSpPr>
          <p:cNvPr id="26" name="文本框 25">
            <a:extLst>
              <a:ext uri="{FF2B5EF4-FFF2-40B4-BE49-F238E27FC236}">
                <a16:creationId xmlns:a16="http://schemas.microsoft.com/office/drawing/2014/main" id="{1E6E8291-2A33-486B-A031-73B4EE07E62D}"/>
              </a:ext>
            </a:extLst>
          </p:cNvPr>
          <p:cNvSpPr txBox="1"/>
          <p:nvPr/>
        </p:nvSpPr>
        <p:spPr>
          <a:xfrm>
            <a:off x="7779982" y="5504435"/>
            <a:ext cx="38952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结论：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个将军，只要有一个恶意将军，系统将无法达成共识（无解）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graphicFrame>
        <p:nvGraphicFramePr>
          <p:cNvPr id="28" name="表格 45">
            <a:extLst>
              <a:ext uri="{FF2B5EF4-FFF2-40B4-BE49-F238E27FC236}">
                <a16:creationId xmlns:a16="http://schemas.microsoft.com/office/drawing/2014/main" id="{C61240D5-610F-4F0B-B83D-D335630358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292213"/>
              </p:ext>
            </p:extLst>
          </p:nvPr>
        </p:nvGraphicFramePr>
        <p:xfrm>
          <a:off x="420247" y="2045199"/>
          <a:ext cx="705182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955">
                  <a:extLst>
                    <a:ext uri="{9D8B030D-6E8A-4147-A177-3AD203B41FA5}">
                      <a16:colId xmlns:a16="http://schemas.microsoft.com/office/drawing/2014/main" val="357476116"/>
                    </a:ext>
                  </a:extLst>
                </a:gridCol>
                <a:gridCol w="1762955">
                  <a:extLst>
                    <a:ext uri="{9D8B030D-6E8A-4147-A177-3AD203B41FA5}">
                      <a16:colId xmlns:a16="http://schemas.microsoft.com/office/drawing/2014/main" val="3395083664"/>
                    </a:ext>
                  </a:extLst>
                </a:gridCol>
                <a:gridCol w="1762955">
                  <a:extLst>
                    <a:ext uri="{9D8B030D-6E8A-4147-A177-3AD203B41FA5}">
                      <a16:colId xmlns:a16="http://schemas.microsoft.com/office/drawing/2014/main" val="2524584197"/>
                    </a:ext>
                  </a:extLst>
                </a:gridCol>
                <a:gridCol w="1762955">
                  <a:extLst>
                    <a:ext uri="{9D8B030D-6E8A-4147-A177-3AD203B41FA5}">
                      <a16:colId xmlns:a16="http://schemas.microsoft.com/office/drawing/2014/main" val="32424674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行给列发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A</a:t>
                      </a:r>
                      <a:endParaRPr lang="zh-CN" altLang="en-US" b="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B</a:t>
                      </a:r>
                      <a:endParaRPr lang="zh-CN" altLang="en-US" b="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C</a:t>
                      </a:r>
                      <a:endParaRPr lang="zh-CN" altLang="en-US" b="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0400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A</a:t>
                      </a:r>
                      <a:endParaRPr lang="zh-CN" altLang="en-US" baseline="0" dirty="0"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-</a:t>
                      </a:r>
                      <a:endParaRPr lang="zh-CN" altLang="en-US" baseline="0" dirty="0"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rgbClr val="0000FF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Attack</a:t>
                      </a:r>
                      <a:endParaRPr lang="zh-CN" altLang="en-US" b="0" baseline="0" dirty="0">
                        <a:solidFill>
                          <a:srgbClr val="0000FF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Attack</a:t>
                      </a:r>
                      <a:endParaRPr lang="zh-CN" altLang="en-US" baseline="0" dirty="0"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7093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B</a:t>
                      </a:r>
                      <a:endParaRPr lang="zh-CN" altLang="en-US" baseline="0" dirty="0"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Attack</a:t>
                      </a:r>
                      <a:endParaRPr lang="zh-CN" altLang="en-US" baseline="0" dirty="0"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rgbClr val="0000FF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-</a:t>
                      </a:r>
                      <a:endParaRPr lang="zh-CN" altLang="en-US" b="0" baseline="0" dirty="0">
                        <a:solidFill>
                          <a:srgbClr val="0000FF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Retreat</a:t>
                      </a:r>
                      <a:endParaRPr lang="zh-CN" altLang="en-US" baseline="0" dirty="0"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330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C</a:t>
                      </a:r>
                      <a:endParaRPr lang="zh-CN" altLang="en-US" baseline="0" dirty="0"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Attack</a:t>
                      </a:r>
                      <a:endParaRPr lang="zh-CN" altLang="en-US" baseline="0" dirty="0"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rgbClr val="0000FF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Retreat</a:t>
                      </a:r>
                      <a:endParaRPr lang="zh-CN" altLang="en-US" b="0" baseline="0" dirty="0">
                        <a:solidFill>
                          <a:srgbClr val="0000FF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-</a:t>
                      </a:r>
                      <a:endParaRPr lang="zh-CN" altLang="en-US" baseline="0" dirty="0"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3232859"/>
                  </a:ext>
                </a:extLst>
              </a:tr>
            </a:tbl>
          </a:graphicData>
        </a:graphic>
      </p:graphicFrame>
      <p:sp>
        <p:nvSpPr>
          <p:cNvPr id="30" name="文本框 29">
            <a:extLst>
              <a:ext uri="{FF2B5EF4-FFF2-40B4-BE49-F238E27FC236}">
                <a16:creationId xmlns:a16="http://schemas.microsoft.com/office/drawing/2014/main" id="{A5681118-88AB-433A-8574-C61DEB8D04C1}"/>
              </a:ext>
            </a:extLst>
          </p:cNvPr>
          <p:cNvSpPr txBox="1"/>
          <p:nvPr/>
        </p:nvSpPr>
        <p:spPr>
          <a:xfrm>
            <a:off x="449349" y="15327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假设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（诚实将军）先发起消息</a:t>
            </a:r>
          </a:p>
        </p:txBody>
      </p:sp>
    </p:spTree>
    <p:extLst>
      <p:ext uri="{BB962C8B-B14F-4D97-AF65-F5344CB8AC3E}">
        <p14:creationId xmlns:p14="http://schemas.microsoft.com/office/powerpoint/2010/main" val="3978509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26" grpId="0"/>
      <p:bldP spid="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拜占庭容错（</a:t>
            </a:r>
            <a:r>
              <a:rPr kumimoji="1"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BFT</a:t>
            </a:r>
            <a:r>
              <a:rPr kumimoji="1"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>
                <a:latin typeface="Garamond" panose="02020404030301010803" pitchFamily="18" charset="0"/>
                <a:ea typeface="微软雅黑" panose="020B0503020204020204" pitchFamily="34" charset="-122"/>
              </a:rPr>
              <a:t>9</a:t>
            </a:fld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0C5F593-9BB8-4138-B70A-7968CDB67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8721" y="1751191"/>
            <a:ext cx="952500" cy="9525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1E8097D-685C-4875-8102-12A03DBFC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0559" y="4035671"/>
            <a:ext cx="952500" cy="9525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CADBEFC-0AD0-49E4-9506-B0EE507DA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0456" y="2961148"/>
            <a:ext cx="762577" cy="76257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A056926-AADC-42C3-BD20-934806E768E5}"/>
              </a:ext>
            </a:extLst>
          </p:cNvPr>
          <p:cNvSpPr txBox="1"/>
          <p:nvPr/>
        </p:nvSpPr>
        <p:spPr>
          <a:xfrm>
            <a:off x="8185325" y="1446317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General A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94A3E16-D187-459F-97C9-C5C47F7EF79A}"/>
              </a:ext>
            </a:extLst>
          </p:cNvPr>
          <p:cNvSpPr txBox="1"/>
          <p:nvPr/>
        </p:nvSpPr>
        <p:spPr>
          <a:xfrm>
            <a:off x="8185325" y="4964254"/>
            <a:ext cx="1096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General B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A5D28EC-13A9-4E5C-A3A6-EA88CED9F24C}"/>
              </a:ext>
            </a:extLst>
          </p:cNvPr>
          <p:cNvSpPr txBox="1"/>
          <p:nvPr/>
        </p:nvSpPr>
        <p:spPr>
          <a:xfrm>
            <a:off x="10597163" y="4983430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General C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B2607A83-DEB7-4B2B-B42B-91822944D4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394" y="4130634"/>
            <a:ext cx="762573" cy="762573"/>
          </a:xfrm>
          <a:prstGeom prst="rect">
            <a:avLst/>
          </a:prstGeom>
        </p:spPr>
      </p:pic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6D70C8E0-6887-4759-9572-2F472E649140}"/>
              </a:ext>
            </a:extLst>
          </p:cNvPr>
          <p:cNvCxnSpPr>
            <a:stCxn id="21" idx="0"/>
            <a:endCxn id="5" idx="2"/>
          </p:cNvCxnSpPr>
          <p:nvPr/>
        </p:nvCxnSpPr>
        <p:spPr>
          <a:xfrm flipH="1" flipV="1">
            <a:off x="8764971" y="2703691"/>
            <a:ext cx="1710" cy="1426943"/>
          </a:xfrm>
          <a:prstGeom prst="straightConnector1">
            <a:avLst/>
          </a:prstGeom>
          <a:ln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AFABE9F4-402B-4F03-9DA3-992CD9CD24E7}"/>
              </a:ext>
            </a:extLst>
          </p:cNvPr>
          <p:cNvCxnSpPr>
            <a:stCxn id="21" idx="3"/>
            <a:endCxn id="6" idx="1"/>
          </p:cNvCxnSpPr>
          <p:nvPr/>
        </p:nvCxnSpPr>
        <p:spPr>
          <a:xfrm>
            <a:off x="9147967" y="4511921"/>
            <a:ext cx="1552592" cy="0"/>
          </a:xfrm>
          <a:prstGeom prst="straightConnector1">
            <a:avLst/>
          </a:prstGeom>
          <a:ln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0BCDA449-1EC1-4816-AC49-8513EBBF8D45}"/>
              </a:ext>
            </a:extLst>
          </p:cNvPr>
          <p:cNvCxnSpPr>
            <a:cxnSpLocks/>
          </p:cNvCxnSpPr>
          <p:nvPr/>
        </p:nvCxnSpPr>
        <p:spPr>
          <a:xfrm flipH="1">
            <a:off x="8569271" y="2703691"/>
            <a:ext cx="20624" cy="1426943"/>
          </a:xfrm>
          <a:prstGeom prst="straightConnector1">
            <a:avLst/>
          </a:prstGeom>
          <a:ln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5A19189D-90FB-4D95-95CF-06E8E4DF2099}"/>
              </a:ext>
            </a:extLst>
          </p:cNvPr>
          <p:cNvCxnSpPr>
            <a:cxnSpLocks/>
          </p:cNvCxnSpPr>
          <p:nvPr/>
        </p:nvCxnSpPr>
        <p:spPr>
          <a:xfrm flipH="1" flipV="1">
            <a:off x="9147967" y="4302778"/>
            <a:ext cx="1552592" cy="18219"/>
          </a:xfrm>
          <a:prstGeom prst="straightConnector1">
            <a:avLst/>
          </a:prstGeom>
          <a:ln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AC594B82-081E-46DD-85BE-19C18D897713}"/>
              </a:ext>
            </a:extLst>
          </p:cNvPr>
          <p:cNvCxnSpPr>
            <a:cxnSpLocks/>
          </p:cNvCxnSpPr>
          <p:nvPr/>
        </p:nvCxnSpPr>
        <p:spPr>
          <a:xfrm flipV="1">
            <a:off x="11279927" y="2707647"/>
            <a:ext cx="13082" cy="1321734"/>
          </a:xfrm>
          <a:prstGeom prst="straightConnector1">
            <a:avLst/>
          </a:prstGeom>
          <a:ln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C2B1F081-5A01-47A7-A0BC-25FC5BBF37AF}"/>
              </a:ext>
            </a:extLst>
          </p:cNvPr>
          <p:cNvCxnSpPr>
            <a:cxnSpLocks/>
          </p:cNvCxnSpPr>
          <p:nvPr/>
        </p:nvCxnSpPr>
        <p:spPr>
          <a:xfrm>
            <a:off x="11027360" y="2717876"/>
            <a:ext cx="0" cy="1317795"/>
          </a:xfrm>
          <a:prstGeom prst="straightConnector1">
            <a:avLst/>
          </a:prstGeom>
          <a:ln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C3768D9D-70B0-48B4-87E1-2E3F48EDAB22}"/>
              </a:ext>
            </a:extLst>
          </p:cNvPr>
          <p:cNvSpPr txBox="1"/>
          <p:nvPr/>
        </p:nvSpPr>
        <p:spPr>
          <a:xfrm>
            <a:off x="230908" y="1496320"/>
            <a:ext cx="42450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假设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（诚实将军）先发起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Attack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消息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graphicFrame>
        <p:nvGraphicFramePr>
          <p:cNvPr id="45" name="表格 45">
            <a:extLst>
              <a:ext uri="{FF2B5EF4-FFF2-40B4-BE49-F238E27FC236}">
                <a16:creationId xmlns:a16="http://schemas.microsoft.com/office/drawing/2014/main" id="{A3E0CAA6-B6FD-46E1-A16E-FB906DDFFA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5648172"/>
              </p:ext>
            </p:extLst>
          </p:nvPr>
        </p:nvGraphicFramePr>
        <p:xfrm>
          <a:off x="296926" y="2022254"/>
          <a:ext cx="705182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0364">
                  <a:extLst>
                    <a:ext uri="{9D8B030D-6E8A-4147-A177-3AD203B41FA5}">
                      <a16:colId xmlns:a16="http://schemas.microsoft.com/office/drawing/2014/main" val="357476116"/>
                    </a:ext>
                  </a:extLst>
                </a:gridCol>
                <a:gridCol w="1410364">
                  <a:extLst>
                    <a:ext uri="{9D8B030D-6E8A-4147-A177-3AD203B41FA5}">
                      <a16:colId xmlns:a16="http://schemas.microsoft.com/office/drawing/2014/main" val="3395083664"/>
                    </a:ext>
                  </a:extLst>
                </a:gridCol>
                <a:gridCol w="1410364">
                  <a:extLst>
                    <a:ext uri="{9D8B030D-6E8A-4147-A177-3AD203B41FA5}">
                      <a16:colId xmlns:a16="http://schemas.microsoft.com/office/drawing/2014/main" val="2524584197"/>
                    </a:ext>
                  </a:extLst>
                </a:gridCol>
                <a:gridCol w="1410364">
                  <a:extLst>
                    <a:ext uri="{9D8B030D-6E8A-4147-A177-3AD203B41FA5}">
                      <a16:colId xmlns:a16="http://schemas.microsoft.com/office/drawing/2014/main" val="3242467475"/>
                    </a:ext>
                  </a:extLst>
                </a:gridCol>
                <a:gridCol w="1410364">
                  <a:extLst>
                    <a:ext uri="{9D8B030D-6E8A-4147-A177-3AD203B41FA5}">
                      <a16:colId xmlns:a16="http://schemas.microsoft.com/office/drawing/2014/main" val="32587323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0" kern="12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  <a:cs typeface="+mn-cs"/>
                        </a:rPr>
                        <a:t>行给列发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A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B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C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D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0400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A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-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rgbClr val="0000FF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Attack</a:t>
                      </a:r>
                      <a:endParaRPr lang="zh-CN" altLang="en-US" sz="1800" kern="1200" dirty="0">
                        <a:solidFill>
                          <a:srgbClr val="0000FF"/>
                        </a:solidFill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rgbClr val="A40A57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Attack</a:t>
                      </a:r>
                      <a:endParaRPr lang="zh-CN" altLang="en-US" sz="1800" kern="1200" dirty="0">
                        <a:solidFill>
                          <a:srgbClr val="A40A57"/>
                        </a:solidFill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rgbClr val="A40A57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Attack</a:t>
                      </a:r>
                      <a:endParaRPr lang="zh-CN" altLang="en-US" sz="1800" kern="1200" dirty="0">
                        <a:solidFill>
                          <a:srgbClr val="A40A57"/>
                        </a:solidFill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7093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B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rgbClr val="A40A57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Attack</a:t>
                      </a:r>
                      <a:endParaRPr lang="zh-CN" altLang="en-US" sz="1800" kern="1200" dirty="0">
                        <a:solidFill>
                          <a:srgbClr val="A40A57"/>
                        </a:solidFill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rgbClr val="0000FF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-</a:t>
                      </a:r>
                      <a:endParaRPr lang="zh-CN" altLang="en-US" sz="1800" kern="1200" dirty="0">
                        <a:solidFill>
                          <a:srgbClr val="0000FF"/>
                        </a:solidFill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Retreat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Retreat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330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C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rgbClr val="A40A57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Attack</a:t>
                      </a:r>
                      <a:endParaRPr lang="zh-CN" altLang="en-US" sz="1800" kern="1200" dirty="0">
                        <a:solidFill>
                          <a:srgbClr val="A40A57"/>
                        </a:solidFill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rgbClr val="0000FF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Attack</a:t>
                      </a:r>
                      <a:endParaRPr lang="zh-CN" altLang="en-US" sz="1800" kern="1200" dirty="0">
                        <a:solidFill>
                          <a:srgbClr val="0000FF"/>
                        </a:solidFill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-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rgbClr val="A40A57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Attack</a:t>
                      </a:r>
                      <a:endParaRPr lang="zh-CN" altLang="en-US" sz="1800" kern="1200" dirty="0">
                        <a:solidFill>
                          <a:srgbClr val="A40A57"/>
                        </a:solidFill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3232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D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rgbClr val="A40A57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Attack</a:t>
                      </a:r>
                      <a:endParaRPr lang="zh-CN" altLang="en-US" sz="1800" kern="1200" dirty="0">
                        <a:solidFill>
                          <a:srgbClr val="A40A57"/>
                        </a:solidFill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solidFill>
                            <a:srgbClr val="0000FF"/>
                          </a:solidFill>
                          <a:latin typeface="Garamond" panose="02020404030301010803" pitchFamily="18" charset="0"/>
                        </a:rPr>
                        <a:t>Attack</a:t>
                      </a:r>
                      <a:endParaRPr lang="zh-CN" altLang="en-US" dirty="0">
                        <a:solidFill>
                          <a:srgbClr val="0000FF"/>
                        </a:solidFill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rgbClr val="A40A57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Attack</a:t>
                      </a:r>
                      <a:endParaRPr lang="zh-CN" altLang="en-US" sz="1800" kern="1200" dirty="0">
                        <a:solidFill>
                          <a:srgbClr val="A40A57"/>
                        </a:solidFill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-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243200"/>
                  </a:ext>
                </a:extLst>
              </a:tr>
            </a:tbl>
          </a:graphicData>
        </a:graphic>
      </p:graphicFrame>
      <p:pic>
        <p:nvPicPr>
          <p:cNvPr id="26" name="图片 25">
            <a:extLst>
              <a:ext uri="{FF2B5EF4-FFF2-40B4-BE49-F238E27FC236}">
                <a16:creationId xmlns:a16="http://schemas.microsoft.com/office/drawing/2014/main" id="{B03149F4-A0C2-4026-B12D-A0BF8E04A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0559" y="1755147"/>
            <a:ext cx="952500" cy="952500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8DBCCAC4-B60D-46FE-BB74-ED2DAB7BBBA0}"/>
              </a:ext>
            </a:extLst>
          </p:cNvPr>
          <p:cNvSpPr txBox="1"/>
          <p:nvPr/>
        </p:nvSpPr>
        <p:spPr>
          <a:xfrm>
            <a:off x="10597163" y="1440585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General D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31FAA974-95CA-40AD-987E-1B3BCBC01387}"/>
              </a:ext>
            </a:extLst>
          </p:cNvPr>
          <p:cNvCxnSpPr/>
          <p:nvPr/>
        </p:nvCxnSpPr>
        <p:spPr>
          <a:xfrm>
            <a:off x="9177411" y="2353202"/>
            <a:ext cx="1552592" cy="0"/>
          </a:xfrm>
          <a:prstGeom prst="straightConnector1">
            <a:avLst/>
          </a:prstGeom>
          <a:ln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384EB642-3343-4EAD-B856-5BB4B9819139}"/>
              </a:ext>
            </a:extLst>
          </p:cNvPr>
          <p:cNvCxnSpPr>
            <a:cxnSpLocks/>
          </p:cNvCxnSpPr>
          <p:nvPr/>
        </p:nvCxnSpPr>
        <p:spPr>
          <a:xfrm flipH="1" flipV="1">
            <a:off x="9177411" y="2144059"/>
            <a:ext cx="1552592" cy="18219"/>
          </a:xfrm>
          <a:prstGeom prst="straightConnector1">
            <a:avLst/>
          </a:prstGeom>
          <a:ln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表格 45">
            <a:extLst>
              <a:ext uri="{FF2B5EF4-FFF2-40B4-BE49-F238E27FC236}">
                <a16:creationId xmlns:a16="http://schemas.microsoft.com/office/drawing/2014/main" id="{F74095A1-1F11-4F88-AA74-E570AF5002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2437297"/>
              </p:ext>
            </p:extLst>
          </p:nvPr>
        </p:nvGraphicFramePr>
        <p:xfrm>
          <a:off x="280697" y="4617552"/>
          <a:ext cx="705182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0364">
                  <a:extLst>
                    <a:ext uri="{9D8B030D-6E8A-4147-A177-3AD203B41FA5}">
                      <a16:colId xmlns:a16="http://schemas.microsoft.com/office/drawing/2014/main" val="357476116"/>
                    </a:ext>
                  </a:extLst>
                </a:gridCol>
                <a:gridCol w="1410364">
                  <a:extLst>
                    <a:ext uri="{9D8B030D-6E8A-4147-A177-3AD203B41FA5}">
                      <a16:colId xmlns:a16="http://schemas.microsoft.com/office/drawing/2014/main" val="3395083664"/>
                    </a:ext>
                  </a:extLst>
                </a:gridCol>
                <a:gridCol w="1410364">
                  <a:extLst>
                    <a:ext uri="{9D8B030D-6E8A-4147-A177-3AD203B41FA5}">
                      <a16:colId xmlns:a16="http://schemas.microsoft.com/office/drawing/2014/main" val="2524584197"/>
                    </a:ext>
                  </a:extLst>
                </a:gridCol>
                <a:gridCol w="1410364">
                  <a:extLst>
                    <a:ext uri="{9D8B030D-6E8A-4147-A177-3AD203B41FA5}">
                      <a16:colId xmlns:a16="http://schemas.microsoft.com/office/drawing/2014/main" val="3242467475"/>
                    </a:ext>
                  </a:extLst>
                </a:gridCol>
                <a:gridCol w="1410364">
                  <a:extLst>
                    <a:ext uri="{9D8B030D-6E8A-4147-A177-3AD203B41FA5}">
                      <a16:colId xmlns:a16="http://schemas.microsoft.com/office/drawing/2014/main" val="32587323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0" kern="120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  <a:cs typeface="+mn-cs"/>
                        </a:rPr>
                        <a:t>行给列发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A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B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C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D</a:t>
                      </a:r>
                      <a:endParaRPr lang="zh-CN" altLang="en-US" sz="1800" b="0" kern="120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0400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A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-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rgbClr val="0000FF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Retreat</a:t>
                      </a:r>
                      <a:endParaRPr lang="zh-CN" altLang="en-US" sz="1800" kern="1200" dirty="0">
                        <a:solidFill>
                          <a:srgbClr val="0000FF"/>
                        </a:solidFill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rgbClr val="A40A57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Retreat</a:t>
                      </a:r>
                      <a:endParaRPr lang="zh-CN" altLang="en-US" sz="1800" kern="1200" dirty="0">
                        <a:solidFill>
                          <a:srgbClr val="A40A57"/>
                        </a:solidFill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kern="1200" dirty="0">
                          <a:solidFill>
                            <a:srgbClr val="A40A57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Retreat</a:t>
                      </a:r>
                      <a:endParaRPr lang="zh-CN" altLang="en-US" sz="1800" kern="1200" dirty="0">
                        <a:solidFill>
                          <a:srgbClr val="A40A57"/>
                        </a:solidFill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7093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B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Attack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rgbClr val="0000FF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-</a:t>
                      </a:r>
                      <a:endParaRPr lang="zh-CN" altLang="en-US" sz="1800" kern="1200" dirty="0">
                        <a:solidFill>
                          <a:srgbClr val="0000FF"/>
                        </a:solidFill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Attack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Attack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330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C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rgbClr val="A40A57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Retreat</a:t>
                      </a:r>
                      <a:endParaRPr lang="zh-CN" altLang="en-US" sz="1800" kern="1200" dirty="0">
                        <a:solidFill>
                          <a:srgbClr val="A40A57"/>
                        </a:solidFill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rgbClr val="0000FF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Retreat</a:t>
                      </a:r>
                      <a:endParaRPr lang="zh-CN" altLang="en-US" sz="1800" kern="1200" dirty="0">
                        <a:solidFill>
                          <a:srgbClr val="0000FF"/>
                        </a:solidFill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-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rgbClr val="A40A57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Retreat</a:t>
                      </a:r>
                      <a:endParaRPr lang="zh-CN" altLang="en-US" sz="1800" kern="1200" dirty="0">
                        <a:solidFill>
                          <a:srgbClr val="A40A57"/>
                        </a:solidFill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3232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D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rgbClr val="A40A57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Retreat</a:t>
                      </a:r>
                      <a:endParaRPr lang="zh-CN" altLang="en-US" sz="1800" kern="1200" dirty="0">
                        <a:solidFill>
                          <a:srgbClr val="A40A57"/>
                        </a:solidFill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rgbClr val="0000FF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Retreat</a:t>
                      </a:r>
                      <a:endParaRPr lang="zh-CN" altLang="en-US" sz="1800" kern="1200" dirty="0">
                        <a:solidFill>
                          <a:srgbClr val="0000FF"/>
                        </a:solidFill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kern="1200" dirty="0">
                          <a:solidFill>
                            <a:srgbClr val="A40A57"/>
                          </a:solidFill>
                          <a:latin typeface="Garamond" panose="02020404030301010803" pitchFamily="18" charset="0"/>
                          <a:ea typeface="+mn-ea"/>
                          <a:cs typeface="+mn-cs"/>
                        </a:rPr>
                        <a:t>Retreat</a:t>
                      </a:r>
                      <a:endParaRPr lang="zh-CN" altLang="en-US" sz="1800" kern="1200" dirty="0">
                        <a:solidFill>
                          <a:srgbClr val="A40A57"/>
                        </a:solidFill>
                        <a:latin typeface="Garamond" panose="02020404030301010803" pitchFamily="18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-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243200"/>
                  </a:ext>
                </a:extLst>
              </a:tr>
            </a:tbl>
          </a:graphicData>
        </a:graphic>
      </p:graphicFrame>
      <p:sp>
        <p:nvSpPr>
          <p:cNvPr id="35" name="文本框 34">
            <a:extLst>
              <a:ext uri="{FF2B5EF4-FFF2-40B4-BE49-F238E27FC236}">
                <a16:creationId xmlns:a16="http://schemas.microsoft.com/office/drawing/2014/main" id="{13B372A3-A5D1-4AB6-B505-D78FC1FC8244}"/>
              </a:ext>
            </a:extLst>
          </p:cNvPr>
          <p:cNvSpPr txBox="1"/>
          <p:nvPr/>
        </p:nvSpPr>
        <p:spPr>
          <a:xfrm>
            <a:off x="230907" y="4127221"/>
            <a:ext cx="4333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假设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（诚实将军）先发起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Retreat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消息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79591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43" grpId="0"/>
      <p:bldP spid="28" grpId="0"/>
      <p:bldP spid="3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拜占庭容错（</a:t>
            </a:r>
            <a:r>
              <a:rPr kumimoji="1"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BFT</a:t>
            </a:r>
            <a:r>
              <a:rPr kumimoji="1"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>
                <a:latin typeface="Garamond" panose="02020404030301010803" pitchFamily="18" charset="0"/>
                <a:ea typeface="微软雅黑" panose="020B0503020204020204" pitchFamily="34" charset="-122"/>
              </a:rPr>
              <a:t>10</a:t>
            </a:fld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0C5F593-9BB8-4138-B70A-7968CDB67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8721" y="1751191"/>
            <a:ext cx="952500" cy="9525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1E8097D-685C-4875-8102-12A03DBFC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0559" y="4035671"/>
            <a:ext cx="952500" cy="9525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CADBEFC-0AD0-49E4-9506-B0EE507DA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0456" y="2961148"/>
            <a:ext cx="762577" cy="76257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A056926-AADC-42C3-BD20-934806E768E5}"/>
              </a:ext>
            </a:extLst>
          </p:cNvPr>
          <p:cNvSpPr txBox="1"/>
          <p:nvPr/>
        </p:nvSpPr>
        <p:spPr>
          <a:xfrm>
            <a:off x="8185325" y="1446317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General A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94A3E16-D187-459F-97C9-C5C47F7EF79A}"/>
              </a:ext>
            </a:extLst>
          </p:cNvPr>
          <p:cNvSpPr txBox="1"/>
          <p:nvPr/>
        </p:nvSpPr>
        <p:spPr>
          <a:xfrm>
            <a:off x="8185325" y="4964254"/>
            <a:ext cx="1096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General B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A5D28EC-13A9-4E5C-A3A6-EA88CED9F24C}"/>
              </a:ext>
            </a:extLst>
          </p:cNvPr>
          <p:cNvSpPr txBox="1"/>
          <p:nvPr/>
        </p:nvSpPr>
        <p:spPr>
          <a:xfrm>
            <a:off x="10597163" y="4983430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General C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B2607A83-DEB7-4B2B-B42B-91822944D4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394" y="4130634"/>
            <a:ext cx="762573" cy="762573"/>
          </a:xfrm>
          <a:prstGeom prst="rect">
            <a:avLst/>
          </a:prstGeom>
        </p:spPr>
      </p:pic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6D70C8E0-6887-4759-9572-2F472E649140}"/>
              </a:ext>
            </a:extLst>
          </p:cNvPr>
          <p:cNvCxnSpPr>
            <a:stCxn id="21" idx="0"/>
            <a:endCxn id="5" idx="2"/>
          </p:cNvCxnSpPr>
          <p:nvPr/>
        </p:nvCxnSpPr>
        <p:spPr>
          <a:xfrm flipH="1" flipV="1">
            <a:off x="8764971" y="2703691"/>
            <a:ext cx="1710" cy="1426943"/>
          </a:xfrm>
          <a:prstGeom prst="straightConnector1">
            <a:avLst/>
          </a:prstGeom>
          <a:ln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AFABE9F4-402B-4F03-9DA3-992CD9CD24E7}"/>
              </a:ext>
            </a:extLst>
          </p:cNvPr>
          <p:cNvCxnSpPr>
            <a:stCxn id="21" idx="3"/>
            <a:endCxn id="6" idx="1"/>
          </p:cNvCxnSpPr>
          <p:nvPr/>
        </p:nvCxnSpPr>
        <p:spPr>
          <a:xfrm>
            <a:off x="9147967" y="4511921"/>
            <a:ext cx="1552592" cy="0"/>
          </a:xfrm>
          <a:prstGeom prst="straightConnector1">
            <a:avLst/>
          </a:prstGeom>
          <a:ln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0BCDA449-1EC1-4816-AC49-8513EBBF8D45}"/>
              </a:ext>
            </a:extLst>
          </p:cNvPr>
          <p:cNvCxnSpPr>
            <a:cxnSpLocks/>
          </p:cNvCxnSpPr>
          <p:nvPr/>
        </p:nvCxnSpPr>
        <p:spPr>
          <a:xfrm flipH="1">
            <a:off x="8569271" y="2703691"/>
            <a:ext cx="20624" cy="1426943"/>
          </a:xfrm>
          <a:prstGeom prst="straightConnector1">
            <a:avLst/>
          </a:prstGeom>
          <a:ln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5A19189D-90FB-4D95-95CF-06E8E4DF2099}"/>
              </a:ext>
            </a:extLst>
          </p:cNvPr>
          <p:cNvCxnSpPr>
            <a:cxnSpLocks/>
          </p:cNvCxnSpPr>
          <p:nvPr/>
        </p:nvCxnSpPr>
        <p:spPr>
          <a:xfrm flipH="1" flipV="1">
            <a:off x="9147967" y="4302778"/>
            <a:ext cx="1552592" cy="18219"/>
          </a:xfrm>
          <a:prstGeom prst="straightConnector1">
            <a:avLst/>
          </a:prstGeom>
          <a:ln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AC594B82-081E-46DD-85BE-19C18D897713}"/>
              </a:ext>
            </a:extLst>
          </p:cNvPr>
          <p:cNvCxnSpPr>
            <a:cxnSpLocks/>
          </p:cNvCxnSpPr>
          <p:nvPr/>
        </p:nvCxnSpPr>
        <p:spPr>
          <a:xfrm flipV="1">
            <a:off x="11279927" y="2707647"/>
            <a:ext cx="13082" cy="1321734"/>
          </a:xfrm>
          <a:prstGeom prst="straightConnector1">
            <a:avLst/>
          </a:prstGeom>
          <a:ln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C2B1F081-5A01-47A7-A0BC-25FC5BBF37AF}"/>
              </a:ext>
            </a:extLst>
          </p:cNvPr>
          <p:cNvCxnSpPr>
            <a:cxnSpLocks/>
          </p:cNvCxnSpPr>
          <p:nvPr/>
        </p:nvCxnSpPr>
        <p:spPr>
          <a:xfrm>
            <a:off x="11027360" y="2717876"/>
            <a:ext cx="0" cy="1317795"/>
          </a:xfrm>
          <a:prstGeom prst="straightConnector1">
            <a:avLst/>
          </a:prstGeom>
          <a:ln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C3768D9D-70B0-48B4-87E1-2E3F48EDAB22}"/>
              </a:ext>
            </a:extLst>
          </p:cNvPr>
          <p:cNvSpPr txBox="1"/>
          <p:nvPr/>
        </p:nvSpPr>
        <p:spPr>
          <a:xfrm>
            <a:off x="230908" y="1496320"/>
            <a:ext cx="6335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假设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B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（叛徒将军）先发起消息（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个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Attack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个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Retreat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）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graphicFrame>
        <p:nvGraphicFramePr>
          <p:cNvPr id="45" name="表格 45">
            <a:extLst>
              <a:ext uri="{FF2B5EF4-FFF2-40B4-BE49-F238E27FC236}">
                <a16:creationId xmlns:a16="http://schemas.microsoft.com/office/drawing/2014/main" id="{A3E0CAA6-B6FD-46E1-A16E-FB906DDFFA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4473823"/>
              </p:ext>
            </p:extLst>
          </p:nvPr>
        </p:nvGraphicFramePr>
        <p:xfrm>
          <a:off x="296926" y="2022254"/>
          <a:ext cx="705182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0364">
                  <a:extLst>
                    <a:ext uri="{9D8B030D-6E8A-4147-A177-3AD203B41FA5}">
                      <a16:colId xmlns:a16="http://schemas.microsoft.com/office/drawing/2014/main" val="357476116"/>
                    </a:ext>
                  </a:extLst>
                </a:gridCol>
                <a:gridCol w="1410364">
                  <a:extLst>
                    <a:ext uri="{9D8B030D-6E8A-4147-A177-3AD203B41FA5}">
                      <a16:colId xmlns:a16="http://schemas.microsoft.com/office/drawing/2014/main" val="3395083664"/>
                    </a:ext>
                  </a:extLst>
                </a:gridCol>
                <a:gridCol w="1410364">
                  <a:extLst>
                    <a:ext uri="{9D8B030D-6E8A-4147-A177-3AD203B41FA5}">
                      <a16:colId xmlns:a16="http://schemas.microsoft.com/office/drawing/2014/main" val="2524584197"/>
                    </a:ext>
                  </a:extLst>
                </a:gridCol>
                <a:gridCol w="1410364">
                  <a:extLst>
                    <a:ext uri="{9D8B030D-6E8A-4147-A177-3AD203B41FA5}">
                      <a16:colId xmlns:a16="http://schemas.microsoft.com/office/drawing/2014/main" val="3242467475"/>
                    </a:ext>
                  </a:extLst>
                </a:gridCol>
                <a:gridCol w="1410364">
                  <a:extLst>
                    <a:ext uri="{9D8B030D-6E8A-4147-A177-3AD203B41FA5}">
                      <a16:colId xmlns:a16="http://schemas.microsoft.com/office/drawing/2014/main" val="32587323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行给列发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A</a:t>
                      </a:r>
                      <a:endParaRPr lang="zh-CN" altLang="en-US" b="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B</a:t>
                      </a:r>
                      <a:endParaRPr lang="zh-CN" altLang="en-US" b="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C</a:t>
                      </a:r>
                      <a:endParaRPr lang="zh-CN" altLang="en-US" b="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D</a:t>
                      </a:r>
                      <a:endParaRPr lang="zh-CN" altLang="en-US" b="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0400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A</a:t>
                      </a:r>
                      <a:endParaRPr lang="zh-CN" altLang="en-US" b="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-</a:t>
                      </a:r>
                      <a:endParaRPr lang="zh-CN" altLang="en-US" b="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rgbClr val="0000FF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Attack</a:t>
                      </a:r>
                      <a:endParaRPr lang="zh-CN" altLang="en-US" b="0" baseline="0" dirty="0">
                        <a:solidFill>
                          <a:srgbClr val="0000FF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Attack</a:t>
                      </a:r>
                      <a:endParaRPr lang="zh-CN" altLang="en-US" b="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="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Attack</a:t>
                      </a:r>
                      <a:endParaRPr lang="zh-CN" altLang="en-US" b="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7093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B</a:t>
                      </a:r>
                      <a:endParaRPr lang="zh-CN" altLang="en-US" b="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Attack</a:t>
                      </a:r>
                      <a:endParaRPr lang="zh-CN" altLang="en-US" b="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rgbClr val="0000FF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-</a:t>
                      </a:r>
                      <a:endParaRPr lang="zh-CN" altLang="en-US" b="0" baseline="0" dirty="0">
                        <a:solidFill>
                          <a:srgbClr val="0000FF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baseline="0" dirty="0">
                          <a:solidFill>
                            <a:srgbClr val="A40A57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  <a:cs typeface="+mn-cs"/>
                        </a:rPr>
                        <a:t>Retreat</a:t>
                      </a:r>
                      <a:endParaRPr lang="zh-CN" altLang="en-US" sz="1800" b="0" kern="1200" baseline="0" dirty="0">
                        <a:solidFill>
                          <a:srgbClr val="A40A57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baseline="0" dirty="0">
                          <a:solidFill>
                            <a:srgbClr val="A40A57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  <a:cs typeface="+mn-cs"/>
                        </a:rPr>
                        <a:t>Retreat</a:t>
                      </a:r>
                      <a:endParaRPr lang="zh-CN" altLang="en-US" sz="1800" b="0" kern="1200" baseline="0" dirty="0">
                        <a:solidFill>
                          <a:srgbClr val="A40A57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330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C</a:t>
                      </a:r>
                      <a:endParaRPr lang="zh-CN" altLang="en-US" b="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rgbClr val="A40A57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Retreat</a:t>
                      </a:r>
                      <a:endParaRPr lang="zh-CN" altLang="en-US" b="0" baseline="0" dirty="0">
                        <a:solidFill>
                          <a:srgbClr val="A40A57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rgbClr val="0000FF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Retreat</a:t>
                      </a:r>
                      <a:endParaRPr lang="zh-CN" altLang="en-US" b="0" baseline="0" dirty="0">
                        <a:solidFill>
                          <a:srgbClr val="0000FF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-</a:t>
                      </a:r>
                      <a:endParaRPr lang="zh-CN" altLang="en-US" b="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baseline="0" dirty="0">
                          <a:solidFill>
                            <a:srgbClr val="A40A57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  <a:cs typeface="+mn-cs"/>
                        </a:rPr>
                        <a:t>Retreat</a:t>
                      </a:r>
                      <a:endParaRPr lang="zh-CN" altLang="en-US" sz="1800" b="0" kern="1200" baseline="0" dirty="0">
                        <a:solidFill>
                          <a:srgbClr val="A40A57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3232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D</a:t>
                      </a:r>
                      <a:endParaRPr lang="zh-CN" altLang="en-US" b="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rgbClr val="A40A57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Retreat</a:t>
                      </a:r>
                      <a:endParaRPr lang="zh-CN" altLang="en-US" b="0" baseline="0" dirty="0">
                        <a:solidFill>
                          <a:srgbClr val="A40A57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rgbClr val="0000FF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Retreat</a:t>
                      </a:r>
                      <a:endParaRPr lang="zh-CN" altLang="en-US" b="0" baseline="0" dirty="0">
                        <a:solidFill>
                          <a:srgbClr val="0000FF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baseline="0" dirty="0">
                          <a:solidFill>
                            <a:srgbClr val="A40A57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  <a:cs typeface="+mn-cs"/>
                        </a:rPr>
                        <a:t>Retreat</a:t>
                      </a:r>
                      <a:endParaRPr lang="zh-CN" altLang="en-US" sz="1800" b="0" kern="1200" baseline="0" dirty="0">
                        <a:solidFill>
                          <a:srgbClr val="A40A57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-</a:t>
                      </a:r>
                      <a:endParaRPr lang="zh-CN" altLang="en-US" b="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243200"/>
                  </a:ext>
                </a:extLst>
              </a:tr>
            </a:tbl>
          </a:graphicData>
        </a:graphic>
      </p:graphicFrame>
      <p:pic>
        <p:nvPicPr>
          <p:cNvPr id="26" name="图片 25">
            <a:extLst>
              <a:ext uri="{FF2B5EF4-FFF2-40B4-BE49-F238E27FC236}">
                <a16:creationId xmlns:a16="http://schemas.microsoft.com/office/drawing/2014/main" id="{B03149F4-A0C2-4026-B12D-A0BF8E04A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0559" y="1755147"/>
            <a:ext cx="952500" cy="952500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8DBCCAC4-B60D-46FE-BB74-ED2DAB7BBBA0}"/>
              </a:ext>
            </a:extLst>
          </p:cNvPr>
          <p:cNvSpPr txBox="1"/>
          <p:nvPr/>
        </p:nvSpPr>
        <p:spPr>
          <a:xfrm>
            <a:off x="10597163" y="1440585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General D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31FAA974-95CA-40AD-987E-1B3BCBC01387}"/>
              </a:ext>
            </a:extLst>
          </p:cNvPr>
          <p:cNvCxnSpPr/>
          <p:nvPr/>
        </p:nvCxnSpPr>
        <p:spPr>
          <a:xfrm>
            <a:off x="9177411" y="2353202"/>
            <a:ext cx="1552592" cy="0"/>
          </a:xfrm>
          <a:prstGeom prst="straightConnector1">
            <a:avLst/>
          </a:prstGeom>
          <a:ln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384EB642-3343-4EAD-B856-5BB4B9819139}"/>
              </a:ext>
            </a:extLst>
          </p:cNvPr>
          <p:cNvCxnSpPr>
            <a:cxnSpLocks/>
          </p:cNvCxnSpPr>
          <p:nvPr/>
        </p:nvCxnSpPr>
        <p:spPr>
          <a:xfrm flipH="1" flipV="1">
            <a:off x="9177411" y="2144059"/>
            <a:ext cx="1552592" cy="18219"/>
          </a:xfrm>
          <a:prstGeom prst="straightConnector1">
            <a:avLst/>
          </a:prstGeom>
          <a:ln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4" name="表格 45">
            <a:extLst>
              <a:ext uri="{FF2B5EF4-FFF2-40B4-BE49-F238E27FC236}">
                <a16:creationId xmlns:a16="http://schemas.microsoft.com/office/drawing/2014/main" id="{F74095A1-1F11-4F88-AA74-E570AF5002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94593"/>
              </p:ext>
            </p:extLst>
          </p:nvPr>
        </p:nvGraphicFramePr>
        <p:xfrm>
          <a:off x="280697" y="4617552"/>
          <a:ext cx="705182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0364">
                  <a:extLst>
                    <a:ext uri="{9D8B030D-6E8A-4147-A177-3AD203B41FA5}">
                      <a16:colId xmlns:a16="http://schemas.microsoft.com/office/drawing/2014/main" val="357476116"/>
                    </a:ext>
                  </a:extLst>
                </a:gridCol>
                <a:gridCol w="1410364">
                  <a:extLst>
                    <a:ext uri="{9D8B030D-6E8A-4147-A177-3AD203B41FA5}">
                      <a16:colId xmlns:a16="http://schemas.microsoft.com/office/drawing/2014/main" val="3395083664"/>
                    </a:ext>
                  </a:extLst>
                </a:gridCol>
                <a:gridCol w="1410364">
                  <a:extLst>
                    <a:ext uri="{9D8B030D-6E8A-4147-A177-3AD203B41FA5}">
                      <a16:colId xmlns:a16="http://schemas.microsoft.com/office/drawing/2014/main" val="2524584197"/>
                    </a:ext>
                  </a:extLst>
                </a:gridCol>
                <a:gridCol w="1410364">
                  <a:extLst>
                    <a:ext uri="{9D8B030D-6E8A-4147-A177-3AD203B41FA5}">
                      <a16:colId xmlns:a16="http://schemas.microsoft.com/office/drawing/2014/main" val="3242467475"/>
                    </a:ext>
                  </a:extLst>
                </a:gridCol>
                <a:gridCol w="1410364">
                  <a:extLst>
                    <a:ext uri="{9D8B030D-6E8A-4147-A177-3AD203B41FA5}">
                      <a16:colId xmlns:a16="http://schemas.microsoft.com/office/drawing/2014/main" val="32587323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行给列发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A</a:t>
                      </a:r>
                      <a:endParaRPr lang="zh-CN" altLang="en-US" b="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B</a:t>
                      </a:r>
                      <a:endParaRPr lang="zh-CN" altLang="en-US" b="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C</a:t>
                      </a:r>
                      <a:endParaRPr lang="zh-CN" altLang="en-US" b="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D</a:t>
                      </a:r>
                      <a:endParaRPr lang="zh-CN" altLang="en-US" b="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0400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A</a:t>
                      </a:r>
                      <a:endParaRPr lang="zh-CN" altLang="en-US" baseline="0" dirty="0"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-</a:t>
                      </a:r>
                      <a:endParaRPr lang="zh-CN" altLang="en-US" baseline="0" dirty="0"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0000FF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Attack</a:t>
                      </a:r>
                      <a:endParaRPr lang="zh-CN" altLang="en-US" baseline="0" dirty="0">
                        <a:solidFill>
                          <a:srgbClr val="0000FF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 baseline="0" dirty="0">
                          <a:solidFill>
                            <a:srgbClr val="A40A57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  <a:cs typeface="+mn-cs"/>
                        </a:rPr>
                        <a:t>Attack</a:t>
                      </a:r>
                      <a:endParaRPr lang="zh-CN" altLang="en-US" sz="1800" b="0" kern="1200" baseline="0" dirty="0">
                        <a:solidFill>
                          <a:srgbClr val="A40A57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 baseline="0" dirty="0">
                          <a:solidFill>
                            <a:srgbClr val="A40A57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  <a:cs typeface="+mn-cs"/>
                        </a:rPr>
                        <a:t>Attack</a:t>
                      </a:r>
                      <a:endParaRPr lang="zh-CN" altLang="en-US" sz="1800" b="0" kern="1200" baseline="0" dirty="0">
                        <a:solidFill>
                          <a:srgbClr val="A40A57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7093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B</a:t>
                      </a:r>
                      <a:endParaRPr lang="zh-CN" altLang="en-US" baseline="0" dirty="0"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baseline="0" dirty="0">
                          <a:solidFill>
                            <a:srgbClr val="A40A57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  <a:cs typeface="+mn-cs"/>
                        </a:rPr>
                        <a:t>Attack</a:t>
                      </a:r>
                      <a:endParaRPr lang="zh-CN" altLang="en-US" sz="1800" b="0" kern="1200" baseline="0" dirty="0">
                        <a:solidFill>
                          <a:srgbClr val="A40A57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0000FF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-</a:t>
                      </a:r>
                      <a:endParaRPr lang="zh-CN" altLang="en-US" baseline="0" dirty="0">
                        <a:solidFill>
                          <a:srgbClr val="0000FF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Retreat</a:t>
                      </a:r>
                      <a:endParaRPr lang="zh-CN" altLang="en-US" baseline="0" dirty="0"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baseline="0" dirty="0">
                          <a:solidFill>
                            <a:srgbClr val="A40A57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  <a:cs typeface="+mn-cs"/>
                        </a:rPr>
                        <a:t>Attack</a:t>
                      </a:r>
                      <a:endParaRPr lang="zh-CN" altLang="en-US" sz="1800" b="0" kern="1200" baseline="0" dirty="0">
                        <a:solidFill>
                          <a:srgbClr val="A40A57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330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C</a:t>
                      </a:r>
                      <a:endParaRPr lang="zh-CN" altLang="en-US" baseline="0" dirty="0"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Retreat</a:t>
                      </a:r>
                      <a:endParaRPr lang="zh-CN" altLang="en-US" baseline="0" dirty="0"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0000FF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Retreat</a:t>
                      </a:r>
                      <a:endParaRPr lang="zh-CN" altLang="en-US" baseline="0" dirty="0">
                        <a:solidFill>
                          <a:srgbClr val="0000FF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-</a:t>
                      </a:r>
                      <a:endParaRPr lang="zh-CN" altLang="en-US" baseline="0" dirty="0"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Retreat</a:t>
                      </a:r>
                      <a:endParaRPr lang="zh-CN" altLang="en-US" baseline="0" dirty="0"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32328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D</a:t>
                      </a:r>
                      <a:endParaRPr lang="zh-CN" altLang="en-US" baseline="0" dirty="0"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baseline="0" dirty="0">
                          <a:solidFill>
                            <a:srgbClr val="A40A57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  <a:cs typeface="+mn-cs"/>
                        </a:rPr>
                        <a:t>Attack</a:t>
                      </a:r>
                      <a:endParaRPr lang="zh-CN" altLang="en-US" sz="1800" b="0" kern="1200" baseline="0" dirty="0">
                        <a:solidFill>
                          <a:srgbClr val="A40A57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0000FF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Attack</a:t>
                      </a:r>
                      <a:endParaRPr lang="zh-CN" altLang="en-US" baseline="0" dirty="0">
                        <a:solidFill>
                          <a:srgbClr val="0000FF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baseline="0" dirty="0">
                          <a:solidFill>
                            <a:srgbClr val="A40A57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  <a:cs typeface="+mn-cs"/>
                        </a:rPr>
                        <a:t>Attack</a:t>
                      </a:r>
                      <a:endParaRPr lang="zh-CN" altLang="en-US" sz="1800" b="0" kern="1200" baseline="0" dirty="0">
                        <a:solidFill>
                          <a:srgbClr val="A40A57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-</a:t>
                      </a:r>
                      <a:endParaRPr lang="zh-CN" altLang="en-US" baseline="0" dirty="0"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243200"/>
                  </a:ext>
                </a:extLst>
              </a:tr>
            </a:tbl>
          </a:graphicData>
        </a:graphic>
      </p:graphicFrame>
      <p:sp>
        <p:nvSpPr>
          <p:cNvPr id="35" name="文本框 34">
            <a:extLst>
              <a:ext uri="{FF2B5EF4-FFF2-40B4-BE49-F238E27FC236}">
                <a16:creationId xmlns:a16="http://schemas.microsoft.com/office/drawing/2014/main" id="{13B372A3-A5D1-4AB6-B505-D78FC1FC8244}"/>
              </a:ext>
            </a:extLst>
          </p:cNvPr>
          <p:cNvSpPr txBox="1"/>
          <p:nvPr/>
        </p:nvSpPr>
        <p:spPr>
          <a:xfrm>
            <a:off x="230907" y="4127221"/>
            <a:ext cx="6335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假设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B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（叛徒将军）先发起消息（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个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Retreat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个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Attack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）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07172D6-9236-48BA-831E-7082D5444739}"/>
              </a:ext>
            </a:extLst>
          </p:cNvPr>
          <p:cNvSpPr txBox="1"/>
          <p:nvPr/>
        </p:nvSpPr>
        <p:spPr>
          <a:xfrm>
            <a:off x="7901898" y="5573629"/>
            <a:ext cx="38952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结论：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4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个将军，系统能够抵抗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个叛徒将军的存在而</a:t>
            </a:r>
            <a:r>
              <a:rPr lang="zh-CN" altLang="en-US" b="1" dirty="0">
                <a:latin typeface="Garamond" panose="02020404030301010803" pitchFamily="18" charset="0"/>
                <a:ea typeface="微软雅黑" panose="020B0503020204020204" pitchFamily="34" charset="-122"/>
              </a:rPr>
              <a:t>达成一致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。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3085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35" grpId="0"/>
      <p:bldP spid="3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拜占庭容错（</a:t>
            </a:r>
            <a:r>
              <a:rPr kumimoji="1"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BFT</a:t>
            </a:r>
            <a:r>
              <a:rPr kumimoji="1"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>
                <a:latin typeface="Garamond" panose="02020404030301010803" pitchFamily="18" charset="0"/>
                <a:ea typeface="微软雅黑" panose="020B0503020204020204" pitchFamily="34" charset="-122"/>
              </a:rPr>
              <a:t>11</a:t>
            </a:fld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3375793A-7138-4858-AC22-5A0D603A2491}"/>
              </a:ext>
            </a:extLst>
          </p:cNvPr>
          <p:cNvSpPr txBox="1"/>
          <p:nvPr/>
        </p:nvSpPr>
        <p:spPr>
          <a:xfrm>
            <a:off x="293975" y="1440000"/>
            <a:ext cx="216597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签名消息模型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42F7CB37-B2C3-462B-92B8-302AACCEC3F9}"/>
              </a:ext>
            </a:extLst>
          </p:cNvPr>
          <p:cNvSpPr txBox="1"/>
          <p:nvPr/>
        </p:nvSpPr>
        <p:spPr>
          <a:xfrm>
            <a:off x="678093" y="1995176"/>
            <a:ext cx="50321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消息经过数字签名，带有身份信息且不可篡改。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9A77E78C-3C55-4E7B-B2B8-4F29127578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070" y="3127376"/>
            <a:ext cx="952500" cy="952500"/>
          </a:xfrm>
          <a:prstGeom prst="rect">
            <a:avLst/>
          </a:prstGeom>
        </p:spPr>
      </p:pic>
      <p:pic>
        <p:nvPicPr>
          <p:cNvPr id="35" name="图片 34">
            <a:extLst>
              <a:ext uri="{FF2B5EF4-FFF2-40B4-BE49-F238E27FC236}">
                <a16:creationId xmlns:a16="http://schemas.microsoft.com/office/drawing/2014/main" id="{53F395DF-750D-432F-95CC-4A75DEB0D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7415" y="5316394"/>
            <a:ext cx="952500" cy="952500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57A5183E-0069-4D95-8E5E-C9E6DF11A3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7312" y="4561131"/>
            <a:ext cx="762577" cy="762577"/>
          </a:xfrm>
          <a:prstGeom prst="rect">
            <a:avLst/>
          </a:prstGeom>
        </p:spPr>
      </p:pic>
      <p:sp>
        <p:nvSpPr>
          <p:cNvPr id="43" name="文本框 42">
            <a:extLst>
              <a:ext uri="{FF2B5EF4-FFF2-40B4-BE49-F238E27FC236}">
                <a16:creationId xmlns:a16="http://schemas.microsoft.com/office/drawing/2014/main" id="{F2FD8C0E-326F-4C79-8E59-E8CD666EF9A6}"/>
              </a:ext>
            </a:extLst>
          </p:cNvPr>
          <p:cNvSpPr txBox="1"/>
          <p:nvPr/>
        </p:nvSpPr>
        <p:spPr>
          <a:xfrm>
            <a:off x="10004570" y="3399271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General A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2A8784D4-B41B-43C9-AD9D-52B21491AC7C}"/>
              </a:ext>
            </a:extLst>
          </p:cNvPr>
          <p:cNvSpPr txBox="1"/>
          <p:nvPr/>
        </p:nvSpPr>
        <p:spPr>
          <a:xfrm>
            <a:off x="7742181" y="6244977"/>
            <a:ext cx="1096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General B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961F6BFE-7A26-428A-8958-229D6A64FE4E}"/>
              </a:ext>
            </a:extLst>
          </p:cNvPr>
          <p:cNvSpPr txBox="1"/>
          <p:nvPr/>
        </p:nvSpPr>
        <p:spPr>
          <a:xfrm>
            <a:off x="10154019" y="6264153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General C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pic>
        <p:nvPicPr>
          <p:cNvPr id="54" name="图片 53">
            <a:extLst>
              <a:ext uri="{FF2B5EF4-FFF2-40B4-BE49-F238E27FC236}">
                <a16:creationId xmlns:a16="http://schemas.microsoft.com/office/drawing/2014/main" id="{83311593-DADF-4730-997D-DE1C0427E0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42250" y="5411357"/>
            <a:ext cx="762573" cy="762573"/>
          </a:xfrm>
          <a:prstGeom prst="rect">
            <a:avLst/>
          </a:prstGeom>
        </p:spPr>
      </p:pic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19395C3D-B826-4390-AAFC-0B8DD2985F82}"/>
              </a:ext>
            </a:extLst>
          </p:cNvPr>
          <p:cNvCxnSpPr>
            <a:stCxn id="54" idx="0"/>
            <a:endCxn id="34" idx="2"/>
          </p:cNvCxnSpPr>
          <p:nvPr/>
        </p:nvCxnSpPr>
        <p:spPr>
          <a:xfrm flipV="1">
            <a:off x="8323537" y="4079876"/>
            <a:ext cx="1204783" cy="1331481"/>
          </a:xfrm>
          <a:prstGeom prst="straightConnector1">
            <a:avLst/>
          </a:prstGeom>
          <a:ln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E3DB1CF1-53AB-41CD-B5C4-4CA95AC28455}"/>
              </a:ext>
            </a:extLst>
          </p:cNvPr>
          <p:cNvCxnSpPr>
            <a:stCxn id="54" idx="3"/>
            <a:endCxn id="35" idx="1"/>
          </p:cNvCxnSpPr>
          <p:nvPr/>
        </p:nvCxnSpPr>
        <p:spPr>
          <a:xfrm>
            <a:off x="8704823" y="5792644"/>
            <a:ext cx="1552592" cy="0"/>
          </a:xfrm>
          <a:prstGeom prst="straightConnector1">
            <a:avLst/>
          </a:prstGeom>
          <a:ln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E81136B3-E91D-4564-80B1-C1FD139D2AFA}"/>
              </a:ext>
            </a:extLst>
          </p:cNvPr>
          <p:cNvCxnSpPr>
            <a:cxnSpLocks/>
          </p:cNvCxnSpPr>
          <p:nvPr/>
        </p:nvCxnSpPr>
        <p:spPr>
          <a:xfrm flipH="1">
            <a:off x="8126126" y="4079876"/>
            <a:ext cx="1177347" cy="1331481"/>
          </a:xfrm>
          <a:prstGeom prst="straightConnector1">
            <a:avLst/>
          </a:prstGeom>
          <a:ln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B5334028-4049-4AFA-A9B5-0032C561C861}"/>
              </a:ext>
            </a:extLst>
          </p:cNvPr>
          <p:cNvCxnSpPr>
            <a:cxnSpLocks/>
          </p:cNvCxnSpPr>
          <p:nvPr/>
        </p:nvCxnSpPr>
        <p:spPr>
          <a:xfrm flipH="1" flipV="1">
            <a:off x="8704823" y="5583501"/>
            <a:ext cx="1552592" cy="18219"/>
          </a:xfrm>
          <a:prstGeom prst="straightConnector1">
            <a:avLst/>
          </a:prstGeom>
          <a:ln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865956C9-4E6D-4A88-AEAA-8E399FB3F069}"/>
              </a:ext>
            </a:extLst>
          </p:cNvPr>
          <p:cNvCxnSpPr>
            <a:cxnSpLocks/>
          </p:cNvCxnSpPr>
          <p:nvPr/>
        </p:nvCxnSpPr>
        <p:spPr>
          <a:xfrm flipH="1" flipV="1">
            <a:off x="9592821" y="4089623"/>
            <a:ext cx="823497" cy="1321734"/>
          </a:xfrm>
          <a:prstGeom prst="straightConnector1">
            <a:avLst/>
          </a:prstGeom>
          <a:ln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D22D0E10-4DDA-4C4F-8926-2292061D2ED7}"/>
              </a:ext>
            </a:extLst>
          </p:cNvPr>
          <p:cNvCxnSpPr>
            <a:cxnSpLocks/>
          </p:cNvCxnSpPr>
          <p:nvPr/>
        </p:nvCxnSpPr>
        <p:spPr>
          <a:xfrm>
            <a:off x="9725731" y="4008829"/>
            <a:ext cx="858485" cy="1307565"/>
          </a:xfrm>
          <a:prstGeom prst="straightConnector1">
            <a:avLst/>
          </a:prstGeom>
          <a:ln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自制火漆印_wayer-站酷ZCOOL">
            <a:extLst>
              <a:ext uri="{FF2B5EF4-FFF2-40B4-BE49-F238E27FC236}">
                <a16:creationId xmlns:a16="http://schemas.microsoft.com/office/drawing/2014/main" id="{4CF0B81D-E7D6-4427-BCF2-9AD9382F6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5657" y="1420268"/>
            <a:ext cx="2545326" cy="1691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1" name="表格 45">
            <a:extLst>
              <a:ext uri="{FF2B5EF4-FFF2-40B4-BE49-F238E27FC236}">
                <a16:creationId xmlns:a16="http://schemas.microsoft.com/office/drawing/2014/main" id="{41918FC5-7289-4886-B15E-5015D7566A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344001"/>
              </p:ext>
            </p:extLst>
          </p:nvPr>
        </p:nvGraphicFramePr>
        <p:xfrm>
          <a:off x="385876" y="3086329"/>
          <a:ext cx="705182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955">
                  <a:extLst>
                    <a:ext uri="{9D8B030D-6E8A-4147-A177-3AD203B41FA5}">
                      <a16:colId xmlns:a16="http://schemas.microsoft.com/office/drawing/2014/main" val="357476116"/>
                    </a:ext>
                  </a:extLst>
                </a:gridCol>
                <a:gridCol w="1762955">
                  <a:extLst>
                    <a:ext uri="{9D8B030D-6E8A-4147-A177-3AD203B41FA5}">
                      <a16:colId xmlns:a16="http://schemas.microsoft.com/office/drawing/2014/main" val="3395083664"/>
                    </a:ext>
                  </a:extLst>
                </a:gridCol>
                <a:gridCol w="1762955">
                  <a:extLst>
                    <a:ext uri="{9D8B030D-6E8A-4147-A177-3AD203B41FA5}">
                      <a16:colId xmlns:a16="http://schemas.microsoft.com/office/drawing/2014/main" val="2524584197"/>
                    </a:ext>
                  </a:extLst>
                </a:gridCol>
                <a:gridCol w="1762955">
                  <a:extLst>
                    <a:ext uri="{9D8B030D-6E8A-4147-A177-3AD203B41FA5}">
                      <a16:colId xmlns:a16="http://schemas.microsoft.com/office/drawing/2014/main" val="32424674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行给列发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A</a:t>
                      </a:r>
                      <a:endParaRPr lang="zh-CN" altLang="en-US" b="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B</a:t>
                      </a:r>
                      <a:endParaRPr lang="zh-CN" altLang="en-US" b="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C</a:t>
                      </a:r>
                      <a:endParaRPr lang="zh-CN" altLang="en-US" b="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0400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A</a:t>
                      </a:r>
                      <a:endParaRPr lang="zh-CN" altLang="en-US" baseline="0" dirty="0"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-</a:t>
                      </a:r>
                      <a:endParaRPr lang="zh-CN" altLang="en-US" baseline="0" dirty="0"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rgbClr val="0000FF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Attack</a:t>
                      </a:r>
                      <a:endParaRPr lang="zh-CN" altLang="en-US" b="0" baseline="0" dirty="0">
                        <a:solidFill>
                          <a:srgbClr val="0000FF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kern="1200" baseline="0" dirty="0">
                          <a:solidFill>
                            <a:srgbClr val="A40A57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  <a:cs typeface="+mn-cs"/>
                        </a:rPr>
                        <a:t>Attack</a:t>
                      </a:r>
                      <a:endParaRPr lang="zh-CN" altLang="en-US" sz="1800" b="0" kern="1200" baseline="0" dirty="0">
                        <a:solidFill>
                          <a:srgbClr val="A40A57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7093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B</a:t>
                      </a:r>
                      <a:endParaRPr lang="zh-CN" altLang="en-US" baseline="0" dirty="0"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baseline="0" dirty="0">
                          <a:solidFill>
                            <a:srgbClr val="A40A57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  <a:cs typeface="+mn-cs"/>
                        </a:rPr>
                        <a:t>Attack</a:t>
                      </a:r>
                      <a:endParaRPr lang="zh-CN" altLang="en-US" sz="1800" b="0" kern="1200" baseline="0" dirty="0">
                        <a:solidFill>
                          <a:srgbClr val="A40A57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rgbClr val="0000FF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-</a:t>
                      </a:r>
                      <a:endParaRPr lang="zh-CN" altLang="en-US" b="0" baseline="0" dirty="0">
                        <a:solidFill>
                          <a:srgbClr val="0000FF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baseline="0" dirty="0">
                          <a:solidFill>
                            <a:srgbClr val="A40A57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  <a:cs typeface="+mn-cs"/>
                        </a:rPr>
                        <a:t>Attack</a:t>
                      </a:r>
                      <a:endParaRPr lang="zh-CN" altLang="en-US" sz="1800" b="0" kern="1200" baseline="0" dirty="0">
                        <a:solidFill>
                          <a:srgbClr val="A40A57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330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C</a:t>
                      </a:r>
                      <a:endParaRPr lang="zh-CN" altLang="en-US" baseline="0" dirty="0"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1800" b="0" kern="1200" baseline="0" dirty="0">
                          <a:solidFill>
                            <a:srgbClr val="A40A57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  <a:cs typeface="+mn-cs"/>
                        </a:rPr>
                        <a:t>Attack</a:t>
                      </a:r>
                      <a:endParaRPr lang="zh-CN" altLang="en-US" sz="1800" b="0" kern="1200" baseline="0" dirty="0">
                        <a:solidFill>
                          <a:srgbClr val="A40A57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rgbClr val="0000FF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Attack</a:t>
                      </a:r>
                      <a:endParaRPr lang="zh-CN" altLang="en-US" b="0" baseline="0" dirty="0">
                        <a:solidFill>
                          <a:srgbClr val="0000FF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-</a:t>
                      </a:r>
                      <a:endParaRPr lang="zh-CN" altLang="en-US" baseline="0" dirty="0"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3232859"/>
                  </a:ext>
                </a:extLst>
              </a:tr>
            </a:tbl>
          </a:graphicData>
        </a:graphic>
      </p:graphicFrame>
      <p:sp>
        <p:nvSpPr>
          <p:cNvPr id="63" name="文本框 62">
            <a:extLst>
              <a:ext uri="{FF2B5EF4-FFF2-40B4-BE49-F238E27FC236}">
                <a16:creationId xmlns:a16="http://schemas.microsoft.com/office/drawing/2014/main" id="{70864311-F212-431F-9B2F-07BBF1D0DB6A}"/>
              </a:ext>
            </a:extLst>
          </p:cNvPr>
          <p:cNvSpPr txBox="1"/>
          <p:nvPr/>
        </p:nvSpPr>
        <p:spPr>
          <a:xfrm>
            <a:off x="372477" y="2603525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假设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A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（诚实将军）先发起消息</a:t>
            </a: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7F54F626-B94B-412E-A72F-AC017D181F67}"/>
              </a:ext>
            </a:extLst>
          </p:cNvPr>
          <p:cNvSpPr txBox="1"/>
          <p:nvPr/>
        </p:nvSpPr>
        <p:spPr>
          <a:xfrm>
            <a:off x="293975" y="4713712"/>
            <a:ext cx="3674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假设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B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（叛徒将军）先发起消息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graphicFrame>
        <p:nvGraphicFramePr>
          <p:cNvPr id="65" name="表格 45">
            <a:extLst>
              <a:ext uri="{FF2B5EF4-FFF2-40B4-BE49-F238E27FC236}">
                <a16:creationId xmlns:a16="http://schemas.microsoft.com/office/drawing/2014/main" id="{6E9DAB4D-ACD7-4E3B-BFBB-7CB0092346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917481"/>
              </p:ext>
            </p:extLst>
          </p:nvPr>
        </p:nvGraphicFramePr>
        <p:xfrm>
          <a:off x="372477" y="5282828"/>
          <a:ext cx="705182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955">
                  <a:extLst>
                    <a:ext uri="{9D8B030D-6E8A-4147-A177-3AD203B41FA5}">
                      <a16:colId xmlns:a16="http://schemas.microsoft.com/office/drawing/2014/main" val="357476116"/>
                    </a:ext>
                  </a:extLst>
                </a:gridCol>
                <a:gridCol w="1762955">
                  <a:extLst>
                    <a:ext uri="{9D8B030D-6E8A-4147-A177-3AD203B41FA5}">
                      <a16:colId xmlns:a16="http://schemas.microsoft.com/office/drawing/2014/main" val="3395083664"/>
                    </a:ext>
                  </a:extLst>
                </a:gridCol>
                <a:gridCol w="1762955">
                  <a:extLst>
                    <a:ext uri="{9D8B030D-6E8A-4147-A177-3AD203B41FA5}">
                      <a16:colId xmlns:a16="http://schemas.microsoft.com/office/drawing/2014/main" val="2524584197"/>
                    </a:ext>
                  </a:extLst>
                </a:gridCol>
                <a:gridCol w="1762955">
                  <a:extLst>
                    <a:ext uri="{9D8B030D-6E8A-4147-A177-3AD203B41FA5}">
                      <a16:colId xmlns:a16="http://schemas.microsoft.com/office/drawing/2014/main" val="32424674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行给列发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A</a:t>
                      </a:r>
                      <a:endParaRPr lang="zh-CN" altLang="en-US" b="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B</a:t>
                      </a:r>
                      <a:endParaRPr lang="zh-CN" altLang="en-US" b="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C</a:t>
                      </a:r>
                      <a:endParaRPr lang="zh-CN" altLang="en-US" b="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0400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A</a:t>
                      </a:r>
                      <a:endParaRPr lang="zh-CN" altLang="en-US" baseline="0" dirty="0"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-</a:t>
                      </a:r>
                      <a:endParaRPr lang="zh-CN" altLang="en-US" baseline="0" dirty="0"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0000FF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Attack</a:t>
                      </a:r>
                      <a:endParaRPr lang="zh-CN" altLang="en-US" baseline="0" dirty="0">
                        <a:solidFill>
                          <a:srgbClr val="0000FF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Attack</a:t>
                      </a:r>
                      <a:endParaRPr lang="zh-CN" altLang="en-US" baseline="0" dirty="0"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7093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B</a:t>
                      </a:r>
                      <a:endParaRPr lang="zh-CN" altLang="en-US" baseline="0" dirty="0"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Attack</a:t>
                      </a:r>
                      <a:endParaRPr lang="zh-CN" altLang="en-US" baseline="0" dirty="0"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0000FF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-</a:t>
                      </a:r>
                      <a:endParaRPr lang="zh-CN" altLang="en-US" baseline="0" dirty="0">
                        <a:solidFill>
                          <a:srgbClr val="0000FF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Retreat</a:t>
                      </a:r>
                      <a:endParaRPr lang="zh-CN" altLang="en-US" baseline="0" dirty="0"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5330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C</a:t>
                      </a:r>
                      <a:endParaRPr lang="zh-CN" altLang="en-US" baseline="0" dirty="0"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Retreat</a:t>
                      </a:r>
                      <a:endParaRPr lang="zh-CN" altLang="en-US" baseline="0" dirty="0"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solidFill>
                            <a:srgbClr val="0000FF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Retreat</a:t>
                      </a:r>
                      <a:endParaRPr lang="zh-CN" altLang="en-US" baseline="0" dirty="0">
                        <a:solidFill>
                          <a:srgbClr val="0000FF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-</a:t>
                      </a:r>
                      <a:endParaRPr lang="zh-CN" altLang="en-US" baseline="0" dirty="0"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3232859"/>
                  </a:ext>
                </a:extLst>
              </a:tr>
            </a:tbl>
          </a:graphicData>
        </a:graphic>
      </p:graphicFrame>
      <p:sp>
        <p:nvSpPr>
          <p:cNvPr id="66" name="文本框 65">
            <a:extLst>
              <a:ext uri="{FF2B5EF4-FFF2-40B4-BE49-F238E27FC236}">
                <a16:creationId xmlns:a16="http://schemas.microsoft.com/office/drawing/2014/main" id="{F58F27D6-91A3-47A4-9279-52EBC43D2C05}"/>
              </a:ext>
            </a:extLst>
          </p:cNvPr>
          <p:cNvSpPr txBox="1"/>
          <p:nvPr/>
        </p:nvSpPr>
        <p:spPr>
          <a:xfrm>
            <a:off x="7378494" y="1420268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火漆印</a:t>
            </a:r>
          </a:p>
        </p:txBody>
      </p:sp>
    </p:spTree>
    <p:extLst>
      <p:ext uri="{BB962C8B-B14F-4D97-AF65-F5344CB8AC3E}">
        <p14:creationId xmlns:p14="http://schemas.microsoft.com/office/powerpoint/2010/main" val="1932597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52" grpId="0"/>
      <p:bldP spid="43" grpId="0"/>
      <p:bldP spid="45" grpId="0"/>
      <p:bldP spid="53" grpId="0"/>
      <p:bldP spid="63" grpId="0"/>
      <p:bldP spid="64" grpId="0"/>
      <p:bldP spid="6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拜占庭容错（</a:t>
            </a:r>
            <a:r>
              <a:rPr kumimoji="1"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BFT</a:t>
            </a:r>
            <a:r>
              <a:rPr kumimoji="1"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>
                <a:latin typeface="Garamond" panose="02020404030301010803" pitchFamily="18" charset="0"/>
                <a:ea typeface="微软雅黑" panose="020B0503020204020204" pitchFamily="34" charset="-122"/>
              </a:rPr>
              <a:t>12</a:t>
            </a:fld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0C5F593-9BB8-4138-B70A-7968CDB67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493" y="1682072"/>
            <a:ext cx="952500" cy="9525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71E8097D-685C-4875-8102-12A03DBFC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3331" y="3966552"/>
            <a:ext cx="952500" cy="9525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CADBEFC-0AD0-49E4-9506-B0EE507DAD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3228" y="2892029"/>
            <a:ext cx="762577" cy="76257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A056926-AADC-42C3-BD20-934806E768E5}"/>
              </a:ext>
            </a:extLst>
          </p:cNvPr>
          <p:cNvSpPr txBox="1"/>
          <p:nvPr/>
        </p:nvSpPr>
        <p:spPr>
          <a:xfrm>
            <a:off x="6188097" y="1377198"/>
            <a:ext cx="11112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General A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94A3E16-D187-459F-97C9-C5C47F7EF79A}"/>
              </a:ext>
            </a:extLst>
          </p:cNvPr>
          <p:cNvSpPr txBox="1"/>
          <p:nvPr/>
        </p:nvSpPr>
        <p:spPr>
          <a:xfrm>
            <a:off x="6188097" y="4895135"/>
            <a:ext cx="10967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General B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A5D28EC-13A9-4E5C-A3A6-EA88CED9F24C}"/>
              </a:ext>
            </a:extLst>
          </p:cNvPr>
          <p:cNvSpPr txBox="1"/>
          <p:nvPr/>
        </p:nvSpPr>
        <p:spPr>
          <a:xfrm>
            <a:off x="8599935" y="4914311"/>
            <a:ext cx="10999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General C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B2607A83-DEB7-4B2B-B42B-91822944D4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8166" y="4061515"/>
            <a:ext cx="762573" cy="762573"/>
          </a:xfrm>
          <a:prstGeom prst="rect">
            <a:avLst/>
          </a:prstGeom>
        </p:spPr>
      </p:pic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6D70C8E0-6887-4759-9572-2F472E649140}"/>
              </a:ext>
            </a:extLst>
          </p:cNvPr>
          <p:cNvCxnSpPr>
            <a:stCxn id="21" idx="0"/>
            <a:endCxn id="5" idx="2"/>
          </p:cNvCxnSpPr>
          <p:nvPr/>
        </p:nvCxnSpPr>
        <p:spPr>
          <a:xfrm flipH="1" flipV="1">
            <a:off x="6767743" y="2634572"/>
            <a:ext cx="1710" cy="1426943"/>
          </a:xfrm>
          <a:prstGeom prst="straightConnector1">
            <a:avLst/>
          </a:prstGeom>
          <a:ln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AFABE9F4-402B-4F03-9DA3-992CD9CD24E7}"/>
              </a:ext>
            </a:extLst>
          </p:cNvPr>
          <p:cNvCxnSpPr>
            <a:stCxn id="21" idx="3"/>
            <a:endCxn id="6" idx="1"/>
          </p:cNvCxnSpPr>
          <p:nvPr/>
        </p:nvCxnSpPr>
        <p:spPr>
          <a:xfrm>
            <a:off x="7150739" y="4442802"/>
            <a:ext cx="1552592" cy="0"/>
          </a:xfrm>
          <a:prstGeom prst="straightConnector1">
            <a:avLst/>
          </a:prstGeom>
          <a:ln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0BCDA449-1EC1-4816-AC49-8513EBBF8D45}"/>
              </a:ext>
            </a:extLst>
          </p:cNvPr>
          <p:cNvCxnSpPr>
            <a:cxnSpLocks/>
          </p:cNvCxnSpPr>
          <p:nvPr/>
        </p:nvCxnSpPr>
        <p:spPr>
          <a:xfrm flipH="1">
            <a:off x="6572043" y="2634572"/>
            <a:ext cx="20624" cy="1426943"/>
          </a:xfrm>
          <a:prstGeom prst="straightConnector1">
            <a:avLst/>
          </a:prstGeom>
          <a:ln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5A19189D-90FB-4D95-95CF-06E8E4DF2099}"/>
              </a:ext>
            </a:extLst>
          </p:cNvPr>
          <p:cNvCxnSpPr>
            <a:cxnSpLocks/>
          </p:cNvCxnSpPr>
          <p:nvPr/>
        </p:nvCxnSpPr>
        <p:spPr>
          <a:xfrm flipH="1" flipV="1">
            <a:off x="7150739" y="4233659"/>
            <a:ext cx="1552592" cy="18219"/>
          </a:xfrm>
          <a:prstGeom prst="straightConnector1">
            <a:avLst/>
          </a:prstGeom>
          <a:ln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AC594B82-081E-46DD-85BE-19C18D897713}"/>
              </a:ext>
            </a:extLst>
          </p:cNvPr>
          <p:cNvCxnSpPr>
            <a:cxnSpLocks/>
          </p:cNvCxnSpPr>
          <p:nvPr/>
        </p:nvCxnSpPr>
        <p:spPr>
          <a:xfrm flipV="1">
            <a:off x="9282699" y="2638528"/>
            <a:ext cx="13082" cy="1321734"/>
          </a:xfrm>
          <a:prstGeom prst="straightConnector1">
            <a:avLst/>
          </a:prstGeom>
          <a:ln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C2B1F081-5A01-47A7-A0BC-25FC5BBF37AF}"/>
              </a:ext>
            </a:extLst>
          </p:cNvPr>
          <p:cNvCxnSpPr>
            <a:cxnSpLocks/>
          </p:cNvCxnSpPr>
          <p:nvPr/>
        </p:nvCxnSpPr>
        <p:spPr>
          <a:xfrm>
            <a:off x="9030132" y="2648757"/>
            <a:ext cx="0" cy="1317795"/>
          </a:xfrm>
          <a:prstGeom prst="straightConnector1">
            <a:avLst/>
          </a:prstGeom>
          <a:ln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图片 25">
            <a:extLst>
              <a:ext uri="{FF2B5EF4-FFF2-40B4-BE49-F238E27FC236}">
                <a16:creationId xmlns:a16="http://schemas.microsoft.com/office/drawing/2014/main" id="{B03149F4-A0C2-4026-B12D-A0BF8E04A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3331" y="1686028"/>
            <a:ext cx="952500" cy="952500"/>
          </a:xfrm>
          <a:prstGeom prst="rect">
            <a:avLst/>
          </a:prstGeom>
        </p:spPr>
      </p:pic>
      <p:sp>
        <p:nvSpPr>
          <p:cNvPr id="28" name="文本框 27">
            <a:extLst>
              <a:ext uri="{FF2B5EF4-FFF2-40B4-BE49-F238E27FC236}">
                <a16:creationId xmlns:a16="http://schemas.microsoft.com/office/drawing/2014/main" id="{8DBCCAC4-B60D-46FE-BB74-ED2DAB7BBBA0}"/>
              </a:ext>
            </a:extLst>
          </p:cNvPr>
          <p:cNvSpPr txBox="1"/>
          <p:nvPr/>
        </p:nvSpPr>
        <p:spPr>
          <a:xfrm>
            <a:off x="8599935" y="1371466"/>
            <a:ext cx="11592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General D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31FAA974-95CA-40AD-987E-1B3BCBC01387}"/>
              </a:ext>
            </a:extLst>
          </p:cNvPr>
          <p:cNvCxnSpPr/>
          <p:nvPr/>
        </p:nvCxnSpPr>
        <p:spPr>
          <a:xfrm>
            <a:off x="7180183" y="2284083"/>
            <a:ext cx="1552592" cy="0"/>
          </a:xfrm>
          <a:prstGeom prst="straightConnector1">
            <a:avLst/>
          </a:prstGeom>
          <a:ln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384EB642-3343-4EAD-B856-5BB4B9819139}"/>
              </a:ext>
            </a:extLst>
          </p:cNvPr>
          <p:cNvCxnSpPr>
            <a:cxnSpLocks/>
          </p:cNvCxnSpPr>
          <p:nvPr/>
        </p:nvCxnSpPr>
        <p:spPr>
          <a:xfrm flipH="1" flipV="1">
            <a:off x="7180183" y="2074940"/>
            <a:ext cx="1552592" cy="18219"/>
          </a:xfrm>
          <a:prstGeom prst="straightConnector1">
            <a:avLst/>
          </a:prstGeom>
          <a:ln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>
            <a:extLst>
              <a:ext uri="{FF2B5EF4-FFF2-40B4-BE49-F238E27FC236}">
                <a16:creationId xmlns:a16="http://schemas.microsoft.com/office/drawing/2014/main" id="{454467F6-1E1F-4E0F-9867-EC0388F6E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8595" y="1680664"/>
            <a:ext cx="952500" cy="952500"/>
          </a:xfrm>
          <a:prstGeom prst="rect">
            <a:avLst/>
          </a:prstGeom>
        </p:spPr>
      </p:pic>
      <p:pic>
        <p:nvPicPr>
          <p:cNvPr id="38" name="图片 37">
            <a:extLst>
              <a:ext uri="{FF2B5EF4-FFF2-40B4-BE49-F238E27FC236}">
                <a16:creationId xmlns:a16="http://schemas.microsoft.com/office/drawing/2014/main" id="{0E0F98C0-7320-4ABF-82C6-A7E187455D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8565" y="1682072"/>
            <a:ext cx="952500" cy="952500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1E29EAB0-A326-4777-8514-3CCAF242C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0963" y="1691143"/>
            <a:ext cx="952500" cy="952500"/>
          </a:xfrm>
          <a:prstGeom prst="rect">
            <a:avLst/>
          </a:prstGeom>
        </p:spPr>
      </p:pic>
      <p:pic>
        <p:nvPicPr>
          <p:cNvPr id="41" name="图片 40">
            <a:extLst>
              <a:ext uri="{FF2B5EF4-FFF2-40B4-BE49-F238E27FC236}">
                <a16:creationId xmlns:a16="http://schemas.microsoft.com/office/drawing/2014/main" id="{A286F224-01E1-44BF-A45B-E726ADA82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8595" y="2818493"/>
            <a:ext cx="952500" cy="952500"/>
          </a:xfrm>
          <a:prstGeom prst="rect">
            <a:avLst/>
          </a:prstGeom>
        </p:spPr>
      </p:pic>
      <p:pic>
        <p:nvPicPr>
          <p:cNvPr id="42" name="图片 41">
            <a:extLst>
              <a:ext uri="{FF2B5EF4-FFF2-40B4-BE49-F238E27FC236}">
                <a16:creationId xmlns:a16="http://schemas.microsoft.com/office/drawing/2014/main" id="{A243812C-E1BE-4F5C-BA13-E55E22025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8565" y="2819901"/>
            <a:ext cx="952500" cy="952500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F922FD17-85D6-401C-8038-B1B2B38A3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0963" y="2828972"/>
            <a:ext cx="952500" cy="952500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70FD6CEE-749E-44FF-BECB-88D6189634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8595" y="3979028"/>
            <a:ext cx="952500" cy="952500"/>
          </a:xfrm>
          <a:prstGeom prst="rect">
            <a:avLst/>
          </a:prstGeom>
        </p:spPr>
      </p:pic>
      <p:pic>
        <p:nvPicPr>
          <p:cNvPr id="47" name="图片 46">
            <a:extLst>
              <a:ext uri="{FF2B5EF4-FFF2-40B4-BE49-F238E27FC236}">
                <a16:creationId xmlns:a16="http://schemas.microsoft.com/office/drawing/2014/main" id="{39E8FC69-2E0A-4CEA-9FFC-1182D7CD2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8565" y="3980436"/>
            <a:ext cx="952500" cy="952500"/>
          </a:xfrm>
          <a:prstGeom prst="rect">
            <a:avLst/>
          </a:prstGeom>
        </p:spPr>
      </p:pic>
      <p:pic>
        <p:nvPicPr>
          <p:cNvPr id="48" name="图片 47">
            <a:extLst>
              <a:ext uri="{FF2B5EF4-FFF2-40B4-BE49-F238E27FC236}">
                <a16:creationId xmlns:a16="http://schemas.microsoft.com/office/drawing/2014/main" id="{66C1B7B3-3E07-4CF6-B557-2674202F49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0963" y="3989507"/>
            <a:ext cx="952500" cy="952500"/>
          </a:xfrm>
          <a:prstGeom prst="rect">
            <a:avLst/>
          </a:prstGeom>
        </p:spPr>
      </p:pic>
      <p:sp>
        <p:nvSpPr>
          <p:cNvPr id="49" name="文本框 48">
            <a:extLst>
              <a:ext uri="{FF2B5EF4-FFF2-40B4-BE49-F238E27FC236}">
                <a16:creationId xmlns:a16="http://schemas.microsoft.com/office/drawing/2014/main" id="{D94D3EAD-AFD1-496C-AF8C-67BFE1B95052}"/>
              </a:ext>
            </a:extLst>
          </p:cNvPr>
          <p:cNvSpPr txBox="1"/>
          <p:nvPr/>
        </p:nvSpPr>
        <p:spPr>
          <a:xfrm>
            <a:off x="10307407" y="4895135"/>
            <a:ext cx="1173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General …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F6EE0515-80FD-4120-825D-2ADBE3DDDAAC}"/>
              </a:ext>
            </a:extLst>
          </p:cNvPr>
          <p:cNvSpPr txBox="1"/>
          <p:nvPr/>
        </p:nvSpPr>
        <p:spPr>
          <a:xfrm>
            <a:off x="366470" y="1533000"/>
            <a:ext cx="56158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一般性结论：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3375793A-7138-4858-AC22-5A0D603A2491}"/>
                  </a:ext>
                </a:extLst>
              </p:cNvPr>
              <p:cNvSpPr txBox="1"/>
              <p:nvPr/>
            </p:nvSpPr>
            <p:spPr>
              <a:xfrm>
                <a:off x="319260" y="4442802"/>
                <a:ext cx="2044021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zh-CN" altLang="en-US" sz="2200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通信量</a:t>
                </a:r>
                <a14:m>
                  <m:oMath xmlns:m="http://schemas.openxmlformats.org/officeDocument/2006/math">
                    <m:r>
                      <a:rPr lang="zh-CN" altLang="en-US" sz="2200" i="1" smtClean="0">
                        <a:latin typeface="Cambria Math" panose="02040503050406030204" pitchFamily="18" charset="0"/>
                      </a:rPr>
                      <m:t>𝒪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!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2200" dirty="0">
                  <a:latin typeface="Garamond" panose="02020404030301010803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3375793A-7138-4858-AC22-5A0D603A2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260" y="4442802"/>
                <a:ext cx="2044021" cy="430887"/>
              </a:xfrm>
              <a:prstGeom prst="rect">
                <a:avLst/>
              </a:prstGeom>
              <a:blipFill>
                <a:blip r:embed="rId6"/>
                <a:stretch>
                  <a:fillRect l="-2454" t="-11429" r="-1227" b="-22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3EDCD0EC-4A62-4F52-9144-BD7642A68A25}"/>
                  </a:ext>
                </a:extLst>
              </p:cNvPr>
              <p:cNvSpPr txBox="1"/>
              <p:nvPr/>
            </p:nvSpPr>
            <p:spPr>
              <a:xfrm>
                <a:off x="319260" y="2109283"/>
                <a:ext cx="6096000" cy="8789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口头消息：假设一共有</a:t>
                </a:r>
                <a:r>
                  <a:rPr lang="en-US" altLang="zh-CN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n</a:t>
                </a:r>
                <a:r>
                  <a:rPr lang="zh-CN" altLang="en-US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位将军，其中</a:t>
                </a:r>
                <a:r>
                  <a:rPr lang="en-US" altLang="zh-CN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f</a:t>
                </a:r>
                <a:r>
                  <a:rPr lang="zh-CN" altLang="en-US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位将军为叛徒。当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  <m: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≥3</m:t>
                    </m:r>
                    <m: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  <m: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</m:t>
                    </m:r>
                    <m: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时</m:t>
                    </m:r>
                  </m:oMath>
                </a14:m>
                <a:r>
                  <a:rPr lang="zh-CN" altLang="en-US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，诚实将军</a:t>
                </a:r>
                <a:r>
                  <a:rPr lang="zh-CN" altLang="en-US" b="1" dirty="0">
                    <a:solidFill>
                      <a:srgbClr val="5B307E"/>
                    </a:solidFill>
                    <a:latin typeface="Garamond" panose="02020404030301010803" pitchFamily="18" charset="0"/>
                    <a:ea typeface="微软雅黑" panose="020B0503020204020204" pitchFamily="34" charset="-122"/>
                  </a:rPr>
                  <a:t>总能</a:t>
                </a:r>
                <a:r>
                  <a:rPr lang="zh-CN" altLang="en-US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达成一致</a:t>
                </a:r>
                <a:r>
                  <a:rPr lang="en-US" altLang="zh-CN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.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3EDCD0EC-4A62-4F52-9144-BD7642A68A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260" y="2109283"/>
                <a:ext cx="6096000" cy="878959"/>
              </a:xfrm>
              <a:prstGeom prst="rect">
                <a:avLst/>
              </a:prstGeom>
              <a:blipFill>
                <a:blip r:embed="rId7"/>
                <a:stretch>
                  <a:fillRect l="-416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FB628BA9-E5F6-4315-90C8-11FF846C9C47}"/>
                  </a:ext>
                </a:extLst>
              </p:cNvPr>
              <p:cNvSpPr txBox="1"/>
              <p:nvPr/>
            </p:nvSpPr>
            <p:spPr>
              <a:xfrm>
                <a:off x="319260" y="3420690"/>
                <a:ext cx="6096000" cy="8796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zh-CN" altLang="en-US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签名消息：假设一共有</a:t>
                </a:r>
                <a:r>
                  <a:rPr lang="en-US" altLang="zh-CN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n</a:t>
                </a:r>
                <a:r>
                  <a:rPr lang="zh-CN" altLang="en-US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位将军，其中</a:t>
                </a:r>
                <a:r>
                  <a:rPr lang="en-US" altLang="zh-CN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f</a:t>
                </a:r>
                <a:r>
                  <a:rPr lang="zh-CN" altLang="en-US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位将军为叛徒。</a:t>
                </a:r>
                <a14:m>
                  <m:oMath xmlns:m="http://schemas.openxmlformats.org/officeDocument/2006/math">
                    <m: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  <m: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≥2</m:t>
                    </m:r>
                    <m: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  <m:r>
                      <a:rPr lang="en-US" altLang="zh-CN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</m:t>
                    </m:r>
                  </m:oMath>
                </a14:m>
                <a:r>
                  <a:rPr lang="zh-CN" altLang="en-US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可达成一致。可以确定叛徒。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FB628BA9-E5F6-4315-90C8-11FF846C9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260" y="3420690"/>
                <a:ext cx="6096000" cy="879600"/>
              </a:xfrm>
              <a:prstGeom prst="rect">
                <a:avLst/>
              </a:prstGeom>
              <a:blipFill>
                <a:blip r:embed="rId8"/>
                <a:stretch>
                  <a:fillRect l="-416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文本框 54">
            <a:extLst>
              <a:ext uri="{FF2B5EF4-FFF2-40B4-BE49-F238E27FC236}">
                <a16:creationId xmlns:a16="http://schemas.microsoft.com/office/drawing/2014/main" id="{3C8CEA93-EA43-42C9-8E50-97BEB5CE1EE8}"/>
              </a:ext>
            </a:extLst>
          </p:cNvPr>
          <p:cNvSpPr txBox="1"/>
          <p:nvPr/>
        </p:nvSpPr>
        <p:spPr>
          <a:xfrm>
            <a:off x="333107" y="4974488"/>
            <a:ext cx="385874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未考虑系统存在延时、丢包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0581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28" grpId="0"/>
      <p:bldP spid="49" grpId="0"/>
      <p:bldP spid="50" grpId="0"/>
      <p:bldP spid="51" grpId="0"/>
      <p:bldP spid="53" grpId="0"/>
      <p:bldP spid="54" grpId="0"/>
      <p:bldP spid="5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实用拜占庭容错（</a:t>
            </a:r>
            <a:r>
              <a:rPr kumimoji="1"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Practical BFT, PBFT</a:t>
            </a:r>
            <a:r>
              <a:rPr kumimoji="1"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>
                <a:latin typeface="Garamond" panose="02020404030301010803" pitchFamily="18" charset="0"/>
                <a:ea typeface="微软雅黑" panose="020B0503020204020204" pitchFamily="34" charset="-122"/>
              </a:rPr>
              <a:t>13</a:t>
            </a:fld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AB12F9F-5C2D-42F4-B3FD-9AEBA083C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2508" y="1577615"/>
            <a:ext cx="6642962" cy="5143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文本框 39">
            <a:extLst>
              <a:ext uri="{FF2B5EF4-FFF2-40B4-BE49-F238E27FC236}">
                <a16:creationId xmlns:a16="http://schemas.microsoft.com/office/drawing/2014/main" id="{462DD679-419B-4296-A0C8-B9BA542421ED}"/>
              </a:ext>
            </a:extLst>
          </p:cNvPr>
          <p:cNvSpPr txBox="1"/>
          <p:nvPr/>
        </p:nvSpPr>
        <p:spPr>
          <a:xfrm>
            <a:off x="366470" y="1438396"/>
            <a:ext cx="43717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要点：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86F1B9BA-3863-42B2-A898-9F57B2EB85C8}"/>
                  </a:ext>
                </a:extLst>
              </p:cNvPr>
              <p:cNvSpPr txBox="1"/>
              <p:nvPr/>
            </p:nvSpPr>
            <p:spPr>
              <a:xfrm>
                <a:off x="366469" y="2063468"/>
                <a:ext cx="504603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n-US" altLang="zh-CN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𝑛</m:t>
                    </m:r>
                    <m:r>
                      <a:rPr lang="en-US" altLang="zh-CN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≥3</m:t>
                    </m:r>
                    <m:r>
                      <a:rPr lang="en-US" altLang="zh-CN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  <m:r>
                      <a:rPr lang="en-US" altLang="zh-CN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</m:oMath>
                </a14:m>
                <a:r>
                  <a:rPr lang="zh-CN" altLang="en-US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个恶意节点，</a:t>
                </a:r>
                <a:r>
                  <a:rPr lang="en-US" altLang="zh-CN" dirty="0">
                    <a:ea typeface="微软雅黑" panose="020B0503020204020204" pitchFamily="34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2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𝑓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+1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个</m:t>
                    </m:r>
                  </m:oMath>
                </a14:m>
                <a:r>
                  <a:rPr lang="zh-CN" altLang="en-US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诚实节点</a:t>
                </a:r>
              </a:p>
            </p:txBody>
          </p:sp>
        </mc:Choice>
        <mc:Fallback xmlns="">
          <p:sp>
            <p:nvSpPr>
              <p:cNvPr id="45" name="文本框 44">
                <a:extLst>
                  <a:ext uri="{FF2B5EF4-FFF2-40B4-BE49-F238E27FC236}">
                    <a16:creationId xmlns:a16="http://schemas.microsoft.com/office/drawing/2014/main" id="{86F1B9BA-3863-42B2-A898-9F57B2EB85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469" y="2063468"/>
                <a:ext cx="5046039" cy="369332"/>
              </a:xfrm>
              <a:prstGeom prst="rect">
                <a:avLst/>
              </a:prstGeom>
              <a:blipFill>
                <a:blip r:embed="rId4"/>
                <a:stretch>
                  <a:fillRect l="-725" t="-9836" r="-725" b="-229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AE0D2DBD-C2EE-4337-91D8-FD5C13AED106}"/>
                  </a:ext>
                </a:extLst>
              </p:cNvPr>
              <p:cNvSpPr txBox="1"/>
              <p:nvPr/>
            </p:nvSpPr>
            <p:spPr>
              <a:xfrm>
                <a:off x="366470" y="3173122"/>
                <a:ext cx="430713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三个</m:t>
                    </m:r>
                  </m:oMath>
                </a14:m>
                <a:r>
                  <a:rPr lang="zh-CN" altLang="en-US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阶段：</a:t>
                </a:r>
                <a:r>
                  <a:rPr lang="en-US" altLang="zh-CN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Pre-Prepare</a:t>
                </a:r>
                <a:r>
                  <a:rPr lang="zh-CN" altLang="en-US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，</a:t>
                </a:r>
                <a:r>
                  <a:rPr lang="en-US" altLang="zh-CN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Prepare</a:t>
                </a:r>
                <a:r>
                  <a:rPr lang="zh-CN" altLang="en-US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，</a:t>
                </a:r>
                <a:r>
                  <a:rPr lang="en-US" altLang="zh-CN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Commit</a:t>
                </a:r>
                <a:endParaRPr lang="zh-CN" altLang="en-US" dirty="0">
                  <a:latin typeface="Garamond" panose="02020404030301010803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AE0D2DBD-C2EE-4337-91D8-FD5C13AED1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470" y="3173122"/>
                <a:ext cx="4307130" cy="646331"/>
              </a:xfrm>
              <a:prstGeom prst="rect">
                <a:avLst/>
              </a:prstGeom>
              <a:blipFill>
                <a:blip r:embed="rId5"/>
                <a:stretch>
                  <a:fillRect l="-849" t="-6604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1D9796A0-2017-4FB6-9E92-83CC2CD3B4D3}"/>
                  </a:ext>
                </a:extLst>
              </p:cNvPr>
              <p:cNvSpPr txBox="1"/>
              <p:nvPr/>
            </p:nvSpPr>
            <p:spPr>
              <a:xfrm>
                <a:off x="366470" y="3863109"/>
                <a:ext cx="4307130" cy="3693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两轮</m:t>
                    </m:r>
                  </m:oMath>
                </a14:m>
                <a:r>
                  <a:rPr lang="zh-CN" altLang="en-US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投票：通信量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𝒪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baseline="3000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>
                  <a:latin typeface="Garamond" panose="02020404030301010803" pitchFamily="18" charset="0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1D9796A0-2017-4FB6-9E92-83CC2CD3B4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470" y="3863109"/>
                <a:ext cx="4307130" cy="369397"/>
              </a:xfrm>
              <a:prstGeom prst="rect">
                <a:avLst/>
              </a:prstGeom>
              <a:blipFill>
                <a:blip r:embed="rId6"/>
                <a:stretch>
                  <a:fillRect l="-880" t="-10000" b="-2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62F6153D-EA95-4947-A235-8D499550203D}"/>
                  </a:ext>
                </a:extLst>
              </p:cNvPr>
              <p:cNvSpPr txBox="1"/>
              <p:nvPr/>
            </p:nvSpPr>
            <p:spPr>
              <a:xfrm>
                <a:off x="366470" y="2638662"/>
                <a:ext cx="43071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主从</m:t>
                    </m:r>
                  </m:oMath>
                </a14:m>
                <a:r>
                  <a:rPr lang="zh-CN" altLang="en-US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节点</a:t>
                </a:r>
              </a:p>
            </p:txBody>
          </p:sp>
        </mc:Choice>
        <mc:Fallback xmlns="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62F6153D-EA95-4947-A235-8D49955020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470" y="2638662"/>
                <a:ext cx="4307130" cy="369332"/>
              </a:xfrm>
              <a:prstGeom prst="rect">
                <a:avLst/>
              </a:prstGeom>
              <a:blipFill>
                <a:blip r:embed="rId7"/>
                <a:stretch>
                  <a:fillRect l="-849" t="-11667" b="-2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79182CB9-0A2A-41D2-B34F-5AC6D19FEBA5}"/>
                  </a:ext>
                </a:extLst>
              </p:cNvPr>
              <p:cNvSpPr txBox="1"/>
              <p:nvPr/>
            </p:nvSpPr>
            <p:spPr>
              <a:xfrm>
                <a:off x="366470" y="5987018"/>
                <a:ext cx="4307130" cy="3720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 pitchFamily="18" charset="0"/>
                        <a:ea typeface="微软雅黑" panose="020B0503020204020204" pitchFamily="34" charset="-122"/>
                      </a:rPr>
                      <m:t>客户端</m:t>
                    </m:r>
                  </m:oMath>
                </a14:m>
                <a:r>
                  <a:rPr lang="zh-CN" altLang="en-US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收到</a:t>
                </a:r>
                <a:r>
                  <a:rPr lang="en-US" altLang="zh-CN" b="1" dirty="0">
                    <a:solidFill>
                      <a:srgbClr val="A40A57"/>
                    </a:solidFill>
                    <a:latin typeface="Garamond" panose="02020404030301010803" pitchFamily="18" charset="0"/>
                    <a:ea typeface="微软雅黑" panose="020B0503020204020204" pitchFamily="34" charset="-122"/>
                  </a:rPr>
                  <a:t>f + 1</a:t>
                </a:r>
                <a:r>
                  <a:rPr lang="zh-CN" altLang="en-US" b="1" dirty="0">
                    <a:solidFill>
                      <a:srgbClr val="A40A57"/>
                    </a:solidFill>
                    <a:latin typeface="Garamond" panose="02020404030301010803" pitchFamily="18" charset="0"/>
                    <a:ea typeface="微软雅黑" panose="020B0503020204020204" pitchFamily="34" charset="-122"/>
                  </a:rPr>
                  <a:t>个相同消息</a:t>
                </a:r>
                <a:r>
                  <a:rPr lang="zh-CN" altLang="en-US" dirty="0">
                    <a:latin typeface="Garamond" panose="02020404030301010803" pitchFamily="18" charset="0"/>
                    <a:ea typeface="微软雅黑" panose="020B0503020204020204" pitchFamily="34" charset="-122"/>
                  </a:rPr>
                  <a:t>后确认</a:t>
                </a:r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79182CB9-0A2A-41D2-B34F-5AC6D19FEB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470" y="5987018"/>
                <a:ext cx="4307130" cy="372090"/>
              </a:xfrm>
              <a:prstGeom prst="rect">
                <a:avLst/>
              </a:prstGeom>
              <a:blipFill>
                <a:blip r:embed="rId8"/>
                <a:stretch>
                  <a:fillRect l="-849" t="-9836" b="-26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文本框 59">
            <a:extLst>
              <a:ext uri="{FF2B5EF4-FFF2-40B4-BE49-F238E27FC236}">
                <a16:creationId xmlns:a16="http://schemas.microsoft.com/office/drawing/2014/main" id="{AB22132C-92DF-409F-A50C-FD89E9F39606}"/>
              </a:ext>
            </a:extLst>
          </p:cNvPr>
          <p:cNvSpPr txBox="1"/>
          <p:nvPr/>
        </p:nvSpPr>
        <p:spPr>
          <a:xfrm>
            <a:off x="366470" y="4400509"/>
            <a:ext cx="43071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Round 1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：收到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2f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张投票（包括自己）进入下一阶段（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Commit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阶段）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C1A9D1A6-F432-4912-9B38-34E660A09486}"/>
              </a:ext>
            </a:extLst>
          </p:cNvPr>
          <p:cNvSpPr txBox="1"/>
          <p:nvPr/>
        </p:nvSpPr>
        <p:spPr>
          <a:xfrm>
            <a:off x="366470" y="5172619"/>
            <a:ext cx="43071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Round 2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：收到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2f + 1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张投票（包括自己），返回客户端确认消息</a:t>
            </a:r>
          </a:p>
        </p:txBody>
      </p:sp>
    </p:spTree>
    <p:extLst>
      <p:ext uri="{BB962C8B-B14F-4D97-AF65-F5344CB8AC3E}">
        <p14:creationId xmlns:p14="http://schemas.microsoft.com/office/powerpoint/2010/main" val="2138386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5" grpId="0"/>
      <p:bldP spid="52" grpId="0"/>
      <p:bldP spid="57" grpId="0"/>
      <p:bldP spid="58" grpId="0"/>
      <p:bldP spid="59" grpId="0"/>
      <p:bldP spid="60" grpId="0"/>
      <p:bldP spid="6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崩溃容错（</a:t>
            </a:r>
            <a:r>
              <a:rPr kumimoji="1"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CFT</a:t>
            </a:r>
            <a:r>
              <a:rPr kumimoji="1"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>
                <a:latin typeface="Garamond" panose="02020404030301010803" pitchFamily="18" charset="0"/>
                <a:ea typeface="微软雅黑" panose="020B0503020204020204" pitchFamily="34" charset="-122"/>
              </a:rPr>
              <a:t>14</a:t>
            </a:fld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08A0A9B-AB47-4A64-B97C-4ACFB73781AD}"/>
              </a:ext>
            </a:extLst>
          </p:cNvPr>
          <p:cNvSpPr txBox="1"/>
          <p:nvPr/>
        </p:nvSpPr>
        <p:spPr>
          <a:xfrm>
            <a:off x="366470" y="1320537"/>
            <a:ext cx="43717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产生情况：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83D65EB-6979-472B-A28B-301570249B71}"/>
              </a:ext>
            </a:extLst>
          </p:cNvPr>
          <p:cNvSpPr txBox="1"/>
          <p:nvPr/>
        </p:nvSpPr>
        <p:spPr>
          <a:xfrm>
            <a:off x="652797" y="1775547"/>
            <a:ext cx="4371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节点故障（断电、死机、程序退出等）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194887F-AC01-423B-815B-7A3D44AD6B38}"/>
              </a:ext>
            </a:extLst>
          </p:cNvPr>
          <p:cNvSpPr txBox="1"/>
          <p:nvPr/>
        </p:nvSpPr>
        <p:spPr>
          <a:xfrm>
            <a:off x="652797" y="2322891"/>
            <a:ext cx="4371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网络中断（阻塞、通信中断、延迟）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4F6D97-C78D-487E-97F4-9880CEBFBD84}"/>
              </a:ext>
            </a:extLst>
          </p:cNvPr>
          <p:cNvSpPr txBox="1"/>
          <p:nvPr/>
        </p:nvSpPr>
        <p:spPr>
          <a:xfrm>
            <a:off x="5315862" y="1946012"/>
            <a:ext cx="64812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区别：故障节点自己的状态不同，网络中断下，故障节点不认为自己处于故障中（可能其他节点全部故障而非网络问题）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DE083C5-AC9F-4A2B-847E-4F56D3740851}"/>
              </a:ext>
            </a:extLst>
          </p:cNvPr>
          <p:cNvSpPr txBox="1"/>
          <p:nvPr/>
        </p:nvSpPr>
        <p:spPr>
          <a:xfrm>
            <a:off x="366470" y="2704013"/>
            <a:ext cx="43717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目标：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1D3B52A-164E-44BF-85D8-01D06F5E7E9C}"/>
              </a:ext>
            </a:extLst>
          </p:cNvPr>
          <p:cNvSpPr txBox="1"/>
          <p:nvPr/>
        </p:nvSpPr>
        <p:spPr>
          <a:xfrm>
            <a:off x="652797" y="3204582"/>
            <a:ext cx="4815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存在崩溃故障前提下，系统能够达成一致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F6632BF-2D29-4D33-8D7F-D848B69A54CD}"/>
              </a:ext>
            </a:extLst>
          </p:cNvPr>
          <p:cNvSpPr txBox="1"/>
          <p:nvPr/>
        </p:nvSpPr>
        <p:spPr>
          <a:xfrm>
            <a:off x="366470" y="3641588"/>
            <a:ext cx="437178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CAP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定理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D5DB82CD-4109-48E9-A2BD-F0F6798A9D8D}"/>
              </a:ext>
            </a:extLst>
          </p:cNvPr>
          <p:cNvSpPr/>
          <p:nvPr/>
        </p:nvSpPr>
        <p:spPr>
          <a:xfrm>
            <a:off x="7797799" y="3045074"/>
            <a:ext cx="2013527" cy="2013527"/>
          </a:xfrm>
          <a:prstGeom prst="ellipse">
            <a:avLst/>
          </a:prstGeom>
          <a:solidFill>
            <a:srgbClr val="A40A57">
              <a:alpha val="40000"/>
            </a:srgb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92AD9293-0C6A-4945-A3B5-6692CCD83CFC}"/>
              </a:ext>
            </a:extLst>
          </p:cNvPr>
          <p:cNvSpPr/>
          <p:nvPr/>
        </p:nvSpPr>
        <p:spPr>
          <a:xfrm>
            <a:off x="7011258" y="4144136"/>
            <a:ext cx="2013527" cy="2013527"/>
          </a:xfrm>
          <a:prstGeom prst="ellipse">
            <a:avLst/>
          </a:prstGeom>
          <a:solidFill>
            <a:srgbClr val="A40A57">
              <a:alpha val="40000"/>
            </a:srgb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FCB59F8C-46ED-4A59-ACAD-45C0DB4F1980}"/>
              </a:ext>
            </a:extLst>
          </p:cNvPr>
          <p:cNvSpPr/>
          <p:nvPr/>
        </p:nvSpPr>
        <p:spPr>
          <a:xfrm>
            <a:off x="8466452" y="4119463"/>
            <a:ext cx="2013527" cy="2013527"/>
          </a:xfrm>
          <a:prstGeom prst="ellipse">
            <a:avLst/>
          </a:prstGeom>
          <a:solidFill>
            <a:srgbClr val="A40A57">
              <a:alpha val="40000"/>
            </a:srgbClr>
          </a:solidFill>
          <a:ln w="285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F35C4C5-10C7-47D9-A515-399A89CA3A4E}"/>
              </a:ext>
            </a:extLst>
          </p:cNvPr>
          <p:cNvSpPr txBox="1"/>
          <p:nvPr/>
        </p:nvSpPr>
        <p:spPr>
          <a:xfrm>
            <a:off x="7118767" y="5083274"/>
            <a:ext cx="1260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Consistency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09EAC769-15A6-4EAD-891A-14DEF7C62C04}"/>
              </a:ext>
            </a:extLst>
          </p:cNvPr>
          <p:cNvSpPr txBox="1"/>
          <p:nvPr/>
        </p:nvSpPr>
        <p:spPr>
          <a:xfrm>
            <a:off x="9132294" y="5081807"/>
            <a:ext cx="11673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Availability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292C552D-CBD5-4A0A-926F-38C331B320DB}"/>
              </a:ext>
            </a:extLst>
          </p:cNvPr>
          <p:cNvSpPr txBox="1"/>
          <p:nvPr/>
        </p:nvSpPr>
        <p:spPr>
          <a:xfrm>
            <a:off x="8276084" y="3242298"/>
            <a:ext cx="10569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Partition</a:t>
            </a:r>
          </a:p>
          <a:p>
            <a:r>
              <a:rPr lang="en-US" altLang="zh-CN" dirty="0">
                <a:latin typeface="Garamond" panose="02020404030301010803" pitchFamily="18" charset="0"/>
              </a:rPr>
              <a:t>Tolerance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CF2FF48-8B16-4D6D-8F93-1A5508EDA4B8}"/>
              </a:ext>
            </a:extLst>
          </p:cNvPr>
          <p:cNvSpPr txBox="1"/>
          <p:nvPr/>
        </p:nvSpPr>
        <p:spPr>
          <a:xfrm>
            <a:off x="652797" y="3991980"/>
            <a:ext cx="48151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一致性（</a:t>
            </a:r>
            <a:r>
              <a:rPr lang="en-US" altLang="zh-CN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Consistency</a:t>
            </a: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）：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所有节点在同一时间看到相同的数据。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AE4A52D-FFF8-4BB3-AAD4-343D81477A3B}"/>
              </a:ext>
            </a:extLst>
          </p:cNvPr>
          <p:cNvSpPr txBox="1"/>
          <p:nvPr/>
        </p:nvSpPr>
        <p:spPr>
          <a:xfrm>
            <a:off x="652797" y="4638311"/>
            <a:ext cx="48151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可用性（</a:t>
            </a:r>
            <a:r>
              <a:rPr lang="en-US" altLang="zh-CN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Availability</a:t>
            </a: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）：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每个请求都能在合理时间内得到非错误响应，即使某些节点出现故障。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FDF3BB1-208F-4777-A5A0-0F7F2AF3EC22}"/>
              </a:ext>
            </a:extLst>
          </p:cNvPr>
          <p:cNvSpPr txBox="1"/>
          <p:nvPr/>
        </p:nvSpPr>
        <p:spPr>
          <a:xfrm>
            <a:off x="652797" y="5542116"/>
            <a:ext cx="48151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分区容错性（</a:t>
            </a:r>
            <a:r>
              <a:rPr lang="en-US" altLang="zh-CN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Partition Tolerance</a:t>
            </a: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）：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系统在网络分区（节点间通信中断）时仍能继续运行。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8327C195-A288-4C25-A557-59D4A5281624}"/>
              </a:ext>
            </a:extLst>
          </p:cNvPr>
          <p:cNvSpPr txBox="1"/>
          <p:nvPr/>
        </p:nvSpPr>
        <p:spPr>
          <a:xfrm>
            <a:off x="652797" y="6455372"/>
            <a:ext cx="50424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理论上，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CAP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中</a:t>
            </a:r>
            <a:r>
              <a:rPr lang="zh-CN" altLang="en-US" b="1" dirty="0">
                <a:solidFill>
                  <a:srgbClr val="A40A57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只能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同时满足任意</a:t>
            </a:r>
            <a:r>
              <a:rPr lang="zh-CN" altLang="en-US" b="1" dirty="0">
                <a:solidFill>
                  <a:srgbClr val="A40A57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两项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F5F08DB-CDF0-4F16-AE02-DB6ABBFD6E02}"/>
              </a:ext>
            </a:extLst>
          </p:cNvPr>
          <p:cNvSpPr txBox="1"/>
          <p:nvPr/>
        </p:nvSpPr>
        <p:spPr>
          <a:xfrm>
            <a:off x="5513311" y="3038325"/>
            <a:ext cx="18751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CP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：放弃可用性，保证强一致性（数据很关键）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A4482BF-5237-4AAB-87DA-488B3048DD4D}"/>
              </a:ext>
            </a:extLst>
          </p:cNvPr>
          <p:cNvSpPr txBox="1"/>
          <p:nvPr/>
        </p:nvSpPr>
        <p:spPr>
          <a:xfrm>
            <a:off x="10038683" y="2997020"/>
            <a:ext cx="20135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AP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：放弃一致性，保证服务时刻可用（数据不关键）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615CC07-C220-4404-9DB0-48A9EDFF251C}"/>
              </a:ext>
            </a:extLst>
          </p:cNvPr>
          <p:cNvSpPr txBox="1"/>
          <p:nvPr/>
        </p:nvSpPr>
        <p:spPr>
          <a:xfrm>
            <a:off x="6879949" y="6340144"/>
            <a:ext cx="3762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CA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：不可分区，例如：集中式系统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73A63C17-1F3A-476E-916A-DC2F07796D43}"/>
              </a:ext>
            </a:extLst>
          </p:cNvPr>
          <p:cNvCxnSpPr>
            <a:cxnSpLocks/>
            <a:stCxn id="22" idx="3"/>
            <a:endCxn id="32" idx="0"/>
          </p:cNvCxnSpPr>
          <p:nvPr/>
        </p:nvCxnSpPr>
        <p:spPr>
          <a:xfrm>
            <a:off x="8761326" y="5838116"/>
            <a:ext cx="0" cy="502028"/>
          </a:xfrm>
          <a:prstGeom prst="straightConnector1">
            <a:avLst/>
          </a:prstGeom>
          <a:ln w="28575">
            <a:solidFill>
              <a:srgbClr val="0000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A24BE40F-EB3D-47D9-8AC8-5876F76E27C8}"/>
              </a:ext>
            </a:extLst>
          </p:cNvPr>
          <p:cNvCxnSpPr>
            <a:cxnSpLocks/>
          </p:cNvCxnSpPr>
          <p:nvPr/>
        </p:nvCxnSpPr>
        <p:spPr>
          <a:xfrm>
            <a:off x="7243233" y="3718373"/>
            <a:ext cx="554566" cy="425763"/>
          </a:xfrm>
          <a:prstGeom prst="straightConnector1">
            <a:avLst/>
          </a:prstGeom>
          <a:ln w="28575">
            <a:solidFill>
              <a:srgbClr val="0000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1E6852CB-BAE8-47CE-9F30-BD7ECE054913}"/>
              </a:ext>
            </a:extLst>
          </p:cNvPr>
          <p:cNvCxnSpPr>
            <a:cxnSpLocks/>
          </p:cNvCxnSpPr>
          <p:nvPr/>
        </p:nvCxnSpPr>
        <p:spPr>
          <a:xfrm flipV="1">
            <a:off x="9811326" y="3851927"/>
            <a:ext cx="409330" cy="364387"/>
          </a:xfrm>
          <a:prstGeom prst="straightConnector1">
            <a:avLst/>
          </a:prstGeom>
          <a:ln w="28575">
            <a:solidFill>
              <a:srgbClr val="0000FF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本框 45">
            <a:extLst>
              <a:ext uri="{FF2B5EF4-FFF2-40B4-BE49-F238E27FC236}">
                <a16:creationId xmlns:a16="http://schemas.microsoft.com/office/drawing/2014/main" id="{5C3A097D-0DBF-4E5F-9B7D-BEF6FC63CE0B}"/>
              </a:ext>
            </a:extLst>
          </p:cNvPr>
          <p:cNvSpPr txBox="1"/>
          <p:nvPr/>
        </p:nvSpPr>
        <p:spPr>
          <a:xfrm>
            <a:off x="9022919" y="4345328"/>
            <a:ext cx="5054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AP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827B3DF8-D2F3-4B50-8E90-ACFEDF74854B}"/>
              </a:ext>
            </a:extLst>
          </p:cNvPr>
          <p:cNvSpPr txBox="1"/>
          <p:nvPr/>
        </p:nvSpPr>
        <p:spPr>
          <a:xfrm>
            <a:off x="8486557" y="5119391"/>
            <a:ext cx="5054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CA</a:t>
            </a:r>
            <a:endParaRPr lang="zh-CN" altLang="en-US" b="1" dirty="0">
              <a:solidFill>
                <a:schemeClr val="bg1"/>
              </a:solidFill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A0F645B3-16A1-4E2E-9238-E828C8420094}"/>
              </a:ext>
            </a:extLst>
          </p:cNvPr>
          <p:cNvSpPr txBox="1"/>
          <p:nvPr/>
        </p:nvSpPr>
        <p:spPr>
          <a:xfrm>
            <a:off x="7988920" y="4349160"/>
            <a:ext cx="5054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bg1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CP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6945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19" grpId="0"/>
      <p:bldP spid="4" grpId="0" animBg="1"/>
      <p:bldP spid="21" grpId="0" animBg="1"/>
      <p:bldP spid="22" grpId="0" animBg="1"/>
      <p:bldP spid="5" grpId="0"/>
      <p:bldP spid="24" grpId="0"/>
      <p:bldP spid="25" grpId="0"/>
      <p:bldP spid="26" grpId="0"/>
      <p:bldP spid="27" grpId="0"/>
      <p:bldP spid="28" grpId="0"/>
      <p:bldP spid="29" grpId="0"/>
      <p:bldP spid="6" grpId="0"/>
      <p:bldP spid="31" grpId="0"/>
      <p:bldP spid="32" grpId="0"/>
      <p:bldP spid="46" grpId="0"/>
      <p:bldP spid="47" grpId="0"/>
      <p:bldP spid="4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崩溃容错（</a:t>
            </a:r>
            <a:r>
              <a:rPr kumimoji="1"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CFT</a:t>
            </a:r>
            <a:r>
              <a:rPr kumimoji="1"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>
                <a:latin typeface="Garamond" panose="02020404030301010803" pitchFamily="18" charset="0"/>
                <a:ea typeface="微软雅黑" panose="020B0503020204020204" pitchFamily="34" charset="-122"/>
              </a:rPr>
              <a:t>15</a:t>
            </a:fld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F6632BF-2D29-4D33-8D7F-D848B69A54CD}"/>
              </a:ext>
            </a:extLst>
          </p:cNvPr>
          <p:cNvSpPr txBox="1"/>
          <p:nvPr/>
        </p:nvSpPr>
        <p:spPr>
          <a:xfrm>
            <a:off x="366470" y="1335764"/>
            <a:ext cx="790961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FLP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不可能性定理（</a:t>
            </a:r>
            <a:r>
              <a:rPr lang="en-US" altLang="zh-CN" sz="2200" b="0" i="0" dirty="0">
                <a:solidFill>
                  <a:srgbClr val="111111"/>
                </a:solidFill>
                <a:effectLst/>
                <a:latin typeface="Garamond" panose="02020404030301010803" pitchFamily="18" charset="0"/>
              </a:rPr>
              <a:t>Fischer-Lynch-Paterson Impossibility Result</a:t>
            </a:r>
            <a:r>
              <a:rPr lang="zh-CN" altLang="en-US" sz="2200" b="0" i="0" dirty="0">
                <a:solidFill>
                  <a:srgbClr val="111111"/>
                </a:solidFill>
                <a:effectLst/>
                <a:latin typeface="Garamond" panose="02020404030301010803" pitchFamily="18" charset="0"/>
              </a:rPr>
              <a:t>）</a:t>
            </a:r>
            <a:endParaRPr lang="en-US" altLang="zh-CN" sz="22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CF2FF48-8B16-4D6D-8F93-1A5508EDA4B8}"/>
              </a:ext>
            </a:extLst>
          </p:cNvPr>
          <p:cNvSpPr txBox="1"/>
          <p:nvPr/>
        </p:nvSpPr>
        <p:spPr>
          <a:xfrm>
            <a:off x="698979" y="1797432"/>
            <a:ext cx="10864948" cy="881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在一个异步的分布式系统中，如果允许至少一个进程（或节点）可能失败（即崩溃），那么设计一个确定性的共识协议，使得所有非故障节点能够在有限时间内达成一致是</a:t>
            </a:r>
            <a:r>
              <a:rPr lang="zh-CN" altLang="en-US" b="1" dirty="0">
                <a:solidFill>
                  <a:srgbClr val="5B307E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不可能的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。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3E2F7CF8-9C51-4C73-9527-9CC24C3ED445}"/>
              </a:ext>
            </a:extLst>
          </p:cNvPr>
          <p:cNvSpPr txBox="1"/>
          <p:nvPr/>
        </p:nvSpPr>
        <p:spPr>
          <a:xfrm>
            <a:off x="698979" y="2679405"/>
            <a:ext cx="10626246" cy="466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强一致性：同一时刻对任何节点读取，得到的永远是相同的内容。（银行系统）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2CE3FB40-F807-4499-8E3D-90E1E8632E53}"/>
              </a:ext>
            </a:extLst>
          </p:cNvPr>
          <p:cNvSpPr txBox="1"/>
          <p:nvPr/>
        </p:nvSpPr>
        <p:spPr>
          <a:xfrm>
            <a:off x="698978" y="3148123"/>
            <a:ext cx="9140347" cy="466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弱一致性：随时可读，但不保证对任意节点的读取得到一致的内容。（多人在线游戏）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595D347-E5C7-4ED3-ADA8-377460E10852}"/>
              </a:ext>
            </a:extLst>
          </p:cNvPr>
          <p:cNvSpPr txBox="1"/>
          <p:nvPr/>
        </p:nvSpPr>
        <p:spPr>
          <a:xfrm>
            <a:off x="698979" y="3616841"/>
            <a:ext cx="8354966" cy="4687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最终一致性：经过一段时间后，保证达到强一致性。（电商）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2CCE9DAC-A058-4113-8E76-8B4143773949}"/>
              </a:ext>
            </a:extLst>
          </p:cNvPr>
          <p:cNvCxnSpPr>
            <a:cxnSpLocks/>
          </p:cNvCxnSpPr>
          <p:nvPr/>
        </p:nvCxnSpPr>
        <p:spPr>
          <a:xfrm>
            <a:off x="814257" y="6318161"/>
            <a:ext cx="10177593" cy="1109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2B88585-5155-4548-A39B-C9817F4213DE}"/>
                  </a:ext>
                </a:extLst>
              </p:cNvPr>
              <p:cNvSpPr txBox="1"/>
              <p:nvPr/>
            </p:nvSpPr>
            <p:spPr>
              <a:xfrm>
                <a:off x="10845901" y="6318161"/>
                <a:ext cx="15953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2B88585-5155-4548-A39B-C9817F4213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45901" y="6318161"/>
                <a:ext cx="159531" cy="276999"/>
              </a:xfrm>
              <a:prstGeom prst="rect">
                <a:avLst/>
              </a:prstGeom>
              <a:blipFill>
                <a:blip r:embed="rId3"/>
                <a:stretch>
                  <a:fillRect l="-26923" r="-26923" b="-43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84368B41-D995-4D0B-8986-E6252CCEE730}"/>
              </a:ext>
            </a:extLst>
          </p:cNvPr>
          <p:cNvCxnSpPr/>
          <p:nvPr/>
        </p:nvCxnSpPr>
        <p:spPr>
          <a:xfrm flipV="1">
            <a:off x="985982" y="6198089"/>
            <a:ext cx="0" cy="11074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08CDBE63-331F-4D1F-9DB0-4052943E44DC}"/>
                  </a:ext>
                </a:extLst>
              </p:cNvPr>
              <p:cNvSpPr txBox="1"/>
              <p:nvPr/>
            </p:nvSpPr>
            <p:spPr>
              <a:xfrm>
                <a:off x="800675" y="6329252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zh-CN" altLang="en-US" dirty="0">
                  <a:latin typeface="Garamond" panose="02020404030301010803" pitchFamily="18" charset="0"/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08CDBE63-331F-4D1F-9DB0-4052943E44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675" y="6329252"/>
                <a:ext cx="37061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C59E5800-D063-4C68-BE67-6DD40D755717}"/>
              </a:ext>
            </a:extLst>
          </p:cNvPr>
          <p:cNvCxnSpPr>
            <a:cxnSpLocks/>
          </p:cNvCxnSpPr>
          <p:nvPr/>
        </p:nvCxnSpPr>
        <p:spPr>
          <a:xfrm flipV="1">
            <a:off x="2159462" y="6198089"/>
            <a:ext cx="0" cy="11074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EF3DE950-CD3A-4223-892C-3551584FE5AE}"/>
              </a:ext>
            </a:extLst>
          </p:cNvPr>
          <p:cNvSpPr txBox="1"/>
          <p:nvPr/>
        </p:nvSpPr>
        <p:spPr>
          <a:xfrm>
            <a:off x="2163983" y="4031187"/>
            <a:ext cx="1167920" cy="4687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强一致性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38EA15C1-BEB2-41CD-911B-D10A8AB3F8BD}"/>
              </a:ext>
            </a:extLst>
          </p:cNvPr>
          <p:cNvCxnSpPr>
            <a:cxnSpLocks/>
          </p:cNvCxnSpPr>
          <p:nvPr/>
        </p:nvCxnSpPr>
        <p:spPr>
          <a:xfrm flipV="1">
            <a:off x="2159462" y="4558956"/>
            <a:ext cx="4521" cy="1639133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90A7BA58-014B-463F-B537-431697DB7F76}"/>
                  </a:ext>
                </a:extLst>
              </p:cNvPr>
              <p:cNvSpPr txBox="1"/>
              <p:nvPr/>
            </p:nvSpPr>
            <p:spPr>
              <a:xfrm>
                <a:off x="1974155" y="6311175"/>
                <a:ext cx="43236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latin typeface="Garamond" panose="02020404030301010803" pitchFamily="18" charset="0"/>
                </a:endParaRPr>
              </a:p>
            </p:txBody>
          </p:sp>
        </mc:Choice>
        <mc:Fallback xmlns=""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90A7BA58-014B-463F-B537-431697DB7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4155" y="6311175"/>
                <a:ext cx="43236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文本框 49">
            <a:extLst>
              <a:ext uri="{FF2B5EF4-FFF2-40B4-BE49-F238E27FC236}">
                <a16:creationId xmlns:a16="http://schemas.microsoft.com/office/drawing/2014/main" id="{38B8F34E-B804-4330-B57D-9320E0A99A2E}"/>
              </a:ext>
            </a:extLst>
          </p:cNvPr>
          <p:cNvSpPr txBox="1"/>
          <p:nvPr/>
        </p:nvSpPr>
        <p:spPr>
          <a:xfrm>
            <a:off x="757957" y="4631203"/>
            <a:ext cx="3417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A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61533553-0764-49F2-B8BC-F3AB650A4904}"/>
              </a:ext>
            </a:extLst>
          </p:cNvPr>
          <p:cNvSpPr txBox="1"/>
          <p:nvPr/>
        </p:nvSpPr>
        <p:spPr>
          <a:xfrm>
            <a:off x="766146" y="5045549"/>
            <a:ext cx="327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B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03DD0998-16FD-4714-BD62-88FF6E5AB329}"/>
              </a:ext>
            </a:extLst>
          </p:cNvPr>
          <p:cNvSpPr txBox="1"/>
          <p:nvPr/>
        </p:nvSpPr>
        <p:spPr>
          <a:xfrm>
            <a:off x="773611" y="5456592"/>
            <a:ext cx="332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</a:rPr>
              <a:t>C</a:t>
            </a:r>
            <a:endParaRPr lang="zh-CN" altLang="en-US" dirty="0">
              <a:latin typeface="Garamond" panose="02020404030301010803" pitchFamily="18" charset="0"/>
            </a:endParaRP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7721BC8E-2448-4739-A7D3-D6548DAA3BB2}"/>
              </a:ext>
            </a:extLst>
          </p:cNvPr>
          <p:cNvCxnSpPr>
            <a:cxnSpLocks/>
          </p:cNvCxnSpPr>
          <p:nvPr/>
        </p:nvCxnSpPr>
        <p:spPr>
          <a:xfrm>
            <a:off x="1107906" y="4734412"/>
            <a:ext cx="105155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79FA69E2-62A3-411F-9590-47AAA3FAA765}"/>
              </a:ext>
            </a:extLst>
          </p:cNvPr>
          <p:cNvCxnSpPr>
            <a:cxnSpLocks/>
          </p:cNvCxnSpPr>
          <p:nvPr/>
        </p:nvCxnSpPr>
        <p:spPr>
          <a:xfrm>
            <a:off x="1093480" y="5169255"/>
            <a:ext cx="106598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7FB9B44F-8690-4122-9AA7-7A879D3C943C}"/>
              </a:ext>
            </a:extLst>
          </p:cNvPr>
          <p:cNvCxnSpPr>
            <a:cxnSpLocks/>
          </p:cNvCxnSpPr>
          <p:nvPr/>
        </p:nvCxnSpPr>
        <p:spPr>
          <a:xfrm>
            <a:off x="1105753" y="5572678"/>
            <a:ext cx="106117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4F44E464-C1BA-401C-9A82-7D3A1B69CA62}"/>
              </a:ext>
            </a:extLst>
          </p:cNvPr>
          <p:cNvCxnSpPr/>
          <p:nvPr/>
        </p:nvCxnSpPr>
        <p:spPr>
          <a:xfrm flipV="1">
            <a:off x="5417914" y="4549828"/>
            <a:ext cx="0" cy="1770296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E31AD2A5-DD92-4178-BCFB-A39026F18E0A}"/>
              </a:ext>
            </a:extLst>
          </p:cNvPr>
          <p:cNvSpPr txBox="1"/>
          <p:nvPr/>
        </p:nvSpPr>
        <p:spPr>
          <a:xfrm>
            <a:off x="4850596" y="4104970"/>
            <a:ext cx="1167920" cy="466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弱一致性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148C9D58-EEC9-493F-B0DE-A58DDA4176D0}"/>
              </a:ext>
            </a:extLst>
          </p:cNvPr>
          <p:cNvCxnSpPr>
            <a:cxnSpLocks/>
          </p:cNvCxnSpPr>
          <p:nvPr/>
        </p:nvCxnSpPr>
        <p:spPr>
          <a:xfrm flipV="1">
            <a:off x="4846076" y="4558956"/>
            <a:ext cx="0" cy="1770296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4BD09091-3351-477F-88B2-C64128D5AB16}"/>
              </a:ext>
            </a:extLst>
          </p:cNvPr>
          <p:cNvCxnSpPr/>
          <p:nvPr/>
        </p:nvCxnSpPr>
        <p:spPr>
          <a:xfrm flipV="1">
            <a:off x="6000766" y="4540879"/>
            <a:ext cx="0" cy="1770296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箭头连接符 64">
            <a:extLst>
              <a:ext uri="{FF2B5EF4-FFF2-40B4-BE49-F238E27FC236}">
                <a16:creationId xmlns:a16="http://schemas.microsoft.com/office/drawing/2014/main" id="{536C50D9-0CD2-4DF5-AEA0-0C74440E702C}"/>
              </a:ext>
            </a:extLst>
          </p:cNvPr>
          <p:cNvCxnSpPr>
            <a:cxnSpLocks/>
            <a:stCxn id="50" idx="3"/>
          </p:cNvCxnSpPr>
          <p:nvPr/>
        </p:nvCxnSpPr>
        <p:spPr>
          <a:xfrm>
            <a:off x="1099717" y="4815869"/>
            <a:ext cx="3746359" cy="10923"/>
          </a:xfrm>
          <a:prstGeom prst="straightConnector1">
            <a:avLst/>
          </a:prstGeom>
          <a:ln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id="{7D8BC22F-821B-4BA1-AEDC-E0DEF442C480}"/>
              </a:ext>
            </a:extLst>
          </p:cNvPr>
          <p:cNvCxnSpPr>
            <a:cxnSpLocks/>
          </p:cNvCxnSpPr>
          <p:nvPr/>
        </p:nvCxnSpPr>
        <p:spPr>
          <a:xfrm>
            <a:off x="1099717" y="5240052"/>
            <a:ext cx="4318197" cy="12590"/>
          </a:xfrm>
          <a:prstGeom prst="straightConnector1">
            <a:avLst/>
          </a:prstGeom>
          <a:ln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76E79E7B-2435-41D1-95EB-197905F0C691}"/>
              </a:ext>
            </a:extLst>
          </p:cNvPr>
          <p:cNvCxnSpPr>
            <a:cxnSpLocks/>
          </p:cNvCxnSpPr>
          <p:nvPr/>
        </p:nvCxnSpPr>
        <p:spPr>
          <a:xfrm flipV="1">
            <a:off x="1093480" y="5649388"/>
            <a:ext cx="7138201" cy="48823"/>
          </a:xfrm>
          <a:prstGeom prst="straightConnector1">
            <a:avLst/>
          </a:prstGeom>
          <a:ln w="127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>
            <a:extLst>
              <a:ext uri="{FF2B5EF4-FFF2-40B4-BE49-F238E27FC236}">
                <a16:creationId xmlns:a16="http://schemas.microsoft.com/office/drawing/2014/main" id="{B81FEEA4-CD75-4912-9383-9AA22AF4FCA3}"/>
              </a:ext>
            </a:extLst>
          </p:cNvPr>
          <p:cNvCxnSpPr/>
          <p:nvPr/>
        </p:nvCxnSpPr>
        <p:spPr>
          <a:xfrm flipV="1">
            <a:off x="8249430" y="4571444"/>
            <a:ext cx="0" cy="1770296"/>
          </a:xfrm>
          <a:prstGeom prst="line">
            <a:avLst/>
          </a:prstGeom>
          <a:ln w="190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文本框 75">
            <a:extLst>
              <a:ext uri="{FF2B5EF4-FFF2-40B4-BE49-F238E27FC236}">
                <a16:creationId xmlns:a16="http://schemas.microsoft.com/office/drawing/2014/main" id="{2DB4ECF4-51B0-4B28-B4C0-E67A295C0B0C}"/>
              </a:ext>
            </a:extLst>
          </p:cNvPr>
          <p:cNvSpPr txBox="1"/>
          <p:nvPr/>
        </p:nvSpPr>
        <p:spPr>
          <a:xfrm>
            <a:off x="8096326" y="4091926"/>
            <a:ext cx="1680131" cy="466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最终一致性</a:t>
            </a:r>
            <a:endParaRPr lang="en-US" altLang="zh-CN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cxnSp>
        <p:nvCxnSpPr>
          <p:cNvPr id="81" name="直接箭头连接符 80">
            <a:extLst>
              <a:ext uri="{FF2B5EF4-FFF2-40B4-BE49-F238E27FC236}">
                <a16:creationId xmlns:a16="http://schemas.microsoft.com/office/drawing/2014/main" id="{6A49C146-AB3D-412A-B126-BBE72100D978}"/>
              </a:ext>
            </a:extLst>
          </p:cNvPr>
          <p:cNvCxnSpPr>
            <a:cxnSpLocks/>
          </p:cNvCxnSpPr>
          <p:nvPr/>
        </p:nvCxnSpPr>
        <p:spPr>
          <a:xfrm flipV="1">
            <a:off x="1107906" y="4881233"/>
            <a:ext cx="7138201" cy="31976"/>
          </a:xfrm>
          <a:prstGeom prst="straightConnector1">
            <a:avLst/>
          </a:prstGeom>
          <a:ln w="127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5DCE32A1-1484-46DB-9F2C-557385D51C74}"/>
              </a:ext>
            </a:extLst>
          </p:cNvPr>
          <p:cNvCxnSpPr>
            <a:cxnSpLocks/>
          </p:cNvCxnSpPr>
          <p:nvPr/>
        </p:nvCxnSpPr>
        <p:spPr>
          <a:xfrm flipV="1">
            <a:off x="1099717" y="5308743"/>
            <a:ext cx="7153037" cy="23744"/>
          </a:xfrm>
          <a:prstGeom prst="straightConnector1">
            <a:avLst/>
          </a:prstGeom>
          <a:ln w="127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任意多边形: 形状 84">
            <a:extLst>
              <a:ext uri="{FF2B5EF4-FFF2-40B4-BE49-F238E27FC236}">
                <a16:creationId xmlns:a16="http://schemas.microsoft.com/office/drawing/2014/main" id="{26AF594D-B076-4F50-A7CC-3861C8C5B022}"/>
              </a:ext>
            </a:extLst>
          </p:cNvPr>
          <p:cNvSpPr/>
          <p:nvPr/>
        </p:nvSpPr>
        <p:spPr>
          <a:xfrm>
            <a:off x="8252754" y="5600700"/>
            <a:ext cx="1229104" cy="731520"/>
          </a:xfrm>
          <a:custGeom>
            <a:avLst/>
            <a:gdLst>
              <a:gd name="connsiteX0" fmla="*/ 1219033 w 1229104"/>
              <a:gd name="connsiteY0" fmla="*/ 731520 h 731520"/>
              <a:gd name="connsiteX1" fmla="*/ 1219033 w 1229104"/>
              <a:gd name="connsiteY1" fmla="*/ 449580 h 731520"/>
              <a:gd name="connsiteX2" fmla="*/ 1203983 w 1229104"/>
              <a:gd name="connsiteY2" fmla="*/ 403860 h 731520"/>
              <a:gd name="connsiteX3" fmla="*/ 1173883 w 1229104"/>
              <a:gd name="connsiteY3" fmla="*/ 342900 h 731520"/>
              <a:gd name="connsiteX4" fmla="*/ 1151309 w 1229104"/>
              <a:gd name="connsiteY4" fmla="*/ 320040 h 731520"/>
              <a:gd name="connsiteX5" fmla="*/ 1053485 w 1229104"/>
              <a:gd name="connsiteY5" fmla="*/ 251460 h 731520"/>
              <a:gd name="connsiteX6" fmla="*/ 1023385 w 1229104"/>
              <a:gd name="connsiteY6" fmla="*/ 236220 h 731520"/>
              <a:gd name="connsiteX7" fmla="*/ 940612 w 1229104"/>
              <a:gd name="connsiteY7" fmla="*/ 213360 h 731520"/>
              <a:gd name="connsiteX8" fmla="*/ 865363 w 1229104"/>
              <a:gd name="connsiteY8" fmla="*/ 190500 h 731520"/>
              <a:gd name="connsiteX9" fmla="*/ 775064 w 1229104"/>
              <a:gd name="connsiteY9" fmla="*/ 182880 h 731520"/>
              <a:gd name="connsiteX10" fmla="*/ 714865 w 1229104"/>
              <a:gd name="connsiteY10" fmla="*/ 175260 h 731520"/>
              <a:gd name="connsiteX11" fmla="*/ 617041 w 1229104"/>
              <a:gd name="connsiteY11" fmla="*/ 160020 h 731520"/>
              <a:gd name="connsiteX12" fmla="*/ 586941 w 1229104"/>
              <a:gd name="connsiteY12" fmla="*/ 152400 h 731520"/>
              <a:gd name="connsiteX13" fmla="*/ 519217 w 1229104"/>
              <a:gd name="connsiteY13" fmla="*/ 144780 h 731520"/>
              <a:gd name="connsiteX14" fmla="*/ 481593 w 1229104"/>
              <a:gd name="connsiteY14" fmla="*/ 137160 h 731520"/>
              <a:gd name="connsiteX15" fmla="*/ 436444 w 1229104"/>
              <a:gd name="connsiteY15" fmla="*/ 129540 h 731520"/>
              <a:gd name="connsiteX16" fmla="*/ 278421 w 1229104"/>
              <a:gd name="connsiteY16" fmla="*/ 114300 h 731520"/>
              <a:gd name="connsiteX17" fmla="*/ 120398 w 1229104"/>
              <a:gd name="connsiteY17" fmla="*/ 91440 h 731520"/>
              <a:gd name="connsiteX18" fmla="*/ 45149 w 1229104"/>
              <a:gd name="connsiteY18" fmla="*/ 45720 h 731520"/>
              <a:gd name="connsiteX19" fmla="*/ 22574 w 1229104"/>
              <a:gd name="connsiteY19" fmla="*/ 30480 h 731520"/>
              <a:gd name="connsiteX20" fmla="*/ 0 w 1229104"/>
              <a:gd name="connsiteY20" fmla="*/ 0 h 731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1229104" h="731520" extrusionOk="0">
                <a:moveTo>
                  <a:pt x="1219033" y="731520"/>
                </a:moveTo>
                <a:cubicBezTo>
                  <a:pt x="1231432" y="611964"/>
                  <a:pt x="1234438" y="614919"/>
                  <a:pt x="1219033" y="449580"/>
                </a:cubicBezTo>
                <a:cubicBezTo>
                  <a:pt x="1220115" y="433685"/>
                  <a:pt x="1209841" y="418469"/>
                  <a:pt x="1203983" y="403860"/>
                </a:cubicBezTo>
                <a:cubicBezTo>
                  <a:pt x="1194683" y="380935"/>
                  <a:pt x="1187877" y="355047"/>
                  <a:pt x="1173883" y="342900"/>
                </a:cubicBezTo>
                <a:cubicBezTo>
                  <a:pt x="1166497" y="334365"/>
                  <a:pt x="1160462" y="326056"/>
                  <a:pt x="1151309" y="320040"/>
                </a:cubicBezTo>
                <a:cubicBezTo>
                  <a:pt x="1118952" y="295558"/>
                  <a:pt x="1086927" y="271090"/>
                  <a:pt x="1053485" y="251460"/>
                </a:cubicBezTo>
                <a:cubicBezTo>
                  <a:pt x="1042925" y="245051"/>
                  <a:pt x="1033589" y="240092"/>
                  <a:pt x="1023385" y="236220"/>
                </a:cubicBezTo>
                <a:cubicBezTo>
                  <a:pt x="951353" y="199567"/>
                  <a:pt x="1008781" y="240530"/>
                  <a:pt x="940612" y="213360"/>
                </a:cubicBezTo>
                <a:cubicBezTo>
                  <a:pt x="890822" y="196057"/>
                  <a:pt x="917730" y="197628"/>
                  <a:pt x="865363" y="190500"/>
                </a:cubicBezTo>
                <a:cubicBezTo>
                  <a:pt x="835660" y="191594"/>
                  <a:pt x="803144" y="185946"/>
                  <a:pt x="775064" y="182880"/>
                </a:cubicBezTo>
                <a:cubicBezTo>
                  <a:pt x="752628" y="179169"/>
                  <a:pt x="735147" y="177099"/>
                  <a:pt x="714865" y="175260"/>
                </a:cubicBezTo>
                <a:cubicBezTo>
                  <a:pt x="661450" y="156464"/>
                  <a:pt x="721211" y="172375"/>
                  <a:pt x="617041" y="160020"/>
                </a:cubicBezTo>
                <a:cubicBezTo>
                  <a:pt x="605749" y="156902"/>
                  <a:pt x="597510" y="154433"/>
                  <a:pt x="586941" y="152400"/>
                </a:cubicBezTo>
                <a:cubicBezTo>
                  <a:pt x="564051" y="148358"/>
                  <a:pt x="541576" y="144468"/>
                  <a:pt x="519217" y="144780"/>
                </a:cubicBezTo>
                <a:cubicBezTo>
                  <a:pt x="507820" y="143244"/>
                  <a:pt x="495804" y="138417"/>
                  <a:pt x="481593" y="137160"/>
                </a:cubicBezTo>
                <a:cubicBezTo>
                  <a:pt x="466554" y="134167"/>
                  <a:pt x="451426" y="128996"/>
                  <a:pt x="436444" y="129540"/>
                </a:cubicBezTo>
                <a:cubicBezTo>
                  <a:pt x="341000" y="120899"/>
                  <a:pt x="377586" y="125942"/>
                  <a:pt x="278421" y="114300"/>
                </a:cubicBezTo>
                <a:cubicBezTo>
                  <a:pt x="169315" y="103853"/>
                  <a:pt x="188051" y="103930"/>
                  <a:pt x="120398" y="91440"/>
                </a:cubicBezTo>
                <a:cubicBezTo>
                  <a:pt x="76355" y="71077"/>
                  <a:pt x="100650" y="83778"/>
                  <a:pt x="45149" y="45720"/>
                </a:cubicBezTo>
                <a:cubicBezTo>
                  <a:pt x="40341" y="39767"/>
                  <a:pt x="29728" y="34662"/>
                  <a:pt x="22574" y="30480"/>
                </a:cubicBezTo>
                <a:cubicBezTo>
                  <a:pt x="4678" y="4557"/>
                  <a:pt x="13639" y="12169"/>
                  <a:pt x="0" y="0"/>
                </a:cubicBezTo>
              </a:path>
            </a:pathLst>
          </a:custGeom>
          <a:noFill/>
          <a:ln w="19050">
            <a:solidFill>
              <a:schemeClr val="tx1"/>
            </a:solidFill>
            <a:prstDash val="dash"/>
            <a:extLst>
              <a:ext uri="{C807C97D-BFC1-408E-A445-0C87EB9F89A2}">
                <ask:lineSketchStyleProps xmlns:ask="http://schemas.microsoft.com/office/drawing/2018/sketchyshapes" sd="3507143784">
                  <a:custGeom>
                    <a:avLst/>
                    <a:gdLst>
                      <a:gd name="connsiteX0" fmla="*/ 1234440 w 1244638"/>
                      <a:gd name="connsiteY0" fmla="*/ 731520 h 731520"/>
                      <a:gd name="connsiteX1" fmla="*/ 1234440 w 1244638"/>
                      <a:gd name="connsiteY1" fmla="*/ 449580 h 731520"/>
                      <a:gd name="connsiteX2" fmla="*/ 1219200 w 1244638"/>
                      <a:gd name="connsiteY2" fmla="*/ 403860 h 731520"/>
                      <a:gd name="connsiteX3" fmla="*/ 1188720 w 1244638"/>
                      <a:gd name="connsiteY3" fmla="*/ 342900 h 731520"/>
                      <a:gd name="connsiteX4" fmla="*/ 1165860 w 1244638"/>
                      <a:gd name="connsiteY4" fmla="*/ 320040 h 731520"/>
                      <a:gd name="connsiteX5" fmla="*/ 1066800 w 1244638"/>
                      <a:gd name="connsiteY5" fmla="*/ 251460 h 731520"/>
                      <a:gd name="connsiteX6" fmla="*/ 1036320 w 1244638"/>
                      <a:gd name="connsiteY6" fmla="*/ 236220 h 731520"/>
                      <a:gd name="connsiteX7" fmla="*/ 952500 w 1244638"/>
                      <a:gd name="connsiteY7" fmla="*/ 213360 h 731520"/>
                      <a:gd name="connsiteX8" fmla="*/ 876300 w 1244638"/>
                      <a:gd name="connsiteY8" fmla="*/ 190500 h 731520"/>
                      <a:gd name="connsiteX9" fmla="*/ 784860 w 1244638"/>
                      <a:gd name="connsiteY9" fmla="*/ 182880 h 731520"/>
                      <a:gd name="connsiteX10" fmla="*/ 723900 w 1244638"/>
                      <a:gd name="connsiteY10" fmla="*/ 175260 h 731520"/>
                      <a:gd name="connsiteX11" fmla="*/ 624840 w 1244638"/>
                      <a:gd name="connsiteY11" fmla="*/ 160020 h 731520"/>
                      <a:gd name="connsiteX12" fmla="*/ 594360 w 1244638"/>
                      <a:gd name="connsiteY12" fmla="*/ 152400 h 731520"/>
                      <a:gd name="connsiteX13" fmla="*/ 525780 w 1244638"/>
                      <a:gd name="connsiteY13" fmla="*/ 144780 h 731520"/>
                      <a:gd name="connsiteX14" fmla="*/ 487680 w 1244638"/>
                      <a:gd name="connsiteY14" fmla="*/ 137160 h 731520"/>
                      <a:gd name="connsiteX15" fmla="*/ 441960 w 1244638"/>
                      <a:gd name="connsiteY15" fmla="*/ 129540 h 731520"/>
                      <a:gd name="connsiteX16" fmla="*/ 281940 w 1244638"/>
                      <a:gd name="connsiteY16" fmla="*/ 114300 h 731520"/>
                      <a:gd name="connsiteX17" fmla="*/ 121920 w 1244638"/>
                      <a:gd name="connsiteY17" fmla="*/ 91440 h 731520"/>
                      <a:gd name="connsiteX18" fmla="*/ 45720 w 1244638"/>
                      <a:gd name="connsiteY18" fmla="*/ 45720 h 731520"/>
                      <a:gd name="connsiteX19" fmla="*/ 22860 w 1244638"/>
                      <a:gd name="connsiteY19" fmla="*/ 30480 h 731520"/>
                      <a:gd name="connsiteX20" fmla="*/ 0 w 1244638"/>
                      <a:gd name="connsiteY20" fmla="*/ 0 h 7315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</a:cxnLst>
                    <a:rect l="l" t="t" r="r" b="b"/>
                    <a:pathLst>
                      <a:path w="1244638" h="731520">
                        <a:moveTo>
                          <a:pt x="1234440" y="731520"/>
                        </a:moveTo>
                        <a:cubicBezTo>
                          <a:pt x="1246461" y="611306"/>
                          <a:pt x="1249530" y="615574"/>
                          <a:pt x="1234440" y="449580"/>
                        </a:cubicBezTo>
                        <a:cubicBezTo>
                          <a:pt x="1232986" y="433582"/>
                          <a:pt x="1225528" y="418625"/>
                          <a:pt x="1219200" y="403860"/>
                        </a:cubicBezTo>
                        <a:cubicBezTo>
                          <a:pt x="1210251" y="382978"/>
                          <a:pt x="1204784" y="358964"/>
                          <a:pt x="1188720" y="342900"/>
                        </a:cubicBezTo>
                        <a:cubicBezTo>
                          <a:pt x="1181100" y="335280"/>
                          <a:pt x="1173970" y="327136"/>
                          <a:pt x="1165860" y="320040"/>
                        </a:cubicBezTo>
                        <a:cubicBezTo>
                          <a:pt x="1137323" y="295070"/>
                          <a:pt x="1099894" y="268007"/>
                          <a:pt x="1066800" y="251460"/>
                        </a:cubicBezTo>
                        <a:cubicBezTo>
                          <a:pt x="1056640" y="246380"/>
                          <a:pt x="1046867" y="240439"/>
                          <a:pt x="1036320" y="236220"/>
                        </a:cubicBezTo>
                        <a:cubicBezTo>
                          <a:pt x="950189" y="201767"/>
                          <a:pt x="1029027" y="236318"/>
                          <a:pt x="952500" y="213360"/>
                        </a:cubicBezTo>
                        <a:cubicBezTo>
                          <a:pt x="899456" y="197447"/>
                          <a:pt x="930576" y="196885"/>
                          <a:pt x="876300" y="190500"/>
                        </a:cubicBezTo>
                        <a:cubicBezTo>
                          <a:pt x="845924" y="186926"/>
                          <a:pt x="815294" y="185923"/>
                          <a:pt x="784860" y="182880"/>
                        </a:cubicBezTo>
                        <a:cubicBezTo>
                          <a:pt x="764483" y="180842"/>
                          <a:pt x="744220" y="177800"/>
                          <a:pt x="723900" y="175260"/>
                        </a:cubicBezTo>
                        <a:cubicBezTo>
                          <a:pt x="670863" y="157581"/>
                          <a:pt x="727976" y="174754"/>
                          <a:pt x="624840" y="160020"/>
                        </a:cubicBezTo>
                        <a:cubicBezTo>
                          <a:pt x="614473" y="158539"/>
                          <a:pt x="604711" y="153992"/>
                          <a:pt x="594360" y="152400"/>
                        </a:cubicBezTo>
                        <a:cubicBezTo>
                          <a:pt x="571627" y="148903"/>
                          <a:pt x="548550" y="148033"/>
                          <a:pt x="525780" y="144780"/>
                        </a:cubicBezTo>
                        <a:cubicBezTo>
                          <a:pt x="512959" y="142948"/>
                          <a:pt x="500423" y="139477"/>
                          <a:pt x="487680" y="137160"/>
                        </a:cubicBezTo>
                        <a:cubicBezTo>
                          <a:pt x="472479" y="134396"/>
                          <a:pt x="457275" y="131582"/>
                          <a:pt x="441960" y="129540"/>
                        </a:cubicBezTo>
                        <a:cubicBezTo>
                          <a:pt x="348781" y="117116"/>
                          <a:pt x="388589" y="125727"/>
                          <a:pt x="281940" y="114300"/>
                        </a:cubicBezTo>
                        <a:cubicBezTo>
                          <a:pt x="173086" y="102637"/>
                          <a:pt x="191985" y="105453"/>
                          <a:pt x="121920" y="91440"/>
                        </a:cubicBezTo>
                        <a:cubicBezTo>
                          <a:pt x="75057" y="68009"/>
                          <a:pt x="100891" y="82501"/>
                          <a:pt x="45720" y="45720"/>
                        </a:cubicBezTo>
                        <a:lnTo>
                          <a:pt x="22860" y="30480"/>
                        </a:lnTo>
                        <a:cubicBezTo>
                          <a:pt x="5627" y="4631"/>
                          <a:pt x="14096" y="14096"/>
                          <a:pt x="0" y="0"/>
                        </a:cubicBez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207DF654-E248-455E-AC97-77A6F5020DF8}"/>
                  </a:ext>
                </a:extLst>
              </p:cNvPr>
              <p:cNvSpPr txBox="1"/>
              <p:nvPr/>
            </p:nvSpPr>
            <p:spPr>
              <a:xfrm>
                <a:off x="4629895" y="6333400"/>
                <a:ext cx="4376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latin typeface="Garamond" panose="02020404030301010803" pitchFamily="18" charset="0"/>
                </a:endParaRPr>
              </a:p>
            </p:txBody>
          </p:sp>
        </mc:Choice>
        <mc:Fallback xmlns=""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207DF654-E248-455E-AC97-77A6F5020D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9895" y="6333400"/>
                <a:ext cx="43768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94427CD2-C7AA-47D3-9E34-EEE983451DA8}"/>
                  </a:ext>
                </a:extLst>
              </p:cNvPr>
              <p:cNvSpPr txBox="1"/>
              <p:nvPr/>
            </p:nvSpPr>
            <p:spPr>
              <a:xfrm>
                <a:off x="5199072" y="6347297"/>
                <a:ext cx="4376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latin typeface="Garamond" panose="02020404030301010803" pitchFamily="18" charset="0"/>
                </a:endParaRPr>
              </a:p>
            </p:txBody>
          </p:sp>
        </mc:Choice>
        <mc:Fallback xmlns=""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94427CD2-C7AA-47D3-9E34-EEE983451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072" y="6347297"/>
                <a:ext cx="43768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4D650B4B-34AE-41C8-8DA9-910F621F91C1}"/>
                  </a:ext>
                </a:extLst>
              </p:cNvPr>
              <p:cNvSpPr txBox="1"/>
              <p:nvPr/>
            </p:nvSpPr>
            <p:spPr>
              <a:xfrm>
                <a:off x="5768249" y="6341740"/>
                <a:ext cx="4376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latin typeface="Garamond" panose="02020404030301010803" pitchFamily="18" charset="0"/>
                </a:endParaRPr>
              </a:p>
            </p:txBody>
          </p:sp>
        </mc:Choice>
        <mc:Fallback xmlns=""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4D650B4B-34AE-41C8-8DA9-910F621F9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8249" y="6341740"/>
                <a:ext cx="43768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61DAB5B8-585E-4875-85E4-42110AD01E49}"/>
                  </a:ext>
                </a:extLst>
              </p:cNvPr>
              <p:cNvSpPr txBox="1"/>
              <p:nvPr/>
            </p:nvSpPr>
            <p:spPr>
              <a:xfrm>
                <a:off x="8027265" y="6301134"/>
                <a:ext cx="4376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latin typeface="Garamond" panose="02020404030301010803" pitchFamily="18" charset="0"/>
                </a:endParaRPr>
              </a:p>
            </p:txBody>
          </p:sp>
        </mc:Choice>
        <mc:Fallback xmlns=""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61DAB5B8-585E-4875-85E4-42110AD01E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7265" y="6301134"/>
                <a:ext cx="43768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FBDEF606-E0B7-4D18-B59B-7AFF79871A1F}"/>
                  </a:ext>
                </a:extLst>
              </p:cNvPr>
              <p:cNvSpPr txBox="1"/>
              <p:nvPr/>
            </p:nvSpPr>
            <p:spPr>
              <a:xfrm>
                <a:off x="9263016" y="6301134"/>
                <a:ext cx="4376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latin typeface="Garamond" panose="02020404030301010803" pitchFamily="18" charset="0"/>
                </a:endParaRPr>
              </a:p>
            </p:txBody>
          </p:sp>
        </mc:Choice>
        <mc:Fallback xmlns="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FBDEF606-E0B7-4D18-B59B-7AFF79871A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3016" y="6301134"/>
                <a:ext cx="43768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7451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6" grpId="0"/>
      <p:bldP spid="30" grpId="0"/>
      <p:bldP spid="33" grpId="0"/>
      <p:bldP spid="34" grpId="0"/>
      <p:bldP spid="10" grpId="0"/>
      <p:bldP spid="20" grpId="0"/>
      <p:bldP spid="45" grpId="0"/>
      <p:bldP spid="49" grpId="0"/>
      <p:bldP spid="50" grpId="0"/>
      <p:bldP spid="51" grpId="0"/>
      <p:bldP spid="52" grpId="0"/>
      <p:bldP spid="62" grpId="0"/>
      <p:bldP spid="76" grpId="0"/>
      <p:bldP spid="85" grpId="0" animBg="1"/>
      <p:bldP spid="86" grpId="0"/>
      <p:bldP spid="87" grpId="0"/>
      <p:bldP spid="88" grpId="0"/>
      <p:bldP spid="90" grpId="0"/>
      <p:bldP spid="9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CFT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实现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>
                <a:latin typeface="Garamond" panose="02020404030301010803" pitchFamily="18" charset="0"/>
                <a:ea typeface="微软雅黑" panose="020B0503020204020204" pitchFamily="34" charset="-122"/>
              </a:rPr>
              <a:t>16</a:t>
            </a:fld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D093847-3DC4-40F1-A2FE-C9B364C83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8339" y="3086100"/>
            <a:ext cx="495300" cy="4953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074C939-6B38-49DF-8A26-D02EBB9F1B70}"/>
              </a:ext>
            </a:extLst>
          </p:cNvPr>
          <p:cNvSpPr txBox="1"/>
          <p:nvPr/>
        </p:nvSpPr>
        <p:spPr>
          <a:xfrm>
            <a:off x="298977" y="1463604"/>
            <a:ext cx="540058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主从复制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(Primary/Secondary Replication)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9BAFB02-BB46-4474-AC4D-D2499774D80E}"/>
              </a:ext>
            </a:extLst>
          </p:cNvPr>
          <p:cNvSpPr txBox="1"/>
          <p:nvPr/>
        </p:nvSpPr>
        <p:spPr>
          <a:xfrm>
            <a:off x="1596876" y="2631043"/>
            <a:ext cx="103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{ “k”: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1 }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1FCFA37-B41F-4D03-98A9-4E394398B594}"/>
              </a:ext>
            </a:extLst>
          </p:cNvPr>
          <p:cNvSpPr txBox="1"/>
          <p:nvPr/>
        </p:nvSpPr>
        <p:spPr>
          <a:xfrm>
            <a:off x="617240" y="4867275"/>
            <a:ext cx="103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{ “k”: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1 }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6E45AD4-98BD-4FC6-B15C-FD93F2F99436}"/>
              </a:ext>
            </a:extLst>
          </p:cNvPr>
          <p:cNvSpPr txBox="1"/>
          <p:nvPr/>
        </p:nvSpPr>
        <p:spPr>
          <a:xfrm>
            <a:off x="2492226" y="4867275"/>
            <a:ext cx="103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{ “k”: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1 }</a:t>
            </a:r>
            <a:endParaRPr lang="zh-CN" altLang="en-US" dirty="0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A11E9A7E-D53B-4D14-B307-57C066FBC300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1136353" y="3333750"/>
            <a:ext cx="731986" cy="1038225"/>
          </a:xfrm>
          <a:prstGeom prst="line">
            <a:avLst/>
          </a:prstGeom>
          <a:ln w="19050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6E5F6B9F-9A32-4C50-826C-A6D8D7210678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363639" y="3333750"/>
            <a:ext cx="647700" cy="1038225"/>
          </a:xfrm>
          <a:prstGeom prst="line">
            <a:avLst/>
          </a:prstGeom>
          <a:ln w="1905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图片 30">
            <a:extLst>
              <a:ext uri="{FF2B5EF4-FFF2-40B4-BE49-F238E27FC236}">
                <a16:creationId xmlns:a16="http://schemas.microsoft.com/office/drawing/2014/main" id="{0D91F60E-81D9-464D-A4DF-BA61501C0C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718" y="3109912"/>
            <a:ext cx="447675" cy="447675"/>
          </a:xfrm>
          <a:prstGeom prst="rect">
            <a:avLst/>
          </a:prstGeom>
        </p:spPr>
      </p:pic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E69D419A-BE05-4344-879F-6F4CADDB155B}"/>
              </a:ext>
            </a:extLst>
          </p:cNvPr>
          <p:cNvCxnSpPr>
            <a:stCxn id="31" idx="3"/>
            <a:endCxn id="6" idx="1"/>
          </p:cNvCxnSpPr>
          <p:nvPr/>
        </p:nvCxnSpPr>
        <p:spPr>
          <a:xfrm>
            <a:off x="915393" y="3333750"/>
            <a:ext cx="952946" cy="0"/>
          </a:xfrm>
          <a:prstGeom prst="straightConnector1">
            <a:avLst/>
          </a:prstGeom>
          <a:ln w="19050"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3" name="图片 42">
            <a:extLst>
              <a:ext uri="{FF2B5EF4-FFF2-40B4-BE49-F238E27FC236}">
                <a16:creationId xmlns:a16="http://schemas.microsoft.com/office/drawing/2014/main" id="{6B035A1C-0ECD-424F-B63D-E65848123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21224"/>
            <a:ext cx="495300" cy="495300"/>
          </a:xfrm>
          <a:prstGeom prst="rect">
            <a:avLst/>
          </a:prstGeom>
        </p:spPr>
      </p:pic>
      <p:sp>
        <p:nvSpPr>
          <p:cNvPr id="48" name="文本框 47">
            <a:extLst>
              <a:ext uri="{FF2B5EF4-FFF2-40B4-BE49-F238E27FC236}">
                <a16:creationId xmlns:a16="http://schemas.microsoft.com/office/drawing/2014/main" id="{C3C88944-7D0D-4550-AFD5-B7C7A9A2305C}"/>
              </a:ext>
            </a:extLst>
          </p:cNvPr>
          <p:cNvSpPr txBox="1"/>
          <p:nvPr/>
        </p:nvSpPr>
        <p:spPr>
          <a:xfrm>
            <a:off x="5824537" y="1366167"/>
            <a:ext cx="103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{ “k”: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2 }</a:t>
            </a:r>
            <a:endParaRPr lang="zh-CN" altLang="en-US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4A55B277-E797-4BB7-9FD7-DC27CE3BEEC7}"/>
              </a:ext>
            </a:extLst>
          </p:cNvPr>
          <p:cNvSpPr txBox="1"/>
          <p:nvPr/>
        </p:nvSpPr>
        <p:spPr>
          <a:xfrm>
            <a:off x="4844901" y="3602399"/>
            <a:ext cx="103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{ “k”: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1 }</a:t>
            </a:r>
            <a:endParaRPr lang="zh-CN" altLang="en-US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C8CEC58E-CFBC-49E7-8F46-AC1BB93F57A9}"/>
              </a:ext>
            </a:extLst>
          </p:cNvPr>
          <p:cNvSpPr txBox="1"/>
          <p:nvPr/>
        </p:nvSpPr>
        <p:spPr>
          <a:xfrm>
            <a:off x="6719887" y="3602399"/>
            <a:ext cx="103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{ “k”: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1 }</a:t>
            </a:r>
            <a:endParaRPr lang="zh-CN" altLang="en-US" dirty="0"/>
          </a:p>
        </p:txBody>
      </p: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B2796C35-14F6-4FA6-BA3C-DBFD0F10F607}"/>
              </a:ext>
            </a:extLst>
          </p:cNvPr>
          <p:cNvCxnSpPr>
            <a:cxnSpLocks/>
            <a:stCxn id="43" idx="1"/>
          </p:cNvCxnSpPr>
          <p:nvPr/>
        </p:nvCxnSpPr>
        <p:spPr>
          <a:xfrm flipH="1">
            <a:off x="5364014" y="2068874"/>
            <a:ext cx="731986" cy="1038225"/>
          </a:xfrm>
          <a:prstGeom prst="line">
            <a:avLst/>
          </a:prstGeom>
          <a:ln w="19050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40424DCF-0300-4D58-9953-CEBAA6C73F95}"/>
              </a:ext>
            </a:extLst>
          </p:cNvPr>
          <p:cNvCxnSpPr>
            <a:cxnSpLocks/>
            <a:endCxn id="43" idx="3"/>
          </p:cNvCxnSpPr>
          <p:nvPr/>
        </p:nvCxnSpPr>
        <p:spPr>
          <a:xfrm flipH="1" flipV="1">
            <a:off x="6591300" y="2068874"/>
            <a:ext cx="647700" cy="1038225"/>
          </a:xfrm>
          <a:prstGeom prst="line">
            <a:avLst/>
          </a:prstGeom>
          <a:ln w="1905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DADAF6BE-658B-41A3-8249-793DAF526343}"/>
              </a:ext>
            </a:extLst>
          </p:cNvPr>
          <p:cNvSpPr txBox="1"/>
          <p:nvPr/>
        </p:nvSpPr>
        <p:spPr>
          <a:xfrm>
            <a:off x="1519848" y="393168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异步网络</a:t>
            </a:r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BA194ACC-D67F-4C8F-A6EB-A380043072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257" y="4395787"/>
            <a:ext cx="495300" cy="495300"/>
          </a:xfrm>
          <a:prstGeom prst="rect">
            <a:avLst/>
          </a:prstGeom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AA438EC5-E0A6-4B68-A629-5621449B29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7014" y="4371975"/>
            <a:ext cx="495300" cy="495300"/>
          </a:xfrm>
          <a:prstGeom prst="rect">
            <a:avLst/>
          </a:prstGeom>
        </p:spPr>
      </p:pic>
      <p:pic>
        <p:nvPicPr>
          <p:cNvPr id="56" name="图片 55">
            <a:extLst>
              <a:ext uri="{FF2B5EF4-FFF2-40B4-BE49-F238E27FC236}">
                <a16:creationId xmlns:a16="http://schemas.microsoft.com/office/drawing/2014/main" id="{2FC1D802-C27D-4D5F-AD01-6781F8D865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6851" y="3107099"/>
            <a:ext cx="495300" cy="495300"/>
          </a:xfrm>
          <a:prstGeom prst="rect">
            <a:avLst/>
          </a:prstGeom>
        </p:spPr>
      </p:pic>
      <p:pic>
        <p:nvPicPr>
          <p:cNvPr id="57" name="图片 56">
            <a:extLst>
              <a:ext uri="{FF2B5EF4-FFF2-40B4-BE49-F238E27FC236}">
                <a16:creationId xmlns:a16="http://schemas.microsoft.com/office/drawing/2014/main" id="{01D14560-B8D7-46A6-ADEC-FD26E10151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9898" y="3107099"/>
            <a:ext cx="495300" cy="495300"/>
          </a:xfrm>
          <a:prstGeom prst="rect">
            <a:avLst/>
          </a:prstGeom>
        </p:spPr>
      </p:pic>
      <p:sp>
        <p:nvSpPr>
          <p:cNvPr id="58" name="文本框 57">
            <a:extLst>
              <a:ext uri="{FF2B5EF4-FFF2-40B4-BE49-F238E27FC236}">
                <a16:creationId xmlns:a16="http://schemas.microsoft.com/office/drawing/2014/main" id="{3CA7EA55-2075-4254-9D05-BFD0F539DB6F}"/>
              </a:ext>
            </a:extLst>
          </p:cNvPr>
          <p:cNvSpPr txBox="1"/>
          <p:nvPr/>
        </p:nvSpPr>
        <p:spPr>
          <a:xfrm>
            <a:off x="2247136" y="3002518"/>
            <a:ext cx="1366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主节点（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Primary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CBA21A85-696E-4BEA-87D7-6D1E6237F849}"/>
              </a:ext>
            </a:extLst>
          </p:cNvPr>
          <p:cNvSpPr txBox="1"/>
          <p:nvPr/>
        </p:nvSpPr>
        <p:spPr>
          <a:xfrm>
            <a:off x="916831" y="5201721"/>
            <a:ext cx="2265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从节点（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Secondary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A63879DF-D206-4426-98BE-7F8DC7316CF3}"/>
              </a:ext>
            </a:extLst>
          </p:cNvPr>
          <p:cNvSpPr txBox="1"/>
          <p:nvPr/>
        </p:nvSpPr>
        <p:spPr>
          <a:xfrm>
            <a:off x="4696157" y="2316524"/>
            <a:ext cx="103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{ “k”: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2 }</a:t>
            </a:r>
            <a:endParaRPr lang="zh-CN" altLang="en-US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E149B777-7986-4E0F-9717-F82241BD471D}"/>
              </a:ext>
            </a:extLst>
          </p:cNvPr>
          <p:cNvSpPr txBox="1"/>
          <p:nvPr/>
        </p:nvSpPr>
        <p:spPr>
          <a:xfrm>
            <a:off x="6880034" y="2316524"/>
            <a:ext cx="103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{ “k”: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2 }</a:t>
            </a:r>
            <a:endParaRPr lang="zh-CN" altLang="en-US" dirty="0"/>
          </a:p>
        </p:txBody>
      </p:sp>
      <p:pic>
        <p:nvPicPr>
          <p:cNvPr id="62" name="图片 61">
            <a:extLst>
              <a:ext uri="{FF2B5EF4-FFF2-40B4-BE49-F238E27FC236}">
                <a16:creationId xmlns:a16="http://schemas.microsoft.com/office/drawing/2014/main" id="{8C1CD9E9-1DCC-4D3F-A953-E48348CB8F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8361" y="1821224"/>
            <a:ext cx="495300" cy="495300"/>
          </a:xfrm>
          <a:prstGeom prst="rect">
            <a:avLst/>
          </a:prstGeom>
        </p:spPr>
      </p:pic>
      <p:sp>
        <p:nvSpPr>
          <p:cNvPr id="63" name="文本框 62">
            <a:extLst>
              <a:ext uri="{FF2B5EF4-FFF2-40B4-BE49-F238E27FC236}">
                <a16:creationId xmlns:a16="http://schemas.microsoft.com/office/drawing/2014/main" id="{0B6CE766-DEE9-4D6B-B059-2D49838AE24B}"/>
              </a:ext>
            </a:extLst>
          </p:cNvPr>
          <p:cNvSpPr txBox="1"/>
          <p:nvPr/>
        </p:nvSpPr>
        <p:spPr>
          <a:xfrm>
            <a:off x="9556898" y="1366167"/>
            <a:ext cx="103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{ “k”: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2 }</a:t>
            </a:r>
            <a:endParaRPr lang="zh-CN" altLang="en-US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7D84EE85-749B-4F63-B00F-9D498ADF1994}"/>
              </a:ext>
            </a:extLst>
          </p:cNvPr>
          <p:cNvSpPr txBox="1"/>
          <p:nvPr/>
        </p:nvSpPr>
        <p:spPr>
          <a:xfrm>
            <a:off x="8577262" y="3602399"/>
            <a:ext cx="103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{ “k”: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2 }</a:t>
            </a:r>
            <a:endParaRPr lang="zh-CN" altLang="en-US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88E4CE43-931F-45BB-BCD1-622A1A11FB57}"/>
              </a:ext>
            </a:extLst>
          </p:cNvPr>
          <p:cNvSpPr txBox="1"/>
          <p:nvPr/>
        </p:nvSpPr>
        <p:spPr>
          <a:xfrm>
            <a:off x="10452248" y="3602399"/>
            <a:ext cx="103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{ “k”: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2 }</a:t>
            </a:r>
            <a:endParaRPr lang="zh-CN" altLang="en-US" dirty="0"/>
          </a:p>
        </p:txBody>
      </p: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066097EF-1BD4-42BF-BA43-8A2CDEDBDA6E}"/>
              </a:ext>
            </a:extLst>
          </p:cNvPr>
          <p:cNvCxnSpPr>
            <a:cxnSpLocks/>
            <a:stCxn id="62" idx="1"/>
          </p:cNvCxnSpPr>
          <p:nvPr/>
        </p:nvCxnSpPr>
        <p:spPr>
          <a:xfrm flipH="1">
            <a:off x="9096375" y="2068874"/>
            <a:ext cx="731986" cy="1038225"/>
          </a:xfrm>
          <a:prstGeom prst="line">
            <a:avLst/>
          </a:prstGeom>
          <a:ln w="19050">
            <a:solidFill>
              <a:srgbClr val="A40A57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80D77F7C-E10F-46F5-8B7C-4BBEF322EDB6}"/>
              </a:ext>
            </a:extLst>
          </p:cNvPr>
          <p:cNvCxnSpPr>
            <a:cxnSpLocks/>
            <a:endCxn id="62" idx="3"/>
          </p:cNvCxnSpPr>
          <p:nvPr/>
        </p:nvCxnSpPr>
        <p:spPr>
          <a:xfrm flipH="1" flipV="1">
            <a:off x="10323661" y="2068874"/>
            <a:ext cx="647700" cy="1038225"/>
          </a:xfrm>
          <a:prstGeom prst="line">
            <a:avLst/>
          </a:prstGeom>
          <a:ln w="19050">
            <a:solidFill>
              <a:srgbClr val="A40A57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8" name="图片 67">
            <a:extLst>
              <a:ext uri="{FF2B5EF4-FFF2-40B4-BE49-F238E27FC236}">
                <a16:creationId xmlns:a16="http://schemas.microsoft.com/office/drawing/2014/main" id="{8311AE45-A0FC-4C8E-8132-AD04532239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212" y="3107099"/>
            <a:ext cx="495300" cy="495300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7E9DC1D2-8FB3-4E61-AAFD-FDF111FA93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62259" y="3107099"/>
            <a:ext cx="495300" cy="495300"/>
          </a:xfrm>
          <a:prstGeom prst="rect">
            <a:avLst/>
          </a:prstGeom>
        </p:spPr>
      </p:pic>
      <p:sp>
        <p:nvSpPr>
          <p:cNvPr id="72" name="文本框 71">
            <a:extLst>
              <a:ext uri="{FF2B5EF4-FFF2-40B4-BE49-F238E27FC236}">
                <a16:creationId xmlns:a16="http://schemas.microsoft.com/office/drawing/2014/main" id="{16153530-8B1D-418E-88B1-8F4AC1C2AAFD}"/>
              </a:ext>
            </a:extLst>
          </p:cNvPr>
          <p:cNvSpPr txBox="1"/>
          <p:nvPr/>
        </p:nvSpPr>
        <p:spPr>
          <a:xfrm>
            <a:off x="8971443" y="2316524"/>
            <a:ext cx="6074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OK</a:t>
            </a:r>
            <a:endParaRPr lang="zh-CN" altLang="en-US" dirty="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49AB7007-037B-4D3A-949B-08AC1A263152}"/>
              </a:ext>
            </a:extLst>
          </p:cNvPr>
          <p:cNvSpPr txBox="1"/>
          <p:nvPr/>
        </p:nvSpPr>
        <p:spPr>
          <a:xfrm>
            <a:off x="10595123" y="2305451"/>
            <a:ext cx="6074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OK</a:t>
            </a:r>
            <a:endParaRPr lang="zh-CN" altLang="en-US" dirty="0"/>
          </a:p>
        </p:txBody>
      </p:sp>
      <p:pic>
        <p:nvPicPr>
          <p:cNvPr id="74" name="图片 73">
            <a:extLst>
              <a:ext uri="{FF2B5EF4-FFF2-40B4-BE49-F238E27FC236}">
                <a16:creationId xmlns:a16="http://schemas.microsoft.com/office/drawing/2014/main" id="{C7EDA2E3-5312-4974-AE65-E7793931EC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90473" y="1844424"/>
            <a:ext cx="447675" cy="447675"/>
          </a:xfrm>
          <a:prstGeom prst="rect">
            <a:avLst/>
          </a:prstGeom>
        </p:spPr>
      </p:pic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541D8145-6726-4802-9237-5A103F65C2CB}"/>
              </a:ext>
            </a:extLst>
          </p:cNvPr>
          <p:cNvCxnSpPr>
            <a:cxnSpLocks/>
            <a:stCxn id="62" idx="3"/>
            <a:endCxn id="74" idx="1"/>
          </p:cNvCxnSpPr>
          <p:nvPr/>
        </p:nvCxnSpPr>
        <p:spPr>
          <a:xfrm flipV="1">
            <a:off x="10323661" y="2068262"/>
            <a:ext cx="1166812" cy="612"/>
          </a:xfrm>
          <a:prstGeom prst="straightConnector1">
            <a:avLst/>
          </a:prstGeom>
          <a:ln w="19050"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本框 77">
            <a:extLst>
              <a:ext uri="{FF2B5EF4-FFF2-40B4-BE49-F238E27FC236}">
                <a16:creationId xmlns:a16="http://schemas.microsoft.com/office/drawing/2014/main" id="{39A5DF63-CBCE-4470-A682-B768368FE519}"/>
              </a:ext>
            </a:extLst>
          </p:cNvPr>
          <p:cNvSpPr txBox="1"/>
          <p:nvPr/>
        </p:nvSpPr>
        <p:spPr>
          <a:xfrm>
            <a:off x="10603322" y="1694064"/>
            <a:ext cx="6074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OK</a:t>
            </a:r>
            <a:endParaRPr lang="zh-CN" altLang="en-US" dirty="0"/>
          </a:p>
        </p:txBody>
      </p:sp>
      <p:pic>
        <p:nvPicPr>
          <p:cNvPr id="79" name="图片 78">
            <a:extLst>
              <a:ext uri="{FF2B5EF4-FFF2-40B4-BE49-F238E27FC236}">
                <a16:creationId xmlns:a16="http://schemas.microsoft.com/office/drawing/2014/main" id="{77EBDB46-B43C-4905-8AC2-99D6B31E5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1336" y="4534817"/>
            <a:ext cx="495300" cy="495300"/>
          </a:xfrm>
          <a:prstGeom prst="rect">
            <a:avLst/>
          </a:prstGeom>
        </p:spPr>
      </p:pic>
      <p:sp>
        <p:nvSpPr>
          <p:cNvPr id="80" name="文本框 79">
            <a:extLst>
              <a:ext uri="{FF2B5EF4-FFF2-40B4-BE49-F238E27FC236}">
                <a16:creationId xmlns:a16="http://schemas.microsoft.com/office/drawing/2014/main" id="{B4433632-CBD7-4242-B26B-282326B0A495}"/>
              </a:ext>
            </a:extLst>
          </p:cNvPr>
          <p:cNvSpPr txBox="1"/>
          <p:nvPr/>
        </p:nvSpPr>
        <p:spPr>
          <a:xfrm>
            <a:off x="5789873" y="4079760"/>
            <a:ext cx="103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{ “k”: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2 }</a:t>
            </a:r>
            <a:endParaRPr lang="zh-CN" altLang="en-US" dirty="0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6625D0DD-F8DB-4015-9EC3-D66169856C72}"/>
              </a:ext>
            </a:extLst>
          </p:cNvPr>
          <p:cNvSpPr txBox="1"/>
          <p:nvPr/>
        </p:nvSpPr>
        <p:spPr>
          <a:xfrm>
            <a:off x="4810237" y="6315992"/>
            <a:ext cx="103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{ “k”: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1 }</a:t>
            </a:r>
            <a:endParaRPr lang="zh-CN" altLang="en-US" dirty="0"/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27E175A6-7CF7-4313-AA73-A0CCBE8CC2B6}"/>
              </a:ext>
            </a:extLst>
          </p:cNvPr>
          <p:cNvSpPr txBox="1"/>
          <p:nvPr/>
        </p:nvSpPr>
        <p:spPr>
          <a:xfrm>
            <a:off x="6685223" y="6315992"/>
            <a:ext cx="103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{ “k”: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1 }</a:t>
            </a:r>
            <a:endParaRPr lang="zh-CN" altLang="en-US" dirty="0"/>
          </a:p>
        </p:txBody>
      </p: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id="{681B3D58-FDB5-4118-9F72-DC52AB312B93}"/>
              </a:ext>
            </a:extLst>
          </p:cNvPr>
          <p:cNvCxnSpPr>
            <a:cxnSpLocks/>
            <a:stCxn id="79" idx="1"/>
          </p:cNvCxnSpPr>
          <p:nvPr/>
        </p:nvCxnSpPr>
        <p:spPr>
          <a:xfrm flipH="1">
            <a:off x="5329350" y="4782467"/>
            <a:ext cx="731986" cy="1038225"/>
          </a:xfrm>
          <a:prstGeom prst="line">
            <a:avLst/>
          </a:prstGeom>
          <a:ln w="19050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id="{20036304-24C4-48CA-9933-1ABD5FE85B84}"/>
              </a:ext>
            </a:extLst>
          </p:cNvPr>
          <p:cNvCxnSpPr>
            <a:cxnSpLocks/>
            <a:endCxn id="79" idx="3"/>
          </p:cNvCxnSpPr>
          <p:nvPr/>
        </p:nvCxnSpPr>
        <p:spPr>
          <a:xfrm flipH="1" flipV="1">
            <a:off x="6556636" y="4782467"/>
            <a:ext cx="647700" cy="1038225"/>
          </a:xfrm>
          <a:prstGeom prst="line">
            <a:avLst/>
          </a:prstGeom>
          <a:ln w="1905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5" name="图片 84">
            <a:extLst>
              <a:ext uri="{FF2B5EF4-FFF2-40B4-BE49-F238E27FC236}">
                <a16:creationId xmlns:a16="http://schemas.microsoft.com/office/drawing/2014/main" id="{14077347-7007-4888-8E1F-DB79E14281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2187" y="5820692"/>
            <a:ext cx="495300" cy="495300"/>
          </a:xfrm>
          <a:prstGeom prst="rect">
            <a:avLst/>
          </a:prstGeom>
        </p:spPr>
      </p:pic>
      <p:pic>
        <p:nvPicPr>
          <p:cNvPr id="86" name="图片 85">
            <a:extLst>
              <a:ext uri="{FF2B5EF4-FFF2-40B4-BE49-F238E27FC236}">
                <a16:creationId xmlns:a16="http://schemas.microsoft.com/office/drawing/2014/main" id="{75DBE623-4065-46CD-B61E-A871392E48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234" y="5820692"/>
            <a:ext cx="495300" cy="495300"/>
          </a:xfrm>
          <a:prstGeom prst="rect">
            <a:avLst/>
          </a:prstGeom>
        </p:spPr>
      </p:pic>
      <p:sp>
        <p:nvSpPr>
          <p:cNvPr id="87" name="文本框 86">
            <a:extLst>
              <a:ext uri="{FF2B5EF4-FFF2-40B4-BE49-F238E27FC236}">
                <a16:creationId xmlns:a16="http://schemas.microsoft.com/office/drawing/2014/main" id="{1AA331FF-150C-4A23-9D3C-1C21030DDBCC}"/>
              </a:ext>
            </a:extLst>
          </p:cNvPr>
          <p:cNvSpPr txBox="1"/>
          <p:nvPr/>
        </p:nvSpPr>
        <p:spPr>
          <a:xfrm>
            <a:off x="4661493" y="5030117"/>
            <a:ext cx="103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{ “k”: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2 }</a:t>
            </a:r>
            <a:endParaRPr lang="zh-CN" altLang="en-US" dirty="0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AE4C50EE-C3B7-417C-B2D7-1F6172111C98}"/>
              </a:ext>
            </a:extLst>
          </p:cNvPr>
          <p:cNvSpPr txBox="1"/>
          <p:nvPr/>
        </p:nvSpPr>
        <p:spPr>
          <a:xfrm>
            <a:off x="6845370" y="5030117"/>
            <a:ext cx="103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{ “k”: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2 }</a:t>
            </a:r>
            <a:endParaRPr lang="zh-CN" altLang="en-US" dirty="0"/>
          </a:p>
        </p:txBody>
      </p:sp>
      <p:pic>
        <p:nvPicPr>
          <p:cNvPr id="89" name="图片 88">
            <a:extLst>
              <a:ext uri="{FF2B5EF4-FFF2-40B4-BE49-F238E27FC236}">
                <a16:creationId xmlns:a16="http://schemas.microsoft.com/office/drawing/2014/main" id="{0D2C3839-8903-4C8B-B801-E37731094B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2930" y="4558629"/>
            <a:ext cx="447675" cy="447675"/>
          </a:xfrm>
          <a:prstGeom prst="rect">
            <a:avLst/>
          </a:prstGeom>
        </p:spPr>
      </p:pic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79A9AADE-83B1-4D67-B1B8-DC5FB1D08FAB}"/>
              </a:ext>
            </a:extLst>
          </p:cNvPr>
          <p:cNvCxnSpPr>
            <a:cxnSpLocks/>
            <a:stCxn id="79" idx="1"/>
            <a:endCxn id="89" idx="3"/>
          </p:cNvCxnSpPr>
          <p:nvPr/>
        </p:nvCxnSpPr>
        <p:spPr>
          <a:xfrm flipH="1">
            <a:off x="5180605" y="4782467"/>
            <a:ext cx="880731" cy="0"/>
          </a:xfrm>
          <a:prstGeom prst="straightConnector1">
            <a:avLst/>
          </a:prstGeom>
          <a:ln w="19050"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文本框 92">
            <a:extLst>
              <a:ext uri="{FF2B5EF4-FFF2-40B4-BE49-F238E27FC236}">
                <a16:creationId xmlns:a16="http://schemas.microsoft.com/office/drawing/2014/main" id="{ADFE6242-4D47-4DA8-8B3C-6C882E206C66}"/>
              </a:ext>
            </a:extLst>
          </p:cNvPr>
          <p:cNvSpPr txBox="1"/>
          <p:nvPr/>
        </p:nvSpPr>
        <p:spPr>
          <a:xfrm>
            <a:off x="5391599" y="4434959"/>
            <a:ext cx="6074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OK</a:t>
            </a:r>
            <a:endParaRPr lang="zh-CN" altLang="en-US" dirty="0"/>
          </a:p>
        </p:txBody>
      </p:sp>
      <p:pic>
        <p:nvPicPr>
          <p:cNvPr id="94" name="图片 93">
            <a:extLst>
              <a:ext uri="{FF2B5EF4-FFF2-40B4-BE49-F238E27FC236}">
                <a16:creationId xmlns:a16="http://schemas.microsoft.com/office/drawing/2014/main" id="{71C12D4F-4553-46F3-BDAA-7E41B3F56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4097" y="4511004"/>
            <a:ext cx="495300" cy="495300"/>
          </a:xfrm>
          <a:prstGeom prst="rect">
            <a:avLst/>
          </a:prstGeom>
        </p:spPr>
      </p:pic>
      <p:sp>
        <p:nvSpPr>
          <p:cNvPr id="95" name="文本框 94">
            <a:extLst>
              <a:ext uri="{FF2B5EF4-FFF2-40B4-BE49-F238E27FC236}">
                <a16:creationId xmlns:a16="http://schemas.microsoft.com/office/drawing/2014/main" id="{2298EA66-40AD-4190-A8B8-EAB933451D1A}"/>
              </a:ext>
            </a:extLst>
          </p:cNvPr>
          <p:cNvSpPr txBox="1"/>
          <p:nvPr/>
        </p:nvSpPr>
        <p:spPr>
          <a:xfrm>
            <a:off x="9602634" y="4055947"/>
            <a:ext cx="103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{ “k”: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2 }</a:t>
            </a:r>
            <a:endParaRPr lang="zh-CN" altLang="en-US" dirty="0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95B15F4E-581B-4474-BE14-73581598A093}"/>
              </a:ext>
            </a:extLst>
          </p:cNvPr>
          <p:cNvSpPr txBox="1"/>
          <p:nvPr/>
        </p:nvSpPr>
        <p:spPr>
          <a:xfrm>
            <a:off x="8622998" y="6292179"/>
            <a:ext cx="103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{ “k”: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2 }</a:t>
            </a:r>
            <a:endParaRPr lang="zh-CN" altLang="en-US" dirty="0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C6FCFDC0-5B94-44C1-B871-8733CE4B5004}"/>
              </a:ext>
            </a:extLst>
          </p:cNvPr>
          <p:cNvSpPr txBox="1"/>
          <p:nvPr/>
        </p:nvSpPr>
        <p:spPr>
          <a:xfrm>
            <a:off x="10497984" y="6292179"/>
            <a:ext cx="103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{ “k”: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2 }</a:t>
            </a:r>
            <a:endParaRPr lang="zh-CN" altLang="en-US" dirty="0"/>
          </a:p>
        </p:txBody>
      </p: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305CDBC7-0E0A-4267-88BA-631AF07C8D3C}"/>
              </a:ext>
            </a:extLst>
          </p:cNvPr>
          <p:cNvCxnSpPr>
            <a:cxnSpLocks/>
            <a:stCxn id="94" idx="1"/>
          </p:cNvCxnSpPr>
          <p:nvPr/>
        </p:nvCxnSpPr>
        <p:spPr>
          <a:xfrm flipH="1">
            <a:off x="9142111" y="4758654"/>
            <a:ext cx="731986" cy="1038225"/>
          </a:xfrm>
          <a:prstGeom prst="line">
            <a:avLst/>
          </a:prstGeom>
          <a:ln w="19050">
            <a:solidFill>
              <a:srgbClr val="A40A57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>
            <a:extLst>
              <a:ext uri="{FF2B5EF4-FFF2-40B4-BE49-F238E27FC236}">
                <a16:creationId xmlns:a16="http://schemas.microsoft.com/office/drawing/2014/main" id="{DABDAE20-D43F-48F9-99D7-722608858591}"/>
              </a:ext>
            </a:extLst>
          </p:cNvPr>
          <p:cNvCxnSpPr>
            <a:cxnSpLocks/>
            <a:endCxn id="94" idx="3"/>
          </p:cNvCxnSpPr>
          <p:nvPr/>
        </p:nvCxnSpPr>
        <p:spPr>
          <a:xfrm flipH="1" flipV="1">
            <a:off x="10369397" y="4758654"/>
            <a:ext cx="647700" cy="1038225"/>
          </a:xfrm>
          <a:prstGeom prst="line">
            <a:avLst/>
          </a:prstGeom>
          <a:ln w="19050">
            <a:solidFill>
              <a:srgbClr val="A40A57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0" name="图片 99">
            <a:extLst>
              <a:ext uri="{FF2B5EF4-FFF2-40B4-BE49-F238E27FC236}">
                <a16:creationId xmlns:a16="http://schemas.microsoft.com/office/drawing/2014/main" id="{E30BBF86-15A8-48F6-B8BB-95FB162A5E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4948" y="5796879"/>
            <a:ext cx="495300" cy="495300"/>
          </a:xfrm>
          <a:prstGeom prst="rect">
            <a:avLst/>
          </a:prstGeom>
        </p:spPr>
      </p:pic>
      <p:pic>
        <p:nvPicPr>
          <p:cNvPr id="101" name="图片 100">
            <a:extLst>
              <a:ext uri="{FF2B5EF4-FFF2-40B4-BE49-F238E27FC236}">
                <a16:creationId xmlns:a16="http://schemas.microsoft.com/office/drawing/2014/main" id="{30761E57-6ACA-41EF-A58D-896BE90B2F2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7995" y="5796879"/>
            <a:ext cx="495300" cy="495300"/>
          </a:xfrm>
          <a:prstGeom prst="rect">
            <a:avLst/>
          </a:prstGeom>
        </p:spPr>
      </p:pic>
      <p:sp>
        <p:nvSpPr>
          <p:cNvPr id="107" name="文本框 106">
            <a:extLst>
              <a:ext uri="{FF2B5EF4-FFF2-40B4-BE49-F238E27FC236}">
                <a16:creationId xmlns:a16="http://schemas.microsoft.com/office/drawing/2014/main" id="{DFE9FAE3-174A-4F32-9050-127B0ABB9442}"/>
              </a:ext>
            </a:extLst>
          </p:cNvPr>
          <p:cNvSpPr txBox="1"/>
          <p:nvPr/>
        </p:nvSpPr>
        <p:spPr>
          <a:xfrm>
            <a:off x="8869212" y="5017055"/>
            <a:ext cx="6074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OK</a:t>
            </a:r>
            <a:endParaRPr lang="zh-CN" altLang="en-US" dirty="0"/>
          </a:p>
        </p:txBody>
      </p:sp>
      <p:sp>
        <p:nvSpPr>
          <p:cNvPr id="108" name="文本框 107">
            <a:extLst>
              <a:ext uri="{FF2B5EF4-FFF2-40B4-BE49-F238E27FC236}">
                <a16:creationId xmlns:a16="http://schemas.microsoft.com/office/drawing/2014/main" id="{36679650-401B-4EE5-B4B3-84C9C8DAA694}"/>
              </a:ext>
            </a:extLst>
          </p:cNvPr>
          <p:cNvSpPr txBox="1"/>
          <p:nvPr/>
        </p:nvSpPr>
        <p:spPr>
          <a:xfrm>
            <a:off x="10713352" y="5017055"/>
            <a:ext cx="6074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OK</a:t>
            </a:r>
            <a:endParaRPr lang="zh-CN" altLang="en-US" dirty="0"/>
          </a:p>
        </p:txBody>
      </p:sp>
      <p:sp>
        <p:nvSpPr>
          <p:cNvPr id="111" name="箭头: 右 110">
            <a:extLst>
              <a:ext uri="{FF2B5EF4-FFF2-40B4-BE49-F238E27FC236}">
                <a16:creationId xmlns:a16="http://schemas.microsoft.com/office/drawing/2014/main" id="{B3529D76-CD0A-4354-9261-9974BBA5B18C}"/>
              </a:ext>
            </a:extLst>
          </p:cNvPr>
          <p:cNvSpPr/>
          <p:nvPr/>
        </p:nvSpPr>
        <p:spPr>
          <a:xfrm rot="18892509">
            <a:off x="3744274" y="2754594"/>
            <a:ext cx="745633" cy="36933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箭头: 右 111">
            <a:extLst>
              <a:ext uri="{FF2B5EF4-FFF2-40B4-BE49-F238E27FC236}">
                <a16:creationId xmlns:a16="http://schemas.microsoft.com/office/drawing/2014/main" id="{4E16E6DD-9DA0-44A2-9ACB-761E90C6BAD7}"/>
              </a:ext>
            </a:extLst>
          </p:cNvPr>
          <p:cNvSpPr/>
          <p:nvPr/>
        </p:nvSpPr>
        <p:spPr>
          <a:xfrm rot="2707491" flipV="1">
            <a:off x="3744273" y="4141934"/>
            <a:ext cx="745633" cy="36933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69C496B6-71F0-4A68-8B52-EE16D8A5DCCC}"/>
              </a:ext>
            </a:extLst>
          </p:cNvPr>
          <p:cNvSpPr txBox="1"/>
          <p:nvPr/>
        </p:nvSpPr>
        <p:spPr>
          <a:xfrm>
            <a:off x="3552718" y="2755949"/>
            <a:ext cx="1127934" cy="369332"/>
          </a:xfrm>
          <a:prstGeom prst="rect">
            <a:avLst/>
          </a:prstGeom>
          <a:solidFill>
            <a:srgbClr val="FFD700"/>
          </a:solidFill>
          <a:ln>
            <a:solidFill>
              <a:srgbClr val="0000CC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00206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强一致性</a:t>
            </a:r>
            <a:endParaRPr lang="en-US" altLang="zh-CN" dirty="0">
              <a:solidFill>
                <a:srgbClr val="002060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FAA2BCC6-F48F-4353-868B-1263BFB653B6}"/>
              </a:ext>
            </a:extLst>
          </p:cNvPr>
          <p:cNvSpPr txBox="1"/>
          <p:nvPr/>
        </p:nvSpPr>
        <p:spPr>
          <a:xfrm>
            <a:off x="3530451" y="4156877"/>
            <a:ext cx="1127934" cy="369332"/>
          </a:xfrm>
          <a:prstGeom prst="rect">
            <a:avLst/>
          </a:prstGeom>
          <a:solidFill>
            <a:srgbClr val="FFD700"/>
          </a:solidFill>
          <a:ln>
            <a:solidFill>
              <a:srgbClr val="0000CC"/>
            </a:solidFill>
            <a:prstDash val="dash"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00206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弱一致性</a:t>
            </a:r>
            <a:endParaRPr lang="en-US" altLang="zh-CN" dirty="0">
              <a:solidFill>
                <a:srgbClr val="002060"/>
              </a:solidFill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968A5F26-7102-42E4-88C2-7B0F1B8FC583}"/>
              </a:ext>
            </a:extLst>
          </p:cNvPr>
          <p:cNvSpPr txBox="1"/>
          <p:nvPr/>
        </p:nvSpPr>
        <p:spPr>
          <a:xfrm>
            <a:off x="66057" y="3585711"/>
            <a:ext cx="11265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SET k = 2</a:t>
            </a:r>
            <a:endParaRPr lang="zh-CN" altLang="en-US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07A4337F-787A-426F-B446-7C925C43A5AE}"/>
              </a:ext>
            </a:extLst>
          </p:cNvPr>
          <p:cNvSpPr txBox="1"/>
          <p:nvPr/>
        </p:nvSpPr>
        <p:spPr>
          <a:xfrm>
            <a:off x="318368" y="1980917"/>
            <a:ext cx="30713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sz="1800" dirty="0">
                <a:latin typeface="Garamond" panose="02020404030301010803" pitchFamily="18" charset="0"/>
                <a:ea typeface="微软雅黑" panose="020B0503020204020204" pitchFamily="34" charset="-122"/>
              </a:rPr>
              <a:t>初始键值对：</a:t>
            </a:r>
            <a:r>
              <a:rPr lang="en-US" altLang="zh-CN" sz="1800" dirty="0">
                <a:latin typeface="Garamond" panose="02020404030301010803" pitchFamily="18" charset="0"/>
                <a:ea typeface="微软雅黑" panose="020B0503020204020204" pitchFamily="34" charset="-122"/>
              </a:rPr>
              <a:t>{ “k”:</a:t>
            </a:r>
            <a:r>
              <a:rPr lang="zh-CN" altLang="en-US" sz="1800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sz="1800" dirty="0">
                <a:latin typeface="Garamond" panose="02020404030301010803" pitchFamily="18" charset="0"/>
                <a:ea typeface="微软雅黑" panose="020B0503020204020204" pitchFamily="34" charset="-122"/>
              </a:rPr>
              <a:t>1 }</a:t>
            </a:r>
            <a:endParaRPr lang="zh-CN" altLang="en-US" sz="1800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31952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4" grpId="0"/>
      <p:bldP spid="25" grpId="0"/>
      <p:bldP spid="27" grpId="0"/>
      <p:bldP spid="48" grpId="0"/>
      <p:bldP spid="50" grpId="0"/>
      <p:bldP spid="51" grpId="0"/>
      <p:bldP spid="39" grpId="0"/>
      <p:bldP spid="58" grpId="0"/>
      <p:bldP spid="59" grpId="0"/>
      <p:bldP spid="60" grpId="0"/>
      <p:bldP spid="61" grpId="0"/>
      <p:bldP spid="63" grpId="0"/>
      <p:bldP spid="64" grpId="0"/>
      <p:bldP spid="65" grpId="0"/>
      <p:bldP spid="72" grpId="0"/>
      <p:bldP spid="73" grpId="0"/>
      <p:bldP spid="78" grpId="0"/>
      <p:bldP spid="80" grpId="0"/>
      <p:bldP spid="81" grpId="0"/>
      <p:bldP spid="82" grpId="0"/>
      <p:bldP spid="87" grpId="0"/>
      <p:bldP spid="88" grpId="0"/>
      <p:bldP spid="93" grpId="0"/>
      <p:bldP spid="95" grpId="0"/>
      <p:bldP spid="96" grpId="0"/>
      <p:bldP spid="97" grpId="0"/>
      <p:bldP spid="107" grpId="0"/>
      <p:bldP spid="108" grpId="0"/>
      <p:bldP spid="111" grpId="0" animBg="1"/>
      <p:bldP spid="112" grpId="0" animBg="1"/>
      <p:bldP spid="109" grpId="0" animBg="1"/>
      <p:bldP spid="110" grpId="0" animBg="1"/>
      <p:bldP spid="114" grpId="0"/>
      <p:bldP spid="7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CFT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实现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>
                <a:latin typeface="Garamond" panose="02020404030301010803" pitchFamily="18" charset="0"/>
                <a:ea typeface="微软雅黑" panose="020B0503020204020204" pitchFamily="34" charset="-122"/>
              </a:rPr>
              <a:t>17</a:t>
            </a:fld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D093847-3DC4-40F1-A2FE-C9B364C838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839" y="3086100"/>
            <a:ext cx="495300" cy="4953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074C939-6B38-49DF-8A26-D02EBB9F1B70}"/>
              </a:ext>
            </a:extLst>
          </p:cNvPr>
          <p:cNvSpPr txBox="1"/>
          <p:nvPr/>
        </p:nvSpPr>
        <p:spPr>
          <a:xfrm>
            <a:off x="504825" y="1465600"/>
            <a:ext cx="5269391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主节点崩溃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——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视图切换（主从切换）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9BAFB02-BB46-4474-AC4D-D2499774D80E}"/>
              </a:ext>
            </a:extLst>
          </p:cNvPr>
          <p:cNvSpPr txBox="1"/>
          <p:nvPr/>
        </p:nvSpPr>
        <p:spPr>
          <a:xfrm>
            <a:off x="1406376" y="2631043"/>
            <a:ext cx="103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{ “k”: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2 }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1FCFA37-B41F-4D03-98A9-4E394398B594}"/>
              </a:ext>
            </a:extLst>
          </p:cNvPr>
          <p:cNvSpPr txBox="1"/>
          <p:nvPr/>
        </p:nvSpPr>
        <p:spPr>
          <a:xfrm>
            <a:off x="426740" y="4867275"/>
            <a:ext cx="103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{ “k”: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2 }</a:t>
            </a:r>
            <a:endParaRPr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6E45AD4-98BD-4FC6-B15C-FD93F2F99436}"/>
              </a:ext>
            </a:extLst>
          </p:cNvPr>
          <p:cNvSpPr txBox="1"/>
          <p:nvPr/>
        </p:nvSpPr>
        <p:spPr>
          <a:xfrm>
            <a:off x="2301726" y="4867275"/>
            <a:ext cx="103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{ “k”: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2 }</a:t>
            </a:r>
            <a:endParaRPr lang="zh-CN" altLang="en-US" dirty="0"/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A11E9A7E-D53B-4D14-B307-57C066FBC300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945853" y="3333750"/>
            <a:ext cx="731986" cy="1038225"/>
          </a:xfrm>
          <a:prstGeom prst="line">
            <a:avLst/>
          </a:prstGeom>
          <a:ln w="19050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6E5F6B9F-9A32-4C50-826C-A6D8D7210678}"/>
              </a:ext>
            </a:extLst>
          </p:cNvPr>
          <p:cNvCxnSpPr>
            <a:cxnSpLocks/>
            <a:endCxn id="6" idx="3"/>
          </p:cNvCxnSpPr>
          <p:nvPr/>
        </p:nvCxnSpPr>
        <p:spPr>
          <a:xfrm flipH="1" flipV="1">
            <a:off x="2173139" y="3333750"/>
            <a:ext cx="647700" cy="1038225"/>
          </a:xfrm>
          <a:prstGeom prst="line">
            <a:avLst/>
          </a:prstGeom>
          <a:ln w="1905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文本框 38">
            <a:extLst>
              <a:ext uri="{FF2B5EF4-FFF2-40B4-BE49-F238E27FC236}">
                <a16:creationId xmlns:a16="http://schemas.microsoft.com/office/drawing/2014/main" id="{DADAF6BE-658B-41A3-8249-793DAF526343}"/>
              </a:ext>
            </a:extLst>
          </p:cNvPr>
          <p:cNvSpPr txBox="1"/>
          <p:nvPr/>
        </p:nvSpPr>
        <p:spPr>
          <a:xfrm>
            <a:off x="1329348" y="393168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异步网络</a:t>
            </a:r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BA194ACC-D67F-4C8F-A6EB-A380043072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57" y="4395787"/>
            <a:ext cx="495300" cy="495300"/>
          </a:xfrm>
          <a:prstGeom prst="rect">
            <a:avLst/>
          </a:prstGeom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AA438EC5-E0A6-4B68-A629-5621449B29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6514" y="4371975"/>
            <a:ext cx="495300" cy="495300"/>
          </a:xfrm>
          <a:prstGeom prst="rect">
            <a:avLst/>
          </a:prstGeom>
        </p:spPr>
      </p:pic>
      <p:sp>
        <p:nvSpPr>
          <p:cNvPr id="58" name="文本框 57">
            <a:extLst>
              <a:ext uri="{FF2B5EF4-FFF2-40B4-BE49-F238E27FC236}">
                <a16:creationId xmlns:a16="http://schemas.microsoft.com/office/drawing/2014/main" id="{3CA7EA55-2075-4254-9D05-BFD0F539DB6F}"/>
              </a:ext>
            </a:extLst>
          </p:cNvPr>
          <p:cNvSpPr txBox="1"/>
          <p:nvPr/>
        </p:nvSpPr>
        <p:spPr>
          <a:xfrm>
            <a:off x="2131943" y="3126343"/>
            <a:ext cx="2050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主节点（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Primary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CBA21A85-696E-4BEA-87D7-6D1E6237F849}"/>
              </a:ext>
            </a:extLst>
          </p:cNvPr>
          <p:cNvSpPr txBox="1"/>
          <p:nvPr/>
        </p:nvSpPr>
        <p:spPr>
          <a:xfrm>
            <a:off x="726331" y="5201721"/>
            <a:ext cx="2265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从节点（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Secondary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4" name="乘号 3">
            <a:extLst>
              <a:ext uri="{FF2B5EF4-FFF2-40B4-BE49-F238E27FC236}">
                <a16:creationId xmlns:a16="http://schemas.microsoft.com/office/drawing/2014/main" id="{FCC1787E-80A9-4C36-9246-9EF40844032A}"/>
              </a:ext>
            </a:extLst>
          </p:cNvPr>
          <p:cNvSpPr/>
          <p:nvPr/>
        </p:nvSpPr>
        <p:spPr>
          <a:xfrm>
            <a:off x="1533984" y="2982397"/>
            <a:ext cx="731986" cy="714375"/>
          </a:xfrm>
          <a:prstGeom prst="mathMultiply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0" name="图片 69">
            <a:extLst>
              <a:ext uri="{FF2B5EF4-FFF2-40B4-BE49-F238E27FC236}">
                <a16:creationId xmlns:a16="http://schemas.microsoft.com/office/drawing/2014/main" id="{BB4012B2-0537-429D-B62A-2B28483C9C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6740" y="3086100"/>
            <a:ext cx="495300" cy="495300"/>
          </a:xfrm>
          <a:prstGeom prst="rect">
            <a:avLst/>
          </a:prstGeom>
        </p:spPr>
      </p:pic>
      <p:sp>
        <p:nvSpPr>
          <p:cNvPr id="71" name="文本框 70">
            <a:extLst>
              <a:ext uri="{FF2B5EF4-FFF2-40B4-BE49-F238E27FC236}">
                <a16:creationId xmlns:a16="http://schemas.microsoft.com/office/drawing/2014/main" id="{8E6D8EBA-FCBA-4FF7-B41D-B0273AC62576}"/>
              </a:ext>
            </a:extLst>
          </p:cNvPr>
          <p:cNvSpPr txBox="1"/>
          <p:nvPr/>
        </p:nvSpPr>
        <p:spPr>
          <a:xfrm>
            <a:off x="5195277" y="2631043"/>
            <a:ext cx="103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{ “k”: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2 }</a:t>
            </a:r>
            <a:endParaRPr lang="zh-CN" altLang="en-US" dirty="0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EFB070A5-6781-459E-ACAD-C99BB2654704}"/>
              </a:ext>
            </a:extLst>
          </p:cNvPr>
          <p:cNvSpPr txBox="1"/>
          <p:nvPr/>
        </p:nvSpPr>
        <p:spPr>
          <a:xfrm>
            <a:off x="4215641" y="4867275"/>
            <a:ext cx="103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{ “k”: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2 }</a:t>
            </a:r>
            <a:endParaRPr lang="zh-CN" altLang="en-US" dirty="0"/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D0B65F19-1DB4-4D00-B477-028223EBECA0}"/>
              </a:ext>
            </a:extLst>
          </p:cNvPr>
          <p:cNvSpPr txBox="1"/>
          <p:nvPr/>
        </p:nvSpPr>
        <p:spPr>
          <a:xfrm>
            <a:off x="6090627" y="4867275"/>
            <a:ext cx="103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{ “k”: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2 }</a:t>
            </a:r>
            <a:endParaRPr lang="zh-CN" altLang="en-US" dirty="0"/>
          </a:p>
        </p:txBody>
      </p:sp>
      <p:cxnSp>
        <p:nvCxnSpPr>
          <p:cNvPr id="91" name="直接连接符 90">
            <a:extLst>
              <a:ext uri="{FF2B5EF4-FFF2-40B4-BE49-F238E27FC236}">
                <a16:creationId xmlns:a16="http://schemas.microsoft.com/office/drawing/2014/main" id="{0266CDEB-44D7-4DA7-A2F3-1554F197FA64}"/>
              </a:ext>
            </a:extLst>
          </p:cNvPr>
          <p:cNvCxnSpPr>
            <a:cxnSpLocks/>
            <a:endCxn id="104" idx="1"/>
          </p:cNvCxnSpPr>
          <p:nvPr/>
        </p:nvCxnSpPr>
        <p:spPr>
          <a:xfrm>
            <a:off x="5035958" y="4619625"/>
            <a:ext cx="1329457" cy="0"/>
          </a:xfrm>
          <a:prstGeom prst="line">
            <a:avLst/>
          </a:prstGeom>
          <a:ln w="19050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>
            <a:extLst>
              <a:ext uri="{FF2B5EF4-FFF2-40B4-BE49-F238E27FC236}">
                <a16:creationId xmlns:a16="http://schemas.microsoft.com/office/drawing/2014/main" id="{AF9D2FBF-F43D-49A1-A255-2554D9AFC80C}"/>
              </a:ext>
            </a:extLst>
          </p:cNvPr>
          <p:cNvCxnSpPr>
            <a:cxnSpLocks/>
            <a:stCxn id="70" idx="1"/>
          </p:cNvCxnSpPr>
          <p:nvPr/>
        </p:nvCxnSpPr>
        <p:spPr>
          <a:xfrm flipH="1">
            <a:off x="4788308" y="3333750"/>
            <a:ext cx="678432" cy="1038225"/>
          </a:xfrm>
          <a:prstGeom prst="line">
            <a:avLst/>
          </a:prstGeom>
          <a:ln w="1905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" name="图片 103">
            <a:extLst>
              <a:ext uri="{FF2B5EF4-FFF2-40B4-BE49-F238E27FC236}">
                <a16:creationId xmlns:a16="http://schemas.microsoft.com/office/drawing/2014/main" id="{58C63A26-AF3B-4F4F-9B47-49B9862CB0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5415" y="4371975"/>
            <a:ext cx="495300" cy="495300"/>
          </a:xfrm>
          <a:prstGeom prst="rect">
            <a:avLst/>
          </a:prstGeom>
        </p:spPr>
      </p:pic>
      <p:sp>
        <p:nvSpPr>
          <p:cNvPr id="105" name="文本框 104">
            <a:extLst>
              <a:ext uri="{FF2B5EF4-FFF2-40B4-BE49-F238E27FC236}">
                <a16:creationId xmlns:a16="http://schemas.microsoft.com/office/drawing/2014/main" id="{37FEB563-BA36-466C-B2B5-5DE4C8168040}"/>
              </a:ext>
            </a:extLst>
          </p:cNvPr>
          <p:cNvSpPr txBox="1"/>
          <p:nvPr/>
        </p:nvSpPr>
        <p:spPr>
          <a:xfrm>
            <a:off x="5476929" y="3986446"/>
            <a:ext cx="2265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从节点（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Secondary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08A10470-DA87-4313-A90B-3327BD985162}"/>
              </a:ext>
            </a:extLst>
          </p:cNvPr>
          <p:cNvSpPr txBox="1"/>
          <p:nvPr/>
        </p:nvSpPr>
        <p:spPr>
          <a:xfrm>
            <a:off x="3709344" y="5215881"/>
            <a:ext cx="2050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主节点（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Primary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111" name="乘号 110">
            <a:extLst>
              <a:ext uri="{FF2B5EF4-FFF2-40B4-BE49-F238E27FC236}">
                <a16:creationId xmlns:a16="http://schemas.microsoft.com/office/drawing/2014/main" id="{8024DDEF-35B0-4A8B-B8EA-7CCB0BE9E626}"/>
              </a:ext>
            </a:extLst>
          </p:cNvPr>
          <p:cNvSpPr/>
          <p:nvPr/>
        </p:nvSpPr>
        <p:spPr>
          <a:xfrm>
            <a:off x="5322885" y="2982397"/>
            <a:ext cx="731986" cy="714375"/>
          </a:xfrm>
          <a:prstGeom prst="mathMultiply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2" name="图片 111">
            <a:extLst>
              <a:ext uri="{FF2B5EF4-FFF2-40B4-BE49-F238E27FC236}">
                <a16:creationId xmlns:a16="http://schemas.microsoft.com/office/drawing/2014/main" id="{4363EE8F-D93E-4031-8985-97A7FF158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0658" y="4371975"/>
            <a:ext cx="495300" cy="495300"/>
          </a:xfrm>
          <a:prstGeom prst="rect">
            <a:avLst/>
          </a:prstGeom>
        </p:spPr>
      </p:pic>
      <p:sp>
        <p:nvSpPr>
          <p:cNvPr id="114" name="文本框 113">
            <a:extLst>
              <a:ext uri="{FF2B5EF4-FFF2-40B4-BE49-F238E27FC236}">
                <a16:creationId xmlns:a16="http://schemas.microsoft.com/office/drawing/2014/main" id="{B7B37C84-2251-447F-A8DE-964BE010E43F}"/>
              </a:ext>
            </a:extLst>
          </p:cNvPr>
          <p:cNvSpPr txBox="1"/>
          <p:nvPr/>
        </p:nvSpPr>
        <p:spPr>
          <a:xfrm>
            <a:off x="9256859" y="2631043"/>
            <a:ext cx="103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{ “k”: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2 }</a:t>
            </a:r>
            <a:endParaRPr lang="zh-CN" altLang="en-US" dirty="0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89DB3F97-D493-4ED3-80CF-3A5D591E1B1B}"/>
              </a:ext>
            </a:extLst>
          </p:cNvPr>
          <p:cNvSpPr txBox="1"/>
          <p:nvPr/>
        </p:nvSpPr>
        <p:spPr>
          <a:xfrm>
            <a:off x="8277223" y="4867275"/>
            <a:ext cx="103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{ “k”: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2 }</a:t>
            </a:r>
            <a:endParaRPr lang="zh-CN" altLang="en-US" dirty="0"/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BE1EA82E-3270-45E1-B582-30AC15CBC0D8}"/>
              </a:ext>
            </a:extLst>
          </p:cNvPr>
          <p:cNvSpPr txBox="1"/>
          <p:nvPr/>
        </p:nvSpPr>
        <p:spPr>
          <a:xfrm>
            <a:off x="10152209" y="4867275"/>
            <a:ext cx="1038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{ “k”: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2 }</a:t>
            </a:r>
            <a:endParaRPr lang="zh-CN" altLang="en-US" dirty="0"/>
          </a:p>
        </p:txBody>
      </p:sp>
      <p:cxnSp>
        <p:nvCxnSpPr>
          <p:cNvPr id="117" name="直接连接符 116">
            <a:extLst>
              <a:ext uri="{FF2B5EF4-FFF2-40B4-BE49-F238E27FC236}">
                <a16:creationId xmlns:a16="http://schemas.microsoft.com/office/drawing/2014/main" id="{293C10C9-1EE3-4343-8E20-DFF609C818B6}"/>
              </a:ext>
            </a:extLst>
          </p:cNvPr>
          <p:cNvCxnSpPr>
            <a:cxnSpLocks/>
            <a:endCxn id="119" idx="1"/>
          </p:cNvCxnSpPr>
          <p:nvPr/>
        </p:nvCxnSpPr>
        <p:spPr>
          <a:xfrm>
            <a:off x="9097540" y="4619625"/>
            <a:ext cx="1329457" cy="0"/>
          </a:xfrm>
          <a:prstGeom prst="line">
            <a:avLst/>
          </a:prstGeom>
          <a:ln w="19050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连接符 117">
            <a:extLst>
              <a:ext uri="{FF2B5EF4-FFF2-40B4-BE49-F238E27FC236}">
                <a16:creationId xmlns:a16="http://schemas.microsoft.com/office/drawing/2014/main" id="{1A886846-D34A-4F4F-A2FA-AFE2A40858B7}"/>
              </a:ext>
            </a:extLst>
          </p:cNvPr>
          <p:cNvCxnSpPr>
            <a:cxnSpLocks/>
          </p:cNvCxnSpPr>
          <p:nvPr/>
        </p:nvCxnSpPr>
        <p:spPr>
          <a:xfrm flipH="1">
            <a:off x="8849890" y="3333750"/>
            <a:ext cx="678432" cy="1038225"/>
          </a:xfrm>
          <a:prstGeom prst="line">
            <a:avLst/>
          </a:prstGeom>
          <a:ln w="1905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9" name="图片 118">
            <a:extLst>
              <a:ext uri="{FF2B5EF4-FFF2-40B4-BE49-F238E27FC236}">
                <a16:creationId xmlns:a16="http://schemas.microsoft.com/office/drawing/2014/main" id="{B9F4A9A3-CB49-4861-9B3A-BE0AAAFF41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6997" y="4371975"/>
            <a:ext cx="495300" cy="495300"/>
          </a:xfrm>
          <a:prstGeom prst="rect">
            <a:avLst/>
          </a:prstGeom>
        </p:spPr>
      </p:pic>
      <p:sp>
        <p:nvSpPr>
          <p:cNvPr id="120" name="文本框 119">
            <a:extLst>
              <a:ext uri="{FF2B5EF4-FFF2-40B4-BE49-F238E27FC236}">
                <a16:creationId xmlns:a16="http://schemas.microsoft.com/office/drawing/2014/main" id="{095176E8-4F0E-43FA-AF53-9CC165264CA1}"/>
              </a:ext>
            </a:extLst>
          </p:cNvPr>
          <p:cNvSpPr txBox="1"/>
          <p:nvPr/>
        </p:nvSpPr>
        <p:spPr>
          <a:xfrm>
            <a:off x="9538511" y="3986446"/>
            <a:ext cx="2265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从节点（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Secondary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E0084AA0-4A6E-4D47-891C-A3B51F7785E3}"/>
              </a:ext>
            </a:extLst>
          </p:cNvPr>
          <p:cNvSpPr txBox="1"/>
          <p:nvPr/>
        </p:nvSpPr>
        <p:spPr>
          <a:xfrm>
            <a:off x="7770926" y="5215881"/>
            <a:ext cx="2050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主节点（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Primary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123" name="图片 122">
            <a:extLst>
              <a:ext uri="{FF2B5EF4-FFF2-40B4-BE49-F238E27FC236}">
                <a16:creationId xmlns:a16="http://schemas.microsoft.com/office/drawing/2014/main" id="{9934B63C-C836-4A3E-B036-624D6A1A2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2240" y="4371975"/>
            <a:ext cx="495300" cy="495300"/>
          </a:xfrm>
          <a:prstGeom prst="rect">
            <a:avLst/>
          </a:prstGeom>
        </p:spPr>
      </p:pic>
      <p:pic>
        <p:nvPicPr>
          <p:cNvPr id="124" name="图片 123">
            <a:extLst>
              <a:ext uri="{FF2B5EF4-FFF2-40B4-BE49-F238E27FC236}">
                <a16:creationId xmlns:a16="http://schemas.microsoft.com/office/drawing/2014/main" id="{53A2E643-D609-4627-8603-F311078EB5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4683" y="3095858"/>
            <a:ext cx="495300" cy="495300"/>
          </a:xfrm>
          <a:prstGeom prst="rect">
            <a:avLst/>
          </a:prstGeom>
        </p:spPr>
      </p:pic>
      <p:sp>
        <p:nvSpPr>
          <p:cNvPr id="125" name="文本框 124">
            <a:extLst>
              <a:ext uri="{FF2B5EF4-FFF2-40B4-BE49-F238E27FC236}">
                <a16:creationId xmlns:a16="http://schemas.microsoft.com/office/drawing/2014/main" id="{59D1BE9E-35EB-40D0-A6EF-1DD5DEBA9431}"/>
              </a:ext>
            </a:extLst>
          </p:cNvPr>
          <p:cNvSpPr txBox="1"/>
          <p:nvPr/>
        </p:nvSpPr>
        <p:spPr>
          <a:xfrm>
            <a:off x="10029146" y="3158842"/>
            <a:ext cx="2265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从节点（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Secondary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126" name="箭头: 右 125">
            <a:extLst>
              <a:ext uri="{FF2B5EF4-FFF2-40B4-BE49-F238E27FC236}">
                <a16:creationId xmlns:a16="http://schemas.microsoft.com/office/drawing/2014/main" id="{2E10608D-BDA8-4C64-BAE5-C60319591C86}"/>
              </a:ext>
            </a:extLst>
          </p:cNvPr>
          <p:cNvSpPr/>
          <p:nvPr/>
        </p:nvSpPr>
        <p:spPr>
          <a:xfrm>
            <a:off x="3733457" y="3722598"/>
            <a:ext cx="745633" cy="36933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箭头: 右 126">
            <a:extLst>
              <a:ext uri="{FF2B5EF4-FFF2-40B4-BE49-F238E27FC236}">
                <a16:creationId xmlns:a16="http://schemas.microsoft.com/office/drawing/2014/main" id="{99D41FD4-B4FC-43C9-94C7-55E41CEA62C6}"/>
              </a:ext>
            </a:extLst>
          </p:cNvPr>
          <p:cNvSpPr/>
          <p:nvPr/>
        </p:nvSpPr>
        <p:spPr>
          <a:xfrm>
            <a:off x="7726346" y="3719035"/>
            <a:ext cx="745633" cy="369332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文本框 127">
            <a:extLst>
              <a:ext uri="{FF2B5EF4-FFF2-40B4-BE49-F238E27FC236}">
                <a16:creationId xmlns:a16="http://schemas.microsoft.com/office/drawing/2014/main" id="{F1745683-E20E-4930-987C-F9FB92016A98}"/>
              </a:ext>
            </a:extLst>
          </p:cNvPr>
          <p:cNvSpPr txBox="1"/>
          <p:nvPr/>
        </p:nvSpPr>
        <p:spPr>
          <a:xfrm>
            <a:off x="817510" y="2056924"/>
            <a:ext cx="36615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通过主从复制的方式，实现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CFT</a:t>
            </a:r>
            <a:endParaRPr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CC47BFF7-8D66-4642-A0FD-0FB996002BE0}"/>
              </a:ext>
            </a:extLst>
          </p:cNvPr>
          <p:cNvSpPr/>
          <p:nvPr/>
        </p:nvSpPr>
        <p:spPr>
          <a:xfrm>
            <a:off x="4535300" y="6081308"/>
            <a:ext cx="2398900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>
            <a:solidFill>
              <a:srgbClr val="002060"/>
            </a:solidFill>
            <a:prstDash val="dash"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zh-CN" altLang="en-US" dirty="0">
                <a:solidFill>
                  <a:srgbClr val="002060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到底复制什么信息？</a:t>
            </a:r>
          </a:p>
        </p:txBody>
      </p:sp>
      <p:pic>
        <p:nvPicPr>
          <p:cNvPr id="130" name="图片 129">
            <a:extLst>
              <a:ext uri="{FF2B5EF4-FFF2-40B4-BE49-F238E27FC236}">
                <a16:creationId xmlns:a16="http://schemas.microsoft.com/office/drawing/2014/main" id="{935B36B9-087C-4263-936E-D5EBA5D326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8996" y="5965143"/>
            <a:ext cx="601662" cy="60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479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4" grpId="0"/>
      <p:bldP spid="25" grpId="0"/>
      <p:bldP spid="27" grpId="0"/>
      <p:bldP spid="39" grpId="0"/>
      <p:bldP spid="58" grpId="0"/>
      <p:bldP spid="59" grpId="0"/>
      <p:bldP spid="4" grpId="0" animBg="1"/>
      <p:bldP spid="71" grpId="0"/>
      <p:bldP spid="76" grpId="0"/>
      <p:bldP spid="77" grpId="0"/>
      <p:bldP spid="105" grpId="0"/>
      <p:bldP spid="106" grpId="0"/>
      <p:bldP spid="111" grpId="0" animBg="1"/>
      <p:bldP spid="114" grpId="0"/>
      <p:bldP spid="115" grpId="0"/>
      <p:bldP spid="116" grpId="0"/>
      <p:bldP spid="120" grpId="0"/>
      <p:bldP spid="121" grpId="0"/>
      <p:bldP spid="125" grpId="0"/>
      <p:bldP spid="126" grpId="0" animBg="1"/>
      <p:bldP spid="127" grpId="0" animBg="1"/>
      <p:bldP spid="128" grpId="0"/>
      <p:bldP spid="12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状态迁移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&amp;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复制状态机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>
                <a:latin typeface="Garamond" panose="02020404030301010803" pitchFamily="18" charset="0"/>
                <a:ea typeface="微软雅黑" panose="020B0503020204020204" pitchFamily="34" charset="-122"/>
              </a:rPr>
              <a:t>18</a:t>
            </a:fld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074C939-6B38-49DF-8A26-D02EBB9F1B70}"/>
              </a:ext>
            </a:extLst>
          </p:cNvPr>
          <p:cNvSpPr txBox="1"/>
          <p:nvPr/>
        </p:nvSpPr>
        <p:spPr>
          <a:xfrm>
            <a:off x="352425" y="1507093"/>
            <a:ext cx="368600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状态迁移（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State Transfer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73580814-C068-428A-BC23-01464274A01C}"/>
              </a:ext>
            </a:extLst>
          </p:cNvPr>
          <p:cNvSpPr txBox="1"/>
          <p:nvPr/>
        </p:nvSpPr>
        <p:spPr>
          <a:xfrm>
            <a:off x="6186042" y="1507093"/>
            <a:ext cx="518834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复制状态机（</a:t>
            </a:r>
            <a:r>
              <a:rPr lang="en-US" altLang="zh-CN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Replicated State Machine</a:t>
            </a:r>
            <a:r>
              <a:rPr lang="zh-CN" altLang="en-US" sz="2200" dirty="0">
                <a:latin typeface="Garamond" panose="02020404030301010803" pitchFamily="18" charset="0"/>
                <a:ea typeface="微软雅黑" panose="020B0503020204020204" pitchFamily="34" charset="-122"/>
              </a:rPr>
              <a:t>）</a:t>
            </a:r>
          </a:p>
        </p:txBody>
      </p:sp>
      <p:pic>
        <p:nvPicPr>
          <p:cNvPr id="29" name="图片 28">
            <a:extLst>
              <a:ext uri="{FF2B5EF4-FFF2-40B4-BE49-F238E27FC236}">
                <a16:creationId xmlns:a16="http://schemas.microsoft.com/office/drawing/2014/main" id="{EFF12501-CB0C-414C-AD18-26D6361D7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8553" y="3555659"/>
            <a:ext cx="495300" cy="495300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50E57248-BC44-47D2-82A9-3B073E0E893C}"/>
              </a:ext>
            </a:extLst>
          </p:cNvPr>
          <p:cNvSpPr txBox="1"/>
          <p:nvPr/>
        </p:nvSpPr>
        <p:spPr>
          <a:xfrm>
            <a:off x="1535831" y="3111200"/>
            <a:ext cx="2408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{ “k”: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1,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“q”: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2,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“v”: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3 }</a:t>
            </a:r>
            <a:endParaRPr lang="zh-CN" altLang="en-US" dirty="0"/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149B034-429D-40FD-BF25-F2A72CCA19C3}"/>
              </a:ext>
            </a:extLst>
          </p:cNvPr>
          <p:cNvCxnSpPr>
            <a:cxnSpLocks/>
            <a:stCxn id="29" idx="1"/>
          </p:cNvCxnSpPr>
          <p:nvPr/>
        </p:nvCxnSpPr>
        <p:spPr>
          <a:xfrm flipH="1">
            <a:off x="1826567" y="3803309"/>
            <a:ext cx="731986" cy="1038225"/>
          </a:xfrm>
          <a:prstGeom prst="line">
            <a:avLst/>
          </a:prstGeom>
          <a:ln w="19050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E5DA2779-5D78-43F0-B5DD-A81B29E3DC87}"/>
              </a:ext>
            </a:extLst>
          </p:cNvPr>
          <p:cNvCxnSpPr>
            <a:cxnSpLocks/>
            <a:endCxn id="29" idx="3"/>
          </p:cNvCxnSpPr>
          <p:nvPr/>
        </p:nvCxnSpPr>
        <p:spPr>
          <a:xfrm flipH="1" flipV="1">
            <a:off x="3053853" y="3803309"/>
            <a:ext cx="647700" cy="1038225"/>
          </a:xfrm>
          <a:prstGeom prst="line">
            <a:avLst/>
          </a:prstGeom>
          <a:ln w="1905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3BEC9BDF-8F7A-4BF7-99CD-8296CBB1680C}"/>
              </a:ext>
            </a:extLst>
          </p:cNvPr>
          <p:cNvSpPr txBox="1"/>
          <p:nvPr/>
        </p:nvSpPr>
        <p:spPr>
          <a:xfrm>
            <a:off x="2210062" y="440124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异步网络</a:t>
            </a:r>
          </a:p>
        </p:txBody>
      </p:sp>
      <p:pic>
        <p:nvPicPr>
          <p:cNvPr id="38" name="图片 37">
            <a:extLst>
              <a:ext uri="{FF2B5EF4-FFF2-40B4-BE49-F238E27FC236}">
                <a16:creationId xmlns:a16="http://schemas.microsoft.com/office/drawing/2014/main" id="{75A69CA5-4E47-4885-9C31-9453DA7425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2471" y="4865346"/>
            <a:ext cx="495300" cy="495300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9631A2A4-5553-480C-A5FB-415D6E09D2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7228" y="4841534"/>
            <a:ext cx="495300" cy="495300"/>
          </a:xfrm>
          <a:prstGeom prst="rect">
            <a:avLst/>
          </a:prstGeom>
        </p:spPr>
      </p:pic>
      <p:sp>
        <p:nvSpPr>
          <p:cNvPr id="44" name="文本框 43">
            <a:extLst>
              <a:ext uri="{FF2B5EF4-FFF2-40B4-BE49-F238E27FC236}">
                <a16:creationId xmlns:a16="http://schemas.microsoft.com/office/drawing/2014/main" id="{FE2229B1-3751-4AF9-A9A6-87B562BDEA80}"/>
              </a:ext>
            </a:extLst>
          </p:cNvPr>
          <p:cNvSpPr txBox="1"/>
          <p:nvPr/>
        </p:nvSpPr>
        <p:spPr>
          <a:xfrm>
            <a:off x="3006072" y="3559591"/>
            <a:ext cx="2183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主节点（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Primary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FF3D89AA-DBA5-4880-A02B-E996F0159366}"/>
              </a:ext>
            </a:extLst>
          </p:cNvPr>
          <p:cNvSpPr txBox="1"/>
          <p:nvPr/>
        </p:nvSpPr>
        <p:spPr>
          <a:xfrm>
            <a:off x="1673393" y="5713560"/>
            <a:ext cx="2265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从节点（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Secondary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）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75DA9E57-2C6B-4D29-8071-B81B98D8ED45}"/>
              </a:ext>
            </a:extLst>
          </p:cNvPr>
          <p:cNvSpPr txBox="1"/>
          <p:nvPr/>
        </p:nvSpPr>
        <p:spPr>
          <a:xfrm>
            <a:off x="-41423" y="4077440"/>
            <a:ext cx="22760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{ “k”: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1,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“q”: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2,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“v”: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3 }</a:t>
            </a:r>
            <a:endParaRPr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C64035A3-C200-4236-AF1A-8B121897C3EB}"/>
              </a:ext>
            </a:extLst>
          </p:cNvPr>
          <p:cNvSpPr txBox="1"/>
          <p:nvPr/>
        </p:nvSpPr>
        <p:spPr>
          <a:xfrm>
            <a:off x="303559" y="2422264"/>
            <a:ext cx="41665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主节点将全部状态信息复制到从节点</a:t>
            </a: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95B3660C-69CB-4402-B1AE-548454AA983F}"/>
              </a:ext>
            </a:extLst>
          </p:cNvPr>
          <p:cNvSpPr txBox="1"/>
          <p:nvPr/>
        </p:nvSpPr>
        <p:spPr>
          <a:xfrm>
            <a:off x="3288437" y="4064866"/>
            <a:ext cx="23632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{ “k”: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1,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“q”: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2,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“v”: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3 }</a:t>
            </a:r>
            <a:endParaRPr lang="zh-CN" altLang="en-US" dirty="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BFC308DE-DB97-4F3B-99A2-3C5CE145403A}"/>
              </a:ext>
            </a:extLst>
          </p:cNvPr>
          <p:cNvSpPr txBox="1"/>
          <p:nvPr/>
        </p:nvSpPr>
        <p:spPr>
          <a:xfrm>
            <a:off x="359633" y="5379114"/>
            <a:ext cx="2408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{ “k”: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0,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“q”: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2,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“v”: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3 }</a:t>
            </a:r>
            <a:endParaRPr lang="zh-CN" altLang="en-US" dirty="0"/>
          </a:p>
        </p:txBody>
      </p:sp>
      <p:cxnSp>
        <p:nvCxnSpPr>
          <p:cNvPr id="61" name="直接连接符 60">
            <a:extLst>
              <a:ext uri="{FF2B5EF4-FFF2-40B4-BE49-F238E27FC236}">
                <a16:creationId xmlns:a16="http://schemas.microsoft.com/office/drawing/2014/main" id="{A7E1A2CD-47FE-4DE1-962A-28679EE1088E}"/>
              </a:ext>
            </a:extLst>
          </p:cNvPr>
          <p:cNvCxnSpPr>
            <a:cxnSpLocks/>
          </p:cNvCxnSpPr>
          <p:nvPr/>
        </p:nvCxnSpPr>
        <p:spPr>
          <a:xfrm>
            <a:off x="6096000" y="1507093"/>
            <a:ext cx="0" cy="5214382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>
            <a:extLst>
              <a:ext uri="{FF2B5EF4-FFF2-40B4-BE49-F238E27FC236}">
                <a16:creationId xmlns:a16="http://schemas.microsoft.com/office/drawing/2014/main" id="{0DF6324E-6514-4F37-BDB7-57FC8FE5FDC1}"/>
              </a:ext>
            </a:extLst>
          </p:cNvPr>
          <p:cNvSpPr txBox="1"/>
          <p:nvPr/>
        </p:nvSpPr>
        <p:spPr>
          <a:xfrm>
            <a:off x="6186042" y="2426218"/>
            <a:ext cx="46281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主节点将所有对</a:t>
            </a:r>
            <a:r>
              <a:rPr lang="zh-CN" altLang="en-US" b="1" dirty="0">
                <a:solidFill>
                  <a:srgbClr val="A40A57"/>
                </a:solidFill>
                <a:latin typeface="Garamond" panose="02020404030301010803" pitchFamily="18" charset="0"/>
                <a:ea typeface="微软雅黑" panose="020B0503020204020204" pitchFamily="34" charset="-122"/>
              </a:rPr>
              <a:t>状态的操作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复制到从节点</a:t>
            </a: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396B43E6-82B6-43E0-9EC3-6E0306B4FAB0}"/>
              </a:ext>
            </a:extLst>
          </p:cNvPr>
          <p:cNvSpPr txBox="1"/>
          <p:nvPr/>
        </p:nvSpPr>
        <p:spPr>
          <a:xfrm>
            <a:off x="2668641" y="5379114"/>
            <a:ext cx="2408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{ “k”: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0,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“q”: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2,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“v”: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3 }</a:t>
            </a:r>
            <a:endParaRPr lang="zh-CN" altLang="en-US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9935CC89-1736-4A63-956A-DF51B5523FD1}"/>
              </a:ext>
            </a:extLst>
          </p:cNvPr>
          <p:cNvSpPr txBox="1"/>
          <p:nvPr/>
        </p:nvSpPr>
        <p:spPr>
          <a:xfrm>
            <a:off x="6173084" y="2009480"/>
            <a:ext cx="4856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初始状态：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{ “k”: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0,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“q”: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2,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“v”: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3 }</a:t>
            </a:r>
            <a:endParaRPr lang="zh-CN" altLang="en-US" dirty="0"/>
          </a:p>
        </p:txBody>
      </p:sp>
      <p:pic>
        <p:nvPicPr>
          <p:cNvPr id="65" name="图片 64">
            <a:extLst>
              <a:ext uri="{FF2B5EF4-FFF2-40B4-BE49-F238E27FC236}">
                <a16:creationId xmlns:a16="http://schemas.microsoft.com/office/drawing/2014/main" id="{C58C7F7B-DDC0-46BE-943C-ED6841AA4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3942" y="3462552"/>
            <a:ext cx="495300" cy="495300"/>
          </a:xfrm>
          <a:prstGeom prst="rect">
            <a:avLst/>
          </a:prstGeom>
        </p:spPr>
      </p:pic>
      <p:sp>
        <p:nvSpPr>
          <p:cNvPr id="66" name="文本框 65">
            <a:extLst>
              <a:ext uri="{FF2B5EF4-FFF2-40B4-BE49-F238E27FC236}">
                <a16:creationId xmlns:a16="http://schemas.microsoft.com/office/drawing/2014/main" id="{7C602C56-C3E7-47ED-AF13-7F82C587B5AB}"/>
              </a:ext>
            </a:extLst>
          </p:cNvPr>
          <p:cNvSpPr txBox="1"/>
          <p:nvPr/>
        </p:nvSpPr>
        <p:spPr>
          <a:xfrm>
            <a:off x="7851220" y="3018093"/>
            <a:ext cx="2408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{ “k”: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1,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“q”: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2,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“v”: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3 }</a:t>
            </a:r>
            <a:endParaRPr lang="zh-CN" altLang="en-US" dirty="0"/>
          </a:p>
        </p:txBody>
      </p:sp>
      <p:cxnSp>
        <p:nvCxnSpPr>
          <p:cNvPr id="67" name="直接连接符 66">
            <a:extLst>
              <a:ext uri="{FF2B5EF4-FFF2-40B4-BE49-F238E27FC236}">
                <a16:creationId xmlns:a16="http://schemas.microsoft.com/office/drawing/2014/main" id="{8F7BB5C5-23A0-4893-960A-794A07FB8235}"/>
              </a:ext>
            </a:extLst>
          </p:cNvPr>
          <p:cNvCxnSpPr>
            <a:cxnSpLocks/>
            <a:stCxn id="65" idx="1"/>
          </p:cNvCxnSpPr>
          <p:nvPr/>
        </p:nvCxnSpPr>
        <p:spPr>
          <a:xfrm flipH="1">
            <a:off x="8141956" y="3710202"/>
            <a:ext cx="731986" cy="1038225"/>
          </a:xfrm>
          <a:prstGeom prst="line">
            <a:avLst/>
          </a:prstGeom>
          <a:ln w="19050">
            <a:solidFill>
              <a:srgbClr val="0000FF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BA758D58-8C06-44AD-815A-49CAD1BCE261}"/>
              </a:ext>
            </a:extLst>
          </p:cNvPr>
          <p:cNvCxnSpPr>
            <a:cxnSpLocks/>
            <a:endCxn id="65" idx="3"/>
          </p:cNvCxnSpPr>
          <p:nvPr/>
        </p:nvCxnSpPr>
        <p:spPr>
          <a:xfrm flipH="1" flipV="1">
            <a:off x="9369242" y="3710202"/>
            <a:ext cx="647700" cy="1038225"/>
          </a:xfrm>
          <a:prstGeom prst="line">
            <a:avLst/>
          </a:prstGeom>
          <a:ln w="19050">
            <a:solidFill>
              <a:srgbClr val="0000FF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CD138A25-A540-43DE-9F8E-E848ED16DC4E}"/>
              </a:ext>
            </a:extLst>
          </p:cNvPr>
          <p:cNvSpPr txBox="1"/>
          <p:nvPr/>
        </p:nvSpPr>
        <p:spPr>
          <a:xfrm>
            <a:off x="8525451" y="430813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异步网络</a:t>
            </a:r>
          </a:p>
        </p:txBody>
      </p:sp>
      <p:pic>
        <p:nvPicPr>
          <p:cNvPr id="70" name="图片 69">
            <a:extLst>
              <a:ext uri="{FF2B5EF4-FFF2-40B4-BE49-F238E27FC236}">
                <a16:creationId xmlns:a16="http://schemas.microsoft.com/office/drawing/2014/main" id="{09084DDE-F043-46F5-B448-63374CB402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7860" y="4772239"/>
            <a:ext cx="495300" cy="495300"/>
          </a:xfrm>
          <a:prstGeom prst="rect">
            <a:avLst/>
          </a:prstGeom>
        </p:spPr>
      </p:pic>
      <p:pic>
        <p:nvPicPr>
          <p:cNvPr id="71" name="图片 70">
            <a:extLst>
              <a:ext uri="{FF2B5EF4-FFF2-40B4-BE49-F238E27FC236}">
                <a16:creationId xmlns:a16="http://schemas.microsoft.com/office/drawing/2014/main" id="{4F748B67-6F8C-40FB-A96D-9E4DCA3F86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72617" y="4748427"/>
            <a:ext cx="495300" cy="495300"/>
          </a:xfrm>
          <a:prstGeom prst="rect">
            <a:avLst/>
          </a:prstGeom>
        </p:spPr>
      </p:pic>
      <p:sp>
        <p:nvSpPr>
          <p:cNvPr id="73" name="文本框 72">
            <a:extLst>
              <a:ext uri="{FF2B5EF4-FFF2-40B4-BE49-F238E27FC236}">
                <a16:creationId xmlns:a16="http://schemas.microsoft.com/office/drawing/2014/main" id="{F84AF2D7-3666-48EC-B203-AB6C0C9A972E}"/>
              </a:ext>
            </a:extLst>
          </p:cNvPr>
          <p:cNvSpPr txBox="1"/>
          <p:nvPr/>
        </p:nvSpPr>
        <p:spPr>
          <a:xfrm>
            <a:off x="6743836" y="5298428"/>
            <a:ext cx="2408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{ “k”: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0,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“q”: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2,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“v”: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3 }</a:t>
            </a:r>
            <a:endParaRPr lang="zh-CN" altLang="en-US" dirty="0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43B02A96-D8C5-4E87-A054-EE1F811B4729}"/>
              </a:ext>
            </a:extLst>
          </p:cNvPr>
          <p:cNvSpPr txBox="1"/>
          <p:nvPr/>
        </p:nvSpPr>
        <p:spPr>
          <a:xfrm>
            <a:off x="8984072" y="5298428"/>
            <a:ext cx="2408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{ “k”: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0,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“q”: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2,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“v”: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3 }</a:t>
            </a:r>
            <a:endParaRPr lang="zh-CN" altLang="en-US" dirty="0"/>
          </a:p>
        </p:txBody>
      </p:sp>
      <p:pic>
        <p:nvPicPr>
          <p:cNvPr id="75" name="图片 74">
            <a:extLst>
              <a:ext uri="{FF2B5EF4-FFF2-40B4-BE49-F238E27FC236}">
                <a16:creationId xmlns:a16="http://schemas.microsoft.com/office/drawing/2014/main" id="{08BBF703-C88D-4D58-8C08-AB5D7CCD44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5390" y="3530133"/>
            <a:ext cx="447675" cy="447675"/>
          </a:xfrm>
          <a:prstGeom prst="rect">
            <a:avLst/>
          </a:prstGeom>
        </p:spPr>
      </p:pic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174682DF-8911-47F9-98F5-BD0526433B3A}"/>
              </a:ext>
            </a:extLst>
          </p:cNvPr>
          <p:cNvCxnSpPr>
            <a:stCxn id="75" idx="3"/>
          </p:cNvCxnSpPr>
          <p:nvPr/>
        </p:nvCxnSpPr>
        <p:spPr>
          <a:xfrm>
            <a:off x="1573065" y="3753971"/>
            <a:ext cx="952946" cy="0"/>
          </a:xfrm>
          <a:prstGeom prst="straightConnector1">
            <a:avLst/>
          </a:prstGeom>
          <a:ln w="19050"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本框 77">
            <a:extLst>
              <a:ext uri="{FF2B5EF4-FFF2-40B4-BE49-F238E27FC236}">
                <a16:creationId xmlns:a16="http://schemas.microsoft.com/office/drawing/2014/main" id="{ACE73EEE-2864-48D6-8BC2-7C2A57F83AED}"/>
              </a:ext>
            </a:extLst>
          </p:cNvPr>
          <p:cNvSpPr txBox="1"/>
          <p:nvPr/>
        </p:nvSpPr>
        <p:spPr>
          <a:xfrm>
            <a:off x="303559" y="2040854"/>
            <a:ext cx="4856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初始状态：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{ “k”: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0,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“q”: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2,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“v”: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 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3 }</a:t>
            </a:r>
            <a:endParaRPr lang="zh-CN" altLang="en-US" dirty="0"/>
          </a:p>
        </p:txBody>
      </p:sp>
      <p:pic>
        <p:nvPicPr>
          <p:cNvPr id="79" name="图片 78">
            <a:extLst>
              <a:ext uri="{FF2B5EF4-FFF2-40B4-BE49-F238E27FC236}">
                <a16:creationId xmlns:a16="http://schemas.microsoft.com/office/drawing/2014/main" id="{A6A60500-C77C-4EBA-9947-18F5BA5BE5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79" y="3505193"/>
            <a:ext cx="447675" cy="447675"/>
          </a:xfrm>
          <a:prstGeom prst="rect">
            <a:avLst/>
          </a:prstGeom>
        </p:spPr>
      </p:pic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BE33BF0C-5AD2-4A7D-8252-248CB52AF4DE}"/>
              </a:ext>
            </a:extLst>
          </p:cNvPr>
          <p:cNvCxnSpPr>
            <a:stCxn id="79" idx="3"/>
          </p:cNvCxnSpPr>
          <p:nvPr/>
        </p:nvCxnSpPr>
        <p:spPr>
          <a:xfrm>
            <a:off x="7945754" y="3729031"/>
            <a:ext cx="952946" cy="0"/>
          </a:xfrm>
          <a:prstGeom prst="straightConnector1">
            <a:avLst/>
          </a:prstGeom>
          <a:ln w="19050">
            <a:solidFill>
              <a:srgbClr val="5B307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>
            <a:extLst>
              <a:ext uri="{FF2B5EF4-FFF2-40B4-BE49-F238E27FC236}">
                <a16:creationId xmlns:a16="http://schemas.microsoft.com/office/drawing/2014/main" id="{F8CFBCC2-3CF9-4542-93DD-08279B96A0F2}"/>
              </a:ext>
            </a:extLst>
          </p:cNvPr>
          <p:cNvSpPr txBox="1"/>
          <p:nvPr/>
        </p:nvSpPr>
        <p:spPr>
          <a:xfrm>
            <a:off x="6380250" y="3526906"/>
            <a:ext cx="11265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SET k = 1</a:t>
            </a:r>
            <a:endParaRPr lang="zh-CN" altLang="en-US" dirty="0"/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5126F3E1-5245-47F6-A0DD-2CBA6D990A0D}"/>
              </a:ext>
            </a:extLst>
          </p:cNvPr>
          <p:cNvSpPr txBox="1"/>
          <p:nvPr/>
        </p:nvSpPr>
        <p:spPr>
          <a:xfrm>
            <a:off x="7277647" y="4117849"/>
            <a:ext cx="11265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SET k = 1</a:t>
            </a:r>
            <a:endParaRPr lang="zh-CN" altLang="en-US" dirty="0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CBF563A4-DCB5-4337-B761-9268E51656B4}"/>
              </a:ext>
            </a:extLst>
          </p:cNvPr>
          <p:cNvSpPr txBox="1"/>
          <p:nvPr/>
        </p:nvSpPr>
        <p:spPr>
          <a:xfrm>
            <a:off x="9738251" y="4117849"/>
            <a:ext cx="11265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SET k = 1</a:t>
            </a:r>
            <a:endParaRPr lang="zh-CN" altLang="en-US" dirty="0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A17E720B-2469-405C-BDD7-9B1ACB75CC56}"/>
              </a:ext>
            </a:extLst>
          </p:cNvPr>
          <p:cNvSpPr txBox="1"/>
          <p:nvPr/>
        </p:nvSpPr>
        <p:spPr>
          <a:xfrm>
            <a:off x="66057" y="3585711"/>
            <a:ext cx="11265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SET k = 1</a:t>
            </a:r>
            <a:endParaRPr lang="zh-CN" altLang="en-US" dirty="0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3AC43982-F0B0-464D-886A-FC1EDE5E3202}"/>
              </a:ext>
            </a:extLst>
          </p:cNvPr>
          <p:cNvSpPr txBox="1"/>
          <p:nvPr/>
        </p:nvSpPr>
        <p:spPr>
          <a:xfrm>
            <a:off x="6198887" y="5919390"/>
            <a:ext cx="6157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操作（称作日志，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log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）信息的大小远小于状态信息的大小</a:t>
            </a:r>
          </a:p>
        </p:txBody>
      </p:sp>
    </p:spTree>
    <p:extLst>
      <p:ext uri="{BB962C8B-B14F-4D97-AF65-F5344CB8AC3E}">
        <p14:creationId xmlns:p14="http://schemas.microsoft.com/office/powerpoint/2010/main" val="2321364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8" grpId="0"/>
      <p:bldP spid="30" grpId="0"/>
      <p:bldP spid="36" grpId="0"/>
      <p:bldP spid="44" grpId="0"/>
      <p:bldP spid="45" grpId="0"/>
      <p:bldP spid="47" grpId="0"/>
      <p:bldP spid="49" grpId="0"/>
      <p:bldP spid="53" grpId="0"/>
      <p:bldP spid="60" grpId="0"/>
      <p:bldP spid="62" grpId="0"/>
      <p:bldP spid="63" grpId="0"/>
      <p:bldP spid="64" grpId="0"/>
      <p:bldP spid="66" grpId="0"/>
      <p:bldP spid="69" grpId="0"/>
      <p:bldP spid="73" grpId="0"/>
      <p:bldP spid="74" grpId="0"/>
      <p:bldP spid="78" grpId="0"/>
      <p:bldP spid="81" grpId="0"/>
      <p:bldP spid="83" grpId="0"/>
      <p:bldP spid="84" grpId="0"/>
      <p:bldP spid="85" grpId="0"/>
      <p:bldP spid="8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复制状态机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>
                <a:latin typeface="Garamond" panose="02020404030301010803" pitchFamily="18" charset="0"/>
                <a:ea typeface="微软雅黑" panose="020B0503020204020204" pitchFamily="34" charset="-122"/>
              </a:rPr>
              <a:t>19</a:t>
            </a:fld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ECBAD8A3-C9AF-418E-85CB-93D8BAE155AB}"/>
              </a:ext>
            </a:extLst>
          </p:cNvPr>
          <p:cNvSpPr txBox="1"/>
          <p:nvPr/>
        </p:nvSpPr>
        <p:spPr>
          <a:xfrm>
            <a:off x="420709" y="177851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主节点：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729E2053-15E4-46E4-988B-72D11FE27E74}"/>
              </a:ext>
            </a:extLst>
          </p:cNvPr>
          <p:cNvSpPr/>
          <p:nvPr/>
        </p:nvSpPr>
        <p:spPr>
          <a:xfrm>
            <a:off x="1724025" y="1738018"/>
            <a:ext cx="933450" cy="46938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82759433-09FE-485D-8619-6CC3AD949CCC}"/>
              </a:ext>
            </a:extLst>
          </p:cNvPr>
          <p:cNvSpPr/>
          <p:nvPr/>
        </p:nvSpPr>
        <p:spPr>
          <a:xfrm>
            <a:off x="3419475" y="1738018"/>
            <a:ext cx="933450" cy="46938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B4B6A7B4-3094-45CC-9453-8973F4836940}"/>
              </a:ext>
            </a:extLst>
          </p:cNvPr>
          <p:cNvSpPr/>
          <p:nvPr/>
        </p:nvSpPr>
        <p:spPr>
          <a:xfrm>
            <a:off x="5112813" y="1738018"/>
            <a:ext cx="933450" cy="46938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211F27E6-67C7-4A0C-90DD-B9158F2BF97B}"/>
              </a:ext>
            </a:extLst>
          </p:cNvPr>
          <p:cNvSpPr/>
          <p:nvPr/>
        </p:nvSpPr>
        <p:spPr>
          <a:xfrm>
            <a:off x="6806151" y="1738018"/>
            <a:ext cx="933450" cy="46938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986492E5-3D89-41D9-8EF2-E68CA432B121}"/>
              </a:ext>
            </a:extLst>
          </p:cNvPr>
          <p:cNvSpPr/>
          <p:nvPr/>
        </p:nvSpPr>
        <p:spPr>
          <a:xfrm>
            <a:off x="8499489" y="1745143"/>
            <a:ext cx="933450" cy="46938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5F04B90C-571E-48BA-97E1-7185F5223A2B}"/>
              </a:ext>
            </a:extLst>
          </p:cNvPr>
          <p:cNvSpPr txBox="1"/>
          <p:nvPr/>
        </p:nvSpPr>
        <p:spPr>
          <a:xfrm>
            <a:off x="1724026" y="1778518"/>
            <a:ext cx="933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S0</a:t>
            </a:r>
            <a:endParaRPr lang="zh-CN" altLang="en-US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6787D656-8D9D-4EC9-9AE3-39384414D90E}"/>
              </a:ext>
            </a:extLst>
          </p:cNvPr>
          <p:cNvSpPr txBox="1"/>
          <p:nvPr/>
        </p:nvSpPr>
        <p:spPr>
          <a:xfrm>
            <a:off x="3417363" y="1778518"/>
            <a:ext cx="933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S1</a:t>
            </a:r>
            <a:endParaRPr lang="zh-CN" altLang="en-US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C74678A8-F0AB-4678-882B-31D852D6E668}"/>
              </a:ext>
            </a:extLst>
          </p:cNvPr>
          <p:cNvSpPr txBox="1"/>
          <p:nvPr/>
        </p:nvSpPr>
        <p:spPr>
          <a:xfrm>
            <a:off x="5112813" y="1778518"/>
            <a:ext cx="933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S2</a:t>
            </a:r>
            <a:endParaRPr lang="zh-CN" altLang="en-US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F3CF8C2C-50F8-4E13-871E-D6FFBC87FA98}"/>
              </a:ext>
            </a:extLst>
          </p:cNvPr>
          <p:cNvSpPr txBox="1"/>
          <p:nvPr/>
        </p:nvSpPr>
        <p:spPr>
          <a:xfrm>
            <a:off x="6806151" y="1778518"/>
            <a:ext cx="933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S3</a:t>
            </a:r>
            <a:endParaRPr lang="zh-CN" altLang="en-US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FC79C06D-0715-48AE-BDEA-703347EFD0EC}"/>
              </a:ext>
            </a:extLst>
          </p:cNvPr>
          <p:cNvSpPr txBox="1"/>
          <p:nvPr/>
        </p:nvSpPr>
        <p:spPr>
          <a:xfrm>
            <a:off x="8497377" y="1778518"/>
            <a:ext cx="933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S4</a:t>
            </a:r>
            <a:endParaRPr lang="zh-CN" altLang="en-US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EADED792-EB9D-4BE4-9D15-DEB7A00369FF}"/>
              </a:ext>
            </a:extLst>
          </p:cNvPr>
          <p:cNvSpPr txBox="1"/>
          <p:nvPr/>
        </p:nvSpPr>
        <p:spPr>
          <a:xfrm>
            <a:off x="9492095" y="1788043"/>
            <a:ext cx="93345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… </a:t>
            </a:r>
            <a:endParaRPr lang="zh-CN" altLang="en-US" dirty="0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FB1EDA8D-9B4A-4375-9890-6D1E69FCE79B}"/>
              </a:ext>
            </a:extLst>
          </p:cNvPr>
          <p:cNvCxnSpPr>
            <a:stCxn id="52" idx="3"/>
            <a:endCxn id="54" idx="1"/>
          </p:cNvCxnSpPr>
          <p:nvPr/>
        </p:nvCxnSpPr>
        <p:spPr>
          <a:xfrm>
            <a:off x="2657476" y="1963184"/>
            <a:ext cx="759887" cy="0"/>
          </a:xfrm>
          <a:prstGeom prst="straightConnector1">
            <a:avLst/>
          </a:prstGeom>
          <a:ln w="19050"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箭头连接符 71">
            <a:extLst>
              <a:ext uri="{FF2B5EF4-FFF2-40B4-BE49-F238E27FC236}">
                <a16:creationId xmlns:a16="http://schemas.microsoft.com/office/drawing/2014/main" id="{498E89F1-84B2-4E14-B5F9-C3D7DACDB6BA}"/>
              </a:ext>
            </a:extLst>
          </p:cNvPr>
          <p:cNvCxnSpPr>
            <a:cxnSpLocks/>
            <a:stCxn id="54" idx="3"/>
            <a:endCxn id="55" idx="1"/>
          </p:cNvCxnSpPr>
          <p:nvPr/>
        </p:nvCxnSpPr>
        <p:spPr>
          <a:xfrm>
            <a:off x="4350813" y="1963184"/>
            <a:ext cx="762000" cy="0"/>
          </a:xfrm>
          <a:prstGeom prst="straightConnector1">
            <a:avLst/>
          </a:prstGeom>
          <a:ln w="19050"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CBE640C5-701F-4C13-8EA5-D0960FA7A336}"/>
              </a:ext>
            </a:extLst>
          </p:cNvPr>
          <p:cNvCxnSpPr>
            <a:cxnSpLocks/>
            <a:stCxn id="55" idx="3"/>
            <a:endCxn id="56" idx="1"/>
          </p:cNvCxnSpPr>
          <p:nvPr/>
        </p:nvCxnSpPr>
        <p:spPr>
          <a:xfrm>
            <a:off x="6046263" y="1963184"/>
            <a:ext cx="759888" cy="0"/>
          </a:xfrm>
          <a:prstGeom prst="straightConnector1">
            <a:avLst/>
          </a:prstGeom>
          <a:ln w="19050"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4B297310-BB12-4CC7-9755-CEC53FA567DE}"/>
              </a:ext>
            </a:extLst>
          </p:cNvPr>
          <p:cNvCxnSpPr>
            <a:cxnSpLocks/>
            <a:stCxn id="56" idx="3"/>
            <a:endCxn id="57" idx="1"/>
          </p:cNvCxnSpPr>
          <p:nvPr/>
        </p:nvCxnSpPr>
        <p:spPr>
          <a:xfrm>
            <a:off x="7739601" y="1963184"/>
            <a:ext cx="757776" cy="0"/>
          </a:xfrm>
          <a:prstGeom prst="straightConnector1">
            <a:avLst/>
          </a:prstGeom>
          <a:ln w="19050"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本框 86">
            <a:extLst>
              <a:ext uri="{FF2B5EF4-FFF2-40B4-BE49-F238E27FC236}">
                <a16:creationId xmlns:a16="http://schemas.microsoft.com/office/drawing/2014/main" id="{93F50525-23EF-4C9B-8261-3176C062ABDD}"/>
              </a:ext>
            </a:extLst>
          </p:cNvPr>
          <p:cNvSpPr txBox="1"/>
          <p:nvPr/>
        </p:nvSpPr>
        <p:spPr>
          <a:xfrm>
            <a:off x="2570694" y="1948859"/>
            <a:ext cx="933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OP1</a:t>
            </a:r>
            <a:endParaRPr lang="zh-CN" altLang="en-US" dirty="0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1B049D7D-9260-4D55-95DA-895361B3AA1B}"/>
              </a:ext>
            </a:extLst>
          </p:cNvPr>
          <p:cNvSpPr txBox="1"/>
          <p:nvPr/>
        </p:nvSpPr>
        <p:spPr>
          <a:xfrm>
            <a:off x="4261920" y="1942950"/>
            <a:ext cx="933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OP2</a:t>
            </a:r>
            <a:endParaRPr lang="zh-CN" altLang="en-US" dirty="0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6680A3E5-FFCD-4BD6-ABCC-A14973009821}"/>
              </a:ext>
            </a:extLst>
          </p:cNvPr>
          <p:cNvSpPr txBox="1"/>
          <p:nvPr/>
        </p:nvSpPr>
        <p:spPr>
          <a:xfrm>
            <a:off x="5959482" y="1948859"/>
            <a:ext cx="933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OP3</a:t>
            </a:r>
            <a:endParaRPr lang="zh-CN" altLang="en-US" dirty="0"/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C0BE7871-F05C-4A24-8708-EC1A14CB4DF3}"/>
              </a:ext>
            </a:extLst>
          </p:cNvPr>
          <p:cNvSpPr txBox="1"/>
          <p:nvPr/>
        </p:nvSpPr>
        <p:spPr>
          <a:xfrm>
            <a:off x="7642250" y="1957275"/>
            <a:ext cx="933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OP4</a:t>
            </a:r>
            <a:endParaRPr lang="zh-CN" altLang="en-US" dirty="0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DA7EAC68-2991-44D4-9CE9-F80832762A92}"/>
              </a:ext>
            </a:extLst>
          </p:cNvPr>
          <p:cNvSpPr txBox="1"/>
          <p:nvPr/>
        </p:nvSpPr>
        <p:spPr>
          <a:xfrm>
            <a:off x="375790" y="543264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从节点：</a:t>
            </a:r>
          </a:p>
        </p:txBody>
      </p:sp>
      <p:sp>
        <p:nvSpPr>
          <p:cNvPr id="92" name="文本框 91">
            <a:extLst>
              <a:ext uri="{FF2B5EF4-FFF2-40B4-BE49-F238E27FC236}">
                <a16:creationId xmlns:a16="http://schemas.microsoft.com/office/drawing/2014/main" id="{3EE5E495-45B7-4181-9C08-F95582B87BFB}"/>
              </a:ext>
            </a:extLst>
          </p:cNvPr>
          <p:cNvSpPr txBox="1"/>
          <p:nvPr/>
        </p:nvSpPr>
        <p:spPr>
          <a:xfrm>
            <a:off x="1724025" y="2418241"/>
            <a:ext cx="7706802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状态机</a:t>
            </a:r>
            <a:endParaRPr lang="zh-CN" altLang="en-US" dirty="0"/>
          </a:p>
        </p:txBody>
      </p:sp>
      <p:sp>
        <p:nvSpPr>
          <p:cNvPr id="93" name="矩形: 圆角 92">
            <a:extLst>
              <a:ext uri="{FF2B5EF4-FFF2-40B4-BE49-F238E27FC236}">
                <a16:creationId xmlns:a16="http://schemas.microsoft.com/office/drawing/2014/main" id="{36C0573B-057B-4101-971F-D8AD3796CF82}"/>
              </a:ext>
            </a:extLst>
          </p:cNvPr>
          <p:cNvSpPr/>
          <p:nvPr/>
        </p:nvSpPr>
        <p:spPr>
          <a:xfrm>
            <a:off x="1692279" y="5398792"/>
            <a:ext cx="933450" cy="469382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4C6DF22F-7A98-43C9-93E4-99A0DC0BFA5B}"/>
              </a:ext>
            </a:extLst>
          </p:cNvPr>
          <p:cNvSpPr txBox="1"/>
          <p:nvPr/>
        </p:nvSpPr>
        <p:spPr>
          <a:xfrm>
            <a:off x="1692279" y="5439292"/>
            <a:ext cx="933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S0</a:t>
            </a:r>
            <a:endParaRPr lang="zh-CN" altLang="en-US" dirty="0"/>
          </a:p>
        </p:txBody>
      </p:sp>
      <p:graphicFrame>
        <p:nvGraphicFramePr>
          <p:cNvPr id="23" name="表格 23">
            <a:extLst>
              <a:ext uri="{FF2B5EF4-FFF2-40B4-BE49-F238E27FC236}">
                <a16:creationId xmlns:a16="http://schemas.microsoft.com/office/drawing/2014/main" id="{77BAC946-269B-48B0-83A5-300757FFBE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9938436"/>
              </p:ext>
            </p:extLst>
          </p:nvPr>
        </p:nvGraphicFramePr>
        <p:xfrm>
          <a:off x="7370776" y="2942025"/>
          <a:ext cx="3705226" cy="1854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52613">
                  <a:extLst>
                    <a:ext uri="{9D8B030D-6E8A-4147-A177-3AD203B41FA5}">
                      <a16:colId xmlns:a16="http://schemas.microsoft.com/office/drawing/2014/main" val="1977388577"/>
                    </a:ext>
                  </a:extLst>
                </a:gridCol>
                <a:gridCol w="1852613">
                  <a:extLst>
                    <a:ext uri="{9D8B030D-6E8A-4147-A177-3AD203B41FA5}">
                      <a16:colId xmlns:a16="http://schemas.microsoft.com/office/drawing/2014/main" val="14851128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序号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日志（</a:t>
                      </a:r>
                      <a:r>
                        <a:rPr lang="en-US" altLang="zh-CN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log</a:t>
                      </a:r>
                      <a:r>
                        <a:rPr lang="zh-CN" altLang="en-US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）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5868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Garamond" panose="02020404030301010803" pitchFamily="18" charset="0"/>
                        </a:rPr>
                        <a:t>1</a:t>
                      </a:r>
                      <a:endParaRPr lang="zh-CN" alt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OP1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63515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Garamond" panose="02020404030301010803" pitchFamily="18" charset="0"/>
                        </a:rPr>
                        <a:t>2</a:t>
                      </a:r>
                      <a:endParaRPr lang="zh-CN" alt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OP2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5211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Garamond" panose="02020404030301010803" pitchFamily="18" charset="0"/>
                        </a:rPr>
                        <a:t>3</a:t>
                      </a:r>
                      <a:endParaRPr lang="zh-CN" alt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OP3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6677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Garamond" panose="02020404030301010803" pitchFamily="18" charset="0"/>
                        </a:rPr>
                        <a:t>4</a:t>
                      </a:r>
                      <a:endParaRPr lang="zh-CN" altLang="en-US" dirty="0">
                        <a:latin typeface="Garamond" panose="02020404030301010803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OP4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1527475"/>
                  </a:ext>
                </a:extLst>
              </a:tr>
            </a:tbl>
          </a:graphicData>
        </a:graphic>
      </p:graphicFrame>
      <p:sp>
        <p:nvSpPr>
          <p:cNvPr id="95" name="文本框 94">
            <a:extLst>
              <a:ext uri="{FF2B5EF4-FFF2-40B4-BE49-F238E27FC236}">
                <a16:creationId xmlns:a16="http://schemas.microsoft.com/office/drawing/2014/main" id="{1D2955B2-9E85-43D6-981A-C1E9C2EF114F}"/>
              </a:ext>
            </a:extLst>
          </p:cNvPr>
          <p:cNvSpPr txBox="1"/>
          <p:nvPr/>
        </p:nvSpPr>
        <p:spPr>
          <a:xfrm>
            <a:off x="375795" y="3331890"/>
            <a:ext cx="5583693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日志按照对应的顺序由主节点复制到从节点</a:t>
            </a:r>
            <a:endParaRPr lang="zh-CN" altLang="en-US" dirty="0"/>
          </a:p>
        </p:txBody>
      </p:sp>
      <p:sp>
        <p:nvSpPr>
          <p:cNvPr id="96" name="文本框 95">
            <a:extLst>
              <a:ext uri="{FF2B5EF4-FFF2-40B4-BE49-F238E27FC236}">
                <a16:creationId xmlns:a16="http://schemas.microsoft.com/office/drawing/2014/main" id="{D7D5031A-197B-4EDD-BB4C-269A55077412}"/>
              </a:ext>
            </a:extLst>
          </p:cNvPr>
          <p:cNvSpPr txBox="1"/>
          <p:nvPr/>
        </p:nvSpPr>
        <p:spPr>
          <a:xfrm>
            <a:off x="375794" y="2843231"/>
            <a:ext cx="5583693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日志及序号包含了到达当前状态的必要信息</a:t>
            </a:r>
            <a:endParaRPr lang="zh-CN" altLang="en-US" dirty="0"/>
          </a:p>
        </p:txBody>
      </p:sp>
      <p:sp>
        <p:nvSpPr>
          <p:cNvPr id="97" name="矩形: 圆角 96">
            <a:extLst>
              <a:ext uri="{FF2B5EF4-FFF2-40B4-BE49-F238E27FC236}">
                <a16:creationId xmlns:a16="http://schemas.microsoft.com/office/drawing/2014/main" id="{4AD42402-0789-41C3-9847-90834B599C8A}"/>
              </a:ext>
            </a:extLst>
          </p:cNvPr>
          <p:cNvSpPr/>
          <p:nvPr/>
        </p:nvSpPr>
        <p:spPr>
          <a:xfrm>
            <a:off x="3419475" y="5419298"/>
            <a:ext cx="933450" cy="46938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8" name="矩形: 圆角 97">
            <a:extLst>
              <a:ext uri="{FF2B5EF4-FFF2-40B4-BE49-F238E27FC236}">
                <a16:creationId xmlns:a16="http://schemas.microsoft.com/office/drawing/2014/main" id="{BCF382C1-7D58-41A8-B957-0AF4A8AC5A09}"/>
              </a:ext>
            </a:extLst>
          </p:cNvPr>
          <p:cNvSpPr/>
          <p:nvPr/>
        </p:nvSpPr>
        <p:spPr>
          <a:xfrm>
            <a:off x="5112813" y="5419298"/>
            <a:ext cx="933450" cy="46938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B7911999-AF50-47B5-80F8-094B99D8EE62}"/>
              </a:ext>
            </a:extLst>
          </p:cNvPr>
          <p:cNvSpPr/>
          <p:nvPr/>
        </p:nvSpPr>
        <p:spPr>
          <a:xfrm>
            <a:off x="6806151" y="5419298"/>
            <a:ext cx="933450" cy="46938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497F857E-090C-4894-B146-D27EC544DDE0}"/>
              </a:ext>
            </a:extLst>
          </p:cNvPr>
          <p:cNvSpPr/>
          <p:nvPr/>
        </p:nvSpPr>
        <p:spPr>
          <a:xfrm>
            <a:off x="8499489" y="5426423"/>
            <a:ext cx="933450" cy="46938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ED73AF1E-AC7C-4724-9D5B-B4CB6ACA9315}"/>
              </a:ext>
            </a:extLst>
          </p:cNvPr>
          <p:cNvSpPr txBox="1"/>
          <p:nvPr/>
        </p:nvSpPr>
        <p:spPr>
          <a:xfrm>
            <a:off x="3417363" y="5459798"/>
            <a:ext cx="933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S1</a:t>
            </a:r>
            <a:endParaRPr lang="zh-CN" altLang="en-US" dirty="0"/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id="{F7A9123B-319C-4A3D-9F51-2D354D392FC1}"/>
              </a:ext>
            </a:extLst>
          </p:cNvPr>
          <p:cNvSpPr txBox="1"/>
          <p:nvPr/>
        </p:nvSpPr>
        <p:spPr>
          <a:xfrm>
            <a:off x="5112813" y="5459798"/>
            <a:ext cx="933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S2</a:t>
            </a:r>
            <a:endParaRPr lang="zh-CN" altLang="en-US" dirty="0"/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7AE9F9C0-E417-498F-8DF6-8547CB6E60B9}"/>
              </a:ext>
            </a:extLst>
          </p:cNvPr>
          <p:cNvSpPr txBox="1"/>
          <p:nvPr/>
        </p:nvSpPr>
        <p:spPr>
          <a:xfrm>
            <a:off x="6806151" y="5459798"/>
            <a:ext cx="933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S3</a:t>
            </a:r>
            <a:endParaRPr lang="zh-CN" altLang="en-US" dirty="0"/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B0C2A61D-E2B6-41B2-B1AF-31BCC327D7C9}"/>
              </a:ext>
            </a:extLst>
          </p:cNvPr>
          <p:cNvSpPr txBox="1"/>
          <p:nvPr/>
        </p:nvSpPr>
        <p:spPr>
          <a:xfrm>
            <a:off x="8497377" y="5459798"/>
            <a:ext cx="933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S4</a:t>
            </a:r>
            <a:endParaRPr lang="zh-CN" altLang="en-US" dirty="0"/>
          </a:p>
        </p:txBody>
      </p: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04905269-9EBB-4832-84A8-C3DAAF139108}"/>
              </a:ext>
            </a:extLst>
          </p:cNvPr>
          <p:cNvCxnSpPr>
            <a:endCxn id="101" idx="1"/>
          </p:cNvCxnSpPr>
          <p:nvPr/>
        </p:nvCxnSpPr>
        <p:spPr>
          <a:xfrm>
            <a:off x="2657476" y="5644464"/>
            <a:ext cx="759887" cy="0"/>
          </a:xfrm>
          <a:prstGeom prst="straightConnector1">
            <a:avLst/>
          </a:prstGeom>
          <a:ln w="19050"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15E3A0C1-298E-4666-8BB0-13B38495E099}"/>
              </a:ext>
            </a:extLst>
          </p:cNvPr>
          <p:cNvCxnSpPr>
            <a:cxnSpLocks/>
            <a:stCxn id="101" idx="3"/>
            <a:endCxn id="102" idx="1"/>
          </p:cNvCxnSpPr>
          <p:nvPr/>
        </p:nvCxnSpPr>
        <p:spPr>
          <a:xfrm>
            <a:off x="4350813" y="5644464"/>
            <a:ext cx="762000" cy="0"/>
          </a:xfrm>
          <a:prstGeom prst="straightConnector1">
            <a:avLst/>
          </a:prstGeom>
          <a:ln w="19050"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2FBA047F-172B-4936-ACF8-74C5DBA2E9E0}"/>
              </a:ext>
            </a:extLst>
          </p:cNvPr>
          <p:cNvCxnSpPr>
            <a:cxnSpLocks/>
            <a:stCxn id="102" idx="3"/>
            <a:endCxn id="103" idx="1"/>
          </p:cNvCxnSpPr>
          <p:nvPr/>
        </p:nvCxnSpPr>
        <p:spPr>
          <a:xfrm>
            <a:off x="6046263" y="5644464"/>
            <a:ext cx="759888" cy="0"/>
          </a:xfrm>
          <a:prstGeom prst="straightConnector1">
            <a:avLst/>
          </a:prstGeom>
          <a:ln w="19050"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2483CBFA-EF6E-4E9D-BDEE-CC1CDAEB2213}"/>
              </a:ext>
            </a:extLst>
          </p:cNvPr>
          <p:cNvCxnSpPr>
            <a:cxnSpLocks/>
            <a:stCxn id="103" idx="3"/>
            <a:endCxn id="104" idx="1"/>
          </p:cNvCxnSpPr>
          <p:nvPr/>
        </p:nvCxnSpPr>
        <p:spPr>
          <a:xfrm>
            <a:off x="7739601" y="5644464"/>
            <a:ext cx="757776" cy="0"/>
          </a:xfrm>
          <a:prstGeom prst="straightConnector1">
            <a:avLst/>
          </a:prstGeom>
          <a:ln w="19050">
            <a:solidFill>
              <a:srgbClr val="A40A5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文本框 108">
            <a:extLst>
              <a:ext uri="{FF2B5EF4-FFF2-40B4-BE49-F238E27FC236}">
                <a16:creationId xmlns:a16="http://schemas.microsoft.com/office/drawing/2014/main" id="{C7516CB8-0F2B-4C66-8445-2A2962DEC365}"/>
              </a:ext>
            </a:extLst>
          </p:cNvPr>
          <p:cNvSpPr txBox="1"/>
          <p:nvPr/>
        </p:nvSpPr>
        <p:spPr>
          <a:xfrm>
            <a:off x="2570694" y="5630139"/>
            <a:ext cx="933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OP1</a:t>
            </a:r>
            <a:endParaRPr lang="zh-CN" altLang="en-US" dirty="0"/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87ACBD36-9C3A-422D-A341-CDE9AC3B6519}"/>
              </a:ext>
            </a:extLst>
          </p:cNvPr>
          <p:cNvSpPr txBox="1"/>
          <p:nvPr/>
        </p:nvSpPr>
        <p:spPr>
          <a:xfrm>
            <a:off x="4261920" y="5624230"/>
            <a:ext cx="933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OP2</a:t>
            </a:r>
            <a:endParaRPr lang="zh-CN" altLang="en-US" dirty="0"/>
          </a:p>
        </p:txBody>
      </p:sp>
      <p:sp>
        <p:nvSpPr>
          <p:cNvPr id="111" name="文本框 110">
            <a:extLst>
              <a:ext uri="{FF2B5EF4-FFF2-40B4-BE49-F238E27FC236}">
                <a16:creationId xmlns:a16="http://schemas.microsoft.com/office/drawing/2014/main" id="{8D34AF22-C99E-49FD-83B9-7BF0F603B41C}"/>
              </a:ext>
            </a:extLst>
          </p:cNvPr>
          <p:cNvSpPr txBox="1"/>
          <p:nvPr/>
        </p:nvSpPr>
        <p:spPr>
          <a:xfrm>
            <a:off x="5959482" y="5630139"/>
            <a:ext cx="933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OP3</a:t>
            </a:r>
            <a:endParaRPr lang="zh-CN" altLang="en-US" dirty="0"/>
          </a:p>
        </p:txBody>
      </p:sp>
      <p:sp>
        <p:nvSpPr>
          <p:cNvPr id="112" name="文本框 111">
            <a:extLst>
              <a:ext uri="{FF2B5EF4-FFF2-40B4-BE49-F238E27FC236}">
                <a16:creationId xmlns:a16="http://schemas.microsoft.com/office/drawing/2014/main" id="{1BF83D17-2F59-4CD9-A26C-F71CAF8367FE}"/>
              </a:ext>
            </a:extLst>
          </p:cNvPr>
          <p:cNvSpPr txBox="1"/>
          <p:nvPr/>
        </p:nvSpPr>
        <p:spPr>
          <a:xfrm>
            <a:off x="7642250" y="5638555"/>
            <a:ext cx="933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OP4</a:t>
            </a:r>
            <a:endParaRPr lang="zh-CN" altLang="en-US" dirty="0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D7414D0D-21DF-4964-9DC7-21D3246804EB}"/>
              </a:ext>
            </a:extLst>
          </p:cNvPr>
          <p:cNvSpPr txBox="1"/>
          <p:nvPr/>
        </p:nvSpPr>
        <p:spPr>
          <a:xfrm>
            <a:off x="375793" y="3821846"/>
            <a:ext cx="5583693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从节点从零启动，也可以实现状态同步</a:t>
            </a:r>
            <a:endParaRPr lang="zh-CN" altLang="en-US" dirty="0"/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8E5EBFEB-ED74-499E-82C6-DBB6A7896E14}"/>
              </a:ext>
            </a:extLst>
          </p:cNvPr>
          <p:cNvSpPr txBox="1"/>
          <p:nvPr/>
        </p:nvSpPr>
        <p:spPr>
          <a:xfrm>
            <a:off x="375789" y="4282192"/>
            <a:ext cx="5583693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客户端角度，感受不到差异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0715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" grpId="0" animBg="1"/>
      <p:bldP spid="46" grpId="0" animBg="1"/>
      <p:bldP spid="48" grpId="0" animBg="1"/>
      <p:bldP spid="50" grpId="0" animBg="1"/>
      <p:bldP spid="51" grpId="0" animBg="1"/>
      <p:bldP spid="52" grpId="0"/>
      <p:bldP spid="54" grpId="0"/>
      <p:bldP spid="55" grpId="0"/>
      <p:bldP spid="56" grpId="0"/>
      <p:bldP spid="57" grpId="0"/>
      <p:bldP spid="58" grpId="0"/>
      <p:bldP spid="87" grpId="0"/>
      <p:bldP spid="88" grpId="0"/>
      <p:bldP spid="89" grpId="0"/>
      <p:bldP spid="90" grpId="0"/>
      <p:bldP spid="91" grpId="0"/>
      <p:bldP spid="92" grpId="0"/>
      <p:bldP spid="93" grpId="0" animBg="1"/>
      <p:bldP spid="94" grpId="0"/>
      <p:bldP spid="95" grpId="0"/>
      <p:bldP spid="96" grpId="0"/>
      <p:bldP spid="97" grpId="0" animBg="1"/>
      <p:bldP spid="98" grpId="0" animBg="1"/>
      <p:bldP spid="99" grpId="0" animBg="1"/>
      <p:bldP spid="100" grpId="0" animBg="1"/>
      <p:bldP spid="101" grpId="0"/>
      <p:bldP spid="102" grpId="0"/>
      <p:bldP spid="103" grpId="0"/>
      <p:bldP spid="104" grpId="0"/>
      <p:bldP spid="109" grpId="0"/>
      <p:bldP spid="110" grpId="0"/>
      <p:bldP spid="111" grpId="0"/>
      <p:bldP spid="112" grpId="0"/>
      <p:bldP spid="113" grpId="0"/>
      <p:bldP spid="11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比特币系统</a:t>
            </a:r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>
                <a:latin typeface="Garamond" panose="02020404030301010803" pitchFamily="18" charset="0"/>
                <a:ea typeface="微软雅黑" panose="020B0503020204020204" pitchFamily="34" charset="-122"/>
              </a:rPr>
              <a:t>20</a:t>
            </a:fld>
            <a:endParaRPr kumimoji="1" lang="zh-CN" altLang="en-US" dirty="0">
              <a:latin typeface="Garamond" panose="02020404030301010803" pitchFamily="18" charset="0"/>
              <a:ea typeface="微软雅黑" panose="020B0503020204020204" pitchFamily="34" charset="-122"/>
            </a:endParaRPr>
          </a:p>
        </p:txBody>
      </p:sp>
      <p:graphicFrame>
        <p:nvGraphicFramePr>
          <p:cNvPr id="6" name="表格 8">
            <a:extLst>
              <a:ext uri="{FF2B5EF4-FFF2-40B4-BE49-F238E27FC236}">
                <a16:creationId xmlns:a16="http://schemas.microsoft.com/office/drawing/2014/main" id="{EF27F22E-9646-4232-9B3A-BBF7C94CC8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452676"/>
              </p:ext>
            </p:extLst>
          </p:nvPr>
        </p:nvGraphicFramePr>
        <p:xfrm>
          <a:off x="450850" y="1831502"/>
          <a:ext cx="5418666" cy="4295809"/>
        </p:xfrm>
        <a:graphic>
          <a:graphicData uri="http://schemas.openxmlformats.org/drawingml/2006/table">
            <a:tbl>
              <a:tblPr firstCol="1" bandRow="1">
                <a:tableStyleId>{5C22544A-7EE6-4342-B048-85BDC9FD1C3A}</a:tableStyleId>
              </a:tblPr>
              <a:tblGrid>
                <a:gridCol w="2387600">
                  <a:extLst>
                    <a:ext uri="{9D8B030D-6E8A-4147-A177-3AD203B41FA5}">
                      <a16:colId xmlns:a16="http://schemas.microsoft.com/office/drawing/2014/main" val="3512189815"/>
                    </a:ext>
                  </a:extLst>
                </a:gridCol>
                <a:gridCol w="3031066">
                  <a:extLst>
                    <a:ext uri="{9D8B030D-6E8A-4147-A177-3AD203B41FA5}">
                      <a16:colId xmlns:a16="http://schemas.microsoft.com/office/drawing/2014/main" val="2721134734"/>
                    </a:ext>
                  </a:extLst>
                </a:gridCol>
              </a:tblGrid>
              <a:tr h="613687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分布式系统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去中心化系统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9353299"/>
                  </a:ext>
                </a:extLst>
              </a:tr>
              <a:tr h="613687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BFT / CFT</a:t>
                      </a:r>
                      <a:endParaRPr lang="zh-CN" altLang="en-US" b="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BFT</a:t>
                      </a:r>
                      <a:endParaRPr lang="zh-CN" altLang="en-US" baseline="0" dirty="0"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0562993"/>
                  </a:ext>
                </a:extLst>
              </a:tr>
              <a:tr h="613687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分布式共识机制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 err="1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PoW</a:t>
                      </a:r>
                      <a:endParaRPr lang="zh-CN" altLang="en-US" baseline="0" dirty="0"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1843682"/>
                  </a:ext>
                </a:extLst>
              </a:tr>
              <a:tr h="613687">
                <a:tc>
                  <a:txBody>
                    <a:bodyPr/>
                    <a:lstStyle/>
                    <a:p>
                      <a:pPr algn="ctr"/>
                      <a:r>
                        <a:rPr lang="en-US" altLang="zh-CN" b="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CAP</a:t>
                      </a:r>
                      <a:endParaRPr lang="zh-CN" altLang="en-US" b="0" baseline="0" dirty="0">
                        <a:solidFill>
                          <a:schemeClr val="tx1"/>
                        </a:solidFill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AP</a:t>
                      </a:r>
                      <a:endParaRPr lang="zh-CN" altLang="en-US" baseline="0" dirty="0"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206967"/>
                  </a:ext>
                </a:extLst>
              </a:tr>
              <a:tr h="613687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状态迁移</a:t>
                      </a:r>
                      <a:r>
                        <a:rPr lang="en-US" altLang="zh-CN" b="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lang="zh-CN" altLang="en-US" b="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复制状态机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复制状态机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7907798"/>
                  </a:ext>
                </a:extLst>
              </a:tr>
              <a:tr h="613687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状态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UTXO</a:t>
                      </a:r>
                      <a:endParaRPr lang="zh-CN" altLang="en-US" baseline="0" dirty="0">
                        <a:latin typeface="Garamond" panose="02020404030301010803" pitchFamily="18" charset="0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0356783"/>
                  </a:ext>
                </a:extLst>
              </a:tr>
              <a:tr h="613687">
                <a:tc>
                  <a:txBody>
                    <a:bodyPr/>
                    <a:lstStyle/>
                    <a:p>
                      <a:pPr algn="ctr"/>
                      <a:r>
                        <a:rPr lang="zh-CN" altLang="en-US" b="0" baseline="0" dirty="0">
                          <a:solidFill>
                            <a:schemeClr val="tx1"/>
                          </a:solidFill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操作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baseline="0" dirty="0">
                          <a:latin typeface="Garamond" panose="02020404030301010803" pitchFamily="18" charset="0"/>
                          <a:ea typeface="微软雅黑" panose="020B0503020204020204" pitchFamily="34" charset="-122"/>
                        </a:rPr>
                        <a:t>交易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1718339"/>
                  </a:ext>
                </a:extLst>
              </a:tr>
            </a:tbl>
          </a:graphicData>
        </a:graphic>
      </p:graphicFrame>
      <p:sp>
        <p:nvSpPr>
          <p:cNvPr id="11" name="文本框 10">
            <a:extLst>
              <a:ext uri="{FF2B5EF4-FFF2-40B4-BE49-F238E27FC236}">
                <a16:creationId xmlns:a16="http://schemas.microsoft.com/office/drawing/2014/main" id="{893843CD-F334-47F5-931A-53DB9688FC50}"/>
              </a:ext>
            </a:extLst>
          </p:cNvPr>
          <p:cNvSpPr txBox="1"/>
          <p:nvPr/>
        </p:nvSpPr>
        <p:spPr>
          <a:xfrm>
            <a:off x="5869516" y="1966931"/>
            <a:ext cx="5583693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节点间完全独立，依靠通信进行交互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CC4E7AF-FED6-4EA5-8A6B-531A94C04E67}"/>
              </a:ext>
            </a:extLst>
          </p:cNvPr>
          <p:cNvSpPr txBox="1"/>
          <p:nvPr/>
        </p:nvSpPr>
        <p:spPr>
          <a:xfrm>
            <a:off x="5869515" y="2554221"/>
            <a:ext cx="5583693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能够通过算力抵抗恶意节点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64EE4AA-9C68-4422-B5E8-8C91808C2FB8}"/>
              </a:ext>
            </a:extLst>
          </p:cNvPr>
          <p:cNvSpPr txBox="1"/>
          <p:nvPr/>
        </p:nvSpPr>
        <p:spPr>
          <a:xfrm>
            <a:off x="5869516" y="3146999"/>
            <a:ext cx="5583693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谁先解出</a:t>
            </a:r>
            <a:r>
              <a:rPr lang="en-US" altLang="zh-CN" dirty="0" err="1">
                <a:latin typeface="Garamond" panose="02020404030301010803" pitchFamily="18" charset="0"/>
                <a:ea typeface="微软雅黑" panose="020B0503020204020204" pitchFamily="34" charset="-122"/>
              </a:rPr>
              <a:t>PoW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问题，就以谁为准进行共识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77BD38B-48FB-4C8B-83E2-CB8F71E83DCA}"/>
              </a:ext>
            </a:extLst>
          </p:cNvPr>
          <p:cNvSpPr txBox="1"/>
          <p:nvPr/>
        </p:nvSpPr>
        <p:spPr>
          <a:xfrm>
            <a:off x="5869514" y="3794740"/>
            <a:ext cx="5583693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分布式系统满足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P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，客户端随时都可发起交易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46ED429-F842-4BDC-BB66-14B8FCBECA8B}"/>
              </a:ext>
            </a:extLst>
          </p:cNvPr>
          <p:cNvSpPr txBox="1"/>
          <p:nvPr/>
        </p:nvSpPr>
        <p:spPr>
          <a:xfrm>
            <a:off x="5869513" y="4327067"/>
            <a:ext cx="5583693" cy="17145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交易驱动的状态机，交易来自于最先解决</a:t>
            </a:r>
            <a:r>
              <a:rPr lang="en-US" altLang="zh-CN" dirty="0" err="1">
                <a:latin typeface="Garamond" panose="02020404030301010803" pitchFamily="18" charset="0"/>
                <a:ea typeface="微软雅黑" panose="020B0503020204020204" pitchFamily="34" charset="-122"/>
              </a:rPr>
              <a:t>PoW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的区块中，状态是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UTXO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集合，即，当前系统中有哪些交易的输出还没有花掉。其他节点通过验证区块、执行交易，使得</a:t>
            </a:r>
            <a:r>
              <a:rPr lang="en-US" altLang="zh-CN" dirty="0">
                <a:latin typeface="Garamond" panose="02020404030301010803" pitchFamily="18" charset="0"/>
                <a:ea typeface="微软雅黑" panose="020B0503020204020204" pitchFamily="34" charset="-122"/>
              </a:rPr>
              <a:t>UTXO</a:t>
            </a:r>
            <a:r>
              <a:rPr lang="zh-CN" altLang="en-US" dirty="0">
                <a:latin typeface="Garamond" panose="02020404030301010803" pitchFamily="18" charset="0"/>
                <a:ea typeface="微软雅黑" panose="020B0503020204020204" pitchFamily="34" charset="-122"/>
              </a:rPr>
              <a:t>集合状态发生转移。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9944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</p:bldLst>
  </p:timing>
</p:sld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灰度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3720</TotalTime>
  <Words>2244</Words>
  <Application>Microsoft Macintosh PowerPoint</Application>
  <PresentationFormat>宽屏</PresentationFormat>
  <Paragraphs>510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等线</vt:lpstr>
      <vt:lpstr>Microsoft YaHei</vt:lpstr>
      <vt:lpstr>Microsoft YaHei</vt:lpstr>
      <vt:lpstr>Arial</vt:lpstr>
      <vt:lpstr>Cambria Math</vt:lpstr>
      <vt:lpstr>Garamond</vt:lpstr>
      <vt:lpstr>Wingdings</vt:lpstr>
      <vt:lpstr>webwppDefTheme</vt:lpstr>
      <vt:lpstr>Office 主题​​</vt:lpstr>
      <vt:lpstr>第四章 分布式系统 ——容错</vt:lpstr>
      <vt:lpstr>本章内容</vt:lpstr>
      <vt:lpstr>分布式系统</vt:lpstr>
      <vt:lpstr>分布式系统</vt:lpstr>
      <vt:lpstr>本章内容</vt:lpstr>
      <vt:lpstr>分布式容错（Fault Tolerance，FT）</vt:lpstr>
      <vt:lpstr>拜占庭故障</vt:lpstr>
      <vt:lpstr>拜占庭容错（BFT）</vt:lpstr>
      <vt:lpstr>拜占庭容错（BFT）</vt:lpstr>
      <vt:lpstr>拜占庭容错（BFT）</vt:lpstr>
      <vt:lpstr>拜占庭容错（BFT）</vt:lpstr>
      <vt:lpstr>拜占庭容错（BFT）</vt:lpstr>
      <vt:lpstr>拜占庭容错（BFT）</vt:lpstr>
      <vt:lpstr>实用拜占庭容错（Practical BFT, PBFT）</vt:lpstr>
      <vt:lpstr>崩溃容错（CFT）</vt:lpstr>
      <vt:lpstr>崩溃容错（CFT）</vt:lpstr>
      <vt:lpstr>CFT实现</vt:lpstr>
      <vt:lpstr>CFT实现</vt:lpstr>
      <vt:lpstr>状态迁移&amp;复制状态机</vt:lpstr>
      <vt:lpstr>复制状态机</vt:lpstr>
      <vt:lpstr>比特币系统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第二章 比特币</dc:title>
  <dc:creator>Yong Cui</dc:creator>
  <cp:lastModifiedBy>侯璐 h</cp:lastModifiedBy>
  <cp:revision>657</cp:revision>
  <dcterms:created xsi:type="dcterms:W3CDTF">2021-04-18T13:48:02Z</dcterms:created>
  <dcterms:modified xsi:type="dcterms:W3CDTF">2026-04-17T12:12:39Z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</Properties>
</file>