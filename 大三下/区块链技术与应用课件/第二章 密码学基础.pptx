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34"/>
  </p:notesMasterIdLst>
  <p:sldIdLst>
    <p:sldId id="1257" r:id="rId3"/>
    <p:sldId id="1062" r:id="rId4"/>
    <p:sldId id="1313" r:id="rId5"/>
    <p:sldId id="1353" r:id="rId6"/>
    <p:sldId id="1380" r:id="rId7"/>
    <p:sldId id="1381" r:id="rId8"/>
    <p:sldId id="1382" r:id="rId9"/>
    <p:sldId id="1404" r:id="rId10"/>
    <p:sldId id="1383" r:id="rId11"/>
    <p:sldId id="1384" r:id="rId12"/>
    <p:sldId id="1385" r:id="rId13"/>
    <p:sldId id="1386" r:id="rId14"/>
    <p:sldId id="1387" r:id="rId15"/>
    <p:sldId id="1388" r:id="rId16"/>
    <p:sldId id="1389" r:id="rId17"/>
    <p:sldId id="1390" r:id="rId18"/>
    <p:sldId id="1391" r:id="rId19"/>
    <p:sldId id="1392" r:id="rId20"/>
    <p:sldId id="1406" r:id="rId21"/>
    <p:sldId id="1393" r:id="rId22"/>
    <p:sldId id="1394" r:id="rId23"/>
    <p:sldId id="1395" r:id="rId24"/>
    <p:sldId id="1396" r:id="rId25"/>
    <p:sldId id="1397" r:id="rId26"/>
    <p:sldId id="1398" r:id="rId27"/>
    <p:sldId id="1399" r:id="rId28"/>
    <p:sldId id="1400" r:id="rId29"/>
    <p:sldId id="1401" r:id="rId30"/>
    <p:sldId id="1402" r:id="rId31"/>
    <p:sldId id="1405" r:id="rId32"/>
    <p:sldId id="1403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313"/>
            <p14:sldId id="1353"/>
            <p14:sldId id="1380"/>
            <p14:sldId id="1381"/>
            <p14:sldId id="1382"/>
            <p14:sldId id="1404"/>
            <p14:sldId id="1383"/>
            <p14:sldId id="1384"/>
            <p14:sldId id="1385"/>
            <p14:sldId id="1386"/>
            <p14:sldId id="1387"/>
            <p14:sldId id="1388"/>
            <p14:sldId id="1389"/>
            <p14:sldId id="1390"/>
            <p14:sldId id="1391"/>
            <p14:sldId id="1392"/>
            <p14:sldId id="1406"/>
            <p14:sldId id="1393"/>
            <p14:sldId id="1394"/>
            <p14:sldId id="1395"/>
            <p14:sldId id="1396"/>
            <p14:sldId id="1397"/>
            <p14:sldId id="1398"/>
            <p14:sldId id="1399"/>
            <p14:sldId id="1400"/>
            <p14:sldId id="1401"/>
            <p14:sldId id="1402"/>
            <p14:sldId id="1405"/>
            <p14:sldId id="14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9BC12"/>
    <a:srgbClr val="5B307E"/>
    <a:srgbClr val="B962FF"/>
    <a:srgbClr val="0000FF"/>
    <a:srgbClr val="FDCB0B"/>
    <a:srgbClr val="FFD700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97" autoAdjust="0"/>
    <p:restoredTop sz="87873" autoAdjust="0"/>
  </p:normalViewPr>
  <p:slideViewPr>
    <p:cSldViewPr snapToGrid="0" snapToObjects="1">
      <p:cViewPr varScale="1">
        <p:scale>
          <a:sx n="108" d="100"/>
          <a:sy n="108" d="100"/>
        </p:scale>
        <p:origin x="792" y="184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2026/3/13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655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343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6840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43777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352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wmf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0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10.png"/><Relationship Id="rId7" Type="http://schemas.openxmlformats.org/officeDocument/2006/relationships/image" Target="../media/image14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1.png"/><Relationship Id="rId5" Type="http://schemas.openxmlformats.org/officeDocument/2006/relationships/image" Target="../media/image15.emf"/><Relationship Id="rId4" Type="http://schemas.openxmlformats.org/officeDocument/2006/relationships/image" Target="../media/image120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00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0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2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22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第二章 密码学基础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</a:rPr>
              <a:t>2.1 </a:t>
            </a:r>
            <a:r>
              <a:rPr kumimoji="1" lang="zh-CN" altLang="en-US" b="1" dirty="0">
                <a:solidFill>
                  <a:srgbClr val="B962FF"/>
                </a:solidFill>
              </a:rPr>
              <a:t>哈希运算</a:t>
            </a:r>
            <a:endParaRPr kumimoji="1" lang="en-US" altLang="zh-CN" b="1" dirty="0">
              <a:solidFill>
                <a:srgbClr val="B962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2.2 </a:t>
            </a:r>
            <a:r>
              <a:rPr kumimoji="1" lang="zh-CN" altLang="en-US" dirty="0"/>
              <a:t>互联网信息传输安全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2.3 </a:t>
            </a:r>
            <a:r>
              <a:rPr kumimoji="1" lang="zh-CN" altLang="en-US" dirty="0"/>
              <a:t>对称加密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2.4 </a:t>
            </a:r>
            <a:r>
              <a:rPr kumimoji="1" lang="zh-CN" altLang="en-US" dirty="0"/>
              <a:t>公钥加密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2.5 </a:t>
            </a:r>
            <a:r>
              <a:rPr kumimoji="1" lang="zh-CN" altLang="en-US"/>
              <a:t>数字签名与证书</a:t>
            </a:r>
            <a:endParaRPr kumimoji="1"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哈希算法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10758"/>
            <a:ext cx="7025641" cy="3496022"/>
          </a:xfrm>
        </p:spPr>
        <p:txBody>
          <a:bodyPr>
            <a:normAutofit fontScale="70000" lnSpcReduction="20000"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哈希（</a:t>
            </a:r>
            <a:r>
              <a:rPr lang="en-US" altLang="zh-CN" sz="2400" dirty="0">
                <a:latin typeface="Garamond" panose="02020404030301010803" pitchFamily="18" charset="0"/>
              </a:rPr>
              <a:t>Hash</a:t>
            </a:r>
            <a:r>
              <a:rPr lang="zh-CN" altLang="en-US" sz="2400" dirty="0">
                <a:latin typeface="Garamond" panose="02020404030301010803" pitchFamily="18" charset="0"/>
              </a:rPr>
              <a:t>）算法是什么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将任意长度的字节流映射成较短的二进制串</a:t>
            </a:r>
            <a:r>
              <a:rPr lang="zh-CN" altLang="en-US" dirty="0">
                <a:latin typeface="Garamond" panose="02020404030301010803" pitchFamily="18" charset="0"/>
              </a:rPr>
              <a:t>，且不同的字节流映射后的值几乎没有冲突。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哈希值又被称为指纹或者摘要，因为它足够验证文件的完整性与正确性。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哈希函数本身是一种单射函数，所以哈希的整个过程并不可逆，如果需要对明文数据进行隐藏和保密，则需要使用加解密算法。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哈希碰撞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当不同输入的哈希产生相同的哈希值，则称为哈希碰撞。</a:t>
            </a:r>
            <a:endParaRPr lang="en-US" altLang="zh-CN" sz="2400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16841" y="25937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069" y="4746276"/>
            <a:ext cx="5803900" cy="10541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66189" y="580244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哈希算法例子</a:t>
            </a:r>
          </a:p>
        </p:txBody>
      </p:sp>
      <p:pic>
        <p:nvPicPr>
          <p:cNvPr id="1026" name="Picture 2" descr="2023麦当劳(沪杭甬高速店)美食餐厅,...猪柳麦满分和薯饼 可能人...【去哪儿攻略】">
            <a:extLst>
              <a:ext uri="{FF2B5EF4-FFF2-40B4-BE49-F238E27FC236}">
                <a16:creationId xmlns:a16="http://schemas.microsoft.com/office/drawing/2014/main" id="{02990944-4ACF-4DF2-9D79-8774403FE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724" y="1374233"/>
            <a:ext cx="4010432" cy="534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哈希算法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510758"/>
            <a:ext cx="9824885" cy="5052274"/>
          </a:xfrm>
        </p:spPr>
        <p:txBody>
          <a:bodyPr>
            <a:normAutofit lnSpcReduction="10000"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常见的</a:t>
            </a:r>
            <a:r>
              <a:rPr lang="en-US" altLang="zh-CN" sz="2400" dirty="0">
                <a:latin typeface="Garamond" panose="02020404030301010803" pitchFamily="18" charset="0"/>
              </a:rPr>
              <a:t>Hash</a:t>
            </a:r>
            <a:r>
              <a:rPr lang="zh-CN" altLang="en-US" sz="2400" dirty="0">
                <a:latin typeface="Garamond" panose="02020404030301010803" pitchFamily="18" charset="0"/>
              </a:rPr>
              <a:t>算法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MD5</a:t>
            </a:r>
            <a:r>
              <a:rPr lang="zh-CN" altLang="en-US" dirty="0">
                <a:latin typeface="Garamond" panose="02020404030301010803" pitchFamily="18" charset="0"/>
              </a:rPr>
              <a:t>，</a:t>
            </a:r>
            <a:r>
              <a:rPr lang="en-US" altLang="zh-CN" dirty="0">
                <a:latin typeface="Garamond" panose="02020404030301010803" pitchFamily="18" charset="0"/>
              </a:rPr>
              <a:t>MD4</a:t>
            </a:r>
            <a:r>
              <a:rPr lang="zh-CN" altLang="en-US" dirty="0">
                <a:latin typeface="Garamond" panose="02020404030301010803" pitchFamily="18" charset="0"/>
              </a:rPr>
              <a:t>由</a:t>
            </a:r>
            <a:r>
              <a:rPr lang="en-US" altLang="zh-CN" dirty="0">
                <a:latin typeface="Garamond" panose="02020404030301010803" pitchFamily="18" charset="0"/>
              </a:rPr>
              <a:t>MIT</a:t>
            </a:r>
            <a:r>
              <a:rPr lang="zh-CN" altLang="en-US" dirty="0">
                <a:latin typeface="Garamond" panose="02020404030301010803" pitchFamily="18" charset="0"/>
              </a:rPr>
              <a:t>的</a:t>
            </a:r>
            <a:r>
              <a:rPr lang="en-US" altLang="zh-CN" dirty="0">
                <a:latin typeface="Garamond" panose="02020404030301010803" pitchFamily="18" charset="0"/>
              </a:rPr>
              <a:t>Ronald L. </a:t>
            </a:r>
            <a:r>
              <a:rPr lang="en-US" altLang="zh-CN" dirty="0" err="1">
                <a:latin typeface="Garamond" panose="02020404030301010803" pitchFamily="18" charset="0"/>
              </a:rPr>
              <a:t>Rivest</a:t>
            </a:r>
            <a:r>
              <a:rPr lang="zh-CN" altLang="zh-CN" dirty="0">
                <a:latin typeface="Garamond" panose="02020404030301010803" pitchFamily="18" charset="0"/>
              </a:rPr>
              <a:t>于</a:t>
            </a:r>
            <a:r>
              <a:rPr lang="en-US" altLang="zh-CN" dirty="0">
                <a:latin typeface="Garamond" panose="02020404030301010803" pitchFamily="18" charset="0"/>
              </a:rPr>
              <a:t>1990</a:t>
            </a:r>
            <a:r>
              <a:rPr lang="zh-CN" altLang="zh-CN" dirty="0">
                <a:latin typeface="Garamond" panose="02020404030301010803" pitchFamily="18" charset="0"/>
              </a:rPr>
              <a:t>年提出</a:t>
            </a:r>
            <a:r>
              <a:rPr lang="zh-CN" altLang="en-US" dirty="0">
                <a:latin typeface="Garamond" panose="02020404030301010803" pitchFamily="18" charset="0"/>
              </a:rPr>
              <a:t>，之后改进成</a:t>
            </a:r>
            <a:r>
              <a:rPr lang="en-US" altLang="zh-CN" dirty="0">
                <a:latin typeface="Garamond" panose="02020404030301010803" pitchFamily="18" charset="0"/>
              </a:rPr>
              <a:t>MD5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SHA</a:t>
            </a:r>
            <a:r>
              <a:rPr lang="zh-CN" altLang="en-US" dirty="0">
                <a:latin typeface="Garamond" panose="02020404030301010803" pitchFamily="18" charset="0"/>
              </a:rPr>
              <a:t>，</a:t>
            </a:r>
            <a:r>
              <a:rPr lang="en-US" altLang="zh-CN" dirty="0">
                <a:latin typeface="Garamond" panose="02020404030301010803" pitchFamily="18" charset="0"/>
              </a:rPr>
              <a:t>SHA1</a:t>
            </a:r>
            <a:r>
              <a:rPr lang="zh-CN" altLang="en-US" dirty="0">
                <a:latin typeface="Garamond" panose="02020404030301010803" pitchFamily="18" charset="0"/>
              </a:rPr>
              <a:t>由美国国家安全局（</a:t>
            </a:r>
            <a:r>
              <a:rPr lang="en-US" altLang="zh-CN" dirty="0">
                <a:latin typeface="Garamond" panose="02020404030301010803" pitchFamily="18" charset="0"/>
              </a:rPr>
              <a:t>NSA</a:t>
            </a:r>
            <a:r>
              <a:rPr lang="zh-CN" altLang="en-US" dirty="0">
                <a:latin typeface="Garamond" panose="02020404030301010803" pitchFamily="18" charset="0"/>
              </a:rPr>
              <a:t>）在</a:t>
            </a:r>
            <a:r>
              <a:rPr lang="en-US" altLang="zh-CN" dirty="0">
                <a:latin typeface="Garamond" panose="02020404030301010803" pitchFamily="18" charset="0"/>
              </a:rPr>
              <a:t>1995</a:t>
            </a:r>
            <a:r>
              <a:rPr lang="zh-CN" altLang="en-US" dirty="0">
                <a:latin typeface="Garamond" panose="02020404030301010803" pitchFamily="18" charset="0"/>
              </a:rPr>
              <a:t>年提出，随后</a:t>
            </a:r>
            <a:r>
              <a:rPr lang="en-US" altLang="zh-CN" dirty="0">
                <a:latin typeface="Garamond" panose="02020404030301010803" pitchFamily="18" charset="0"/>
              </a:rPr>
              <a:t>SHA2</a:t>
            </a:r>
            <a:r>
              <a:rPr lang="zh-CN" altLang="en-US" dirty="0">
                <a:latin typeface="Garamond" panose="02020404030301010803" pitchFamily="18" charset="0"/>
              </a:rPr>
              <a:t>系列也被</a:t>
            </a:r>
            <a:r>
              <a:rPr lang="en-US" altLang="zh-CN" dirty="0">
                <a:latin typeface="Garamond" panose="02020404030301010803" pitchFamily="18" charset="0"/>
              </a:rPr>
              <a:t>NSA</a:t>
            </a:r>
            <a:r>
              <a:rPr lang="zh-CN" altLang="en-US" dirty="0">
                <a:latin typeface="Garamond" panose="02020404030301010803" pitchFamily="18" charset="0"/>
              </a:rPr>
              <a:t>公布出来。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目前，</a:t>
            </a:r>
            <a:r>
              <a:rPr lang="en-US" altLang="zh-CN" dirty="0">
                <a:latin typeface="Garamond" panose="02020404030301010803" pitchFamily="18" charset="0"/>
              </a:rPr>
              <a:t>MD5</a:t>
            </a:r>
            <a:r>
              <a:rPr lang="zh-CN" altLang="en-US" dirty="0">
                <a:latin typeface="Garamond" panose="02020404030301010803" pitchFamily="18" charset="0"/>
              </a:rPr>
              <a:t>与</a:t>
            </a:r>
            <a:r>
              <a:rPr lang="en-US" altLang="zh-CN" dirty="0">
                <a:latin typeface="Garamond" panose="02020404030301010803" pitchFamily="18" charset="0"/>
              </a:rPr>
              <a:t>SHA1</a:t>
            </a:r>
            <a:r>
              <a:rPr lang="zh-CN" altLang="en-US" dirty="0">
                <a:latin typeface="Garamond" panose="02020404030301010803" pitchFamily="18" charset="0"/>
              </a:rPr>
              <a:t>算法已经被破解。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区块链中</a:t>
            </a:r>
            <a:r>
              <a:rPr lang="en-US" altLang="zh-CN" sz="2400" dirty="0">
                <a:latin typeface="Garamond" panose="02020404030301010803" pitchFamily="18" charset="0"/>
              </a:rPr>
              <a:t>Hash</a:t>
            </a:r>
            <a:r>
              <a:rPr lang="zh-CN" altLang="en-US" sz="2400" dirty="0">
                <a:latin typeface="Garamond" panose="02020404030301010803" pitchFamily="18" charset="0"/>
              </a:rPr>
              <a:t>的应用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比特币采用了</a:t>
            </a:r>
            <a:r>
              <a:rPr lang="en-GB" altLang="zh-CN" dirty="0">
                <a:latin typeface="Garamond" panose="02020404030301010803" pitchFamily="18" charset="0"/>
              </a:rPr>
              <a:t>SHA2</a:t>
            </a:r>
            <a:r>
              <a:rPr lang="zh-CN" altLang="en-US" dirty="0">
                <a:latin typeface="Garamond" panose="02020404030301010803" pitchFamily="18" charset="0"/>
              </a:rPr>
              <a:t>族的</a:t>
            </a:r>
            <a:r>
              <a:rPr lang="en-GB" altLang="zh-CN" dirty="0">
                <a:latin typeface="Garamond" panose="02020404030301010803" pitchFamily="18" charset="0"/>
              </a:rPr>
              <a:t>SHA2-256</a:t>
            </a:r>
            <a:r>
              <a:rPr lang="zh-CN" altLang="en-US" dirty="0">
                <a:latin typeface="Garamond" panose="02020404030301010803" pitchFamily="18" charset="0"/>
              </a:rPr>
              <a:t>算法，通常也简称为</a:t>
            </a:r>
            <a:r>
              <a:rPr lang="en-GB" altLang="zh-CN" dirty="0">
                <a:latin typeface="Garamond" panose="02020404030301010803" pitchFamily="18" charset="0"/>
              </a:rPr>
              <a:t>SHA256</a:t>
            </a:r>
            <a:r>
              <a:rPr lang="zh-CN" altLang="en-US" dirty="0">
                <a:latin typeface="Garamond" panose="02020404030301010803" pitchFamily="18" charset="0"/>
              </a:rPr>
              <a:t>算法。比特币在挖矿和生成地址的时候都是采用了</a:t>
            </a:r>
            <a:r>
              <a:rPr lang="en-GB" altLang="zh-CN" dirty="0">
                <a:latin typeface="Garamond" panose="02020404030301010803" pitchFamily="18" charset="0"/>
              </a:rPr>
              <a:t>SHA256</a:t>
            </a:r>
            <a:r>
              <a:rPr lang="zh-CN" altLang="en-US" dirty="0">
                <a:latin typeface="Garamond" panose="02020404030301010803" pitchFamily="18" charset="0"/>
              </a:rPr>
              <a:t>算法。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以太坊中采用了</a:t>
            </a:r>
            <a:r>
              <a:rPr lang="en-GB" altLang="zh-CN" dirty="0">
                <a:latin typeface="Garamond" panose="02020404030301010803" pitchFamily="18" charset="0"/>
              </a:rPr>
              <a:t>SHA3</a:t>
            </a:r>
            <a:r>
              <a:rPr lang="zh-CN" altLang="en-US" dirty="0">
                <a:latin typeface="Garamond" panose="02020404030301010803" pitchFamily="18" charset="0"/>
              </a:rPr>
              <a:t>哈希函数族的来源</a:t>
            </a:r>
            <a:r>
              <a:rPr lang="en-US" altLang="zh-CN" dirty="0">
                <a:latin typeface="Garamond" panose="02020404030301010803" pitchFamily="18" charset="0"/>
              </a:rPr>
              <a:t>——</a:t>
            </a:r>
            <a:r>
              <a:rPr lang="en-GB" altLang="zh-CN" dirty="0" err="1">
                <a:latin typeface="Garamond" panose="02020404030301010803" pitchFamily="18" charset="0"/>
              </a:rPr>
              <a:t>keccak</a:t>
            </a:r>
            <a:r>
              <a:rPr lang="zh-CN" altLang="en-US" dirty="0">
                <a:latin typeface="Garamond" panose="02020404030301010803" pitchFamily="18" charset="0"/>
              </a:rPr>
              <a:t>族的</a:t>
            </a:r>
            <a:r>
              <a:rPr lang="en-GB" altLang="zh-CN" dirty="0">
                <a:latin typeface="Garamond" panose="02020404030301010803" pitchFamily="18" charset="0"/>
              </a:rPr>
              <a:t>keccak256 </a:t>
            </a:r>
            <a:r>
              <a:rPr lang="zh-CN" altLang="en-US" dirty="0">
                <a:latin typeface="Garamond" panose="02020404030301010803" pitchFamily="18" charset="0"/>
              </a:rPr>
              <a:t>算法。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8016841" y="259378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哈希运算性质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4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ED61EE-1879-4554-A723-03E7E548B750}"/>
              </a:ext>
            </a:extLst>
          </p:cNvPr>
          <p:cNvSpPr txBox="1"/>
          <p:nvPr/>
        </p:nvSpPr>
        <p:spPr>
          <a:xfrm>
            <a:off x="653143" y="1476103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</a:rPr>
              <a:t>哈希运算：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9D03E67-9AD3-43FF-8C34-53820E5F45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107092"/>
              </p:ext>
            </p:extLst>
          </p:nvPr>
        </p:nvGraphicFramePr>
        <p:xfrm>
          <a:off x="2414588" y="1362075"/>
          <a:ext cx="1752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6880" imgH="203040" progId="Equation.DSMT4">
                  <p:embed/>
                </p:oleObj>
              </mc:Choice>
              <mc:Fallback>
                <p:oleObj name="Equation" r:id="rId3" imgW="596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4588" y="1362075"/>
                        <a:ext cx="1752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A992CF1D-EFFB-446D-AB41-FB75F09B5C90}"/>
              </a:ext>
            </a:extLst>
          </p:cNvPr>
          <p:cNvSpPr txBox="1"/>
          <p:nvPr/>
        </p:nvSpPr>
        <p:spPr>
          <a:xfrm>
            <a:off x="653142" y="2578399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Hiding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（隐秘性）：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7355C6F-85E8-4704-9581-4138F2F51E4D}"/>
                  </a:ext>
                </a:extLst>
              </p:cNvPr>
              <p:cNvSpPr txBox="1"/>
              <p:nvPr/>
            </p:nvSpPr>
            <p:spPr>
              <a:xfrm>
                <a:off x="3146116" y="2582691"/>
                <a:ext cx="2524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中不包含任何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的信息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7355C6F-85E8-4704-9581-4138F2F51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116" y="2582691"/>
                <a:ext cx="2524794" cy="369332"/>
              </a:xfrm>
              <a:prstGeom prst="rect">
                <a:avLst/>
              </a:prstGeom>
              <a:blipFill>
                <a:blip r:embed="rId6"/>
                <a:stretch>
                  <a:fillRect t="-10000" r="-169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689CDB7-47C6-4279-9FC0-B6284F2C3525}"/>
                  </a:ext>
                </a:extLst>
              </p:cNvPr>
              <p:cNvSpPr txBox="1"/>
              <p:nvPr/>
            </p:nvSpPr>
            <p:spPr>
              <a:xfrm>
                <a:off x="6096000" y="2578399"/>
                <a:ext cx="2524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0" dirty="0">
                    <a:latin typeface="Garamond" panose="02020404030301010803" pitchFamily="18" charset="0"/>
                  </a:rPr>
                  <a:t>通过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无法计算得到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689CDB7-47C6-4279-9FC0-B6284F2C3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578399"/>
                <a:ext cx="2524794" cy="369332"/>
              </a:xfrm>
              <a:prstGeom prst="rect">
                <a:avLst/>
              </a:prstGeom>
              <a:blipFill>
                <a:blip r:embed="rId7"/>
                <a:stretch>
                  <a:fillRect l="-1932" t="-9836" r="-1449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2D4C7FB-CFB0-4AB0-B524-FE474027AFEF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5670910" y="2763065"/>
            <a:ext cx="425090" cy="429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B11CBDA-8E63-42BC-BA85-E6613F1C37C7}"/>
              </a:ext>
            </a:extLst>
          </p:cNvPr>
          <p:cNvSpPr txBox="1"/>
          <p:nvPr/>
        </p:nvSpPr>
        <p:spPr>
          <a:xfrm>
            <a:off x="653142" y="3117988"/>
            <a:ext cx="4072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Collision Resistance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（抗碰撞性）：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2D91987-F731-4314-912C-4EBF1DBEB6A6}"/>
                  </a:ext>
                </a:extLst>
              </p:cNvPr>
              <p:cNvSpPr txBox="1"/>
              <p:nvPr/>
            </p:nvSpPr>
            <p:spPr>
              <a:xfrm>
                <a:off x="4759548" y="3192378"/>
                <a:ext cx="43801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>
                    <a:latin typeface="Garamond" panose="02020404030301010803" pitchFamily="18" charset="0"/>
                    <a:ea typeface="Cambria Math" panose="02040503050406030204" pitchFamily="18" charset="0"/>
                  </a:rPr>
                  <a:t>无法构造一对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2D91987-F731-4314-912C-4EBF1DBEB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548" y="3192378"/>
                <a:ext cx="4380110" cy="276999"/>
              </a:xfrm>
              <a:prstGeom prst="rect">
                <a:avLst/>
              </a:prstGeom>
              <a:blipFill>
                <a:blip r:embed="rId8"/>
                <a:stretch>
                  <a:fillRect l="-3179" t="-34783" r="-1734" b="-478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93EBDDD-2C6E-6E06-E82C-E0B56B9D71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51" y="2988282"/>
            <a:ext cx="601662" cy="6016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1D731B-884B-5FB4-9CE3-95A4BF2ACDC9}"/>
              </a:ext>
            </a:extLst>
          </p:cNvPr>
          <p:cNvSpPr txBox="1"/>
          <p:nvPr/>
        </p:nvSpPr>
        <p:spPr>
          <a:xfrm>
            <a:off x="10305644" y="3135224"/>
            <a:ext cx="983629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可能吗？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1DDFC2B1-04BC-34FF-EE31-719B65EEEA81}"/>
              </a:ext>
            </a:extLst>
          </p:cNvPr>
          <p:cNvSpPr/>
          <p:nvPr/>
        </p:nvSpPr>
        <p:spPr>
          <a:xfrm>
            <a:off x="653141" y="3686081"/>
            <a:ext cx="10800921" cy="239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E548A9-A67D-5BBF-CBF3-5096EC333DE9}"/>
              </a:ext>
            </a:extLst>
          </p:cNvPr>
          <p:cNvSpPr txBox="1"/>
          <p:nvPr/>
        </p:nvSpPr>
        <p:spPr>
          <a:xfrm>
            <a:off x="864520" y="3804432"/>
            <a:ext cx="494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CR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性质应用</a:t>
            </a:r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I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：知识证明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CC0F16-6D92-ACEC-16AF-FF25B2C49BF4}"/>
              </a:ext>
            </a:extLst>
          </p:cNvPr>
          <p:cNvSpPr txBox="1"/>
          <p:nvPr/>
        </p:nvSpPr>
        <p:spPr>
          <a:xfrm>
            <a:off x="864519" y="4284328"/>
            <a:ext cx="967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（</a:t>
            </a:r>
            <a:r>
              <a:rPr kumimoji="1" lang="en-US" altLang="zh-CN" dirty="0">
                <a:latin typeface="Garamond" panose="02020404030301010803" pitchFamily="18" charset="0"/>
              </a:rPr>
              <a:t>1</a:t>
            </a:r>
            <a:r>
              <a:rPr kumimoji="1" lang="zh-CN" altLang="en-US" dirty="0">
                <a:latin typeface="Garamond" panose="02020404030301010803" pitchFamily="18" charset="0"/>
              </a:rPr>
              <a:t>）小明知道明天会公布一个新政策</a:t>
            </a:r>
            <a:r>
              <a:rPr kumimoji="1" lang="en-US" altLang="zh-CN" dirty="0">
                <a:latin typeface="Garamond" panose="02020404030301010803" pitchFamily="18" charset="0"/>
              </a:rPr>
              <a:t>A</a:t>
            </a:r>
            <a:r>
              <a:rPr kumimoji="1" lang="zh-CN" altLang="en-US" dirty="0">
                <a:latin typeface="Garamond" panose="02020404030301010803" pitchFamily="18" charset="0"/>
              </a:rPr>
              <a:t>，他想向其他人证明自己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提前知道</a:t>
            </a:r>
            <a:r>
              <a:rPr kumimoji="1" lang="zh-CN" altLang="en-US" dirty="0">
                <a:latin typeface="Garamond" panose="02020404030301010803" pitchFamily="18" charset="0"/>
              </a:rPr>
              <a:t>这一政策全文。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B57412-AF1F-C484-7C82-8E77D16F5814}"/>
              </a:ext>
            </a:extLst>
          </p:cNvPr>
          <p:cNvSpPr txBox="1"/>
          <p:nvPr/>
        </p:nvSpPr>
        <p:spPr>
          <a:xfrm>
            <a:off x="864520" y="4823479"/>
            <a:ext cx="866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（</a:t>
            </a:r>
            <a:r>
              <a:rPr kumimoji="1" lang="en-US" altLang="zh-CN" dirty="0">
                <a:latin typeface="Garamond" panose="02020404030301010803" pitchFamily="18" charset="0"/>
              </a:rPr>
              <a:t>2</a:t>
            </a:r>
            <a:r>
              <a:rPr kumimoji="1" lang="zh-CN" altLang="en-US" dirty="0">
                <a:latin typeface="Garamond" panose="02020404030301010803" pitchFamily="18" charset="0"/>
              </a:rPr>
              <a:t>）方案一：小明直接公布这一政策全文，待第二天官方信息公布后大家进行验证。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ED416BE-D70C-F042-DBF6-484E3A32CA02}"/>
              </a:ext>
            </a:extLst>
          </p:cNvPr>
          <p:cNvSpPr txBox="1"/>
          <p:nvPr/>
        </p:nvSpPr>
        <p:spPr>
          <a:xfrm>
            <a:off x="864519" y="5362629"/>
            <a:ext cx="10424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（</a:t>
            </a:r>
            <a:r>
              <a:rPr kumimoji="1" lang="en-US" altLang="zh-CN" dirty="0">
                <a:latin typeface="Garamond" panose="02020404030301010803" pitchFamily="18" charset="0"/>
              </a:rPr>
              <a:t>3</a:t>
            </a:r>
            <a:r>
              <a:rPr kumimoji="1" lang="zh-CN" altLang="en-US" dirty="0">
                <a:latin typeface="Garamond" panose="02020404030301010803" pitchFamily="18" charset="0"/>
              </a:rPr>
              <a:t>）方案二：小明公布这一政策的哈希值，待第二天官方信息公布后大家对官方信息进行哈希运算，判断与小明公布的哈希值是否一致。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B4CBABF-CACD-830F-ABEB-A103AD9AFC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351" y="6192043"/>
            <a:ext cx="601662" cy="60166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46361E5D-D694-8849-D0CF-79E7FCB20FFE}"/>
              </a:ext>
            </a:extLst>
          </p:cNvPr>
          <p:cNvSpPr txBox="1"/>
          <p:nvPr/>
        </p:nvSpPr>
        <p:spPr>
          <a:xfrm>
            <a:off x="4052844" y="6338985"/>
            <a:ext cx="1618066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有没有什么问题？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4D3E5DF-283A-E93B-0CB3-971779A55F44}"/>
              </a:ext>
            </a:extLst>
          </p:cNvPr>
          <p:cNvSpPr txBox="1"/>
          <p:nvPr/>
        </p:nvSpPr>
        <p:spPr>
          <a:xfrm>
            <a:off x="5996393" y="6347597"/>
            <a:ext cx="361975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无法证明</a:t>
            </a:r>
            <a:r>
              <a:rPr kumimoji="1" lang="zh-CN" altLang="en-US" sz="1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只有小明</a:t>
            </a:r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提前知道这一政策。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794B25-094D-4D2A-A5A0-5413C3EF5E8A}"/>
              </a:ext>
            </a:extLst>
          </p:cNvPr>
          <p:cNvSpPr txBox="1"/>
          <p:nvPr/>
        </p:nvSpPr>
        <p:spPr>
          <a:xfrm>
            <a:off x="635850" y="2075789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固定长度：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07158D7-D36A-4CAB-A79F-FDE6688C7F43}"/>
                  </a:ext>
                </a:extLst>
              </p:cNvPr>
              <p:cNvSpPr txBox="1"/>
              <p:nvPr/>
            </p:nvSpPr>
            <p:spPr>
              <a:xfrm>
                <a:off x="3146116" y="2082989"/>
                <a:ext cx="387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输入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任意长度数据，输出长度固定。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07158D7-D36A-4CAB-A79F-FDE6688C7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116" y="2082989"/>
                <a:ext cx="3877985" cy="369332"/>
              </a:xfrm>
              <a:prstGeom prst="rect">
                <a:avLst/>
              </a:prstGeom>
              <a:blipFill>
                <a:blip r:embed="rId10"/>
                <a:stretch>
                  <a:fillRect l="-472" t="-10000" r="-943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74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  <p:bldP spid="16" grpId="0"/>
      <p:bldP spid="19" grpId="0"/>
      <p:bldP spid="20" grpId="0"/>
      <p:bldP spid="5" grpId="0" animBg="1"/>
      <p:bldP spid="25" grpId="0" animBg="1"/>
      <p:bldP spid="27" grpId="0"/>
      <p:bldP spid="28" grpId="0"/>
      <p:bldP spid="31" grpId="0"/>
      <p:bldP spid="32" grpId="0"/>
      <p:bldP spid="34" grpId="0" animBg="1"/>
      <p:bldP spid="35" grpId="0" animBg="1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哈希运算性质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5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203D905F-7D55-4A0D-F1C0-36B25D64A0E0}"/>
              </a:ext>
            </a:extLst>
          </p:cNvPr>
          <p:cNvSpPr/>
          <p:nvPr/>
        </p:nvSpPr>
        <p:spPr>
          <a:xfrm>
            <a:off x="653141" y="1397910"/>
            <a:ext cx="10800921" cy="2394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7033A14-95AF-DAFC-7C4D-2787191DCC94}"/>
              </a:ext>
            </a:extLst>
          </p:cNvPr>
          <p:cNvSpPr txBox="1"/>
          <p:nvPr/>
        </p:nvSpPr>
        <p:spPr>
          <a:xfrm>
            <a:off x="864520" y="1516261"/>
            <a:ext cx="4946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CR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性质应用</a:t>
            </a:r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II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：防篡改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38B7083-DAD3-688E-E14B-30D5DE6C25A4}"/>
                  </a:ext>
                </a:extLst>
              </p:cNvPr>
              <p:cNvSpPr txBox="1"/>
              <p:nvPr/>
            </p:nvSpPr>
            <p:spPr>
              <a:xfrm>
                <a:off x="864519" y="2067277"/>
                <a:ext cx="96751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latin typeface="Garamond" panose="02020404030301010803" pitchFamily="18" charset="0"/>
                  </a:rPr>
                  <a:t>（</a:t>
                </a:r>
                <a:r>
                  <a:rPr kumimoji="1" lang="en-US" altLang="zh-CN" dirty="0">
                    <a:latin typeface="Garamond" panose="02020404030301010803" pitchFamily="18" charset="0"/>
                  </a:rPr>
                  <a:t>1</a:t>
                </a:r>
                <a:r>
                  <a:rPr kumimoji="1" lang="zh-CN" altLang="en-US" dirty="0">
                    <a:latin typeface="Garamond" panose="02020404030301010803" pitchFamily="18" charset="0"/>
                  </a:rPr>
                  <a:t>）一方公开一条信息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，为防止信息被人篡改，</a:t>
                </a:r>
                <a:r>
                  <a:rPr kumimoji="1" lang="zh-CN" altLang="en-US">
                    <a:latin typeface="Garamond" panose="02020404030301010803" pitchFamily="18" charset="0"/>
                  </a:rPr>
                  <a:t>同时公布该信息</a:t>
                </a:r>
                <a:r>
                  <a:rPr kumimoji="1" lang="zh-CN" altLang="en-US" dirty="0">
                    <a:latin typeface="Garamond" panose="02020404030301010803" pitchFamily="18" charset="0"/>
                  </a:rPr>
                  <a:t>的哈希值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38B7083-DAD3-688E-E14B-30D5DE6C2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19" y="2067277"/>
                <a:ext cx="9675143" cy="369332"/>
              </a:xfrm>
              <a:prstGeom prst="rect">
                <a:avLst/>
              </a:prstGeom>
              <a:blipFill>
                <a:blip r:embed="rId3"/>
                <a:stretch>
                  <a:fillRect l="-567" t="-8197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BA5EC96-CA72-579E-FC08-7C2047FB7DAF}"/>
                  </a:ext>
                </a:extLst>
              </p:cNvPr>
              <p:cNvSpPr txBox="1"/>
              <p:nvPr/>
            </p:nvSpPr>
            <p:spPr>
              <a:xfrm>
                <a:off x="864520" y="2606428"/>
                <a:ext cx="8663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latin typeface="Garamond" panose="02020404030301010803" pitchFamily="18" charset="0"/>
                  </a:rPr>
                  <a:t>（</a:t>
                </a:r>
                <a:r>
                  <a:rPr kumimoji="1" lang="en-US" altLang="zh-CN" dirty="0">
                    <a:latin typeface="Garamond" panose="02020404030301010803" pitchFamily="18" charset="0"/>
                  </a:rPr>
                  <a:t>2</a:t>
                </a:r>
                <a:r>
                  <a:rPr kumimoji="1" lang="zh-CN" altLang="en-US" dirty="0">
                    <a:latin typeface="Garamond" panose="02020404030301010803" pitchFamily="18" charset="0"/>
                  </a:rPr>
                  <a:t>）无论恶意攻击者如何篡改信息，都无法使得新信息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的哈希值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等于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7BA5EC96-CA72-579E-FC08-7C2047FB7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520" y="2606428"/>
                <a:ext cx="8663800" cy="369332"/>
              </a:xfrm>
              <a:prstGeom prst="rect">
                <a:avLst/>
              </a:prstGeom>
              <a:blipFill>
                <a:blip r:embed="rId4"/>
                <a:stretch>
                  <a:fillRect l="-633" t="-10000" r="-3237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8C27722C-8DEF-620F-5E69-286EFE3EA805}"/>
              </a:ext>
            </a:extLst>
          </p:cNvPr>
          <p:cNvSpPr txBox="1"/>
          <p:nvPr/>
        </p:nvSpPr>
        <p:spPr>
          <a:xfrm>
            <a:off x="864519" y="3145578"/>
            <a:ext cx="10424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（</a:t>
            </a:r>
            <a:r>
              <a:rPr kumimoji="1" lang="en-US" altLang="zh-CN" dirty="0">
                <a:latin typeface="Garamond" panose="02020404030301010803" pitchFamily="18" charset="0"/>
              </a:rPr>
              <a:t>3</a:t>
            </a:r>
            <a:r>
              <a:rPr kumimoji="1" lang="zh-CN" altLang="en-US" dirty="0">
                <a:latin typeface="Garamond" panose="02020404030301010803" pitchFamily="18" charset="0"/>
              </a:rPr>
              <a:t>） 连续信息公布，可将前一次公布信息的哈希值作为本次信息的一部分，构成哈希链。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6C1E076-106B-6906-1DA9-B751808E3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1" y="4084754"/>
            <a:ext cx="7857813" cy="26020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12592F6-E3E5-4483-8D9E-212EC5C69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1595" y="5631675"/>
            <a:ext cx="50006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8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哈希运算性质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6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DEAC68-DC1B-4AF3-A83A-0BE74E6D8001}"/>
              </a:ext>
            </a:extLst>
          </p:cNvPr>
          <p:cNvSpPr txBox="1"/>
          <p:nvPr/>
        </p:nvSpPr>
        <p:spPr>
          <a:xfrm>
            <a:off x="653143" y="1384836"/>
            <a:ext cx="385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Puzzle Friendly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（谜题友好性）：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6BA981-A160-97A1-AD39-15EA2749B280}"/>
                  </a:ext>
                </a:extLst>
              </p:cNvPr>
              <p:cNvSpPr txBox="1"/>
              <p:nvPr/>
            </p:nvSpPr>
            <p:spPr>
              <a:xfrm>
                <a:off x="4391130" y="1288769"/>
                <a:ext cx="530632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zh-CN" altLang="en-US" b="0" dirty="0">
                    <a:latin typeface="Garamond" panose="02020404030301010803" pitchFamily="18" charset="0"/>
                  </a:rPr>
                  <a:t>给定输入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和</a:t>
                </a:r>
                <a:r>
                  <a:rPr lang="zh-CN" altLang="en-US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目标哈希结果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，希望</a:t>
                </a:r>
                <a:r>
                  <a:rPr lang="zh-CN" altLang="en-US">
                    <a:latin typeface="Garamond" panose="02020404030301010803" pitchFamily="18" charset="0"/>
                  </a:rPr>
                  <a:t>找到某个随机数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</a:rPr>
                  <a:t>，</a:t>
                </a:r>
                <a:r>
                  <a:rPr lang="zh-CN" altLang="en-US" b="1" dirty="0">
                    <a:solidFill>
                      <a:srgbClr val="FF0000"/>
                    </a:solidFill>
                    <a:latin typeface="Garamond" panose="02020404030301010803" pitchFamily="18" charset="0"/>
                  </a:rPr>
                  <a:t>只能</a:t>
                </a:r>
                <a:r>
                  <a:rPr lang="zh-CN" altLang="en-US" dirty="0">
                    <a:latin typeface="Garamond" panose="02020404030301010803" pitchFamily="18" charset="0"/>
                  </a:rPr>
                  <a:t>通过暴力搜索方法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6BA981-A160-97A1-AD39-15EA2749B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130" y="1288769"/>
                <a:ext cx="5306322" cy="553998"/>
              </a:xfrm>
              <a:prstGeom prst="rect">
                <a:avLst/>
              </a:prstGeom>
              <a:blipFill>
                <a:blip r:embed="rId3"/>
                <a:stretch>
                  <a:fillRect l="-2641" t="-14286" r="-6889" b="-252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01B44B40-60D0-A688-959E-97194DB79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151" y="1382324"/>
            <a:ext cx="601662" cy="60166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C8C3C03-A26D-8CE1-E9B1-3B2064A4DC0F}"/>
              </a:ext>
            </a:extLst>
          </p:cNvPr>
          <p:cNvSpPr txBox="1"/>
          <p:nvPr/>
        </p:nvSpPr>
        <p:spPr>
          <a:xfrm>
            <a:off x="10305644" y="1529266"/>
            <a:ext cx="1340924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和</a:t>
            </a:r>
            <a:r>
              <a:rPr kumimoji="1" lang="en-US" altLang="zh-CN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CR</a:t>
            </a:r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什么关系？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C6DC600-44BD-E616-2567-254A550B79E0}"/>
              </a:ext>
            </a:extLst>
          </p:cNvPr>
          <p:cNvSpPr/>
          <p:nvPr/>
        </p:nvSpPr>
        <p:spPr>
          <a:xfrm>
            <a:off x="653141" y="2219826"/>
            <a:ext cx="10800921" cy="19750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9AF2C9C-AEB9-7468-102E-E071065E27A7}"/>
              </a:ext>
            </a:extLst>
          </p:cNvPr>
          <p:cNvSpPr txBox="1"/>
          <p:nvPr/>
        </p:nvSpPr>
        <p:spPr>
          <a:xfrm>
            <a:off x="890337" y="2329385"/>
            <a:ext cx="6605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PF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性质应用：</a:t>
            </a:r>
            <a:r>
              <a:rPr kumimoji="1" lang="en-US" altLang="zh-CN" b="1" dirty="0" err="1">
                <a:solidFill>
                  <a:srgbClr val="FF0000"/>
                </a:solidFill>
                <a:latin typeface="Garamond" panose="02020404030301010803" pitchFamily="18" charset="0"/>
              </a:rPr>
              <a:t>Hashcash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（反垃圾邮件）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F8D8D8-9E72-A651-D17E-6A3073D78316}"/>
                  </a:ext>
                </a:extLst>
              </p:cNvPr>
              <p:cNvSpPr txBox="1"/>
              <p:nvPr/>
            </p:nvSpPr>
            <p:spPr>
              <a:xfrm>
                <a:off x="737938" y="2794668"/>
                <a:ext cx="105012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latin typeface="Garamond" panose="02020404030301010803" pitchFamily="18" charset="0"/>
                  </a:rPr>
                  <a:t>（</a:t>
                </a:r>
                <a:r>
                  <a:rPr kumimoji="1" lang="en-US" altLang="zh-CN" dirty="0">
                    <a:latin typeface="Garamond" panose="02020404030301010803" pitchFamily="18" charset="0"/>
                  </a:rPr>
                  <a:t>1</a:t>
                </a:r>
                <a:r>
                  <a:rPr kumimoji="1" lang="zh-CN" altLang="en-US" dirty="0">
                    <a:latin typeface="Garamond" panose="02020404030301010803" pitchFamily="18" charset="0"/>
                  </a:rPr>
                  <a:t>）每个用户发送一封邮件，必须解决一个数学问题，找到一个随机数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，使得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正文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kumimoji="1"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8F8D8D8-9E72-A651-D17E-6A3073D78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8" y="2794668"/>
                <a:ext cx="10501234" cy="369332"/>
              </a:xfrm>
              <a:prstGeom prst="rect">
                <a:avLst/>
              </a:prstGeom>
              <a:blipFill>
                <a:blip r:embed="rId5"/>
                <a:stretch>
                  <a:fillRect l="-464" t="-8197" r="-2670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730B6C1-8AA7-0B46-4715-F0AF3F1BA0B5}"/>
                  </a:ext>
                </a:extLst>
              </p:cNvPr>
              <p:cNvSpPr txBox="1"/>
              <p:nvPr/>
            </p:nvSpPr>
            <p:spPr>
              <a:xfrm>
                <a:off x="737938" y="3199293"/>
                <a:ext cx="105012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dirty="0">
                    <a:latin typeface="Garamond" panose="02020404030301010803" pitchFamily="18" charset="0"/>
                  </a:rPr>
                  <a:t>（</a:t>
                </a:r>
                <a:r>
                  <a:rPr kumimoji="1" lang="en-US" altLang="zh-CN" dirty="0">
                    <a:latin typeface="Garamond" panose="02020404030301010803" pitchFamily="18" charset="0"/>
                  </a:rPr>
                  <a:t>2</a:t>
                </a:r>
                <a:r>
                  <a:rPr kumimoji="1" lang="zh-CN" altLang="en-US" dirty="0">
                    <a:latin typeface="Garamond" panose="02020404030301010803" pitchFamily="18" charset="0"/>
                  </a:rPr>
                  <a:t>）调整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kumimoji="1" lang="zh-CN" altLang="en-US" dirty="0">
                    <a:latin typeface="Garamond" panose="02020404030301010803" pitchFamily="18" charset="0"/>
                  </a:rPr>
                  <a:t>的大小，可以控制暴力搜索的时间。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730B6C1-8AA7-0B46-4715-F0AF3F1BA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38" y="3199293"/>
                <a:ext cx="10501234" cy="369332"/>
              </a:xfrm>
              <a:prstGeom prst="rect">
                <a:avLst/>
              </a:prstGeom>
              <a:blipFill>
                <a:blip r:embed="rId6"/>
                <a:stretch>
                  <a:fillRect l="-464" t="-10000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F01BE1A0-4A8F-5E25-5ADE-6CA5ED7B99DA}"/>
              </a:ext>
            </a:extLst>
          </p:cNvPr>
          <p:cNvSpPr txBox="1"/>
          <p:nvPr/>
        </p:nvSpPr>
        <p:spPr>
          <a:xfrm>
            <a:off x="732249" y="3603919"/>
            <a:ext cx="1050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（</a:t>
            </a:r>
            <a:r>
              <a:rPr kumimoji="1" lang="en-US" altLang="zh-CN" dirty="0">
                <a:latin typeface="Garamond" panose="02020404030301010803" pitchFamily="18" charset="0"/>
              </a:rPr>
              <a:t>3</a:t>
            </a:r>
            <a:r>
              <a:rPr kumimoji="1" lang="zh-CN" altLang="en-US" dirty="0">
                <a:latin typeface="Garamond" panose="02020404030301010803" pitchFamily="18" charset="0"/>
              </a:rPr>
              <a:t>）垃圾邮件发送者发</a:t>
            </a:r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10000</a:t>
            </a:r>
            <a:r>
              <a:rPr kumimoji="1" lang="zh-CN" altLang="en-US" dirty="0">
                <a:latin typeface="Garamond" panose="02020404030301010803" pitchFamily="18" charset="0"/>
              </a:rPr>
              <a:t>封需要的时间是普通用户发送一封邮件需要时间的</a:t>
            </a:r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10000</a:t>
            </a:r>
            <a:r>
              <a:rPr kumimoji="1" lang="zh-CN" altLang="en-US" dirty="0">
                <a:latin typeface="Garamond" panose="02020404030301010803" pitchFamily="18" charset="0"/>
              </a:rPr>
              <a:t>倍。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53A18E0-006D-8678-FA14-9F960BA5B694}"/>
              </a:ext>
            </a:extLst>
          </p:cNvPr>
          <p:cNvSpPr txBox="1"/>
          <p:nvPr/>
        </p:nvSpPr>
        <p:spPr>
          <a:xfrm>
            <a:off x="8973716" y="2218812"/>
            <a:ext cx="25247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工作量证明：</a:t>
            </a:r>
            <a:endParaRPr kumimoji="1" lang="en-US" altLang="zh-CN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r>
              <a:rPr kumimoji="1"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Proof of Works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（</a:t>
            </a:r>
            <a:r>
              <a:rPr kumimoji="1" lang="en-US" altLang="zh-CN" b="1" dirty="0" err="1">
                <a:solidFill>
                  <a:srgbClr val="FF0000"/>
                </a:solidFill>
                <a:latin typeface="Garamond" panose="02020404030301010803" pitchFamily="18" charset="0"/>
              </a:rPr>
              <a:t>PoW</a:t>
            </a:r>
            <a:r>
              <a:rPr kumimoji="1"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）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9F94260-FC93-CBAB-8BA1-8163F3EC69D9}"/>
              </a:ext>
            </a:extLst>
          </p:cNvPr>
          <p:cNvSpPr/>
          <p:nvPr/>
        </p:nvSpPr>
        <p:spPr>
          <a:xfrm>
            <a:off x="3898896" y="5025677"/>
            <a:ext cx="2298030" cy="14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E04133-E844-FC29-752F-08F5BA3CE945}"/>
              </a:ext>
            </a:extLst>
          </p:cNvPr>
          <p:cNvSpPr txBox="1"/>
          <p:nvPr/>
        </p:nvSpPr>
        <p:spPr>
          <a:xfrm>
            <a:off x="3985642" y="5441174"/>
            <a:ext cx="2124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Garamond" panose="02020404030301010803" pitchFamily="18" charset="0"/>
              </a:rPr>
              <a:t>哈希运算是不是一种加密算法？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DB233CB-F13C-AAB7-2DA6-B40B11CFEC0B}"/>
              </a:ext>
            </a:extLst>
          </p:cNvPr>
          <p:cNvSpPr/>
          <p:nvPr/>
        </p:nvSpPr>
        <p:spPr>
          <a:xfrm>
            <a:off x="6589748" y="5025677"/>
            <a:ext cx="2298030" cy="14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B121F8-C7F7-9FEF-41CC-2CF4ED5AD9BD}"/>
              </a:ext>
            </a:extLst>
          </p:cNvPr>
          <p:cNvSpPr txBox="1"/>
          <p:nvPr/>
        </p:nvSpPr>
        <p:spPr>
          <a:xfrm>
            <a:off x="6590470" y="5164176"/>
            <a:ext cx="23293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Garamond" panose="02020404030301010803" pitchFamily="18" charset="0"/>
              </a:rPr>
              <a:t>基于</a:t>
            </a:r>
            <a:r>
              <a:rPr lang="en-US" altLang="zh-CN" b="1" dirty="0">
                <a:latin typeface="Garamond" panose="02020404030301010803" pitchFamily="18" charset="0"/>
              </a:rPr>
              <a:t>PF</a:t>
            </a:r>
            <a:r>
              <a:rPr lang="zh-CN" altLang="en-US" b="1" dirty="0">
                <a:latin typeface="Garamond" panose="02020404030301010803" pitchFamily="18" charset="0"/>
              </a:rPr>
              <a:t>求解一个谜题，得到的</a:t>
            </a: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256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比特</a:t>
            </a:r>
            <a:r>
              <a:rPr lang="zh-CN" altLang="en-US" b="1" dirty="0">
                <a:latin typeface="Garamond" panose="02020404030301010803" pitchFamily="18" charset="0"/>
              </a:rPr>
              <a:t>的哈希值，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前</a:t>
            </a: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100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位全为</a:t>
            </a:r>
            <a:r>
              <a:rPr lang="en-US" altLang="zh-CN" b="1" dirty="0">
                <a:solidFill>
                  <a:srgbClr val="FF0000"/>
                </a:solidFill>
                <a:latin typeface="Garamond" panose="02020404030301010803" pitchFamily="18" charset="0"/>
              </a:rPr>
              <a:t>0</a:t>
            </a:r>
            <a:r>
              <a:rPr lang="zh-CN" altLang="en-US" b="1" dirty="0">
                <a:latin typeface="Garamond" panose="02020404030301010803" pitchFamily="18" charset="0"/>
              </a:rPr>
              <a:t>的概率是多少？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2B4312-E572-1341-60E9-FBBD479A332F}"/>
              </a:ext>
            </a:extLst>
          </p:cNvPr>
          <p:cNvSpPr txBox="1"/>
          <p:nvPr/>
        </p:nvSpPr>
        <p:spPr>
          <a:xfrm>
            <a:off x="653141" y="5138573"/>
            <a:ext cx="41886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Garamond" panose="02020404030301010803" pitchFamily="18" charset="0"/>
              </a:rPr>
              <a:t>Python</a:t>
            </a:r>
            <a:r>
              <a:rPr kumimoji="1" lang="zh-CN" altLang="en-US" dirty="0">
                <a:latin typeface="Garamond" panose="02020404030301010803" pitchFamily="18" charset="0"/>
              </a:rPr>
              <a:t>中哈希运算库：</a:t>
            </a:r>
            <a:r>
              <a:rPr kumimoji="1" lang="en-US" altLang="zh-CN" b="1" dirty="0" err="1">
                <a:solidFill>
                  <a:srgbClr val="FF0000"/>
                </a:solidFill>
                <a:latin typeface="Garamond" panose="02020404030301010803" pitchFamily="18" charset="0"/>
              </a:rPr>
              <a:t>hashlib</a:t>
            </a:r>
            <a:endParaRPr kumimoji="1" lang="en-US" altLang="zh-CN" b="1" dirty="0">
              <a:solidFill>
                <a:srgbClr val="FF0000"/>
              </a:solidFill>
              <a:latin typeface="Garamond" panose="02020404030301010803" pitchFamily="18" charset="0"/>
            </a:endParaRPr>
          </a:p>
          <a:p>
            <a:endParaRPr kumimoji="1" lang="en-US" altLang="zh-CN" dirty="0"/>
          </a:p>
          <a:p>
            <a:r>
              <a:rPr kumimoji="1" lang="en-US" altLang="zh-CN" dirty="0">
                <a:latin typeface="monofur" panose="020F0409020203020204" pitchFamily="49" charset="0"/>
              </a:rPr>
              <a:t>H = hashlib.sha256()</a:t>
            </a:r>
          </a:p>
          <a:p>
            <a:r>
              <a:rPr kumimoji="1" lang="en-US" altLang="zh-CN" dirty="0" err="1">
                <a:latin typeface="monofur" panose="020F0409020203020204" pitchFamily="49" charset="0"/>
              </a:rPr>
              <a:t>H.update</a:t>
            </a:r>
            <a:r>
              <a:rPr kumimoji="1" lang="en-US" altLang="zh-CN" dirty="0">
                <a:latin typeface="monofur" panose="020F0409020203020204" pitchFamily="49" charset="0"/>
              </a:rPr>
              <a:t>(</a:t>
            </a:r>
            <a:r>
              <a:rPr kumimoji="1" lang="en-US" altLang="zh-CN" dirty="0" err="1">
                <a:latin typeface="monofur" panose="020F0409020203020204" pitchFamily="49" charset="0"/>
              </a:rPr>
              <a:t>b’hello</a:t>
            </a:r>
            <a:r>
              <a:rPr kumimoji="1" lang="en-US" altLang="zh-CN" dirty="0">
                <a:latin typeface="monofur" panose="020F0409020203020204" pitchFamily="49" charset="0"/>
              </a:rPr>
              <a:t> world’)</a:t>
            </a:r>
          </a:p>
          <a:p>
            <a:r>
              <a:rPr kumimoji="1" lang="en-US" altLang="zh-CN" dirty="0" err="1">
                <a:latin typeface="monofur" panose="020F0409020203020204" pitchFamily="49" charset="0"/>
              </a:rPr>
              <a:t>H.hexdigest</a:t>
            </a:r>
            <a:r>
              <a:rPr kumimoji="1" lang="en-US" altLang="zh-CN" dirty="0">
                <a:latin typeface="monofur" panose="020F0409020203020204" pitchFamily="49" charset="0"/>
              </a:rPr>
              <a:t>()</a:t>
            </a:r>
            <a:endParaRPr kumimoji="1" lang="zh-CN" altLang="en-US" dirty="0">
              <a:latin typeface="monofur" panose="020F0409020203020204" pitchFamily="49" charset="0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7DFF722-9142-2BF2-9786-40A1242D3F44}"/>
              </a:ext>
            </a:extLst>
          </p:cNvPr>
          <p:cNvSpPr/>
          <p:nvPr/>
        </p:nvSpPr>
        <p:spPr>
          <a:xfrm>
            <a:off x="9156032" y="5025677"/>
            <a:ext cx="2298030" cy="14773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0BD5C51-F95D-EEB4-95D6-2D721600B052}"/>
              </a:ext>
            </a:extLst>
          </p:cNvPr>
          <p:cNvSpPr txBox="1"/>
          <p:nvPr/>
        </p:nvSpPr>
        <p:spPr>
          <a:xfrm>
            <a:off x="9296440" y="5164176"/>
            <a:ext cx="2017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Garamond" panose="02020404030301010803" pitchFamily="18" charset="0"/>
              </a:rPr>
              <a:t>每秒计算</a:t>
            </a:r>
            <a:r>
              <a:rPr lang="en-US" altLang="zh-CN" b="1" dirty="0">
                <a:latin typeface="Garamond" panose="02020404030301010803" pitchFamily="18" charset="0"/>
              </a:rPr>
              <a:t>1</a:t>
            </a:r>
            <a:r>
              <a:rPr lang="zh-CN" altLang="en-US" b="1" dirty="0">
                <a:latin typeface="Garamond" panose="02020404030301010803" pitchFamily="18" charset="0"/>
              </a:rPr>
              <a:t>次哈希值，找到前</a:t>
            </a:r>
            <a:r>
              <a:rPr lang="en-US" altLang="zh-CN" b="1" dirty="0">
                <a:latin typeface="Garamond" panose="02020404030301010803" pitchFamily="18" charset="0"/>
              </a:rPr>
              <a:t>100</a:t>
            </a:r>
            <a:r>
              <a:rPr lang="zh-CN" altLang="en-US" b="1" dirty="0">
                <a:latin typeface="Garamond" panose="02020404030301010803" pitchFamily="18" charset="0"/>
              </a:rPr>
              <a:t>位全为</a:t>
            </a:r>
            <a:r>
              <a:rPr lang="en-US" altLang="zh-CN" b="1" dirty="0">
                <a:latin typeface="Garamond" panose="02020404030301010803" pitchFamily="18" charset="0"/>
              </a:rPr>
              <a:t>0</a:t>
            </a:r>
            <a:r>
              <a:rPr lang="zh-CN" altLang="en-US" b="1" dirty="0">
                <a:latin typeface="Garamond" panose="02020404030301010803" pitchFamily="18" charset="0"/>
              </a:rPr>
              <a:t>的哈希值</a:t>
            </a: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最长的时间</a:t>
            </a:r>
            <a:r>
              <a:rPr lang="zh-CN" altLang="en-US" b="1" dirty="0">
                <a:latin typeface="Garamond" panose="02020404030301010803" pitchFamily="18" charset="0"/>
              </a:rPr>
              <a:t>可能是？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BA2A77-4349-4059-875E-BF8085E0AAFB}"/>
              </a:ext>
            </a:extLst>
          </p:cNvPr>
          <p:cNvSpPr txBox="1"/>
          <p:nvPr/>
        </p:nvSpPr>
        <p:spPr>
          <a:xfrm>
            <a:off x="653143" y="4475828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  <a:latin typeface="Garamond" panose="02020404030301010803" pitchFamily="18" charset="0"/>
              </a:rPr>
              <a:t>高效性：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FC1BFD0-4F91-4405-94C6-E1667CA22092}"/>
              </a:ext>
            </a:extLst>
          </p:cNvPr>
          <p:cNvSpPr txBox="1"/>
          <p:nvPr/>
        </p:nvSpPr>
        <p:spPr>
          <a:xfrm>
            <a:off x="1975330" y="4527093"/>
            <a:ext cx="43249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b="0" dirty="0">
                <a:latin typeface="Garamond" panose="02020404030301010803" pitchFamily="18" charset="0"/>
              </a:rPr>
              <a:t>一次哈希运算的速度非常快，时间非常短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932A99A-5A77-4489-BC74-6A19BEB20026}"/>
              </a:ext>
            </a:extLst>
          </p:cNvPr>
          <p:cNvCxnSpPr/>
          <p:nvPr/>
        </p:nvCxnSpPr>
        <p:spPr>
          <a:xfrm flipV="1">
            <a:off x="6196926" y="4660494"/>
            <a:ext cx="425090" cy="4292"/>
          </a:xfrm>
          <a:prstGeom prst="straightConnector1">
            <a:avLst/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6EE3682F-45B7-4C6C-8B11-3A7C6F37038E}"/>
              </a:ext>
            </a:extLst>
          </p:cNvPr>
          <p:cNvSpPr txBox="1"/>
          <p:nvPr/>
        </p:nvSpPr>
        <p:spPr>
          <a:xfrm>
            <a:off x="6757325" y="4527093"/>
            <a:ext cx="432498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b="0" dirty="0">
                <a:latin typeface="Garamond" panose="02020404030301010803" pitchFamily="18" charset="0"/>
              </a:rPr>
              <a:t>Difficult to solve, but easy to verify.</a:t>
            </a:r>
            <a:endParaRPr lang="zh-CN" alt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28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11" grpId="0" animBg="1"/>
      <p:bldP spid="12" grpId="0" animBg="1"/>
      <p:bldP spid="14" grpId="0"/>
      <p:bldP spid="15" grpId="0"/>
      <p:bldP spid="17" grpId="0"/>
      <p:bldP spid="22" grpId="0"/>
      <p:bldP spid="24" grpId="0"/>
      <p:bldP spid="4" grpId="0" animBg="1"/>
      <p:bldP spid="5" grpId="0"/>
      <p:bldP spid="8" grpId="0" animBg="1"/>
      <p:bldP spid="9" grpId="0"/>
      <p:bldP spid="16" grpId="0"/>
      <p:bldP spid="18" grpId="0" animBg="1"/>
      <p:bldP spid="19" grpId="0"/>
      <p:bldP spid="23" grpId="0"/>
      <p:bldP spid="25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2.1 </a:t>
            </a:r>
            <a:r>
              <a:rPr kumimoji="1" lang="zh-CN" altLang="en-US" dirty="0"/>
              <a:t>哈希运算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</a:rPr>
              <a:t>2.2 </a:t>
            </a:r>
            <a:r>
              <a:rPr kumimoji="1" lang="zh-CN" altLang="en-US" b="1" dirty="0">
                <a:solidFill>
                  <a:srgbClr val="B962FF"/>
                </a:solidFill>
              </a:rPr>
              <a:t>互联网信息传输安全</a:t>
            </a:r>
            <a:endParaRPr kumimoji="1" lang="en-US" altLang="zh-CN" b="1" dirty="0">
              <a:solidFill>
                <a:srgbClr val="B962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</a:rPr>
              <a:t>2.3 </a:t>
            </a:r>
            <a:r>
              <a:rPr kumimoji="1" lang="zh-CN" altLang="en-US" b="1" dirty="0">
                <a:solidFill>
                  <a:srgbClr val="B962FF"/>
                </a:solidFill>
              </a:rPr>
              <a:t>对称加密</a:t>
            </a:r>
            <a:endParaRPr kumimoji="1" lang="en-US" altLang="zh-CN" b="1" dirty="0">
              <a:solidFill>
                <a:srgbClr val="B962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</a:rPr>
              <a:t>2.4 </a:t>
            </a:r>
            <a:r>
              <a:rPr kumimoji="1" lang="zh-CN" altLang="en-US" b="1" dirty="0">
                <a:solidFill>
                  <a:srgbClr val="B962FF"/>
                </a:solidFill>
              </a:rPr>
              <a:t>公钥加密</a:t>
            </a:r>
            <a:endParaRPr kumimoji="1" lang="en-US" altLang="zh-CN" b="1" dirty="0">
              <a:solidFill>
                <a:srgbClr val="B962FF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2.5 </a:t>
            </a:r>
            <a:r>
              <a:rPr kumimoji="1" lang="zh-CN" altLang="en-US" dirty="0"/>
              <a:t>数字签名与证书</a:t>
            </a:r>
            <a:endParaRPr kumimoji="1" lang="en-US" altLang="zh-CN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690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互联网信息传输安全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92598" y="1492356"/>
            <a:ext cx="8220812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dirty="0"/>
              <a:t>如何在不安全的链路上传输信息？</a:t>
            </a:r>
            <a:r>
              <a:rPr lang="en-US" altLang="zh-CN" dirty="0">
                <a:solidFill>
                  <a:srgbClr val="FF0000"/>
                </a:solidFill>
              </a:rPr>
              <a:t>——</a:t>
            </a:r>
            <a:r>
              <a:rPr lang="zh-CN" altLang="en-US" dirty="0">
                <a:solidFill>
                  <a:srgbClr val="FF0000"/>
                </a:solidFill>
              </a:rPr>
              <a:t>加密</a:t>
            </a:r>
          </a:p>
        </p:txBody>
      </p:sp>
      <p:sp>
        <p:nvSpPr>
          <p:cNvPr id="7" name="圆角矩形 7"/>
          <p:cNvSpPr/>
          <p:nvPr/>
        </p:nvSpPr>
        <p:spPr>
          <a:xfrm>
            <a:off x="1319170" y="2384417"/>
            <a:ext cx="998378" cy="5465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明文</a:t>
            </a:r>
          </a:p>
        </p:txBody>
      </p:sp>
      <p:sp>
        <p:nvSpPr>
          <p:cNvPr id="8" name="圆角矩形 10"/>
          <p:cNvSpPr/>
          <p:nvPr/>
        </p:nvSpPr>
        <p:spPr>
          <a:xfrm>
            <a:off x="2723301" y="2385572"/>
            <a:ext cx="998378" cy="5465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加密</a:t>
            </a:r>
            <a:endParaRPr kumimoji="1" lang="en-US" altLang="zh-CN" dirty="0">
              <a:latin typeface="+mj-ea"/>
              <a:ea typeface="+mj-ea"/>
            </a:endParaRPr>
          </a:p>
          <a:p>
            <a:pPr algn="ctr"/>
            <a:r>
              <a:rPr kumimoji="1" lang="zh-CN" altLang="en-US" dirty="0">
                <a:latin typeface="+mj-ea"/>
                <a:ea typeface="+mj-ea"/>
              </a:rPr>
              <a:t>算法</a:t>
            </a:r>
          </a:p>
        </p:txBody>
      </p:sp>
      <p:sp>
        <p:nvSpPr>
          <p:cNvPr id="9" name="圆角矩形 11"/>
          <p:cNvSpPr/>
          <p:nvPr/>
        </p:nvSpPr>
        <p:spPr>
          <a:xfrm>
            <a:off x="4130741" y="3445172"/>
            <a:ext cx="998378" cy="546538"/>
          </a:xfrm>
          <a:prstGeom prst="roundRect">
            <a:avLst/>
          </a:prstGeom>
          <a:pattFill prst="wd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+mj-ea"/>
                <a:ea typeface="+mj-ea"/>
              </a:rPr>
              <a:t>互联网</a:t>
            </a:r>
          </a:p>
        </p:txBody>
      </p:sp>
      <p:sp>
        <p:nvSpPr>
          <p:cNvPr id="10" name="圆角矩形 12"/>
          <p:cNvSpPr/>
          <p:nvPr/>
        </p:nvSpPr>
        <p:spPr>
          <a:xfrm>
            <a:off x="2723301" y="3435373"/>
            <a:ext cx="998378" cy="5465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解密</a:t>
            </a:r>
            <a:endParaRPr kumimoji="1" lang="en-US" altLang="zh-CN" dirty="0">
              <a:latin typeface="+mj-ea"/>
              <a:ea typeface="+mj-ea"/>
            </a:endParaRPr>
          </a:p>
          <a:p>
            <a:pPr algn="ctr"/>
            <a:r>
              <a:rPr kumimoji="1" lang="zh-CN" altLang="en-US" dirty="0">
                <a:latin typeface="+mj-ea"/>
                <a:ea typeface="+mj-ea"/>
              </a:rPr>
              <a:t>算法</a:t>
            </a:r>
          </a:p>
        </p:txBody>
      </p:sp>
      <p:sp>
        <p:nvSpPr>
          <p:cNvPr id="11" name="圆角矩形 13"/>
          <p:cNvSpPr/>
          <p:nvPr/>
        </p:nvSpPr>
        <p:spPr>
          <a:xfrm>
            <a:off x="1319012" y="3445172"/>
            <a:ext cx="998378" cy="5465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明文</a:t>
            </a:r>
          </a:p>
        </p:txBody>
      </p:sp>
      <p:sp>
        <p:nvSpPr>
          <p:cNvPr id="12" name="圆角矩形 14"/>
          <p:cNvSpPr/>
          <p:nvPr/>
        </p:nvSpPr>
        <p:spPr>
          <a:xfrm>
            <a:off x="4130741" y="2384417"/>
            <a:ext cx="998378" cy="54653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密文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19170" y="2004585"/>
            <a:ext cx="9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发送方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15861" y="3979753"/>
            <a:ext cx="99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接收方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591921" y="3968998"/>
            <a:ext cx="126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解密密钥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649833" y="2004585"/>
            <a:ext cx="126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+mj-ea"/>
                <a:ea typeface="+mj-ea"/>
              </a:rPr>
              <a:t>加密密钥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953956" y="2988050"/>
            <a:ext cx="694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latin typeface="+mj-ea"/>
                <a:ea typeface="+mj-ea"/>
              </a:rPr>
              <a:t>传输</a:t>
            </a:r>
          </a:p>
        </p:txBody>
      </p:sp>
      <p:cxnSp>
        <p:nvCxnSpPr>
          <p:cNvPr id="18" name="直线箭头连接符 20"/>
          <p:cNvCxnSpPr>
            <a:stCxn id="7" idx="3"/>
            <a:endCxn id="8" idx="1"/>
          </p:cNvCxnSpPr>
          <p:nvPr/>
        </p:nvCxnSpPr>
        <p:spPr>
          <a:xfrm>
            <a:off x="2317548" y="2657686"/>
            <a:ext cx="405753" cy="115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21"/>
          <p:cNvCxnSpPr/>
          <p:nvPr/>
        </p:nvCxnSpPr>
        <p:spPr>
          <a:xfrm>
            <a:off x="3751080" y="2663235"/>
            <a:ext cx="405753" cy="115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23"/>
          <p:cNvCxnSpPr>
            <a:stCxn id="12" idx="2"/>
            <a:endCxn id="9" idx="0"/>
          </p:cNvCxnSpPr>
          <p:nvPr/>
        </p:nvCxnSpPr>
        <p:spPr>
          <a:xfrm>
            <a:off x="4629930" y="2930955"/>
            <a:ext cx="0" cy="51421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4"/>
          <p:cNvCxnSpPr>
            <a:stCxn id="9" idx="1"/>
            <a:endCxn id="10" idx="3"/>
          </p:cNvCxnSpPr>
          <p:nvPr/>
        </p:nvCxnSpPr>
        <p:spPr>
          <a:xfrm flipH="1" flipV="1">
            <a:off x="3721679" y="3708642"/>
            <a:ext cx="409062" cy="9799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7"/>
          <p:cNvCxnSpPr/>
          <p:nvPr/>
        </p:nvCxnSpPr>
        <p:spPr>
          <a:xfrm flipH="1">
            <a:off x="2315893" y="3722876"/>
            <a:ext cx="409062" cy="3367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614" y="4548196"/>
            <a:ext cx="2877594" cy="914454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445821" y="2851807"/>
            <a:ext cx="4340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zh-CN" altLang="en-US" b="1" dirty="0"/>
              <a:t>对称加密    </a:t>
            </a:r>
            <a:r>
              <a:rPr kumimoji="1" lang="en-US" altLang="zh-CN" b="1" dirty="0"/>
              <a:t> </a:t>
            </a:r>
            <a:r>
              <a:rPr kumimoji="1" lang="zh-CN" altLang="en-US" dirty="0"/>
              <a:t>：加密密钥 </a:t>
            </a:r>
            <a:r>
              <a:rPr kumimoji="1" lang="en-US" altLang="zh-CN" b="1" dirty="0">
                <a:solidFill>
                  <a:srgbClr val="EE1A1A"/>
                </a:solidFill>
              </a:rPr>
              <a:t>=</a:t>
            </a:r>
            <a:r>
              <a:rPr kumimoji="1" lang="zh-CN" altLang="en-US" dirty="0"/>
              <a:t> 解密密钥</a:t>
            </a:r>
            <a:endParaRPr kumimoji="1"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1" lang="zh-CN" altLang="en-US" b="1" dirty="0"/>
              <a:t>非对称加密</a:t>
            </a:r>
            <a:r>
              <a:rPr kumimoji="1" lang="en-US" altLang="zh-CN" b="1" dirty="0"/>
              <a:t> </a:t>
            </a:r>
            <a:r>
              <a:rPr kumimoji="1" lang="zh-CN" altLang="en-US" dirty="0"/>
              <a:t>：加密密钥 </a:t>
            </a:r>
            <a:r>
              <a:rPr kumimoji="1" lang="en-US" altLang="zh-CN" b="1" dirty="0">
                <a:solidFill>
                  <a:srgbClr val="EE1A1A"/>
                </a:solidFill>
              </a:rPr>
              <a:t>≠</a:t>
            </a:r>
            <a:r>
              <a:rPr kumimoji="1" lang="en-US" altLang="zh-CN" dirty="0">
                <a:solidFill>
                  <a:schemeClr val="accent6"/>
                </a:solidFill>
              </a:rPr>
              <a:t> </a:t>
            </a:r>
            <a:r>
              <a:rPr kumimoji="1" lang="zh-CN" altLang="en-US" dirty="0"/>
              <a:t>解密密钥</a:t>
            </a:r>
          </a:p>
        </p:txBody>
      </p:sp>
      <p:pic>
        <p:nvPicPr>
          <p:cNvPr id="25" name="内容占位符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18" y="4457809"/>
            <a:ext cx="3111328" cy="1139119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446015" y="4338270"/>
            <a:ext cx="2890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期望发送消息：</a:t>
            </a:r>
            <a:r>
              <a:rPr lang="en-US" altLang="zh-CN" sz="2000" dirty="0" err="1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abc</a:t>
            </a:r>
            <a:endParaRPr lang="zh-CN" altLang="en-US" sz="2000" dirty="0">
              <a:solidFill>
                <a:srgbClr val="EE1A1A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446015" y="4708741"/>
            <a:ext cx="4945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选择密钥</a:t>
            </a:r>
            <a:r>
              <a:rPr lang="en-US" altLang="zh-CN" sz="2000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，加密算法</a:t>
            </a:r>
            <a:r>
              <a:rPr lang="zh-CN" altLang="en-US" sz="2000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按字母表移位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446015" y="5079212"/>
            <a:ext cx="4472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发送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xyz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Bob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和窃听者均收到</a:t>
            </a:r>
            <a:r>
              <a:rPr lang="en-US" altLang="zh-CN" sz="2000" dirty="0" err="1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xyz</a:t>
            </a:r>
            <a:endParaRPr lang="zh-CN" altLang="en-US" sz="2000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5813425"/>
            <a:ext cx="1835150" cy="908050"/>
          </a:xfrm>
          <a:prstGeom prst="rect">
            <a:avLst/>
          </a:prstGeom>
        </p:spPr>
      </p:pic>
      <p:sp>
        <p:nvSpPr>
          <p:cNvPr id="35" name="内容占位符 3"/>
          <p:cNvSpPr txBox="1"/>
          <p:nvPr/>
        </p:nvSpPr>
        <p:spPr>
          <a:xfrm>
            <a:off x="2798034" y="5813248"/>
            <a:ext cx="5840968" cy="726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密钥是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，算法是乘除。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/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要发送数字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，先做个乘积，发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55.</a:t>
            </a:r>
          </a:p>
        </p:txBody>
      </p:sp>
      <p:sp>
        <p:nvSpPr>
          <p:cNvPr id="6" name="矩形 5"/>
          <p:cNvSpPr/>
          <p:nvPr/>
        </p:nvSpPr>
        <p:spPr>
          <a:xfrm>
            <a:off x="8159526" y="5957570"/>
            <a:ext cx="246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解密是加密的反过程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24" grpId="0"/>
      <p:bldP spid="24" grpId="1"/>
      <p:bldP spid="26" grpId="0"/>
      <p:bldP spid="26" grpId="1"/>
      <p:bldP spid="27" grpId="0"/>
      <p:bldP spid="27" grpId="1"/>
      <p:bldP spid="28" grpId="0"/>
      <p:bldP spid="28" grpId="1"/>
      <p:bldP spid="35" grpId="0"/>
      <p:bldP spid="35" grpId="1"/>
      <p:bldP spid="6" grpId="1"/>
      <p:bldP spid="6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29" name="内容占位符 2"/>
          <p:cNvSpPr>
            <a:spLocks noGrp="1"/>
          </p:cNvSpPr>
          <p:nvPr>
            <p:ph idx="1"/>
          </p:nvPr>
        </p:nvSpPr>
        <p:spPr>
          <a:xfrm>
            <a:off x="92710" y="1432560"/>
            <a:ext cx="7862570" cy="424815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特点：密钥是一样的，加密解密是对称的过程</a:t>
            </a:r>
            <a:endParaRPr lang="en-US" altLang="zh-CN" sz="2000" dirty="0">
              <a:solidFill>
                <a:srgbClr val="C00000"/>
              </a:solidFill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6356534" y="1488546"/>
          <a:ext cx="5391151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7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1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1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13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13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密文</a:t>
                      </a: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猜测</a:t>
                      </a: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xyz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移位数</a:t>
                      </a: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23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24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原文</a:t>
                      </a: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wxy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vwx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uvw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abc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zab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marT="45733" marB="457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3190452" y="2920678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9pPr>
          </a:lstStyle>
          <a:p>
            <a:pPr marL="0" lvl="1" indent="0">
              <a:spcBef>
                <a:spcPts val="6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窃听者能知道什么？</a:t>
            </a:r>
          </a:p>
        </p:txBody>
      </p: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6676416" y="2689792"/>
            <a:ext cx="4751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>
                <a:latin typeface="Times New Roman" panose="02020603050405020304" pitchFamily="18" charset="0"/>
              </a:rPr>
              <a:t>Bob</a:t>
            </a:r>
            <a:r>
              <a:rPr lang="zh-CN" altLang="en-US">
                <a:latin typeface="Times New Roman" panose="02020603050405020304" pitchFamily="18" charset="0"/>
              </a:rPr>
              <a:t>：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知道移位数（密钥）是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23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xyz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→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abc</a:t>
            </a:r>
            <a:endParaRPr lang="zh-CN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057541" y="3160959"/>
            <a:ext cx="1989137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Bob</a:t>
            </a:r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怎么知道这个</a:t>
            </a:r>
            <a:r>
              <a:rPr kumimoji="1" lang="en-US" altLang="zh-CN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23</a:t>
            </a:r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？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838" y="3010182"/>
            <a:ext cx="601662" cy="601662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72390" y="2002790"/>
            <a:ext cx="3912870" cy="2719705"/>
            <a:chOff x="114" y="3154"/>
            <a:chExt cx="6162" cy="4283"/>
          </a:xfrm>
        </p:grpSpPr>
        <p:pic>
          <p:nvPicPr>
            <p:cNvPr id="30" name="内容占位符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" y="3475"/>
              <a:ext cx="5473" cy="3962"/>
            </a:xfrm>
            <a:prstGeom prst="rect">
              <a:avLst/>
            </a:prstGeom>
          </p:spPr>
        </p:pic>
        <p:sp>
          <p:nvSpPr>
            <p:cNvPr id="36" name="内容占位符 2"/>
            <p:cNvSpPr txBox="1"/>
            <p:nvPr/>
          </p:nvSpPr>
          <p:spPr>
            <a:xfrm>
              <a:off x="114" y="3154"/>
              <a:ext cx="4059" cy="9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60680" indent="-3606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buFont typeface="Arial" panose="020B0604020202020204" pitchFamily="34" charset="0"/>
                <a:buNone/>
              </a:pPr>
              <a:r>
                <a:rPr lang="zh-CN" altLang="en-US" sz="2000" dirty="0"/>
                <a:t>存在窃听者：</a:t>
              </a:r>
              <a:endParaRPr lang="en-US" altLang="zh-CN" sz="2000" dirty="0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92599" y="5458129"/>
            <a:ext cx="60944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能否找到一种加密方式，让加密解密方用</a:t>
            </a:r>
            <a:r>
              <a:rPr lang="zh-CN" altLang="en-US" sz="20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不同的密钥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spcBef>
                <a:spcPts val="600"/>
              </a:spcBef>
              <a:buFont typeface="Times New Roman" panose="02020603050405020304" pitchFamily="18" charset="0"/>
              <a:buChar char="֍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得到加密密钥无法解密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spcBef>
                <a:spcPts val="600"/>
              </a:spcBef>
              <a:buFont typeface="Times New Roman" panose="02020603050405020304" pitchFamily="18" charset="0"/>
              <a:buChar char="֍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得到解密密钥才可解密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15" y="3909695"/>
            <a:ext cx="4655820" cy="2777490"/>
          </a:xfrm>
          <a:prstGeom prst="rect">
            <a:avLst/>
          </a:prstGeom>
        </p:spPr>
      </p:pic>
      <p:sp>
        <p:nvSpPr>
          <p:cNvPr id="39" name="圆角矩形 4"/>
          <p:cNvSpPr/>
          <p:nvPr/>
        </p:nvSpPr>
        <p:spPr>
          <a:xfrm>
            <a:off x="6571668" y="4326335"/>
            <a:ext cx="4960882" cy="336331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内容占位符 2"/>
          <p:cNvSpPr txBox="1"/>
          <p:nvPr/>
        </p:nvSpPr>
        <p:spPr>
          <a:xfrm>
            <a:off x="7434580" y="3622675"/>
            <a:ext cx="3235960" cy="407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680" indent="-3606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 panose="020B0604020202020204" pitchFamily="34" charset="0"/>
              <a:buNone/>
            </a:pPr>
            <a:r>
              <a:rPr kumimoji="1" lang="en-US" altLang="zh-CN" sz="1400" dirty="0">
                <a:solidFill>
                  <a:srgbClr val="002060"/>
                </a:solidFill>
                <a:latin typeface="Times New Roman" panose="02020603050405020304" pitchFamily="18" charset="0"/>
              </a:rPr>
              <a:t>约定密钥：提前商定/传递密</a:t>
            </a:r>
            <a:r>
              <a:rPr lang="zh-CN" altLang="en-US" sz="1400" dirty="0"/>
              <a:t>钥</a:t>
            </a:r>
          </a:p>
        </p:txBody>
      </p:sp>
      <p:sp>
        <p:nvSpPr>
          <p:cNvPr id="8" name="矩形 7"/>
          <p:cNvSpPr/>
          <p:nvPr/>
        </p:nvSpPr>
        <p:spPr>
          <a:xfrm>
            <a:off x="92923" y="4889935"/>
            <a:ext cx="6096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怎么传递都是不安全的，因为链路就是不安全的。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48675" y="5051425"/>
            <a:ext cx="1272540" cy="3067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非对称加密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p"/>
      <p:bldP spid="29" grpId="1" build="p"/>
      <p:bldP spid="32" grpId="0"/>
      <p:bldP spid="32" grpId="1"/>
      <p:bldP spid="33" grpId="0"/>
      <p:bldP spid="33" grpId="1"/>
      <p:bldP spid="34" grpId="0" animBg="1"/>
      <p:bldP spid="34" grpId="1" animBg="1"/>
      <p:bldP spid="37" grpId="0"/>
      <p:bldP spid="37" grpId="1"/>
      <p:bldP spid="39" grpId="0" animBg="1"/>
      <p:bldP spid="39" grpId="1" animBg="1"/>
      <p:bldP spid="7" grpId="0"/>
      <p:bldP spid="7" grpId="1"/>
      <p:bldP spid="8" grpId="0"/>
      <p:bldP spid="8" grpId="1"/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30" y="1585595"/>
            <a:ext cx="5257165" cy="349123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6621780" y="1564005"/>
            <a:ext cx="501523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Bob生成公钥、私钥密钥对；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Bob将公钥发送给Alice，保留私钥；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Alice将要发送的信息通过公钥加密；</a:t>
            </a:r>
          </a:p>
          <a:p>
            <a:pPr marL="342900" indent="-342900">
              <a:buFont typeface="+mj-lt"/>
              <a:buAutoNum type="arabicPeriod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Bob将收到的密文通过私钥解密。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8440420" y="4124960"/>
            <a:ext cx="149225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非对称加密</a:t>
            </a:r>
          </a:p>
        </p:txBody>
      </p:sp>
      <p:sp>
        <p:nvSpPr>
          <p:cNvPr id="36" name="文本框 35"/>
          <p:cNvSpPr txBox="1"/>
          <p:nvPr>
            <p:custDataLst>
              <p:tags r:id="rId1"/>
            </p:custDataLst>
          </p:nvPr>
        </p:nvSpPr>
        <p:spPr>
          <a:xfrm>
            <a:off x="7473315" y="5316855"/>
            <a:ext cx="149225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公钥</a:t>
            </a:r>
          </a:p>
        </p:txBody>
      </p:sp>
      <p:sp>
        <p:nvSpPr>
          <p:cNvPr id="37" name="文本框 36"/>
          <p:cNvSpPr txBox="1"/>
          <p:nvPr>
            <p:custDataLst>
              <p:tags r:id="rId2"/>
            </p:custDataLst>
          </p:nvPr>
        </p:nvSpPr>
        <p:spPr>
          <a:xfrm>
            <a:off x="9293860" y="5316855"/>
            <a:ext cx="1492250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</a:t>
            </a:r>
          </a:p>
        </p:txBody>
      </p:sp>
      <p:cxnSp>
        <p:nvCxnSpPr>
          <p:cNvPr id="38" name="直线箭头连接符 9"/>
          <p:cNvCxnSpPr>
            <a:stCxn id="35" idx="2"/>
            <a:endCxn id="36" idx="0"/>
          </p:cNvCxnSpPr>
          <p:nvPr>
            <p:custDataLst>
              <p:tags r:id="rId3"/>
            </p:custDataLst>
          </p:nvPr>
        </p:nvCxnSpPr>
        <p:spPr>
          <a:xfrm flipH="1">
            <a:off x="8220075" y="4525010"/>
            <a:ext cx="967105" cy="79184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11"/>
          <p:cNvCxnSpPr>
            <a:stCxn id="35" idx="2"/>
            <a:endCxn id="37" idx="0"/>
          </p:cNvCxnSpPr>
          <p:nvPr>
            <p:custDataLst>
              <p:tags r:id="rId4"/>
            </p:custDataLst>
          </p:nvPr>
        </p:nvCxnSpPr>
        <p:spPr>
          <a:xfrm>
            <a:off x="9186545" y="4525010"/>
            <a:ext cx="853440" cy="79184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7671435" y="5862320"/>
            <a:ext cx="109728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只能加密，不能解密</a:t>
            </a: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9491345" y="5858510"/>
            <a:ext cx="1097280" cy="646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只能解密，不能加密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55090" y="5273040"/>
            <a:ext cx="3763645" cy="600710"/>
            <a:chOff x="1598" y="9232"/>
            <a:chExt cx="5927" cy="946"/>
          </a:xfrm>
        </p:grpSpPr>
        <p:sp>
          <p:nvSpPr>
            <p:cNvPr id="44" name="文本框 43"/>
            <p:cNvSpPr txBox="1"/>
            <p:nvPr/>
          </p:nvSpPr>
          <p:spPr>
            <a:xfrm>
              <a:off x="2669" y="9456"/>
              <a:ext cx="4857" cy="582"/>
            </a:xfrm>
            <a:prstGeom prst="rect">
              <a:avLst/>
            </a:prstGeom>
            <a:solidFill>
              <a:srgbClr val="FFD801"/>
            </a:solidFill>
            <a:ln w="19050">
              <a:solidFill>
                <a:schemeClr val="tx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这样的方法存在吗？</a:t>
              </a: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8" y="9232"/>
              <a:ext cx="947" cy="9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  <p:bldP spid="35" grpId="0"/>
      <p:bldP spid="35" grpId="1"/>
      <p:bldP spid="36" grpId="0"/>
      <p:bldP spid="36" grpId="1"/>
      <p:bldP spid="37" grpId="0"/>
      <p:bldP spid="37" grpId="1"/>
      <p:bldP spid="42" grpId="0"/>
      <p:bldP spid="42" grpId="1"/>
      <p:bldP spid="43" grpId="0"/>
      <p:bldP spid="4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92598" y="1451716"/>
            <a:ext cx="5759562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 </a:t>
            </a:r>
            <a:r>
              <a:rPr lang="zh-CN" altLang="en-US" dirty="0"/>
              <a:t>设计一个简单的非对称加密系统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0" y="1965892"/>
            <a:ext cx="6282801" cy="2170959"/>
          </a:xfrm>
          <a:prstGeom prst="rect">
            <a:avLst/>
          </a:prstGeom>
        </p:spPr>
        <p:txBody>
          <a:bodyPr>
            <a:normAutofit/>
          </a:bodyPr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1pPr>
            <a:lvl2pPr marL="6845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收方把公钥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42269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发给发送方，保留私钥</a:t>
            </a:r>
            <a:r>
              <a:rPr lang="en-US" altLang="zh-CN" sz="2000" dirty="0">
                <a:solidFill>
                  <a:schemeClr val="accent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11829</a:t>
            </a:r>
            <a:r>
              <a:rPr lang="zh-CN" altLang="en-US" sz="2000" dirty="0">
                <a:solidFill>
                  <a:schemeClr val="accent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任选一个数（</a:t>
            </a:r>
            <a:r>
              <a:rPr lang="zh-CN" altLang="en-US" sz="2000" b="1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小于</a:t>
            </a:r>
            <a:r>
              <a:rPr lang="en-US" altLang="zh-CN" sz="2000" b="1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）作为明文，例如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123456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将其乘上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42269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accent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</a:t>
            </a:r>
            <a:r>
              <a:rPr lang="en-US" altLang="zh-CN" sz="2000" dirty="0">
                <a:solidFill>
                  <a:schemeClr val="accent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100000000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作为密文发送；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收方将结果乘以</a:t>
            </a:r>
            <a:r>
              <a:rPr lang="en-US" altLang="zh-CN" sz="2000" dirty="0">
                <a:solidFill>
                  <a:schemeClr val="accent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11829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schemeClr val="accent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模</a:t>
            </a:r>
            <a:r>
              <a:rPr lang="en-US" altLang="zh-CN" sz="2000" dirty="0">
                <a:solidFill>
                  <a:schemeClr val="accent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100000000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得到原文；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282801" y="1674810"/>
            <a:ext cx="486410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明文：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123456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密钥：</a:t>
            </a:r>
            <a:r>
              <a:rPr lang="en-US" altLang="zh-CN" sz="2000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42269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（公钥）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 </a:t>
            </a:r>
            <a:r>
              <a:rPr lang="en-US" altLang="zh-CN" sz="2000" dirty="0">
                <a:solidFill>
                  <a:srgbClr val="2983B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11829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（私钥）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相乘模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100000000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密文：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18361664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187450" y="4090153"/>
                <a:ext cx="3324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123456 ∗42269=5218361664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450" y="4090153"/>
                <a:ext cx="3324628" cy="276999"/>
              </a:xfrm>
              <a:prstGeom prst="rect">
                <a:avLst/>
              </a:prstGeom>
              <a:blipFill rotWithShape="1">
                <a:blip r:embed="rId2"/>
                <a:stretch>
                  <a:fillRect t="-43" r="-255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859960" y="4491260"/>
                <a:ext cx="4372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5218361664 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100000000=18361664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60" y="4491260"/>
                <a:ext cx="4372992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4" t="-195" r="-1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56720" y="6102378"/>
                <a:ext cx="3779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18361664∗11829=217200123456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20" y="6102378"/>
                <a:ext cx="377988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3" t="-10" r="-222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内容占位符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5" y="4836423"/>
            <a:ext cx="3475038" cy="12722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230930" y="5622108"/>
                <a:ext cx="13516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</a:rPr>
                        <m:t>𝟏𝟖𝟑𝟔𝟏𝟔𝟔𝟒</m:t>
                      </m:r>
                    </m:oMath>
                  </m:oMathPara>
                </a14:m>
                <a:endParaRPr lang="zh-CN" altLang="en-US" b="1" dirty="0">
                  <a:solidFill>
                    <a:srgbClr val="EE1A1A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930" y="5622108"/>
                <a:ext cx="1351652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3" t="-123" r="40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-3263" y="4182486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Alice: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-3263" y="622987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Bob: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720259" y="6430914"/>
                <a:ext cx="43729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217200123456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 100000000=123456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59" y="6430914"/>
                <a:ext cx="4372992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4" t="-97" r="-16" b="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6697663" y="4213263"/>
            <a:ext cx="130333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为什么可行？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7540050" y="4697923"/>
                <a:ext cx="3068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42269 ∗11829=500000001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050" y="4697923"/>
                <a:ext cx="3068148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2" t="-70" r="-335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7191365" y="5207703"/>
                <a:ext cx="3765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∗42269 ∗11829=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∗500000001</m:t>
                      </m:r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365" y="5207703"/>
                <a:ext cx="3765518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17" t="-25" r="-5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/>
          <p:cNvSpPr txBox="1"/>
          <p:nvPr/>
        </p:nvSpPr>
        <p:spPr>
          <a:xfrm>
            <a:off x="6697663" y="5563595"/>
            <a:ext cx="1303338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两次取模？</a:t>
            </a:r>
          </a:p>
        </p:txBody>
      </p:sp>
      <p:sp>
        <p:nvSpPr>
          <p:cNvPr id="20" name="矩形 19"/>
          <p:cNvSpPr/>
          <p:nvPr/>
        </p:nvSpPr>
        <p:spPr>
          <a:xfrm>
            <a:off x="7002722" y="6073698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模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100000000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并不影响后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位数字的变化</a:t>
            </a:r>
          </a:p>
        </p:txBody>
      </p:sp>
      <p:sp>
        <p:nvSpPr>
          <p:cNvPr id="28" name="矩形 27"/>
          <p:cNvSpPr/>
          <p:nvPr/>
        </p:nvSpPr>
        <p:spPr>
          <a:xfrm>
            <a:off x="8776335" y="3647915"/>
            <a:ext cx="3268345" cy="873125"/>
          </a:xfrm>
          <a:prstGeom prst="rect">
            <a:avLst/>
          </a:prstGeom>
          <a:solidFill>
            <a:srgbClr val="FFC000"/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noAutofit/>
          </a:bodyPr>
          <a:lstStyle/>
          <a:p>
            <a:r>
              <a:rPr lang="zh-CN" altLang="en-US" dirty="0"/>
              <a:t>加密与解密过程合起来相当于给明文乘了一个</a:t>
            </a:r>
            <a:r>
              <a:rPr lang="en-US" altLang="zh-CN" dirty="0"/>
              <a:t>500000001</a:t>
            </a:r>
            <a:r>
              <a:rPr lang="zh-CN" altLang="en-US" dirty="0"/>
              <a:t>，后</a:t>
            </a:r>
            <a:r>
              <a:rPr lang="en-US" altLang="zh-CN" dirty="0"/>
              <a:t>8</a:t>
            </a:r>
            <a:r>
              <a:rPr lang="zh-CN" altLang="en-US" dirty="0"/>
              <a:t>位保持不变的。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8" grpId="1"/>
      <p:bldP spid="9" grpId="0"/>
      <p:bldP spid="9" grpId="1"/>
      <p:bldP spid="10" grpId="0"/>
      <p:bldP spid="10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 bldLvl="0" animBg="1"/>
      <p:bldP spid="16" grpId="1" animBg="1"/>
      <p:bldP spid="17" grpId="0"/>
      <p:bldP spid="17" grpId="1"/>
      <p:bldP spid="18" grpId="0"/>
      <p:bldP spid="18" grpId="1"/>
      <p:bldP spid="19" grpId="0" animBg="1"/>
      <p:bldP spid="19" grpId="1" animBg="1"/>
      <p:bldP spid="20" grpId="0"/>
      <p:bldP spid="20" grpId="1"/>
      <p:bldP spid="28" grpId="0" animBg="1"/>
      <p:bldP spid="28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106477" y="4267452"/>
            <a:ext cx="7238868" cy="112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p"/>
            </a:pPr>
            <a:r>
              <a:rPr lang="en-US" altLang="zh-CN" sz="1800" dirty="0"/>
              <a:t> </a:t>
            </a:r>
            <a:r>
              <a:rPr lang="zh-CN" altLang="en-US" sz="1800" dirty="0"/>
              <a:t>脆弱的加密系统</a:t>
            </a:r>
          </a:p>
          <a:p>
            <a:pPr lvl="1"/>
            <a:r>
              <a:rPr lang="zh-CN" altLang="en-US" sz="1800" dirty="0">
                <a:sym typeface="+mn-ea"/>
              </a:rPr>
              <a:t>可由加密密钥</a:t>
            </a:r>
            <a:r>
              <a:rPr lang="zh-CN" altLang="en-US" sz="1800" dirty="0">
                <a:solidFill>
                  <a:schemeClr val="tx1"/>
                </a:solidFill>
                <a:sym typeface="+mn-ea"/>
              </a:rPr>
              <a:t>推出</a:t>
            </a:r>
            <a:r>
              <a:rPr lang="zh-CN" altLang="en-US" sz="1800" dirty="0">
                <a:sym typeface="+mn-ea"/>
              </a:rPr>
              <a:t>原文</a:t>
            </a:r>
            <a:endParaRPr lang="en-US" altLang="zh-CN" sz="1800" dirty="0"/>
          </a:p>
          <a:p>
            <a:pPr lvl="1"/>
            <a:r>
              <a:rPr lang="zh-CN" altLang="en-US" sz="1800" dirty="0">
                <a:sym typeface="+mn-ea"/>
              </a:rPr>
              <a:t>求解：</a:t>
            </a:r>
            <a:r>
              <a:rPr lang="en-US" altLang="zh-CN" sz="1800" b="1" dirty="0">
                <a:solidFill>
                  <a:srgbClr val="FF0000"/>
                </a:solidFill>
                <a:sym typeface="+mn-ea"/>
              </a:rPr>
              <a:t>42269*x mod 100000000 = 18361664</a:t>
            </a:r>
          </a:p>
        </p:txBody>
      </p:sp>
      <p:sp>
        <p:nvSpPr>
          <p:cNvPr id="7" name="矩形 6"/>
          <p:cNvSpPr/>
          <p:nvPr/>
        </p:nvSpPr>
        <p:spPr>
          <a:xfrm>
            <a:off x="6282801" y="1674810"/>
            <a:ext cx="4864100" cy="224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明文：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123456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密钥：</a:t>
            </a:r>
            <a:r>
              <a:rPr lang="en-US" altLang="zh-CN" sz="2000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42269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（公钥）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—— </a:t>
            </a:r>
            <a:r>
              <a:rPr lang="en-US" altLang="zh-CN" sz="2000" dirty="0">
                <a:solidFill>
                  <a:srgbClr val="2983B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11829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（私钥）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算法：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相乘模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100000000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2000" b="1" dirty="0">
                <a:latin typeface="Times New Roman" panose="02020603050405020304" pitchFamily="18" charset="0"/>
                <a:ea typeface="微软雅黑" panose="020B0503020204020204" pitchFamily="34" charset="-122"/>
              </a:rPr>
              <a:t>密文：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18361664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7540050" y="4342323"/>
                <a:ext cx="3068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42269 ∗11829=500000001</m:t>
                      </m:r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0050" y="4342323"/>
                <a:ext cx="3068148" cy="276999"/>
              </a:xfrm>
              <a:prstGeom prst="rect">
                <a:avLst/>
              </a:prstGeom>
              <a:blipFill rotWithShape="1">
                <a:blip r:embed="rId2"/>
                <a:stretch>
                  <a:fillRect l="-2" t="-70" r="-335" b="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7191365" y="4852103"/>
                <a:ext cx="3765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∗42269 ∗11829=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∗500000001</m:t>
                      </m:r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365" y="4852103"/>
                <a:ext cx="3765518" cy="276999"/>
              </a:xfrm>
              <a:prstGeom prst="rect">
                <a:avLst/>
              </a:prstGeom>
              <a:blipFill rotWithShape="1">
                <a:blip r:embed="rId3"/>
                <a:stretch>
                  <a:fillRect l="-17" t="-25" r="-52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31190B78-474E-465E-83EC-0C100B1A6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087" y="2182490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9pPr>
          </a:lstStyle>
          <a:p>
            <a:pPr marL="0" lvl="1" indent="0">
              <a:spcBef>
                <a:spcPts val="6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窃听者能知道什么？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44FF7BF-46E5-4653-9310-812AB669EF4D}"/>
              </a:ext>
            </a:extLst>
          </p:cNvPr>
          <p:cNvGrpSpPr/>
          <p:nvPr/>
        </p:nvGrpSpPr>
        <p:grpSpPr>
          <a:xfrm>
            <a:off x="73025" y="1264602"/>
            <a:ext cx="3912870" cy="2719705"/>
            <a:chOff x="114" y="3154"/>
            <a:chExt cx="6162" cy="4283"/>
          </a:xfrm>
        </p:grpSpPr>
        <p:pic>
          <p:nvPicPr>
            <p:cNvPr id="10" name="内容占位符 6">
              <a:extLst>
                <a:ext uri="{FF2B5EF4-FFF2-40B4-BE49-F238E27FC236}">
                  <a16:creationId xmlns:a16="http://schemas.microsoft.com/office/drawing/2014/main" id="{A0C3D409-69E5-4572-AE10-4C3FC0F41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4" y="3475"/>
              <a:ext cx="5473" cy="3962"/>
            </a:xfrm>
            <a:prstGeom prst="rect">
              <a:avLst/>
            </a:prstGeom>
          </p:spPr>
        </p:pic>
        <p:sp>
          <p:nvSpPr>
            <p:cNvPr id="11" name="内容占位符 2">
              <a:extLst>
                <a:ext uri="{FF2B5EF4-FFF2-40B4-BE49-F238E27FC236}">
                  <a16:creationId xmlns:a16="http://schemas.microsoft.com/office/drawing/2014/main" id="{56F48ED6-6AA2-4631-B563-D0D2BBC7A290}"/>
                </a:ext>
              </a:extLst>
            </p:cNvPr>
            <p:cNvSpPr txBox="1"/>
            <p:nvPr/>
          </p:nvSpPr>
          <p:spPr>
            <a:xfrm>
              <a:off x="114" y="3154"/>
              <a:ext cx="4059" cy="97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60680" indent="-36068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Wingdings" panose="05000000000000000000" pitchFamily="2" charset="2"/>
                <a:buChar char="Ø"/>
                <a:defRPr sz="2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indent="0">
                <a:buFont typeface="Arial" panose="020B0604020202020204" pitchFamily="34" charset="0"/>
                <a:buNone/>
              </a:pPr>
              <a:r>
                <a:rPr lang="zh-CN" altLang="en-US" sz="2000" dirty="0"/>
                <a:t>存在窃听者：</a:t>
              </a:r>
              <a:endParaRPr lang="en-US" altLang="zh-CN" sz="2000" dirty="0"/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30B062BB-0978-481D-9508-1DDF570D2CA3}"/>
              </a:ext>
            </a:extLst>
          </p:cNvPr>
          <p:cNvSpPr txBox="1"/>
          <p:nvPr/>
        </p:nvSpPr>
        <p:spPr>
          <a:xfrm>
            <a:off x="3986530" y="2781760"/>
            <a:ext cx="934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</a:rPr>
              <a:t>公钥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</a:rPr>
              <a:t>算法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FF0000"/>
                </a:solidFill>
              </a:rPr>
              <a:t>密文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61C903-0EE1-423F-BB9C-E18CA59E3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9327" y="3904250"/>
            <a:ext cx="2236510" cy="400110"/>
          </a:xfrm>
          <a:prstGeom prst="rect">
            <a:avLst/>
          </a:prstGeom>
          <a:solidFill>
            <a:srgbClr val="F9BC12"/>
          </a:solidFill>
          <a:ln w="19050">
            <a:solidFill>
              <a:srgbClr val="0000CC"/>
            </a:solidFill>
            <a:prstDash val="dash"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</a:defRPr>
            </a:lvl9pPr>
          </a:lstStyle>
          <a:p>
            <a:pPr marL="0" lvl="1" indent="0">
              <a:spcBef>
                <a:spcPts val="6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能否推导出明文？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C7A47B5-0471-4161-A307-2CF79C38AC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134" y="3803474"/>
            <a:ext cx="601662" cy="6016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34B0EB8-63AE-498F-B45D-20BECDA59A1F}"/>
                  </a:ext>
                </a:extLst>
              </p:cNvPr>
              <p:cNvSpPr txBox="1"/>
              <p:nvPr/>
            </p:nvSpPr>
            <p:spPr>
              <a:xfrm>
                <a:off x="7191365" y="5369878"/>
                <a:ext cx="36949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∗500000001 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100000000=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altLang="zh-CN" b="0" dirty="0"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34B0EB8-63AE-498F-B45D-20BECDA59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365" y="5369878"/>
                <a:ext cx="3694986" cy="276999"/>
              </a:xfrm>
              <a:prstGeom prst="rect">
                <a:avLst/>
              </a:prstGeom>
              <a:blipFill>
                <a:blip r:embed="rId6"/>
                <a:stretch>
                  <a:fillRect l="-330" r="-330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9A48271-5439-4AAC-9515-AE34665853B0}"/>
              </a:ext>
            </a:extLst>
          </p:cNvPr>
          <p:cNvSpPr txBox="1"/>
          <p:nvPr/>
        </p:nvSpPr>
        <p:spPr>
          <a:xfrm>
            <a:off x="106477" y="5578462"/>
            <a:ext cx="7272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l">
              <a:buClrTx/>
              <a:buSzTx/>
              <a:buFont typeface="Wingdings" panose="05000000000000000000" pitchFamily="2" charset="2"/>
              <a:buChar char="p"/>
            </a:pPr>
            <a:r>
              <a:rPr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需要找到</a:t>
            </a: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更可靠的</a:t>
            </a:r>
            <a:r>
              <a:rPr lang="en-US" altLang="zh-CN" sz="1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非对称加密算法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742950" lvl="1" indent="-285750" algn="l"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加密与解密密钥的非对称性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中国剩余定理 →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裴蜀定理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费马小定理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RSA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公钥加密算法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21" grpId="0"/>
      <p:bldP spid="8" grpId="0"/>
      <p:bldP spid="8" grpId="1"/>
      <p:bldP spid="6" grpId="0"/>
      <p:bldP spid="13" grpId="0" animBg="1"/>
      <p:bldP spid="13" grpId="1" animBg="1"/>
      <p:bldP spid="15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中国剩余定理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382270" y="1451610"/>
            <a:ext cx="11445240" cy="9251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今有物，不知其数。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三、三数之，剩二；五、五数之，剩三；七、七数之，剩二。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问物几何？答曰：二十三。</a:t>
            </a:r>
            <a:r>
              <a:rPr lang="en-US" altLang="zh-CN" sz="2400" dirty="0">
                <a:solidFill>
                  <a:srgbClr val="92D050"/>
                </a:solidFill>
                <a:sym typeface="+mn-ea"/>
              </a:rPr>
              <a:t>——</a:t>
            </a:r>
            <a:r>
              <a:rPr lang="zh-CN" altLang="en-US" sz="2400" dirty="0">
                <a:solidFill>
                  <a:srgbClr val="92D050"/>
                </a:solidFill>
                <a:sym typeface="+mn-ea"/>
              </a:rPr>
              <a:t>《孙子算经》</a:t>
            </a:r>
            <a:endParaRPr lang="zh-CN" altLang="en-US" sz="2400" dirty="0">
              <a:solidFill>
                <a:schemeClr val="tx1"/>
              </a:solidFill>
              <a:sym typeface="+mn-ea"/>
            </a:endParaRPr>
          </a:p>
          <a:p>
            <a:endParaRPr lang="zh-CN" altLang="en-US" sz="2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文本占位符 3"/>
          <p:cNvSpPr txBox="1"/>
          <p:nvPr/>
        </p:nvSpPr>
        <p:spPr>
          <a:xfrm>
            <a:off x="382270" y="3202305"/>
            <a:ext cx="11445240" cy="12090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给出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m</a:t>
            </a:r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个</a:t>
            </a:r>
            <a:r>
              <a:rPr lang="zh-CN" altLang="en-US" sz="2400" b="1" dirty="0">
                <a:solidFill>
                  <a:srgbClr val="D5393D">
                    <a:lumMod val="75000"/>
                  </a:srgbClr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两两互质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的整数，它们的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乘积为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P 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；假设有一个未知数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M 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，如果我们已知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M 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分别除以这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m 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个数所得的余数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，那么在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0 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到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P – 1 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的范围内，我们可以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唯一地确定这个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M </a:t>
            </a:r>
            <a:r>
              <a:rPr lang="zh-CN" altLang="en-US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Garamond" panose="02020404030301010803" pitchFamily="18" charset="0"/>
              <a:cs typeface="微软雅黑" panose="020B0503020204020204" pitchFamily="34" charset="-122"/>
              <a:sym typeface="+mn-ea"/>
            </a:endParaRPr>
          </a:p>
          <a:p>
            <a:endParaRPr lang="zh-CN" altLang="en-US" sz="2400" dirty="0">
              <a:solidFill>
                <a:schemeClr val="tx1"/>
              </a:solidFill>
              <a:latin typeface="Garamond" panose="02020404030301010803" pitchFamily="18" charset="0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5806440" y="2376805"/>
            <a:ext cx="596900" cy="71374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/>
        </p:nvSpPr>
        <p:spPr>
          <a:xfrm>
            <a:off x="382270" y="4909185"/>
            <a:ext cx="2799080" cy="16535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Char char=""/>
              <a:defRPr sz="20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8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6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m: 2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a: 3, b: 5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= a*b = 15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6429688"/>
              </p:ext>
            </p:extLst>
          </p:nvPr>
        </p:nvGraphicFramePr>
        <p:xfrm>
          <a:off x="4131945" y="4369435"/>
          <a:ext cx="598360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%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en-US" altLang="zh-CN" sz="1800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b</a:t>
                      </a:r>
                      <a:endParaRPr lang="en-US" altLang="zh-CN" sz="180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3117353"/>
              </p:ext>
            </p:extLst>
          </p:nvPr>
        </p:nvGraphicFramePr>
        <p:xfrm>
          <a:off x="4131945" y="5466715"/>
          <a:ext cx="5983605" cy="1194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81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M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15</a:t>
                      </a:r>
                    </a:p>
                  </a:txBody>
                  <a:tcPr>
                    <a:solidFill>
                      <a:srgbClr val="013B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%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14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en-US" altLang="zh-CN" sz="1800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 b</a:t>
                      </a:r>
                      <a:endParaRPr lang="en-US" altLang="zh-CN" sz="180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矩形: 圆角 6"/>
          <p:cNvSpPr/>
          <p:nvPr/>
        </p:nvSpPr>
        <p:spPr>
          <a:xfrm>
            <a:off x="7484745" y="4369435"/>
            <a:ext cx="634365" cy="1097280"/>
          </a:xfrm>
          <a:prstGeom prst="roundRect">
            <a:avLst/>
          </a:prstGeom>
          <a:noFill/>
          <a:ln w="38100" cap="flat" cmpd="sng" algn="ctr">
            <a:solidFill>
              <a:srgbClr val="D5393D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Corbel" panose="020B0503020204020204" charset="0"/>
              <a:ea typeface="幼圆" panose="020105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 animBg="1"/>
      <p:bldP spid="8" grpId="1" animBg="1"/>
      <p:bldP spid="9" grpId="0"/>
      <p:bldP spid="9" grpId="1"/>
      <p:bldP spid="13" grpId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中国剩余定理的应用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389255" y="1451610"/>
            <a:ext cx="11445240" cy="9251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总部打算把一份秘密文件发送给 </a:t>
            </a:r>
            <a:r>
              <a:rPr lang="en-US" altLang="zh-CN" sz="2400" dirty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5 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名特工，但直接把文件原封不动地发给每个人，很难保障安全性。万一</a:t>
            </a:r>
            <a:r>
              <a:rPr lang="zh-CN" altLang="en-US" sz="2400" dirty="0">
                <a:solidFill>
                  <a:srgbClr val="FF0000"/>
                </a:solidFill>
                <a:cs typeface="微软雅黑" panose="020B0503020204020204" pitchFamily="34" charset="-122"/>
                <a:sym typeface="+mn-ea"/>
              </a:rPr>
              <a:t>有特工背叛或者被捕</a:t>
            </a:r>
            <a:r>
              <a:rPr lang="zh-CN" altLang="en-US" sz="2400" dirty="0">
                <a:solidFill>
                  <a:schemeClr val="tx1"/>
                </a:solidFill>
                <a:cs typeface="微软雅黑" panose="020B0503020204020204" pitchFamily="34" charset="-122"/>
                <a:sym typeface="+mn-ea"/>
              </a:rPr>
              <a:t>，把秘密泄露给了敌人怎么办？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82270" y="2459355"/>
            <a:ext cx="114592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C00000"/>
                </a:solidFill>
                <a:cs typeface="微软雅黑" panose="020B0503020204020204" pitchFamily="34" charset="-122"/>
                <a:sym typeface="+mn-ea"/>
              </a:rPr>
              <a:t>将文件用一个密码加密。密码分给</a:t>
            </a:r>
            <a:r>
              <a:rPr lang="en-US" altLang="zh-CN" sz="2800" b="1" dirty="0">
                <a:solidFill>
                  <a:srgbClr val="C00000"/>
                </a:solidFill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2800" b="1" dirty="0">
                <a:solidFill>
                  <a:srgbClr val="C00000"/>
                </a:solidFill>
                <a:cs typeface="微软雅黑" panose="020B0503020204020204" pitchFamily="34" charset="-122"/>
                <a:sym typeface="+mn-ea"/>
              </a:rPr>
              <a:t>个人保存。</a:t>
            </a:r>
          </a:p>
        </p:txBody>
      </p:sp>
      <p:sp>
        <p:nvSpPr>
          <p:cNvPr id="15" name="内容占位符 2"/>
          <p:cNvSpPr>
            <a:spLocks noGrp="1"/>
          </p:cNvSpPr>
          <p:nvPr/>
        </p:nvSpPr>
        <p:spPr>
          <a:xfrm>
            <a:off x="856933" y="3183255"/>
            <a:ext cx="10509885" cy="27184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Char char=""/>
              <a:defRPr sz="20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8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6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rgbClr val="40BAD2"/>
              </a:buClr>
              <a:buFont typeface="Wingdings 2" panose="05020102010507070707" pitchFamily="18" charset="2"/>
              <a:buChar char=""/>
              <a:defRPr sz="1400" kern="1200">
                <a:solidFill>
                  <a:srgbClr val="000000">
                    <a:lumMod val="65000"/>
                    <a:lumOff val="35000"/>
                  </a:srgbClr>
                </a:solidFill>
                <a:latin typeface="Corbel" panose="020B0503020204020204" charset="0"/>
                <a:ea typeface="+mn-ea"/>
                <a:cs typeface="+mn-ea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找5个互质的数：7, 10, 11, 13, 17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在13*17~7*10*11中任选一个数（221，770)：（567）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567除以各个数的余数：</a:t>
            </a:r>
          </a:p>
          <a:p>
            <a:pPr marL="0" indent="45720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（7，0），（10，7），（11，6），（13，8），（17，6）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每个特工拿一个作为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密钥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至少需要抓住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3个特工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才能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解开密码567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中国剩余定理的应用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400685" y="1451610"/>
            <a:ext cx="11433810" cy="17839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抓住了（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13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），（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17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）两个人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→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能在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0~221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中间确定一个特解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x</a:t>
            </a:r>
          </a:p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方程：</a:t>
            </a:r>
          </a:p>
          <a:p>
            <a:pPr marL="457200" lvl="1" indent="457200"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8+13*k</a:t>
            </a:r>
            <a:r>
              <a:rPr lang="en-US" altLang="zh-CN" sz="2400" baseline="-250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= 6 + 17*k</a:t>
            </a:r>
            <a:r>
              <a:rPr lang="en-US" altLang="zh-CN" sz="2400" baseline="-250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&lt; 221</a:t>
            </a:r>
          </a:p>
          <a:p>
            <a:pPr marL="457200" lvl="1" indent="457200"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k</a:t>
            </a:r>
            <a:r>
              <a:rPr lang="en-US" altLang="zh-CN" sz="2400" baseline="-250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&lt;= 16, k2 &lt;= 12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992495" y="2459355"/>
            <a:ext cx="5368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457200"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221~770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中有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346, 567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两个解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9266" y="4560570"/>
            <a:ext cx="7448836" cy="1353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 algn="l">
              <a:spcBef>
                <a:spcPts val="60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抓住了（7，0），（10，7），（11，6）三个人</a:t>
            </a:r>
          </a:p>
          <a:p>
            <a:pPr indent="457200" algn="l">
              <a:spcBef>
                <a:spcPts val="60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→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能在0~770中间确定一个特解x</a:t>
            </a:r>
            <a:endParaRPr lang="zh-CN" altLang="en-US" sz="2400" dirty="0">
              <a:solidFill>
                <a:srgbClr val="000000">
                  <a:lumMod val="65000"/>
                  <a:lumOff val="35000"/>
                </a:srgbClr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 algn="l">
              <a:spcBef>
                <a:spcPts val="600"/>
              </a:spcBef>
              <a:buClrTx/>
              <a:buSz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一定是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567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，怎么算？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253C06-C989-45FF-B4A6-7D91D32C5800}"/>
              </a:ext>
            </a:extLst>
          </p:cNvPr>
          <p:cNvSpPr txBox="1"/>
          <p:nvPr/>
        </p:nvSpPr>
        <p:spPr>
          <a:xfrm>
            <a:off x="8797221" y="5406390"/>
            <a:ext cx="2220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Garamond" panose="02020404030301010803" pitchFamily="18" charset="0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Garamond" panose="02020404030301010803" pitchFamily="18" charset="0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Garamond" panose="02020404030301010803" pitchFamily="18" charset="0"/>
              </a:rPr>
              <a:t>，</a:t>
            </a:r>
            <a:r>
              <a:rPr lang="en-US" altLang="zh-CN" sz="2000" b="1" dirty="0">
                <a:solidFill>
                  <a:srgbClr val="FF0000"/>
                </a:solidFill>
                <a:latin typeface="Garamond" panose="02020404030301010803" pitchFamily="18" charset="0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Garamond" panose="02020404030301010803" pitchFamily="18" charset="0"/>
              </a:rPr>
              <a:t>）门限方案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5567802-BD79-432E-8517-89E5B1F05345}"/>
              </a:ext>
            </a:extLst>
          </p:cNvPr>
          <p:cNvSpPr txBox="1"/>
          <p:nvPr/>
        </p:nvSpPr>
        <p:spPr>
          <a:xfrm>
            <a:off x="834011" y="3254648"/>
            <a:ext cx="59360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8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解出</a:t>
            </a:r>
            <a:r>
              <a:rPr lang="en-US" altLang="zh-CN" sz="28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k</a:t>
            </a:r>
            <a:r>
              <a:rPr lang="en-US" altLang="zh-CN" sz="2800" baseline="-250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= 9, k</a:t>
            </a:r>
            <a:r>
              <a:rPr lang="en-US" altLang="zh-CN" sz="2800" baseline="-250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 = 7, x = 125</a:t>
            </a:r>
            <a:endParaRPr lang="en-US" altLang="zh-CN" sz="2800" dirty="0">
              <a:solidFill>
                <a:srgbClr val="000000">
                  <a:lumMod val="65000"/>
                  <a:lumOff val="35000"/>
                </a:srgbClr>
              </a:solidFill>
              <a:latin typeface="Garamond" panose="02020404030301010803" pitchFamily="18" charset="0"/>
              <a:cs typeface="微软雅黑" panose="020B0503020204020204" pitchFamily="34" charset="-122"/>
              <a:sym typeface="+mn-ea"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tx1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通解：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cs typeface="微软雅黑" panose="020B0503020204020204" pitchFamily="34" charset="-122"/>
                <a:sym typeface="+mn-ea"/>
              </a:rPr>
              <a:t>125 + 221*k</a:t>
            </a:r>
            <a:endParaRPr lang="en-US" altLang="zh-CN" sz="2800" dirty="0">
              <a:solidFill>
                <a:srgbClr val="000000">
                  <a:lumMod val="65000"/>
                  <a:lumOff val="35000"/>
                </a:srgbClr>
              </a:solidFill>
              <a:latin typeface="Garamond" panose="02020404030301010803" pitchFamily="18" charset="0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6" grpId="0"/>
      <p:bldP spid="6" grpId="1"/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B</a:t>
            </a:r>
            <a:r>
              <a:rPr lang="en-US" altLang="en-US" dirty="0">
                <a:latin typeface="Garamond" panose="02020404030301010803" pitchFamily="18" charset="0"/>
              </a:rPr>
              <a:t>é</a:t>
            </a:r>
            <a:r>
              <a:rPr lang="en-US" altLang="zh-CN" dirty="0">
                <a:latin typeface="Garamond" panose="02020404030301010803" pitchFamily="18" charset="0"/>
              </a:rPr>
              <a:t>zout </a:t>
            </a:r>
            <a:r>
              <a:rPr lang="zh-CN" altLang="en-US" dirty="0">
                <a:latin typeface="Garamond" panose="02020404030301010803" pitchFamily="18" charset="0"/>
              </a:rPr>
              <a:t>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16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349885" y="1595120"/>
            <a:ext cx="11465560" cy="498475"/>
          </a:xfrm>
          <a:prstGeom prst="rect">
            <a:avLst/>
          </a:prstGeom>
        </p:spPr>
        <p:txBody>
          <a:bodyPr>
            <a:normAutofit fontScale="97500"/>
          </a:bodyPr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1pPr>
            <a:lvl2pPr marL="6845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n 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互质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，那么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· x mod n = 1 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· x mod n = 2 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等所有方程都是有解的。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349885" y="2444750"/>
            <a:ext cx="5742305" cy="3224530"/>
          </a:xfrm>
          <a:prstGeom prst="rect">
            <a:avLst/>
          </a:prstGeom>
        </p:spPr>
        <p:txBody>
          <a:bodyPr>
            <a:normAutofit/>
          </a:bodyPr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1pPr>
            <a:lvl2pPr marL="6845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寻找一个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满足：</a:t>
            </a:r>
          </a:p>
          <a:p>
            <a:pPr marL="457200" lvl="1" indent="0">
              <a:lnSpc>
                <a:spcPct val="120000"/>
              </a:lnSpc>
              <a:buFont typeface="+mj-lt"/>
              <a:buNone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M mod a = 0</a:t>
            </a:r>
          </a:p>
          <a:p>
            <a:pPr marL="457200" lvl="1" indent="0">
              <a:lnSpc>
                <a:spcPct val="120000"/>
              </a:lnSpc>
              <a:buFont typeface="+mj-lt"/>
              <a:buNone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M mod n = b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知道了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，则</a:t>
            </a:r>
            <a:endParaRPr lang="en-US" altLang="zh-CN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20000"/>
              </a:lnSpc>
              <a:buFont typeface="+mj-lt"/>
              <a:buNone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x = M/a + n*k</a:t>
            </a:r>
          </a:p>
        </p:txBody>
      </p:sp>
      <p:sp>
        <p:nvSpPr>
          <p:cNvPr id="8" name="圆角矩形 7"/>
          <p:cNvSpPr/>
          <p:nvPr/>
        </p:nvSpPr>
        <p:spPr>
          <a:xfrm>
            <a:off x="744855" y="3001645"/>
            <a:ext cx="1920240" cy="88709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aramond" panose="02020404030301010803" pitchFamily="18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30550" y="3225165"/>
            <a:ext cx="2145030" cy="460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4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18" charset="0"/>
                <a:ea typeface="微软雅黑" panose="020B0503020204020204" pitchFamily="34" charset="-122"/>
              </a:rPr>
              <a:t>中国剩余定理</a:t>
            </a:r>
            <a:endParaRPr lang="zh-CN" altLang="en-US" sz="24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>
            <a:stCxn id="8" idx="3"/>
            <a:endCxn id="10" idx="1"/>
          </p:cNvCxnSpPr>
          <p:nvPr/>
        </p:nvCxnSpPr>
        <p:spPr>
          <a:xfrm>
            <a:off x="2665095" y="3445510"/>
            <a:ext cx="465455" cy="101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1326982" y="4575810"/>
            <a:ext cx="640080" cy="5080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240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Garamond" panose="02020404030301010803" pitchFamily="18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78404" y="5088504"/>
            <a:ext cx="6400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Garamond" panose="02020404030301010803" pitchFamily="18" charset="0"/>
                <a:ea typeface="微软雅黑" panose="020B0503020204020204" pitchFamily="34" charset="-122"/>
              </a:rPr>
              <a:t>特解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092190" y="2776855"/>
            <a:ext cx="50057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事实上，只需要求出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 = 1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的情况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其他情况只需要乘个倍数即可：</a:t>
            </a:r>
          </a:p>
          <a:p>
            <a:pPr lvl="1"/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a*x mod n = 1</a:t>
            </a:r>
          </a:p>
          <a:p>
            <a:pPr lvl="1"/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a*2x mod n = 2</a:t>
            </a:r>
          </a:p>
          <a:p>
            <a:pPr lvl="1"/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a*3x mod n = 3</a:t>
            </a:r>
          </a:p>
          <a:p>
            <a:pPr lvl="1"/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7" grpId="0" uiExpand="1" build="p"/>
      <p:bldP spid="8" grpId="0" animBg="1"/>
      <p:bldP spid="8" grpId="1" animBg="1"/>
      <p:bldP spid="10" grpId="0" animBg="1"/>
      <p:bldP spid="10" grpId="1" animBg="1"/>
      <p:bldP spid="12" grpId="0" animBg="1"/>
      <p:bldP spid="12" grpId="1" animBg="1"/>
      <p:bldP spid="13" grpId="0"/>
      <p:bldP spid="13" grpId="1"/>
      <p:bldP spid="14" grpId="0"/>
      <p:bldP spid="14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B</a:t>
            </a:r>
            <a:r>
              <a:rPr lang="en-US" altLang="en-US" dirty="0">
                <a:latin typeface="Garamond" panose="02020404030301010803" pitchFamily="18" charset="0"/>
              </a:rPr>
              <a:t>é</a:t>
            </a:r>
            <a:r>
              <a:rPr lang="en-US" altLang="zh-CN" dirty="0">
                <a:latin typeface="Garamond" panose="02020404030301010803" pitchFamily="18" charset="0"/>
              </a:rPr>
              <a:t>zout </a:t>
            </a:r>
            <a:r>
              <a:rPr lang="zh-CN" altLang="en-US" dirty="0">
                <a:latin typeface="Garamond" panose="02020404030301010803" pitchFamily="18" charset="0"/>
              </a:rPr>
              <a:t>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17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349885" y="1595120"/>
            <a:ext cx="11465560" cy="1145540"/>
          </a:xfrm>
          <a:prstGeom prst="rect">
            <a:avLst/>
          </a:prstGeom>
        </p:spPr>
        <p:txBody>
          <a:bodyPr>
            <a:normAutofit/>
          </a:bodyPr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1pPr>
            <a:lvl2pPr marL="6845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今有物，不知其数。</a:t>
            </a:r>
            <a:r>
              <a:rPr lang="zh-CN" altLang="en-US" sz="2400" b="1" dirty="0">
                <a:latin typeface="Garamond" panose="02020404030301010803" pitchFamily="18" charset="0"/>
                <a:ea typeface="微软雅黑" panose="020B0503020204020204" pitchFamily="34" charset="-122"/>
              </a:rPr>
              <a:t>三、三数之，剩二；五、五数之，剩三；七、七数之，剩二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。问物几何？答曰：二十三。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</a:rPr>
              <a:t>《孙子算经》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endParaRPr lang="zh-CN" altLang="en-US" sz="24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885" y="3118994"/>
            <a:ext cx="5273040" cy="3081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0~3*5*7-1=104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之间有唯一解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找一个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的倍数，正好除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相当于求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5*7*x mod 3  = 2;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35*x mod 3 = 2;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（必有解）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找一个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的倍数，它除以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</p:txBody>
      </p:sp>
      <p:sp>
        <p:nvSpPr>
          <p:cNvPr id="5" name="下箭头 4"/>
          <p:cNvSpPr/>
          <p:nvPr/>
        </p:nvSpPr>
        <p:spPr>
          <a:xfrm>
            <a:off x="5851208" y="2740660"/>
            <a:ext cx="462915" cy="35623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EB42D2-E07D-4DE7-B26F-7B35D137387F}"/>
              </a:ext>
            </a:extLst>
          </p:cNvPr>
          <p:cNvSpPr txBox="1"/>
          <p:nvPr/>
        </p:nvSpPr>
        <p:spPr>
          <a:xfrm>
            <a:off x="5622925" y="3118995"/>
            <a:ext cx="5273040" cy="174090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找一个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的倍数，正好除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相当于求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3*5*x mod 7  = 2;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15*x mod 7 = 2;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（必有解）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7E20445-767D-4947-9B86-FEE23E52EF5C}"/>
              </a:ext>
            </a:extLst>
          </p:cNvPr>
          <p:cNvSpPr txBox="1"/>
          <p:nvPr/>
        </p:nvSpPr>
        <p:spPr>
          <a:xfrm>
            <a:off x="5622925" y="4737673"/>
            <a:ext cx="5273040" cy="174090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找一个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的倍数，正好除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相当于求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3*7*x mod 5  = 3;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21*x mod 5 = 3;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（必有解）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3" grpId="0"/>
      <p:bldP spid="3" grpId="1"/>
      <p:bldP spid="5" grpId="0" animBg="1"/>
      <p:bldP spid="5" grpId="1" animBg="1"/>
      <p:bldP spid="7" grpId="0"/>
      <p:bldP spid="7" grpId="1"/>
      <p:bldP spid="11" grpId="0"/>
      <p:bldP spid="1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扩展的辗转相除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7C37E7-1980-4602-B62A-AAF418C69FAA}"/>
              </a:ext>
            </a:extLst>
          </p:cNvPr>
          <p:cNvSpPr txBox="1"/>
          <p:nvPr/>
        </p:nvSpPr>
        <p:spPr>
          <a:xfrm>
            <a:off x="484962" y="1408916"/>
            <a:ext cx="405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求解：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115x mod 367 = 1</a:t>
            </a:r>
            <a:endParaRPr lang="zh-CN" altLang="en-US" sz="2800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A15D532-6242-420D-B149-E7366E6F6EE2}"/>
              </a:ext>
            </a:extLst>
          </p:cNvPr>
          <p:cNvSpPr txBox="1"/>
          <p:nvPr/>
        </p:nvSpPr>
        <p:spPr>
          <a:xfrm>
            <a:off x="484962" y="2016195"/>
            <a:ext cx="40570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(1) 367 – 115 * 3 = 22</a:t>
            </a:r>
            <a:endParaRPr lang="zh-CN" altLang="en-US" sz="2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EF728EB-EE72-49D4-9989-8E9632AFDD09}"/>
              </a:ext>
            </a:extLst>
          </p:cNvPr>
          <p:cNvSpPr txBox="1"/>
          <p:nvPr/>
        </p:nvSpPr>
        <p:spPr>
          <a:xfrm>
            <a:off x="484961" y="2651211"/>
            <a:ext cx="58054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(2) 367 * </a:t>
            </a:r>
            <a:r>
              <a:rPr lang="en-US" altLang="zh-CN" sz="2800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- 115 * 3 * </a:t>
            </a:r>
            <a:r>
              <a:rPr lang="en-US" altLang="zh-CN" sz="2800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= 110 </a:t>
            </a:r>
            <a:endParaRPr lang="zh-CN" altLang="en-US" sz="2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023B2F3-E089-4896-8E42-40B8A834570A}"/>
              </a:ext>
            </a:extLst>
          </p:cNvPr>
          <p:cNvSpPr txBox="1"/>
          <p:nvPr/>
        </p:nvSpPr>
        <p:spPr>
          <a:xfrm>
            <a:off x="484962" y="3258052"/>
            <a:ext cx="5805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(3) 367 * </a:t>
            </a:r>
            <a:r>
              <a:rPr lang="en-US" altLang="zh-CN" sz="2800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 - 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16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* 115 = -5 </a:t>
            </a:r>
            <a:endParaRPr lang="zh-CN" altLang="en-US" sz="2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72327B-C353-4114-9925-EE87DF91713D}"/>
              </a:ext>
            </a:extLst>
          </p:cNvPr>
          <p:cNvSpPr txBox="1"/>
          <p:nvPr/>
        </p:nvSpPr>
        <p:spPr>
          <a:xfrm>
            <a:off x="484962" y="3893506"/>
            <a:ext cx="5805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(4) 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21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* 367 - 115 * </a:t>
            </a:r>
            <a:r>
              <a:rPr lang="en-US" altLang="zh-CN" sz="2800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67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= 2 </a:t>
            </a:r>
            <a:endParaRPr lang="zh-CN" altLang="en-US" sz="2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E77CA449-1A49-49EB-8CA6-CA9E1F8428B7}"/>
              </a:ext>
            </a:extLst>
          </p:cNvPr>
          <p:cNvSpPr/>
          <p:nvPr/>
        </p:nvSpPr>
        <p:spPr>
          <a:xfrm>
            <a:off x="5088119" y="2164789"/>
            <a:ext cx="820615" cy="1269896"/>
          </a:xfrm>
          <a:prstGeom prst="arc">
            <a:avLst>
              <a:gd name="adj1" fmla="val 16200000"/>
              <a:gd name="adj2" fmla="val 5400003"/>
            </a:avLst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Garamond" panose="02020404030301010803" pitchFamily="18" charset="0"/>
            </a:endParaRPr>
          </a:p>
        </p:txBody>
      </p: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53759F8D-E7C2-4E92-AEE3-91B39DA20A2C}"/>
              </a:ext>
            </a:extLst>
          </p:cNvPr>
          <p:cNvCxnSpPr>
            <a:cxnSpLocks/>
            <a:stCxn id="8" idx="2"/>
          </p:cNvCxnSpPr>
          <p:nvPr/>
        </p:nvCxnSpPr>
        <p:spPr>
          <a:xfrm rot="10800000" flipV="1">
            <a:off x="4583014" y="3434684"/>
            <a:ext cx="915413" cy="689653"/>
          </a:xfrm>
          <a:prstGeom prst="bentConnector3">
            <a:avLst>
              <a:gd name="adj1" fmla="val 50000"/>
            </a:avLst>
          </a:prstGeom>
          <a:ln w="190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弧形 19">
            <a:extLst>
              <a:ext uri="{FF2B5EF4-FFF2-40B4-BE49-F238E27FC236}">
                <a16:creationId xmlns:a16="http://schemas.microsoft.com/office/drawing/2014/main" id="{13F28CDF-AD94-44E5-8283-09A3343A43E3}"/>
              </a:ext>
            </a:extLst>
          </p:cNvPr>
          <p:cNvSpPr/>
          <p:nvPr/>
        </p:nvSpPr>
        <p:spPr>
          <a:xfrm>
            <a:off x="5403630" y="3423601"/>
            <a:ext cx="571256" cy="802247"/>
          </a:xfrm>
          <a:prstGeom prst="arc">
            <a:avLst>
              <a:gd name="adj1" fmla="val 16200000"/>
              <a:gd name="adj2" fmla="val 5400003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Garamond" panose="02020404030301010803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80F7F8-2401-4DDE-A409-7E0CA4225046}"/>
              </a:ext>
            </a:extLst>
          </p:cNvPr>
          <p:cNvSpPr txBox="1"/>
          <p:nvPr/>
        </p:nvSpPr>
        <p:spPr>
          <a:xfrm>
            <a:off x="484961" y="4488322"/>
            <a:ext cx="58054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(5) </a:t>
            </a:r>
            <a:r>
              <a:rPr lang="en-US" altLang="zh-CN" sz="28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47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* 367 - 115 * </a:t>
            </a:r>
            <a:r>
              <a:rPr lang="en-US" altLang="zh-CN" sz="2800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150</a:t>
            </a:r>
            <a:r>
              <a:rPr lang="en-US" altLang="zh-CN" sz="2800" dirty="0">
                <a:latin typeface="Garamond" panose="02020404030301010803" pitchFamily="18" charset="0"/>
                <a:ea typeface="微软雅黑" panose="020B0503020204020204" pitchFamily="34" charset="-122"/>
              </a:rPr>
              <a:t> = -1 </a:t>
            </a:r>
            <a:endParaRPr lang="zh-CN" altLang="en-US" sz="2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1B3AE7B6-1306-48AF-93BD-D8D94B79D2C6}"/>
              </a:ext>
            </a:extLst>
          </p:cNvPr>
          <p:cNvCxnSpPr>
            <a:cxnSpLocks/>
            <a:stCxn id="20" idx="2"/>
          </p:cNvCxnSpPr>
          <p:nvPr/>
        </p:nvCxnSpPr>
        <p:spPr>
          <a:xfrm rot="10800000" flipV="1">
            <a:off x="4583014" y="4225848"/>
            <a:ext cx="1106245" cy="4933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A7D0A4-A427-4B2C-997F-47DD2862E27B}"/>
              </a:ext>
            </a:extLst>
          </p:cNvPr>
          <p:cNvSpPr txBox="1"/>
          <p:nvPr/>
        </p:nvSpPr>
        <p:spPr>
          <a:xfrm>
            <a:off x="2728388" y="532562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Garamond" panose="02020404030301010803" pitchFamily="18" charset="0"/>
              </a:rPr>
              <a:t>x = 150</a:t>
            </a:r>
            <a:endParaRPr lang="zh-CN" altLang="en-US" sz="2800" b="1" dirty="0">
              <a:solidFill>
                <a:srgbClr val="FF0000"/>
              </a:solidFill>
              <a:latin typeface="Garamond" panose="02020404030301010803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225D8D1-19B3-4B50-8902-8650D06594BD}"/>
              </a:ext>
            </a:extLst>
          </p:cNvPr>
          <p:cNvSpPr txBox="1"/>
          <p:nvPr/>
        </p:nvSpPr>
        <p:spPr>
          <a:xfrm>
            <a:off x="1534309" y="532562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Garamond" panose="02020404030301010803" pitchFamily="18" charset="0"/>
              </a:rPr>
              <a:t>解得：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E127AF-CBB8-4A7E-BDDE-E0D460CDFB27}"/>
              </a:ext>
            </a:extLst>
          </p:cNvPr>
          <p:cNvSpPr txBox="1"/>
          <p:nvPr/>
        </p:nvSpPr>
        <p:spPr>
          <a:xfrm>
            <a:off x="5974886" y="2651211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Garamond" panose="02020404030301010803" pitchFamily="18" charset="0"/>
              </a:rPr>
              <a:t>×4</a:t>
            </a:r>
            <a:endParaRPr lang="zh-CN" altLang="en-US" sz="2000" dirty="0">
              <a:latin typeface="Garamond" panose="02020404030301010803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C2AB63-49C5-4BA2-A1CE-92CC9D89CBB7}"/>
              </a:ext>
            </a:extLst>
          </p:cNvPr>
          <p:cNvSpPr txBox="1"/>
          <p:nvPr/>
        </p:nvSpPr>
        <p:spPr>
          <a:xfrm>
            <a:off x="5974886" y="3615615"/>
            <a:ext cx="476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Garamond" panose="02020404030301010803" pitchFamily="18" charset="0"/>
              </a:rPr>
              <a:t>×2</a:t>
            </a:r>
            <a:endParaRPr lang="zh-CN" altLang="en-US" sz="2000" dirty="0">
              <a:latin typeface="Garamond" panose="02020404030301010803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8CF9F9-2A3F-4F31-B5EB-2EDAFAAD95A3}"/>
              </a:ext>
            </a:extLst>
          </p:cNvPr>
          <p:cNvSpPr txBox="1"/>
          <p:nvPr/>
        </p:nvSpPr>
        <p:spPr>
          <a:xfrm>
            <a:off x="7650216" y="2806131"/>
            <a:ext cx="2451368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辗转相除是什么？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5A31CD3-DA31-41DD-8973-B43CFF9BE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43" y="2659241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4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8" grpId="0" animBg="1"/>
      <p:bldP spid="20" grpId="0" animBg="1"/>
      <p:bldP spid="22" grpId="0"/>
      <p:bldP spid="26" grpId="0"/>
      <p:bldP spid="27" grpId="0"/>
      <p:bldP spid="28" grpId="0"/>
      <p:bldP spid="29" grpId="0"/>
      <p:bldP spid="32" grpId="0" bldLvl="0" animBg="1"/>
      <p:bldP spid="3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19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" name="文本占位符 3"/>
          <p:cNvSpPr txBox="1"/>
          <p:nvPr/>
        </p:nvSpPr>
        <p:spPr>
          <a:xfrm>
            <a:off x="79898" y="1240764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Garamond" panose="02020404030301010803" pitchFamily="18" charset="0"/>
              </a:rPr>
              <a:t>最简单的非对称加密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20090" y="4289034"/>
                <a:ext cx="3763645" cy="36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a)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公钥 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 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密文 → </a:t>
                </a:r>
                <a:r>
                  <a:rPr lang="zh-CN" altLang="en-US" b="1" dirty="0">
                    <a:solidFill>
                      <a:srgbClr val="EE1A1A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明文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zh-CN" altLang="en-US" b="1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90" y="4289034"/>
                <a:ext cx="3763645" cy="368300"/>
              </a:xfrm>
              <a:prstGeom prst="rect">
                <a:avLst/>
              </a:prstGeom>
              <a:blipFill>
                <a:blip r:embed="rId2"/>
                <a:stretch>
                  <a:fillRect t="-11667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/>
          <p:cNvGrpSpPr/>
          <p:nvPr/>
        </p:nvGrpSpPr>
        <p:grpSpPr>
          <a:xfrm>
            <a:off x="574040" y="4684395"/>
            <a:ext cx="5128637" cy="369570"/>
            <a:chOff x="329" y="6929"/>
            <a:chExt cx="8077" cy="5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1915" y="7001"/>
                  <a:ext cx="6491" cy="4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∗42269 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100000000=18361664</m:t>
                        </m:r>
                      </m:oMath>
                    </m:oMathPara>
                  </a14:m>
                  <a:endPara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" y="7001"/>
                  <a:ext cx="6491" cy="43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/>
            <p:cNvSpPr/>
            <p:nvPr/>
          </p:nvSpPr>
          <p:spPr>
            <a:xfrm>
              <a:off x="329" y="6929"/>
              <a:ext cx="1745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rPr>
                <a:t>解方程：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509930" y="5146036"/>
                <a:ext cx="3783965" cy="36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b)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公钥 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算法 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+ </a:t>
                </a:r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密文 → </a:t>
                </a:r>
                <a:r>
                  <a:rPr lang="zh-CN" altLang="en-US" b="1" dirty="0">
                    <a:solidFill>
                      <a:srgbClr val="EE1A1A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私钥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：</a:t>
                </a:r>
                <a:r>
                  <a:rPr lang="en-US" altLang="zh-CN" b="1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 </a:t>
                </a:r>
                <a:endParaRPr lang="zh-CN" altLang="en-US" b="1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30" y="5146036"/>
                <a:ext cx="3783965" cy="368300"/>
              </a:xfrm>
              <a:prstGeom prst="rect">
                <a:avLst/>
              </a:prstGeom>
              <a:blipFill>
                <a:blip r:embed="rId4"/>
                <a:stretch>
                  <a:fillRect t="-9836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/>
          <p:cNvGrpSpPr/>
          <p:nvPr/>
        </p:nvGrpSpPr>
        <p:grpSpPr>
          <a:xfrm>
            <a:off x="574040" y="5638165"/>
            <a:ext cx="2541796" cy="369570"/>
            <a:chOff x="322" y="8431"/>
            <a:chExt cx="4003" cy="5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1915" y="8492"/>
                  <a:ext cx="2410" cy="43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∗42269=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5" y="8492"/>
                  <a:ext cx="2410" cy="43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/>
            <p:cNvSpPr/>
            <p:nvPr/>
          </p:nvSpPr>
          <p:spPr>
            <a:xfrm>
              <a:off x="322" y="8431"/>
              <a:ext cx="1745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rPr>
                <a:t>解方程：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6614386" y="3892909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攻破：在</a:t>
            </a:r>
            <a:r>
              <a:rPr lang="zh-CN" altLang="en-US" b="1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多项式时间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内得到</a:t>
            </a:r>
            <a:r>
              <a:rPr lang="zh-CN" altLang="en-US" b="1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唯一解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040765"/>
              </p:ext>
            </p:extLst>
          </p:nvPr>
        </p:nvGraphicFramePr>
        <p:xfrm>
          <a:off x="6934426" y="4392803"/>
          <a:ext cx="32004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多项式时间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唯一解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6540182" y="5688947"/>
            <a:ext cx="4754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Garamond" panose="02020404030301010803" pitchFamily="18" charset="0"/>
                <a:ea typeface="微软雅黑" panose="020B0503020204020204" pitchFamily="34" charset="-122"/>
              </a:rPr>
              <a:t>结论：前面设计的非对称加密算法是不可靠的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72465" y="1663065"/>
            <a:ext cx="7630160" cy="1602105"/>
            <a:chOff x="5221" y="2128"/>
            <a:chExt cx="12016" cy="2523"/>
          </a:xfrm>
        </p:grpSpPr>
        <p:grpSp>
          <p:nvGrpSpPr>
            <p:cNvPr id="3" name="组合 2"/>
            <p:cNvGrpSpPr/>
            <p:nvPr/>
          </p:nvGrpSpPr>
          <p:grpSpPr>
            <a:xfrm>
              <a:off x="5221" y="2293"/>
              <a:ext cx="9357" cy="1780"/>
              <a:chOff x="296" y="2404"/>
              <a:chExt cx="9357" cy="1780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99" y="2404"/>
                <a:ext cx="1200" cy="1200"/>
              </a:xfrm>
              <a:prstGeom prst="rect">
                <a:avLst/>
              </a:prstGeom>
            </p:spPr>
          </p:pic>
          <p:sp>
            <p:nvSpPr>
              <p:cNvPr id="7" name="文本框 6"/>
              <p:cNvSpPr txBox="1"/>
              <p:nvPr/>
            </p:nvSpPr>
            <p:spPr>
              <a:xfrm>
                <a:off x="5765" y="3604"/>
                <a:ext cx="3888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窃听者能窃听到什么？</a:t>
                </a: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296" y="2730"/>
                <a:ext cx="6604" cy="14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密钥：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42269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（公钥）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-11829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（私钥）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加密算法：相乘模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100000000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密文：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 18361664</a:t>
                </a:r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0696" y="4071"/>
              <a:ext cx="35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rPr>
                <a:t>窃听者想得到什么？</a:t>
              </a:r>
            </a:p>
          </p:txBody>
        </p:sp>
        <p:sp>
          <p:nvSpPr>
            <p:cNvPr id="27" name="云形标注 26"/>
            <p:cNvSpPr/>
            <p:nvPr/>
          </p:nvSpPr>
          <p:spPr>
            <a:xfrm>
              <a:off x="13400" y="2128"/>
              <a:ext cx="3837" cy="1365"/>
            </a:xfrm>
            <a:prstGeom prst="cloudCallout">
              <a:avLst/>
            </a:prstGeom>
            <a:solidFill>
              <a:schemeClr val="bg2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0">
                <a:buFont typeface="Arial" panose="020B0604020202020204" pitchFamily="34" charset="0"/>
                <a:buNone/>
              </a:pPr>
              <a:endParaRPr lang="zh-CN" altLang="en-US" sz="16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明文：</a:t>
              </a:r>
              <a:r>
                <a:rPr lang="en-US" altLang="zh-CN" sz="1600" dirty="0">
                  <a:solidFill>
                    <a:schemeClr val="tx1"/>
                  </a:solidFill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123456</a:t>
              </a:r>
              <a:endParaRPr lang="en-US" altLang="zh-CN" sz="16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>
                <a:buFont typeface="Arial" panose="020B0604020202020204" pitchFamily="34" charset="0"/>
                <a:buNone/>
              </a:pPr>
              <a:r>
                <a:rPr lang="zh-CN" altLang="en-US" sz="1600" dirty="0">
                  <a:solidFill>
                    <a:schemeClr val="tx1"/>
                  </a:solidFill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私钥：</a:t>
              </a:r>
              <a:r>
                <a:rPr lang="en-US" altLang="zh-CN" sz="1600" dirty="0">
                  <a:solidFill>
                    <a:schemeClr val="tx1"/>
                  </a:solidFill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11829</a:t>
              </a:r>
              <a:endParaRPr lang="zh-CN" altLang="en-US" sz="16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/>
              <a:endParaRPr lang="zh-CN" altLang="en-US" sz="16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574040" y="3186430"/>
            <a:ext cx="789813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破解：</a:t>
            </a:r>
            <a:r>
              <a:rPr lang="en-US" altLang="zh-CN" sz="200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42269*x mod 100000000 = 18361664</a:t>
            </a:r>
          </a:p>
          <a:p>
            <a:pPr marL="457200" lvl="1" indent="457200"/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42269 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100000000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互质吗？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162800" y="6240780"/>
            <a:ext cx="3277870" cy="368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那非对称加密岂不是不能使用？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227" y="6093890"/>
            <a:ext cx="601662" cy="60166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0C091D9-548E-4E63-90D5-BD7A1F083978}"/>
              </a:ext>
            </a:extLst>
          </p:cNvPr>
          <p:cNvSpPr txBox="1"/>
          <p:nvPr/>
        </p:nvSpPr>
        <p:spPr>
          <a:xfrm>
            <a:off x="1581011" y="6212839"/>
            <a:ext cx="1212431" cy="3683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y</a:t>
            </a:r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是多少？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BF45B76E-54EC-4F78-8B98-2253EAE117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38" y="6065949"/>
            <a:ext cx="601662" cy="601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4" grpId="0"/>
      <p:bldP spid="14" grpId="1"/>
      <p:bldP spid="17" grpId="0"/>
      <p:bldP spid="17" grpId="1"/>
      <p:bldP spid="19" grpId="0"/>
      <p:bldP spid="19" grpId="1"/>
      <p:bldP spid="28" grpId="0"/>
      <p:bldP spid="28" grpId="1"/>
      <p:bldP spid="32" grpId="0" bldLvl="0" animBg="1"/>
      <p:bldP spid="32" grpId="1" animBg="1"/>
      <p:bldP spid="26" grpId="0" bldLvl="0" animBg="1"/>
      <p:bldP spid="2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Fermat </a:t>
            </a:r>
            <a:r>
              <a:rPr lang="zh-CN" altLang="en-US" dirty="0">
                <a:latin typeface="Garamond" panose="02020404030301010803" pitchFamily="18" charset="0"/>
              </a:rPr>
              <a:t>小定理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20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785" y="1590675"/>
            <a:ext cx="114427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性质</a:t>
            </a:r>
            <a:r>
              <a:rPr lang="en-US" altLang="zh-CN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如果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n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是一个质数的话，那么对于任意一个数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n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次方减去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a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之后都将是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n 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的倍数。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11785" y="2711450"/>
            <a:ext cx="333819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是质数，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取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– 12) mod 5 = 0</a:t>
            </a:r>
          </a:p>
          <a:p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是质数，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取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(6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– 6) mod 2 = 0</a:t>
            </a:r>
            <a:endParaRPr lang="zh-CN" altLang="en-US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87240" y="2303145"/>
            <a:ext cx="6753860" cy="40934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– 12) mod 5 = 0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=&gt;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 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mod 5 = 12 mod 5 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?</a:t>
            </a:r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mod 5 =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 =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?</a:t>
            </a:r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因为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12*12 mod 5 = 12 mod 5 * 12 mod 5</a:t>
            </a:r>
            <a:endParaRPr lang="en-US" altLang="zh-CN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 =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12*12*12 mod 5 =? 12 mod 5 * 12 mod 5 * 12 mod 5</a:t>
            </a:r>
          </a:p>
          <a:p>
            <a:r>
              <a:rPr lang="en-US" altLang="zh-CN" sz="2000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(12 mod 5 * 12 mod 5 * 12 mod 5) mod 5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 =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(12 mod 5 * 12 mod 5 * 12 mod 5 * 12 mod 5)  mod 5 = 1</a:t>
            </a: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 = 12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5 = 12 mod 5</a:t>
            </a:r>
            <a:endParaRPr lang="zh-CN" altLang="en-US" sz="20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5822A73-9FC5-4DCB-97E1-D1EE09A3F5B8}"/>
              </a:ext>
            </a:extLst>
          </p:cNvPr>
          <p:cNvCxnSpPr>
            <a:stCxn id="21" idx="1"/>
          </p:cNvCxnSpPr>
          <p:nvPr/>
        </p:nvCxnSpPr>
        <p:spPr>
          <a:xfrm>
            <a:off x="4587240" y="4349859"/>
            <a:ext cx="0" cy="1900216"/>
          </a:xfrm>
          <a:prstGeom prst="line">
            <a:avLst/>
          </a:prstGeom>
          <a:ln w="19050"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69E5995-6BAE-49A1-88D7-31074592F75C}"/>
              </a:ext>
            </a:extLst>
          </p:cNvPr>
          <p:cNvSpPr txBox="1"/>
          <p:nvPr/>
        </p:nvSpPr>
        <p:spPr>
          <a:xfrm>
            <a:off x="1632585" y="511530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</a:rPr>
              <a:t>取模运算可以放在任意位置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21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Fermat </a:t>
            </a:r>
            <a:r>
              <a:rPr lang="zh-CN" altLang="en-US" dirty="0">
                <a:latin typeface="Garamond" panose="02020404030301010803" pitchFamily="18" charset="0"/>
              </a:rPr>
              <a:t>小定理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11785" y="2510553"/>
            <a:ext cx="114427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已知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是两个质数的乘积，假设</a:t>
            </a:r>
            <a:r>
              <a:rPr lang="en-US" altLang="zh-CN" sz="2400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n = 35 = 5*7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35 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的余数有什么规律吗？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还记得中国剩余定理说了什么吗？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一个数模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，模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余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，那么这个数模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35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的值也是一个固定的数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(a, b)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1~34 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(1, 1) ~ (4, 6)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之间是一一对应的。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F8C607-2391-4617-A358-1783614F0D1F}"/>
              </a:ext>
            </a:extLst>
          </p:cNvPr>
          <p:cNvSpPr txBox="1"/>
          <p:nvPr/>
        </p:nvSpPr>
        <p:spPr>
          <a:xfrm>
            <a:off x="311785" y="1518794"/>
            <a:ext cx="114427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性质</a:t>
            </a:r>
            <a:r>
              <a:rPr lang="en-US" altLang="zh-CN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如果 n 是一个质数的话，那么对于任意一个数 a ，随着 i 的增加， a 的 i 次方除以 n 的余数将会呈现出长度为 n – 1 的周期性。</a:t>
            </a: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n = (1 ~ n-1)</a:t>
            </a:r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44FB6FAE-106C-4ED3-A00B-86A74CCB4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94245"/>
              </p:ext>
            </p:extLst>
          </p:nvPr>
        </p:nvGraphicFramePr>
        <p:xfrm>
          <a:off x="211303" y="5332145"/>
          <a:ext cx="112136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4209">
                  <a:extLst>
                    <a:ext uri="{9D8B030D-6E8A-4147-A177-3AD203B41FA5}">
                      <a16:colId xmlns:a16="http://schemas.microsoft.com/office/drawing/2014/main" val="2971832867"/>
                    </a:ext>
                  </a:extLst>
                </a:gridCol>
                <a:gridCol w="542611">
                  <a:extLst>
                    <a:ext uri="{9D8B030D-6E8A-4147-A177-3AD203B41FA5}">
                      <a16:colId xmlns:a16="http://schemas.microsoft.com/office/drawing/2014/main" val="1096840408"/>
                    </a:ext>
                  </a:extLst>
                </a:gridCol>
                <a:gridCol w="502064">
                  <a:extLst>
                    <a:ext uri="{9D8B030D-6E8A-4147-A177-3AD203B41FA5}">
                      <a16:colId xmlns:a16="http://schemas.microsoft.com/office/drawing/2014/main" val="3786729186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4162405640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3109369102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3974688522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195288823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3717280130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2610883446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4240114112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967829213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2978081014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325352246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1579092146"/>
                    </a:ext>
                  </a:extLst>
                </a:gridCol>
                <a:gridCol w="659628">
                  <a:extLst>
                    <a:ext uri="{9D8B030D-6E8A-4147-A177-3AD203B41FA5}">
                      <a16:colId xmlns:a16="http://schemas.microsoft.com/office/drawing/2014/main" val="3624164548"/>
                    </a:ext>
                  </a:extLst>
                </a:gridCol>
                <a:gridCol w="615868">
                  <a:extLst>
                    <a:ext uri="{9D8B030D-6E8A-4147-A177-3AD203B41FA5}">
                      <a16:colId xmlns:a16="http://schemas.microsoft.com/office/drawing/2014/main" val="1502391024"/>
                    </a:ext>
                  </a:extLst>
                </a:gridCol>
                <a:gridCol w="703388">
                  <a:extLst>
                    <a:ext uri="{9D8B030D-6E8A-4147-A177-3AD203B41FA5}">
                      <a16:colId xmlns:a16="http://schemas.microsoft.com/office/drawing/2014/main" val="2584696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i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7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9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…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27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28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838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mod 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…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554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mod 7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…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593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mod 35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17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29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27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…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12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13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16</a:t>
                      </a:r>
                      <a:endParaRPr lang="zh-CN" altLang="en-US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53310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8C713509-1C8C-461C-9C3E-ADA5220ABA14}"/>
              </a:ext>
            </a:extLst>
          </p:cNvPr>
          <p:cNvSpPr/>
          <p:nvPr/>
        </p:nvSpPr>
        <p:spPr>
          <a:xfrm>
            <a:off x="8782259" y="5332145"/>
            <a:ext cx="2642720" cy="1525855"/>
          </a:xfrm>
          <a:prstGeom prst="rect">
            <a:avLst/>
          </a:prstGeom>
          <a:noFill/>
          <a:ln w="28575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6" grpId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Fermat </a:t>
            </a:r>
            <a:r>
              <a:rPr lang="zh-CN" altLang="en-US" dirty="0">
                <a:latin typeface="Garamond" panose="02020404030301010803" pitchFamily="18" charset="0"/>
              </a:rPr>
              <a:t>小定理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22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785" y="1194435"/>
            <a:ext cx="1144270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例：令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p = 3, q = 5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，那么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n = 15, (p – 1)(q – 1) = 8</a:t>
            </a:r>
          </a:p>
          <a:p>
            <a:pPr lvl="1" indent="0" algn="l" fontAlgn="auto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所以任选一个数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mod 15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的结果将以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为周期循环。</a:t>
            </a:r>
          </a:p>
          <a:p>
            <a:pPr lvl="1" indent="0" algn="l" fontAlgn="auto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a, 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9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, 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17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, 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, a</a:t>
            </a:r>
            <a:r>
              <a:rPr lang="en-US" altLang="zh-CN" sz="24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33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…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15</a:t>
            </a: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的余数都是一样的。</a:t>
            </a:r>
          </a:p>
          <a:p>
            <a:pPr lvl="1" indent="0" algn="l" fontAlgn="auto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注意到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33 = 3 * 11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>
          <a:xfrm>
            <a:off x="667385" y="2954020"/>
            <a:ext cx="4705350" cy="3402330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Garamond" panose="02020404030301010803" pitchFamily="18" charset="0"/>
              </a:rPr>
              <a:t>任取一个小于</a:t>
            </a:r>
            <a:r>
              <a:rPr lang="en-US" altLang="zh-CN" sz="2400" dirty="0">
                <a:latin typeface="Garamond" panose="02020404030301010803" pitchFamily="18" charset="0"/>
              </a:rPr>
              <a:t>n</a:t>
            </a:r>
            <a:r>
              <a:rPr lang="zh-CN" altLang="en-US" sz="2400" dirty="0">
                <a:latin typeface="Garamond" panose="02020404030301010803" pitchFamily="18" charset="0"/>
              </a:rPr>
              <a:t>的数：</a:t>
            </a:r>
            <a:r>
              <a:rPr lang="en-US" altLang="zh-CN" sz="2400" dirty="0">
                <a:latin typeface="Garamond" panose="02020404030301010803" pitchFamily="18" charset="0"/>
              </a:rPr>
              <a:t>13</a:t>
            </a:r>
          </a:p>
          <a:p>
            <a:pPr marL="0" indent="0">
              <a:buNone/>
            </a:pPr>
            <a:r>
              <a:rPr lang="zh-CN" altLang="en-US" sz="2400" dirty="0">
                <a:latin typeface="Garamond" panose="02020404030301010803" pitchFamily="18" charset="0"/>
              </a:rPr>
              <a:t>计算</a:t>
            </a:r>
            <a:r>
              <a:rPr lang="en-US" altLang="zh-CN" sz="2400" dirty="0">
                <a:latin typeface="Garamond" panose="02020404030301010803" pitchFamily="18" charset="0"/>
              </a:rPr>
              <a:t>13</a:t>
            </a:r>
            <a:r>
              <a:rPr lang="en-US" altLang="zh-CN" sz="2400" baseline="30000" dirty="0">
                <a:latin typeface="Garamond" panose="02020404030301010803" pitchFamily="18" charset="0"/>
              </a:rPr>
              <a:t>3</a:t>
            </a:r>
            <a:r>
              <a:rPr lang="en-US" altLang="zh-CN" sz="2400" dirty="0">
                <a:latin typeface="Garamond" panose="02020404030301010803" pitchFamily="18" charset="0"/>
              </a:rPr>
              <a:t> mod 15 = 7</a:t>
            </a:r>
          </a:p>
          <a:p>
            <a:pPr marL="0" indent="0">
              <a:buNone/>
            </a:pPr>
            <a:r>
              <a:rPr lang="zh-CN" altLang="en-US" sz="2400" dirty="0">
                <a:latin typeface="Garamond" panose="02020404030301010803" pitchFamily="18" charset="0"/>
              </a:rPr>
              <a:t>再计算</a:t>
            </a:r>
            <a:r>
              <a:rPr lang="en-US" altLang="zh-CN" sz="2400" dirty="0">
                <a:latin typeface="Garamond" panose="02020404030301010803" pitchFamily="18" charset="0"/>
              </a:rPr>
              <a:t>7</a:t>
            </a:r>
            <a:r>
              <a:rPr lang="en-US" altLang="zh-CN" sz="2400" baseline="30000" dirty="0">
                <a:latin typeface="Garamond" panose="02020404030301010803" pitchFamily="18" charset="0"/>
              </a:rPr>
              <a:t>11</a:t>
            </a:r>
            <a:r>
              <a:rPr lang="en-US" altLang="zh-CN" sz="2400" dirty="0">
                <a:latin typeface="Garamond" panose="02020404030301010803" pitchFamily="18" charset="0"/>
              </a:rPr>
              <a:t> mod 15 = 13</a:t>
            </a:r>
          </a:p>
          <a:p>
            <a:pPr marL="0" indent="0">
              <a:buNone/>
            </a:pPr>
            <a:r>
              <a:rPr lang="zh-CN" altLang="en-US" sz="2400" dirty="0">
                <a:latin typeface="Garamond" panose="02020404030301010803" pitchFamily="18" charset="0"/>
              </a:rPr>
              <a:t>巧合？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endParaRPr lang="en-US" altLang="zh-CN" sz="2400" dirty="0">
              <a:latin typeface="Garamond" panose="02020404030301010803" pitchFamily="18" charset="0"/>
            </a:endParaRPr>
          </a:p>
          <a:p>
            <a:r>
              <a:rPr lang="zh-CN" altLang="en-US" sz="2400" dirty="0">
                <a:latin typeface="Garamond" panose="02020404030301010803" pitchFamily="18" charset="0"/>
              </a:rPr>
              <a:t>再取：</a:t>
            </a:r>
            <a:r>
              <a:rPr lang="en-US" altLang="zh-CN" sz="2400" dirty="0">
                <a:latin typeface="Garamond" panose="02020404030301010803" pitchFamily="18" charset="0"/>
              </a:rPr>
              <a:t>12</a:t>
            </a:r>
          </a:p>
          <a:p>
            <a:pPr marL="0" indent="0">
              <a:buNone/>
            </a:pPr>
            <a:r>
              <a:rPr lang="zh-CN" altLang="en-US" sz="2400" dirty="0">
                <a:latin typeface="Garamond" panose="02020404030301010803" pitchFamily="18" charset="0"/>
              </a:rPr>
              <a:t>计算</a:t>
            </a:r>
            <a:r>
              <a:rPr lang="en-US" altLang="zh-CN" sz="2400" dirty="0">
                <a:latin typeface="Garamond" panose="02020404030301010803" pitchFamily="18" charset="0"/>
              </a:rPr>
              <a:t>12</a:t>
            </a:r>
            <a:r>
              <a:rPr lang="en-US" altLang="zh-CN" sz="2400" baseline="30000" dirty="0">
                <a:latin typeface="Garamond" panose="02020404030301010803" pitchFamily="18" charset="0"/>
              </a:rPr>
              <a:t>3</a:t>
            </a:r>
            <a:r>
              <a:rPr lang="en-US" altLang="zh-CN" sz="2400" dirty="0">
                <a:latin typeface="Garamond" panose="02020404030301010803" pitchFamily="18" charset="0"/>
              </a:rPr>
              <a:t> mod 15 = 3</a:t>
            </a:r>
          </a:p>
          <a:p>
            <a:pPr marL="0" indent="0">
              <a:buNone/>
            </a:pPr>
            <a:r>
              <a:rPr lang="zh-CN" altLang="en-US" sz="2400" dirty="0">
                <a:latin typeface="Garamond" panose="02020404030301010803" pitchFamily="18" charset="0"/>
              </a:rPr>
              <a:t>再计算</a:t>
            </a:r>
            <a:r>
              <a:rPr lang="en-US" altLang="zh-CN" sz="2400" dirty="0">
                <a:latin typeface="Garamond" panose="02020404030301010803" pitchFamily="18" charset="0"/>
              </a:rPr>
              <a:t>3</a:t>
            </a:r>
            <a:r>
              <a:rPr lang="en-US" altLang="zh-CN" sz="2400" baseline="30000" dirty="0">
                <a:latin typeface="Garamond" panose="02020404030301010803" pitchFamily="18" charset="0"/>
              </a:rPr>
              <a:t>11</a:t>
            </a:r>
            <a:r>
              <a:rPr lang="en-US" altLang="zh-CN" sz="2400" dirty="0">
                <a:latin typeface="Garamond" panose="02020404030301010803" pitchFamily="18" charset="0"/>
              </a:rPr>
              <a:t> mod 15 = 12</a:t>
            </a:r>
            <a:endParaRPr lang="en-US" altLang="zh-CN" sz="2400" baseline="30000" dirty="0">
              <a:latin typeface="Garamond" panose="02020404030301010803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372735" y="2960370"/>
            <a:ext cx="6096000" cy="27743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/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15)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15 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13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3*11</a:t>
            </a:r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15</a:t>
            </a:r>
            <a:endParaRPr lang="en-US" altLang="zh-CN" sz="24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13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33</a:t>
            </a:r>
            <a:r>
              <a:rPr lang="en-US" altLang="zh-CN" sz="2400" dirty="0">
                <a:solidFill>
                  <a:srgbClr val="000000">
                    <a:lumMod val="65000"/>
                    <a:lumOff val="35000"/>
                  </a:srgb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15 </a:t>
            </a: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13 mod 15 </a:t>
            </a: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13</a:t>
            </a:r>
            <a:endParaRPr lang="en-US" altLang="zh-CN" sz="24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endParaRPr lang="zh-CN" altLang="en-US" sz="24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372735" y="5526405"/>
            <a:ext cx="6096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非对称加密原理上可行了</a:t>
            </a:r>
            <a:endParaRPr lang="en-US" altLang="zh-CN" sz="2400" dirty="0">
              <a:solidFill>
                <a:srgbClr val="C00000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做公钥，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做私钥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6" grpId="0" build="p"/>
      <p:bldP spid="16" grpId="1" build="p"/>
      <p:bldP spid="17" grpId="0"/>
      <p:bldP spid="17" grpId="1"/>
      <p:bldP spid="18" grpId="0"/>
      <p:bldP spid="18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</a:rPr>
              <a:t>从窃听者的角度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23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1785" y="1194435"/>
            <a:ext cx="114427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攻击者知道了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，并知道了</a:t>
            </a:r>
            <a:r>
              <a:rPr lang="en-US" altLang="zh-CN" sz="2400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13</a:t>
            </a:r>
            <a:r>
              <a:rPr lang="en-US" altLang="zh-CN" sz="2400" baseline="300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 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的结果，他也知道这个过程采用的密钥对的乘积模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，想要得到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 = 11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，他只需要求解方程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*x mod </a:t>
            </a:r>
            <a:r>
              <a:rPr lang="en-US" altLang="zh-CN" sz="2400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 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的结果。</a:t>
            </a:r>
            <a:endParaRPr lang="en-US" altLang="zh-CN" sz="2400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关键是</a:t>
            </a:r>
            <a:r>
              <a:rPr lang="en-US" altLang="zh-CN" sz="2400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是怎么知道的？</a:t>
            </a:r>
          </a:p>
          <a:p>
            <a:pPr indent="0" algn="l" fontAlgn="auto">
              <a:lnSpc>
                <a:spcPct val="150000"/>
              </a:lnSpc>
            </a:pPr>
            <a:endParaRPr lang="zh-CN" altLang="en-US" sz="240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11785" y="3216910"/>
            <a:ext cx="11442700" cy="1145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altLang="zh-CN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 = (p – 1)(q – 1), p*q = 15</a:t>
            </a:r>
          </a:p>
          <a:p>
            <a:pPr indent="0" algn="ctr" fontAlgn="auto">
              <a:lnSpc>
                <a:spcPct val="150000"/>
              </a:lnSpc>
            </a:pP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所以核心在于，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知道了</a:t>
            </a:r>
            <a:r>
              <a:rPr lang="en-US" altLang="zh-CN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15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，要将其</a:t>
            </a:r>
            <a:r>
              <a:rPr lang="zh-CN" altLang="en-US" sz="2400" dirty="0">
                <a:solidFill>
                  <a:srgbClr val="C0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分解为两个质数乘积</a:t>
            </a:r>
            <a:r>
              <a:rPr lang="zh-CN" altLang="en-US" sz="24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1785" y="4799330"/>
            <a:ext cx="11410315" cy="11452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+mn-ea"/>
                <a:sym typeface="+mn-ea"/>
              </a:rPr>
              <a:t>我们可以高效地判断一个数是不是质数，我们可以高效地生成一个很大的质数，但我们却始终找不到</a:t>
            </a:r>
            <a:r>
              <a:rPr lang="zh-CN" altLang="en-US" sz="2400" b="1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+mn-ea"/>
                <a:sym typeface="+mn-ea"/>
              </a:rPr>
              <a:t>高效的大数分解方法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+mn-ea"/>
                <a:sym typeface="+mn-ea"/>
              </a:rPr>
              <a:t>。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+mn-ea"/>
                <a:sym typeface="+mn-ea"/>
              </a:rPr>
              <a:t>——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+mn-ea"/>
                <a:sym typeface="+mn-ea"/>
              </a:rPr>
              <a:t>公钥加密的可行性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5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738053" y="6183630"/>
            <a:ext cx="2743200" cy="365125"/>
          </a:xfrm>
        </p:spPr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24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pic>
        <p:nvPicPr>
          <p:cNvPr id="22" name="Picture 2" descr="https://gimg2.baidu.com/image_search/src=http%3A%2F%2Fwww.techapple.com%2Fwp-content%2Fuploads%2F2018%2F09%2Frsa.jpg&amp;refer=http%3A%2F%2Fwww.techapple.com&amp;app=2002&amp;size=f9999,10000&amp;q=a80&amp;n=0&amp;g=0n&amp;fmt=jpeg?sec=1639900332&amp;t=713d6072ad5aa09eb103c483846184c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7" y="3806616"/>
            <a:ext cx="4402452" cy="275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本框 22"/>
          <p:cNvSpPr txBox="1"/>
          <p:nvPr/>
        </p:nvSpPr>
        <p:spPr>
          <a:xfrm>
            <a:off x="1579880" y="2678430"/>
            <a:ext cx="90595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1977</a:t>
            </a:r>
            <a:r>
              <a:rPr lang="zh-CN" altLang="en-US" sz="2000" b="1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年，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来自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MIT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Ron </a:t>
            </a:r>
            <a:r>
              <a:rPr lang="en-US" altLang="zh-CN" sz="2000" dirty="0" err="1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en-US" altLang="zh-CN" sz="2000" dirty="0" err="1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ivest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Adi </a:t>
            </a:r>
            <a:r>
              <a:rPr lang="en-US" altLang="zh-CN" sz="2000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hamir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Leonard </a:t>
            </a:r>
            <a:r>
              <a:rPr lang="en-US" altLang="zh-CN" sz="2000" dirty="0" err="1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en-US" altLang="zh-CN" sz="2000" dirty="0" err="1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dleman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提出了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RSA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非对称加密算法。时至今日，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RSA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依旧是互联网安全的</a:t>
            </a:r>
            <a:r>
              <a:rPr lang="zh-CN" altLang="en-US" sz="2000" b="1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坚实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基础。</a:t>
            </a:r>
            <a:endParaRPr lang="zh-CN" altLang="en-US" sz="2000" b="1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7303" y="3482340"/>
            <a:ext cx="4584700" cy="369570"/>
            <a:chOff x="10134" y="5756"/>
            <a:chExt cx="7220" cy="582"/>
          </a:xfrm>
        </p:grpSpPr>
        <p:sp>
          <p:nvSpPr>
            <p:cNvPr id="24" name="矩形 23"/>
            <p:cNvSpPr/>
            <p:nvPr/>
          </p:nvSpPr>
          <p:spPr>
            <a:xfrm>
              <a:off x="10134" y="5756"/>
              <a:ext cx="1830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rPr>
                <a:t>Ron </a:t>
              </a:r>
              <a:r>
                <a:rPr lang="en-US" altLang="zh-CN" dirty="0" err="1">
                  <a:latin typeface="Garamond" panose="02020404030301010803" pitchFamily="18" charset="0"/>
                  <a:ea typeface="微软雅黑" panose="020B0503020204020204" pitchFamily="34" charset="-122"/>
                </a:rPr>
                <a:t>Rivest</a:t>
              </a:r>
              <a:endParaRPr lang="zh-CN" altLang="en-US" dirty="0">
                <a:latin typeface="Garamond" panose="02020404030301010803" pitchFamily="18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2356" y="5756"/>
              <a:ext cx="1886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</a:rPr>
                <a:t>Adi Shamir</a:t>
              </a:r>
              <a:endParaRPr lang="zh-CN" altLang="en-US" dirty="0">
                <a:latin typeface="Garamond" panose="02020404030301010803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4448" y="5756"/>
              <a:ext cx="2906" cy="58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333333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Leonard </a:t>
              </a:r>
              <a:r>
                <a:rPr lang="en-US" altLang="zh-CN" dirty="0" err="1">
                  <a:solidFill>
                    <a:srgbClr val="333333"/>
                  </a:solidFill>
                  <a:latin typeface="Garamond" panose="02020404030301010803" pitchFamily="18" charset="0"/>
                  <a:cs typeface="Times New Roman" panose="02020603050405020304" pitchFamily="18" charset="0"/>
                </a:rPr>
                <a:t>Adleman</a:t>
              </a:r>
              <a:endParaRPr lang="zh-CN" altLang="en-US" dirty="0">
                <a:latin typeface="Garamond" panose="02020404030301010803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783013" y="1669504"/>
            <a:ext cx="465328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40404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说了这么多，有什么用？</a:t>
            </a:r>
            <a:endParaRPr lang="zh-CN" altLang="en-US" sz="3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非对称加密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25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" name="文本占位符 3"/>
          <p:cNvSpPr txBox="1"/>
          <p:nvPr/>
        </p:nvSpPr>
        <p:spPr>
          <a:xfrm>
            <a:off x="92598" y="1583833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Garamond" panose="02020404030301010803" pitchFamily="18" charset="0"/>
              </a:rPr>
              <a:t> RSA</a:t>
            </a:r>
            <a:r>
              <a:rPr lang="zh-CN" altLang="en-US">
                <a:latin typeface="Garamond" panose="02020404030301010803" pitchFamily="18" charset="0"/>
              </a:rPr>
              <a:t>流程：获得公私钥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2"/>
              <p:cNvSpPr txBox="1"/>
              <p:nvPr/>
            </p:nvSpPr>
            <p:spPr>
              <a:xfrm>
                <a:off x="0" y="2006569"/>
                <a:ext cx="6007100" cy="267976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7330" indent="-227330" algn="l" defTabSz="91313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1pPr>
                <a:lvl2pPr marL="6845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2pPr>
                <a:lvl3pPr marL="11417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3pPr>
                <a:lvl4pPr marL="15989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4pPr>
                <a:lvl5pPr marL="20561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选择两个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充分大（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2048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位）的质数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，计算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∗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计算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=(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𝑝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−1)(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找一个和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互质的数，作为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求解方程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mod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𝑚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，得到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公钥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𝒆</m:t>
                    </m:r>
                    <m:r>
                      <a:rPr lang="en-US" altLang="zh-CN" sz="2000" b="1" i="1" smtClean="0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，私钥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en-US" altLang="zh-CN" sz="2000" b="1" i="1" smtClean="0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𝒅</m:t>
                    </m:r>
                    <m:r>
                      <a:rPr lang="en-US" altLang="zh-CN" sz="2000" b="1" i="1" smtClean="0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000" b="1" i="1" smtClean="0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𝒏</m:t>
                    </m:r>
                    <m:r>
                      <a:rPr lang="en-US" altLang="zh-CN" sz="2000" b="1" i="1" smtClean="0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9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06569"/>
                <a:ext cx="6007100" cy="2679768"/>
              </a:xfrm>
              <a:prstGeom prst="rect">
                <a:avLst/>
              </a:prstGeom>
              <a:blipFill>
                <a:blip r:embed="rId3"/>
                <a:stretch>
                  <a:fillRect l="-914" t="-909" b="-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373918"/>
                  </p:ext>
                </p:extLst>
              </p:nvPr>
            </p:nvGraphicFramePr>
            <p:xfrm>
              <a:off x="92598" y="4892145"/>
              <a:ext cx="5864397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13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dirty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发送方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接收方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窃听者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1373918"/>
                  </p:ext>
                </p:extLst>
              </p:nvPr>
            </p:nvGraphicFramePr>
            <p:xfrm>
              <a:off x="92598" y="4892145"/>
              <a:ext cx="5864397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13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40000" t="-1639" r="-504615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38168" t="-1639" r="-400763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40769" t="-1639" r="-30384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40769" t="-1639" r="-203846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36641" t="-1639" r="-10229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41538" t="-1639" r="-3077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发送方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接收方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窃听者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文本占位符 3"/>
          <p:cNvSpPr txBox="1"/>
          <p:nvPr/>
        </p:nvSpPr>
        <p:spPr bwMode="auto">
          <a:xfrm>
            <a:off x="6096000" y="1583832"/>
            <a:ext cx="4817004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400" b="1" i="0" kern="1200">
                <a:solidFill>
                  <a:schemeClr val="tx1"/>
                </a:solidFill>
                <a:latin typeface="LXGW WenKai" pitchFamily="2" charset="-120"/>
                <a:ea typeface="LXGW WenKai" pitchFamily="2" charset="-120"/>
                <a:cs typeface="等线" panose="02010600030101010101" pitchFamily="2" charset="-122"/>
              </a:defRPr>
            </a:lvl1pPr>
            <a:lvl2pPr marL="457200" indent="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RSA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流程：加解密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/>
              <p:cNvSpPr txBox="1"/>
              <p:nvPr/>
            </p:nvSpPr>
            <p:spPr>
              <a:xfrm>
                <a:off x="6184900" y="2006569"/>
                <a:ext cx="6007100" cy="151348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7330" indent="-227330" algn="l" defTabSz="91313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1pPr>
                <a:lvl2pPr marL="6845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2pPr>
                <a:lvl3pPr marL="11417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3pPr>
                <a:lvl4pPr marL="15989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4pPr>
                <a:lvl5pPr marL="20561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接收方发送公钥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𝒆</m:t>
                    </m:r>
                    <m:r>
                      <a:rPr lang="en-US" altLang="zh-CN" sz="2000" b="1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1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给发送方，保留私钥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b="1" i="1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𝒅</m:t>
                    </m:r>
                    <m:r>
                      <a:rPr lang="en-US" altLang="zh-CN" sz="2000" b="1" i="1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sz="2000" b="1" i="1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𝒏</m:t>
                    </m:r>
                    <m:r>
                      <a:rPr lang="en-US" altLang="zh-CN" sz="2000" b="1" i="1">
                        <a:solidFill>
                          <a:srgbClr val="2983B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明文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，计算密文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𝑒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mod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，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发送；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接收方还原明文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𝑑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mod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，得到明文。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900" y="2006569"/>
                <a:ext cx="6007100" cy="1513486"/>
              </a:xfrm>
              <a:prstGeom prst="rect">
                <a:avLst/>
              </a:prstGeom>
              <a:blipFill>
                <a:blip r:embed="rId5"/>
                <a:stretch>
                  <a:fillRect l="-914" r="-508" b="-8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0" y="4154525"/>
            <a:ext cx="457200" cy="4572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496734" y="423072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内容占位符 2"/>
              <p:cNvSpPr txBox="1"/>
              <p:nvPr/>
            </p:nvSpPr>
            <p:spPr>
              <a:xfrm>
                <a:off x="6184209" y="4600057"/>
                <a:ext cx="6007100" cy="177544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7330" indent="-227330" algn="l" defTabSz="913130" rtl="0" eaLnBrk="0" fontAlgn="base" hangingPunct="0">
                  <a:lnSpc>
                    <a:spcPct val="90000"/>
                  </a:lnSpc>
                  <a:spcBef>
                    <a:spcPts val="1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1pPr>
                <a:lvl2pPr marL="6845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2pPr>
                <a:lvl3pPr marL="11417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3pPr>
                <a:lvl4pPr marL="15989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4pPr>
                <a:lvl5pPr marL="2056130" indent="-227330" algn="l" defTabSz="913130" rtl="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kern="1200">
                    <a:solidFill>
                      <a:schemeClr val="tx1"/>
                    </a:solidFill>
                    <a:latin typeface="+mn-lt"/>
                    <a:ea typeface="+mn-ea"/>
                    <a:cs typeface="等线" panose="02010600030101010101" pitchFamily="2" charset="-12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=17,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=13,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=17∗13=221,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=16∗12=192,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=23,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𝑑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=167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；</m:t>
                    </m:r>
                  </m:oMath>
                </a14:m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明文</a:t>
                </a:r>
                <a:r>
                  <a:rPr lang="en-US" altLang="zh-CN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37</a:t>
                </a: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，计算密文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37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23</m:t>
                        </m:r>
                      </m:sup>
                    </m:sSup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mod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221=45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；</m:t>
                    </m:r>
                  </m:oMath>
                </a14:m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密文</a:t>
                </a:r>
                <a:r>
                  <a:rPr lang="en-US" altLang="zh-CN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45</a:t>
                </a:r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，计算明文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45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167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mod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221=37</m:t>
                    </m:r>
                  </m:oMath>
                </a14:m>
                <a:r>
                  <a:rPr lang="zh-CN" altLang="en-US" sz="20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；</a:t>
                </a:r>
                <a:endParaRPr lang="en-US" altLang="zh-CN" sz="20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209" y="4600057"/>
                <a:ext cx="6007100" cy="1775448"/>
              </a:xfrm>
              <a:prstGeom prst="rect">
                <a:avLst/>
              </a:prstGeom>
              <a:blipFill>
                <a:blip r:embed="rId7"/>
                <a:stretch>
                  <a:fillRect l="-1014" t="-2062" b="-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1" grpId="1"/>
      <p:bldP spid="12" grpId="0"/>
      <p:bldP spid="12" grpId="1"/>
      <p:bldP spid="14" grpId="0"/>
      <p:bldP spid="14" grpId="1"/>
      <p:bldP spid="15" grpId="0"/>
      <p:bldP spid="1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非对称加密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26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" name="文本占位符 3"/>
          <p:cNvSpPr txBox="1"/>
          <p:nvPr/>
        </p:nvSpPr>
        <p:spPr>
          <a:xfrm>
            <a:off x="319293" y="1244108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Garamond" panose="02020404030301010803" pitchFamily="18" charset="0"/>
              </a:rPr>
              <a:t>验证一下</a:t>
            </a:r>
            <a:r>
              <a:rPr lang="en-US" altLang="zh-CN" dirty="0">
                <a:latin typeface="Garamond" panose="02020404030301010803" pitchFamily="18" charset="0"/>
              </a:rPr>
              <a:t>RSA</a:t>
            </a:r>
            <a:r>
              <a:rPr lang="zh-CN" altLang="en-US" dirty="0">
                <a:latin typeface="Garamond" panose="02020404030301010803" pitchFamily="18" charset="0"/>
              </a:rPr>
              <a:t>流程</a:t>
            </a:r>
          </a:p>
        </p:txBody>
      </p:sp>
      <p:sp>
        <p:nvSpPr>
          <p:cNvPr id="11" name="文本占位符 3"/>
          <p:cNvSpPr txBox="1"/>
          <p:nvPr/>
        </p:nvSpPr>
        <p:spPr bwMode="auto">
          <a:xfrm>
            <a:off x="319293" y="1933717"/>
            <a:ext cx="4817004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400" b="1" i="0" kern="1200">
                <a:solidFill>
                  <a:schemeClr val="tx1"/>
                </a:solidFill>
                <a:latin typeface="LXGW WenKai" pitchFamily="2" charset="-120"/>
                <a:ea typeface="LXGW WenKai" pitchFamily="2" charset="-120"/>
                <a:cs typeface="等线" panose="02010600030101010101" pitchFamily="2" charset="-122"/>
              </a:defRPr>
            </a:lvl1pPr>
            <a:lvl2pPr marL="457200" indent="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密钥生成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9085" y="2320925"/>
            <a:ext cx="5057140" cy="4277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p = 13, q = 17</a:t>
            </a: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n = 13 * 17 = 221</a:t>
            </a: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(p – 1)(q – 1) = 192</a:t>
            </a:r>
          </a:p>
          <a:p>
            <a:pPr marL="0" indent="0">
              <a:buNone/>
            </a:pPr>
            <a:endParaRPr lang="en-US" altLang="zh-CN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Garamond" panose="02020404030301010803" pitchFamily="18" charset="0"/>
              </a:rPr>
              <a:t>任选一个和</a:t>
            </a:r>
            <a:r>
              <a:rPr lang="en-US" altLang="zh-CN" sz="2000" dirty="0">
                <a:latin typeface="Garamond" panose="02020404030301010803" pitchFamily="18" charset="0"/>
              </a:rPr>
              <a:t>192</a:t>
            </a:r>
            <a:r>
              <a:rPr lang="zh-CN" altLang="en-US" sz="2000" dirty="0">
                <a:latin typeface="Garamond" panose="02020404030301010803" pitchFamily="18" charset="0"/>
              </a:rPr>
              <a:t>互质的数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Garamond" panose="02020404030301010803" pitchFamily="18" charset="0"/>
              </a:rPr>
              <a:t>选一个质数</a:t>
            </a:r>
            <a:r>
              <a:rPr lang="en-US" altLang="zh-CN" sz="2000" dirty="0">
                <a:latin typeface="Garamond" panose="02020404030301010803" pitchFamily="18" charset="0"/>
              </a:rPr>
              <a:t>23</a:t>
            </a:r>
          </a:p>
          <a:p>
            <a:pPr marL="0" indent="0">
              <a:buNone/>
            </a:pPr>
            <a:r>
              <a:rPr lang="zh-CN" altLang="en-US" sz="2000" dirty="0">
                <a:latin typeface="Garamond" panose="02020404030301010803" pitchFamily="18" charset="0"/>
              </a:rPr>
              <a:t>求解</a:t>
            </a:r>
            <a:r>
              <a:rPr lang="en-US" altLang="zh-CN" sz="2000" dirty="0">
                <a:latin typeface="Garamond" panose="02020404030301010803" pitchFamily="18" charset="0"/>
              </a:rPr>
              <a:t>23*d mod 192 = 1</a:t>
            </a:r>
            <a:r>
              <a:rPr lang="zh-CN" altLang="en-US" sz="2000" dirty="0">
                <a:latin typeface="Garamond" panose="02020404030301010803" pitchFamily="18" charset="0"/>
              </a:rPr>
              <a:t>的解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Garamond" panose="02020404030301010803" pitchFamily="18" charset="0"/>
              </a:rPr>
              <a:t>扩展辗转相除：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192 / 23 = 8</a:t>
            </a:r>
            <a:r>
              <a:rPr lang="zh-CN" altLang="en-US" sz="2000" dirty="0">
                <a:latin typeface="Garamond" panose="02020404030301010803" pitchFamily="18" charset="0"/>
              </a:rPr>
              <a:t>余</a:t>
            </a:r>
            <a:r>
              <a:rPr lang="en-US" altLang="zh-CN" sz="2000" dirty="0">
                <a:latin typeface="Garamond" panose="02020404030301010803" pitchFamily="18" charset="0"/>
              </a:rPr>
              <a:t>8</a:t>
            </a: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23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3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8 – 192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3 = 8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3 = -24</a:t>
            </a: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23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4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8 – 192 </a:t>
            </a:r>
            <a:r>
              <a:rPr lang="zh-CN" altLang="en-US" sz="2000" dirty="0">
                <a:latin typeface="Garamond" panose="02020404030301010803" pitchFamily="18" charset="0"/>
              </a:rPr>
              <a:t>* </a:t>
            </a:r>
            <a:r>
              <a:rPr lang="en-US" altLang="zh-CN" sz="2000" dirty="0">
                <a:latin typeface="Garamond" panose="02020404030301010803" pitchFamily="18" charset="0"/>
              </a:rPr>
              <a:t>3 = -1</a:t>
            </a:r>
          </a:p>
          <a:p>
            <a:pPr marL="0" indent="0">
              <a:buNone/>
            </a:pPr>
            <a:r>
              <a:rPr lang="en-US" altLang="zh-CN" sz="2000" dirty="0">
                <a:latin typeface="Garamond" panose="02020404030301010803" pitchFamily="18" charset="0"/>
              </a:rPr>
              <a:t>d = 167, e = 23</a:t>
            </a:r>
            <a:endParaRPr lang="zh-CN" altLang="en-US" sz="2000" dirty="0">
              <a:latin typeface="Garamond" panose="02020404030301010803" pitchFamily="18" charset="0"/>
            </a:endParaRPr>
          </a:p>
        </p:txBody>
      </p:sp>
      <p:sp>
        <p:nvSpPr>
          <p:cNvPr id="4" name="文本占位符 3"/>
          <p:cNvSpPr txBox="1"/>
          <p:nvPr/>
        </p:nvSpPr>
        <p:spPr bwMode="auto">
          <a:xfrm>
            <a:off x="4634753" y="1598437"/>
            <a:ext cx="4817004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400" b="1" i="0" kern="1200">
                <a:solidFill>
                  <a:schemeClr val="tx1"/>
                </a:solidFill>
                <a:latin typeface="LXGW WenKai" pitchFamily="2" charset="-120"/>
                <a:ea typeface="LXGW WenKai" pitchFamily="2" charset="-120"/>
                <a:cs typeface="等线" panose="02010600030101010101" pitchFamily="2" charset="-122"/>
              </a:defRPr>
            </a:lvl1pPr>
            <a:lvl2pPr marL="457200" indent="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加密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34865" y="1985645"/>
            <a:ext cx="6440170" cy="3076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假设我们要发送字符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’h’, </a:t>
            </a:r>
            <a:r>
              <a:rPr lang="zh-CN" altLang="en-US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ASCII</a:t>
            </a:r>
            <a:r>
              <a:rPr lang="zh-CN" altLang="en-US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码方式编码的结果十进制是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</a:t>
            </a:r>
            <a:endParaRPr lang="en-US" altLang="zh-CN" sz="20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加密：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167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mod 221 </a:t>
            </a:r>
            <a:endParaRPr lang="en-US" altLang="zh-CN" sz="20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(104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 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 * 104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160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221) mod 221</a:t>
            </a:r>
            <a:endParaRPr lang="en-US" altLang="zh-CN" sz="20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spcBef>
                <a:spcPts val="1200"/>
              </a:spcBef>
              <a:buClr>
                <a:srgbClr val="40BAD2"/>
              </a:buClr>
              <a:buFont typeface="Wingdings 2" panose="05020102010507070707" pitchFamily="18" charset="2"/>
              <a:buNone/>
            </a:pP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 (104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 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 * ((((104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221)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221… )</a:t>
            </a:r>
            <a:r>
              <a:rPr lang="en-US" altLang="zh-CN" sz="2000" baseline="30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 </a:t>
            </a:r>
            <a:r>
              <a:rPr lang="en-US" altLang="zh-CN" sz="2000" dirty="0">
                <a:solidFill>
                  <a:schemeClr val="tx1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mod 221) mod 221</a:t>
            </a:r>
            <a:endParaRPr lang="en-US" altLang="zh-CN" sz="2000" dirty="0">
              <a:solidFill>
                <a:schemeClr val="tx1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(16 = 2*2*2*2*2*5)</a:t>
            </a:r>
            <a:endParaRPr lang="en-US" altLang="zh-CN" sz="2000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(26 * 52) mod 221 = 26</a:t>
            </a:r>
            <a:endParaRPr lang="en-US" altLang="zh-CN" sz="2000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加密后的密文就是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</a:t>
            </a:r>
          </a:p>
        </p:txBody>
      </p:sp>
      <p:sp>
        <p:nvSpPr>
          <p:cNvPr id="6" name="文本占位符 3"/>
          <p:cNvSpPr txBox="1"/>
          <p:nvPr/>
        </p:nvSpPr>
        <p:spPr bwMode="auto">
          <a:xfrm>
            <a:off x="4634753" y="5422407"/>
            <a:ext cx="4817004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7330" indent="-227330" algn="l" defTabSz="913130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400" b="1" i="0" kern="1200">
                <a:solidFill>
                  <a:schemeClr val="tx1"/>
                </a:solidFill>
                <a:latin typeface="LXGW WenKai" pitchFamily="2" charset="-120"/>
                <a:ea typeface="LXGW WenKai" pitchFamily="2" charset="-120"/>
                <a:cs typeface="等线" panose="02010600030101010101" pitchFamily="2" charset="-122"/>
              </a:defRPr>
            </a:lvl1pPr>
            <a:lvl2pPr marL="457200" indent="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7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9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6130" indent="-227330" algn="l" defTabSz="913130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解密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34865" y="576326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解密：密文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</a:t>
            </a:r>
            <a:r>
              <a:rPr lang="zh-CN" altLang="en-US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，密钥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 = 23, n = 221</a:t>
            </a:r>
            <a:endParaRPr lang="en-US" altLang="zh-CN" sz="2000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26</a:t>
            </a:r>
            <a:r>
              <a:rPr lang="en-US" altLang="zh-CN" sz="2000" baseline="30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23</a:t>
            </a:r>
            <a:r>
              <a:rPr lang="en-US" altLang="zh-CN" sz="2000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mod 221 = </a:t>
            </a:r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</a:t>
            </a:r>
            <a:endParaRPr lang="en-US" altLang="zh-CN" sz="2000" dirty="0">
              <a:solidFill>
                <a:srgbClr val="FF0000"/>
              </a:solidFill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104 =&gt; ‘h’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3" grpId="0" build="p"/>
      <p:bldP spid="3" grpId="1" build="p"/>
      <p:bldP spid="4" grpId="0"/>
      <p:bldP spid="4" grpId="1"/>
      <p:bldP spid="5" grpId="0"/>
      <p:bldP spid="5" grpId="1"/>
      <p:bldP spid="6" grpId="0"/>
      <p:bldP spid="6" grpId="1"/>
      <p:bldP spid="16" grpId="0"/>
      <p:bldP spid="16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非对称加密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  <p:sp>
        <p:nvSpPr>
          <p:cNvPr id="5" name="文本占位符 3"/>
          <p:cNvSpPr txBox="1"/>
          <p:nvPr/>
        </p:nvSpPr>
        <p:spPr>
          <a:xfrm>
            <a:off x="102758" y="1385147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cs typeface="微软雅黑" panose="020B0503020204020204" pitchFamily="34" charset="-122"/>
              </a:rPr>
              <a:t> RSA</a:t>
            </a:r>
            <a:r>
              <a:rPr lang="zh-CN" altLang="en-US">
                <a:cs typeface="微软雅黑" panose="020B0503020204020204" pitchFamily="34" charset="-122"/>
              </a:rPr>
              <a:t>安全性</a:t>
            </a:r>
            <a:endParaRPr lang="zh-CN" altLang="en-US" dirty="0"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2758" y="1968606"/>
              <a:ext cx="5864397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133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9384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dirty="0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  <a:cs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altLang="zh-CN" sz="1800" b="0" i="1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发送方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接收方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窃听者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102758" y="1968606"/>
              <a:ext cx="5864397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01333"/>
                    <a:gridCol w="793844"/>
                    <a:gridCol w="793844"/>
                    <a:gridCol w="793844"/>
                    <a:gridCol w="793844"/>
                    <a:gridCol w="793844"/>
                    <a:gridCol w="793844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solidFill>
                              <a:srgbClr val="0000CC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发送方</a:t>
                          </a:r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接收方</a:t>
                          </a:r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窃听者</a:t>
                          </a:r>
                          <a:endParaRPr lang="zh-CN" altLang="en-US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√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b="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a:t>×</a:t>
                          </a:r>
                          <a:endParaRPr lang="en-US" altLang="zh-CN" b="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683907" y="3592115"/>
                <a:ext cx="16080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i="1" smtClean="0">
                              <a:solidFill>
                                <a:srgbClr val="EE1A1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mod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907" y="3592115"/>
                <a:ext cx="1608069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7" t="-150" r="32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683907" y="4024101"/>
                <a:ext cx="1626023" cy="3742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smtClean="0">
                              <a:solidFill>
                                <a:srgbClr val="EE1A1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mod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907" y="4024101"/>
                <a:ext cx="1626023" cy="374270"/>
              </a:xfrm>
              <a:prstGeom prst="rect">
                <a:avLst/>
              </a:prstGeom>
              <a:blipFill rotWithShape="1">
                <a:blip r:embed="rId4"/>
                <a:stretch>
                  <a:fillRect l="-17" t="-28" r="4" b="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0160" y="3662802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明文：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由密文和公钥反推明文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896" y="3611774"/>
            <a:ext cx="762000" cy="762000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3396096" y="4480787"/>
          <a:ext cx="25908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aseline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多项式时间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>
                          <a:solidFill>
                            <a:srgbClr val="00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唯一解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667516" y="4628769"/>
                <a:ext cx="219797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37</m:t>
                          </m:r>
                        </m:e>
                        <m:sup>
                          <m:r>
                            <a:rPr lang="en-US" altLang="zh-CN" i="1" smtClean="0">
                              <a:solidFill>
                                <a:srgbClr val="EE1A1A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23</m:t>
                          </m:r>
                        </m:sup>
                      </m:sSup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mod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221=45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6" y="4628769"/>
                <a:ext cx="2197974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6" t="-69" r="17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89282" y="4963790"/>
                <a:ext cx="2945079" cy="4946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(45+221∗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23</m:t>
                              </m:r>
                            </m:den>
                          </m:f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82" y="4963790"/>
                <a:ext cx="2945079" cy="494687"/>
              </a:xfrm>
              <a:prstGeom prst="rect">
                <a:avLst/>
              </a:prstGeom>
              <a:blipFill rotWithShape="1">
                <a:blip r:embed="rId7"/>
                <a:stretch>
                  <a:fillRect l="-2" t="-127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106160" y="1449109"/>
            <a:ext cx="2775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私钥：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由公钥反推私钥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9468569" y="2710743"/>
                <a:ext cx="18953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𝑑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mod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569" y="2710743"/>
                <a:ext cx="1895391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4" t="-152" b="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9468569" y="2371609"/>
                <a:ext cx="22038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−1)(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𝑞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569" y="2371609"/>
                <a:ext cx="2203808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4" t="-141" r="20" b="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9468569" y="2047734"/>
                <a:ext cx="11650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EE1A1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𝑛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CN" altLang="en-US" dirty="0">
                  <a:latin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569" y="2047734"/>
                <a:ext cx="1165063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7" t="-134" r="48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102758" y="5790343"/>
                <a:ext cx="3821880" cy="370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暴力破解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Brute Force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，直到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𝑥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整数</a:t>
                </a:r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58" y="5790343"/>
                <a:ext cx="3821880" cy="370038"/>
              </a:xfrm>
              <a:prstGeom prst="rect">
                <a:avLst/>
              </a:prstGeom>
              <a:blipFill rotWithShape="1">
                <a:blip r:embed="rId11"/>
                <a:stretch>
                  <a:fillRect l="-14" t="-112" r="-1021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7229757" y="2068282"/>
                <a:ext cx="786690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求解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𝑑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9757" y="2068282"/>
                <a:ext cx="786690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1247" t="-2603" r="-1265" b="-2448"/>
                </a:stretch>
              </a:blipFill>
              <a:ln w="19050"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7203757" y="2639174"/>
                <a:ext cx="838691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得到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𝑚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757" y="2639174"/>
                <a:ext cx="8386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173" t="-2610" r="-2024" b="-2441"/>
                </a:stretch>
              </a:blipFill>
              <a:ln w="19050"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7107577" y="3210066"/>
                <a:ext cx="1031051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得到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577" y="3210066"/>
                <a:ext cx="1031051" cy="369332"/>
              </a:xfrm>
              <a:prstGeom prst="rect">
                <a:avLst/>
              </a:prstGeom>
              <a:blipFill rotWithShape="1">
                <a:blip r:embed="rId14"/>
                <a:stretch>
                  <a:fillRect l="-926" t="-2617" r="-878" b="-2433"/>
                </a:stretch>
              </a:blipFill>
              <a:ln w="19050"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/>
              <p:cNvSpPr txBox="1"/>
              <p:nvPr/>
            </p:nvSpPr>
            <p:spPr>
              <a:xfrm>
                <a:off x="6920346" y="3788032"/>
                <a:ext cx="1405513" cy="3693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002060"/>
                </a:solidFill>
                <a:prstDash val="dash"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EE1A1A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分解为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文本框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346" y="3788032"/>
                <a:ext cx="1405513" cy="369332"/>
              </a:xfrm>
              <a:prstGeom prst="rect">
                <a:avLst/>
              </a:prstGeom>
              <a:blipFill rotWithShape="1">
                <a:blip r:embed="rId15"/>
                <a:stretch>
                  <a:fillRect l="-686" t="-2649" r="-651" b="-2574"/>
                </a:stretch>
              </a:blipFill>
              <a:ln w="19050">
                <a:solidFill>
                  <a:srgbClr val="002060"/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>
            <a:stCxn id="22" idx="0"/>
            <a:endCxn id="21" idx="2"/>
          </p:cNvCxnSpPr>
          <p:nvPr/>
        </p:nvCxnSpPr>
        <p:spPr>
          <a:xfrm flipV="1">
            <a:off x="7623103" y="3579398"/>
            <a:ext cx="0" cy="208634"/>
          </a:xfrm>
          <a:prstGeom prst="straightConnector1">
            <a:avLst/>
          </a:prstGeom>
          <a:ln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1" idx="0"/>
            <a:endCxn id="20" idx="2"/>
          </p:cNvCxnSpPr>
          <p:nvPr/>
        </p:nvCxnSpPr>
        <p:spPr>
          <a:xfrm flipV="1">
            <a:off x="7623103" y="3008506"/>
            <a:ext cx="0" cy="201560"/>
          </a:xfrm>
          <a:prstGeom prst="straightConnector1">
            <a:avLst/>
          </a:prstGeom>
          <a:ln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0"/>
            <a:endCxn id="19" idx="2"/>
          </p:cNvCxnSpPr>
          <p:nvPr/>
        </p:nvCxnSpPr>
        <p:spPr>
          <a:xfrm flipH="1" flipV="1">
            <a:off x="7623102" y="2437614"/>
            <a:ext cx="1" cy="201560"/>
          </a:xfrm>
          <a:prstGeom prst="straightConnector1">
            <a:avLst/>
          </a:prstGeom>
          <a:ln>
            <a:solidFill>
              <a:srgbClr val="00206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8683739" y="378803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大数分解难题</a:t>
            </a:r>
          </a:p>
        </p:txBody>
      </p:sp>
      <p:cxnSp>
        <p:nvCxnSpPr>
          <p:cNvPr id="27" name="直接箭头连接符 26"/>
          <p:cNvCxnSpPr>
            <a:stCxn id="22" idx="3"/>
            <a:endCxn id="26" idx="1"/>
          </p:cNvCxnSpPr>
          <p:nvPr/>
        </p:nvCxnSpPr>
        <p:spPr>
          <a:xfrm>
            <a:off x="8325859" y="3972698"/>
            <a:ext cx="3578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6106160" y="4277733"/>
            <a:ext cx="5705222" cy="923330"/>
          </a:xfrm>
          <a:prstGeom prst="rect">
            <a:avLst/>
          </a:prstGeom>
          <a:solidFill>
            <a:srgbClr val="FFC000"/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我们可以高效地判断一个数是不是质数，我们可以高效地生成一个很大的质数，但我们却始终找不到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高效的大数分解方法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106160" y="5358130"/>
            <a:ext cx="5684520" cy="905510"/>
          </a:xfrm>
          <a:prstGeom prst="rect">
            <a:avLst/>
          </a:prstGeom>
          <a:solidFill>
            <a:srgbClr val="FFC000"/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不排除有一种方法可以绕过大数分解获得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，只是迄今为止都没有人发现。所以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RSA加密在今天而言仍是一个安全的加密算法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  <a:p>
            <a:pPr lvl="0" algn="l">
              <a:buClrTx/>
              <a:buSzTx/>
              <a:buFontTx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2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</a:rPr>
              <a:t>非对称加密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</a:rPr>
              <a:t>28</a:t>
            </a:fld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8" name="文本占位符 3"/>
          <p:cNvSpPr txBox="1"/>
          <p:nvPr/>
        </p:nvSpPr>
        <p:spPr>
          <a:xfrm>
            <a:off x="170247" y="1382712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latin typeface="Garamond" panose="02020404030301010803" pitchFamily="18" charset="0"/>
                <a:cs typeface="微软雅黑" panose="020B0503020204020204" pitchFamily="34" charset="-122"/>
              </a:rPr>
              <a:t> RSA</a:t>
            </a:r>
            <a:r>
              <a:rPr lang="zh-CN" altLang="en-US">
                <a:latin typeface="Garamond" panose="02020404030301010803" pitchFamily="18" charset="0"/>
                <a:cs typeface="微软雅黑" panose="020B0503020204020204" pitchFamily="34" charset="-122"/>
              </a:rPr>
              <a:t>实际使用</a:t>
            </a:r>
            <a:r>
              <a:rPr lang="en-US" altLang="zh-CN" sz="2000">
                <a:latin typeface="Garamond" panose="02020404030301010803" pitchFamily="18" charset="0"/>
                <a:cs typeface="微软雅黑" panose="020B0503020204020204" pitchFamily="34" charset="-122"/>
              </a:rPr>
              <a:t>——</a:t>
            </a:r>
            <a:r>
              <a:rPr lang="zh-CN" altLang="en-US" sz="2000">
                <a:latin typeface="Garamond" panose="02020404030301010803" pitchFamily="18" charset="0"/>
                <a:cs typeface="微软雅黑" panose="020B0503020204020204" pitchFamily="34" charset="-122"/>
              </a:rPr>
              <a:t>基于</a:t>
            </a:r>
            <a:r>
              <a:rPr lang="en-US" altLang="zh-CN" sz="2000">
                <a:latin typeface="Garamond" panose="02020404030301010803" pitchFamily="18" charset="0"/>
                <a:cs typeface="微软雅黑" panose="020B0503020204020204" pitchFamily="34" charset="-122"/>
              </a:rPr>
              <a:t>TCP</a:t>
            </a:r>
            <a:r>
              <a:rPr lang="zh-CN" altLang="en-US" sz="2000">
                <a:latin typeface="Garamond" panose="02020404030301010803" pitchFamily="18" charset="0"/>
                <a:cs typeface="微软雅黑" panose="020B0503020204020204" pitchFamily="34" charset="-122"/>
              </a:rPr>
              <a:t>的加密协议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0247" y="1957387"/>
            <a:ext cx="3012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对称加密：密钥协商困难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非对称加密：复杂度较高</a:t>
            </a:r>
          </a:p>
        </p:txBody>
      </p:sp>
      <p:sp>
        <p:nvSpPr>
          <p:cNvPr id="10" name="箭头: 右 9"/>
          <p:cNvSpPr/>
          <p:nvPr/>
        </p:nvSpPr>
        <p:spPr>
          <a:xfrm>
            <a:off x="3182609" y="2095079"/>
            <a:ext cx="457389" cy="3709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96673" y="2096693"/>
            <a:ext cx="25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非对称加密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+ 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对称加密</a:t>
            </a:r>
          </a:p>
        </p:txBody>
      </p:sp>
      <p:cxnSp>
        <p:nvCxnSpPr>
          <p:cNvPr id="12" name="直接连接符 11"/>
          <p:cNvCxnSpPr>
            <a:endCxn id="11" idx="2"/>
          </p:cNvCxnSpPr>
          <p:nvPr/>
        </p:nvCxnSpPr>
        <p:spPr>
          <a:xfrm>
            <a:off x="3840024" y="2466025"/>
            <a:ext cx="1119174" cy="0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846374" y="2543502"/>
            <a:ext cx="1119174" cy="0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3879255" y="25435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交换密钥</a:t>
            </a:r>
          </a:p>
        </p:txBody>
      </p:sp>
      <p:cxnSp>
        <p:nvCxnSpPr>
          <p:cNvPr id="15" name="直接连接符 14"/>
          <p:cNvCxnSpPr/>
          <p:nvPr/>
        </p:nvCxnSpPr>
        <p:spPr>
          <a:xfrm>
            <a:off x="5163999" y="2466025"/>
            <a:ext cx="1009650" cy="0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170349" y="2546568"/>
            <a:ext cx="1009650" cy="0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236592" y="25435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加解密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191" y="3007236"/>
            <a:ext cx="595745" cy="59574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67" y="3428448"/>
            <a:ext cx="506049" cy="50604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4" y="3428448"/>
            <a:ext cx="506048" cy="506048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64201" y="3593352"/>
            <a:ext cx="3819366" cy="176240"/>
          </a:xfrm>
          <a:prstGeom prst="rect">
            <a:avLst/>
          </a:prstGeom>
          <a:solidFill>
            <a:srgbClr val="2983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09655" y="3719076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TCP/IP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18" y="3084713"/>
            <a:ext cx="506048" cy="506048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7649" y="4943892"/>
            <a:ext cx="6258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Alice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Bob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分别生成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RSA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公、私钥，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A.pub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B.pub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Alice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A.pub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发送给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Bob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Bob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B.pub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发送给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Alice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46" y="4162853"/>
            <a:ext cx="452438" cy="45243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544406" y="3141568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Alice</a:t>
            </a:r>
          </a:p>
        </p:txBody>
      </p:sp>
      <p:sp>
        <p:nvSpPr>
          <p:cNvPr id="27" name="矩形 26"/>
          <p:cNvSpPr/>
          <p:nvPr/>
        </p:nvSpPr>
        <p:spPr>
          <a:xfrm>
            <a:off x="4939073" y="3141568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Bob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18" y="4162853"/>
            <a:ext cx="452438" cy="452438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238288" y="4536236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</a:p>
        </p:txBody>
      </p:sp>
      <p:sp>
        <p:nvSpPr>
          <p:cNvPr id="30" name="矩形 29"/>
          <p:cNvSpPr/>
          <p:nvPr/>
        </p:nvSpPr>
        <p:spPr>
          <a:xfrm>
            <a:off x="908939" y="4536704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A.pub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15" y="4118552"/>
            <a:ext cx="452438" cy="45243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087" y="4118552"/>
            <a:ext cx="452438" cy="452438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4623957" y="4491935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</a:p>
        </p:txBody>
      </p:sp>
      <p:sp>
        <p:nvSpPr>
          <p:cNvPr id="34" name="矩形 33"/>
          <p:cNvSpPr/>
          <p:nvPr/>
        </p:nvSpPr>
        <p:spPr>
          <a:xfrm>
            <a:off x="5294608" y="4492403"/>
            <a:ext cx="71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B.pub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67" y="6068628"/>
            <a:ext cx="506049" cy="506049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4" y="6068628"/>
            <a:ext cx="506048" cy="506048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544406" y="5781748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Garamond" panose="02020404030301010803" pitchFamily="18" charset="0"/>
                <a:ea typeface="微软雅黑" panose="020B0503020204020204" pitchFamily="34" charset="-122"/>
              </a:rPr>
              <a:t>Alice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939073" y="5781748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Bob</a:t>
            </a: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1139832" y="6188788"/>
            <a:ext cx="38193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139832" y="6378894"/>
            <a:ext cx="381936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/>
        </p:nvSpPr>
        <p:spPr>
          <a:xfrm>
            <a:off x="2645755" y="5844393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A.pub</a:t>
            </a:r>
          </a:p>
        </p:txBody>
      </p:sp>
      <p:sp>
        <p:nvSpPr>
          <p:cNvPr id="42" name="矩形 41"/>
          <p:cNvSpPr/>
          <p:nvPr/>
        </p:nvSpPr>
        <p:spPr>
          <a:xfrm>
            <a:off x="2655817" y="6350625"/>
            <a:ext cx="71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EE1A1A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B.pub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6729358" y="1428933"/>
                <a:ext cx="470391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4. Alice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（或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Bob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）生成一个对称加密密钥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5. Alice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利用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B.pub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加密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，发送给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Bob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；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6. Bob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用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B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解密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  <a:cs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，得到密钥；</a:t>
                </a:r>
                <a:endParaRPr lang="en-US" altLang="zh-CN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358" y="1428933"/>
                <a:ext cx="4703916" cy="923330"/>
              </a:xfrm>
              <a:prstGeom prst="rect">
                <a:avLst/>
              </a:prstGeom>
              <a:blipFill>
                <a:blip r:embed="rId9"/>
                <a:stretch>
                  <a:fillRect l="-1166" t="-3947" b="-9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图片 4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398" y="3026941"/>
            <a:ext cx="506049" cy="506049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615" y="3026941"/>
            <a:ext cx="506048" cy="506048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6634237" y="2740061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Garamond" panose="02020404030301010803" pitchFamily="18" charset="0"/>
                <a:ea typeface="微软雅黑" panose="020B0503020204020204" pitchFamily="34" charset="-122"/>
              </a:rPr>
              <a:t>Alice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1028904" y="2740061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Bob</a:t>
            </a:r>
          </a:p>
        </p:txBody>
      </p:sp>
      <p:cxnSp>
        <p:nvCxnSpPr>
          <p:cNvPr id="48" name="直接箭头连接符 47"/>
          <p:cNvCxnSpPr/>
          <p:nvPr/>
        </p:nvCxnSpPr>
        <p:spPr>
          <a:xfrm>
            <a:off x="7229663" y="3147101"/>
            <a:ext cx="38193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6555469" y="4251381"/>
            <a:ext cx="5147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7. Alice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Bob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和对称加密算法进行加密通信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6531484" y="3464744"/>
                <a:ext cx="8903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84" y="3464744"/>
                <a:ext cx="89030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直接连接符 50"/>
          <p:cNvCxnSpPr>
            <a:stCxn id="20" idx="2"/>
            <a:endCxn id="25" idx="0"/>
          </p:cNvCxnSpPr>
          <p:nvPr/>
        </p:nvCxnSpPr>
        <p:spPr>
          <a:xfrm flipH="1">
            <a:off x="407565" y="3934496"/>
            <a:ext cx="479243" cy="228357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20" idx="2"/>
            <a:endCxn id="28" idx="0"/>
          </p:cNvCxnSpPr>
          <p:nvPr/>
        </p:nvCxnSpPr>
        <p:spPr>
          <a:xfrm>
            <a:off x="886808" y="3934496"/>
            <a:ext cx="415829" cy="228357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9" idx="2"/>
            <a:endCxn id="31" idx="0"/>
          </p:cNvCxnSpPr>
          <p:nvPr/>
        </p:nvCxnSpPr>
        <p:spPr>
          <a:xfrm flipH="1">
            <a:off x="4793234" y="3934497"/>
            <a:ext cx="443358" cy="184055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32" idx="0"/>
            <a:endCxn id="19" idx="2"/>
          </p:cNvCxnSpPr>
          <p:nvPr/>
        </p:nvCxnSpPr>
        <p:spPr>
          <a:xfrm flipH="1" flipV="1">
            <a:off x="5236592" y="3934497"/>
            <a:ext cx="451714" cy="184055"/>
          </a:xfrm>
          <a:prstGeom prst="line">
            <a:avLst/>
          </a:prstGeom>
          <a:ln w="19050">
            <a:solidFill>
              <a:srgbClr val="EE1A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6576273" y="3703500"/>
            <a:ext cx="713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B.pub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 55"/>
              <p:cNvSpPr/>
              <p:nvPr/>
            </p:nvSpPr>
            <p:spPr>
              <a:xfrm>
                <a:off x="8911916" y="2758915"/>
                <a:ext cx="4347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6" name="矩形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916" y="2758915"/>
                <a:ext cx="43473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/>
              <p:nvPr/>
            </p:nvSpPr>
            <p:spPr>
              <a:xfrm>
                <a:off x="10914923" y="3464744"/>
                <a:ext cx="89030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′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4923" y="3464744"/>
                <a:ext cx="89030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矩形 57"/>
          <p:cNvSpPr/>
          <p:nvPr/>
        </p:nvSpPr>
        <p:spPr>
          <a:xfrm>
            <a:off x="11194432" y="3703500"/>
            <a:ext cx="33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364" y="5010512"/>
            <a:ext cx="506049" cy="506049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581" y="5010512"/>
            <a:ext cx="506048" cy="506048"/>
          </a:xfrm>
          <a:prstGeom prst="rect">
            <a:avLst/>
          </a:prstGeom>
        </p:spPr>
      </p:pic>
      <p:sp>
        <p:nvSpPr>
          <p:cNvPr id="61" name="矩形 60"/>
          <p:cNvSpPr/>
          <p:nvPr/>
        </p:nvSpPr>
        <p:spPr>
          <a:xfrm>
            <a:off x="6708203" y="4723632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Garamond" panose="02020404030301010803" pitchFamily="18" charset="0"/>
                <a:ea typeface="微软雅黑" panose="020B0503020204020204" pitchFamily="34" charset="-122"/>
              </a:rPr>
              <a:t>Alice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1102870" y="4723632"/>
            <a:ext cx="5693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Bob</a:t>
            </a: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7303629" y="5130672"/>
            <a:ext cx="381936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283504" y="5315236"/>
            <a:ext cx="3819366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/>
              <p:cNvSpPr txBox="1"/>
              <p:nvPr/>
            </p:nvSpPr>
            <p:spPr>
              <a:xfrm>
                <a:off x="6539502" y="5440303"/>
                <a:ext cx="1035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altLang="zh-CN" b="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502" y="5440303"/>
                <a:ext cx="103573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/>
              <p:cNvSpPr/>
              <p:nvPr/>
            </p:nvSpPr>
            <p:spPr>
              <a:xfrm>
                <a:off x="6866290" y="5686916"/>
                <a:ext cx="382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CN" i="1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6" name="矩形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290" y="5686916"/>
                <a:ext cx="38215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/>
              <p:cNvSpPr txBox="1"/>
              <p:nvPr/>
            </p:nvSpPr>
            <p:spPr>
              <a:xfrm>
                <a:off x="10882521" y="5374328"/>
                <a:ext cx="1022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′→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altLang="zh-CN" b="0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2521" y="5374328"/>
                <a:ext cx="102220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/>
              <p:cNvSpPr/>
              <p:nvPr/>
            </p:nvSpPr>
            <p:spPr>
              <a:xfrm>
                <a:off x="11209309" y="5601403"/>
                <a:ext cx="382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zh-CN" i="1" dirty="0">
                  <a:latin typeface="Garamond" panose="02020404030301010803" pitchFamily="18" charset="0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8" name="矩形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9309" y="5601403"/>
                <a:ext cx="38215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本框 68"/>
          <p:cNvSpPr txBox="1"/>
          <p:nvPr/>
        </p:nvSpPr>
        <p:spPr>
          <a:xfrm>
            <a:off x="7930899" y="6107879"/>
            <a:ext cx="2743199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Alice</a:t>
            </a:r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怎么知道对方就是</a:t>
            </a:r>
            <a:r>
              <a:rPr kumimoji="1" lang="en-US" altLang="zh-CN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Bob</a:t>
            </a:r>
            <a:r>
              <a:rPr kumimoji="1" lang="zh-CN" altLang="en-US" sz="1400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</a:rPr>
              <a:t>呢？</a:t>
            </a: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37" y="5960936"/>
            <a:ext cx="601662" cy="601662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295" y="3214965"/>
            <a:ext cx="480042" cy="480042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166" y="5327223"/>
            <a:ext cx="480042" cy="480042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013" y="5689892"/>
            <a:ext cx="480042" cy="48004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17975" y="5327015"/>
            <a:ext cx="11144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交换公钥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693785" y="1132840"/>
            <a:ext cx="3009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利用公钥加密对称密钥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693785" y="2235200"/>
            <a:ext cx="3009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传输对称密钥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693785" y="3994785"/>
            <a:ext cx="30092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Garamond" panose="02020404030301010803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利用对称密钥进行对称加密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2.1 </a:t>
            </a:r>
            <a:r>
              <a:rPr kumimoji="1" lang="zh-CN" altLang="en-US" dirty="0"/>
              <a:t>哈希运算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2.2 </a:t>
            </a:r>
            <a:r>
              <a:rPr kumimoji="1" lang="zh-CN" altLang="en-US" dirty="0"/>
              <a:t>互联网信息传输安全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2.3 </a:t>
            </a:r>
            <a:r>
              <a:rPr kumimoji="1" lang="zh-CN" altLang="en-US" dirty="0"/>
              <a:t>对称加密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/>
              <a:t>2.4 </a:t>
            </a:r>
            <a:r>
              <a:rPr kumimoji="1" lang="zh-CN" altLang="en-US" dirty="0"/>
              <a:t>公钥加密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</a:rPr>
              <a:t>2.5 </a:t>
            </a:r>
            <a:r>
              <a:rPr kumimoji="1" lang="zh-CN" altLang="en-US" b="1" dirty="0">
                <a:solidFill>
                  <a:srgbClr val="B962FF"/>
                </a:solidFill>
              </a:rPr>
              <a:t>数字签名与证书</a:t>
            </a:r>
            <a:endParaRPr kumimoji="1" lang="en-US" altLang="zh-CN" b="1" dirty="0">
              <a:solidFill>
                <a:srgbClr val="B962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1584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数字签名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  <p:sp>
        <p:nvSpPr>
          <p:cNvPr id="8" name="文本占位符 3"/>
          <p:cNvSpPr txBox="1"/>
          <p:nvPr/>
        </p:nvSpPr>
        <p:spPr>
          <a:xfrm>
            <a:off x="92598" y="1228196"/>
            <a:ext cx="5462628" cy="574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 </a:t>
            </a:r>
            <a:r>
              <a:rPr lang="zh-CN" altLang="en-US"/>
              <a:t>私钥加密，公钥解密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9" y="2207268"/>
            <a:ext cx="506049" cy="506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033" y="2207268"/>
            <a:ext cx="506048" cy="50604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610" y="2126623"/>
            <a:ext cx="667339" cy="667339"/>
          </a:xfrm>
          <a:prstGeom prst="rect">
            <a:avLst/>
          </a:prstGeom>
        </p:spPr>
      </p:pic>
      <p:cxnSp>
        <p:nvCxnSpPr>
          <p:cNvPr id="12" name="直接箭头连接符 11"/>
          <p:cNvCxnSpPr>
            <a:stCxn id="9" idx="3"/>
            <a:endCxn id="11" idx="1"/>
          </p:cNvCxnSpPr>
          <p:nvPr/>
        </p:nvCxnSpPr>
        <p:spPr>
          <a:xfrm>
            <a:off x="693208" y="2460293"/>
            <a:ext cx="849402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0" idx="1"/>
            <a:endCxn id="11" idx="3"/>
          </p:cNvCxnSpPr>
          <p:nvPr/>
        </p:nvCxnSpPr>
        <p:spPr>
          <a:xfrm flipH="1">
            <a:off x="2209949" y="2460292"/>
            <a:ext cx="1057084" cy="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22281" y="18821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数字合同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86114" y="21209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同意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415325" y="212095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同意</a:t>
            </a:r>
          </a:p>
        </p:txBody>
      </p:sp>
      <p:cxnSp>
        <p:nvCxnSpPr>
          <p:cNvPr id="17" name="连接符: 肘形 16"/>
          <p:cNvCxnSpPr>
            <a:stCxn id="11" idx="2"/>
            <a:endCxn id="10" idx="2"/>
          </p:cNvCxnSpPr>
          <p:nvPr/>
        </p:nvCxnSpPr>
        <p:spPr>
          <a:xfrm rot="5400000" flipH="1" flipV="1">
            <a:off x="2657845" y="1931750"/>
            <a:ext cx="80646" cy="1643777"/>
          </a:xfrm>
          <a:prstGeom prst="bentConnector3">
            <a:avLst>
              <a:gd name="adj1" fmla="val -2834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886200" y="2120959"/>
            <a:ext cx="2128101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不同于纸质合同，数字合同需要使用数字签名。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9286" y="4462054"/>
            <a:ext cx="452438" cy="45243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413" y="4462054"/>
            <a:ext cx="452438" cy="452438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4436228" y="4835437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31934" y="4835905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A.pub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735816" y="3856979"/>
            <a:ext cx="646331" cy="27712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密文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2735815" y="5385478"/>
            <a:ext cx="646331" cy="27712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密文</a:t>
            </a:r>
          </a:p>
        </p:txBody>
      </p:sp>
      <p:cxnSp>
        <p:nvCxnSpPr>
          <p:cNvPr id="25" name="连接符: 肘形 24"/>
          <p:cNvCxnSpPr>
            <a:stCxn id="20" idx="0"/>
            <a:endCxn id="23" idx="1"/>
          </p:cNvCxnSpPr>
          <p:nvPr/>
        </p:nvCxnSpPr>
        <p:spPr>
          <a:xfrm rot="5400000" flipH="1" flipV="1">
            <a:off x="1897469" y="3623707"/>
            <a:ext cx="466510" cy="1210184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/>
          <p:cNvCxnSpPr>
            <a:stCxn id="23" idx="3"/>
            <a:endCxn id="19" idx="0"/>
          </p:cNvCxnSpPr>
          <p:nvPr/>
        </p:nvCxnSpPr>
        <p:spPr>
          <a:xfrm>
            <a:off x="3382147" y="3995544"/>
            <a:ext cx="1223358" cy="466510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/>
          <p:cNvCxnSpPr>
            <a:stCxn id="22" idx="2"/>
            <a:endCxn id="24" idx="1"/>
          </p:cNvCxnSpPr>
          <p:nvPr/>
        </p:nvCxnSpPr>
        <p:spPr>
          <a:xfrm rot="16200000" flipH="1">
            <a:off x="1963305" y="4751533"/>
            <a:ext cx="318806" cy="1226213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21" idx="2"/>
            <a:endCxn id="24" idx="3"/>
          </p:cNvCxnSpPr>
          <p:nvPr/>
        </p:nvCxnSpPr>
        <p:spPr>
          <a:xfrm rot="5400000">
            <a:off x="3837395" y="4749521"/>
            <a:ext cx="319274" cy="1229771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1560095" y="3969024"/>
            <a:ext cx="6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003253" y="3969024"/>
            <a:ext cx="6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解密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3949462" y="5154710"/>
            <a:ext cx="6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加密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1509099" y="5132398"/>
            <a:ext cx="66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解密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851727" y="3401561"/>
            <a:ext cx="241985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公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钥加密 → </a:t>
            </a:r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私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钥解密</a:t>
            </a:r>
            <a:endParaRPr kumimoji="1"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851921" y="5769289"/>
            <a:ext cx="241985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私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钥加密 → </a:t>
            </a:r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公</a:t>
            </a: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钥解密</a:t>
            </a:r>
            <a:endParaRPr kumimoji="1"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815" y="4506406"/>
            <a:ext cx="445507" cy="445507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4787606" y="4516162"/>
            <a:ext cx="12514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只有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Alice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拥有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-39666" y="4559050"/>
            <a:ext cx="13388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所有人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都可能拥有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5448" y="1416585"/>
            <a:ext cx="452438" cy="452438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7185978" y="1770764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067" y="1389780"/>
            <a:ext cx="506048" cy="506048"/>
          </a:xfrm>
          <a:prstGeom prst="rect">
            <a:avLst/>
          </a:prstGeom>
        </p:spPr>
      </p:pic>
      <p:cxnSp>
        <p:nvCxnSpPr>
          <p:cNvPr id="41" name="直接箭头连接符 40"/>
          <p:cNvCxnSpPr/>
          <p:nvPr/>
        </p:nvCxnSpPr>
        <p:spPr>
          <a:xfrm>
            <a:off x="6790115" y="1642804"/>
            <a:ext cx="345333" cy="0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221" y="1403447"/>
            <a:ext cx="478714" cy="478714"/>
          </a:xfrm>
          <a:prstGeom prst="rect">
            <a:avLst/>
          </a:prstGeom>
        </p:spPr>
      </p:pic>
      <p:cxnSp>
        <p:nvCxnSpPr>
          <p:cNvPr id="43" name="直接箭头连接符 42"/>
          <p:cNvCxnSpPr/>
          <p:nvPr/>
        </p:nvCxnSpPr>
        <p:spPr>
          <a:xfrm flipV="1">
            <a:off x="7633387" y="1639943"/>
            <a:ext cx="345333" cy="5723"/>
          </a:xfrm>
          <a:prstGeom prst="straightConnector1">
            <a:avLst/>
          </a:prstGeom>
          <a:ln w="1270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8939270" y="1249497"/>
            <a:ext cx="2722408" cy="64633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所有人都能知道内容</a:t>
            </a:r>
            <a:endParaRPr kumimoji="1" lang="en-US" altLang="zh-CN" dirty="0">
              <a:solidFill>
                <a:srgbClr val="00206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只有</a:t>
            </a:r>
            <a:r>
              <a:rPr kumimoji="1" lang="en-US" altLang="zh-CN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Alice</a:t>
            </a:r>
            <a:r>
              <a:rPr kumimoji="1" lang="zh-CN" altLang="en-US" dirty="0">
                <a:solidFill>
                  <a:srgbClr val="EE1A1A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能生成</a:t>
            </a:r>
          </a:p>
        </p:txBody>
      </p:sp>
      <p:cxnSp>
        <p:nvCxnSpPr>
          <p:cNvPr id="45" name="连接符: 肘形 44"/>
          <p:cNvCxnSpPr>
            <a:stCxn id="39" idx="2"/>
            <a:endCxn id="44" idx="2"/>
          </p:cNvCxnSpPr>
          <p:nvPr/>
        </p:nvCxnSpPr>
        <p:spPr>
          <a:xfrm rot="5400000" flipH="1" flipV="1">
            <a:off x="8708936" y="548558"/>
            <a:ext cx="244268" cy="2938807"/>
          </a:xfrm>
          <a:prstGeom prst="bentConnector3">
            <a:avLst>
              <a:gd name="adj1" fmla="val -93586"/>
            </a:avLst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284814" y="26769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我没签过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816" y="3001155"/>
            <a:ext cx="506049" cy="506049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3625" y="3001155"/>
            <a:ext cx="506048" cy="50604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575" y="2920510"/>
            <a:ext cx="667339" cy="667339"/>
          </a:xfrm>
          <a:prstGeom prst="rect">
            <a:avLst/>
          </a:prstGeom>
        </p:spPr>
      </p:pic>
      <p:cxnSp>
        <p:nvCxnSpPr>
          <p:cNvPr id="50" name="直接箭头连接符 49"/>
          <p:cNvCxnSpPr>
            <a:stCxn id="47" idx="3"/>
            <a:endCxn id="56" idx="1"/>
          </p:cNvCxnSpPr>
          <p:nvPr/>
        </p:nvCxnSpPr>
        <p:spPr>
          <a:xfrm flipV="1">
            <a:off x="6778865" y="3254179"/>
            <a:ext cx="3391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8" idx="1"/>
            <a:endCxn id="54" idx="3"/>
          </p:cNvCxnSpPr>
          <p:nvPr/>
        </p:nvCxnSpPr>
        <p:spPr>
          <a:xfrm flipH="1">
            <a:off x="11004438" y="3254179"/>
            <a:ext cx="33918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8550875" y="26354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数字合同</a:t>
            </a:r>
          </a:p>
        </p:txBody>
      </p:sp>
      <p:cxnSp>
        <p:nvCxnSpPr>
          <p:cNvPr id="53" name="连接符: 肘形 52"/>
          <p:cNvCxnSpPr>
            <a:stCxn id="49" idx="2"/>
            <a:endCxn id="48" idx="2"/>
          </p:cNvCxnSpPr>
          <p:nvPr/>
        </p:nvCxnSpPr>
        <p:spPr>
          <a:xfrm rot="5400000" flipH="1" flipV="1">
            <a:off x="10288624" y="2279824"/>
            <a:ext cx="80646" cy="2535404"/>
          </a:xfrm>
          <a:prstGeom prst="bentConnector3">
            <a:avLst>
              <a:gd name="adj1" fmla="val -2834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图片 5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000" y="3027960"/>
            <a:ext cx="452438" cy="452438"/>
          </a:xfrm>
          <a:prstGeom prst="rect">
            <a:avLst/>
          </a:prstGeom>
        </p:spPr>
      </p:pic>
      <p:sp>
        <p:nvSpPr>
          <p:cNvPr id="55" name="矩形 54"/>
          <p:cNvSpPr/>
          <p:nvPr/>
        </p:nvSpPr>
        <p:spPr>
          <a:xfrm>
            <a:off x="10597691" y="336286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51" y="3027960"/>
            <a:ext cx="452438" cy="452438"/>
          </a:xfrm>
          <a:prstGeom prst="rect">
            <a:avLst/>
          </a:prstGeom>
        </p:spPr>
      </p:pic>
      <p:sp>
        <p:nvSpPr>
          <p:cNvPr id="57" name="矩形 56"/>
          <p:cNvSpPr/>
          <p:nvPr/>
        </p:nvSpPr>
        <p:spPr>
          <a:xfrm>
            <a:off x="7204564" y="3362860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940412" y="185407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签名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50" y="3014822"/>
            <a:ext cx="478714" cy="478714"/>
          </a:xfrm>
          <a:prstGeom prst="rect">
            <a:avLst/>
          </a:prstGeom>
        </p:spPr>
      </p:pic>
      <p:cxnSp>
        <p:nvCxnSpPr>
          <p:cNvPr id="60" name="直接箭头连接符 59"/>
          <p:cNvCxnSpPr>
            <a:stCxn id="56" idx="3"/>
            <a:endCxn id="59" idx="1"/>
          </p:cNvCxnSpPr>
          <p:nvPr/>
        </p:nvCxnSpPr>
        <p:spPr>
          <a:xfrm>
            <a:off x="7570489" y="3254179"/>
            <a:ext cx="36266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9" idx="3"/>
            <a:endCxn id="49" idx="1"/>
          </p:cNvCxnSpPr>
          <p:nvPr/>
        </p:nvCxnSpPr>
        <p:spPr>
          <a:xfrm>
            <a:off x="8411864" y="3254179"/>
            <a:ext cx="315711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226" y="3014822"/>
            <a:ext cx="478714" cy="478714"/>
          </a:xfrm>
          <a:prstGeom prst="rect">
            <a:avLst/>
          </a:prstGeom>
        </p:spPr>
      </p:pic>
      <p:cxnSp>
        <p:nvCxnSpPr>
          <p:cNvPr id="63" name="直接箭头连接符 62"/>
          <p:cNvCxnSpPr>
            <a:stCxn id="62" idx="1"/>
            <a:endCxn id="49" idx="3"/>
          </p:cNvCxnSpPr>
          <p:nvPr/>
        </p:nvCxnSpPr>
        <p:spPr>
          <a:xfrm flipH="1">
            <a:off x="9394914" y="3254179"/>
            <a:ext cx="37931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4" idx="1"/>
            <a:endCxn id="62" idx="3"/>
          </p:cNvCxnSpPr>
          <p:nvPr/>
        </p:nvCxnSpPr>
        <p:spPr>
          <a:xfrm flipH="1">
            <a:off x="10252940" y="3254179"/>
            <a:ext cx="299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10626871" y="38354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我没签过</a:t>
            </a:r>
          </a:p>
        </p:txBody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54" y="3967084"/>
            <a:ext cx="452438" cy="452438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7364" y="3967084"/>
            <a:ext cx="452438" cy="452438"/>
          </a:xfrm>
          <a:prstGeom prst="rect">
            <a:avLst/>
          </a:prstGeom>
        </p:spPr>
      </p:pic>
      <p:sp>
        <p:nvSpPr>
          <p:cNvPr id="68" name="矩形 67"/>
          <p:cNvSpPr/>
          <p:nvPr/>
        </p:nvSpPr>
        <p:spPr>
          <a:xfrm>
            <a:off x="9673149" y="4340935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A.pub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288" y="3967084"/>
            <a:ext cx="452438" cy="452438"/>
          </a:xfrm>
          <a:prstGeom prst="rect">
            <a:avLst/>
          </a:prstGeom>
        </p:spPr>
      </p:pic>
      <p:sp>
        <p:nvSpPr>
          <p:cNvPr id="70" name="矩形 69"/>
          <p:cNvSpPr/>
          <p:nvPr/>
        </p:nvSpPr>
        <p:spPr>
          <a:xfrm>
            <a:off x="7815423" y="4340935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B.pub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1" name="直接箭头连接符 70"/>
          <p:cNvCxnSpPr>
            <a:stCxn id="66" idx="1"/>
            <a:endCxn id="69" idx="3"/>
          </p:cNvCxnSpPr>
          <p:nvPr/>
        </p:nvCxnSpPr>
        <p:spPr>
          <a:xfrm flipH="1">
            <a:off x="8398726" y="4193303"/>
            <a:ext cx="479928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66" idx="3"/>
            <a:endCxn id="67" idx="1"/>
          </p:cNvCxnSpPr>
          <p:nvPr/>
        </p:nvCxnSpPr>
        <p:spPr>
          <a:xfrm>
            <a:off x="9331092" y="4193303"/>
            <a:ext cx="456272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>
            <a:stCxn id="69" idx="0"/>
            <a:endCxn id="59" idx="2"/>
          </p:cNvCxnSpPr>
          <p:nvPr/>
        </p:nvCxnSpPr>
        <p:spPr>
          <a:xfrm flipV="1">
            <a:off x="8172507" y="3493536"/>
            <a:ext cx="0" cy="473548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67" idx="0"/>
            <a:endCxn id="62" idx="2"/>
          </p:cNvCxnSpPr>
          <p:nvPr/>
        </p:nvCxnSpPr>
        <p:spPr>
          <a:xfrm flipV="1">
            <a:off x="10013583" y="3493536"/>
            <a:ext cx="0" cy="473548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6697016" y="4877272"/>
            <a:ext cx="2743199" cy="3077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Alice</a:t>
            </a:r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怎么知道对方就是</a:t>
            </a:r>
            <a:r>
              <a:rPr kumimoji="1" lang="en-US" altLang="zh-CN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Bob</a:t>
            </a:r>
            <a:r>
              <a:rPr kumimoji="1" lang="zh-CN" altLang="en-US" sz="14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呢？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354" y="4730329"/>
            <a:ext cx="601662" cy="60166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339" y="5447327"/>
            <a:ext cx="519240" cy="51924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136" y="5480728"/>
            <a:ext cx="452438" cy="452438"/>
          </a:xfrm>
          <a:prstGeom prst="rect">
            <a:avLst/>
          </a:prstGeom>
        </p:spPr>
      </p:pic>
      <p:sp>
        <p:nvSpPr>
          <p:cNvPr id="79" name="矩形 78"/>
          <p:cNvSpPr/>
          <p:nvPr/>
        </p:nvSpPr>
        <p:spPr>
          <a:xfrm>
            <a:off x="7247649" y="5886902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182789" y="5886902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Charlie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1" name="直接箭头连接符 80"/>
          <p:cNvCxnSpPr>
            <a:stCxn id="77" idx="3"/>
            <a:endCxn id="78" idx="1"/>
          </p:cNvCxnSpPr>
          <p:nvPr/>
        </p:nvCxnSpPr>
        <p:spPr>
          <a:xfrm>
            <a:off x="6874579" y="5706947"/>
            <a:ext cx="2865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图片 8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50" y="5467590"/>
            <a:ext cx="478714" cy="478714"/>
          </a:xfrm>
          <a:prstGeom prst="rect">
            <a:avLst/>
          </a:prstGeom>
        </p:spPr>
      </p:pic>
      <p:cxnSp>
        <p:nvCxnSpPr>
          <p:cNvPr id="83" name="直接箭头连接符 82"/>
          <p:cNvCxnSpPr>
            <a:stCxn id="78" idx="3"/>
            <a:endCxn id="82" idx="1"/>
          </p:cNvCxnSpPr>
          <p:nvPr/>
        </p:nvCxnSpPr>
        <p:spPr>
          <a:xfrm>
            <a:off x="7613574" y="5706947"/>
            <a:ext cx="3195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7656981" y="5886902"/>
            <a:ext cx="1031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的签名</a:t>
            </a: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089" y="5453923"/>
            <a:ext cx="506048" cy="506048"/>
          </a:xfrm>
          <a:prstGeom prst="rect">
            <a:avLst/>
          </a:prstGeom>
        </p:spPr>
      </p:pic>
      <p:cxnSp>
        <p:nvCxnSpPr>
          <p:cNvPr id="86" name="直接箭头连接符 85"/>
          <p:cNvCxnSpPr>
            <a:stCxn id="82" idx="3"/>
            <a:endCxn id="85" idx="1"/>
          </p:cNvCxnSpPr>
          <p:nvPr/>
        </p:nvCxnSpPr>
        <p:spPr>
          <a:xfrm>
            <a:off x="8411864" y="5706947"/>
            <a:ext cx="12832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/>
          <p:cNvSpPr/>
          <p:nvPr/>
        </p:nvSpPr>
        <p:spPr>
          <a:xfrm>
            <a:off x="8653366" y="5352191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我是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B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330670" y="5256508"/>
            <a:ext cx="1700397" cy="92333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密钥只是一串数字，不包含任何身份信息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7,&quot;left&quot;:588.4250393700788,&quot;top&quot;:324.8,&quot;width&quot;:260.874960629921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70*74"/>
  <p:tag name="TABLE_ENDDRAG_RECT" val="279*348*470*7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8*76"/>
  <p:tag name="TABLE_ENDDRAG_RECT" val="279*455*448*76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4229</Words>
  <Application>Microsoft Macintosh PowerPoint</Application>
  <PresentationFormat>宽屏</PresentationFormat>
  <Paragraphs>717</Paragraphs>
  <Slides>31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等线</vt:lpstr>
      <vt:lpstr>等线 Light</vt:lpstr>
      <vt:lpstr>微软雅黑</vt:lpstr>
      <vt:lpstr>微软雅黑</vt:lpstr>
      <vt:lpstr>Arial</vt:lpstr>
      <vt:lpstr>Cambria Math</vt:lpstr>
      <vt:lpstr>Corbel</vt:lpstr>
      <vt:lpstr>Garamond</vt:lpstr>
      <vt:lpstr>monofur</vt:lpstr>
      <vt:lpstr>Times New Roman</vt:lpstr>
      <vt:lpstr>Wingdings</vt:lpstr>
      <vt:lpstr>Wingdings 2</vt:lpstr>
      <vt:lpstr>webwppDefTheme</vt:lpstr>
      <vt:lpstr>Office 主题​​</vt:lpstr>
      <vt:lpstr>Equation</vt:lpstr>
      <vt:lpstr>第二章 密码学基础</vt:lpstr>
      <vt:lpstr>本章内容</vt:lpstr>
      <vt:lpstr>哈希算法</vt:lpstr>
      <vt:lpstr>哈希算法</vt:lpstr>
      <vt:lpstr>哈希运算性质</vt:lpstr>
      <vt:lpstr>哈希运算性质</vt:lpstr>
      <vt:lpstr>哈希运算性质</vt:lpstr>
      <vt:lpstr>本章内容</vt:lpstr>
      <vt:lpstr>互联网信息传输安全</vt:lpstr>
      <vt:lpstr>对称加密</vt:lpstr>
      <vt:lpstr>非对称加密</vt:lpstr>
      <vt:lpstr>非对称加密</vt:lpstr>
      <vt:lpstr>非对称加密</vt:lpstr>
      <vt:lpstr>中国剩余定理</vt:lpstr>
      <vt:lpstr>中国剩余定理的应用</vt:lpstr>
      <vt:lpstr>中国剩余定理的应用</vt:lpstr>
      <vt:lpstr>Bézout 定理</vt:lpstr>
      <vt:lpstr>Bézout 定理</vt:lpstr>
      <vt:lpstr>扩展的辗转相除</vt:lpstr>
      <vt:lpstr>非对称加密</vt:lpstr>
      <vt:lpstr>Fermat 小定理</vt:lpstr>
      <vt:lpstr>Fermat 小定理</vt:lpstr>
      <vt:lpstr>Fermat 小定理</vt:lpstr>
      <vt:lpstr>从窃听者的角度</vt:lpstr>
      <vt:lpstr>非对称加密</vt:lpstr>
      <vt:lpstr>非对称加密</vt:lpstr>
      <vt:lpstr>非对称加密</vt:lpstr>
      <vt:lpstr>非对称加密</vt:lpstr>
      <vt:lpstr>非对称加密</vt:lpstr>
      <vt:lpstr>本章内容</vt:lpstr>
      <vt:lpstr>数字签名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243</cp:revision>
  <dcterms:created xsi:type="dcterms:W3CDTF">2021-04-18T13:48:02Z</dcterms:created>
  <dcterms:modified xsi:type="dcterms:W3CDTF">2026-03-13T08:23:50Z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