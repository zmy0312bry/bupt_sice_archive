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 autoCompressPictures="0">
  <p:sldMasterIdLst>
    <p:sldMasterId id="2147483648" r:id="rId1"/>
  </p:sldMasterIdLst>
  <p:notesMasterIdLst>
    <p:notesMasterId r:id="rId84"/>
  </p:notesMasterIdLst>
  <p:sldIdLst>
    <p:sldId id="1257" r:id="rId2"/>
    <p:sldId id="1363" r:id="rId3"/>
    <p:sldId id="1281" r:id="rId4"/>
    <p:sldId id="1283" r:id="rId5"/>
    <p:sldId id="1284" r:id="rId6"/>
    <p:sldId id="1286" r:id="rId7"/>
    <p:sldId id="1287" r:id="rId8"/>
    <p:sldId id="1288" r:id="rId9"/>
    <p:sldId id="1289" r:id="rId10"/>
    <p:sldId id="1290" r:id="rId11"/>
    <p:sldId id="1291" r:id="rId12"/>
    <p:sldId id="1292" r:id="rId13"/>
    <p:sldId id="1293" r:id="rId14"/>
    <p:sldId id="1294" r:id="rId15"/>
    <p:sldId id="1295" r:id="rId16"/>
    <p:sldId id="1366" r:id="rId17"/>
    <p:sldId id="1296" r:id="rId18"/>
    <p:sldId id="1297" r:id="rId19"/>
    <p:sldId id="1298" r:id="rId20"/>
    <p:sldId id="1299" r:id="rId21"/>
    <p:sldId id="1300" r:id="rId22"/>
    <p:sldId id="1303" r:id="rId23"/>
    <p:sldId id="1304" r:id="rId24"/>
    <p:sldId id="1365" r:id="rId25"/>
    <p:sldId id="1305" r:id="rId26"/>
    <p:sldId id="1306" r:id="rId27"/>
    <p:sldId id="1307" r:id="rId28"/>
    <p:sldId id="1368" r:id="rId29"/>
    <p:sldId id="1369" r:id="rId30"/>
    <p:sldId id="1370" r:id="rId31"/>
    <p:sldId id="1282" r:id="rId32"/>
    <p:sldId id="1371" r:id="rId33"/>
    <p:sldId id="1372" r:id="rId34"/>
    <p:sldId id="1285" r:id="rId35"/>
    <p:sldId id="1373" r:id="rId36"/>
    <p:sldId id="1374" r:id="rId37"/>
    <p:sldId id="1375" r:id="rId38"/>
    <p:sldId id="1376" r:id="rId39"/>
    <p:sldId id="1377" r:id="rId40"/>
    <p:sldId id="1378" r:id="rId41"/>
    <p:sldId id="1379" r:id="rId42"/>
    <p:sldId id="1380" r:id="rId43"/>
    <p:sldId id="1381" r:id="rId44"/>
    <p:sldId id="1382" r:id="rId45"/>
    <p:sldId id="1383" r:id="rId46"/>
    <p:sldId id="1384" r:id="rId47"/>
    <p:sldId id="1385" r:id="rId48"/>
    <p:sldId id="1386" r:id="rId49"/>
    <p:sldId id="1387" r:id="rId50"/>
    <p:sldId id="1301" r:id="rId51"/>
    <p:sldId id="1302" r:id="rId52"/>
    <p:sldId id="1388" r:id="rId53"/>
    <p:sldId id="1389" r:id="rId54"/>
    <p:sldId id="1390" r:id="rId55"/>
    <p:sldId id="1391" r:id="rId56"/>
    <p:sldId id="1392" r:id="rId57"/>
    <p:sldId id="1367" r:id="rId58"/>
    <p:sldId id="1393" r:id="rId59"/>
    <p:sldId id="1360" r:id="rId60"/>
    <p:sldId id="1261" r:id="rId61"/>
    <p:sldId id="1279" r:id="rId62"/>
    <p:sldId id="1280" r:id="rId63"/>
    <p:sldId id="1309" r:id="rId64"/>
    <p:sldId id="1362" r:id="rId65"/>
    <p:sldId id="1361" r:id="rId66"/>
    <p:sldId id="1310" r:id="rId67"/>
    <p:sldId id="1311" r:id="rId68"/>
    <p:sldId id="1312" r:id="rId69"/>
    <p:sldId id="1313" r:id="rId70"/>
    <p:sldId id="1314" r:id="rId71"/>
    <p:sldId id="1315" r:id="rId72"/>
    <p:sldId id="1316" r:id="rId73"/>
    <p:sldId id="1317" r:id="rId74"/>
    <p:sldId id="1364" r:id="rId75"/>
    <p:sldId id="1318" r:id="rId76"/>
    <p:sldId id="1319" r:id="rId77"/>
    <p:sldId id="1320" r:id="rId78"/>
    <p:sldId id="1322" r:id="rId79"/>
    <p:sldId id="1325" r:id="rId80"/>
    <p:sldId id="1323" r:id="rId81"/>
    <p:sldId id="1324" r:id="rId82"/>
    <p:sldId id="994" r:id="rId8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CA4DC5EF-F422-4A4A-AE2D-E811906D492D}">
          <p14:sldIdLst>
            <p14:sldId id="1257"/>
            <p14:sldId id="1363"/>
            <p14:sldId id="1281"/>
            <p14:sldId id="1283"/>
            <p14:sldId id="1284"/>
            <p14:sldId id="1286"/>
            <p14:sldId id="1287"/>
            <p14:sldId id="1288"/>
            <p14:sldId id="1289"/>
            <p14:sldId id="1290"/>
            <p14:sldId id="1291"/>
            <p14:sldId id="1292"/>
            <p14:sldId id="1293"/>
            <p14:sldId id="1294"/>
            <p14:sldId id="1295"/>
            <p14:sldId id="1366"/>
            <p14:sldId id="1296"/>
            <p14:sldId id="1297"/>
            <p14:sldId id="1298"/>
            <p14:sldId id="1299"/>
            <p14:sldId id="1300"/>
            <p14:sldId id="1303"/>
            <p14:sldId id="1304"/>
            <p14:sldId id="1365"/>
            <p14:sldId id="1305"/>
            <p14:sldId id="1306"/>
            <p14:sldId id="1307"/>
            <p14:sldId id="1368"/>
            <p14:sldId id="1369"/>
            <p14:sldId id="1370"/>
            <p14:sldId id="1282"/>
            <p14:sldId id="1371"/>
            <p14:sldId id="1372"/>
            <p14:sldId id="1285"/>
            <p14:sldId id="1373"/>
            <p14:sldId id="1374"/>
            <p14:sldId id="1375"/>
            <p14:sldId id="1376"/>
            <p14:sldId id="1377"/>
            <p14:sldId id="1378"/>
            <p14:sldId id="1379"/>
            <p14:sldId id="1380"/>
            <p14:sldId id="1381"/>
            <p14:sldId id="1382"/>
            <p14:sldId id="1383"/>
            <p14:sldId id="1384"/>
            <p14:sldId id="1385"/>
            <p14:sldId id="1386"/>
            <p14:sldId id="1387"/>
            <p14:sldId id="1301"/>
            <p14:sldId id="1302"/>
            <p14:sldId id="1388"/>
            <p14:sldId id="1389"/>
            <p14:sldId id="1390"/>
            <p14:sldId id="1391"/>
            <p14:sldId id="1392"/>
            <p14:sldId id="1367"/>
            <p14:sldId id="1393"/>
            <p14:sldId id="1360"/>
            <p14:sldId id="1261"/>
            <p14:sldId id="1279"/>
            <p14:sldId id="1280"/>
            <p14:sldId id="1309"/>
            <p14:sldId id="1362"/>
            <p14:sldId id="1361"/>
            <p14:sldId id="1310"/>
            <p14:sldId id="1311"/>
            <p14:sldId id="1312"/>
            <p14:sldId id="1313"/>
            <p14:sldId id="1314"/>
            <p14:sldId id="1315"/>
            <p14:sldId id="1316"/>
            <p14:sldId id="1317"/>
            <p14:sldId id="1364"/>
            <p14:sldId id="1318"/>
            <p14:sldId id="1319"/>
            <p14:sldId id="1320"/>
            <p14:sldId id="1322"/>
            <p14:sldId id="1325"/>
            <p14:sldId id="1323"/>
            <p14:sldId id="1324"/>
            <p14:sldId id="99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B307E"/>
    <a:srgbClr val="FDFCDC"/>
    <a:srgbClr val="0000CC"/>
    <a:srgbClr val="EE6C4D"/>
    <a:srgbClr val="0081A7"/>
    <a:srgbClr val="00AFB9"/>
    <a:srgbClr val="0000FF"/>
    <a:srgbClr val="B962FF"/>
    <a:srgbClr val="FDCB0B"/>
    <a:srgbClr val="FFD7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852"/>
    <p:restoredTop sz="88347" autoAdjust="0"/>
  </p:normalViewPr>
  <p:slideViewPr>
    <p:cSldViewPr snapToGrid="0" snapToObjects="1">
      <p:cViewPr varScale="1">
        <p:scale>
          <a:sx n="96" d="100"/>
          <a:sy n="96" d="100"/>
        </p:scale>
        <p:origin x="906" y="78"/>
      </p:cViewPr>
      <p:guideLst/>
    </p:cSldViewPr>
  </p:slideViewPr>
  <p:outlineViewPr>
    <p:cViewPr>
      <p:scale>
        <a:sx n="33" d="100"/>
        <a:sy n="33" d="100"/>
      </p:scale>
      <p:origin x="0" y="-2640"/>
    </p:cViewPr>
  </p:outlineViewPr>
  <p:notesTextViewPr>
    <p:cViewPr>
      <p:scale>
        <a:sx n="145" d="100"/>
        <a:sy n="145" d="100"/>
      </p:scale>
      <p:origin x="0" y="0"/>
    </p:cViewPr>
  </p:notesTextViewPr>
  <p:sorterViewPr>
    <p:cViewPr>
      <p:scale>
        <a:sx n="173" d="100"/>
        <a:sy n="173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notesMaster" Target="notesMasters/notesMaster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theme" Target="theme/theme1.xml"/><Relationship Id="rId61" Type="http://schemas.openxmlformats.org/officeDocument/2006/relationships/slide" Target="slides/slide60.xml"/><Relationship Id="rId82" Type="http://schemas.openxmlformats.org/officeDocument/2006/relationships/slide" Target="slides/slide8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5E8472-67E5-DE40-B53F-0C0FEA434AA0}" type="datetimeFigureOut">
              <a:rPr kumimoji="1" lang="zh-CN" altLang="en-US" smtClean="0"/>
              <a:t>2025/5/20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0B8802-914A-7C41-BC77-CC54DEE99EE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560254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119099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005076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486998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330622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684013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096570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773552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534731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011172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550022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10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8786028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11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5570879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12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0066540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13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3940261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14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2586045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15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5662682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16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48882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17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9999342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18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1290758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19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1625093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20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9545529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21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4171221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22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1594667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23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4717253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24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270178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25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2778451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26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2000042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27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5345158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28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4264799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29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320489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30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6191288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31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3482318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32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8592099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33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9291230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34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0045324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35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0954392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36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1991118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37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2236772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38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7736429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39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75645905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40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52439103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41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082991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42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08645326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43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16502335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44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60507076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45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48983525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46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94332270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47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6717978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48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17360549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49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9866030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50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03330094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51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20234023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52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59129769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53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07428615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54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74664103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55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96802115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56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17293506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57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81151534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59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0568704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60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66668224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61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61180987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62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78621863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63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36381920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64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99082988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65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57271549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66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96264305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67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02584995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68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14710635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69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54627428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70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59268813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71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78501819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72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09855157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73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07266524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74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1584333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75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69685966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76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59437352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77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9361277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78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9776883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79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22590164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80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252076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F97C75-78EB-4043-953B-95F867F42C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21C1163-5F70-9046-86B2-81951DCE1A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 dirty="0"/>
              <a:t>单击此处编辑母版副标题样式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6F9E280-F138-8142-8DB1-324EA9F38324}"/>
              </a:ext>
            </a:extLst>
          </p:cNvPr>
          <p:cNvSpPr/>
          <p:nvPr userDrawn="1"/>
        </p:nvSpPr>
        <p:spPr>
          <a:xfrm>
            <a:off x="-9939" y="-8628"/>
            <a:ext cx="8938039" cy="901955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0" spc="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区块链原理与技术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4F642740-0C37-4CC2-A867-A9457DA8012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179859" y="-10825"/>
            <a:ext cx="3012141" cy="904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97440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3457C5-5D0E-4F46-9D0B-7EA2985DFF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2FA45BE-434F-B44C-99F8-C563AC076A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0758"/>
            <a:ext cx="10515600" cy="4586694"/>
          </a:xfrm>
        </p:spPr>
        <p:txBody>
          <a:bodyPr/>
          <a:lstStyle>
            <a:lvl1pPr marL="360363" indent="-360363">
              <a:lnSpc>
                <a:spcPct val="100000"/>
              </a:lnSpc>
              <a:spcBef>
                <a:spcPts val="600"/>
              </a:spcBef>
              <a:buFont typeface="Wingdings" pitchFamily="2" charset="2"/>
              <a:buChar char="Ø"/>
              <a:tabLst/>
              <a:defRPr/>
            </a:lvl1pPr>
            <a:lvl2pPr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/>
            </a:lvl2pPr>
            <a:lvl3pPr>
              <a:lnSpc>
                <a:spcPct val="100000"/>
              </a:lnSpc>
              <a:spcBef>
                <a:spcPts val="600"/>
              </a:spcBef>
              <a:defRPr/>
            </a:lvl3pPr>
            <a:lvl4pPr>
              <a:lnSpc>
                <a:spcPct val="100000"/>
              </a:lnSpc>
              <a:spcBef>
                <a:spcPts val="600"/>
              </a:spcBef>
              <a:defRPr/>
            </a:lvl4pPr>
            <a:lvl5pPr>
              <a:lnSpc>
                <a:spcPct val="100000"/>
              </a:lnSpc>
              <a:spcBef>
                <a:spcPts val="600"/>
              </a:spcBef>
              <a:defRPr/>
            </a:lvl5pPr>
          </a:lstStyle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FDBE6BC-6A1B-1944-BBB6-30FD8C33B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‹#›</a:t>
            </a:fld>
            <a:endParaRPr kumimoji="1" lang="zh-CN" altLang="en-US" dirty="0"/>
          </a:p>
        </p:txBody>
      </p:sp>
      <p:cxnSp>
        <p:nvCxnSpPr>
          <p:cNvPr id="40" name="直线连接符 39">
            <a:extLst>
              <a:ext uri="{FF2B5EF4-FFF2-40B4-BE49-F238E27FC236}">
                <a16:creationId xmlns:a16="http://schemas.microsoft.com/office/drawing/2014/main" id="{9E7AFED4-5702-094E-A3B8-21EB069F234E}"/>
              </a:ext>
            </a:extLst>
          </p:cNvPr>
          <p:cNvCxnSpPr>
            <a:cxnSpLocks/>
          </p:cNvCxnSpPr>
          <p:nvPr userDrawn="1"/>
        </p:nvCxnSpPr>
        <p:spPr>
          <a:xfrm>
            <a:off x="1314788" y="1244212"/>
            <a:ext cx="7295812" cy="0"/>
          </a:xfrm>
          <a:prstGeom prst="line">
            <a:avLst/>
          </a:prstGeom>
          <a:ln w="19050">
            <a:solidFill>
              <a:srgbClr val="5C30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线连接符 63">
            <a:extLst>
              <a:ext uri="{FF2B5EF4-FFF2-40B4-BE49-F238E27FC236}">
                <a16:creationId xmlns:a16="http://schemas.microsoft.com/office/drawing/2014/main" id="{06B569DB-EE88-CB4A-A634-A7CA45E81663}"/>
              </a:ext>
            </a:extLst>
          </p:cNvPr>
          <p:cNvCxnSpPr>
            <a:cxnSpLocks/>
          </p:cNvCxnSpPr>
          <p:nvPr userDrawn="1"/>
        </p:nvCxnSpPr>
        <p:spPr>
          <a:xfrm>
            <a:off x="9705401" y="526774"/>
            <a:ext cx="0" cy="503679"/>
          </a:xfrm>
          <a:prstGeom prst="line">
            <a:avLst/>
          </a:prstGeom>
          <a:ln w="12700" cap="rnd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图片 21">
            <a:extLst>
              <a:ext uri="{FF2B5EF4-FFF2-40B4-BE49-F238E27FC236}">
                <a16:creationId xmlns:a16="http://schemas.microsoft.com/office/drawing/2014/main" id="{479A4E1F-B48A-45F9-A570-AE56D115EC2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H="1">
            <a:off x="667831" y="535244"/>
            <a:ext cx="509314" cy="511567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E393C34-9723-41FA-B8BE-899008CF761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751203" y="420369"/>
            <a:ext cx="2266577" cy="680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2532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4CA6BC-3A36-834A-8A46-510CF743F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9F4A777-4880-8640-83A6-327323A56F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7E2510C-46FB-B140-83A3-4B9EF1B4C9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DFB6C4E-D29D-9647-82C6-2B183C588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cxnSp>
        <p:nvCxnSpPr>
          <p:cNvPr id="9" name="直线连接符 8">
            <a:extLst>
              <a:ext uri="{FF2B5EF4-FFF2-40B4-BE49-F238E27FC236}">
                <a16:creationId xmlns:a16="http://schemas.microsoft.com/office/drawing/2014/main" id="{2D64F221-C9B8-444F-9076-736EED2DA56E}"/>
              </a:ext>
            </a:extLst>
          </p:cNvPr>
          <p:cNvCxnSpPr>
            <a:cxnSpLocks/>
          </p:cNvCxnSpPr>
          <p:nvPr userDrawn="1"/>
        </p:nvCxnSpPr>
        <p:spPr>
          <a:xfrm>
            <a:off x="1314788" y="1244212"/>
            <a:ext cx="7295812" cy="0"/>
          </a:xfrm>
          <a:prstGeom prst="line">
            <a:avLst/>
          </a:prstGeom>
          <a:ln w="19050">
            <a:solidFill>
              <a:srgbClr val="5C30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线连接符 32">
            <a:extLst>
              <a:ext uri="{FF2B5EF4-FFF2-40B4-BE49-F238E27FC236}">
                <a16:creationId xmlns:a16="http://schemas.microsoft.com/office/drawing/2014/main" id="{E9B9A2A5-908B-3244-B39F-9E6705AE6320}"/>
              </a:ext>
            </a:extLst>
          </p:cNvPr>
          <p:cNvCxnSpPr>
            <a:cxnSpLocks/>
          </p:cNvCxnSpPr>
          <p:nvPr userDrawn="1"/>
        </p:nvCxnSpPr>
        <p:spPr>
          <a:xfrm>
            <a:off x="9705401" y="526774"/>
            <a:ext cx="0" cy="503679"/>
          </a:xfrm>
          <a:prstGeom prst="line">
            <a:avLst/>
          </a:prstGeom>
          <a:ln w="12700" cap="rnd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7BC00378-4A1A-AF4A-9DA5-0E40AABBEE09}"/>
              </a:ext>
            </a:extLst>
          </p:cNvPr>
          <p:cNvGrpSpPr/>
          <p:nvPr userDrawn="1"/>
        </p:nvGrpSpPr>
        <p:grpSpPr>
          <a:xfrm>
            <a:off x="715452" y="636006"/>
            <a:ext cx="403039" cy="321898"/>
            <a:chOff x="1368170" y="664579"/>
            <a:chExt cx="550582" cy="439737"/>
          </a:xfrm>
          <a:solidFill>
            <a:schemeClr val="bg1"/>
          </a:solidFill>
        </p:grpSpPr>
        <p:sp>
          <p:nvSpPr>
            <p:cNvPr id="41" name="Freeform 1">
              <a:extLst>
                <a:ext uri="{FF2B5EF4-FFF2-40B4-BE49-F238E27FC236}">
                  <a16:creationId xmlns:a16="http://schemas.microsoft.com/office/drawing/2014/main" id="{219E963A-769E-B14C-9175-00DF37C8C6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1203" y="771778"/>
              <a:ext cx="437549" cy="332538"/>
            </a:xfrm>
            <a:custGeom>
              <a:avLst/>
              <a:gdLst>
                <a:gd name="T0" fmla="*/ 25 w 2647"/>
                <a:gd name="T1" fmla="*/ 1478 h 2011"/>
                <a:gd name="T2" fmla="*/ 525 w 2647"/>
                <a:gd name="T3" fmla="*/ 1865 h 2011"/>
                <a:gd name="T4" fmla="*/ 736 w 2647"/>
                <a:gd name="T5" fmla="*/ 1972 h 2011"/>
                <a:gd name="T6" fmla="*/ 940 w 2647"/>
                <a:gd name="T7" fmla="*/ 2010 h 2011"/>
                <a:gd name="T8" fmla="*/ 1078 w 2647"/>
                <a:gd name="T9" fmla="*/ 1991 h 2011"/>
                <a:gd name="T10" fmla="*/ 1286 w 2647"/>
                <a:gd name="T11" fmla="*/ 1894 h 2011"/>
                <a:gd name="T12" fmla="*/ 1506 w 2647"/>
                <a:gd name="T13" fmla="*/ 1715 h 2011"/>
                <a:gd name="T14" fmla="*/ 1506 w 2647"/>
                <a:gd name="T15" fmla="*/ 1715 h 2011"/>
                <a:gd name="T16" fmla="*/ 2630 w 2647"/>
                <a:gd name="T17" fmla="*/ 624 h 2011"/>
                <a:gd name="T18" fmla="*/ 2646 w 2647"/>
                <a:gd name="T19" fmla="*/ 586 h 2011"/>
                <a:gd name="T20" fmla="*/ 2630 w 2647"/>
                <a:gd name="T21" fmla="*/ 548 h 2011"/>
                <a:gd name="T22" fmla="*/ 2090 w 2647"/>
                <a:gd name="T23" fmla="*/ 21 h 2011"/>
                <a:gd name="T24" fmla="*/ 2016 w 2647"/>
                <a:gd name="T25" fmla="*/ 22 h 2011"/>
                <a:gd name="T26" fmla="*/ 2017 w 2647"/>
                <a:gd name="T27" fmla="*/ 96 h 2011"/>
                <a:gd name="T28" fmla="*/ 2518 w 2647"/>
                <a:gd name="T29" fmla="*/ 586 h 2011"/>
                <a:gd name="T30" fmla="*/ 1433 w 2647"/>
                <a:gd name="T31" fmla="*/ 1639 h 2011"/>
                <a:gd name="T32" fmla="*/ 1433 w 2647"/>
                <a:gd name="T33" fmla="*/ 1639 h 2011"/>
                <a:gd name="T34" fmla="*/ 1167 w 2647"/>
                <a:gd name="T35" fmla="*/ 1843 h 2011"/>
                <a:gd name="T36" fmla="*/ 1051 w 2647"/>
                <a:gd name="T37" fmla="*/ 1889 h 2011"/>
                <a:gd name="T38" fmla="*/ 940 w 2647"/>
                <a:gd name="T39" fmla="*/ 1904 h 2011"/>
                <a:gd name="T40" fmla="*/ 772 w 2647"/>
                <a:gd name="T41" fmla="*/ 1872 h 2011"/>
                <a:gd name="T42" fmla="*/ 474 w 2647"/>
                <a:gd name="T43" fmla="*/ 1704 h 2011"/>
                <a:gd name="T44" fmla="*/ 93 w 2647"/>
                <a:gd name="T45" fmla="*/ 1398 h 2011"/>
                <a:gd name="T46" fmla="*/ 19 w 2647"/>
                <a:gd name="T47" fmla="*/ 1404 h 2011"/>
                <a:gd name="T48" fmla="*/ 25 w 2647"/>
                <a:gd name="T49" fmla="*/ 1478 h 20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647" h="2011">
                  <a:moveTo>
                    <a:pt x="25" y="1478"/>
                  </a:moveTo>
                  <a:cubicBezTo>
                    <a:pt x="219" y="1643"/>
                    <a:pt x="380" y="1773"/>
                    <a:pt x="525" y="1865"/>
                  </a:cubicBezTo>
                  <a:cubicBezTo>
                    <a:pt x="598" y="1911"/>
                    <a:pt x="668" y="1947"/>
                    <a:pt x="736" y="1972"/>
                  </a:cubicBezTo>
                  <a:cubicBezTo>
                    <a:pt x="805" y="1996"/>
                    <a:pt x="872" y="2010"/>
                    <a:pt x="940" y="2010"/>
                  </a:cubicBezTo>
                  <a:cubicBezTo>
                    <a:pt x="986" y="2010"/>
                    <a:pt x="1032" y="2004"/>
                    <a:pt x="1078" y="1991"/>
                  </a:cubicBezTo>
                  <a:cubicBezTo>
                    <a:pt x="1147" y="1973"/>
                    <a:pt x="1216" y="1940"/>
                    <a:pt x="1286" y="1894"/>
                  </a:cubicBezTo>
                  <a:cubicBezTo>
                    <a:pt x="1357" y="1848"/>
                    <a:pt x="1429" y="1789"/>
                    <a:pt x="1506" y="1715"/>
                  </a:cubicBezTo>
                  <a:lnTo>
                    <a:pt x="1506" y="1715"/>
                  </a:lnTo>
                  <a:lnTo>
                    <a:pt x="2630" y="624"/>
                  </a:lnTo>
                  <a:cubicBezTo>
                    <a:pt x="2640" y="614"/>
                    <a:pt x="2646" y="600"/>
                    <a:pt x="2646" y="586"/>
                  </a:cubicBezTo>
                  <a:cubicBezTo>
                    <a:pt x="2646" y="572"/>
                    <a:pt x="2641" y="558"/>
                    <a:pt x="2630" y="548"/>
                  </a:cubicBezTo>
                  <a:lnTo>
                    <a:pt x="2090" y="21"/>
                  </a:lnTo>
                  <a:cubicBezTo>
                    <a:pt x="2069" y="0"/>
                    <a:pt x="2036" y="1"/>
                    <a:pt x="2016" y="22"/>
                  </a:cubicBezTo>
                  <a:cubicBezTo>
                    <a:pt x="1995" y="42"/>
                    <a:pt x="1996" y="76"/>
                    <a:pt x="2017" y="96"/>
                  </a:cubicBezTo>
                  <a:lnTo>
                    <a:pt x="2518" y="586"/>
                  </a:lnTo>
                  <a:lnTo>
                    <a:pt x="1433" y="1639"/>
                  </a:lnTo>
                  <a:lnTo>
                    <a:pt x="1433" y="1639"/>
                  </a:lnTo>
                  <a:cubicBezTo>
                    <a:pt x="1335" y="1733"/>
                    <a:pt x="1247" y="1800"/>
                    <a:pt x="1167" y="1843"/>
                  </a:cubicBezTo>
                  <a:cubicBezTo>
                    <a:pt x="1127" y="1864"/>
                    <a:pt x="1088" y="1879"/>
                    <a:pt x="1051" y="1889"/>
                  </a:cubicBezTo>
                  <a:cubicBezTo>
                    <a:pt x="1013" y="1899"/>
                    <a:pt x="977" y="1904"/>
                    <a:pt x="940" y="1904"/>
                  </a:cubicBezTo>
                  <a:cubicBezTo>
                    <a:pt x="886" y="1904"/>
                    <a:pt x="831" y="1894"/>
                    <a:pt x="772" y="1872"/>
                  </a:cubicBezTo>
                  <a:cubicBezTo>
                    <a:pt x="683" y="1840"/>
                    <a:pt x="586" y="1784"/>
                    <a:pt x="474" y="1704"/>
                  </a:cubicBezTo>
                  <a:cubicBezTo>
                    <a:pt x="363" y="1624"/>
                    <a:pt x="238" y="1521"/>
                    <a:pt x="93" y="1398"/>
                  </a:cubicBezTo>
                  <a:cubicBezTo>
                    <a:pt x="71" y="1379"/>
                    <a:pt x="38" y="1382"/>
                    <a:pt x="19" y="1404"/>
                  </a:cubicBezTo>
                  <a:cubicBezTo>
                    <a:pt x="0" y="1426"/>
                    <a:pt x="3" y="1459"/>
                    <a:pt x="25" y="1478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" name="Freeform 2">
              <a:extLst>
                <a:ext uri="{FF2B5EF4-FFF2-40B4-BE49-F238E27FC236}">
                  <a16:creationId xmlns:a16="http://schemas.microsoft.com/office/drawing/2014/main" id="{935EF8B9-88D2-6C42-BF9B-2AD28DBBD7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11832" y="868769"/>
              <a:ext cx="356603" cy="190334"/>
            </a:xfrm>
            <a:custGeom>
              <a:avLst/>
              <a:gdLst>
                <a:gd name="T0" fmla="*/ 15 w 2158"/>
                <a:gd name="T1" fmla="*/ 713 h 1152"/>
                <a:gd name="T2" fmla="*/ 432 w 2158"/>
                <a:gd name="T3" fmla="*/ 1033 h 1152"/>
                <a:gd name="T4" fmla="*/ 605 w 2158"/>
                <a:gd name="T5" fmla="*/ 1120 h 1152"/>
                <a:gd name="T6" fmla="*/ 771 w 2158"/>
                <a:gd name="T7" fmla="*/ 1151 h 1152"/>
                <a:gd name="T8" fmla="*/ 896 w 2158"/>
                <a:gd name="T9" fmla="*/ 1132 h 1152"/>
                <a:gd name="T10" fmla="*/ 1089 w 2158"/>
                <a:gd name="T11" fmla="*/ 1036 h 1152"/>
                <a:gd name="T12" fmla="*/ 1305 w 2158"/>
                <a:gd name="T13" fmla="*/ 856 h 1152"/>
                <a:gd name="T14" fmla="*/ 1305 w 2158"/>
                <a:gd name="T15" fmla="*/ 856 h 1152"/>
                <a:gd name="T16" fmla="*/ 2144 w 2158"/>
                <a:gd name="T17" fmla="*/ 57 h 1152"/>
                <a:gd name="T18" fmla="*/ 2145 w 2158"/>
                <a:gd name="T19" fmla="*/ 13 h 1152"/>
                <a:gd name="T20" fmla="*/ 2100 w 2158"/>
                <a:gd name="T21" fmla="*/ 12 h 1152"/>
                <a:gd name="T22" fmla="*/ 1262 w 2158"/>
                <a:gd name="T23" fmla="*/ 811 h 1152"/>
                <a:gd name="T24" fmla="*/ 1262 w 2158"/>
                <a:gd name="T25" fmla="*/ 811 h 1152"/>
                <a:gd name="T26" fmla="*/ 993 w 2158"/>
                <a:gd name="T27" fmla="*/ 1023 h 1152"/>
                <a:gd name="T28" fmla="*/ 878 w 2158"/>
                <a:gd name="T29" fmla="*/ 1072 h 1152"/>
                <a:gd name="T30" fmla="*/ 771 w 2158"/>
                <a:gd name="T31" fmla="*/ 1088 h 1152"/>
                <a:gd name="T32" fmla="*/ 626 w 2158"/>
                <a:gd name="T33" fmla="*/ 1061 h 1152"/>
                <a:gd name="T34" fmla="*/ 376 w 2158"/>
                <a:gd name="T35" fmla="*/ 920 h 1152"/>
                <a:gd name="T36" fmla="*/ 55 w 2158"/>
                <a:gd name="T37" fmla="*/ 665 h 1152"/>
                <a:gd name="T38" fmla="*/ 11 w 2158"/>
                <a:gd name="T39" fmla="*/ 669 h 1152"/>
                <a:gd name="T40" fmla="*/ 15 w 2158"/>
                <a:gd name="T41" fmla="*/ 713 h 1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58" h="1152">
                  <a:moveTo>
                    <a:pt x="15" y="713"/>
                  </a:moveTo>
                  <a:cubicBezTo>
                    <a:pt x="179" y="850"/>
                    <a:pt x="312" y="958"/>
                    <a:pt x="432" y="1033"/>
                  </a:cubicBezTo>
                  <a:cubicBezTo>
                    <a:pt x="492" y="1071"/>
                    <a:pt x="549" y="1100"/>
                    <a:pt x="605" y="1120"/>
                  </a:cubicBezTo>
                  <a:cubicBezTo>
                    <a:pt x="661" y="1140"/>
                    <a:pt x="716" y="1151"/>
                    <a:pt x="771" y="1151"/>
                  </a:cubicBezTo>
                  <a:cubicBezTo>
                    <a:pt x="812" y="1151"/>
                    <a:pt x="854" y="1145"/>
                    <a:pt x="896" y="1132"/>
                  </a:cubicBezTo>
                  <a:cubicBezTo>
                    <a:pt x="959" y="1114"/>
                    <a:pt x="1022" y="1082"/>
                    <a:pt x="1089" y="1036"/>
                  </a:cubicBezTo>
                  <a:cubicBezTo>
                    <a:pt x="1156" y="990"/>
                    <a:pt x="1227" y="931"/>
                    <a:pt x="1305" y="856"/>
                  </a:cubicBezTo>
                  <a:lnTo>
                    <a:pt x="1305" y="856"/>
                  </a:lnTo>
                  <a:lnTo>
                    <a:pt x="2144" y="57"/>
                  </a:lnTo>
                  <a:cubicBezTo>
                    <a:pt x="2156" y="45"/>
                    <a:pt x="2157" y="25"/>
                    <a:pt x="2145" y="13"/>
                  </a:cubicBezTo>
                  <a:cubicBezTo>
                    <a:pt x="2133" y="0"/>
                    <a:pt x="2113" y="0"/>
                    <a:pt x="2100" y="12"/>
                  </a:cubicBezTo>
                  <a:lnTo>
                    <a:pt x="1262" y="811"/>
                  </a:lnTo>
                  <a:lnTo>
                    <a:pt x="1262" y="811"/>
                  </a:lnTo>
                  <a:cubicBezTo>
                    <a:pt x="1160" y="908"/>
                    <a:pt x="1072" y="978"/>
                    <a:pt x="993" y="1023"/>
                  </a:cubicBezTo>
                  <a:cubicBezTo>
                    <a:pt x="953" y="1045"/>
                    <a:pt x="915" y="1062"/>
                    <a:pt x="878" y="1072"/>
                  </a:cubicBezTo>
                  <a:cubicBezTo>
                    <a:pt x="842" y="1083"/>
                    <a:pt x="806" y="1088"/>
                    <a:pt x="771" y="1088"/>
                  </a:cubicBezTo>
                  <a:cubicBezTo>
                    <a:pt x="724" y="1088"/>
                    <a:pt x="677" y="1079"/>
                    <a:pt x="626" y="1061"/>
                  </a:cubicBezTo>
                  <a:cubicBezTo>
                    <a:pt x="551" y="1034"/>
                    <a:pt x="469" y="987"/>
                    <a:pt x="376" y="920"/>
                  </a:cubicBezTo>
                  <a:cubicBezTo>
                    <a:pt x="282" y="853"/>
                    <a:pt x="177" y="767"/>
                    <a:pt x="55" y="665"/>
                  </a:cubicBezTo>
                  <a:cubicBezTo>
                    <a:pt x="42" y="654"/>
                    <a:pt x="22" y="656"/>
                    <a:pt x="11" y="669"/>
                  </a:cubicBezTo>
                  <a:cubicBezTo>
                    <a:pt x="0" y="682"/>
                    <a:pt x="1" y="702"/>
                    <a:pt x="15" y="713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" name="Freeform 3">
              <a:extLst>
                <a:ext uri="{FF2B5EF4-FFF2-40B4-BE49-F238E27FC236}">
                  <a16:creationId xmlns:a16="http://schemas.microsoft.com/office/drawing/2014/main" id="{10E28FF9-5CED-394E-AF38-301649539D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40273" y="847620"/>
              <a:ext cx="304826" cy="169186"/>
            </a:xfrm>
            <a:custGeom>
              <a:avLst/>
              <a:gdLst>
                <a:gd name="T0" fmla="*/ 12 w 1845"/>
                <a:gd name="T1" fmla="*/ 672 h 1022"/>
                <a:gd name="T2" fmla="*/ 350 w 1845"/>
                <a:gd name="T3" fmla="*/ 928 h 1022"/>
                <a:gd name="T4" fmla="*/ 488 w 1845"/>
                <a:gd name="T5" fmla="*/ 997 h 1022"/>
                <a:gd name="T6" fmla="*/ 620 w 1845"/>
                <a:gd name="T7" fmla="*/ 1021 h 1022"/>
                <a:gd name="T8" fmla="*/ 734 w 1845"/>
                <a:gd name="T9" fmla="*/ 1003 h 1022"/>
                <a:gd name="T10" fmla="*/ 915 w 1845"/>
                <a:gd name="T11" fmla="*/ 905 h 1022"/>
                <a:gd name="T12" fmla="*/ 1129 w 1845"/>
                <a:gd name="T13" fmla="*/ 720 h 1022"/>
                <a:gd name="T14" fmla="*/ 1129 w 1845"/>
                <a:gd name="T15" fmla="*/ 720 h 1022"/>
                <a:gd name="T16" fmla="*/ 1834 w 1845"/>
                <a:gd name="T17" fmla="*/ 42 h 1022"/>
                <a:gd name="T18" fmla="*/ 1835 w 1845"/>
                <a:gd name="T19" fmla="*/ 10 h 1022"/>
                <a:gd name="T20" fmla="*/ 1802 w 1845"/>
                <a:gd name="T21" fmla="*/ 9 h 1022"/>
                <a:gd name="T22" fmla="*/ 1097 w 1845"/>
                <a:gd name="T23" fmla="*/ 687 h 1022"/>
                <a:gd name="T24" fmla="*/ 1097 w 1845"/>
                <a:gd name="T25" fmla="*/ 687 h 1022"/>
                <a:gd name="T26" fmla="*/ 828 w 1845"/>
                <a:gd name="T27" fmla="*/ 907 h 1022"/>
                <a:gd name="T28" fmla="*/ 720 w 1845"/>
                <a:gd name="T29" fmla="*/ 959 h 1022"/>
                <a:gd name="T30" fmla="*/ 620 w 1845"/>
                <a:gd name="T31" fmla="*/ 975 h 1022"/>
                <a:gd name="T32" fmla="*/ 504 w 1845"/>
                <a:gd name="T33" fmla="*/ 954 h 1022"/>
                <a:gd name="T34" fmla="*/ 302 w 1845"/>
                <a:gd name="T35" fmla="*/ 841 h 1022"/>
                <a:gd name="T36" fmla="*/ 41 w 1845"/>
                <a:gd name="T37" fmla="*/ 636 h 1022"/>
                <a:gd name="T38" fmla="*/ 9 w 1845"/>
                <a:gd name="T39" fmla="*/ 640 h 1022"/>
                <a:gd name="T40" fmla="*/ 12 w 1845"/>
                <a:gd name="T41" fmla="*/ 672 h 10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845" h="1022">
                  <a:moveTo>
                    <a:pt x="12" y="672"/>
                  </a:moveTo>
                  <a:cubicBezTo>
                    <a:pt x="146" y="782"/>
                    <a:pt x="254" y="868"/>
                    <a:pt x="350" y="928"/>
                  </a:cubicBezTo>
                  <a:cubicBezTo>
                    <a:pt x="398" y="958"/>
                    <a:pt x="444" y="981"/>
                    <a:pt x="488" y="997"/>
                  </a:cubicBezTo>
                  <a:cubicBezTo>
                    <a:pt x="533" y="1013"/>
                    <a:pt x="576" y="1021"/>
                    <a:pt x="620" y="1021"/>
                  </a:cubicBezTo>
                  <a:cubicBezTo>
                    <a:pt x="658" y="1021"/>
                    <a:pt x="695" y="1015"/>
                    <a:pt x="734" y="1003"/>
                  </a:cubicBezTo>
                  <a:cubicBezTo>
                    <a:pt x="791" y="984"/>
                    <a:pt x="850" y="952"/>
                    <a:pt x="915" y="905"/>
                  </a:cubicBezTo>
                  <a:cubicBezTo>
                    <a:pt x="980" y="858"/>
                    <a:pt x="1050" y="797"/>
                    <a:pt x="1129" y="720"/>
                  </a:cubicBezTo>
                  <a:lnTo>
                    <a:pt x="1129" y="720"/>
                  </a:lnTo>
                  <a:lnTo>
                    <a:pt x="1834" y="42"/>
                  </a:lnTo>
                  <a:cubicBezTo>
                    <a:pt x="1843" y="34"/>
                    <a:pt x="1844" y="19"/>
                    <a:pt x="1835" y="10"/>
                  </a:cubicBezTo>
                  <a:cubicBezTo>
                    <a:pt x="1826" y="1"/>
                    <a:pt x="1811" y="0"/>
                    <a:pt x="1802" y="9"/>
                  </a:cubicBezTo>
                  <a:lnTo>
                    <a:pt x="1097" y="687"/>
                  </a:lnTo>
                  <a:lnTo>
                    <a:pt x="1097" y="687"/>
                  </a:lnTo>
                  <a:cubicBezTo>
                    <a:pt x="992" y="788"/>
                    <a:pt x="905" y="861"/>
                    <a:pt x="828" y="907"/>
                  </a:cubicBezTo>
                  <a:cubicBezTo>
                    <a:pt x="790" y="931"/>
                    <a:pt x="754" y="948"/>
                    <a:pt x="720" y="959"/>
                  </a:cubicBezTo>
                  <a:cubicBezTo>
                    <a:pt x="685" y="970"/>
                    <a:pt x="653" y="975"/>
                    <a:pt x="620" y="975"/>
                  </a:cubicBezTo>
                  <a:cubicBezTo>
                    <a:pt x="582" y="975"/>
                    <a:pt x="544" y="968"/>
                    <a:pt x="504" y="954"/>
                  </a:cubicBezTo>
                  <a:cubicBezTo>
                    <a:pt x="443" y="932"/>
                    <a:pt x="378" y="894"/>
                    <a:pt x="302" y="841"/>
                  </a:cubicBezTo>
                  <a:cubicBezTo>
                    <a:pt x="227" y="787"/>
                    <a:pt x="141" y="718"/>
                    <a:pt x="41" y="636"/>
                  </a:cubicBezTo>
                  <a:cubicBezTo>
                    <a:pt x="31" y="628"/>
                    <a:pt x="17" y="630"/>
                    <a:pt x="9" y="640"/>
                  </a:cubicBezTo>
                  <a:cubicBezTo>
                    <a:pt x="0" y="649"/>
                    <a:pt x="2" y="664"/>
                    <a:pt x="12" y="672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" name="Freeform 4">
              <a:extLst>
                <a:ext uri="{FF2B5EF4-FFF2-40B4-BE49-F238E27FC236}">
                  <a16:creationId xmlns:a16="http://schemas.microsoft.com/office/drawing/2014/main" id="{6E5EA531-DEFC-144D-8545-1DECEBA972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8713" y="826472"/>
              <a:ext cx="253050" cy="148037"/>
            </a:xfrm>
            <a:custGeom>
              <a:avLst/>
              <a:gdLst>
                <a:gd name="T0" fmla="*/ 8 w 1531"/>
                <a:gd name="T1" fmla="*/ 630 h 895"/>
                <a:gd name="T2" fmla="*/ 269 w 1531"/>
                <a:gd name="T3" fmla="*/ 824 h 895"/>
                <a:gd name="T4" fmla="*/ 374 w 1531"/>
                <a:gd name="T5" fmla="*/ 876 h 895"/>
                <a:gd name="T6" fmla="*/ 473 w 1531"/>
                <a:gd name="T7" fmla="*/ 894 h 895"/>
                <a:gd name="T8" fmla="*/ 573 w 1531"/>
                <a:gd name="T9" fmla="*/ 875 h 895"/>
                <a:gd name="T10" fmla="*/ 739 w 1531"/>
                <a:gd name="T11" fmla="*/ 775 h 895"/>
                <a:gd name="T12" fmla="*/ 953 w 1531"/>
                <a:gd name="T13" fmla="*/ 584 h 895"/>
                <a:gd name="T14" fmla="*/ 953 w 1531"/>
                <a:gd name="T15" fmla="*/ 584 h 895"/>
                <a:gd name="T16" fmla="*/ 1524 w 1531"/>
                <a:gd name="T17" fmla="*/ 27 h 895"/>
                <a:gd name="T18" fmla="*/ 1524 w 1531"/>
                <a:gd name="T19" fmla="*/ 6 h 895"/>
                <a:gd name="T20" fmla="*/ 1503 w 1531"/>
                <a:gd name="T21" fmla="*/ 6 h 895"/>
                <a:gd name="T22" fmla="*/ 932 w 1531"/>
                <a:gd name="T23" fmla="*/ 563 h 895"/>
                <a:gd name="T24" fmla="*/ 932 w 1531"/>
                <a:gd name="T25" fmla="*/ 563 h 895"/>
                <a:gd name="T26" fmla="*/ 663 w 1531"/>
                <a:gd name="T27" fmla="*/ 793 h 895"/>
                <a:gd name="T28" fmla="*/ 562 w 1531"/>
                <a:gd name="T29" fmla="*/ 847 h 895"/>
                <a:gd name="T30" fmla="*/ 473 w 1531"/>
                <a:gd name="T31" fmla="*/ 865 h 895"/>
                <a:gd name="T32" fmla="*/ 384 w 1531"/>
                <a:gd name="T33" fmla="*/ 848 h 895"/>
                <a:gd name="T34" fmla="*/ 229 w 1531"/>
                <a:gd name="T35" fmla="*/ 762 h 895"/>
                <a:gd name="T36" fmla="*/ 26 w 1531"/>
                <a:gd name="T37" fmla="*/ 607 h 895"/>
                <a:gd name="T38" fmla="*/ 5 w 1531"/>
                <a:gd name="T39" fmla="*/ 609 h 895"/>
                <a:gd name="T40" fmla="*/ 8 w 1531"/>
                <a:gd name="T41" fmla="*/ 630 h 8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531" h="895">
                  <a:moveTo>
                    <a:pt x="8" y="630"/>
                  </a:moveTo>
                  <a:cubicBezTo>
                    <a:pt x="113" y="714"/>
                    <a:pt x="196" y="779"/>
                    <a:pt x="269" y="824"/>
                  </a:cubicBezTo>
                  <a:cubicBezTo>
                    <a:pt x="306" y="847"/>
                    <a:pt x="340" y="864"/>
                    <a:pt x="374" y="876"/>
                  </a:cubicBezTo>
                  <a:cubicBezTo>
                    <a:pt x="407" y="888"/>
                    <a:pt x="440" y="894"/>
                    <a:pt x="473" y="894"/>
                  </a:cubicBezTo>
                  <a:cubicBezTo>
                    <a:pt x="506" y="894"/>
                    <a:pt x="539" y="888"/>
                    <a:pt x="573" y="875"/>
                  </a:cubicBezTo>
                  <a:cubicBezTo>
                    <a:pt x="624" y="856"/>
                    <a:pt x="678" y="823"/>
                    <a:pt x="739" y="775"/>
                  </a:cubicBezTo>
                  <a:cubicBezTo>
                    <a:pt x="801" y="727"/>
                    <a:pt x="870" y="663"/>
                    <a:pt x="953" y="584"/>
                  </a:cubicBezTo>
                  <a:lnTo>
                    <a:pt x="953" y="584"/>
                  </a:lnTo>
                  <a:lnTo>
                    <a:pt x="1524" y="27"/>
                  </a:lnTo>
                  <a:cubicBezTo>
                    <a:pt x="1529" y="21"/>
                    <a:pt x="1530" y="12"/>
                    <a:pt x="1524" y="6"/>
                  </a:cubicBezTo>
                  <a:cubicBezTo>
                    <a:pt x="1518" y="0"/>
                    <a:pt x="1509" y="0"/>
                    <a:pt x="1503" y="6"/>
                  </a:cubicBezTo>
                  <a:lnTo>
                    <a:pt x="932" y="563"/>
                  </a:lnTo>
                  <a:lnTo>
                    <a:pt x="932" y="563"/>
                  </a:lnTo>
                  <a:cubicBezTo>
                    <a:pt x="823" y="668"/>
                    <a:pt x="737" y="744"/>
                    <a:pt x="663" y="793"/>
                  </a:cubicBezTo>
                  <a:cubicBezTo>
                    <a:pt x="627" y="818"/>
                    <a:pt x="594" y="836"/>
                    <a:pt x="562" y="847"/>
                  </a:cubicBezTo>
                  <a:cubicBezTo>
                    <a:pt x="531" y="859"/>
                    <a:pt x="502" y="865"/>
                    <a:pt x="473" y="865"/>
                  </a:cubicBezTo>
                  <a:cubicBezTo>
                    <a:pt x="444" y="865"/>
                    <a:pt x="415" y="859"/>
                    <a:pt x="384" y="848"/>
                  </a:cubicBezTo>
                  <a:cubicBezTo>
                    <a:pt x="338" y="832"/>
                    <a:pt x="288" y="803"/>
                    <a:pt x="229" y="762"/>
                  </a:cubicBezTo>
                  <a:cubicBezTo>
                    <a:pt x="171" y="722"/>
                    <a:pt x="105" y="669"/>
                    <a:pt x="26" y="607"/>
                  </a:cubicBezTo>
                  <a:cubicBezTo>
                    <a:pt x="20" y="602"/>
                    <a:pt x="10" y="603"/>
                    <a:pt x="5" y="609"/>
                  </a:cubicBezTo>
                  <a:cubicBezTo>
                    <a:pt x="0" y="615"/>
                    <a:pt x="1" y="625"/>
                    <a:pt x="8" y="63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" name="Freeform 5">
              <a:extLst>
                <a:ext uri="{FF2B5EF4-FFF2-40B4-BE49-F238E27FC236}">
                  <a16:creationId xmlns:a16="http://schemas.microsoft.com/office/drawing/2014/main" id="{F39A9FAC-3BBF-CD45-BC62-06EF846D77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96425" y="805324"/>
              <a:ext cx="201273" cy="127619"/>
            </a:xfrm>
            <a:custGeom>
              <a:avLst/>
              <a:gdLst>
                <a:gd name="T0" fmla="*/ 4 w 1217"/>
                <a:gd name="T1" fmla="*/ 588 h 773"/>
                <a:gd name="T2" fmla="*/ 193 w 1217"/>
                <a:gd name="T3" fmla="*/ 724 h 773"/>
                <a:gd name="T4" fmla="*/ 332 w 1217"/>
                <a:gd name="T5" fmla="*/ 772 h 773"/>
                <a:gd name="T6" fmla="*/ 415 w 1217"/>
                <a:gd name="T7" fmla="*/ 752 h 773"/>
                <a:gd name="T8" fmla="*/ 563 w 1217"/>
                <a:gd name="T9" fmla="*/ 648 h 773"/>
                <a:gd name="T10" fmla="*/ 776 w 1217"/>
                <a:gd name="T11" fmla="*/ 448 h 773"/>
                <a:gd name="T12" fmla="*/ 776 w 1217"/>
                <a:gd name="T13" fmla="*/ 448 h 773"/>
                <a:gd name="T14" fmla="*/ 1213 w 1217"/>
                <a:gd name="T15" fmla="*/ 12 h 773"/>
                <a:gd name="T16" fmla="*/ 1213 w 1217"/>
                <a:gd name="T17" fmla="*/ 2 h 773"/>
                <a:gd name="T18" fmla="*/ 1204 w 1217"/>
                <a:gd name="T19" fmla="*/ 2 h 773"/>
                <a:gd name="T20" fmla="*/ 767 w 1217"/>
                <a:gd name="T21" fmla="*/ 439 h 773"/>
                <a:gd name="T22" fmla="*/ 500 w 1217"/>
                <a:gd name="T23" fmla="*/ 682 h 773"/>
                <a:gd name="T24" fmla="*/ 410 w 1217"/>
                <a:gd name="T25" fmla="*/ 740 h 773"/>
                <a:gd name="T26" fmla="*/ 332 w 1217"/>
                <a:gd name="T27" fmla="*/ 759 h 773"/>
                <a:gd name="T28" fmla="*/ 199 w 1217"/>
                <a:gd name="T29" fmla="*/ 712 h 773"/>
                <a:gd name="T30" fmla="*/ 12 w 1217"/>
                <a:gd name="T31" fmla="*/ 577 h 773"/>
                <a:gd name="T32" fmla="*/ 2 w 1217"/>
                <a:gd name="T33" fmla="*/ 578 h 773"/>
                <a:gd name="T34" fmla="*/ 4 w 1217"/>
                <a:gd name="T35" fmla="*/ 588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217" h="773">
                  <a:moveTo>
                    <a:pt x="4" y="588"/>
                  </a:moveTo>
                  <a:cubicBezTo>
                    <a:pt x="81" y="647"/>
                    <a:pt x="141" y="692"/>
                    <a:pt x="193" y="724"/>
                  </a:cubicBezTo>
                  <a:cubicBezTo>
                    <a:pt x="244" y="755"/>
                    <a:pt x="288" y="772"/>
                    <a:pt x="332" y="772"/>
                  </a:cubicBezTo>
                  <a:cubicBezTo>
                    <a:pt x="359" y="772"/>
                    <a:pt x="386" y="765"/>
                    <a:pt x="415" y="752"/>
                  </a:cubicBezTo>
                  <a:cubicBezTo>
                    <a:pt x="458" y="733"/>
                    <a:pt x="505" y="698"/>
                    <a:pt x="563" y="648"/>
                  </a:cubicBezTo>
                  <a:cubicBezTo>
                    <a:pt x="620" y="597"/>
                    <a:pt x="689" y="531"/>
                    <a:pt x="776" y="448"/>
                  </a:cubicBezTo>
                  <a:lnTo>
                    <a:pt x="776" y="448"/>
                  </a:lnTo>
                  <a:lnTo>
                    <a:pt x="1213" y="12"/>
                  </a:lnTo>
                  <a:cubicBezTo>
                    <a:pt x="1216" y="9"/>
                    <a:pt x="1216" y="5"/>
                    <a:pt x="1213" y="2"/>
                  </a:cubicBezTo>
                  <a:cubicBezTo>
                    <a:pt x="1210" y="0"/>
                    <a:pt x="1206" y="0"/>
                    <a:pt x="1204" y="2"/>
                  </a:cubicBezTo>
                  <a:lnTo>
                    <a:pt x="767" y="439"/>
                  </a:lnTo>
                  <a:cubicBezTo>
                    <a:pt x="651" y="549"/>
                    <a:pt x="568" y="630"/>
                    <a:pt x="500" y="682"/>
                  </a:cubicBezTo>
                  <a:cubicBezTo>
                    <a:pt x="466" y="709"/>
                    <a:pt x="437" y="728"/>
                    <a:pt x="410" y="740"/>
                  </a:cubicBezTo>
                  <a:cubicBezTo>
                    <a:pt x="382" y="753"/>
                    <a:pt x="357" y="759"/>
                    <a:pt x="332" y="759"/>
                  </a:cubicBezTo>
                  <a:cubicBezTo>
                    <a:pt x="291" y="759"/>
                    <a:pt x="250" y="743"/>
                    <a:pt x="199" y="712"/>
                  </a:cubicBezTo>
                  <a:cubicBezTo>
                    <a:pt x="149" y="682"/>
                    <a:pt x="89" y="636"/>
                    <a:pt x="12" y="577"/>
                  </a:cubicBezTo>
                  <a:cubicBezTo>
                    <a:pt x="9" y="575"/>
                    <a:pt x="4" y="575"/>
                    <a:pt x="2" y="578"/>
                  </a:cubicBezTo>
                  <a:cubicBezTo>
                    <a:pt x="0" y="581"/>
                    <a:pt x="1" y="585"/>
                    <a:pt x="4" y="588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" name="Freeform 6">
              <a:extLst>
                <a:ext uri="{FF2B5EF4-FFF2-40B4-BE49-F238E27FC236}">
                  <a16:creationId xmlns:a16="http://schemas.microsoft.com/office/drawing/2014/main" id="{4A2E4B78-1C39-A943-B2AE-B76B55EBA4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68170" y="664579"/>
              <a:ext cx="439737" cy="330350"/>
            </a:xfrm>
            <a:custGeom>
              <a:avLst/>
              <a:gdLst>
                <a:gd name="T0" fmla="*/ 2631 w 2657"/>
                <a:gd name="T1" fmla="*/ 532 h 1998"/>
                <a:gd name="T2" fmla="*/ 2130 w 2657"/>
                <a:gd name="T3" fmla="*/ 145 h 1998"/>
                <a:gd name="T4" fmla="*/ 1920 w 2657"/>
                <a:gd name="T5" fmla="*/ 38 h 1998"/>
                <a:gd name="T6" fmla="*/ 1715 w 2657"/>
                <a:gd name="T7" fmla="*/ 0 h 1998"/>
                <a:gd name="T8" fmla="*/ 1578 w 2657"/>
                <a:gd name="T9" fmla="*/ 19 h 1998"/>
                <a:gd name="T10" fmla="*/ 1370 w 2657"/>
                <a:gd name="T11" fmla="*/ 116 h 1998"/>
                <a:gd name="T12" fmla="*/ 1150 w 2657"/>
                <a:gd name="T13" fmla="*/ 295 h 1998"/>
                <a:gd name="T14" fmla="*/ 1150 w 2657"/>
                <a:gd name="T15" fmla="*/ 295 h 1998"/>
                <a:gd name="T16" fmla="*/ 16 w 2657"/>
                <a:gd name="T17" fmla="*/ 1368 h 1998"/>
                <a:gd name="T18" fmla="*/ 0 w 2657"/>
                <a:gd name="T19" fmla="*/ 1406 h 1998"/>
                <a:gd name="T20" fmla="*/ 16 w 2657"/>
                <a:gd name="T21" fmla="*/ 1444 h 1998"/>
                <a:gd name="T22" fmla="*/ 566 w 2657"/>
                <a:gd name="T23" fmla="*/ 1977 h 1998"/>
                <a:gd name="T24" fmla="*/ 640 w 2657"/>
                <a:gd name="T25" fmla="*/ 1976 h 1998"/>
                <a:gd name="T26" fmla="*/ 639 w 2657"/>
                <a:gd name="T27" fmla="*/ 1901 h 1998"/>
                <a:gd name="T28" fmla="*/ 129 w 2657"/>
                <a:gd name="T29" fmla="*/ 1406 h 1998"/>
                <a:gd name="T30" fmla="*/ 1223 w 2657"/>
                <a:gd name="T31" fmla="*/ 371 h 1998"/>
                <a:gd name="T32" fmla="*/ 1223 w 2657"/>
                <a:gd name="T33" fmla="*/ 371 h 1998"/>
                <a:gd name="T34" fmla="*/ 1489 w 2657"/>
                <a:gd name="T35" fmla="*/ 167 h 1998"/>
                <a:gd name="T36" fmla="*/ 1605 w 2657"/>
                <a:gd name="T37" fmla="*/ 121 h 1998"/>
                <a:gd name="T38" fmla="*/ 1715 w 2657"/>
                <a:gd name="T39" fmla="*/ 106 h 1998"/>
                <a:gd name="T40" fmla="*/ 1884 w 2657"/>
                <a:gd name="T41" fmla="*/ 138 h 1998"/>
                <a:gd name="T42" fmla="*/ 2181 w 2657"/>
                <a:gd name="T43" fmla="*/ 306 h 1998"/>
                <a:gd name="T44" fmla="*/ 2562 w 2657"/>
                <a:gd name="T45" fmla="*/ 612 h 1998"/>
                <a:gd name="T46" fmla="*/ 2637 w 2657"/>
                <a:gd name="T47" fmla="*/ 606 h 1998"/>
                <a:gd name="T48" fmla="*/ 2631 w 2657"/>
                <a:gd name="T49" fmla="*/ 532 h 19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657" h="1998">
                  <a:moveTo>
                    <a:pt x="2631" y="532"/>
                  </a:moveTo>
                  <a:cubicBezTo>
                    <a:pt x="2437" y="367"/>
                    <a:pt x="2276" y="237"/>
                    <a:pt x="2130" y="145"/>
                  </a:cubicBezTo>
                  <a:cubicBezTo>
                    <a:pt x="2058" y="99"/>
                    <a:pt x="1988" y="63"/>
                    <a:pt x="1920" y="38"/>
                  </a:cubicBezTo>
                  <a:cubicBezTo>
                    <a:pt x="1851" y="14"/>
                    <a:pt x="1783" y="0"/>
                    <a:pt x="1715" y="0"/>
                  </a:cubicBezTo>
                  <a:cubicBezTo>
                    <a:pt x="1669" y="0"/>
                    <a:pt x="1623" y="6"/>
                    <a:pt x="1578" y="19"/>
                  </a:cubicBezTo>
                  <a:cubicBezTo>
                    <a:pt x="1509" y="37"/>
                    <a:pt x="1440" y="70"/>
                    <a:pt x="1370" y="116"/>
                  </a:cubicBezTo>
                  <a:cubicBezTo>
                    <a:pt x="1299" y="162"/>
                    <a:pt x="1227" y="221"/>
                    <a:pt x="1150" y="295"/>
                  </a:cubicBezTo>
                  <a:lnTo>
                    <a:pt x="1150" y="295"/>
                  </a:lnTo>
                  <a:lnTo>
                    <a:pt x="16" y="1368"/>
                  </a:lnTo>
                  <a:cubicBezTo>
                    <a:pt x="6" y="1378"/>
                    <a:pt x="0" y="1391"/>
                    <a:pt x="0" y="1406"/>
                  </a:cubicBezTo>
                  <a:cubicBezTo>
                    <a:pt x="0" y="1420"/>
                    <a:pt x="6" y="1434"/>
                    <a:pt x="16" y="1444"/>
                  </a:cubicBezTo>
                  <a:lnTo>
                    <a:pt x="566" y="1977"/>
                  </a:lnTo>
                  <a:cubicBezTo>
                    <a:pt x="587" y="1997"/>
                    <a:pt x="619" y="1997"/>
                    <a:pt x="640" y="1976"/>
                  </a:cubicBezTo>
                  <a:cubicBezTo>
                    <a:pt x="660" y="1955"/>
                    <a:pt x="660" y="1921"/>
                    <a:pt x="639" y="1901"/>
                  </a:cubicBezTo>
                  <a:lnTo>
                    <a:pt x="129" y="1406"/>
                  </a:lnTo>
                  <a:lnTo>
                    <a:pt x="1223" y="371"/>
                  </a:lnTo>
                  <a:lnTo>
                    <a:pt x="1223" y="371"/>
                  </a:lnTo>
                  <a:cubicBezTo>
                    <a:pt x="1321" y="277"/>
                    <a:pt x="1409" y="210"/>
                    <a:pt x="1489" y="167"/>
                  </a:cubicBezTo>
                  <a:cubicBezTo>
                    <a:pt x="1529" y="146"/>
                    <a:pt x="1568" y="131"/>
                    <a:pt x="1605" y="121"/>
                  </a:cubicBezTo>
                  <a:cubicBezTo>
                    <a:pt x="1642" y="111"/>
                    <a:pt x="1679" y="106"/>
                    <a:pt x="1715" y="106"/>
                  </a:cubicBezTo>
                  <a:cubicBezTo>
                    <a:pt x="1770" y="106"/>
                    <a:pt x="1825" y="116"/>
                    <a:pt x="1884" y="138"/>
                  </a:cubicBezTo>
                  <a:cubicBezTo>
                    <a:pt x="1972" y="170"/>
                    <a:pt x="2070" y="226"/>
                    <a:pt x="2181" y="306"/>
                  </a:cubicBezTo>
                  <a:cubicBezTo>
                    <a:pt x="2293" y="387"/>
                    <a:pt x="2418" y="490"/>
                    <a:pt x="2562" y="612"/>
                  </a:cubicBezTo>
                  <a:cubicBezTo>
                    <a:pt x="2585" y="631"/>
                    <a:pt x="2618" y="628"/>
                    <a:pt x="2637" y="606"/>
                  </a:cubicBezTo>
                  <a:cubicBezTo>
                    <a:pt x="2656" y="584"/>
                    <a:pt x="2653" y="551"/>
                    <a:pt x="2631" y="532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" name="Freeform 7">
              <a:extLst>
                <a:ext uri="{FF2B5EF4-FFF2-40B4-BE49-F238E27FC236}">
                  <a16:creationId xmlns:a16="http://schemas.microsoft.com/office/drawing/2014/main" id="{E34B0E8F-7C29-3241-8B05-8DB5DF4ED8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19946" y="709792"/>
              <a:ext cx="356603" cy="190334"/>
            </a:xfrm>
            <a:custGeom>
              <a:avLst/>
              <a:gdLst>
                <a:gd name="T0" fmla="*/ 2142 w 2158"/>
                <a:gd name="T1" fmla="*/ 438 h 1152"/>
                <a:gd name="T2" fmla="*/ 1725 w 2158"/>
                <a:gd name="T3" fmla="*/ 118 h 1152"/>
                <a:gd name="T4" fmla="*/ 1552 w 2158"/>
                <a:gd name="T5" fmla="*/ 31 h 1152"/>
                <a:gd name="T6" fmla="*/ 1386 w 2158"/>
                <a:gd name="T7" fmla="*/ 0 h 1152"/>
                <a:gd name="T8" fmla="*/ 1261 w 2158"/>
                <a:gd name="T9" fmla="*/ 19 h 1152"/>
                <a:gd name="T10" fmla="*/ 1068 w 2158"/>
                <a:gd name="T11" fmla="*/ 115 h 1152"/>
                <a:gd name="T12" fmla="*/ 852 w 2158"/>
                <a:gd name="T13" fmla="*/ 295 h 1152"/>
                <a:gd name="T14" fmla="*/ 852 w 2158"/>
                <a:gd name="T15" fmla="*/ 295 h 1152"/>
                <a:gd name="T16" fmla="*/ 13 w 2158"/>
                <a:gd name="T17" fmla="*/ 1094 h 1152"/>
                <a:gd name="T18" fmla="*/ 12 w 2158"/>
                <a:gd name="T19" fmla="*/ 1138 h 1152"/>
                <a:gd name="T20" fmla="*/ 56 w 2158"/>
                <a:gd name="T21" fmla="*/ 1139 h 1152"/>
                <a:gd name="T22" fmla="*/ 895 w 2158"/>
                <a:gd name="T23" fmla="*/ 340 h 1152"/>
                <a:gd name="T24" fmla="*/ 895 w 2158"/>
                <a:gd name="T25" fmla="*/ 340 h 1152"/>
                <a:gd name="T26" fmla="*/ 1164 w 2158"/>
                <a:gd name="T27" fmla="*/ 128 h 1152"/>
                <a:gd name="T28" fmla="*/ 1279 w 2158"/>
                <a:gd name="T29" fmla="*/ 79 h 1152"/>
                <a:gd name="T30" fmla="*/ 1386 w 2158"/>
                <a:gd name="T31" fmla="*/ 63 h 1152"/>
                <a:gd name="T32" fmla="*/ 1531 w 2158"/>
                <a:gd name="T33" fmla="*/ 90 h 1152"/>
                <a:gd name="T34" fmla="*/ 1781 w 2158"/>
                <a:gd name="T35" fmla="*/ 231 h 1152"/>
                <a:gd name="T36" fmla="*/ 2102 w 2158"/>
                <a:gd name="T37" fmla="*/ 486 h 1152"/>
                <a:gd name="T38" fmla="*/ 2146 w 2158"/>
                <a:gd name="T39" fmla="*/ 482 h 1152"/>
                <a:gd name="T40" fmla="*/ 2142 w 2158"/>
                <a:gd name="T41" fmla="*/ 438 h 1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58" h="1152">
                  <a:moveTo>
                    <a:pt x="2142" y="438"/>
                  </a:moveTo>
                  <a:cubicBezTo>
                    <a:pt x="1978" y="301"/>
                    <a:pt x="1845" y="193"/>
                    <a:pt x="1725" y="118"/>
                  </a:cubicBezTo>
                  <a:cubicBezTo>
                    <a:pt x="1664" y="80"/>
                    <a:pt x="1608" y="51"/>
                    <a:pt x="1552" y="31"/>
                  </a:cubicBezTo>
                  <a:cubicBezTo>
                    <a:pt x="1496" y="11"/>
                    <a:pt x="1441" y="0"/>
                    <a:pt x="1386" y="0"/>
                  </a:cubicBezTo>
                  <a:cubicBezTo>
                    <a:pt x="1344" y="0"/>
                    <a:pt x="1303" y="6"/>
                    <a:pt x="1261" y="19"/>
                  </a:cubicBezTo>
                  <a:cubicBezTo>
                    <a:pt x="1198" y="37"/>
                    <a:pt x="1135" y="69"/>
                    <a:pt x="1068" y="115"/>
                  </a:cubicBezTo>
                  <a:cubicBezTo>
                    <a:pt x="1000" y="161"/>
                    <a:pt x="930" y="220"/>
                    <a:pt x="852" y="295"/>
                  </a:cubicBezTo>
                  <a:lnTo>
                    <a:pt x="852" y="295"/>
                  </a:lnTo>
                  <a:lnTo>
                    <a:pt x="13" y="1094"/>
                  </a:lnTo>
                  <a:cubicBezTo>
                    <a:pt x="1" y="1106"/>
                    <a:pt x="0" y="1126"/>
                    <a:pt x="12" y="1138"/>
                  </a:cubicBezTo>
                  <a:cubicBezTo>
                    <a:pt x="24" y="1151"/>
                    <a:pt x="44" y="1151"/>
                    <a:pt x="56" y="1139"/>
                  </a:cubicBezTo>
                  <a:lnTo>
                    <a:pt x="895" y="340"/>
                  </a:lnTo>
                  <a:lnTo>
                    <a:pt x="895" y="340"/>
                  </a:lnTo>
                  <a:cubicBezTo>
                    <a:pt x="997" y="243"/>
                    <a:pt x="1085" y="173"/>
                    <a:pt x="1164" y="128"/>
                  </a:cubicBezTo>
                  <a:cubicBezTo>
                    <a:pt x="1204" y="106"/>
                    <a:pt x="1242" y="89"/>
                    <a:pt x="1279" y="79"/>
                  </a:cubicBezTo>
                  <a:cubicBezTo>
                    <a:pt x="1315" y="68"/>
                    <a:pt x="1351" y="63"/>
                    <a:pt x="1386" y="63"/>
                  </a:cubicBezTo>
                  <a:cubicBezTo>
                    <a:pt x="1433" y="63"/>
                    <a:pt x="1480" y="72"/>
                    <a:pt x="1531" y="90"/>
                  </a:cubicBezTo>
                  <a:cubicBezTo>
                    <a:pt x="1606" y="117"/>
                    <a:pt x="1688" y="164"/>
                    <a:pt x="1781" y="231"/>
                  </a:cubicBezTo>
                  <a:cubicBezTo>
                    <a:pt x="1874" y="298"/>
                    <a:pt x="1979" y="384"/>
                    <a:pt x="2102" y="486"/>
                  </a:cubicBezTo>
                  <a:cubicBezTo>
                    <a:pt x="2115" y="497"/>
                    <a:pt x="2135" y="495"/>
                    <a:pt x="2146" y="482"/>
                  </a:cubicBezTo>
                  <a:cubicBezTo>
                    <a:pt x="2157" y="469"/>
                    <a:pt x="2155" y="449"/>
                    <a:pt x="2142" y="438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" name="Freeform 8">
              <a:extLst>
                <a:ext uri="{FF2B5EF4-FFF2-40B4-BE49-F238E27FC236}">
                  <a16:creationId xmlns:a16="http://schemas.microsoft.com/office/drawing/2014/main" id="{08D4B6E4-213B-E84A-9B55-3121DC89C5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4012" y="752818"/>
              <a:ext cx="304826" cy="169186"/>
            </a:xfrm>
            <a:custGeom>
              <a:avLst/>
              <a:gdLst>
                <a:gd name="T0" fmla="*/ 1832 w 1844"/>
                <a:gd name="T1" fmla="*/ 349 h 1021"/>
                <a:gd name="T2" fmla="*/ 1494 w 1844"/>
                <a:gd name="T3" fmla="*/ 93 h 1021"/>
                <a:gd name="T4" fmla="*/ 1356 w 1844"/>
                <a:gd name="T5" fmla="*/ 24 h 1021"/>
                <a:gd name="T6" fmla="*/ 1224 w 1844"/>
                <a:gd name="T7" fmla="*/ 0 h 1021"/>
                <a:gd name="T8" fmla="*/ 1110 w 1844"/>
                <a:gd name="T9" fmla="*/ 18 h 1021"/>
                <a:gd name="T10" fmla="*/ 929 w 1844"/>
                <a:gd name="T11" fmla="*/ 116 h 1021"/>
                <a:gd name="T12" fmla="*/ 715 w 1844"/>
                <a:gd name="T13" fmla="*/ 301 h 1021"/>
                <a:gd name="T14" fmla="*/ 714 w 1844"/>
                <a:gd name="T15" fmla="*/ 301 h 1021"/>
                <a:gd name="T16" fmla="*/ 10 w 1844"/>
                <a:gd name="T17" fmla="*/ 978 h 1021"/>
                <a:gd name="T18" fmla="*/ 9 w 1844"/>
                <a:gd name="T19" fmla="*/ 1011 h 1021"/>
                <a:gd name="T20" fmla="*/ 42 w 1844"/>
                <a:gd name="T21" fmla="*/ 1012 h 1021"/>
                <a:gd name="T22" fmla="*/ 746 w 1844"/>
                <a:gd name="T23" fmla="*/ 334 h 1021"/>
                <a:gd name="T24" fmla="*/ 746 w 1844"/>
                <a:gd name="T25" fmla="*/ 334 h 1021"/>
                <a:gd name="T26" fmla="*/ 1016 w 1844"/>
                <a:gd name="T27" fmla="*/ 114 h 1021"/>
                <a:gd name="T28" fmla="*/ 1124 w 1844"/>
                <a:gd name="T29" fmla="*/ 62 h 1021"/>
                <a:gd name="T30" fmla="*/ 1224 w 1844"/>
                <a:gd name="T31" fmla="*/ 46 h 1021"/>
                <a:gd name="T32" fmla="*/ 1340 w 1844"/>
                <a:gd name="T33" fmla="*/ 67 h 1021"/>
                <a:gd name="T34" fmla="*/ 1542 w 1844"/>
                <a:gd name="T35" fmla="*/ 180 h 1021"/>
                <a:gd name="T36" fmla="*/ 1803 w 1844"/>
                <a:gd name="T37" fmla="*/ 385 h 1021"/>
                <a:gd name="T38" fmla="*/ 1835 w 1844"/>
                <a:gd name="T39" fmla="*/ 381 h 1021"/>
                <a:gd name="T40" fmla="*/ 1832 w 1844"/>
                <a:gd name="T41" fmla="*/ 349 h 10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844" h="1021">
                  <a:moveTo>
                    <a:pt x="1832" y="349"/>
                  </a:moveTo>
                  <a:cubicBezTo>
                    <a:pt x="1698" y="239"/>
                    <a:pt x="1590" y="153"/>
                    <a:pt x="1494" y="93"/>
                  </a:cubicBezTo>
                  <a:cubicBezTo>
                    <a:pt x="1446" y="63"/>
                    <a:pt x="1400" y="40"/>
                    <a:pt x="1356" y="24"/>
                  </a:cubicBezTo>
                  <a:cubicBezTo>
                    <a:pt x="1311" y="8"/>
                    <a:pt x="1268" y="0"/>
                    <a:pt x="1224" y="0"/>
                  </a:cubicBezTo>
                  <a:cubicBezTo>
                    <a:pt x="1186" y="0"/>
                    <a:pt x="1148" y="6"/>
                    <a:pt x="1110" y="18"/>
                  </a:cubicBezTo>
                  <a:cubicBezTo>
                    <a:pt x="1052" y="37"/>
                    <a:pt x="993" y="69"/>
                    <a:pt x="929" y="116"/>
                  </a:cubicBezTo>
                  <a:cubicBezTo>
                    <a:pt x="864" y="163"/>
                    <a:pt x="794" y="224"/>
                    <a:pt x="715" y="301"/>
                  </a:cubicBezTo>
                  <a:lnTo>
                    <a:pt x="714" y="301"/>
                  </a:lnTo>
                  <a:lnTo>
                    <a:pt x="10" y="978"/>
                  </a:lnTo>
                  <a:cubicBezTo>
                    <a:pt x="1" y="987"/>
                    <a:pt x="0" y="1002"/>
                    <a:pt x="9" y="1011"/>
                  </a:cubicBezTo>
                  <a:cubicBezTo>
                    <a:pt x="18" y="1020"/>
                    <a:pt x="33" y="1020"/>
                    <a:pt x="42" y="1012"/>
                  </a:cubicBezTo>
                  <a:lnTo>
                    <a:pt x="746" y="334"/>
                  </a:lnTo>
                  <a:lnTo>
                    <a:pt x="746" y="334"/>
                  </a:lnTo>
                  <a:cubicBezTo>
                    <a:pt x="851" y="233"/>
                    <a:pt x="939" y="160"/>
                    <a:pt x="1016" y="114"/>
                  </a:cubicBezTo>
                  <a:cubicBezTo>
                    <a:pt x="1054" y="90"/>
                    <a:pt x="1090" y="73"/>
                    <a:pt x="1124" y="62"/>
                  </a:cubicBezTo>
                  <a:cubicBezTo>
                    <a:pt x="1159" y="51"/>
                    <a:pt x="1191" y="46"/>
                    <a:pt x="1224" y="46"/>
                  </a:cubicBezTo>
                  <a:cubicBezTo>
                    <a:pt x="1262" y="46"/>
                    <a:pt x="1300" y="53"/>
                    <a:pt x="1340" y="67"/>
                  </a:cubicBezTo>
                  <a:cubicBezTo>
                    <a:pt x="1401" y="89"/>
                    <a:pt x="1466" y="127"/>
                    <a:pt x="1542" y="180"/>
                  </a:cubicBezTo>
                  <a:cubicBezTo>
                    <a:pt x="1617" y="234"/>
                    <a:pt x="1702" y="303"/>
                    <a:pt x="1803" y="385"/>
                  </a:cubicBezTo>
                  <a:cubicBezTo>
                    <a:pt x="1813" y="393"/>
                    <a:pt x="1827" y="391"/>
                    <a:pt x="1835" y="381"/>
                  </a:cubicBezTo>
                  <a:cubicBezTo>
                    <a:pt x="1843" y="372"/>
                    <a:pt x="1842" y="357"/>
                    <a:pt x="1832" y="349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" name="Freeform 9">
              <a:extLst>
                <a:ext uri="{FF2B5EF4-FFF2-40B4-BE49-F238E27FC236}">
                  <a16:creationId xmlns:a16="http://schemas.microsoft.com/office/drawing/2014/main" id="{3073A429-8658-EC43-92EE-0AD58A5391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7348" y="795114"/>
              <a:ext cx="253049" cy="148038"/>
            </a:xfrm>
            <a:custGeom>
              <a:avLst/>
              <a:gdLst>
                <a:gd name="T0" fmla="*/ 1522 w 1530"/>
                <a:gd name="T1" fmla="*/ 264 h 895"/>
                <a:gd name="T2" fmla="*/ 1260 w 1530"/>
                <a:gd name="T3" fmla="*/ 70 h 895"/>
                <a:gd name="T4" fmla="*/ 1156 w 1530"/>
                <a:gd name="T5" fmla="*/ 18 h 895"/>
                <a:gd name="T6" fmla="*/ 1057 w 1530"/>
                <a:gd name="T7" fmla="*/ 0 h 895"/>
                <a:gd name="T8" fmla="*/ 957 w 1530"/>
                <a:gd name="T9" fmla="*/ 19 h 895"/>
                <a:gd name="T10" fmla="*/ 791 w 1530"/>
                <a:gd name="T11" fmla="*/ 119 h 895"/>
                <a:gd name="T12" fmla="*/ 577 w 1530"/>
                <a:gd name="T13" fmla="*/ 310 h 895"/>
                <a:gd name="T14" fmla="*/ 577 w 1530"/>
                <a:gd name="T15" fmla="*/ 310 h 895"/>
                <a:gd name="T16" fmla="*/ 6 w 1530"/>
                <a:gd name="T17" fmla="*/ 867 h 895"/>
                <a:gd name="T18" fmla="*/ 6 w 1530"/>
                <a:gd name="T19" fmla="*/ 888 h 895"/>
                <a:gd name="T20" fmla="*/ 27 w 1530"/>
                <a:gd name="T21" fmla="*/ 888 h 895"/>
                <a:gd name="T22" fmla="*/ 598 w 1530"/>
                <a:gd name="T23" fmla="*/ 331 h 895"/>
                <a:gd name="T24" fmla="*/ 598 w 1530"/>
                <a:gd name="T25" fmla="*/ 331 h 895"/>
                <a:gd name="T26" fmla="*/ 866 w 1530"/>
                <a:gd name="T27" fmla="*/ 101 h 895"/>
                <a:gd name="T28" fmla="*/ 968 w 1530"/>
                <a:gd name="T29" fmla="*/ 47 h 895"/>
                <a:gd name="T30" fmla="*/ 1057 w 1530"/>
                <a:gd name="T31" fmla="*/ 29 h 895"/>
                <a:gd name="T32" fmla="*/ 1146 w 1530"/>
                <a:gd name="T33" fmla="*/ 46 h 895"/>
                <a:gd name="T34" fmla="*/ 1300 w 1530"/>
                <a:gd name="T35" fmla="*/ 132 h 895"/>
                <a:gd name="T36" fmla="*/ 1504 w 1530"/>
                <a:gd name="T37" fmla="*/ 287 h 895"/>
                <a:gd name="T38" fmla="*/ 1524 w 1530"/>
                <a:gd name="T39" fmla="*/ 285 h 895"/>
                <a:gd name="T40" fmla="*/ 1522 w 1530"/>
                <a:gd name="T41" fmla="*/ 264 h 8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530" h="895">
                  <a:moveTo>
                    <a:pt x="1522" y="264"/>
                  </a:moveTo>
                  <a:cubicBezTo>
                    <a:pt x="1417" y="180"/>
                    <a:pt x="1334" y="115"/>
                    <a:pt x="1260" y="70"/>
                  </a:cubicBezTo>
                  <a:cubicBezTo>
                    <a:pt x="1224" y="47"/>
                    <a:pt x="1189" y="30"/>
                    <a:pt x="1156" y="18"/>
                  </a:cubicBezTo>
                  <a:cubicBezTo>
                    <a:pt x="1123" y="6"/>
                    <a:pt x="1090" y="0"/>
                    <a:pt x="1057" y="0"/>
                  </a:cubicBezTo>
                  <a:cubicBezTo>
                    <a:pt x="1024" y="0"/>
                    <a:pt x="991" y="6"/>
                    <a:pt x="957" y="19"/>
                  </a:cubicBezTo>
                  <a:cubicBezTo>
                    <a:pt x="906" y="38"/>
                    <a:pt x="852" y="71"/>
                    <a:pt x="791" y="119"/>
                  </a:cubicBezTo>
                  <a:cubicBezTo>
                    <a:pt x="729" y="167"/>
                    <a:pt x="660" y="231"/>
                    <a:pt x="577" y="310"/>
                  </a:cubicBezTo>
                  <a:lnTo>
                    <a:pt x="577" y="310"/>
                  </a:lnTo>
                  <a:lnTo>
                    <a:pt x="6" y="867"/>
                  </a:lnTo>
                  <a:cubicBezTo>
                    <a:pt x="0" y="873"/>
                    <a:pt x="0" y="882"/>
                    <a:pt x="6" y="888"/>
                  </a:cubicBezTo>
                  <a:cubicBezTo>
                    <a:pt x="12" y="894"/>
                    <a:pt x="21" y="894"/>
                    <a:pt x="27" y="888"/>
                  </a:cubicBezTo>
                  <a:lnTo>
                    <a:pt x="598" y="331"/>
                  </a:lnTo>
                  <a:lnTo>
                    <a:pt x="598" y="331"/>
                  </a:lnTo>
                  <a:cubicBezTo>
                    <a:pt x="707" y="226"/>
                    <a:pt x="793" y="150"/>
                    <a:pt x="866" y="101"/>
                  </a:cubicBezTo>
                  <a:cubicBezTo>
                    <a:pt x="903" y="76"/>
                    <a:pt x="936" y="58"/>
                    <a:pt x="968" y="47"/>
                  </a:cubicBezTo>
                  <a:cubicBezTo>
                    <a:pt x="999" y="35"/>
                    <a:pt x="1028" y="29"/>
                    <a:pt x="1057" y="29"/>
                  </a:cubicBezTo>
                  <a:cubicBezTo>
                    <a:pt x="1086" y="29"/>
                    <a:pt x="1115" y="35"/>
                    <a:pt x="1146" y="46"/>
                  </a:cubicBezTo>
                  <a:cubicBezTo>
                    <a:pt x="1192" y="62"/>
                    <a:pt x="1242" y="91"/>
                    <a:pt x="1300" y="132"/>
                  </a:cubicBezTo>
                  <a:cubicBezTo>
                    <a:pt x="1359" y="172"/>
                    <a:pt x="1425" y="225"/>
                    <a:pt x="1504" y="287"/>
                  </a:cubicBezTo>
                  <a:cubicBezTo>
                    <a:pt x="1510" y="292"/>
                    <a:pt x="1518" y="291"/>
                    <a:pt x="1524" y="285"/>
                  </a:cubicBezTo>
                  <a:cubicBezTo>
                    <a:pt x="1529" y="279"/>
                    <a:pt x="1528" y="269"/>
                    <a:pt x="1522" y="264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" name="Freeform 10">
              <a:extLst>
                <a:ext uri="{FF2B5EF4-FFF2-40B4-BE49-F238E27FC236}">
                  <a16:creationId xmlns:a16="http://schemas.microsoft.com/office/drawing/2014/main" id="{7B9CB57C-5EF1-7045-A70B-14CD6B5A98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1413" y="835952"/>
              <a:ext cx="201273" cy="127619"/>
            </a:xfrm>
            <a:custGeom>
              <a:avLst/>
              <a:gdLst>
                <a:gd name="T0" fmla="*/ 1212 w 1217"/>
                <a:gd name="T1" fmla="*/ 184 h 773"/>
                <a:gd name="T2" fmla="*/ 1023 w 1217"/>
                <a:gd name="T3" fmla="*/ 48 h 773"/>
                <a:gd name="T4" fmla="*/ 884 w 1217"/>
                <a:gd name="T5" fmla="*/ 0 h 773"/>
                <a:gd name="T6" fmla="*/ 801 w 1217"/>
                <a:gd name="T7" fmla="*/ 20 h 773"/>
                <a:gd name="T8" fmla="*/ 653 w 1217"/>
                <a:gd name="T9" fmla="*/ 124 h 773"/>
                <a:gd name="T10" fmla="*/ 440 w 1217"/>
                <a:gd name="T11" fmla="*/ 324 h 773"/>
                <a:gd name="T12" fmla="*/ 440 w 1217"/>
                <a:gd name="T13" fmla="*/ 324 h 773"/>
                <a:gd name="T14" fmla="*/ 3 w 1217"/>
                <a:gd name="T15" fmla="*/ 760 h 773"/>
                <a:gd name="T16" fmla="*/ 3 w 1217"/>
                <a:gd name="T17" fmla="*/ 770 h 773"/>
                <a:gd name="T18" fmla="*/ 12 w 1217"/>
                <a:gd name="T19" fmla="*/ 770 h 773"/>
                <a:gd name="T20" fmla="*/ 449 w 1217"/>
                <a:gd name="T21" fmla="*/ 333 h 773"/>
                <a:gd name="T22" fmla="*/ 716 w 1217"/>
                <a:gd name="T23" fmla="*/ 90 h 773"/>
                <a:gd name="T24" fmla="*/ 806 w 1217"/>
                <a:gd name="T25" fmla="*/ 32 h 773"/>
                <a:gd name="T26" fmla="*/ 884 w 1217"/>
                <a:gd name="T27" fmla="*/ 13 h 773"/>
                <a:gd name="T28" fmla="*/ 1016 w 1217"/>
                <a:gd name="T29" fmla="*/ 60 h 773"/>
                <a:gd name="T30" fmla="*/ 1204 w 1217"/>
                <a:gd name="T31" fmla="*/ 195 h 773"/>
                <a:gd name="T32" fmla="*/ 1214 w 1217"/>
                <a:gd name="T33" fmla="*/ 194 h 773"/>
                <a:gd name="T34" fmla="*/ 1212 w 1217"/>
                <a:gd name="T35" fmla="*/ 184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217" h="773">
                  <a:moveTo>
                    <a:pt x="1212" y="184"/>
                  </a:moveTo>
                  <a:cubicBezTo>
                    <a:pt x="1135" y="125"/>
                    <a:pt x="1075" y="80"/>
                    <a:pt x="1023" y="48"/>
                  </a:cubicBezTo>
                  <a:cubicBezTo>
                    <a:pt x="971" y="17"/>
                    <a:pt x="928" y="0"/>
                    <a:pt x="884" y="0"/>
                  </a:cubicBezTo>
                  <a:cubicBezTo>
                    <a:pt x="856" y="0"/>
                    <a:pt x="829" y="7"/>
                    <a:pt x="801" y="20"/>
                  </a:cubicBezTo>
                  <a:cubicBezTo>
                    <a:pt x="758" y="39"/>
                    <a:pt x="711" y="74"/>
                    <a:pt x="653" y="124"/>
                  </a:cubicBezTo>
                  <a:cubicBezTo>
                    <a:pt x="595" y="175"/>
                    <a:pt x="527" y="241"/>
                    <a:pt x="440" y="324"/>
                  </a:cubicBezTo>
                  <a:lnTo>
                    <a:pt x="440" y="324"/>
                  </a:lnTo>
                  <a:lnTo>
                    <a:pt x="3" y="760"/>
                  </a:lnTo>
                  <a:cubicBezTo>
                    <a:pt x="0" y="763"/>
                    <a:pt x="0" y="767"/>
                    <a:pt x="3" y="770"/>
                  </a:cubicBezTo>
                  <a:cubicBezTo>
                    <a:pt x="5" y="772"/>
                    <a:pt x="10" y="772"/>
                    <a:pt x="12" y="770"/>
                  </a:cubicBezTo>
                  <a:lnTo>
                    <a:pt x="449" y="333"/>
                  </a:lnTo>
                  <a:cubicBezTo>
                    <a:pt x="565" y="223"/>
                    <a:pt x="648" y="142"/>
                    <a:pt x="716" y="90"/>
                  </a:cubicBezTo>
                  <a:cubicBezTo>
                    <a:pt x="749" y="63"/>
                    <a:pt x="778" y="44"/>
                    <a:pt x="806" y="32"/>
                  </a:cubicBezTo>
                  <a:cubicBezTo>
                    <a:pt x="833" y="19"/>
                    <a:pt x="859" y="13"/>
                    <a:pt x="884" y="13"/>
                  </a:cubicBezTo>
                  <a:cubicBezTo>
                    <a:pt x="924" y="13"/>
                    <a:pt x="966" y="29"/>
                    <a:pt x="1016" y="60"/>
                  </a:cubicBezTo>
                  <a:cubicBezTo>
                    <a:pt x="1067" y="90"/>
                    <a:pt x="1127" y="136"/>
                    <a:pt x="1204" y="195"/>
                  </a:cubicBezTo>
                  <a:cubicBezTo>
                    <a:pt x="1207" y="197"/>
                    <a:pt x="1211" y="197"/>
                    <a:pt x="1214" y="194"/>
                  </a:cubicBezTo>
                  <a:cubicBezTo>
                    <a:pt x="1216" y="191"/>
                    <a:pt x="1215" y="187"/>
                    <a:pt x="1212" y="184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" name="Freeform 11">
              <a:extLst>
                <a:ext uri="{FF2B5EF4-FFF2-40B4-BE49-F238E27FC236}">
                  <a16:creationId xmlns:a16="http://schemas.microsoft.com/office/drawing/2014/main" id="{9187B6AA-F9BB-264E-BDCA-C7E0AC3A67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08093" y="858559"/>
              <a:ext cx="72925" cy="48130"/>
            </a:xfrm>
            <a:custGeom>
              <a:avLst/>
              <a:gdLst>
                <a:gd name="T0" fmla="*/ 49 w 442"/>
                <a:gd name="T1" fmla="*/ 200 h 293"/>
                <a:gd name="T2" fmla="*/ 0 w 442"/>
                <a:gd name="T3" fmla="*/ 156 h 293"/>
                <a:gd name="T4" fmla="*/ 45 w 442"/>
                <a:gd name="T5" fmla="*/ 107 h 293"/>
                <a:gd name="T6" fmla="*/ 392 w 442"/>
                <a:gd name="T7" fmla="*/ 91 h 293"/>
                <a:gd name="T8" fmla="*/ 441 w 442"/>
                <a:gd name="T9" fmla="*/ 137 h 293"/>
                <a:gd name="T10" fmla="*/ 396 w 442"/>
                <a:gd name="T11" fmla="*/ 185 h 293"/>
                <a:gd name="T12" fmla="*/ 49 w 442"/>
                <a:gd name="T13" fmla="*/ 200 h 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42" h="293">
                  <a:moveTo>
                    <a:pt x="49" y="200"/>
                  </a:moveTo>
                  <a:lnTo>
                    <a:pt x="0" y="156"/>
                  </a:lnTo>
                  <a:lnTo>
                    <a:pt x="45" y="107"/>
                  </a:lnTo>
                  <a:cubicBezTo>
                    <a:pt x="136" y="7"/>
                    <a:pt x="292" y="0"/>
                    <a:pt x="392" y="91"/>
                  </a:cubicBezTo>
                  <a:lnTo>
                    <a:pt x="441" y="137"/>
                  </a:lnTo>
                  <a:lnTo>
                    <a:pt x="396" y="185"/>
                  </a:lnTo>
                  <a:cubicBezTo>
                    <a:pt x="304" y="285"/>
                    <a:pt x="149" y="292"/>
                    <a:pt x="49" y="20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pic>
        <p:nvPicPr>
          <p:cNvPr id="23" name="图片 22">
            <a:extLst>
              <a:ext uri="{FF2B5EF4-FFF2-40B4-BE49-F238E27FC236}">
                <a16:creationId xmlns:a16="http://schemas.microsoft.com/office/drawing/2014/main" id="{479A4E1F-B48A-45F9-A570-AE56D115EC2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H="1">
            <a:off x="667831" y="535244"/>
            <a:ext cx="509314" cy="511567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6B45DD9E-B9FB-4014-BB3E-0DB4C21C1A7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751203" y="420369"/>
            <a:ext cx="2266577" cy="680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72756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EB931506-C8E0-1649-BE54-52B88034B12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7279A2F-85B5-794E-ADF1-0805CD3C44B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104658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AAAA80D-F069-DE49-8F34-B637A12CB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7508" y="365126"/>
            <a:ext cx="8220812" cy="8790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2AAAE3F-F071-E445-8B18-8EAF397932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590270"/>
            <a:ext cx="10515600" cy="45866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F17F525-3365-224F-AAA7-E3B9B30119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5394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fld id="{8D4D1E41-7A09-AB4A-A4E1-09765ADA2698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665348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BF4557-9C48-9D4D-A8AC-E1BCC4493B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91254"/>
            <a:ext cx="9144000" cy="2002674"/>
          </a:xfrm>
        </p:spPr>
        <p:txBody>
          <a:bodyPr/>
          <a:lstStyle/>
          <a:p>
            <a:r>
              <a:rPr kumimoji="1" lang="zh-CN" altLang="en-US" dirty="0"/>
              <a:t>第五章 以太坊</a:t>
            </a:r>
            <a:br>
              <a:rPr kumimoji="1" lang="en-US" altLang="zh-CN" dirty="0"/>
            </a:br>
            <a:r>
              <a:rPr kumimoji="1" lang="en-US" altLang="zh-CN" sz="3600" dirty="0"/>
              <a:t>——</a:t>
            </a:r>
            <a:r>
              <a:rPr kumimoji="1" lang="zh-CN" altLang="en-US" sz="3600" dirty="0"/>
              <a:t>智能合约及交易结构</a:t>
            </a:r>
          </a:p>
        </p:txBody>
      </p:sp>
      <p:sp>
        <p:nvSpPr>
          <p:cNvPr id="6" name="副标题 2">
            <a:extLst>
              <a:ext uri="{FF2B5EF4-FFF2-40B4-BE49-F238E27FC236}">
                <a16:creationId xmlns:a16="http://schemas.microsoft.com/office/drawing/2014/main" id="{1BAADDAC-3DB3-ED4C-BCFE-CFA6839907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411207"/>
            <a:ext cx="9144000" cy="165797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3200" dirty="0"/>
              <a:t>授课教师：侯璐</a:t>
            </a:r>
            <a:endParaRPr kumimoji="1" lang="en-US" altLang="zh-CN" sz="3200" dirty="0"/>
          </a:p>
          <a:p>
            <a:pPr>
              <a:lnSpc>
                <a:spcPct val="150000"/>
              </a:lnSpc>
            </a:pPr>
            <a:r>
              <a:rPr kumimoji="1" lang="zh-CN" altLang="en-US" sz="3200" dirty="0"/>
              <a:t>北京邮电大学</a:t>
            </a:r>
            <a:endParaRPr kumimoji="1" lang="en-US" altLang="zh-CN" sz="3200" dirty="0"/>
          </a:p>
        </p:txBody>
      </p:sp>
    </p:spTree>
    <p:extLst>
      <p:ext uri="{BB962C8B-B14F-4D97-AF65-F5344CB8AC3E}">
        <p14:creationId xmlns:p14="http://schemas.microsoft.com/office/powerpoint/2010/main" val="24659136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09B8FE-3A08-AB44-8FD5-4884CABBB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本章内容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EAE97F77-16B3-2043-B14E-0B774467C1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7508" y="1409610"/>
            <a:ext cx="10515600" cy="4982116"/>
          </a:xfrm>
        </p:spPr>
        <p:txBody>
          <a:bodyPr>
            <a:norm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kumimoji="1" lang="en-US" altLang="zh-CN" b="1" dirty="0">
                <a:solidFill>
                  <a:srgbClr val="B962FF"/>
                </a:solidFill>
                <a:latin typeface="Garamond" panose="02020404030301010803" pitchFamily="18" charset="0"/>
              </a:rPr>
              <a:t>5.5</a:t>
            </a:r>
            <a:r>
              <a:rPr kumimoji="1" lang="en-US" altLang="zh-CN" dirty="0">
                <a:latin typeface="Garamond" panose="02020404030301010803" pitchFamily="18" charset="0"/>
              </a:rPr>
              <a:t> </a:t>
            </a:r>
            <a:r>
              <a:rPr kumimoji="1" lang="zh-CN" altLang="en-US" b="1" dirty="0">
                <a:solidFill>
                  <a:srgbClr val="B962FF"/>
                </a:solidFill>
                <a:latin typeface="Garamond" panose="02020404030301010803" pitchFamily="18" charset="0"/>
              </a:rPr>
              <a:t>智能合约与</a:t>
            </a:r>
            <a:r>
              <a:rPr kumimoji="1" lang="en-US" altLang="zh-CN" b="1" dirty="0">
                <a:solidFill>
                  <a:srgbClr val="B962FF"/>
                </a:solidFill>
                <a:latin typeface="Garamond" panose="02020404030301010803" pitchFamily="18" charset="0"/>
              </a:rPr>
              <a:t>Solidity</a:t>
            </a:r>
            <a:r>
              <a:rPr kumimoji="1" lang="zh-CN" altLang="en-US" b="1" dirty="0">
                <a:solidFill>
                  <a:srgbClr val="B962FF"/>
                </a:solidFill>
                <a:latin typeface="Garamond" panose="02020404030301010803" pitchFamily="18" charset="0"/>
              </a:rPr>
              <a:t>语言</a:t>
            </a:r>
            <a:endParaRPr kumimoji="1" lang="en-US" altLang="zh-CN" dirty="0">
              <a:latin typeface="Garamond" panose="02020404030301010803" pitchFamily="18" charset="0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kumimoji="1" lang="en-US" altLang="zh-CN" dirty="0">
                <a:latin typeface="Garamond" panose="02020404030301010803" pitchFamily="18" charset="0"/>
              </a:rPr>
              <a:t>5.6</a:t>
            </a:r>
            <a:r>
              <a:rPr kumimoji="1" lang="en-US" altLang="zh-CN" b="1" dirty="0">
                <a:solidFill>
                  <a:srgbClr val="B962FF"/>
                </a:solidFill>
                <a:latin typeface="Garamond" panose="02020404030301010803" pitchFamily="18" charset="0"/>
              </a:rPr>
              <a:t> </a:t>
            </a:r>
            <a:r>
              <a:rPr kumimoji="1" lang="zh-CN" altLang="en-US" dirty="0">
                <a:latin typeface="Garamond" panose="02020404030301010803" pitchFamily="18" charset="0"/>
              </a:rPr>
              <a:t>以太坊交易</a:t>
            </a:r>
            <a:endParaRPr kumimoji="1" lang="en-US" altLang="zh-CN" b="1" dirty="0">
              <a:solidFill>
                <a:srgbClr val="B962FF"/>
              </a:solidFill>
              <a:latin typeface="Garamond" panose="02020404030301010803" pitchFamily="18" charset="0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493E6B42-DAB5-7042-B243-5902825EB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1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567256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55A8A8-0864-814C-A327-6BBA68129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智能合约</a:t>
            </a:r>
          </a:p>
        </p:txBody>
      </p:sp>
      <p:sp>
        <p:nvSpPr>
          <p:cNvPr id="486" name="内容占位符 485">
            <a:extLst>
              <a:ext uri="{FF2B5EF4-FFF2-40B4-BE49-F238E27FC236}">
                <a16:creationId xmlns:a16="http://schemas.microsoft.com/office/drawing/2014/main" id="{5A1600D8-82EA-9E45-A9E6-6170EFC16A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2664" y="1418897"/>
            <a:ext cx="10657458" cy="5302578"/>
          </a:xfrm>
        </p:spPr>
        <p:txBody>
          <a:bodyPr anchor="t" anchorCtr="0">
            <a:normAutofit/>
          </a:bodyPr>
          <a:lstStyle/>
          <a:p>
            <a:pPr>
              <a:lnSpc>
                <a:spcPct val="140000"/>
              </a:lnSpc>
            </a:pPr>
            <a:r>
              <a:rPr lang="zh-CN" altLang="en-US" dirty="0"/>
              <a:t>定义：智能合约</a:t>
            </a:r>
            <a:endParaRPr lang="en-US" altLang="zh-CN" dirty="0"/>
          </a:p>
          <a:p>
            <a:pPr lvl="1">
              <a:lnSpc>
                <a:spcPct val="140000"/>
              </a:lnSpc>
            </a:pPr>
            <a:r>
              <a:rPr lang="zh-TW" altLang="zh-CN" dirty="0"/>
              <a:t>一段在区块链上执行的代码，它依托于区块链系统在参与者之间实现对</a:t>
            </a:r>
            <a:r>
              <a:rPr lang="zh-TW" altLang="zh-CN" b="1" dirty="0">
                <a:solidFill>
                  <a:srgbClr val="5B307E"/>
                </a:solidFill>
              </a:rPr>
              <a:t>执行的</a:t>
            </a:r>
            <a:r>
              <a:rPr lang="zh-TW" altLang="zh-CN" dirty="0"/>
              <a:t>一致认可</a:t>
            </a:r>
            <a:endParaRPr lang="en-US" altLang="zh-TW" dirty="0"/>
          </a:p>
          <a:p>
            <a:pPr>
              <a:lnSpc>
                <a:spcPct val="140000"/>
              </a:lnSpc>
            </a:pPr>
            <a:endParaRPr lang="en-US" altLang="zh-CN" sz="2400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57EA60E-053E-2142-8FE4-5A692A694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2</a:t>
            </a:fld>
            <a:endParaRPr kumimoji="1" lang="zh-CN" altLang="en-US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9" name="内容占位符 485">
            <a:extLst>
              <a:ext uri="{FF2B5EF4-FFF2-40B4-BE49-F238E27FC236}">
                <a16:creationId xmlns:a16="http://schemas.microsoft.com/office/drawing/2014/main" id="{9EE71ABF-3D4C-4DAD-AD93-974C5628AC69}"/>
              </a:ext>
            </a:extLst>
          </p:cNvPr>
          <p:cNvSpPr txBox="1">
            <a:spLocks/>
          </p:cNvSpPr>
          <p:nvPr/>
        </p:nvSpPr>
        <p:spPr>
          <a:xfrm>
            <a:off x="752663" y="3220277"/>
            <a:ext cx="11144475" cy="3501197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lvl1pPr marL="360363" indent="-360363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itchFamily="2" charset="2"/>
              <a:buChar char="Ø"/>
              <a:tabLst/>
              <a:defRPr sz="2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40000"/>
              </a:lnSpc>
            </a:pPr>
            <a:r>
              <a:rPr lang="zh-CN" altLang="en-US"/>
              <a:t>状态模型上的代码执行</a:t>
            </a:r>
            <a:endParaRPr lang="en-US" altLang="zh-CN"/>
          </a:p>
          <a:p>
            <a:pPr lvl="1">
              <a:lnSpc>
                <a:spcPct val="140000"/>
              </a:lnSpc>
            </a:pPr>
            <a:r>
              <a:rPr lang="zh-TW" altLang="zh-CN"/>
              <a:t>把计算机程序执行过程中的变量等数据一同</a:t>
            </a:r>
            <a:r>
              <a:rPr lang="zh-CN" altLang="zh-CN"/>
              <a:t>存储</a:t>
            </a:r>
            <a:r>
              <a:rPr lang="zh-TW" altLang="zh-CN"/>
              <a:t>到区块链上，交易的过程则是执行一段约定好的计算机程序</a:t>
            </a:r>
            <a:endParaRPr lang="en-US" altLang="zh-TW"/>
          </a:p>
          <a:p>
            <a:pPr lvl="1">
              <a:lnSpc>
                <a:spcPct val="140000"/>
              </a:lnSpc>
            </a:pPr>
            <a:r>
              <a:rPr lang="zh-TW" altLang="zh-CN"/>
              <a:t>在整个流程中，这些存储的数据是一个状态，执行的代码是一种特定的变换</a:t>
            </a:r>
            <a:endParaRPr lang="en-US" altLang="zh-TW"/>
          </a:p>
          <a:p>
            <a:pPr lvl="1">
              <a:lnSpc>
                <a:spcPct val="140000"/>
              </a:lnSpc>
            </a:pPr>
            <a:r>
              <a:rPr lang="zh-TW" altLang="zh-CN"/>
              <a:t>执行的过程是一个单射，对于当前的状态，不能得到多种结果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4533986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55A8A8-0864-814C-A327-6BBA68129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智能合约</a:t>
            </a:r>
          </a:p>
        </p:txBody>
      </p:sp>
      <p:sp>
        <p:nvSpPr>
          <p:cNvPr id="486" name="内容占位符 485">
            <a:extLst>
              <a:ext uri="{FF2B5EF4-FFF2-40B4-BE49-F238E27FC236}">
                <a16:creationId xmlns:a16="http://schemas.microsoft.com/office/drawing/2014/main" id="{5A1600D8-82EA-9E45-A9E6-6170EFC16A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2664" y="1418897"/>
            <a:ext cx="6771258" cy="5302578"/>
          </a:xfrm>
        </p:spPr>
        <p:txBody>
          <a:bodyPr anchor="t" anchorCtr="0">
            <a:normAutofit/>
          </a:bodyPr>
          <a:lstStyle/>
          <a:p>
            <a:pPr>
              <a:lnSpc>
                <a:spcPct val="140000"/>
              </a:lnSpc>
            </a:pPr>
            <a:r>
              <a:rPr lang="zh-CN" altLang="en-US" dirty="0"/>
              <a:t>智能合约的代码执行</a:t>
            </a:r>
            <a:endParaRPr lang="en-US" altLang="zh-CN" dirty="0"/>
          </a:p>
          <a:p>
            <a:pPr lvl="1">
              <a:lnSpc>
                <a:spcPct val="140000"/>
              </a:lnSpc>
            </a:pPr>
            <a:r>
              <a:rPr lang="zh-CN" altLang="en-US" dirty="0"/>
              <a:t>利用</a:t>
            </a:r>
            <a:r>
              <a:rPr lang="zh-TW" altLang="zh-CN" dirty="0"/>
              <a:t>提前约定好的代码来管理和变化存储在以太坊上的状态变量</a:t>
            </a:r>
            <a:endParaRPr lang="en-US" altLang="zh-TW" dirty="0"/>
          </a:p>
          <a:p>
            <a:pPr lvl="1">
              <a:lnSpc>
                <a:spcPct val="140000"/>
              </a:lnSpc>
            </a:pPr>
            <a:r>
              <a:rPr lang="zh-TW" altLang="zh-CN" dirty="0"/>
              <a:t>利用智能合约的代码来自定义交易过程中的状态变换过程</a:t>
            </a:r>
            <a:endParaRPr lang="en-US" altLang="zh-TW" dirty="0"/>
          </a:p>
          <a:p>
            <a:pPr lvl="1">
              <a:lnSpc>
                <a:spcPct val="140000"/>
              </a:lnSpc>
            </a:pPr>
            <a:r>
              <a:rPr lang="zh-TW" altLang="zh-CN" dirty="0"/>
              <a:t>在可以受到以太坊系统的参与者一致认可的条件下不断执行和变化，实现</a:t>
            </a:r>
            <a:r>
              <a:rPr lang="en-US" altLang="zh-CN" dirty="0"/>
              <a:t>“</a:t>
            </a:r>
            <a:r>
              <a:rPr lang="zh-TW" altLang="zh-CN" dirty="0"/>
              <a:t>世界状态机</a:t>
            </a:r>
            <a:r>
              <a:rPr lang="en-US" altLang="zh-CN" dirty="0"/>
              <a:t>”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57EA60E-053E-2142-8FE4-5A692A694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3</a:t>
            </a:fld>
            <a:endParaRPr kumimoji="1" lang="zh-CN" altLang="en-US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2052" name="Picture 4" descr="Best Contract Illustrations, Royalty-Free Vector Graphics &amp; Clip Art ...">
            <a:extLst>
              <a:ext uri="{FF2B5EF4-FFF2-40B4-BE49-F238E27FC236}">
                <a16:creationId xmlns:a16="http://schemas.microsoft.com/office/drawing/2014/main" id="{C61066A0-05A4-4A87-B560-2E3EFEA22B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3922" y="1542856"/>
            <a:ext cx="4514850" cy="4514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76200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55A8A8-0864-814C-A327-6BBA68129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智能合约</a:t>
            </a:r>
          </a:p>
        </p:txBody>
      </p:sp>
      <p:sp>
        <p:nvSpPr>
          <p:cNvPr id="486" name="内容占位符 485">
            <a:extLst>
              <a:ext uri="{FF2B5EF4-FFF2-40B4-BE49-F238E27FC236}">
                <a16:creationId xmlns:a16="http://schemas.microsoft.com/office/drawing/2014/main" id="{5A1600D8-82EA-9E45-A9E6-6170EFC16A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2663" y="1418897"/>
            <a:ext cx="10071049" cy="5302578"/>
          </a:xfrm>
        </p:spPr>
        <p:txBody>
          <a:bodyPr anchor="t" anchorCtr="0">
            <a:normAutofit/>
          </a:bodyPr>
          <a:lstStyle/>
          <a:p>
            <a:pPr>
              <a:lnSpc>
                <a:spcPct val="140000"/>
              </a:lnSpc>
            </a:pPr>
            <a:r>
              <a:rPr lang="zh-CN" altLang="en-US" sz="2400" dirty="0">
                <a:latin typeface="Garamond" panose="02020404030301010803" pitchFamily="18" charset="0"/>
              </a:rPr>
              <a:t>实例：记录</a:t>
            </a:r>
            <a:r>
              <a:rPr lang="en-US" altLang="zh-CN" sz="2400" dirty="0">
                <a:latin typeface="Garamond" panose="02020404030301010803" pitchFamily="18" charset="0"/>
              </a:rPr>
              <a:t>Alice</a:t>
            </a:r>
            <a:r>
              <a:rPr lang="zh-CN" altLang="en-US" sz="2400" dirty="0">
                <a:latin typeface="Garamond" panose="02020404030301010803" pitchFamily="18" charset="0"/>
              </a:rPr>
              <a:t>个人信息的智能合约</a:t>
            </a:r>
            <a:endParaRPr lang="en-US" altLang="zh-CN" sz="2400" dirty="0">
              <a:latin typeface="Garamond" panose="02020404030301010803" pitchFamily="18" charset="0"/>
            </a:endParaRPr>
          </a:p>
          <a:p>
            <a:pPr lvl="1">
              <a:lnSpc>
                <a:spcPct val="140000"/>
              </a:lnSpc>
            </a:pPr>
            <a:r>
              <a:rPr lang="zh-CN" altLang="en-US" sz="2000" dirty="0">
                <a:latin typeface="Garamond" panose="02020404030301010803" pitchFamily="18" charset="0"/>
              </a:rPr>
              <a:t>合约使用状态模型保存个人信息</a:t>
            </a:r>
            <a:r>
              <a:rPr lang="en-US" altLang="zh-CN" sz="2000" dirty="0">
                <a:latin typeface="Garamond" panose="02020404030301010803" pitchFamily="18" charset="0"/>
              </a:rPr>
              <a:t>&lt;name: “Alice”, age: 20, height: 178&gt;</a:t>
            </a:r>
          </a:p>
          <a:p>
            <a:pPr lvl="1">
              <a:lnSpc>
                <a:spcPct val="140000"/>
              </a:lnSpc>
            </a:pPr>
            <a:r>
              <a:rPr lang="zh-CN" altLang="en-US" sz="2000" dirty="0">
                <a:latin typeface="Garamond" panose="02020404030301010803" pitchFamily="18" charset="0"/>
              </a:rPr>
              <a:t>制定</a:t>
            </a:r>
            <a:r>
              <a:rPr lang="en-US" altLang="zh-CN" sz="2000" dirty="0">
                <a:latin typeface="Garamond" panose="02020404030301010803" pitchFamily="18" charset="0"/>
              </a:rPr>
              <a:t>Grow</a:t>
            </a:r>
            <a:r>
              <a:rPr lang="zh-CN" altLang="en-US" sz="2000" dirty="0">
                <a:latin typeface="Garamond" panose="02020404030301010803" pitchFamily="18" charset="0"/>
              </a:rPr>
              <a:t>和</a:t>
            </a:r>
            <a:r>
              <a:rPr lang="en-US" altLang="zh-CN" sz="2000" dirty="0">
                <a:latin typeface="Garamond" panose="02020404030301010803" pitchFamily="18" charset="0"/>
              </a:rPr>
              <a:t>Rename</a:t>
            </a:r>
            <a:r>
              <a:rPr lang="zh-CN" altLang="en-US" sz="2000" dirty="0">
                <a:latin typeface="Garamond" panose="02020404030301010803" pitchFamily="18" charset="0"/>
              </a:rPr>
              <a:t>两种方法来进行状态修改</a:t>
            </a:r>
            <a:endParaRPr lang="en-US" altLang="zh-CN" sz="2000" dirty="0">
              <a:latin typeface="Garamond" panose="02020404030301010803" pitchFamily="18" charset="0"/>
            </a:endParaRPr>
          </a:p>
          <a:p>
            <a:pPr lvl="1">
              <a:lnSpc>
                <a:spcPct val="140000"/>
              </a:lnSpc>
            </a:pPr>
            <a:endParaRPr lang="en-US" altLang="zh-CN" dirty="0">
              <a:latin typeface="Garamond" panose="02020404030301010803" pitchFamily="18" charset="0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57EA60E-053E-2142-8FE4-5A692A694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4</a:t>
            </a:fld>
            <a:endParaRPr kumimoji="1" lang="zh-CN" altLang="en-US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9" name="图片 8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05766" y="3682365"/>
            <a:ext cx="6424295" cy="2673985"/>
          </a:xfrm>
          <a:prstGeom prst="rect">
            <a:avLst/>
          </a:prstGeom>
          <a:noFill/>
        </p:spPr>
      </p:pic>
      <p:sp>
        <p:nvSpPr>
          <p:cNvPr id="10" name="文本框 9"/>
          <p:cNvSpPr txBox="1"/>
          <p:nvPr/>
        </p:nvSpPr>
        <p:spPr>
          <a:xfrm>
            <a:off x="4333321" y="6413698"/>
            <a:ext cx="21691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记录</a:t>
            </a:r>
            <a:r>
              <a:rPr lang="en-US" altLang="zh-CN" sz="1400" dirty="0"/>
              <a:t>Alice</a:t>
            </a:r>
            <a:r>
              <a:rPr lang="zh-CN" altLang="en-US" sz="1400" dirty="0"/>
              <a:t>个人信息的合约</a:t>
            </a:r>
          </a:p>
        </p:txBody>
      </p:sp>
    </p:spTree>
    <p:extLst>
      <p:ext uri="{BB962C8B-B14F-4D97-AF65-F5344CB8AC3E}">
        <p14:creationId xmlns:p14="http://schemas.microsoft.com/office/powerpoint/2010/main" val="16685105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55A8A8-0864-814C-A327-6BBA68129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智能合约</a:t>
            </a:r>
          </a:p>
        </p:txBody>
      </p:sp>
      <p:sp>
        <p:nvSpPr>
          <p:cNvPr id="486" name="内容占位符 485">
            <a:extLst>
              <a:ext uri="{FF2B5EF4-FFF2-40B4-BE49-F238E27FC236}">
                <a16:creationId xmlns:a16="http://schemas.microsoft.com/office/drawing/2014/main" id="{5A1600D8-82EA-9E45-A9E6-6170EFC16A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2664" y="1418897"/>
            <a:ext cx="8775656" cy="5302578"/>
          </a:xfrm>
        </p:spPr>
        <p:txBody>
          <a:bodyPr anchor="t" anchorCtr="0">
            <a:normAutofit/>
          </a:bodyPr>
          <a:lstStyle/>
          <a:p>
            <a:pPr>
              <a:lnSpc>
                <a:spcPct val="140000"/>
              </a:lnSpc>
            </a:pPr>
            <a:r>
              <a:rPr lang="zh-CN" altLang="en-US" sz="2400" dirty="0">
                <a:latin typeface="Garamond" panose="02020404030301010803" pitchFamily="18" charset="0"/>
              </a:rPr>
              <a:t>实例：记录</a:t>
            </a:r>
            <a:r>
              <a:rPr lang="en-US" altLang="zh-CN" sz="2400" dirty="0">
                <a:latin typeface="Garamond" panose="02020404030301010803" pitchFamily="18" charset="0"/>
              </a:rPr>
              <a:t>Alice</a:t>
            </a:r>
            <a:r>
              <a:rPr lang="zh-CN" altLang="en-US" sz="2400" dirty="0">
                <a:latin typeface="Garamond" panose="02020404030301010803" pitchFamily="18" charset="0"/>
              </a:rPr>
              <a:t>个人信息的智能合约</a:t>
            </a:r>
            <a:endParaRPr lang="en-US" altLang="zh-CN" sz="2400" dirty="0">
              <a:latin typeface="Garamond" panose="02020404030301010803" pitchFamily="18" charset="0"/>
            </a:endParaRPr>
          </a:p>
          <a:p>
            <a:pPr lvl="1">
              <a:lnSpc>
                <a:spcPct val="140000"/>
              </a:lnSpc>
            </a:pPr>
            <a:r>
              <a:rPr lang="zh-CN" altLang="en-US" sz="2000" dirty="0">
                <a:latin typeface="Garamond" panose="02020404030301010803" pitchFamily="18" charset="0"/>
              </a:rPr>
              <a:t>状态转移过程一：执行</a:t>
            </a:r>
            <a:r>
              <a:rPr lang="en-US" altLang="zh-CN" sz="2000" dirty="0">
                <a:latin typeface="Garamond" panose="02020404030301010803" pitchFamily="18" charset="0"/>
              </a:rPr>
              <a:t>Grow</a:t>
            </a:r>
            <a:r>
              <a:rPr lang="zh-CN" altLang="en-US" sz="2000" dirty="0">
                <a:latin typeface="Garamond" panose="02020404030301010803" pitchFamily="18" charset="0"/>
              </a:rPr>
              <a:t>（</a:t>
            </a:r>
            <a:r>
              <a:rPr lang="en-US" altLang="zh-CN" sz="2000" dirty="0">
                <a:latin typeface="Garamond" panose="02020404030301010803" pitchFamily="18" charset="0"/>
              </a:rPr>
              <a:t>1</a:t>
            </a:r>
            <a:r>
              <a:rPr lang="zh-CN" altLang="en-US" sz="2000" dirty="0">
                <a:latin typeface="Garamond" panose="02020404030301010803" pitchFamily="18" charset="0"/>
              </a:rPr>
              <a:t>，</a:t>
            </a:r>
            <a:r>
              <a:rPr lang="en-US" altLang="zh-CN" sz="2000" dirty="0">
                <a:latin typeface="Garamond" panose="02020404030301010803" pitchFamily="18" charset="0"/>
              </a:rPr>
              <a:t>1</a:t>
            </a:r>
            <a:r>
              <a:rPr lang="zh-CN" altLang="en-US" sz="2000" dirty="0">
                <a:latin typeface="Garamond" panose="02020404030301010803" pitchFamily="18" charset="0"/>
              </a:rPr>
              <a:t>）</a:t>
            </a:r>
            <a:endParaRPr lang="en-US" altLang="zh-CN" sz="2000" dirty="0">
              <a:latin typeface="Garamond" panose="02020404030301010803" pitchFamily="18" charset="0"/>
            </a:endParaRPr>
          </a:p>
          <a:p>
            <a:pPr lvl="1">
              <a:lnSpc>
                <a:spcPct val="140000"/>
              </a:lnSpc>
            </a:pPr>
            <a:r>
              <a:rPr lang="zh-CN" altLang="en-US" sz="2000" dirty="0">
                <a:latin typeface="Garamond" panose="02020404030301010803" pitchFamily="18" charset="0"/>
              </a:rPr>
              <a:t>状态转移过程二：执行</a:t>
            </a:r>
            <a:r>
              <a:rPr lang="en-US" altLang="zh-CN" sz="2000" dirty="0">
                <a:latin typeface="Garamond" panose="02020404030301010803" pitchFamily="18" charset="0"/>
              </a:rPr>
              <a:t>Rename</a:t>
            </a:r>
            <a:r>
              <a:rPr lang="zh-TW" altLang="zh-CN" sz="2000" dirty="0">
                <a:latin typeface="Garamond" panose="02020404030301010803" pitchFamily="18" charset="0"/>
              </a:rPr>
              <a:t>（</a:t>
            </a:r>
            <a:r>
              <a:rPr lang="en-US" altLang="zh-CN" sz="2000" dirty="0">
                <a:latin typeface="Garamond" panose="02020404030301010803" pitchFamily="18" charset="0"/>
              </a:rPr>
              <a:t>“Cathy”</a:t>
            </a:r>
            <a:r>
              <a:rPr lang="zh-TW" altLang="zh-CN" sz="2000" dirty="0">
                <a:latin typeface="Garamond" panose="02020404030301010803" pitchFamily="18" charset="0"/>
              </a:rPr>
              <a:t>）</a:t>
            </a:r>
            <a:endParaRPr lang="en-US" altLang="zh-TW" sz="2000" dirty="0">
              <a:latin typeface="Garamond" panose="02020404030301010803" pitchFamily="18" charset="0"/>
            </a:endParaRPr>
          </a:p>
          <a:p>
            <a:pPr lvl="1">
              <a:lnSpc>
                <a:spcPct val="140000"/>
              </a:lnSpc>
            </a:pPr>
            <a:r>
              <a:rPr lang="zh-CN" altLang="en-US" sz="2000" dirty="0">
                <a:latin typeface="Garamond" panose="02020404030301010803" pitchFamily="18" charset="0"/>
              </a:rPr>
              <a:t>状态变换结果：</a:t>
            </a:r>
            <a:r>
              <a:rPr lang="en-US" altLang="zh-CN" sz="2000" dirty="0">
                <a:latin typeface="Garamond" panose="02020404030301010803" pitchFamily="18" charset="0"/>
              </a:rPr>
              <a:t>&lt;name: “Cathy”, age: 21, height: 179&gt;</a:t>
            </a:r>
            <a:endParaRPr lang="en-US" altLang="zh-CN" dirty="0">
              <a:latin typeface="Garamond" panose="02020404030301010803" pitchFamily="18" charset="0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57EA60E-053E-2142-8FE4-5A692A694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5</a:t>
            </a:fld>
            <a:endParaRPr kumimoji="1" lang="zh-CN" altLang="en-US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9" name="图片 8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05766" y="3681044"/>
            <a:ext cx="6424295" cy="2673985"/>
          </a:xfrm>
          <a:prstGeom prst="rect">
            <a:avLst/>
          </a:prstGeom>
          <a:noFill/>
        </p:spPr>
      </p:pic>
      <p:sp>
        <p:nvSpPr>
          <p:cNvPr id="10" name="文本框 9"/>
          <p:cNvSpPr txBox="1"/>
          <p:nvPr/>
        </p:nvSpPr>
        <p:spPr>
          <a:xfrm>
            <a:off x="4333321" y="6413698"/>
            <a:ext cx="21691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记录</a:t>
            </a:r>
            <a:r>
              <a:rPr lang="en-US" altLang="zh-CN" sz="1400" dirty="0"/>
              <a:t>Alice</a:t>
            </a:r>
            <a:r>
              <a:rPr lang="zh-CN" altLang="en-US" sz="1400" dirty="0"/>
              <a:t>个人信息的合约</a:t>
            </a:r>
          </a:p>
        </p:txBody>
      </p:sp>
    </p:spTree>
    <p:extLst>
      <p:ext uri="{BB962C8B-B14F-4D97-AF65-F5344CB8AC3E}">
        <p14:creationId xmlns:p14="http://schemas.microsoft.com/office/powerpoint/2010/main" val="20841163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55A8A8-0864-814C-A327-6BBA68129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合约账户与数据存储</a:t>
            </a:r>
          </a:p>
        </p:txBody>
      </p:sp>
      <p:sp>
        <p:nvSpPr>
          <p:cNvPr id="486" name="内容占位符 485">
            <a:extLst>
              <a:ext uri="{FF2B5EF4-FFF2-40B4-BE49-F238E27FC236}">
                <a16:creationId xmlns:a16="http://schemas.microsoft.com/office/drawing/2014/main" id="{5A1600D8-82EA-9E45-A9E6-6170EFC16A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2663" y="2882348"/>
            <a:ext cx="10846301" cy="3898760"/>
          </a:xfrm>
        </p:spPr>
        <p:txBody>
          <a:bodyPr anchor="t" anchorCtr="0">
            <a:normAutofit/>
          </a:bodyPr>
          <a:lstStyle/>
          <a:p>
            <a:pPr>
              <a:lnSpc>
                <a:spcPct val="140000"/>
              </a:lnSpc>
            </a:pPr>
            <a:r>
              <a:rPr lang="zh-CN" altLang="en-US" dirty="0">
                <a:latin typeface="Garamond" panose="02020404030301010803" pitchFamily="18" charset="0"/>
              </a:rPr>
              <a:t>定义</a:t>
            </a:r>
            <a:endParaRPr lang="en-US" altLang="zh-CN" dirty="0">
              <a:latin typeface="Garamond" panose="02020404030301010803" pitchFamily="18" charset="0"/>
            </a:endParaRPr>
          </a:p>
          <a:p>
            <a:pPr lvl="1">
              <a:lnSpc>
                <a:spcPct val="140000"/>
              </a:lnSpc>
            </a:pPr>
            <a:r>
              <a:rPr lang="zh-CN" altLang="en-US" dirty="0">
                <a:latin typeface="Garamond" panose="02020404030301010803" pitchFamily="18" charset="0"/>
              </a:rPr>
              <a:t>合约账户</a:t>
            </a:r>
            <a:endParaRPr lang="en-US" altLang="zh-CN" dirty="0">
              <a:latin typeface="Garamond" panose="02020404030301010803" pitchFamily="18" charset="0"/>
            </a:endParaRPr>
          </a:p>
          <a:p>
            <a:pPr lvl="2">
              <a:lnSpc>
                <a:spcPct val="140000"/>
              </a:lnSpc>
            </a:pPr>
            <a:r>
              <a:rPr lang="zh-CN" altLang="en-US" dirty="0">
                <a:latin typeface="Garamond" panose="02020404030301010803" pitchFamily="18" charset="0"/>
              </a:rPr>
              <a:t>表</a:t>
            </a:r>
            <a:r>
              <a:rPr lang="zh-TW" altLang="zh-CN" dirty="0">
                <a:latin typeface="Garamond" panose="02020404030301010803" pitchFamily="18" charset="0"/>
              </a:rPr>
              <a:t>示合约实例对象</a:t>
            </a:r>
            <a:r>
              <a:rPr lang="zh-CN" altLang="en-US" dirty="0">
                <a:latin typeface="Garamond" panose="02020404030301010803" pitchFamily="18" charset="0"/>
              </a:rPr>
              <a:t>的</a:t>
            </a:r>
            <a:r>
              <a:rPr lang="zh-TW" altLang="zh-CN" dirty="0">
                <a:latin typeface="Garamond" panose="02020404030301010803" pitchFamily="18" charset="0"/>
              </a:rPr>
              <a:t>账户被称为合约账户</a:t>
            </a:r>
            <a:r>
              <a:rPr lang="zh-CN" altLang="en-US" dirty="0">
                <a:latin typeface="Garamond" panose="02020404030301010803" pitchFamily="18" charset="0"/>
              </a:rPr>
              <a:t>，</a:t>
            </a:r>
            <a:r>
              <a:rPr lang="zh-TW" altLang="zh-CN" dirty="0">
                <a:latin typeface="Garamond" panose="02020404030301010803" pitchFamily="18" charset="0"/>
              </a:rPr>
              <a:t>它的地址并不是由公钥产生，而是通过特定的算法在创建合约的时候生成</a:t>
            </a:r>
            <a:endParaRPr lang="en-US" altLang="zh-CN" dirty="0">
              <a:latin typeface="Garamond" panose="02020404030301010803" pitchFamily="18" charset="0"/>
            </a:endParaRPr>
          </a:p>
          <a:p>
            <a:pPr lvl="1">
              <a:lnSpc>
                <a:spcPct val="140000"/>
              </a:lnSpc>
            </a:pPr>
            <a:r>
              <a:rPr lang="zh-CN" altLang="en-US" dirty="0">
                <a:latin typeface="Garamond" panose="02020404030301010803" pitchFamily="18" charset="0"/>
              </a:rPr>
              <a:t>外部账户</a:t>
            </a:r>
            <a:endParaRPr lang="en-US" altLang="zh-CN" dirty="0">
              <a:latin typeface="Garamond" panose="02020404030301010803" pitchFamily="18" charset="0"/>
            </a:endParaRPr>
          </a:p>
          <a:p>
            <a:pPr lvl="2">
              <a:lnSpc>
                <a:spcPct val="140000"/>
              </a:lnSpc>
            </a:pPr>
            <a:r>
              <a:rPr lang="zh-TW" altLang="zh-CN" dirty="0">
                <a:latin typeface="Garamond" panose="02020404030301010803" pitchFamily="18" charset="0"/>
              </a:rPr>
              <a:t>表示用户余额的账户则被称之为外部账户（</a:t>
            </a:r>
            <a:r>
              <a:rPr lang="en-US" altLang="zh-CN" dirty="0">
                <a:latin typeface="Garamond" panose="02020404030301010803" pitchFamily="18" charset="0"/>
              </a:rPr>
              <a:t>Externally Owned Accounts</a:t>
            </a:r>
            <a:r>
              <a:rPr lang="zh-TW" altLang="zh-CN" dirty="0">
                <a:latin typeface="Garamond" panose="02020404030301010803" pitchFamily="18" charset="0"/>
              </a:rPr>
              <a:t>），这些账户受外部私钥控制，由外部的用户所操控 。这里的外部是相对于以太坊运行机制而言的</a:t>
            </a:r>
            <a:endParaRPr lang="en-US" altLang="zh-TW" dirty="0">
              <a:latin typeface="Garamond" panose="02020404030301010803" pitchFamily="18" charset="0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57EA60E-053E-2142-8FE4-5A692A694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6</a:t>
            </a:fld>
            <a:endParaRPr kumimoji="1" lang="zh-CN" altLang="en-US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9" name="内容占位符 485">
            <a:extLst>
              <a:ext uri="{FF2B5EF4-FFF2-40B4-BE49-F238E27FC236}">
                <a16:creationId xmlns:a16="http://schemas.microsoft.com/office/drawing/2014/main" id="{1EE62961-1B09-41C9-9380-C8AC94F8C2EF}"/>
              </a:ext>
            </a:extLst>
          </p:cNvPr>
          <p:cNvSpPr txBox="1">
            <a:spLocks/>
          </p:cNvSpPr>
          <p:nvPr/>
        </p:nvSpPr>
        <p:spPr>
          <a:xfrm>
            <a:off x="752663" y="1207604"/>
            <a:ext cx="11044482" cy="1970571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lvl1pPr marL="360363" indent="-360363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itchFamily="2" charset="2"/>
              <a:buChar char="Ø"/>
              <a:tabLst/>
              <a:defRPr sz="2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40000"/>
              </a:lnSpc>
            </a:pPr>
            <a:r>
              <a:rPr lang="zh-CN" altLang="en-US" dirty="0"/>
              <a:t>背景</a:t>
            </a:r>
            <a:endParaRPr lang="en-US" altLang="zh-CN" dirty="0"/>
          </a:p>
          <a:p>
            <a:pPr lvl="1">
              <a:lnSpc>
                <a:spcPct val="140000"/>
              </a:lnSpc>
            </a:pPr>
            <a:r>
              <a:rPr lang="zh-TW" altLang="zh-CN" dirty="0"/>
              <a:t>对于智能合约与状态的实体，以太坊同样使用了账户作为一个合约实例对象的抽象，它基本上是普通账户</a:t>
            </a:r>
            <a:r>
              <a:rPr lang="zh-CN" altLang="en-US" dirty="0"/>
              <a:t>（外部账户）</a:t>
            </a:r>
            <a:r>
              <a:rPr lang="zh-TW" altLang="zh-CN" dirty="0"/>
              <a:t>的扩展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6735747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55A8A8-0864-814C-A327-6BBA68129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合约账户与数据存储</a:t>
            </a:r>
          </a:p>
        </p:txBody>
      </p:sp>
      <p:sp>
        <p:nvSpPr>
          <p:cNvPr id="486" name="内容占位符 485">
            <a:extLst>
              <a:ext uri="{FF2B5EF4-FFF2-40B4-BE49-F238E27FC236}">
                <a16:creationId xmlns:a16="http://schemas.microsoft.com/office/drawing/2014/main" id="{5A1600D8-82EA-9E45-A9E6-6170EFC16A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2663" y="1418897"/>
            <a:ext cx="9951779" cy="5302578"/>
          </a:xfrm>
        </p:spPr>
        <p:txBody>
          <a:bodyPr anchor="t" anchorCtr="0">
            <a:normAutofit fontScale="92500" lnSpcReduction="10000"/>
          </a:bodyPr>
          <a:lstStyle/>
          <a:p>
            <a:pPr>
              <a:lnSpc>
                <a:spcPct val="140000"/>
              </a:lnSpc>
            </a:pPr>
            <a:r>
              <a:rPr lang="zh-CN" altLang="en-US" dirty="0">
                <a:latin typeface="Garamond" panose="02020404030301010803" pitchFamily="18" charset="0"/>
              </a:rPr>
              <a:t>合约账户内容</a:t>
            </a:r>
            <a:endParaRPr lang="en-US" altLang="zh-CN" dirty="0">
              <a:latin typeface="Garamond" panose="02020404030301010803" pitchFamily="18" charset="0"/>
            </a:endParaRPr>
          </a:p>
          <a:p>
            <a:pPr lvl="1">
              <a:lnSpc>
                <a:spcPct val="140000"/>
              </a:lnSpc>
            </a:pPr>
            <a:r>
              <a:rPr lang="zh-CN" altLang="en-US" dirty="0">
                <a:latin typeface="Garamond" panose="02020404030301010803" pitchFamily="18" charset="0"/>
              </a:rPr>
              <a:t>数据结构</a:t>
            </a:r>
            <a:endParaRPr lang="en-US" altLang="zh-CN" dirty="0">
              <a:latin typeface="Garamond" panose="02020404030301010803" pitchFamily="18" charset="0"/>
            </a:endParaRPr>
          </a:p>
          <a:p>
            <a:pPr lvl="2">
              <a:lnSpc>
                <a:spcPct val="140000"/>
              </a:lnSpc>
            </a:pPr>
            <a:r>
              <a:rPr lang="zh-TW" altLang="zh-CN" dirty="0">
                <a:latin typeface="Garamond" panose="02020404030301010803" pitchFamily="18" charset="0"/>
              </a:rPr>
              <a:t>合约账户的数据结构基于原本外部合约账户，主要扩展了存储合约代码和存储合约状态的字段</a:t>
            </a:r>
            <a:endParaRPr lang="en-US" altLang="zh-TW" dirty="0">
              <a:latin typeface="Garamond" panose="02020404030301010803" pitchFamily="18" charset="0"/>
            </a:endParaRPr>
          </a:p>
          <a:p>
            <a:pPr lvl="1">
              <a:lnSpc>
                <a:spcPct val="140000"/>
              </a:lnSpc>
            </a:pPr>
            <a:r>
              <a:rPr lang="zh-CN" altLang="en-US" dirty="0">
                <a:latin typeface="Garamond" panose="02020404030301010803" pitchFamily="18" charset="0"/>
              </a:rPr>
              <a:t>计算机代码</a:t>
            </a:r>
            <a:endParaRPr lang="en-US" altLang="zh-CN" dirty="0">
              <a:latin typeface="Garamond" panose="02020404030301010803" pitchFamily="18" charset="0"/>
            </a:endParaRPr>
          </a:p>
          <a:p>
            <a:pPr lvl="2">
              <a:lnSpc>
                <a:spcPct val="140000"/>
              </a:lnSpc>
            </a:pPr>
            <a:r>
              <a:rPr lang="zh-TW" altLang="zh-CN" dirty="0">
                <a:latin typeface="Garamond" panose="02020404030301010803" pitchFamily="18" charset="0"/>
              </a:rPr>
              <a:t>合约的计算机代码通过机器码的形式保存在合约机器码的字段中</a:t>
            </a:r>
            <a:endParaRPr lang="en-US" altLang="zh-TW" dirty="0">
              <a:latin typeface="Garamond" panose="02020404030301010803" pitchFamily="18" charset="0"/>
            </a:endParaRPr>
          </a:p>
          <a:p>
            <a:pPr lvl="1">
              <a:lnSpc>
                <a:spcPct val="140000"/>
              </a:lnSpc>
            </a:pPr>
            <a:r>
              <a:rPr lang="zh-CN" altLang="en-US" dirty="0">
                <a:latin typeface="Garamond" panose="02020404030301010803" pitchFamily="18" charset="0"/>
              </a:rPr>
              <a:t>状态存储</a:t>
            </a:r>
            <a:endParaRPr lang="en-US" altLang="zh-CN" dirty="0">
              <a:latin typeface="Garamond" panose="02020404030301010803" pitchFamily="18" charset="0"/>
            </a:endParaRPr>
          </a:p>
          <a:p>
            <a:pPr lvl="2">
              <a:lnSpc>
                <a:spcPct val="140000"/>
              </a:lnSpc>
            </a:pPr>
            <a:r>
              <a:rPr lang="zh-TW" altLang="zh-CN" dirty="0">
                <a:latin typeface="Garamond" panose="02020404030301010803" pitchFamily="18" charset="0"/>
              </a:rPr>
              <a:t>合约的状态存储保存在一个存储的映射表之中，账户的内部只保留了整个存储表的哈希值</a:t>
            </a:r>
            <a:endParaRPr lang="en-US" altLang="zh-TW" dirty="0">
              <a:latin typeface="Garamond" panose="02020404030301010803" pitchFamily="18" charset="0"/>
            </a:endParaRPr>
          </a:p>
          <a:p>
            <a:pPr lvl="1">
              <a:lnSpc>
                <a:spcPct val="140000"/>
              </a:lnSpc>
            </a:pPr>
            <a:r>
              <a:rPr lang="zh-TW" altLang="zh-CN" dirty="0">
                <a:latin typeface="Garamond" panose="02020404030301010803" pitchFamily="18" charset="0"/>
              </a:rPr>
              <a:t>合约账户不由具体公钥和私钥进行控制，不能够从合约地址发起任何以太坊的交易，所以在</a:t>
            </a:r>
            <a:r>
              <a:rPr lang="zh-TW" altLang="zh-CN" b="1" dirty="0">
                <a:solidFill>
                  <a:srgbClr val="5B307E"/>
                </a:solidFill>
                <a:latin typeface="Garamond" panose="02020404030301010803" pitchFamily="18" charset="0"/>
              </a:rPr>
              <a:t>绝大多数情况下合约的</a:t>
            </a:r>
            <a:r>
              <a:rPr lang="en-US" altLang="zh-CN" b="1" dirty="0">
                <a:solidFill>
                  <a:srgbClr val="5B307E"/>
                </a:solidFill>
                <a:latin typeface="Garamond" panose="02020404030301010803" pitchFamily="18" charset="0"/>
              </a:rPr>
              <a:t>Nonce</a:t>
            </a:r>
            <a:r>
              <a:rPr lang="zh-TW" altLang="zh-CN" b="1" dirty="0">
                <a:solidFill>
                  <a:srgbClr val="5B307E"/>
                </a:solidFill>
                <a:latin typeface="Garamond" panose="02020404030301010803" pitchFamily="18" charset="0"/>
              </a:rPr>
              <a:t>值不会改变</a:t>
            </a:r>
            <a:endParaRPr lang="en-US" altLang="zh-TW" b="1" dirty="0">
              <a:solidFill>
                <a:srgbClr val="5B307E"/>
              </a:solidFill>
              <a:latin typeface="Garamond" panose="02020404030301010803" pitchFamily="18" charset="0"/>
            </a:endParaRPr>
          </a:p>
          <a:p>
            <a:pPr lvl="1">
              <a:lnSpc>
                <a:spcPct val="140000"/>
              </a:lnSpc>
            </a:pPr>
            <a:endParaRPr lang="en-US" altLang="zh-CN" dirty="0">
              <a:latin typeface="Garamond" panose="02020404030301010803" pitchFamily="18" charset="0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57EA60E-053E-2142-8FE4-5A692A694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7</a:t>
            </a:fld>
            <a:endParaRPr kumimoji="1" lang="zh-CN" altLang="en-US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01697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55A8A8-0864-814C-A327-6BBA68129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合约账户与数据存储</a:t>
            </a:r>
          </a:p>
        </p:txBody>
      </p:sp>
      <p:sp>
        <p:nvSpPr>
          <p:cNvPr id="486" name="内容占位符 485">
            <a:extLst>
              <a:ext uri="{FF2B5EF4-FFF2-40B4-BE49-F238E27FC236}">
                <a16:creationId xmlns:a16="http://schemas.microsoft.com/office/drawing/2014/main" id="{5A1600D8-82EA-9E45-A9E6-6170EFC16A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2664" y="1418897"/>
            <a:ext cx="8775656" cy="5302578"/>
          </a:xfrm>
        </p:spPr>
        <p:txBody>
          <a:bodyPr anchor="t" anchorCtr="0">
            <a:normAutofit fontScale="92500" lnSpcReduction="10000"/>
          </a:bodyPr>
          <a:lstStyle/>
          <a:p>
            <a:pPr>
              <a:lnSpc>
                <a:spcPct val="140000"/>
              </a:lnSpc>
            </a:pPr>
            <a:r>
              <a:rPr lang="zh-CN" altLang="en-US" dirty="0">
                <a:latin typeface="Garamond" panose="02020404030301010803" pitchFamily="18" charset="0"/>
              </a:rPr>
              <a:t>实例：记录</a:t>
            </a:r>
            <a:r>
              <a:rPr lang="en-US" altLang="zh-CN" dirty="0">
                <a:latin typeface="Garamond" panose="02020404030301010803" pitchFamily="18" charset="0"/>
              </a:rPr>
              <a:t>Alice</a:t>
            </a:r>
            <a:r>
              <a:rPr lang="zh-CN" altLang="en-US" dirty="0">
                <a:latin typeface="Garamond" panose="02020404030301010803" pitchFamily="18" charset="0"/>
              </a:rPr>
              <a:t>信息合约的数据存储</a:t>
            </a:r>
            <a:endParaRPr lang="en-US" altLang="zh-CN" dirty="0">
              <a:solidFill>
                <a:srgbClr val="C00000"/>
              </a:solidFill>
              <a:latin typeface="Garamond" panose="02020404030301010803" pitchFamily="18" charset="0"/>
            </a:endParaRPr>
          </a:p>
          <a:p>
            <a:pPr lvl="1">
              <a:lnSpc>
                <a:spcPct val="140000"/>
              </a:lnSpc>
            </a:pPr>
            <a:r>
              <a:rPr lang="zh-CN" altLang="en-US" dirty="0">
                <a:latin typeface="Garamond" panose="02020404030301010803" pitchFamily="18" charset="0"/>
              </a:rPr>
              <a:t>合约操作</a:t>
            </a:r>
            <a:endParaRPr lang="en-US" altLang="zh-CN" dirty="0">
              <a:latin typeface="Garamond" panose="02020404030301010803" pitchFamily="18" charset="0"/>
            </a:endParaRPr>
          </a:p>
          <a:p>
            <a:pPr lvl="2">
              <a:lnSpc>
                <a:spcPct val="140000"/>
              </a:lnSpc>
            </a:pPr>
            <a:r>
              <a:rPr lang="en-US" altLang="zh-CN" dirty="0">
                <a:latin typeface="Garamond" panose="02020404030301010803" pitchFamily="18" charset="0"/>
              </a:rPr>
              <a:t>Grow</a:t>
            </a:r>
            <a:r>
              <a:rPr lang="zh-CN" altLang="en-US" dirty="0">
                <a:latin typeface="Garamond" panose="02020404030301010803" pitchFamily="18" charset="0"/>
              </a:rPr>
              <a:t>和</a:t>
            </a:r>
            <a:r>
              <a:rPr lang="en-US" altLang="zh-CN" dirty="0">
                <a:latin typeface="Garamond" panose="02020404030301010803" pitchFamily="18" charset="0"/>
              </a:rPr>
              <a:t>Rename</a:t>
            </a:r>
            <a:r>
              <a:rPr lang="zh-CN" altLang="en-US" dirty="0">
                <a:latin typeface="Garamond" panose="02020404030301010803" pitchFamily="18" charset="0"/>
              </a:rPr>
              <a:t>操作以机器码的形式保存</a:t>
            </a:r>
            <a:endParaRPr lang="en-US" altLang="zh-CN" dirty="0">
              <a:latin typeface="Garamond" panose="02020404030301010803" pitchFamily="18" charset="0"/>
            </a:endParaRPr>
          </a:p>
          <a:p>
            <a:pPr lvl="1">
              <a:lnSpc>
                <a:spcPct val="140000"/>
              </a:lnSpc>
            </a:pPr>
            <a:r>
              <a:rPr lang="zh-CN" altLang="en-US" dirty="0">
                <a:latin typeface="Garamond" panose="02020404030301010803" pitchFamily="18" charset="0"/>
              </a:rPr>
              <a:t>合约变量</a:t>
            </a:r>
            <a:endParaRPr lang="en-US" altLang="zh-CN" dirty="0">
              <a:latin typeface="Garamond" panose="02020404030301010803" pitchFamily="18" charset="0"/>
            </a:endParaRPr>
          </a:p>
          <a:p>
            <a:pPr lvl="2">
              <a:lnSpc>
                <a:spcPct val="140000"/>
              </a:lnSpc>
            </a:pPr>
            <a:r>
              <a:rPr lang="zh-CN" altLang="en-US" dirty="0">
                <a:latin typeface="Garamond" panose="02020404030301010803" pitchFamily="18" charset="0"/>
              </a:rPr>
              <a:t>变量存储</a:t>
            </a:r>
            <a:endParaRPr lang="en-US" altLang="zh-CN" dirty="0">
              <a:latin typeface="Garamond" panose="02020404030301010803" pitchFamily="18" charset="0"/>
            </a:endParaRPr>
          </a:p>
          <a:p>
            <a:pPr lvl="3">
              <a:lnSpc>
                <a:spcPct val="140000"/>
              </a:lnSpc>
            </a:pPr>
            <a:r>
              <a:rPr lang="zh-TW" altLang="zh-CN" dirty="0">
                <a:latin typeface="Garamond" panose="02020404030301010803" pitchFamily="18" charset="0"/>
              </a:rPr>
              <a:t>姓名保存在变量存储表</a:t>
            </a:r>
            <a:r>
              <a:rPr lang="en-US" altLang="zh-CN" dirty="0">
                <a:latin typeface="Garamond" panose="02020404030301010803" pitchFamily="18" charset="0"/>
              </a:rPr>
              <a:t>0x0000000</a:t>
            </a:r>
            <a:endParaRPr lang="en-US" altLang="zh-TW" dirty="0">
              <a:latin typeface="Garamond" panose="02020404030301010803" pitchFamily="18" charset="0"/>
            </a:endParaRPr>
          </a:p>
          <a:p>
            <a:pPr lvl="3">
              <a:lnSpc>
                <a:spcPct val="140000"/>
              </a:lnSpc>
            </a:pPr>
            <a:r>
              <a:rPr lang="zh-TW" altLang="zh-CN" dirty="0">
                <a:latin typeface="Garamond" panose="02020404030301010803" pitchFamily="18" charset="0"/>
              </a:rPr>
              <a:t>年龄保存在变量存储表</a:t>
            </a:r>
            <a:r>
              <a:rPr lang="en-US" altLang="zh-CN" dirty="0">
                <a:latin typeface="Garamond" panose="02020404030301010803" pitchFamily="18" charset="0"/>
              </a:rPr>
              <a:t>0x0000001</a:t>
            </a:r>
          </a:p>
          <a:p>
            <a:pPr lvl="3">
              <a:lnSpc>
                <a:spcPct val="140000"/>
              </a:lnSpc>
            </a:pPr>
            <a:r>
              <a:rPr lang="zh-TW" altLang="zh-CN" dirty="0">
                <a:latin typeface="Garamond" panose="02020404030301010803" pitchFamily="18" charset="0"/>
              </a:rPr>
              <a:t>身高保存在变量存储表</a:t>
            </a:r>
            <a:r>
              <a:rPr lang="en-US" altLang="zh-CN" dirty="0">
                <a:latin typeface="Garamond" panose="02020404030301010803" pitchFamily="18" charset="0"/>
              </a:rPr>
              <a:t>0x00000002</a:t>
            </a:r>
          </a:p>
          <a:p>
            <a:pPr lvl="2">
              <a:lnSpc>
                <a:spcPct val="140000"/>
              </a:lnSpc>
            </a:pPr>
            <a:r>
              <a:rPr lang="zh-CN" altLang="en-US" dirty="0">
                <a:latin typeface="Garamond" panose="02020404030301010803" pitchFamily="18" charset="0"/>
              </a:rPr>
              <a:t>变量的哈希值</a:t>
            </a:r>
            <a:endParaRPr lang="en-US" altLang="zh-CN" dirty="0">
              <a:latin typeface="Garamond" panose="02020404030301010803" pitchFamily="18" charset="0"/>
            </a:endParaRPr>
          </a:p>
          <a:p>
            <a:pPr lvl="3">
              <a:lnSpc>
                <a:spcPct val="140000"/>
              </a:lnSpc>
            </a:pPr>
            <a:r>
              <a:rPr lang="zh-CN" altLang="en-US" dirty="0">
                <a:latin typeface="Garamond" panose="02020404030301010803" pitchFamily="18" charset="0"/>
              </a:rPr>
              <a:t>对整个变量存储表计算得到哈希值</a:t>
            </a:r>
            <a:r>
              <a:rPr lang="en-US" altLang="zh-CN" dirty="0">
                <a:latin typeface="Garamond" panose="02020404030301010803" pitchFamily="18" charset="0"/>
              </a:rPr>
              <a:t>0xb39a372c93a8b8b970e359a978fba643f94ac966c0d862e27da7770d8f485396</a:t>
            </a:r>
            <a:r>
              <a:rPr lang="zh-CN" altLang="en-US" dirty="0">
                <a:latin typeface="Garamond" panose="02020404030301010803" pitchFamily="18" charset="0"/>
              </a:rPr>
              <a:t>，保存在合约账户中</a:t>
            </a:r>
            <a:endParaRPr lang="en-US" altLang="zh-CN" dirty="0">
              <a:latin typeface="Garamond" panose="02020404030301010803" pitchFamily="18" charset="0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57EA60E-053E-2142-8FE4-5A692A694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8</a:t>
            </a:fld>
            <a:endParaRPr kumimoji="1" lang="zh-CN" altLang="en-US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9" name="图片 8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117224" y="1590944"/>
            <a:ext cx="4560425" cy="3346510"/>
          </a:xfrm>
          <a:prstGeom prst="rect">
            <a:avLst/>
          </a:prstGeom>
          <a:noFill/>
        </p:spPr>
      </p:pic>
      <p:sp>
        <p:nvSpPr>
          <p:cNvPr id="10" name="文本框 9"/>
          <p:cNvSpPr txBox="1"/>
          <p:nvPr/>
        </p:nvSpPr>
        <p:spPr>
          <a:xfrm>
            <a:off x="8227885" y="5006564"/>
            <a:ext cx="23391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合约账户的数据存储与结构</a:t>
            </a:r>
          </a:p>
        </p:txBody>
      </p:sp>
    </p:spTree>
    <p:extLst>
      <p:ext uri="{BB962C8B-B14F-4D97-AF65-F5344CB8AC3E}">
        <p14:creationId xmlns:p14="http://schemas.microsoft.com/office/powerpoint/2010/main" val="6455267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55A8A8-0864-814C-A327-6BBA68129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合约地址的生成</a:t>
            </a:r>
          </a:p>
        </p:txBody>
      </p:sp>
      <p:sp>
        <p:nvSpPr>
          <p:cNvPr id="486" name="内容占位符 485">
            <a:extLst>
              <a:ext uri="{FF2B5EF4-FFF2-40B4-BE49-F238E27FC236}">
                <a16:creationId xmlns:a16="http://schemas.microsoft.com/office/drawing/2014/main" id="{5A1600D8-82EA-9E45-A9E6-6170EFC16A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2664" y="1418897"/>
            <a:ext cx="8775656" cy="5302578"/>
          </a:xfrm>
        </p:spPr>
        <p:txBody>
          <a:bodyPr anchor="t" anchorCtr="0">
            <a:normAutofit/>
          </a:bodyPr>
          <a:lstStyle/>
          <a:p>
            <a:pPr>
              <a:lnSpc>
                <a:spcPct val="140000"/>
              </a:lnSpc>
            </a:pPr>
            <a:r>
              <a:rPr lang="zh-CN" altLang="en-US" dirty="0">
                <a:latin typeface="Garamond" panose="02020404030301010803" pitchFamily="18" charset="0"/>
              </a:rPr>
              <a:t>背景：</a:t>
            </a:r>
            <a:endParaRPr lang="en-US" altLang="zh-CN" dirty="0">
              <a:latin typeface="Garamond" panose="02020404030301010803" pitchFamily="18" charset="0"/>
            </a:endParaRPr>
          </a:p>
          <a:p>
            <a:pPr lvl="1">
              <a:lnSpc>
                <a:spcPct val="140000"/>
              </a:lnSpc>
            </a:pPr>
            <a:r>
              <a:rPr lang="zh-TW" altLang="zh-CN" dirty="0">
                <a:latin typeface="Garamond" panose="02020404030301010803" pitchFamily="18" charset="0"/>
              </a:rPr>
              <a:t>合约地址并不取决于外部的公钥，而是通过特定的算法计算得到。在以太坊中提供了两种生成合约地址的方法</a:t>
            </a:r>
            <a:endParaRPr lang="en-US" altLang="zh-TW" dirty="0">
              <a:latin typeface="Garamond" panose="02020404030301010803" pitchFamily="18" charset="0"/>
            </a:endParaRPr>
          </a:p>
          <a:p>
            <a:pPr>
              <a:lnSpc>
                <a:spcPct val="140000"/>
              </a:lnSpc>
            </a:pPr>
            <a:r>
              <a:rPr lang="zh-CN" altLang="en-US" dirty="0">
                <a:latin typeface="Garamond" panose="02020404030301010803" pitchFamily="18" charset="0"/>
              </a:rPr>
              <a:t>合约地址生成方法</a:t>
            </a:r>
            <a:endParaRPr lang="en-US" altLang="zh-CN" dirty="0">
              <a:solidFill>
                <a:srgbClr val="C00000"/>
              </a:solidFill>
              <a:latin typeface="Garamond" panose="02020404030301010803" pitchFamily="18" charset="0"/>
            </a:endParaRPr>
          </a:p>
          <a:p>
            <a:pPr lvl="1">
              <a:lnSpc>
                <a:spcPct val="140000"/>
              </a:lnSpc>
            </a:pPr>
            <a:r>
              <a:rPr lang="zh-TW" altLang="zh-CN" dirty="0">
                <a:latin typeface="Garamond" panose="02020404030301010803" pitchFamily="18" charset="0"/>
              </a:rPr>
              <a:t>通过合约创建者的地址和</a:t>
            </a:r>
            <a:r>
              <a:rPr lang="en-US" altLang="zh-CN" dirty="0">
                <a:latin typeface="Garamond" panose="02020404030301010803" pitchFamily="18" charset="0"/>
              </a:rPr>
              <a:t>Nonce</a:t>
            </a:r>
            <a:r>
              <a:rPr lang="zh-TW" altLang="zh-CN" dirty="0">
                <a:latin typeface="Garamond" panose="02020404030301010803" pitchFamily="18" charset="0"/>
              </a:rPr>
              <a:t>计算得到</a:t>
            </a:r>
            <a:endParaRPr lang="en-US" altLang="zh-TW" dirty="0">
              <a:latin typeface="Garamond" panose="02020404030301010803" pitchFamily="18" charset="0"/>
            </a:endParaRPr>
          </a:p>
          <a:p>
            <a:pPr lvl="1">
              <a:lnSpc>
                <a:spcPct val="140000"/>
              </a:lnSpc>
            </a:pPr>
            <a:r>
              <a:rPr lang="zh-TW" altLang="zh-CN" dirty="0">
                <a:latin typeface="Garamond" panose="02020404030301010803" pitchFamily="18" charset="0"/>
              </a:rPr>
              <a:t>通过合约创建者地址、指定的初始化值和合约代码的哈希值计算得到</a:t>
            </a:r>
            <a:endParaRPr lang="en-US" altLang="zh-TW" dirty="0">
              <a:latin typeface="Garamond" panose="02020404030301010803" pitchFamily="18" charset="0"/>
            </a:endParaRPr>
          </a:p>
          <a:p>
            <a:pPr lvl="1">
              <a:lnSpc>
                <a:spcPct val="140000"/>
              </a:lnSpc>
            </a:pPr>
            <a:endParaRPr lang="en-US" altLang="zh-CN" dirty="0">
              <a:latin typeface="Garamond" panose="02020404030301010803" pitchFamily="18" charset="0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57EA60E-053E-2142-8FE4-5A692A694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9</a:t>
            </a:fld>
            <a:endParaRPr kumimoji="1" lang="zh-CN" altLang="en-US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25236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55A8A8-0864-814C-A327-6BBA68129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合约地址的生成</a:t>
            </a:r>
          </a:p>
        </p:txBody>
      </p:sp>
      <p:sp>
        <p:nvSpPr>
          <p:cNvPr id="486" name="内容占位符 485">
            <a:extLst>
              <a:ext uri="{FF2B5EF4-FFF2-40B4-BE49-F238E27FC236}">
                <a16:creationId xmlns:a16="http://schemas.microsoft.com/office/drawing/2014/main" id="{5A1600D8-82EA-9E45-A9E6-6170EFC16A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2664" y="1418897"/>
            <a:ext cx="8775656" cy="5302578"/>
          </a:xfrm>
        </p:spPr>
        <p:txBody>
          <a:bodyPr anchor="t" anchorCtr="0">
            <a:normAutofit lnSpcReduction="10000"/>
          </a:bodyPr>
          <a:lstStyle/>
          <a:p>
            <a:pPr marL="360363" lvl="1" indent="-360363">
              <a:lnSpc>
                <a:spcPct val="140000"/>
              </a:lnSpc>
              <a:buFont typeface="Wingdings" pitchFamily="2" charset="2"/>
              <a:buChar char="Ø"/>
            </a:pPr>
            <a:r>
              <a:rPr lang="zh-CN" altLang="en-US" sz="2800" dirty="0">
                <a:latin typeface="Garamond" panose="02020404030301010803" pitchFamily="18" charset="0"/>
              </a:rPr>
              <a:t>实例：</a:t>
            </a:r>
            <a:r>
              <a:rPr lang="zh-TW" altLang="zh-CN" sz="2800" dirty="0">
                <a:latin typeface="Garamond" panose="02020404030301010803" pitchFamily="18" charset="0"/>
              </a:rPr>
              <a:t>通过合约创建者的地址和</a:t>
            </a:r>
            <a:r>
              <a:rPr lang="en-US" altLang="zh-CN" sz="2800" dirty="0">
                <a:latin typeface="Garamond" panose="02020404030301010803" pitchFamily="18" charset="0"/>
              </a:rPr>
              <a:t>Nonce</a:t>
            </a:r>
            <a:r>
              <a:rPr lang="zh-CN" altLang="en-US" sz="2800" dirty="0">
                <a:latin typeface="Garamond" panose="02020404030301010803" pitchFamily="18" charset="0"/>
              </a:rPr>
              <a:t>生成合约地址</a:t>
            </a:r>
            <a:endParaRPr lang="en-US" altLang="zh-CN" sz="2800" dirty="0">
              <a:latin typeface="Garamond" panose="02020404030301010803" pitchFamily="18" charset="0"/>
            </a:endParaRPr>
          </a:p>
          <a:p>
            <a:pPr lvl="1">
              <a:lnSpc>
                <a:spcPct val="140000"/>
              </a:lnSpc>
            </a:pPr>
            <a:r>
              <a:rPr lang="zh-CN" altLang="en-US" dirty="0">
                <a:latin typeface="Garamond" panose="02020404030301010803" pitchFamily="18" charset="0"/>
              </a:rPr>
              <a:t>输入：</a:t>
            </a:r>
            <a:endParaRPr lang="en-US" altLang="zh-CN" dirty="0">
              <a:latin typeface="Garamond" panose="02020404030301010803" pitchFamily="18" charset="0"/>
            </a:endParaRPr>
          </a:p>
          <a:p>
            <a:pPr lvl="2">
              <a:lnSpc>
                <a:spcPct val="140000"/>
              </a:lnSpc>
            </a:pPr>
            <a:r>
              <a:rPr lang="zh-TW" altLang="zh-CN" dirty="0">
                <a:latin typeface="Garamond" panose="02020404030301010803" pitchFamily="18" charset="0"/>
              </a:rPr>
              <a:t>创建者地址</a:t>
            </a:r>
            <a:r>
              <a:rPr lang="zh-CN" altLang="en-US" dirty="0">
                <a:latin typeface="Garamond" panose="02020404030301010803" pitchFamily="18" charset="0"/>
              </a:rPr>
              <a:t>：</a:t>
            </a:r>
            <a:endParaRPr lang="en-US" altLang="zh-CN" dirty="0">
              <a:latin typeface="Garamond" panose="02020404030301010803" pitchFamily="18" charset="0"/>
            </a:endParaRPr>
          </a:p>
          <a:p>
            <a:pPr lvl="2">
              <a:lnSpc>
                <a:spcPct val="140000"/>
              </a:lnSpc>
            </a:pPr>
            <a:r>
              <a:rPr lang="zh-TW" altLang="zh-CN" dirty="0">
                <a:latin typeface="Garamond" panose="02020404030301010803" pitchFamily="18" charset="0"/>
              </a:rPr>
              <a:t>Nonce值</a:t>
            </a:r>
            <a:r>
              <a:rPr lang="zh-CN" altLang="en-US" dirty="0">
                <a:latin typeface="Garamond" panose="02020404030301010803" pitchFamily="18" charset="0"/>
              </a:rPr>
              <a:t>：</a:t>
            </a:r>
            <a:endParaRPr lang="en-US" altLang="zh-TW" dirty="0">
              <a:latin typeface="Garamond" panose="02020404030301010803" pitchFamily="18" charset="0"/>
            </a:endParaRPr>
          </a:p>
          <a:p>
            <a:pPr lvl="1">
              <a:lnSpc>
                <a:spcPct val="140000"/>
              </a:lnSpc>
            </a:pPr>
            <a:r>
              <a:rPr lang="zh-CN" altLang="en-US" dirty="0">
                <a:latin typeface="Garamond" panose="02020404030301010803" pitchFamily="18" charset="0"/>
              </a:rPr>
              <a:t>使用</a:t>
            </a:r>
            <a:r>
              <a:rPr lang="zh-TW" altLang="zh-CN" dirty="0">
                <a:latin typeface="Garamond" panose="02020404030301010803" pitchFamily="18" charset="0"/>
              </a:rPr>
              <a:t>以太坊自定义的RLP（Recursive Length Prefix）编码格式</a:t>
            </a:r>
            <a:r>
              <a:rPr lang="zh-CN" altLang="en-US" dirty="0">
                <a:latin typeface="Garamond" panose="02020404030301010803" pitchFamily="18" charset="0"/>
              </a:rPr>
              <a:t>序列化数据</a:t>
            </a:r>
            <a:endParaRPr lang="en-US" altLang="zh-CN" dirty="0">
              <a:latin typeface="Garamond" panose="02020404030301010803" pitchFamily="18" charset="0"/>
            </a:endParaRPr>
          </a:p>
          <a:p>
            <a:pPr lvl="1">
              <a:lnSpc>
                <a:spcPct val="140000"/>
              </a:lnSpc>
            </a:pPr>
            <a:endParaRPr lang="en-US" altLang="zh-CN" dirty="0">
              <a:latin typeface="Garamond" panose="02020404030301010803" pitchFamily="18" charset="0"/>
            </a:endParaRPr>
          </a:p>
          <a:p>
            <a:pPr lvl="1">
              <a:lnSpc>
                <a:spcPct val="140000"/>
              </a:lnSpc>
            </a:pPr>
            <a:r>
              <a:rPr lang="zh-CN" altLang="en-US" dirty="0">
                <a:latin typeface="Garamond" panose="02020404030301010803" pitchFamily="18" charset="0"/>
              </a:rPr>
              <a:t>将序列化数据通过</a:t>
            </a:r>
            <a:r>
              <a:rPr lang="en-US" altLang="zh-CN" dirty="0">
                <a:latin typeface="Garamond" panose="02020404030301010803" pitchFamily="18" charset="0"/>
              </a:rPr>
              <a:t>SHA256</a:t>
            </a:r>
            <a:r>
              <a:rPr lang="zh-CN" altLang="en-US" dirty="0">
                <a:latin typeface="Garamond" panose="02020404030301010803" pitchFamily="18" charset="0"/>
              </a:rPr>
              <a:t>计算，得到长度为</a:t>
            </a:r>
            <a:r>
              <a:rPr lang="en-US" altLang="zh-CN" dirty="0">
                <a:latin typeface="Garamond" panose="02020404030301010803" pitchFamily="18" charset="0"/>
              </a:rPr>
              <a:t>256</a:t>
            </a:r>
            <a:r>
              <a:rPr lang="zh-CN" altLang="en-US" dirty="0">
                <a:latin typeface="Garamond" panose="02020404030301010803" pitchFamily="18" charset="0"/>
              </a:rPr>
              <a:t>位的哈希，值，取最后的</a:t>
            </a:r>
            <a:r>
              <a:rPr lang="en-US" altLang="zh-CN" dirty="0">
                <a:latin typeface="Garamond" panose="02020404030301010803" pitchFamily="18" charset="0"/>
              </a:rPr>
              <a:t>160</a:t>
            </a:r>
            <a:r>
              <a:rPr lang="zh-CN" altLang="en-US" dirty="0">
                <a:latin typeface="Garamond" panose="02020404030301010803" pitchFamily="18" charset="0"/>
              </a:rPr>
              <a:t>位</a:t>
            </a:r>
            <a:endParaRPr lang="en-US" altLang="zh-CN" dirty="0">
              <a:latin typeface="Garamond" panose="02020404030301010803" pitchFamily="18" charset="0"/>
            </a:endParaRPr>
          </a:p>
          <a:p>
            <a:pPr marL="457200" lvl="1" indent="0">
              <a:lnSpc>
                <a:spcPct val="140000"/>
              </a:lnSpc>
              <a:buNone/>
            </a:pPr>
            <a:r>
              <a:rPr lang="en-US" altLang="zh-CN" dirty="0">
                <a:latin typeface="Garamond" panose="02020404030301010803" pitchFamily="18" charset="0"/>
              </a:rPr>
              <a:t> </a:t>
            </a:r>
            <a:endParaRPr lang="en-US" altLang="zh-TW" dirty="0">
              <a:latin typeface="Garamond" panose="02020404030301010803" pitchFamily="18" charset="0"/>
            </a:endParaRPr>
          </a:p>
          <a:p>
            <a:pPr lvl="1">
              <a:lnSpc>
                <a:spcPct val="140000"/>
              </a:lnSpc>
            </a:pPr>
            <a:endParaRPr lang="en-US" altLang="zh-CN" dirty="0">
              <a:latin typeface="Garamond" panose="02020404030301010803" pitchFamily="18" charset="0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57EA60E-053E-2142-8FE4-5A692A694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10</a:t>
            </a:fld>
            <a:endParaRPr kumimoji="1" lang="zh-CN" altLang="en-US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3505199" y="2687614"/>
          <a:ext cx="569797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97970">
                  <a:extLst>
                    <a:ext uri="{9D8B030D-6E8A-4147-A177-3AD203B41FA5}">
                      <a16:colId xmlns:a16="http://schemas.microsoft.com/office/drawing/2014/main" val="4534824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2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CN" dirty="0">
                          <a:solidFill>
                            <a:schemeClr val="tx1"/>
                          </a:solidFill>
                        </a:rPr>
                        <a:t>0x238661F085A338F04B0C7C956A796B57018151F0</a:t>
                      </a:r>
                      <a:endParaRPr lang="en-US" altLang="zh-TW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3995539"/>
                  </a:ext>
                </a:extLst>
              </a:tr>
            </a:tbl>
          </a:graphicData>
        </a:graphic>
      </p:graphicFrame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3355975" y="3212916"/>
          <a:ext cx="31115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150">
                  <a:extLst>
                    <a:ext uri="{9D8B030D-6E8A-4147-A177-3AD203B41FA5}">
                      <a16:colId xmlns:a16="http://schemas.microsoft.com/office/drawing/2014/main" val="4534824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2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CN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TW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3995539"/>
                  </a:ext>
                </a:extLst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/>
        </p:nvGraphicFramePr>
        <p:xfrm>
          <a:off x="1616074" y="4696289"/>
          <a:ext cx="644207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42076">
                  <a:extLst>
                    <a:ext uri="{9D8B030D-6E8A-4147-A177-3AD203B41FA5}">
                      <a16:colId xmlns:a16="http://schemas.microsoft.com/office/drawing/2014/main" val="4534824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2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0XD694238661F085A338F04B0C7C956A796B57018151F080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3995539"/>
                  </a:ext>
                </a:extLst>
              </a:tr>
            </a:tbl>
          </a:graphicData>
        </a:graphic>
      </p:graphicFrame>
      <p:graphicFrame>
        <p:nvGraphicFramePr>
          <p:cNvPr id="11" name="表格 10"/>
          <p:cNvGraphicFramePr>
            <a:graphicFrameLocks noGrp="1"/>
          </p:cNvGraphicFramePr>
          <p:nvPr/>
        </p:nvGraphicFramePr>
        <p:xfrm>
          <a:off x="1616074" y="6170930"/>
          <a:ext cx="5556251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56251">
                  <a:extLst>
                    <a:ext uri="{9D8B030D-6E8A-4147-A177-3AD203B41FA5}">
                      <a16:colId xmlns:a16="http://schemas.microsoft.com/office/drawing/2014/main" val="4534824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2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0x5499F82BE656085c9636d85b559df2B17d5db33A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39955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430200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55A8A8-0864-814C-A327-6BBA68129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合约地址的生成</a:t>
            </a:r>
          </a:p>
        </p:txBody>
      </p:sp>
      <p:sp>
        <p:nvSpPr>
          <p:cNvPr id="486" name="内容占位符 485">
            <a:extLst>
              <a:ext uri="{FF2B5EF4-FFF2-40B4-BE49-F238E27FC236}">
                <a16:creationId xmlns:a16="http://schemas.microsoft.com/office/drawing/2014/main" id="{5A1600D8-82EA-9E45-A9E6-6170EFC16A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2664" y="1418897"/>
            <a:ext cx="8775656" cy="5302578"/>
          </a:xfrm>
        </p:spPr>
        <p:txBody>
          <a:bodyPr anchor="t" anchorCtr="0">
            <a:normAutofit/>
          </a:bodyPr>
          <a:lstStyle/>
          <a:p>
            <a:pPr marL="360363" lvl="1" indent="-360363">
              <a:lnSpc>
                <a:spcPct val="140000"/>
              </a:lnSpc>
              <a:buFont typeface="Wingdings" pitchFamily="2" charset="2"/>
              <a:buChar char="Ø"/>
            </a:pPr>
            <a:r>
              <a:rPr lang="zh-CN" altLang="en-US" sz="2800" dirty="0">
                <a:latin typeface="Garamond" panose="02020404030301010803" pitchFamily="18" charset="0"/>
              </a:rPr>
              <a:t>实例：</a:t>
            </a:r>
            <a:r>
              <a:rPr lang="zh-TW" altLang="zh-CN" sz="2800" dirty="0">
                <a:latin typeface="Garamond" panose="02020404030301010803" pitchFamily="18" charset="0"/>
              </a:rPr>
              <a:t>通过合约创建者的地址和</a:t>
            </a:r>
            <a:r>
              <a:rPr lang="en-US" altLang="zh-CN" sz="2800" dirty="0">
                <a:latin typeface="Garamond" panose="02020404030301010803" pitchFamily="18" charset="0"/>
              </a:rPr>
              <a:t>Nonce</a:t>
            </a:r>
            <a:r>
              <a:rPr lang="zh-CN" altLang="en-US" sz="2800" dirty="0">
                <a:latin typeface="Garamond" panose="02020404030301010803" pitchFamily="18" charset="0"/>
              </a:rPr>
              <a:t>生成合约地址</a:t>
            </a:r>
            <a:endParaRPr lang="en-US" altLang="zh-CN" sz="2800" dirty="0">
              <a:latin typeface="Garamond" panose="02020404030301010803" pitchFamily="18" charset="0"/>
            </a:endParaRPr>
          </a:p>
          <a:p>
            <a:pPr lvl="1">
              <a:lnSpc>
                <a:spcPct val="140000"/>
              </a:lnSpc>
            </a:pPr>
            <a:r>
              <a:rPr lang="zh-TW" altLang="zh-CN" dirty="0">
                <a:latin typeface="Garamond" panose="02020404030301010803" pitchFamily="18" charset="0"/>
              </a:rPr>
              <a:t>创建合约的时候需要使用到Nonce值</a:t>
            </a:r>
            <a:endParaRPr lang="en-US" altLang="zh-TW" dirty="0">
              <a:latin typeface="Garamond" panose="02020404030301010803" pitchFamily="18" charset="0"/>
            </a:endParaRPr>
          </a:p>
          <a:p>
            <a:pPr lvl="1">
              <a:lnSpc>
                <a:spcPct val="140000"/>
              </a:lnSpc>
            </a:pPr>
            <a:r>
              <a:rPr lang="zh-TW" altLang="zh-CN" dirty="0">
                <a:latin typeface="Garamond" panose="02020404030301010803" pitchFamily="18" charset="0"/>
              </a:rPr>
              <a:t>当出现合约创建合约的情况的时候，创建其他合约的合约账户的Nonce值便需要改变，</a:t>
            </a:r>
            <a:r>
              <a:rPr lang="zh-CN" altLang="en-US" dirty="0">
                <a:latin typeface="Garamond" panose="02020404030301010803" pitchFamily="18" charset="0"/>
              </a:rPr>
              <a:t>否则该</a:t>
            </a:r>
            <a:r>
              <a:rPr lang="zh-TW" altLang="zh-CN" dirty="0">
                <a:latin typeface="Garamond" panose="02020404030301010803" pitchFamily="18" charset="0"/>
              </a:rPr>
              <a:t>合约账户每一次计算得到的新合约地址都</a:t>
            </a:r>
            <a:r>
              <a:rPr lang="zh-CN" altLang="en-US" dirty="0">
                <a:latin typeface="Garamond" panose="02020404030301010803" pitchFamily="18" charset="0"/>
              </a:rPr>
              <a:t>相同</a:t>
            </a:r>
            <a:endParaRPr lang="zh-CN" altLang="zh-CN" dirty="0">
              <a:latin typeface="Garamond" panose="02020404030301010803" pitchFamily="18" charset="0"/>
            </a:endParaRPr>
          </a:p>
          <a:p>
            <a:pPr lvl="1">
              <a:lnSpc>
                <a:spcPct val="140000"/>
              </a:lnSpc>
            </a:pPr>
            <a:endParaRPr lang="en-US" altLang="zh-CN" dirty="0">
              <a:latin typeface="Garamond" panose="02020404030301010803" pitchFamily="18" charset="0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57EA60E-053E-2142-8FE4-5A692A694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11</a:t>
            </a:fld>
            <a:endParaRPr kumimoji="1" lang="zh-CN" altLang="en-US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5467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55A8A8-0864-814C-A327-6BBA68129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驱动智能合约</a:t>
            </a:r>
          </a:p>
        </p:txBody>
      </p:sp>
      <p:sp>
        <p:nvSpPr>
          <p:cNvPr id="486" name="内容占位符 485">
            <a:extLst>
              <a:ext uri="{FF2B5EF4-FFF2-40B4-BE49-F238E27FC236}">
                <a16:creationId xmlns:a16="http://schemas.microsoft.com/office/drawing/2014/main" id="{5A1600D8-82EA-9E45-A9E6-6170EFC16A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2664" y="1418897"/>
            <a:ext cx="8775656" cy="5302578"/>
          </a:xfrm>
        </p:spPr>
        <p:txBody>
          <a:bodyPr anchor="t" anchorCtr="0">
            <a:normAutofit/>
          </a:bodyPr>
          <a:lstStyle/>
          <a:p>
            <a:pPr marL="360363" lvl="1" indent="-360363">
              <a:lnSpc>
                <a:spcPct val="140000"/>
              </a:lnSpc>
              <a:buFont typeface="Wingdings" pitchFamily="2" charset="2"/>
              <a:buChar char="Ø"/>
            </a:pPr>
            <a:r>
              <a:rPr lang="zh-CN" altLang="en-US" sz="2800" dirty="0"/>
              <a:t>背景</a:t>
            </a:r>
          </a:p>
          <a:p>
            <a:pPr lvl="1">
              <a:lnSpc>
                <a:spcPct val="140000"/>
              </a:lnSpc>
            </a:pPr>
            <a:r>
              <a:rPr lang="zh-TW" altLang="zh-CN" dirty="0"/>
              <a:t>在状态模型的框架下，以太坊的状态通过交易来改变，智能合约的状态变化同样使用交易来实现。</a:t>
            </a:r>
            <a:endParaRPr lang="en-US" altLang="zh-TW" dirty="0"/>
          </a:p>
          <a:p>
            <a:pPr lvl="1">
              <a:lnSpc>
                <a:spcPct val="140000"/>
              </a:lnSpc>
            </a:pPr>
            <a:r>
              <a:rPr lang="zh-TW" altLang="zh-CN" dirty="0"/>
              <a:t>在整个合约的生命周期中，所有的状态变换都是通过执行特定交易来实现的，智能合约的每次运行都是通过交易来驱动。</a:t>
            </a:r>
            <a:endParaRPr lang="zh-CN" altLang="zh-CN" dirty="0"/>
          </a:p>
          <a:p>
            <a:pPr lvl="1">
              <a:lnSpc>
                <a:spcPct val="140000"/>
              </a:lnSpc>
            </a:pPr>
            <a:endParaRPr lang="en-US" altLang="zh-CN" sz="2400" dirty="0">
              <a:solidFill>
                <a:srgbClr val="C00000"/>
              </a:solidFill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57EA60E-053E-2142-8FE4-5A692A694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12</a:t>
            </a:fld>
            <a:endParaRPr kumimoji="1" lang="zh-CN" altLang="en-US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43622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55A8A8-0864-814C-A327-6BBA68129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调用合约</a:t>
            </a:r>
          </a:p>
        </p:txBody>
      </p:sp>
      <p:sp>
        <p:nvSpPr>
          <p:cNvPr id="486" name="内容占位符 485">
            <a:extLst>
              <a:ext uri="{FF2B5EF4-FFF2-40B4-BE49-F238E27FC236}">
                <a16:creationId xmlns:a16="http://schemas.microsoft.com/office/drawing/2014/main" id="{5A1600D8-82EA-9E45-A9E6-6170EFC16A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2664" y="1418897"/>
            <a:ext cx="8775656" cy="5302578"/>
          </a:xfrm>
        </p:spPr>
        <p:txBody>
          <a:bodyPr anchor="t" anchorCtr="0">
            <a:normAutofit/>
          </a:bodyPr>
          <a:lstStyle/>
          <a:p>
            <a:pPr marL="360363" lvl="1" indent="-360363">
              <a:lnSpc>
                <a:spcPct val="140000"/>
              </a:lnSpc>
              <a:buFont typeface="Wingdings" pitchFamily="2" charset="2"/>
              <a:buChar char="Ø"/>
            </a:pPr>
            <a:r>
              <a:rPr lang="zh-CN" altLang="en-US" sz="2800" dirty="0"/>
              <a:t>背景</a:t>
            </a:r>
          </a:p>
          <a:p>
            <a:pPr lvl="1">
              <a:lnSpc>
                <a:spcPct val="140000"/>
              </a:lnSpc>
            </a:pPr>
            <a:r>
              <a:rPr lang="zh-TW" altLang="zh-CN" dirty="0"/>
              <a:t>在一次交易中，以太坊按照事先的约定执行智能合约的代码，最后得到运行的结果</a:t>
            </a:r>
            <a:endParaRPr lang="en-US" altLang="zh-TW" dirty="0"/>
          </a:p>
          <a:p>
            <a:pPr>
              <a:lnSpc>
                <a:spcPct val="140000"/>
              </a:lnSpc>
            </a:pPr>
            <a:r>
              <a:rPr lang="zh-CN" altLang="en-US" dirty="0"/>
              <a:t>定义</a:t>
            </a:r>
            <a:endParaRPr lang="en-US" altLang="zh-TW" dirty="0"/>
          </a:p>
          <a:p>
            <a:pPr lvl="1">
              <a:lnSpc>
                <a:spcPct val="140000"/>
              </a:lnSpc>
            </a:pPr>
            <a:r>
              <a:rPr lang="zh-TW" altLang="zh-CN" dirty="0"/>
              <a:t>智能合约作为交易的接收方，按照交易发起者指定的函数和参数进行执行</a:t>
            </a:r>
            <a:r>
              <a:rPr lang="zh-CN" altLang="en-US" dirty="0"/>
              <a:t>，</a:t>
            </a:r>
            <a:r>
              <a:rPr lang="zh-TW" altLang="zh-CN" dirty="0"/>
              <a:t>这些</a:t>
            </a:r>
            <a:r>
              <a:rPr lang="zh-TW" altLang="zh-CN" dirty="0">
                <a:solidFill>
                  <a:srgbClr val="C00000"/>
                </a:solidFill>
              </a:rPr>
              <a:t>接收者是合约账户地址的交易</a:t>
            </a:r>
            <a:r>
              <a:rPr lang="zh-TW" altLang="zh-CN" dirty="0"/>
              <a:t>也被称作</a:t>
            </a:r>
            <a:r>
              <a:rPr lang="zh-TW" altLang="zh-CN" dirty="0">
                <a:solidFill>
                  <a:srgbClr val="C00000"/>
                </a:solidFill>
              </a:rPr>
              <a:t>合约调用</a:t>
            </a:r>
            <a:endParaRPr lang="en-US" altLang="zh-TW" dirty="0">
              <a:solidFill>
                <a:srgbClr val="C00000"/>
              </a:solidFill>
            </a:endParaRPr>
          </a:p>
          <a:p>
            <a:pPr lvl="1">
              <a:lnSpc>
                <a:spcPct val="140000"/>
              </a:lnSpc>
            </a:pPr>
            <a:endParaRPr lang="en-US" altLang="zh-CN" sz="2400" dirty="0">
              <a:solidFill>
                <a:srgbClr val="C00000"/>
              </a:solidFill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57EA60E-053E-2142-8FE4-5A692A694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13</a:t>
            </a:fld>
            <a:endParaRPr kumimoji="1" lang="zh-CN" altLang="en-US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7374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55A8A8-0864-814C-A327-6BBA68129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调用合约</a:t>
            </a:r>
          </a:p>
        </p:txBody>
      </p:sp>
      <p:sp>
        <p:nvSpPr>
          <p:cNvPr id="486" name="内容占位符 485">
            <a:extLst>
              <a:ext uri="{FF2B5EF4-FFF2-40B4-BE49-F238E27FC236}">
                <a16:creationId xmlns:a16="http://schemas.microsoft.com/office/drawing/2014/main" id="{5A1600D8-82EA-9E45-A9E6-6170EFC16A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2664" y="1418897"/>
            <a:ext cx="8775656" cy="5302578"/>
          </a:xfrm>
        </p:spPr>
        <p:txBody>
          <a:bodyPr anchor="t" anchorCtr="0">
            <a:normAutofit/>
          </a:bodyPr>
          <a:lstStyle/>
          <a:p>
            <a:pPr marL="360363" lvl="1" indent="-360363">
              <a:lnSpc>
                <a:spcPct val="140000"/>
              </a:lnSpc>
              <a:buFont typeface="Wingdings" pitchFamily="2" charset="2"/>
              <a:buChar char="Ø"/>
            </a:pPr>
            <a:r>
              <a:rPr lang="zh-CN" altLang="en-US" sz="2800" dirty="0">
                <a:latin typeface="Garamond" panose="02020404030301010803" pitchFamily="18" charset="0"/>
              </a:rPr>
              <a:t>如何调用合约函数</a:t>
            </a:r>
          </a:p>
          <a:p>
            <a:pPr lvl="1">
              <a:lnSpc>
                <a:spcPct val="140000"/>
              </a:lnSpc>
            </a:pPr>
            <a:r>
              <a:rPr lang="zh-CN" altLang="en-US" dirty="0">
                <a:latin typeface="Garamond" panose="02020404030301010803" pitchFamily="18" charset="0"/>
              </a:rPr>
              <a:t>交易接收方</a:t>
            </a:r>
            <a:endParaRPr lang="en-US" altLang="zh-CN" dirty="0">
              <a:latin typeface="Garamond" panose="02020404030301010803" pitchFamily="18" charset="0"/>
            </a:endParaRPr>
          </a:p>
          <a:p>
            <a:pPr lvl="2">
              <a:lnSpc>
                <a:spcPct val="140000"/>
              </a:lnSpc>
            </a:pPr>
            <a:r>
              <a:rPr lang="zh-CN" altLang="en-US" dirty="0">
                <a:latin typeface="Garamond" panose="02020404030301010803" pitchFamily="18" charset="0"/>
              </a:rPr>
              <a:t>指定智能合约所在地址作为交易接收方</a:t>
            </a:r>
            <a:endParaRPr lang="en-US" altLang="zh-CN" dirty="0">
              <a:latin typeface="Garamond" panose="02020404030301010803" pitchFamily="18" charset="0"/>
            </a:endParaRPr>
          </a:p>
          <a:p>
            <a:pPr lvl="1">
              <a:lnSpc>
                <a:spcPct val="140000"/>
              </a:lnSpc>
            </a:pPr>
            <a:r>
              <a:rPr lang="en-US" altLang="zh-CN" dirty="0">
                <a:latin typeface="Garamond" panose="02020404030301010803" pitchFamily="18" charset="0"/>
              </a:rPr>
              <a:t>data</a:t>
            </a:r>
            <a:r>
              <a:rPr lang="zh-TW" altLang="zh-CN" dirty="0">
                <a:latin typeface="Garamond" panose="02020404030301010803" pitchFamily="18" charset="0"/>
              </a:rPr>
              <a:t>字段</a:t>
            </a:r>
            <a:endParaRPr lang="en-US" altLang="zh-TW" dirty="0">
              <a:latin typeface="Garamond" panose="02020404030301010803" pitchFamily="18" charset="0"/>
            </a:endParaRPr>
          </a:p>
          <a:p>
            <a:pPr lvl="2">
              <a:lnSpc>
                <a:spcPct val="140000"/>
              </a:lnSpc>
            </a:pPr>
            <a:r>
              <a:rPr lang="zh-TW" altLang="zh-CN" dirty="0">
                <a:latin typeface="Garamond" panose="02020404030301010803" pitchFamily="18" charset="0"/>
              </a:rPr>
              <a:t>为了实现调用过程中指定智能合约的不同函数以及携带函数的参数，以太坊在交易中加入了</a:t>
            </a:r>
            <a:r>
              <a:rPr lang="en-US" altLang="zh-CN" dirty="0">
                <a:latin typeface="Garamond" panose="02020404030301010803" pitchFamily="18" charset="0"/>
              </a:rPr>
              <a:t>data</a:t>
            </a:r>
            <a:r>
              <a:rPr lang="zh-TW" altLang="zh-CN" dirty="0">
                <a:latin typeface="Garamond" panose="02020404030301010803" pitchFamily="18" charset="0"/>
              </a:rPr>
              <a:t>字段用于存放这些数据。</a:t>
            </a:r>
            <a:endParaRPr lang="en-US" altLang="zh-TW" dirty="0">
              <a:latin typeface="Garamond" panose="02020404030301010803" pitchFamily="18" charset="0"/>
            </a:endParaRPr>
          </a:p>
          <a:p>
            <a:pPr lvl="1">
              <a:lnSpc>
                <a:spcPct val="140000"/>
              </a:lnSpc>
            </a:pPr>
            <a:r>
              <a:rPr lang="zh-CN" altLang="en-US" dirty="0">
                <a:latin typeface="Garamond" panose="02020404030301010803" pitchFamily="18" charset="0"/>
              </a:rPr>
              <a:t>合约函数索引</a:t>
            </a:r>
            <a:endParaRPr lang="en-US" altLang="zh-CN" dirty="0">
              <a:latin typeface="Garamond" panose="02020404030301010803" pitchFamily="18" charset="0"/>
            </a:endParaRPr>
          </a:p>
          <a:p>
            <a:pPr lvl="2">
              <a:lnSpc>
                <a:spcPct val="140000"/>
              </a:lnSpc>
            </a:pPr>
            <a:r>
              <a:rPr lang="zh-TW" altLang="zh-CN" dirty="0">
                <a:latin typeface="Garamond" panose="02020404030301010803" pitchFamily="18" charset="0"/>
              </a:rPr>
              <a:t>在现有的</a:t>
            </a:r>
            <a:r>
              <a:rPr lang="en-US" altLang="zh-CN" dirty="0">
                <a:latin typeface="Garamond" panose="02020404030301010803" pitchFamily="18" charset="0"/>
              </a:rPr>
              <a:t>ABI</a:t>
            </a:r>
            <a:r>
              <a:rPr lang="zh-TW" altLang="zh-CN" dirty="0">
                <a:latin typeface="Garamond" panose="02020404030301010803" pitchFamily="18" charset="0"/>
              </a:rPr>
              <a:t>约定中，使用了函数名的哈希值作为调用过程中函数的索引，并在这个哈希值的后面附上经过序列化编码的参数。</a:t>
            </a:r>
            <a:endParaRPr lang="zh-CN" altLang="zh-CN" dirty="0">
              <a:latin typeface="Garamond" panose="02020404030301010803" pitchFamily="18" charset="0"/>
            </a:endParaRPr>
          </a:p>
          <a:p>
            <a:pPr lvl="1">
              <a:lnSpc>
                <a:spcPct val="140000"/>
              </a:lnSpc>
            </a:pPr>
            <a:endParaRPr lang="en-US" altLang="zh-CN" sz="2400" dirty="0">
              <a:solidFill>
                <a:srgbClr val="C00000"/>
              </a:solidFill>
              <a:latin typeface="Garamond" panose="02020404030301010803" pitchFamily="18" charset="0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57EA60E-053E-2142-8FE4-5A692A694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14</a:t>
            </a:fld>
            <a:endParaRPr kumimoji="1" lang="zh-CN" altLang="en-US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2581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55A8A8-0864-814C-A327-6BBA68129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调用合约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57EA60E-053E-2142-8FE4-5A692A694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15</a:t>
            </a:fld>
            <a:endParaRPr kumimoji="1" lang="zh-CN" altLang="en-US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1028" name="Picture 4" descr="以太坊 智能合约(六)_不生成交易的智能合约的调用-CSDN博客">
            <a:extLst>
              <a:ext uri="{FF2B5EF4-FFF2-40B4-BE49-F238E27FC236}">
                <a16:creationId xmlns:a16="http://schemas.microsoft.com/office/drawing/2014/main" id="{CEF99477-7CE9-495E-9DF2-7740BD996E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31950"/>
            <a:ext cx="12192000" cy="5226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823007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55A8A8-0864-814C-A327-6BBA68129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调用合约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57EA60E-053E-2142-8FE4-5A692A694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16</a:t>
            </a:fld>
            <a:endParaRPr kumimoji="1" lang="zh-CN" altLang="en-US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11" name="表格 10"/>
          <p:cNvGraphicFramePr>
            <a:graphicFrameLocks noGrp="1"/>
          </p:cNvGraphicFramePr>
          <p:nvPr/>
        </p:nvGraphicFramePr>
        <p:xfrm>
          <a:off x="1718756" y="4543231"/>
          <a:ext cx="5556251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56251">
                  <a:extLst>
                    <a:ext uri="{9D8B030D-6E8A-4147-A177-3AD203B41FA5}">
                      <a16:colId xmlns:a16="http://schemas.microsoft.com/office/drawing/2014/main" val="4534824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2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0x5499F82BE656085c9636d85b559df2B17d5db33A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3995539"/>
                  </a:ext>
                </a:extLst>
              </a:tr>
            </a:tbl>
          </a:graphicData>
        </a:graphic>
      </p:graphicFrame>
      <p:graphicFrame>
        <p:nvGraphicFramePr>
          <p:cNvPr id="12" name="表格 11"/>
          <p:cNvGraphicFramePr>
            <a:graphicFrameLocks noGrp="1"/>
          </p:cNvGraphicFramePr>
          <p:nvPr/>
        </p:nvGraphicFramePr>
        <p:xfrm>
          <a:off x="1718756" y="6147547"/>
          <a:ext cx="1548319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8319">
                  <a:extLst>
                    <a:ext uri="{9D8B030D-6E8A-4147-A177-3AD203B41FA5}">
                      <a16:colId xmlns:a16="http://schemas.microsoft.com/office/drawing/2014/main" val="4534824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2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0xddb774da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3995539"/>
                  </a:ext>
                </a:extLst>
              </a:tr>
            </a:tbl>
          </a:graphicData>
        </a:graphic>
      </p:graphicFrame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38200" y="1510757"/>
            <a:ext cx="10515600" cy="5128581"/>
          </a:xfrm>
        </p:spPr>
        <p:txBody>
          <a:bodyPr/>
          <a:lstStyle/>
          <a:p>
            <a:pPr>
              <a:lnSpc>
                <a:spcPct val="140000"/>
              </a:lnSpc>
            </a:pPr>
            <a:r>
              <a:rPr lang="zh-CN" altLang="en-US" dirty="0">
                <a:latin typeface="Garamond" panose="02020404030301010803" pitchFamily="18" charset="0"/>
              </a:rPr>
              <a:t>实例：智能合约的调用</a:t>
            </a:r>
            <a:endParaRPr lang="en-US" altLang="zh-CN" dirty="0">
              <a:latin typeface="Garamond" panose="02020404030301010803" pitchFamily="18" charset="0"/>
            </a:endParaRPr>
          </a:p>
          <a:p>
            <a:pPr lvl="1">
              <a:lnSpc>
                <a:spcPct val="140000"/>
              </a:lnSpc>
            </a:pPr>
            <a:r>
              <a:rPr lang="zh-TW" altLang="zh-CN" dirty="0">
                <a:latin typeface="Garamond" panose="02020404030301010803" pitchFamily="18" charset="0"/>
              </a:rPr>
              <a:t>调用信息合约中的</a:t>
            </a:r>
            <a:r>
              <a:rPr lang="en-US" altLang="zh-CN" dirty="0">
                <a:latin typeface="Garamond" panose="02020404030301010803" pitchFamily="18" charset="0"/>
              </a:rPr>
              <a:t>Grow(int256, int256) </a:t>
            </a:r>
            <a:r>
              <a:rPr lang="zh-TW" altLang="zh-CN" dirty="0">
                <a:latin typeface="Garamond" panose="02020404030301010803" pitchFamily="18" charset="0"/>
              </a:rPr>
              <a:t>函数，</a:t>
            </a:r>
            <a:r>
              <a:rPr lang="zh-CN" altLang="en-US" dirty="0">
                <a:latin typeface="Garamond" panose="02020404030301010803" pitchFamily="18" charset="0"/>
              </a:rPr>
              <a:t>需要</a:t>
            </a:r>
            <a:r>
              <a:rPr lang="zh-TW" altLang="zh-CN" dirty="0">
                <a:latin typeface="Garamond" panose="02020404030301010803" pitchFamily="18" charset="0"/>
              </a:rPr>
              <a:t>知道</a:t>
            </a:r>
            <a:endParaRPr lang="en-US" altLang="zh-TW" dirty="0">
              <a:latin typeface="Garamond" panose="02020404030301010803" pitchFamily="18" charset="0"/>
            </a:endParaRPr>
          </a:p>
          <a:p>
            <a:pPr lvl="2">
              <a:lnSpc>
                <a:spcPct val="140000"/>
              </a:lnSpc>
            </a:pPr>
            <a:r>
              <a:rPr lang="zh-TW" altLang="zh-CN" dirty="0">
                <a:latin typeface="Garamond" panose="02020404030301010803" pitchFamily="18" charset="0"/>
              </a:rPr>
              <a:t>合约账户地址</a:t>
            </a:r>
            <a:endParaRPr lang="en-US" altLang="zh-TW" dirty="0">
              <a:latin typeface="Garamond" panose="02020404030301010803" pitchFamily="18" charset="0"/>
            </a:endParaRPr>
          </a:p>
          <a:p>
            <a:pPr lvl="2">
              <a:lnSpc>
                <a:spcPct val="140000"/>
              </a:lnSpc>
            </a:pPr>
            <a:r>
              <a:rPr lang="zh-TW" altLang="zh-CN" dirty="0">
                <a:latin typeface="Garamond" panose="02020404030301010803" pitchFamily="18" charset="0"/>
              </a:rPr>
              <a:t>被调用的合约函数</a:t>
            </a:r>
            <a:endParaRPr lang="en-US" altLang="zh-TW" dirty="0">
              <a:latin typeface="Garamond" panose="02020404030301010803" pitchFamily="18" charset="0"/>
            </a:endParaRPr>
          </a:p>
          <a:p>
            <a:pPr lvl="1">
              <a:lnSpc>
                <a:spcPct val="140000"/>
              </a:lnSpc>
            </a:pPr>
            <a:r>
              <a:rPr lang="zh-CN" altLang="en-US" dirty="0">
                <a:latin typeface="Garamond" panose="02020404030301010803" pitchFamily="18" charset="0"/>
              </a:rPr>
              <a:t>合约账户地址</a:t>
            </a:r>
            <a:endParaRPr lang="en-US" altLang="zh-CN" dirty="0">
              <a:latin typeface="Garamond" panose="02020404030301010803" pitchFamily="18" charset="0"/>
            </a:endParaRPr>
          </a:p>
          <a:p>
            <a:pPr lvl="1">
              <a:lnSpc>
                <a:spcPct val="140000"/>
              </a:lnSpc>
            </a:pPr>
            <a:endParaRPr lang="en-US" altLang="zh-CN" dirty="0">
              <a:latin typeface="Garamond" panose="02020404030301010803" pitchFamily="18" charset="0"/>
            </a:endParaRPr>
          </a:p>
          <a:p>
            <a:pPr lvl="1">
              <a:lnSpc>
                <a:spcPct val="140000"/>
              </a:lnSpc>
            </a:pPr>
            <a:r>
              <a:rPr lang="zh-CN" altLang="en-US" dirty="0">
                <a:latin typeface="Garamond" panose="02020404030301010803" pitchFamily="18" charset="0"/>
              </a:rPr>
              <a:t>被调用的合约函数</a:t>
            </a:r>
            <a:endParaRPr lang="en-US" altLang="zh-CN" dirty="0">
              <a:latin typeface="Garamond" panose="02020404030301010803" pitchFamily="18" charset="0"/>
            </a:endParaRPr>
          </a:p>
          <a:p>
            <a:pPr lvl="2">
              <a:lnSpc>
                <a:spcPct val="140000"/>
              </a:lnSpc>
            </a:pPr>
            <a:r>
              <a:rPr lang="zh-TW" altLang="zh-CN" dirty="0">
                <a:latin typeface="Garamond" panose="02020404030301010803" pitchFamily="18" charset="0"/>
              </a:rPr>
              <a:t>计算</a:t>
            </a:r>
            <a:r>
              <a:rPr lang="en-US" altLang="zh-CN" dirty="0">
                <a:latin typeface="Garamond" panose="02020404030301010803" pitchFamily="18" charset="0"/>
              </a:rPr>
              <a:t>Grow(int256, int256)</a:t>
            </a:r>
            <a:r>
              <a:rPr lang="zh-CN" altLang="en-US" dirty="0">
                <a:latin typeface="Garamond" panose="02020404030301010803" pitchFamily="18" charset="0"/>
              </a:rPr>
              <a:t>的</a:t>
            </a:r>
            <a:r>
              <a:rPr lang="en-US" altLang="zh-CN" dirty="0">
                <a:latin typeface="Garamond" panose="02020404030301010803" pitchFamily="18" charset="0"/>
              </a:rPr>
              <a:t>SHA256</a:t>
            </a:r>
            <a:r>
              <a:rPr lang="zh-TW" altLang="zh-CN" dirty="0">
                <a:latin typeface="Garamond" panose="02020404030301010803" pitchFamily="18" charset="0"/>
              </a:rPr>
              <a:t>哈希值并取前</a:t>
            </a:r>
            <a:r>
              <a:rPr lang="en-US" altLang="zh-CN" dirty="0">
                <a:latin typeface="Garamond" panose="02020404030301010803" pitchFamily="18" charset="0"/>
              </a:rPr>
              <a:t>64</a:t>
            </a:r>
            <a:r>
              <a:rPr lang="zh-TW" altLang="zh-CN" dirty="0">
                <a:latin typeface="Garamond" panose="02020404030301010803" pitchFamily="18" charset="0"/>
              </a:rPr>
              <a:t>位，</a:t>
            </a:r>
            <a:r>
              <a:rPr lang="zh-CN" altLang="en-US" dirty="0">
                <a:latin typeface="Garamond" panose="02020404030301010803" pitchFamily="18" charset="0"/>
              </a:rPr>
              <a:t>得到</a:t>
            </a:r>
            <a:endParaRPr lang="en-US" altLang="zh-CN" dirty="0">
              <a:latin typeface="Garamond" panose="02020404030301010803" pitchFamily="18" charset="0"/>
            </a:endParaRPr>
          </a:p>
          <a:p>
            <a:pPr lvl="1">
              <a:lnSpc>
                <a:spcPct val="140000"/>
              </a:lnSpc>
            </a:pPr>
            <a:endParaRPr lang="en-US" altLang="zh-CN" dirty="0">
              <a:latin typeface="Garamond" panose="02020404030301010803" pitchFamily="18" charset="0"/>
            </a:endParaRPr>
          </a:p>
          <a:p>
            <a:pPr marL="0" indent="0">
              <a:buNone/>
            </a:pPr>
            <a:endParaRPr lang="zh-CN" altLang="en-US" dirty="0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86532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55A8A8-0864-814C-A327-6BBA68129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调用合约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57EA60E-053E-2142-8FE4-5A692A694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17</a:t>
            </a:fld>
            <a:endParaRPr kumimoji="1" lang="zh-CN" altLang="en-US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9" name="图片 8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30355" y="4309442"/>
            <a:ext cx="5131290" cy="2271559"/>
          </a:xfrm>
          <a:prstGeom prst="rect">
            <a:avLst/>
          </a:prstGeom>
          <a:noFill/>
        </p:spPr>
      </p:pic>
      <p:sp>
        <p:nvSpPr>
          <p:cNvPr id="5" name="文本框 4"/>
          <p:cNvSpPr txBox="1"/>
          <p:nvPr/>
        </p:nvSpPr>
        <p:spPr>
          <a:xfrm>
            <a:off x="5465058" y="6538138"/>
            <a:ext cx="12618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1200" dirty="0"/>
              <a:t>智能合约的调</a:t>
            </a:r>
            <a:r>
              <a:rPr lang="zh-CN" altLang="en-US" sz="1200" dirty="0"/>
              <a:t>用</a:t>
            </a:r>
          </a:p>
        </p:txBody>
      </p:sp>
      <p:sp>
        <p:nvSpPr>
          <p:cNvPr id="12" name="内容占位符 1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40000"/>
              </a:lnSpc>
            </a:pPr>
            <a:r>
              <a:rPr lang="zh-CN" altLang="en-US" sz="2400" dirty="0">
                <a:latin typeface="Garamond" panose="02020404030301010803" pitchFamily="18" charset="0"/>
              </a:rPr>
              <a:t>实例：调用智能合约函数</a:t>
            </a:r>
            <a:r>
              <a:rPr lang="en-US" altLang="zh-CN" sz="2400" dirty="0">
                <a:latin typeface="Garamond" panose="02020404030301010803" pitchFamily="18" charset="0"/>
              </a:rPr>
              <a:t>Grow(1,1)</a:t>
            </a:r>
          </a:p>
          <a:p>
            <a:pPr lvl="1">
              <a:lnSpc>
                <a:spcPct val="140000"/>
              </a:lnSpc>
            </a:pPr>
            <a:r>
              <a:rPr lang="zh-CN" altLang="en-US" sz="2000" dirty="0">
                <a:latin typeface="Garamond" panose="02020404030301010803" pitchFamily="18" charset="0"/>
              </a:rPr>
              <a:t>构造交易</a:t>
            </a:r>
            <a:endParaRPr lang="en-US" altLang="zh-CN" sz="2000" dirty="0">
              <a:latin typeface="Garamond" panose="02020404030301010803" pitchFamily="18" charset="0"/>
            </a:endParaRPr>
          </a:p>
          <a:p>
            <a:pPr lvl="2">
              <a:lnSpc>
                <a:spcPct val="140000"/>
              </a:lnSpc>
            </a:pPr>
            <a:r>
              <a:rPr lang="zh-CN" altLang="en-US" sz="1800" dirty="0">
                <a:latin typeface="Garamond" panose="02020404030301010803" pitchFamily="18" charset="0"/>
              </a:rPr>
              <a:t>交易接收方：合约账户地址</a:t>
            </a:r>
            <a:endParaRPr lang="en-US" altLang="zh-CN" sz="1800" dirty="0">
              <a:latin typeface="Garamond" panose="02020404030301010803" pitchFamily="18" charset="0"/>
            </a:endParaRPr>
          </a:p>
          <a:p>
            <a:pPr lvl="2">
              <a:lnSpc>
                <a:spcPct val="140000"/>
              </a:lnSpc>
            </a:pPr>
            <a:r>
              <a:rPr lang="en-US" altLang="zh-CN" sz="1800" dirty="0">
                <a:latin typeface="Garamond" panose="02020404030301010803" pitchFamily="18" charset="0"/>
              </a:rPr>
              <a:t>Data</a:t>
            </a:r>
            <a:r>
              <a:rPr lang="zh-CN" altLang="en-US" sz="1800" dirty="0">
                <a:latin typeface="Garamond" panose="02020404030301010803" pitchFamily="18" charset="0"/>
              </a:rPr>
              <a:t>字段：</a:t>
            </a:r>
            <a:r>
              <a:rPr lang="en-US" altLang="zh-CN" sz="1800" dirty="0">
                <a:latin typeface="Garamond" panose="02020404030301010803" pitchFamily="18" charset="0"/>
              </a:rPr>
              <a:t>0xddbb774da0000…00010000…0001</a:t>
            </a:r>
          </a:p>
          <a:p>
            <a:pPr lvl="3">
              <a:lnSpc>
                <a:spcPct val="140000"/>
              </a:lnSpc>
            </a:pPr>
            <a:r>
              <a:rPr lang="en-US" altLang="zh-CN" sz="1600" dirty="0">
                <a:latin typeface="Garamond" panose="02020404030301010803" pitchFamily="18" charset="0"/>
              </a:rPr>
              <a:t>0xddb774da</a:t>
            </a:r>
            <a:r>
              <a:rPr lang="zh-TW" altLang="zh-CN" sz="1600" dirty="0">
                <a:latin typeface="Garamond" panose="02020404030301010803" pitchFamily="18" charset="0"/>
              </a:rPr>
              <a:t>是要调用的函数</a:t>
            </a:r>
            <a:endParaRPr lang="en-US" altLang="zh-TW" sz="1600" dirty="0">
              <a:latin typeface="Garamond" panose="02020404030301010803" pitchFamily="18" charset="0"/>
            </a:endParaRPr>
          </a:p>
          <a:p>
            <a:pPr lvl="3">
              <a:lnSpc>
                <a:spcPct val="140000"/>
              </a:lnSpc>
            </a:pPr>
            <a:r>
              <a:rPr lang="en-US" altLang="zh-CN" sz="1600" dirty="0">
                <a:latin typeface="Garamond" panose="02020404030301010803" pitchFamily="18" charset="0"/>
              </a:rPr>
              <a:t>0x0000…0001</a:t>
            </a:r>
            <a:r>
              <a:rPr lang="zh-TW" altLang="zh-CN" sz="1600" dirty="0">
                <a:latin typeface="Garamond" panose="02020404030301010803" pitchFamily="18" charset="0"/>
              </a:rPr>
              <a:t>和</a:t>
            </a:r>
            <a:r>
              <a:rPr lang="en-US" altLang="zh-CN" sz="1600" dirty="0">
                <a:latin typeface="Garamond" panose="02020404030301010803" pitchFamily="18" charset="0"/>
              </a:rPr>
              <a:t>0x0000…0001</a:t>
            </a:r>
            <a:r>
              <a:rPr lang="zh-TW" altLang="zh-CN" sz="1600" dirty="0">
                <a:latin typeface="Garamond" panose="02020404030301010803" pitchFamily="18" charset="0"/>
              </a:rPr>
              <a:t>是</a:t>
            </a:r>
            <a:r>
              <a:rPr lang="en-US" altLang="zh-CN" sz="1600" dirty="0">
                <a:latin typeface="Garamond" panose="02020404030301010803" pitchFamily="18" charset="0"/>
              </a:rPr>
              <a:t>256</a:t>
            </a:r>
            <a:r>
              <a:rPr lang="zh-TW" altLang="zh-CN" sz="1600" dirty="0">
                <a:latin typeface="Garamond" panose="02020404030301010803" pitchFamily="18" charset="0"/>
              </a:rPr>
              <a:t>位的参数</a:t>
            </a:r>
            <a:endParaRPr lang="en-US" altLang="zh-TW" sz="1600" dirty="0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95667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55A8A8-0864-814C-A327-6BBA68129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创建合约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57EA60E-053E-2142-8FE4-5A692A694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18</a:t>
            </a:fld>
            <a:endParaRPr kumimoji="1" lang="zh-CN" altLang="en-US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背景</a:t>
            </a:r>
            <a:endParaRPr lang="en-US" altLang="zh-CN" dirty="0"/>
          </a:p>
          <a:p>
            <a:pPr lvl="1">
              <a:lnSpc>
                <a:spcPct val="140000"/>
              </a:lnSpc>
            </a:pPr>
            <a:r>
              <a:rPr lang="zh-CN" altLang="en-US" dirty="0"/>
              <a:t>智能合约的代码存储在账户之中，账户中的代码从无到有同样也是一种状态的变化</a:t>
            </a:r>
            <a:endParaRPr lang="en-US" altLang="zh-CN" dirty="0"/>
          </a:p>
          <a:p>
            <a:pPr>
              <a:lnSpc>
                <a:spcPct val="140000"/>
              </a:lnSpc>
            </a:pPr>
            <a:r>
              <a:rPr lang="zh-CN" altLang="en-US" dirty="0"/>
              <a:t>定义</a:t>
            </a:r>
          </a:p>
          <a:p>
            <a:pPr lvl="1">
              <a:lnSpc>
                <a:spcPct val="140000"/>
              </a:lnSpc>
            </a:pPr>
            <a:r>
              <a:rPr lang="zh-CN" altLang="en-US" dirty="0"/>
              <a:t>通过</a:t>
            </a:r>
            <a:r>
              <a:rPr lang="zh-CN" altLang="en-US" dirty="0">
                <a:solidFill>
                  <a:srgbClr val="C00000"/>
                </a:solidFill>
              </a:rPr>
              <a:t>发送交易将代码存储到以太坊的合约账户之中</a:t>
            </a:r>
            <a:r>
              <a:rPr lang="zh-CN" altLang="en-US" dirty="0"/>
              <a:t>，这个过程便是</a:t>
            </a:r>
            <a:r>
              <a:rPr lang="zh-CN" altLang="en-US" dirty="0">
                <a:solidFill>
                  <a:srgbClr val="C00000"/>
                </a:solidFill>
              </a:rPr>
              <a:t>合约的创建</a:t>
            </a:r>
            <a:r>
              <a:rPr lang="zh-CN" altLang="en-US" dirty="0"/>
              <a:t>，也叫作合约的部署</a:t>
            </a:r>
          </a:p>
          <a:p>
            <a:pPr marL="0" indent="0">
              <a:buNone/>
            </a:pPr>
            <a:endParaRPr lang="en-US" altLang="zh-CN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51662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55A8A8-0864-814C-A327-6BBA68129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创建合约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57EA60E-053E-2142-8FE4-5A692A694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19</a:t>
            </a:fld>
            <a:endParaRPr kumimoji="1" lang="zh-CN" altLang="en-US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dirty="0"/>
              <a:t>智能合约的创建问题</a:t>
            </a:r>
            <a:endParaRPr lang="en-US" altLang="zh-CN" dirty="0"/>
          </a:p>
          <a:p>
            <a:pPr lvl="1">
              <a:lnSpc>
                <a:spcPct val="130000"/>
              </a:lnSpc>
            </a:pPr>
            <a:r>
              <a:rPr lang="zh-CN" altLang="en-US" dirty="0"/>
              <a:t>发送交易的时候，不会有合约账户地址和合约账户</a:t>
            </a:r>
          </a:p>
          <a:p>
            <a:pPr lvl="1">
              <a:lnSpc>
                <a:spcPct val="130000"/>
              </a:lnSpc>
            </a:pPr>
            <a:r>
              <a:rPr lang="zh-CN" altLang="en-US" dirty="0"/>
              <a:t>发送交易的时候，不会有可以被执行的智能合约代码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4605340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55A8A8-0864-814C-A327-6BBA68129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创建合约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57EA60E-053E-2142-8FE4-5A692A694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20</a:t>
            </a:fld>
            <a:endParaRPr kumimoji="1" lang="zh-CN" altLang="en-US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dirty="0">
                <a:latin typeface="Garamond" panose="02020404030301010803" pitchFamily="18" charset="0"/>
              </a:rPr>
              <a:t>以太坊的特殊化处理</a:t>
            </a:r>
            <a:endParaRPr lang="en-US" altLang="zh-CN" dirty="0">
              <a:latin typeface="Garamond" panose="02020404030301010803" pitchFamily="18" charset="0"/>
            </a:endParaRPr>
          </a:p>
          <a:p>
            <a:pPr lvl="1">
              <a:lnSpc>
                <a:spcPct val="130000"/>
              </a:lnSpc>
            </a:pPr>
            <a:r>
              <a:rPr lang="zh-CN" altLang="en-US" sz="2000" dirty="0">
                <a:latin typeface="Garamond" panose="02020404030301010803" pitchFamily="18" charset="0"/>
              </a:rPr>
              <a:t>创建合约的交易没有接收地址，交易中的</a:t>
            </a:r>
            <a:r>
              <a:rPr lang="en-US" altLang="zh-CN" sz="2000" b="1" dirty="0">
                <a:solidFill>
                  <a:srgbClr val="5B307E"/>
                </a:solidFill>
                <a:latin typeface="Garamond" panose="02020404030301010803" pitchFamily="18" charset="0"/>
              </a:rPr>
              <a:t>To</a:t>
            </a:r>
            <a:r>
              <a:rPr lang="zh-CN" altLang="en-US" sz="2000" b="1" dirty="0">
                <a:solidFill>
                  <a:srgbClr val="5B307E"/>
                </a:solidFill>
                <a:latin typeface="Garamond" panose="02020404030301010803" pitchFamily="18" charset="0"/>
              </a:rPr>
              <a:t>字段始终为</a:t>
            </a:r>
            <a:r>
              <a:rPr lang="en-US" altLang="zh-CN" sz="2000" b="1" dirty="0">
                <a:solidFill>
                  <a:srgbClr val="5B307E"/>
                </a:solidFill>
                <a:latin typeface="Garamond" panose="02020404030301010803" pitchFamily="18" charset="0"/>
              </a:rPr>
              <a:t>0</a:t>
            </a:r>
            <a:r>
              <a:rPr lang="zh-CN" altLang="en-US" sz="2000" dirty="0">
                <a:latin typeface="Garamond" panose="02020404030301010803" pitchFamily="18" charset="0"/>
              </a:rPr>
              <a:t>。同样地，对于一个接收地址为</a:t>
            </a:r>
            <a:r>
              <a:rPr lang="en-US" altLang="zh-CN" sz="2000" dirty="0">
                <a:latin typeface="Garamond" panose="02020404030301010803" pitchFamily="18" charset="0"/>
              </a:rPr>
              <a:t>0</a:t>
            </a:r>
            <a:r>
              <a:rPr lang="zh-CN" altLang="en-US" sz="2000" dirty="0">
                <a:latin typeface="Garamond" panose="02020404030301010803" pitchFamily="18" charset="0"/>
              </a:rPr>
              <a:t>的交易，以太坊都会认为是一个创建合约的交易。在检查交易无误之后，以太坊会根据发送者的地址和</a:t>
            </a:r>
            <a:r>
              <a:rPr lang="en-US" altLang="zh-CN" sz="2000" dirty="0">
                <a:latin typeface="Garamond" panose="02020404030301010803" pitchFamily="18" charset="0"/>
              </a:rPr>
              <a:t>Nonce</a:t>
            </a:r>
            <a:r>
              <a:rPr lang="zh-CN" altLang="en-US" sz="2000" dirty="0">
                <a:latin typeface="Garamond" panose="02020404030301010803" pitchFamily="18" charset="0"/>
              </a:rPr>
              <a:t>值计算出这个交易创建的合约的账户地址</a:t>
            </a:r>
            <a:endParaRPr lang="en-US" altLang="zh-CN" sz="2000" dirty="0">
              <a:latin typeface="Garamond" panose="02020404030301010803" pitchFamily="18" charset="0"/>
            </a:endParaRPr>
          </a:p>
          <a:p>
            <a:pPr lvl="1">
              <a:lnSpc>
                <a:spcPct val="130000"/>
              </a:lnSpc>
            </a:pPr>
            <a:r>
              <a:rPr lang="zh-TW" altLang="zh-CN" sz="2000" dirty="0">
                <a:latin typeface="Garamond" panose="02020404030301010803" pitchFamily="18" charset="0"/>
              </a:rPr>
              <a:t>交易的</a:t>
            </a:r>
            <a:r>
              <a:rPr lang="en-US" altLang="zh-CN" sz="2000" dirty="0">
                <a:latin typeface="Garamond" panose="02020404030301010803" pitchFamily="18" charset="0"/>
              </a:rPr>
              <a:t>data</a:t>
            </a:r>
            <a:r>
              <a:rPr lang="zh-TW" altLang="zh-CN" sz="2000" dirty="0">
                <a:latin typeface="Garamond" panose="02020404030301010803" pitchFamily="18" charset="0"/>
              </a:rPr>
              <a:t>字段不再是作为执行过程中的参数，而是直接运行交易</a:t>
            </a:r>
            <a:r>
              <a:rPr lang="en-US" altLang="zh-CN" sz="2000" dirty="0">
                <a:latin typeface="Garamond" panose="02020404030301010803" pitchFamily="18" charset="0"/>
              </a:rPr>
              <a:t>data</a:t>
            </a:r>
            <a:r>
              <a:rPr lang="zh-TW" altLang="zh-CN" sz="2000" dirty="0">
                <a:latin typeface="Garamond" panose="02020404030301010803" pitchFamily="18" charset="0"/>
              </a:rPr>
              <a:t>字段中的内容。创建合约的时候，需要将合约的代码和一些初始化的代码放置到交易的</a:t>
            </a:r>
            <a:r>
              <a:rPr lang="en-US" altLang="zh-CN" sz="2000" dirty="0">
                <a:latin typeface="Garamond" panose="02020404030301010803" pitchFamily="18" charset="0"/>
              </a:rPr>
              <a:t>data</a:t>
            </a:r>
            <a:r>
              <a:rPr lang="zh-TW" altLang="zh-CN" sz="2000" dirty="0">
                <a:latin typeface="Garamond" panose="02020404030301010803" pitchFamily="18" charset="0"/>
              </a:rPr>
              <a:t>字段之中，</a:t>
            </a:r>
            <a:r>
              <a:rPr lang="zh-TW" altLang="zh-CN" sz="2000" b="1" dirty="0">
                <a:solidFill>
                  <a:srgbClr val="5B307E"/>
                </a:solidFill>
                <a:latin typeface="Garamond" panose="02020404030301010803" pitchFamily="18" charset="0"/>
              </a:rPr>
              <a:t>经过运行之后得到合约的初始状态</a:t>
            </a:r>
            <a:r>
              <a:rPr lang="zh-TW" altLang="zh-CN" sz="2000" dirty="0">
                <a:latin typeface="Garamond" panose="02020404030301010803" pitchFamily="18" charset="0"/>
              </a:rPr>
              <a:t>。</a:t>
            </a:r>
            <a:endParaRPr lang="zh-CN" altLang="en-US" sz="2000" dirty="0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31679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55A8A8-0864-814C-A327-6BBA68129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>
                <a:latin typeface="Garamond" panose="02020404030301010803" pitchFamily="18" charset="0"/>
              </a:rPr>
              <a:t>停机问题与</a:t>
            </a:r>
            <a:r>
              <a:rPr kumimoji="1" lang="en-US" altLang="zh-CN" dirty="0">
                <a:latin typeface="Garamond" panose="02020404030301010803" pitchFamily="18" charset="0"/>
              </a:rPr>
              <a:t>Gas</a:t>
            </a:r>
            <a:endParaRPr kumimoji="1" lang="zh-CN" altLang="en-US" dirty="0">
              <a:latin typeface="Garamond" panose="02020404030301010803" pitchFamily="18" charset="0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57EA60E-053E-2142-8FE4-5A692A694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21</a:t>
            </a:fld>
            <a:endParaRPr kumimoji="1" lang="zh-CN" altLang="en-US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dirty="0"/>
              <a:t>背景</a:t>
            </a:r>
            <a:endParaRPr lang="en-US" altLang="zh-CN" dirty="0"/>
          </a:p>
          <a:p>
            <a:pPr lvl="1">
              <a:lnSpc>
                <a:spcPct val="130000"/>
              </a:lnSpc>
            </a:pPr>
            <a:r>
              <a:rPr lang="zh-CN" altLang="en-US" dirty="0"/>
              <a:t>一个交易如果调用的智能合约存在死循环，那么这个交易的执行将不会停止，这对于整个以太坊系统来说是一个严重的打击</a:t>
            </a:r>
            <a:endParaRPr lang="en-US" altLang="zh-CN" dirty="0"/>
          </a:p>
          <a:p>
            <a:pPr lvl="1">
              <a:lnSpc>
                <a:spcPct val="130000"/>
              </a:lnSpc>
            </a:pPr>
            <a:r>
              <a:rPr lang="zh-CN" altLang="en-US" dirty="0"/>
              <a:t>停机问题</a:t>
            </a:r>
            <a:endParaRPr lang="en-US" altLang="zh-CN" dirty="0"/>
          </a:p>
          <a:p>
            <a:pPr lvl="2">
              <a:lnSpc>
                <a:spcPct val="130000"/>
              </a:lnSpc>
            </a:pPr>
            <a:r>
              <a:rPr lang="zh-CN" altLang="en-US" dirty="0"/>
              <a:t>对于</a:t>
            </a:r>
            <a:r>
              <a:rPr lang="zh-TW" altLang="zh-CN" dirty="0"/>
              <a:t>一个图灵机而言，任何人都不可能判断它是不是能够在有限的时间内结束运行</a:t>
            </a:r>
            <a:endParaRPr lang="en-US" altLang="zh-CN" dirty="0"/>
          </a:p>
          <a:p>
            <a:pPr lvl="1">
              <a:lnSpc>
                <a:spcPct val="130000"/>
              </a:lnSpc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2406710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55A8A8-0864-814C-A327-6BBA68129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>
                <a:latin typeface="Garamond" panose="02020404030301010803" pitchFamily="18" charset="0"/>
              </a:rPr>
              <a:t>停机问题与</a:t>
            </a:r>
            <a:r>
              <a:rPr kumimoji="1" lang="en-US" altLang="zh-CN" dirty="0">
                <a:latin typeface="Garamond" panose="02020404030301010803" pitchFamily="18" charset="0"/>
              </a:rPr>
              <a:t>Gas</a:t>
            </a:r>
            <a:endParaRPr kumimoji="1" lang="zh-CN" altLang="en-US" dirty="0">
              <a:latin typeface="Garamond" panose="02020404030301010803" pitchFamily="18" charset="0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57EA60E-053E-2142-8FE4-5A692A694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22</a:t>
            </a:fld>
            <a:endParaRPr kumimoji="1" lang="zh-CN" altLang="en-US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838200" y="1510758"/>
            <a:ext cx="10515600" cy="2961849"/>
          </a:xfrm>
        </p:spPr>
        <p:txBody>
          <a:bodyPr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dirty="0">
                <a:latin typeface="Garamond" panose="02020404030301010803" pitchFamily="18" charset="0"/>
              </a:rPr>
              <a:t>Gas</a:t>
            </a:r>
            <a:r>
              <a:rPr lang="zh-CN" altLang="en-US" dirty="0">
                <a:latin typeface="Garamond" panose="02020404030301010803" pitchFamily="18" charset="0"/>
              </a:rPr>
              <a:t>机制：保证智能合约能够在有限时间内能够终止</a:t>
            </a:r>
            <a:endParaRPr lang="en-US" altLang="zh-CN" dirty="0">
              <a:latin typeface="Garamond" panose="02020404030301010803" pitchFamily="18" charset="0"/>
            </a:endParaRPr>
          </a:p>
          <a:p>
            <a:pPr lvl="1">
              <a:lnSpc>
                <a:spcPct val="130000"/>
              </a:lnSpc>
            </a:pPr>
            <a:r>
              <a:rPr lang="zh-TW" altLang="zh-CN" dirty="0">
                <a:latin typeface="Garamond" panose="02020404030301010803" pitchFamily="18" charset="0"/>
              </a:rPr>
              <a:t>以太坊智能合约运行的每一个操作都规定了需要消耗的</a:t>
            </a:r>
            <a:r>
              <a:rPr lang="en-US" altLang="zh-CN" dirty="0">
                <a:latin typeface="Garamond" panose="02020404030301010803" pitchFamily="18" charset="0"/>
              </a:rPr>
              <a:t>Gas</a:t>
            </a:r>
            <a:r>
              <a:rPr lang="zh-TW" altLang="zh-CN" dirty="0">
                <a:latin typeface="Garamond" panose="02020404030301010803" pitchFamily="18" charset="0"/>
              </a:rPr>
              <a:t>的数值，并要求交易的发起者预先支付</a:t>
            </a:r>
            <a:r>
              <a:rPr lang="en-US" altLang="zh-CN" dirty="0">
                <a:latin typeface="Garamond" panose="02020404030301010803" pitchFamily="18" charset="0"/>
              </a:rPr>
              <a:t>Gas</a:t>
            </a:r>
            <a:r>
              <a:rPr lang="zh-TW" altLang="zh-CN" dirty="0">
                <a:latin typeface="Garamond" panose="02020404030301010803" pitchFamily="18" charset="0"/>
              </a:rPr>
              <a:t>额度</a:t>
            </a:r>
            <a:endParaRPr lang="en-US" altLang="zh-TW" dirty="0">
              <a:latin typeface="Garamond" panose="02020404030301010803" pitchFamily="18" charset="0"/>
            </a:endParaRPr>
          </a:p>
          <a:p>
            <a:pPr lvl="1">
              <a:lnSpc>
                <a:spcPct val="130000"/>
              </a:lnSpc>
            </a:pPr>
            <a:r>
              <a:rPr lang="zh-TW" altLang="zh-CN" dirty="0">
                <a:latin typeface="Garamond" panose="02020404030301010803" pitchFamily="18" charset="0"/>
              </a:rPr>
              <a:t>每次运行智能合约代码的时候，每一步操作都会消耗掉一些预先支付的</a:t>
            </a:r>
            <a:r>
              <a:rPr lang="en-US" altLang="zh-CN" dirty="0">
                <a:latin typeface="Garamond" panose="02020404030301010803" pitchFamily="18" charset="0"/>
              </a:rPr>
              <a:t>Gas</a:t>
            </a:r>
            <a:r>
              <a:rPr lang="zh-TW" altLang="zh-CN" dirty="0">
                <a:latin typeface="Garamond" panose="02020404030301010803" pitchFamily="18" charset="0"/>
              </a:rPr>
              <a:t>值，直到交易中预支付的</a:t>
            </a:r>
            <a:r>
              <a:rPr lang="en-US" altLang="zh-CN" dirty="0">
                <a:latin typeface="Garamond" panose="02020404030301010803" pitchFamily="18" charset="0"/>
              </a:rPr>
              <a:t>Gas</a:t>
            </a:r>
            <a:r>
              <a:rPr lang="zh-TW" altLang="zh-CN" dirty="0">
                <a:latin typeface="Garamond" panose="02020404030301010803" pitchFamily="18" charset="0"/>
              </a:rPr>
              <a:t>额度被消耗殆尽</a:t>
            </a:r>
            <a:endParaRPr lang="en-US" altLang="zh-CN" dirty="0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56652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55A8A8-0864-814C-A327-6BBA68129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>
                <a:latin typeface="Garamond" panose="02020404030301010803" pitchFamily="18" charset="0"/>
              </a:rPr>
              <a:t>Gas</a:t>
            </a:r>
            <a:r>
              <a:rPr kumimoji="1" lang="zh-CN" altLang="en-US" dirty="0">
                <a:latin typeface="Garamond" panose="02020404030301010803" pitchFamily="18" charset="0"/>
              </a:rPr>
              <a:t>值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57EA60E-053E-2142-8FE4-5A692A694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23</a:t>
            </a:fld>
            <a:endParaRPr kumimoji="1" lang="zh-CN" altLang="en-US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1026" name="Picture 2" descr="以太坊gas、gaslimit、gasPrice、gasUsed详解。_一般一个transaction要多少gas-CSDN博客">
            <a:extLst>
              <a:ext uri="{FF2B5EF4-FFF2-40B4-BE49-F238E27FC236}">
                <a16:creationId xmlns:a16="http://schemas.microsoft.com/office/drawing/2014/main" id="{C987F9E6-5D32-49CF-AB41-7B269DD47F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7718" y="0"/>
            <a:ext cx="805656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29713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55A8A8-0864-814C-A327-6BBA68129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以太坊虚拟机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57EA60E-053E-2142-8FE4-5A692A694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24</a:t>
            </a:fld>
            <a:endParaRPr kumimoji="1" lang="zh-CN" altLang="en-US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dirty="0"/>
              <a:t>背景</a:t>
            </a:r>
            <a:endParaRPr lang="en-US" altLang="zh-CN" dirty="0"/>
          </a:p>
          <a:p>
            <a:pPr lvl="1">
              <a:lnSpc>
                <a:spcPct val="130000"/>
              </a:lnSpc>
            </a:pPr>
            <a:r>
              <a:rPr lang="zh-CN" altLang="en-US" dirty="0"/>
              <a:t>智能合约的代码以何种格式存储和运行？</a:t>
            </a:r>
            <a:endParaRPr lang="en-US" altLang="zh-CN" dirty="0"/>
          </a:p>
          <a:p>
            <a:pPr lvl="2">
              <a:lnSpc>
                <a:spcPct val="130000"/>
              </a:lnSpc>
            </a:pPr>
            <a:r>
              <a:rPr lang="zh-CN" altLang="en-US" dirty="0"/>
              <a:t>使用高级语言：对于去中心化的网络来说，参与的节点类型可能各有千秋，可能得到不同的执行结果</a:t>
            </a:r>
            <a:endParaRPr lang="en-US" altLang="zh-CN" dirty="0"/>
          </a:p>
          <a:p>
            <a:pPr lvl="2">
              <a:lnSpc>
                <a:spcPct val="130000"/>
              </a:lnSpc>
            </a:pPr>
            <a:r>
              <a:rPr lang="zh-CN" altLang="en-US" dirty="0"/>
              <a:t>使用机器码：合约的执行跟特定架构相关</a:t>
            </a:r>
            <a:endParaRPr lang="en-US" altLang="zh-CN" dirty="0"/>
          </a:p>
          <a:p>
            <a:pPr lvl="2">
              <a:lnSpc>
                <a:spcPct val="130000"/>
              </a:lnSpc>
            </a:pPr>
            <a:r>
              <a:rPr lang="zh-CN" altLang="en-US" dirty="0">
                <a:solidFill>
                  <a:srgbClr val="C00000"/>
                </a:solidFill>
              </a:rPr>
              <a:t>折中方法</a:t>
            </a:r>
            <a:r>
              <a:rPr lang="zh-CN" altLang="en-US" dirty="0"/>
              <a:t>：使用统一的虚拟架构和机器码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75346064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55A8A8-0864-814C-A327-6BBA68129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以太坊虚拟机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57EA60E-053E-2142-8FE4-5A692A694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25</a:t>
            </a:fld>
            <a:endParaRPr kumimoji="1" lang="zh-CN" altLang="en-US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838200" y="1510758"/>
            <a:ext cx="10515600" cy="3250084"/>
          </a:xfrm>
        </p:spPr>
        <p:txBody>
          <a:bodyPr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dirty="0">
                <a:latin typeface="Garamond" panose="02020404030301010803" pitchFamily="18" charset="0"/>
              </a:rPr>
              <a:t>以太坊虚拟机：一个</a:t>
            </a:r>
            <a:r>
              <a:rPr lang="en-US" altLang="zh-CN" dirty="0">
                <a:latin typeface="Garamond" panose="02020404030301010803" pitchFamily="18" charset="0"/>
              </a:rPr>
              <a:t>256</a:t>
            </a:r>
            <a:r>
              <a:rPr lang="zh-CN" altLang="en-US" dirty="0">
                <a:latin typeface="Garamond" panose="02020404030301010803" pitchFamily="18" charset="0"/>
              </a:rPr>
              <a:t>位的栈虚拟机</a:t>
            </a:r>
          </a:p>
          <a:p>
            <a:pPr lvl="1">
              <a:lnSpc>
                <a:spcPct val="130000"/>
              </a:lnSpc>
            </a:pPr>
            <a:r>
              <a:rPr lang="en-US" altLang="zh-CN" dirty="0">
                <a:latin typeface="Garamond" panose="02020404030301010803" pitchFamily="18" charset="0"/>
              </a:rPr>
              <a:t>256</a:t>
            </a:r>
            <a:r>
              <a:rPr lang="zh-TW" altLang="zh-CN" dirty="0">
                <a:latin typeface="Garamond" panose="02020404030301010803" pitchFamily="18" charset="0"/>
              </a:rPr>
              <a:t>位</a:t>
            </a:r>
            <a:r>
              <a:rPr lang="zh-CN" altLang="en-US" dirty="0">
                <a:latin typeface="Garamond" panose="02020404030301010803" pitchFamily="18" charset="0"/>
              </a:rPr>
              <a:t>：</a:t>
            </a:r>
            <a:endParaRPr lang="en-US" altLang="zh-CN" dirty="0">
              <a:latin typeface="Garamond" panose="02020404030301010803" pitchFamily="18" charset="0"/>
            </a:endParaRPr>
          </a:p>
          <a:p>
            <a:pPr lvl="2">
              <a:lnSpc>
                <a:spcPct val="130000"/>
              </a:lnSpc>
            </a:pPr>
            <a:r>
              <a:rPr lang="zh-TW" altLang="zh-CN" dirty="0">
                <a:latin typeface="Garamond" panose="02020404030301010803" pitchFamily="18" charset="0"/>
              </a:rPr>
              <a:t>指执行过程中的数据宽度是</a:t>
            </a:r>
            <a:r>
              <a:rPr lang="en-US" altLang="zh-CN" dirty="0">
                <a:latin typeface="Garamond" panose="02020404030301010803" pitchFamily="18" charset="0"/>
              </a:rPr>
              <a:t>256</a:t>
            </a:r>
            <a:r>
              <a:rPr lang="zh-TW" altLang="zh-CN" dirty="0">
                <a:latin typeface="Garamond" panose="02020404030301010803" pitchFamily="18" charset="0"/>
              </a:rPr>
              <a:t>位，相比之下普通的</a:t>
            </a:r>
            <a:r>
              <a:rPr lang="en-US" altLang="zh-CN" dirty="0">
                <a:latin typeface="Garamond" panose="02020404030301010803" pitchFamily="18" charset="0"/>
              </a:rPr>
              <a:t>x86</a:t>
            </a:r>
            <a:r>
              <a:rPr lang="zh-TW" altLang="zh-CN" dirty="0">
                <a:latin typeface="Garamond" panose="02020404030301010803" pitchFamily="18" charset="0"/>
              </a:rPr>
              <a:t>或者</a:t>
            </a:r>
            <a:r>
              <a:rPr lang="en-US" altLang="zh-CN" dirty="0">
                <a:latin typeface="Garamond" panose="02020404030301010803" pitchFamily="18" charset="0"/>
              </a:rPr>
              <a:t>ARM</a:t>
            </a:r>
            <a:r>
              <a:rPr lang="zh-TW" altLang="zh-CN" dirty="0">
                <a:latin typeface="Garamond" panose="02020404030301010803" pitchFamily="18" charset="0"/>
              </a:rPr>
              <a:t>架构通常是</a:t>
            </a:r>
            <a:r>
              <a:rPr lang="en-US" altLang="zh-CN" dirty="0">
                <a:latin typeface="Garamond" panose="02020404030301010803" pitchFamily="18" charset="0"/>
              </a:rPr>
              <a:t>32</a:t>
            </a:r>
            <a:r>
              <a:rPr lang="zh-TW" altLang="zh-CN" dirty="0">
                <a:latin typeface="Garamond" panose="02020404030301010803" pitchFamily="18" charset="0"/>
              </a:rPr>
              <a:t>位或者</a:t>
            </a:r>
            <a:r>
              <a:rPr lang="en-US" altLang="zh-CN" dirty="0">
                <a:latin typeface="Garamond" panose="02020404030301010803" pitchFamily="18" charset="0"/>
              </a:rPr>
              <a:t>64</a:t>
            </a:r>
            <a:r>
              <a:rPr lang="zh-TW" altLang="zh-CN" dirty="0">
                <a:latin typeface="Garamond" panose="02020404030301010803" pitchFamily="18" charset="0"/>
              </a:rPr>
              <a:t>位；</a:t>
            </a:r>
            <a:endParaRPr lang="en-US" altLang="zh-TW" dirty="0">
              <a:latin typeface="Garamond" panose="02020404030301010803" pitchFamily="18" charset="0"/>
            </a:endParaRPr>
          </a:p>
          <a:p>
            <a:pPr lvl="1">
              <a:lnSpc>
                <a:spcPct val="130000"/>
              </a:lnSpc>
            </a:pPr>
            <a:r>
              <a:rPr lang="zh-TW" altLang="zh-CN" dirty="0">
                <a:latin typeface="Garamond" panose="02020404030301010803" pitchFamily="18" charset="0"/>
              </a:rPr>
              <a:t>栈虚拟机</a:t>
            </a:r>
            <a:r>
              <a:rPr lang="zh-CN" altLang="en-US" dirty="0">
                <a:latin typeface="Garamond" panose="02020404030301010803" pitchFamily="18" charset="0"/>
              </a:rPr>
              <a:t>：</a:t>
            </a:r>
            <a:endParaRPr lang="en-US" altLang="zh-CN" dirty="0">
              <a:latin typeface="Garamond" panose="02020404030301010803" pitchFamily="18" charset="0"/>
            </a:endParaRPr>
          </a:p>
          <a:p>
            <a:pPr lvl="2">
              <a:lnSpc>
                <a:spcPct val="130000"/>
              </a:lnSpc>
            </a:pPr>
            <a:r>
              <a:rPr lang="zh-TW" altLang="zh-CN" dirty="0">
                <a:latin typeface="Garamond" panose="02020404030301010803" pitchFamily="18" charset="0"/>
              </a:rPr>
              <a:t>指</a:t>
            </a:r>
            <a:r>
              <a:rPr lang="en-US" altLang="zh-CN" dirty="0">
                <a:latin typeface="Garamond" panose="02020404030301010803" pitchFamily="18" charset="0"/>
              </a:rPr>
              <a:t>EVM</a:t>
            </a:r>
            <a:r>
              <a:rPr lang="zh-TW" altLang="zh-CN" dirty="0">
                <a:latin typeface="Garamond" panose="02020404030301010803" pitchFamily="18" charset="0"/>
              </a:rPr>
              <a:t>的执行流程基于一个栈结构，所有的指令都是操作栈顶的数据</a:t>
            </a:r>
            <a:endParaRPr lang="en-US" altLang="zh-TW" dirty="0">
              <a:latin typeface="Garamond" panose="02020404030301010803" pitchFamily="18" charset="0"/>
            </a:endParaRPr>
          </a:p>
          <a:p>
            <a:pPr lvl="1">
              <a:lnSpc>
                <a:spcPct val="130000"/>
              </a:lnSpc>
            </a:pPr>
            <a:endParaRPr lang="en-US" altLang="zh-CN" dirty="0">
              <a:solidFill>
                <a:srgbClr val="C00000"/>
              </a:solidFill>
              <a:latin typeface="Garamond" panose="02020404030301010803" pitchFamily="18" charset="0"/>
            </a:endParaRPr>
          </a:p>
          <a:p>
            <a:pPr lvl="1">
              <a:lnSpc>
                <a:spcPct val="130000"/>
              </a:lnSpc>
            </a:pPr>
            <a:endParaRPr lang="en-US" altLang="zh-CN" dirty="0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33770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55A8A8-0864-814C-A327-6BBA68129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以太坊虚拟机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57EA60E-053E-2142-8FE4-5A692A694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26</a:t>
            </a:fld>
            <a:endParaRPr kumimoji="1" lang="zh-CN" altLang="en-US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838200" y="1510758"/>
            <a:ext cx="10515600" cy="3319658"/>
          </a:xfrm>
        </p:spPr>
        <p:txBody>
          <a:bodyPr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dirty="0">
                <a:latin typeface="Garamond" panose="02020404030301010803" pitchFamily="18" charset="0"/>
              </a:rPr>
              <a:t>以太坊虚拟机指令</a:t>
            </a:r>
            <a:endParaRPr lang="en-US" altLang="zh-CN" dirty="0">
              <a:latin typeface="Garamond" panose="02020404030301010803" pitchFamily="18" charset="0"/>
            </a:endParaRPr>
          </a:p>
          <a:p>
            <a:pPr lvl="1">
              <a:lnSpc>
                <a:spcPct val="130000"/>
              </a:lnSpc>
            </a:pPr>
            <a:r>
              <a:rPr lang="zh-CN" altLang="en-US" dirty="0">
                <a:latin typeface="Garamond" panose="02020404030301010803" pitchFamily="18" charset="0"/>
              </a:rPr>
              <a:t>智能合约的编写</a:t>
            </a:r>
            <a:endParaRPr lang="en-US" altLang="zh-CN" dirty="0">
              <a:latin typeface="Garamond" panose="02020404030301010803" pitchFamily="18" charset="0"/>
            </a:endParaRPr>
          </a:p>
          <a:p>
            <a:pPr lvl="2">
              <a:lnSpc>
                <a:spcPct val="130000"/>
              </a:lnSpc>
            </a:pPr>
            <a:r>
              <a:rPr lang="zh-TW" altLang="zh-CN" dirty="0">
                <a:latin typeface="Garamond" panose="02020404030301010803" pitchFamily="18" charset="0"/>
              </a:rPr>
              <a:t>开发者使用类似于</a:t>
            </a:r>
            <a:r>
              <a:rPr lang="en-US" altLang="zh-CN" dirty="0">
                <a:latin typeface="Garamond" panose="02020404030301010803" pitchFamily="18" charset="0"/>
              </a:rPr>
              <a:t>Solidity</a:t>
            </a:r>
            <a:r>
              <a:rPr lang="zh-TW" altLang="zh-CN" dirty="0">
                <a:latin typeface="Garamond" panose="02020404030301010803" pitchFamily="18" charset="0"/>
              </a:rPr>
              <a:t>或者</a:t>
            </a:r>
            <a:r>
              <a:rPr lang="en-US" altLang="zh-CN" dirty="0" err="1">
                <a:latin typeface="Garamond" panose="02020404030301010803" pitchFamily="18" charset="0"/>
              </a:rPr>
              <a:t>Vyper</a:t>
            </a:r>
            <a:r>
              <a:rPr lang="zh-TW" altLang="zh-CN" dirty="0">
                <a:latin typeface="Garamond" panose="02020404030301010803" pitchFamily="18" charset="0"/>
              </a:rPr>
              <a:t>这些上层的高级语言来编写智能合约的代码</a:t>
            </a:r>
            <a:endParaRPr lang="en-US" altLang="zh-TW" dirty="0">
              <a:latin typeface="Garamond" panose="02020404030301010803" pitchFamily="18" charset="0"/>
            </a:endParaRPr>
          </a:p>
          <a:p>
            <a:pPr lvl="1">
              <a:lnSpc>
                <a:spcPct val="130000"/>
              </a:lnSpc>
            </a:pPr>
            <a:r>
              <a:rPr lang="zh-CN" altLang="en-US" dirty="0">
                <a:latin typeface="Garamond" panose="02020404030301010803" pitchFamily="18" charset="0"/>
              </a:rPr>
              <a:t>智能合约的编译</a:t>
            </a:r>
            <a:endParaRPr lang="en-US" altLang="zh-TW" dirty="0">
              <a:latin typeface="Garamond" panose="02020404030301010803" pitchFamily="18" charset="0"/>
            </a:endParaRPr>
          </a:p>
          <a:p>
            <a:pPr lvl="2">
              <a:lnSpc>
                <a:spcPct val="130000"/>
              </a:lnSpc>
            </a:pPr>
            <a:r>
              <a:rPr lang="zh-TW" altLang="zh-CN" dirty="0">
                <a:latin typeface="Garamond" panose="02020404030301010803" pitchFamily="18" charset="0"/>
              </a:rPr>
              <a:t>将</a:t>
            </a:r>
            <a:r>
              <a:rPr lang="zh-CN" altLang="en-US" dirty="0">
                <a:latin typeface="Garamond" panose="02020404030301010803" pitchFamily="18" charset="0"/>
              </a:rPr>
              <a:t>高级语言编写的智能合约</a:t>
            </a:r>
            <a:r>
              <a:rPr lang="zh-TW" altLang="zh-CN" dirty="0">
                <a:latin typeface="Garamond" panose="02020404030301010803" pitchFamily="18" charset="0"/>
              </a:rPr>
              <a:t>编译成</a:t>
            </a:r>
            <a:r>
              <a:rPr lang="en-US" altLang="zh-CN" dirty="0">
                <a:latin typeface="Garamond" panose="02020404030301010803" pitchFamily="18" charset="0"/>
              </a:rPr>
              <a:t>EVM</a:t>
            </a:r>
            <a:r>
              <a:rPr lang="zh-TW" altLang="zh-CN" dirty="0">
                <a:latin typeface="Garamond" panose="02020404030301010803" pitchFamily="18" charset="0"/>
              </a:rPr>
              <a:t>能够识别的机器码指令，</a:t>
            </a:r>
            <a:r>
              <a:rPr lang="zh-CN" altLang="en-US" dirty="0">
                <a:latin typeface="Garamond" panose="02020404030301010803" pitchFamily="18" charset="0"/>
              </a:rPr>
              <a:t>从而能够</a:t>
            </a:r>
            <a:r>
              <a:rPr lang="zh-TW" altLang="zh-CN" dirty="0">
                <a:latin typeface="Garamond" panose="02020404030301010803" pitchFamily="18" charset="0"/>
              </a:rPr>
              <a:t>在以太坊的平台上使用</a:t>
            </a:r>
            <a:r>
              <a:rPr lang="en-US" altLang="zh-CN" dirty="0">
                <a:latin typeface="Garamond" panose="02020404030301010803" pitchFamily="18" charset="0"/>
              </a:rPr>
              <a:t>EVM</a:t>
            </a:r>
            <a:r>
              <a:rPr lang="zh-TW" altLang="zh-CN" dirty="0">
                <a:latin typeface="Garamond" panose="02020404030301010803" pitchFamily="18" charset="0"/>
              </a:rPr>
              <a:t>执行</a:t>
            </a:r>
            <a:endParaRPr lang="zh-CN" altLang="zh-CN" dirty="0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230162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55A8A8-0864-814C-A327-6BBA68129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Solidity</a:t>
            </a:r>
            <a:r>
              <a:rPr kumimoji="1" lang="zh-CN" altLang="en-US" dirty="0"/>
              <a:t>语言</a:t>
            </a:r>
          </a:p>
        </p:txBody>
      </p:sp>
      <p:sp>
        <p:nvSpPr>
          <p:cNvPr id="486" name="内容占位符 485">
            <a:extLst>
              <a:ext uri="{FF2B5EF4-FFF2-40B4-BE49-F238E27FC236}">
                <a16:creationId xmlns:a16="http://schemas.microsoft.com/office/drawing/2014/main" id="{5A1600D8-82EA-9E45-A9E6-6170EFC16A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5453" y="1418897"/>
            <a:ext cx="9885799" cy="5302578"/>
          </a:xfrm>
        </p:spPr>
        <p:txBody>
          <a:bodyPr anchor="t" anchorCtr="0">
            <a:normAutofit/>
          </a:bodyPr>
          <a:lstStyle/>
          <a:p>
            <a:pPr>
              <a:lnSpc>
                <a:spcPct val="140000"/>
              </a:lnSpc>
            </a:pPr>
            <a:r>
              <a:rPr lang="zh-CN" altLang="en-US" dirty="0"/>
              <a:t>基础语法</a:t>
            </a:r>
            <a:endParaRPr lang="en-US" altLang="zh-CN" dirty="0"/>
          </a:p>
          <a:p>
            <a:pPr lvl="1">
              <a:lnSpc>
                <a:spcPct val="140000"/>
              </a:lnSpc>
            </a:pPr>
            <a:r>
              <a:rPr lang="zh-CN" altLang="en-US" dirty="0"/>
              <a:t>常用类型</a:t>
            </a:r>
            <a:endParaRPr lang="en-US" altLang="zh-CN" dirty="0"/>
          </a:p>
          <a:p>
            <a:pPr lvl="1">
              <a:lnSpc>
                <a:spcPct val="140000"/>
              </a:lnSpc>
            </a:pPr>
            <a:r>
              <a:rPr lang="zh-CN" altLang="en-US" dirty="0"/>
              <a:t>函数类型</a:t>
            </a:r>
            <a:endParaRPr lang="en-US" altLang="zh-CN" dirty="0"/>
          </a:p>
          <a:p>
            <a:pPr lvl="1">
              <a:lnSpc>
                <a:spcPct val="140000"/>
              </a:lnSpc>
            </a:pPr>
            <a:r>
              <a:rPr lang="zh-CN" altLang="en-US" dirty="0"/>
              <a:t>特殊变量</a:t>
            </a:r>
            <a:endParaRPr lang="en-US" altLang="zh-CN" dirty="0"/>
          </a:p>
          <a:p>
            <a:pPr lvl="1">
              <a:lnSpc>
                <a:spcPct val="140000"/>
              </a:lnSpc>
            </a:pPr>
            <a:r>
              <a:rPr lang="zh-CN" altLang="en-US" dirty="0"/>
              <a:t>事件日志</a:t>
            </a:r>
            <a:endParaRPr lang="en-US" altLang="zh-CN" dirty="0"/>
          </a:p>
          <a:p>
            <a:pPr lvl="1">
              <a:lnSpc>
                <a:spcPct val="140000"/>
              </a:lnSpc>
            </a:pPr>
            <a:r>
              <a:rPr lang="zh-CN" altLang="en-US" dirty="0"/>
              <a:t>错误处理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57EA60E-053E-2142-8FE4-5A692A694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27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6710062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55A8A8-0864-814C-A327-6BBA68129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常用类型</a:t>
            </a:r>
          </a:p>
        </p:txBody>
      </p:sp>
      <p:sp>
        <p:nvSpPr>
          <p:cNvPr id="486" name="内容占位符 485">
            <a:extLst>
              <a:ext uri="{FF2B5EF4-FFF2-40B4-BE49-F238E27FC236}">
                <a16:creationId xmlns:a16="http://schemas.microsoft.com/office/drawing/2014/main" id="{5A1600D8-82EA-9E45-A9E6-6170EFC16A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5453" y="1418897"/>
            <a:ext cx="9885799" cy="5302578"/>
          </a:xfrm>
        </p:spPr>
        <p:txBody>
          <a:bodyPr anchor="t" anchorCtr="0">
            <a:normAutofit/>
          </a:bodyPr>
          <a:lstStyle/>
          <a:p>
            <a:pPr>
              <a:lnSpc>
                <a:spcPct val="140000"/>
              </a:lnSpc>
            </a:pPr>
            <a:r>
              <a:rPr lang="zh-CN" altLang="en-US" dirty="0"/>
              <a:t>布尔类型</a:t>
            </a:r>
            <a:endParaRPr lang="en-US" altLang="zh-CN" dirty="0"/>
          </a:p>
          <a:p>
            <a:pPr lvl="1">
              <a:lnSpc>
                <a:spcPct val="140000"/>
              </a:lnSpc>
            </a:pPr>
            <a:r>
              <a:rPr lang="zh-CN" altLang="en-US" dirty="0"/>
              <a:t>由</a:t>
            </a:r>
            <a:r>
              <a:rPr lang="en-US" altLang="zh-CN" dirty="0"/>
              <a:t>bool</a:t>
            </a:r>
            <a:r>
              <a:rPr lang="zh-CN" altLang="en-US" dirty="0"/>
              <a:t>声明，与传统编程语言类似，可取</a:t>
            </a:r>
            <a:r>
              <a:rPr lang="en-US" altLang="zh-CN" dirty="0"/>
              <a:t>true</a:t>
            </a:r>
            <a:r>
              <a:rPr lang="zh-CN" altLang="en-US" dirty="0"/>
              <a:t>或者</a:t>
            </a:r>
            <a:r>
              <a:rPr lang="en-US" altLang="zh-CN" dirty="0"/>
              <a:t>false</a:t>
            </a:r>
            <a:r>
              <a:rPr lang="zh-CN" altLang="en-US" dirty="0"/>
              <a:t>。</a:t>
            </a:r>
            <a:endParaRPr lang="en-US" altLang="zh-CN" dirty="0"/>
          </a:p>
          <a:p>
            <a:pPr>
              <a:lnSpc>
                <a:spcPct val="140000"/>
              </a:lnSpc>
            </a:pPr>
            <a:r>
              <a:rPr lang="zh-CN" altLang="en-US" dirty="0"/>
              <a:t>整型</a:t>
            </a:r>
          </a:p>
          <a:p>
            <a:pPr lvl="1">
              <a:lnSpc>
                <a:spcPct val="140000"/>
              </a:lnSpc>
            </a:pPr>
            <a:r>
              <a:rPr lang="zh-CN" altLang="en-US" dirty="0"/>
              <a:t>由</a:t>
            </a:r>
            <a:r>
              <a:rPr lang="en-US" altLang="zh-CN" dirty="0" err="1"/>
              <a:t>int</a:t>
            </a:r>
            <a:r>
              <a:rPr lang="zh-CN" altLang="en-US" dirty="0"/>
              <a:t>声明有符号的整型变量，由</a:t>
            </a:r>
            <a:r>
              <a:rPr lang="en-US" altLang="zh-CN" dirty="0" err="1"/>
              <a:t>uint</a:t>
            </a:r>
            <a:r>
              <a:rPr lang="zh-CN" altLang="en-US" dirty="0"/>
              <a:t>声明无符号的整型变量，可取整数。</a:t>
            </a:r>
          </a:p>
          <a:p>
            <a:pPr lvl="1">
              <a:lnSpc>
                <a:spcPct val="140000"/>
              </a:lnSpc>
            </a:pPr>
            <a:r>
              <a:rPr lang="zh-CN" altLang="en-US" dirty="0"/>
              <a:t>声明变量时加上数字表示变量的位数，如</a:t>
            </a:r>
            <a:r>
              <a:rPr lang="en-US" altLang="zh-CN" dirty="0"/>
              <a:t>int8</a:t>
            </a:r>
            <a:r>
              <a:rPr lang="zh-CN" altLang="en-US" dirty="0"/>
              <a:t>表示</a:t>
            </a:r>
            <a:r>
              <a:rPr lang="en-US" altLang="zh-CN" dirty="0"/>
              <a:t>8</a:t>
            </a:r>
            <a:r>
              <a:rPr lang="zh-CN" altLang="en-US" dirty="0"/>
              <a:t>位长度的有符号整型变量，位数可取</a:t>
            </a:r>
            <a:r>
              <a:rPr lang="en-US" altLang="zh-CN" dirty="0"/>
              <a:t>8</a:t>
            </a:r>
            <a:r>
              <a:rPr lang="zh-CN" altLang="en-US" dirty="0"/>
              <a:t>、</a:t>
            </a:r>
            <a:r>
              <a:rPr lang="en-US" altLang="zh-CN" dirty="0"/>
              <a:t>16</a:t>
            </a:r>
            <a:r>
              <a:rPr lang="zh-CN" altLang="en-US" dirty="0"/>
              <a:t>、</a:t>
            </a:r>
            <a:r>
              <a:rPr lang="en-US" altLang="zh-CN" dirty="0"/>
              <a:t>……</a:t>
            </a:r>
            <a:r>
              <a:rPr lang="zh-CN" altLang="en-US" dirty="0"/>
              <a:t>、</a:t>
            </a:r>
            <a:r>
              <a:rPr lang="en-US" altLang="zh-CN" dirty="0"/>
              <a:t>256</a:t>
            </a:r>
            <a:r>
              <a:rPr lang="zh-CN" altLang="en-US" dirty="0"/>
              <a:t>。未声明变量位数时，编译器在编译时将默认其为最长位数，即将</a:t>
            </a:r>
            <a:r>
              <a:rPr lang="en-US" altLang="zh-CN" dirty="0" err="1"/>
              <a:t>int</a:t>
            </a:r>
            <a:r>
              <a:rPr lang="zh-CN" altLang="en-US" dirty="0"/>
              <a:t>编译为</a:t>
            </a:r>
            <a:r>
              <a:rPr lang="en-US" altLang="zh-CN" dirty="0"/>
              <a:t>int256</a:t>
            </a:r>
            <a:r>
              <a:rPr lang="zh-CN" altLang="en-US" dirty="0"/>
              <a:t>。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57EA60E-053E-2142-8FE4-5A692A694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28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6850310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55A8A8-0864-814C-A327-6BBA68129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常用类型</a:t>
            </a:r>
          </a:p>
        </p:txBody>
      </p:sp>
      <p:sp>
        <p:nvSpPr>
          <p:cNvPr id="486" name="内容占位符 485">
            <a:extLst>
              <a:ext uri="{FF2B5EF4-FFF2-40B4-BE49-F238E27FC236}">
                <a16:creationId xmlns:a16="http://schemas.microsoft.com/office/drawing/2014/main" id="{5A1600D8-82EA-9E45-A9E6-6170EFC16A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5453" y="1418897"/>
            <a:ext cx="9885799" cy="5302578"/>
          </a:xfrm>
        </p:spPr>
        <p:txBody>
          <a:bodyPr anchor="t" anchorCtr="0">
            <a:normAutofit/>
          </a:bodyPr>
          <a:lstStyle/>
          <a:p>
            <a:pPr>
              <a:lnSpc>
                <a:spcPct val="140000"/>
              </a:lnSpc>
            </a:pPr>
            <a:r>
              <a:rPr lang="zh-CN" altLang="en-US" dirty="0"/>
              <a:t>地址类型</a:t>
            </a:r>
          </a:p>
          <a:p>
            <a:pPr lvl="1">
              <a:lnSpc>
                <a:spcPct val="140000"/>
              </a:lnSpc>
            </a:pPr>
            <a:r>
              <a:rPr lang="zh-CN" altLang="en-US" dirty="0"/>
              <a:t>由</a:t>
            </a:r>
            <a:r>
              <a:rPr lang="en-US" altLang="zh-CN" dirty="0"/>
              <a:t>address</a:t>
            </a:r>
            <a:r>
              <a:rPr lang="zh-CN" altLang="en-US" dirty="0"/>
              <a:t>声明，指以太坊账户的地址类型，与以太坊账户长度相同，该类型实际为存储一个 </a:t>
            </a:r>
            <a:r>
              <a:rPr lang="en-US" altLang="zh-CN" dirty="0"/>
              <a:t>20 </a:t>
            </a:r>
            <a:r>
              <a:rPr lang="zh-CN" altLang="en-US" dirty="0"/>
              <a:t>字节的值。地址类型的变量将自带多个成员变量，可通过多个成员变量函数进行账号余额获取、跨账号的转账、调用等操作。</a:t>
            </a:r>
            <a:endParaRPr lang="en-US" altLang="zh-CN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57EA60E-053E-2142-8FE4-5A692A694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29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6574267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55A8A8-0864-814C-A327-6BBA68129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常用类型</a:t>
            </a:r>
          </a:p>
        </p:txBody>
      </p:sp>
      <p:sp>
        <p:nvSpPr>
          <p:cNvPr id="486" name="内容占位符 485">
            <a:extLst>
              <a:ext uri="{FF2B5EF4-FFF2-40B4-BE49-F238E27FC236}">
                <a16:creationId xmlns:a16="http://schemas.microsoft.com/office/drawing/2014/main" id="{5A1600D8-82EA-9E45-A9E6-6170EFC16A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5453" y="1418897"/>
            <a:ext cx="9885799" cy="5302578"/>
          </a:xfrm>
        </p:spPr>
        <p:txBody>
          <a:bodyPr anchor="t" anchorCtr="0">
            <a:normAutofit/>
          </a:bodyPr>
          <a:lstStyle/>
          <a:p>
            <a:pPr>
              <a:lnSpc>
                <a:spcPct val="140000"/>
              </a:lnSpc>
            </a:pPr>
            <a:r>
              <a:rPr lang="zh-CN" altLang="en-US" dirty="0"/>
              <a:t>地址类型成员函数</a:t>
            </a:r>
          </a:p>
          <a:p>
            <a:pPr lvl="1">
              <a:lnSpc>
                <a:spcPct val="140000"/>
              </a:lnSpc>
            </a:pPr>
            <a:r>
              <a:rPr lang="en-US" altLang="zh-CN" b="1" dirty="0"/>
              <a:t>balance</a:t>
            </a:r>
            <a:r>
              <a:rPr lang="zh-CN" altLang="en-US" dirty="0"/>
              <a:t>：获取该地址余额，如</a:t>
            </a:r>
            <a:r>
              <a:rPr lang="en-US" altLang="zh-CN" dirty="0"/>
              <a:t>&lt;address&gt;.balance (uint256)</a:t>
            </a:r>
            <a:r>
              <a:rPr lang="zh-CN" altLang="en-US" dirty="0"/>
              <a:t>；</a:t>
            </a:r>
          </a:p>
          <a:p>
            <a:pPr lvl="1">
              <a:lnSpc>
                <a:spcPct val="140000"/>
              </a:lnSpc>
            </a:pPr>
            <a:r>
              <a:rPr lang="en-US" altLang="zh-CN" b="1" dirty="0"/>
              <a:t>transfer</a:t>
            </a:r>
            <a:r>
              <a:rPr lang="zh-CN" altLang="en-US" dirty="0"/>
              <a:t>：向该地址转账，失败则抛出异常，如</a:t>
            </a:r>
            <a:r>
              <a:rPr lang="en-US" altLang="zh-CN" dirty="0"/>
              <a:t>&lt;address&gt;.transfer(uint256 amount)</a:t>
            </a:r>
            <a:r>
              <a:rPr lang="zh-CN" altLang="en-US" dirty="0"/>
              <a:t>；</a:t>
            </a:r>
          </a:p>
          <a:p>
            <a:pPr lvl="1">
              <a:lnSpc>
                <a:spcPct val="140000"/>
              </a:lnSpc>
            </a:pPr>
            <a:r>
              <a:rPr lang="en-US" altLang="zh-CN" b="1" dirty="0"/>
              <a:t>send</a:t>
            </a:r>
            <a:r>
              <a:rPr lang="zh-CN" altLang="en-US" dirty="0"/>
              <a:t>：向该地址转账，失败则返回</a:t>
            </a:r>
            <a:r>
              <a:rPr lang="en-US" altLang="zh-CN" dirty="0"/>
              <a:t>false</a:t>
            </a:r>
            <a:r>
              <a:rPr lang="zh-CN" altLang="en-US" dirty="0"/>
              <a:t>，如</a:t>
            </a:r>
            <a:r>
              <a:rPr lang="en-US" altLang="zh-CN" dirty="0"/>
              <a:t>&lt;address&gt;.send(uint256 amount)</a:t>
            </a:r>
            <a:r>
              <a:rPr lang="zh-CN" altLang="en-US" dirty="0"/>
              <a:t>；</a:t>
            </a:r>
          </a:p>
          <a:p>
            <a:pPr lvl="1">
              <a:lnSpc>
                <a:spcPct val="140000"/>
              </a:lnSpc>
            </a:pPr>
            <a:r>
              <a:rPr lang="en-US" altLang="zh-CN" b="1" dirty="0"/>
              <a:t>call/</a:t>
            </a:r>
            <a:r>
              <a:rPr lang="en-US" altLang="zh-CN" b="1" dirty="0" err="1"/>
              <a:t>callcode</a:t>
            </a:r>
            <a:r>
              <a:rPr lang="en-US" altLang="zh-CN" b="1" dirty="0"/>
              <a:t>/</a:t>
            </a:r>
            <a:r>
              <a:rPr lang="en-US" altLang="zh-CN" b="1" dirty="0" err="1"/>
              <a:t>delegatecall</a:t>
            </a:r>
            <a:r>
              <a:rPr lang="zh-CN" altLang="en-US" dirty="0"/>
              <a:t>：向该地址发出相应的底层合约调用消息，如</a:t>
            </a:r>
            <a:r>
              <a:rPr lang="en-US" altLang="zh-CN" dirty="0"/>
              <a:t>&lt;address&gt;.call(...)</a:t>
            </a:r>
            <a:endParaRPr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57EA60E-053E-2142-8FE4-5A692A694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30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436137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55A8A8-0864-814C-A327-6BBA68129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常用类型</a:t>
            </a:r>
          </a:p>
        </p:txBody>
      </p:sp>
      <p:sp>
        <p:nvSpPr>
          <p:cNvPr id="486" name="内容占位符 485">
            <a:extLst>
              <a:ext uri="{FF2B5EF4-FFF2-40B4-BE49-F238E27FC236}">
                <a16:creationId xmlns:a16="http://schemas.microsoft.com/office/drawing/2014/main" id="{5A1600D8-82EA-9E45-A9E6-6170EFC16A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5453" y="1418897"/>
            <a:ext cx="9885799" cy="5302578"/>
          </a:xfrm>
        </p:spPr>
        <p:txBody>
          <a:bodyPr anchor="t" anchorCtr="0">
            <a:normAutofit/>
          </a:bodyPr>
          <a:lstStyle/>
          <a:p>
            <a:pPr>
              <a:lnSpc>
                <a:spcPct val="140000"/>
              </a:lnSpc>
            </a:pPr>
            <a:r>
              <a:rPr lang="zh-CN" altLang="en-US" dirty="0"/>
              <a:t>定长字节数组</a:t>
            </a:r>
          </a:p>
          <a:p>
            <a:pPr lvl="1">
              <a:lnSpc>
                <a:spcPct val="140000"/>
              </a:lnSpc>
            </a:pPr>
            <a:r>
              <a:rPr lang="zh-CN" altLang="zh-CN" dirty="0"/>
              <a:t>由</a:t>
            </a:r>
            <a:r>
              <a:rPr lang="en-US" altLang="zh-CN" dirty="0"/>
              <a:t>byte+</a:t>
            </a:r>
            <a:r>
              <a:rPr lang="zh-CN" altLang="zh-CN" dirty="0"/>
              <a:t>数组长度声明，如</a:t>
            </a:r>
            <a:r>
              <a:rPr lang="en-US" altLang="zh-CN" dirty="0"/>
              <a:t>byte1</a:t>
            </a:r>
            <a:r>
              <a:rPr lang="zh-CN" altLang="zh-CN" dirty="0"/>
              <a:t>、</a:t>
            </a:r>
            <a:r>
              <a:rPr lang="en-US" altLang="zh-CN" dirty="0"/>
              <a:t>byte2</a:t>
            </a:r>
            <a:r>
              <a:rPr lang="zh-CN" altLang="zh-CN" dirty="0"/>
              <a:t>、……、</a:t>
            </a:r>
            <a:r>
              <a:rPr lang="en-US" altLang="zh-CN" dirty="0"/>
              <a:t>byte32</a:t>
            </a:r>
          </a:p>
          <a:p>
            <a:pPr>
              <a:lnSpc>
                <a:spcPct val="140000"/>
              </a:lnSpc>
            </a:pPr>
            <a:r>
              <a:rPr lang="zh-CN" altLang="en-US" dirty="0"/>
              <a:t>字符串（变长字节数组） </a:t>
            </a:r>
            <a:endParaRPr lang="en-US" altLang="zh-CN" dirty="0"/>
          </a:p>
          <a:p>
            <a:pPr lvl="1">
              <a:lnSpc>
                <a:spcPct val="140000"/>
              </a:lnSpc>
            </a:pPr>
            <a:r>
              <a:rPr lang="zh-CN" altLang="zh-CN" dirty="0"/>
              <a:t>由</a:t>
            </a:r>
            <a:r>
              <a:rPr lang="en-US" altLang="zh-CN" dirty="0"/>
              <a:t>bytes</a:t>
            </a:r>
            <a:r>
              <a:rPr lang="zh-CN" altLang="zh-CN" dirty="0"/>
              <a:t>或</a:t>
            </a:r>
            <a:r>
              <a:rPr lang="en-US" altLang="zh-CN" dirty="0"/>
              <a:t>string</a:t>
            </a:r>
            <a:r>
              <a:rPr lang="zh-CN" altLang="zh-CN" dirty="0"/>
              <a:t>声明</a:t>
            </a:r>
            <a:endParaRPr lang="en-US" altLang="zh-CN" dirty="0"/>
          </a:p>
          <a:p>
            <a:pPr>
              <a:lnSpc>
                <a:spcPct val="140000"/>
              </a:lnSpc>
            </a:pPr>
            <a:r>
              <a:rPr lang="zh-CN" altLang="en-US" dirty="0"/>
              <a:t>数组</a:t>
            </a:r>
            <a:endParaRPr lang="en-US" altLang="zh-CN" dirty="0"/>
          </a:p>
          <a:p>
            <a:pPr lvl="1">
              <a:lnSpc>
                <a:spcPct val="140000"/>
              </a:lnSpc>
            </a:pPr>
            <a:r>
              <a:rPr lang="zh-CN" altLang="zh-CN" dirty="0"/>
              <a:t>由类型</a:t>
            </a:r>
            <a:r>
              <a:rPr lang="en-US" altLang="zh-CN" dirty="0"/>
              <a:t>+[]</a:t>
            </a:r>
            <a:r>
              <a:rPr lang="zh-CN" altLang="zh-CN" dirty="0"/>
              <a:t>声明。可通过</a:t>
            </a:r>
            <a:r>
              <a:rPr lang="en-US" altLang="zh-CN" dirty="0"/>
              <a:t>push</a:t>
            </a:r>
            <a:r>
              <a:rPr lang="zh-CN" altLang="zh-CN" dirty="0"/>
              <a:t>或</a:t>
            </a:r>
            <a:r>
              <a:rPr lang="en-US" altLang="zh-CN" dirty="0"/>
              <a:t>length</a:t>
            </a:r>
            <a:r>
              <a:rPr lang="zh-CN" altLang="zh-CN" dirty="0"/>
              <a:t>进行操作 </a:t>
            </a:r>
            <a:endParaRPr lang="en-US" altLang="zh-CN" dirty="0"/>
          </a:p>
          <a:p>
            <a:pPr>
              <a:lnSpc>
                <a:spcPct val="140000"/>
              </a:lnSpc>
            </a:pPr>
            <a:endParaRPr lang="zh-CN" altLang="en-US" dirty="0"/>
          </a:p>
          <a:p>
            <a:pPr>
              <a:lnSpc>
                <a:spcPct val="140000"/>
              </a:lnSpc>
            </a:pPr>
            <a:endParaRPr lang="zh-CN" altLang="zh-CN" dirty="0"/>
          </a:p>
          <a:p>
            <a:pPr lvl="1">
              <a:lnSpc>
                <a:spcPct val="140000"/>
              </a:lnSpc>
            </a:pP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57EA60E-053E-2142-8FE4-5A692A694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31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1693163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55A8A8-0864-814C-A327-6BBA68129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常用类型</a:t>
            </a:r>
          </a:p>
        </p:txBody>
      </p:sp>
      <p:sp>
        <p:nvSpPr>
          <p:cNvPr id="486" name="内容占位符 485">
            <a:extLst>
              <a:ext uri="{FF2B5EF4-FFF2-40B4-BE49-F238E27FC236}">
                <a16:creationId xmlns:a16="http://schemas.microsoft.com/office/drawing/2014/main" id="{5A1600D8-82EA-9E45-A9E6-6170EFC16A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5453" y="1418897"/>
            <a:ext cx="9885799" cy="5302578"/>
          </a:xfrm>
        </p:spPr>
        <p:txBody>
          <a:bodyPr anchor="t" anchorCtr="0">
            <a:normAutofit/>
          </a:bodyPr>
          <a:lstStyle/>
          <a:p>
            <a:pPr>
              <a:lnSpc>
                <a:spcPct val="140000"/>
              </a:lnSpc>
            </a:pPr>
            <a:r>
              <a:rPr lang="zh-CN" altLang="en-US" dirty="0"/>
              <a:t>映射</a:t>
            </a:r>
          </a:p>
          <a:p>
            <a:pPr lvl="1">
              <a:lnSpc>
                <a:spcPct val="140000"/>
              </a:lnSpc>
            </a:pPr>
            <a:r>
              <a:rPr lang="zh-CN" altLang="en-US" dirty="0"/>
              <a:t>由</a:t>
            </a:r>
            <a:r>
              <a:rPr lang="en-US" altLang="zh-CN" dirty="0"/>
              <a:t>mapping(</a:t>
            </a:r>
            <a:r>
              <a:rPr lang="zh-CN" altLang="en-US" dirty="0"/>
              <a:t>键类型 </a:t>
            </a:r>
            <a:r>
              <a:rPr lang="en-US" altLang="zh-CN" dirty="0"/>
              <a:t>=&gt;</a:t>
            </a:r>
            <a:r>
              <a:rPr lang="zh-CN" altLang="en-US" dirty="0"/>
              <a:t>值类型</a:t>
            </a:r>
            <a:r>
              <a:rPr lang="en-US" altLang="zh-CN" dirty="0"/>
              <a:t>)</a:t>
            </a:r>
            <a:r>
              <a:rPr lang="zh-CN" altLang="en-US" dirty="0"/>
              <a:t>声明</a:t>
            </a:r>
            <a:endParaRPr lang="en-US" altLang="zh-CN" dirty="0"/>
          </a:p>
          <a:p>
            <a:pPr lvl="1">
              <a:lnSpc>
                <a:spcPct val="140000"/>
              </a:lnSpc>
            </a:pPr>
            <a:r>
              <a:rPr lang="zh-CN" altLang="en-US" dirty="0"/>
              <a:t>键类型不可以是：映射、变长数组、合约、枚举以及结构体</a:t>
            </a:r>
            <a:endParaRPr lang="en-US" altLang="zh-CN" dirty="0"/>
          </a:p>
          <a:p>
            <a:pPr lvl="1">
              <a:lnSpc>
                <a:spcPct val="140000"/>
              </a:lnSpc>
            </a:pPr>
            <a:r>
              <a:rPr lang="zh-CN" altLang="en-US" dirty="0"/>
              <a:t>在映射对应的以太坊状态树底层存储中，实际上并不存储键的值，而是存储键的</a:t>
            </a:r>
            <a:r>
              <a:rPr lang="en-US" altLang="zh-CN" dirty="0"/>
              <a:t>keccak256</a:t>
            </a:r>
            <a:r>
              <a:rPr lang="zh-CN" altLang="en-US" dirty="0"/>
              <a:t>哈希值，从而便于减小存储体积的同时查询实际的值。与数组不同的是，映射没有长度。</a:t>
            </a:r>
          </a:p>
          <a:p>
            <a:pPr>
              <a:lnSpc>
                <a:spcPct val="140000"/>
              </a:lnSpc>
            </a:pPr>
            <a:r>
              <a:rPr lang="zh-CN" altLang="en-US" dirty="0"/>
              <a:t>结构体</a:t>
            </a:r>
          </a:p>
          <a:p>
            <a:pPr lvl="1">
              <a:lnSpc>
                <a:spcPct val="140000"/>
              </a:lnSpc>
            </a:pPr>
            <a:r>
              <a:rPr lang="zh-CN" altLang="en-US" dirty="0"/>
              <a:t>由</a:t>
            </a:r>
            <a:r>
              <a:rPr lang="en-US" altLang="zh-CN" dirty="0"/>
              <a:t>struct</a:t>
            </a:r>
            <a:r>
              <a:rPr lang="zh-CN" altLang="en-US" dirty="0"/>
              <a:t>声明，可将多个基本变量组合为一个结构</a:t>
            </a:r>
            <a:endParaRPr lang="en-US" altLang="zh-CN" dirty="0"/>
          </a:p>
          <a:p>
            <a:pPr>
              <a:lnSpc>
                <a:spcPct val="140000"/>
              </a:lnSpc>
            </a:pPr>
            <a:endParaRPr lang="zh-CN" altLang="en-US" dirty="0"/>
          </a:p>
          <a:p>
            <a:pPr>
              <a:lnSpc>
                <a:spcPct val="140000"/>
              </a:lnSpc>
            </a:pPr>
            <a:endParaRPr lang="zh-CN" altLang="zh-CN" dirty="0"/>
          </a:p>
          <a:p>
            <a:pPr lvl="1">
              <a:lnSpc>
                <a:spcPct val="140000"/>
              </a:lnSpc>
            </a:pP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57EA60E-053E-2142-8FE4-5A692A694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32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1040000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55A8A8-0864-814C-A327-6BBA68129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常用类型</a:t>
            </a:r>
          </a:p>
        </p:txBody>
      </p:sp>
      <p:sp>
        <p:nvSpPr>
          <p:cNvPr id="486" name="内容占位符 485">
            <a:extLst>
              <a:ext uri="{FF2B5EF4-FFF2-40B4-BE49-F238E27FC236}">
                <a16:creationId xmlns:a16="http://schemas.microsoft.com/office/drawing/2014/main" id="{5A1600D8-82EA-9E45-A9E6-6170EFC16A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5453" y="1418897"/>
            <a:ext cx="9885799" cy="5302578"/>
          </a:xfrm>
        </p:spPr>
        <p:txBody>
          <a:bodyPr anchor="t" anchorCtr="0">
            <a:normAutofit/>
          </a:bodyPr>
          <a:lstStyle/>
          <a:p>
            <a:pPr>
              <a:lnSpc>
                <a:spcPct val="140000"/>
              </a:lnSpc>
            </a:pPr>
            <a:r>
              <a:rPr lang="zh-CN" altLang="en-US" dirty="0"/>
              <a:t>指定变量的访问</a:t>
            </a:r>
            <a:endParaRPr lang="en-US" altLang="zh-CN" dirty="0"/>
          </a:p>
          <a:p>
            <a:pPr lvl="1">
              <a:lnSpc>
                <a:spcPct val="140000"/>
              </a:lnSpc>
            </a:pPr>
            <a:r>
              <a:rPr lang="zh-CN" altLang="en-US" dirty="0"/>
              <a:t>在声明变量时，在类型名后，可以指定变量为</a:t>
            </a:r>
            <a:r>
              <a:rPr lang="en-US" altLang="zh-CN" dirty="0"/>
              <a:t>public</a:t>
            </a:r>
            <a:r>
              <a:rPr lang="zh-CN" altLang="en-US" dirty="0"/>
              <a:t>或</a:t>
            </a:r>
            <a:r>
              <a:rPr lang="en-US" altLang="zh-CN" dirty="0"/>
              <a:t>private</a:t>
            </a:r>
          </a:p>
          <a:p>
            <a:pPr lvl="2">
              <a:lnSpc>
                <a:spcPct val="140000"/>
              </a:lnSpc>
            </a:pPr>
            <a:r>
              <a:rPr lang="zh-CN" altLang="en-US" dirty="0"/>
              <a:t>变量是否可以被合约的外部调用获取查询</a:t>
            </a:r>
            <a:endParaRPr lang="en-US" altLang="zh-CN" dirty="0"/>
          </a:p>
          <a:p>
            <a:pPr>
              <a:lnSpc>
                <a:spcPct val="140000"/>
              </a:lnSpc>
            </a:pPr>
            <a:r>
              <a:rPr lang="zh-CN" altLang="en-US" dirty="0"/>
              <a:t>指定变量的存储位置</a:t>
            </a:r>
            <a:endParaRPr lang="en-US" altLang="zh-CN" dirty="0"/>
          </a:p>
          <a:p>
            <a:pPr lvl="1">
              <a:lnSpc>
                <a:spcPct val="140000"/>
              </a:lnSpc>
            </a:pPr>
            <a:r>
              <a:rPr lang="zh-CN" altLang="en-US" dirty="0"/>
              <a:t>在声明变量时，在类型名后，可以指定变量的存储位置为</a:t>
            </a:r>
            <a:r>
              <a:rPr lang="en-US" altLang="zh-CN" dirty="0"/>
              <a:t>storage</a:t>
            </a:r>
            <a:r>
              <a:rPr lang="zh-CN" altLang="en-US" dirty="0"/>
              <a:t>或</a:t>
            </a:r>
            <a:r>
              <a:rPr lang="en-US" altLang="zh-CN" dirty="0"/>
              <a:t>memory</a:t>
            </a:r>
          </a:p>
          <a:p>
            <a:pPr lvl="2">
              <a:lnSpc>
                <a:spcPct val="140000"/>
              </a:lnSpc>
            </a:pPr>
            <a:r>
              <a:rPr lang="zh-CN" altLang="en-US" dirty="0"/>
              <a:t>变量保存在存储或是内存中。</a:t>
            </a:r>
            <a:endParaRPr lang="en-US" altLang="zh-CN" dirty="0"/>
          </a:p>
          <a:p>
            <a:pPr lvl="2">
              <a:lnSpc>
                <a:spcPct val="140000"/>
              </a:lnSpc>
            </a:pPr>
            <a:r>
              <a:rPr lang="zh-CN" altLang="en-US" dirty="0"/>
              <a:t>同样变量的不同存储位置涉及</a:t>
            </a:r>
            <a:r>
              <a:rPr lang="en-US" altLang="zh-CN" dirty="0"/>
              <a:t>Gas</a:t>
            </a:r>
            <a:r>
              <a:rPr lang="zh-CN" altLang="en-US" dirty="0"/>
              <a:t>计费的不同。一般情况下，各个变量有默认的存储位置，当编译器无法默认识别时，会提示开发者进行修改。</a:t>
            </a:r>
          </a:p>
          <a:p>
            <a:pPr>
              <a:lnSpc>
                <a:spcPct val="140000"/>
              </a:lnSpc>
            </a:pPr>
            <a:endParaRPr lang="zh-CN" altLang="en-US" dirty="0"/>
          </a:p>
          <a:p>
            <a:pPr>
              <a:lnSpc>
                <a:spcPct val="140000"/>
              </a:lnSpc>
            </a:pPr>
            <a:endParaRPr lang="zh-CN" altLang="zh-CN" dirty="0"/>
          </a:p>
          <a:p>
            <a:pPr lvl="1">
              <a:lnSpc>
                <a:spcPct val="140000"/>
              </a:lnSpc>
            </a:pP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57EA60E-053E-2142-8FE4-5A692A694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33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5928041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55A8A8-0864-814C-A327-6BBA68129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常用类型</a:t>
            </a:r>
          </a:p>
        </p:txBody>
      </p:sp>
      <p:sp>
        <p:nvSpPr>
          <p:cNvPr id="486" name="内容占位符 485">
            <a:extLst>
              <a:ext uri="{FF2B5EF4-FFF2-40B4-BE49-F238E27FC236}">
                <a16:creationId xmlns:a16="http://schemas.microsoft.com/office/drawing/2014/main" id="{5A1600D8-82EA-9E45-A9E6-6170EFC16A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5454" y="1418897"/>
            <a:ext cx="4651189" cy="5302578"/>
          </a:xfrm>
        </p:spPr>
        <p:txBody>
          <a:bodyPr anchor="t" anchorCtr="0">
            <a:normAutofit/>
          </a:bodyPr>
          <a:lstStyle/>
          <a:p>
            <a:pPr>
              <a:lnSpc>
                <a:spcPct val="140000"/>
              </a:lnSpc>
            </a:pPr>
            <a:r>
              <a:rPr lang="zh-CN" altLang="en-US" dirty="0"/>
              <a:t>实例：常用类型的编写</a:t>
            </a:r>
            <a:endParaRPr lang="en-US" altLang="zh-CN" dirty="0"/>
          </a:p>
          <a:p>
            <a:pPr lvl="1">
              <a:lnSpc>
                <a:spcPct val="140000"/>
              </a:lnSpc>
            </a:pPr>
            <a:r>
              <a:rPr lang="zh-CN" altLang="zh-CN" dirty="0"/>
              <a:t>参照</a:t>
            </a:r>
            <a:r>
              <a:rPr lang="en-US" altLang="zh-CN" dirty="0"/>
              <a:t>2.4.2</a:t>
            </a:r>
            <a:r>
              <a:rPr lang="zh-CN" altLang="zh-CN" dirty="0"/>
              <a:t>中的操作步骤，打开</a:t>
            </a:r>
            <a:r>
              <a:rPr lang="en-US" altLang="zh-CN" dirty="0"/>
              <a:t>Remix</a:t>
            </a:r>
            <a:r>
              <a:rPr lang="zh-CN" altLang="zh-CN" dirty="0"/>
              <a:t>在线编译器，键入代码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57EA60E-053E-2142-8FE4-5A692A694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34</a:t>
            </a:fld>
            <a:endParaRPr kumimoji="1"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089FBD6-4DA6-A547-B8DE-EFB56D0F35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645426" y="1418897"/>
            <a:ext cx="6151719" cy="494522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5537233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55A8A8-0864-814C-A327-6BBA68129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常用类型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57EA60E-053E-2142-8FE4-5A692A694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35</a:t>
            </a:fld>
            <a:endParaRPr kumimoji="1"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089FBD6-4DA6-A547-B8DE-EFB56D0F35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07508" y="1411126"/>
            <a:ext cx="6151719" cy="4945224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AAE72659-8CB7-FB42-B427-5AE4B7836BF7}"/>
              </a:ext>
            </a:extLst>
          </p:cNvPr>
          <p:cNvSpPr/>
          <p:nvPr/>
        </p:nvSpPr>
        <p:spPr>
          <a:xfrm>
            <a:off x="3210340" y="2458164"/>
            <a:ext cx="1401418" cy="344556"/>
          </a:xfrm>
          <a:prstGeom prst="rect">
            <a:avLst/>
          </a:prstGeom>
          <a:solidFill>
            <a:srgbClr val="EE6C4D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/>
              <a:t>声明结构体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246E11F-C9CC-BD46-99DB-E3725D74BBEA}"/>
              </a:ext>
            </a:extLst>
          </p:cNvPr>
          <p:cNvSpPr/>
          <p:nvPr/>
        </p:nvSpPr>
        <p:spPr>
          <a:xfrm>
            <a:off x="3727174" y="3904030"/>
            <a:ext cx="1762539" cy="344556"/>
          </a:xfrm>
          <a:prstGeom prst="rect">
            <a:avLst/>
          </a:prstGeom>
          <a:solidFill>
            <a:srgbClr val="EE6C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/>
              <a:t>声明结构体数组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A9EE9AD-6779-7044-976B-C61BA002FE72}"/>
              </a:ext>
            </a:extLst>
          </p:cNvPr>
          <p:cNvSpPr/>
          <p:nvPr/>
        </p:nvSpPr>
        <p:spPr>
          <a:xfrm>
            <a:off x="5268341" y="4248586"/>
            <a:ext cx="3175643" cy="344556"/>
          </a:xfrm>
          <a:prstGeom prst="rect">
            <a:avLst/>
          </a:prstGeom>
          <a:solidFill>
            <a:srgbClr val="EE6C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声明</a:t>
            </a:r>
            <a:r>
              <a:rPr lang="zh-CN" altLang="zh-CN" dirty="0"/>
              <a:t>一个整型到字符串的映射</a:t>
            </a:r>
            <a:r>
              <a:rPr lang="zh-CN" altLang="zh-CN" sz="1600" dirty="0"/>
              <a:t> </a:t>
            </a:r>
            <a:endParaRPr kumimoji="1" lang="zh-CN" altLang="en-US" sz="1600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0ABA0EF-2C74-A644-AEF9-C3CECD4BA545}"/>
              </a:ext>
            </a:extLst>
          </p:cNvPr>
          <p:cNvSpPr/>
          <p:nvPr/>
        </p:nvSpPr>
        <p:spPr>
          <a:xfrm>
            <a:off x="3458818" y="4698233"/>
            <a:ext cx="2782956" cy="344556"/>
          </a:xfrm>
          <a:prstGeom prst="rect">
            <a:avLst/>
          </a:prstGeom>
          <a:solidFill>
            <a:srgbClr val="EE6C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/>
              <a:t>在构造函数中进行初始化</a:t>
            </a:r>
          </a:p>
        </p:txBody>
      </p:sp>
    </p:spTree>
    <p:extLst>
      <p:ext uri="{BB962C8B-B14F-4D97-AF65-F5344CB8AC3E}">
        <p14:creationId xmlns:p14="http://schemas.microsoft.com/office/powerpoint/2010/main" val="143599173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55A8A8-0864-814C-A327-6BBA68129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常用类型</a:t>
            </a:r>
          </a:p>
        </p:txBody>
      </p:sp>
      <p:sp>
        <p:nvSpPr>
          <p:cNvPr id="486" name="内容占位符 485">
            <a:extLst>
              <a:ext uri="{FF2B5EF4-FFF2-40B4-BE49-F238E27FC236}">
                <a16:creationId xmlns:a16="http://schemas.microsoft.com/office/drawing/2014/main" id="{5A1600D8-82EA-9E45-A9E6-6170EFC16A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5454" y="1418897"/>
            <a:ext cx="5645104" cy="5302578"/>
          </a:xfrm>
        </p:spPr>
        <p:txBody>
          <a:bodyPr anchor="t" anchorCtr="0">
            <a:normAutofit/>
          </a:bodyPr>
          <a:lstStyle/>
          <a:p>
            <a:pPr>
              <a:lnSpc>
                <a:spcPct val="140000"/>
              </a:lnSpc>
            </a:pPr>
            <a:r>
              <a:rPr lang="zh-CN" altLang="en-US" dirty="0"/>
              <a:t>实例：常用类型测试</a:t>
            </a:r>
            <a:endParaRPr lang="en-US" altLang="zh-CN" dirty="0"/>
          </a:p>
          <a:p>
            <a:pPr lvl="1">
              <a:lnSpc>
                <a:spcPct val="140000"/>
              </a:lnSpc>
            </a:pPr>
            <a:r>
              <a:rPr lang="zh-CN" altLang="zh-CN" dirty="0"/>
              <a:t>对该合约进行部署</a:t>
            </a:r>
            <a:r>
              <a:rPr lang="zh-CN" altLang="en-US" dirty="0"/>
              <a:t>，</a:t>
            </a:r>
            <a:r>
              <a:rPr lang="zh-CN" altLang="zh-CN" dirty="0"/>
              <a:t>依次测试</a:t>
            </a:r>
            <a:r>
              <a:rPr lang="en-US" altLang="zh-CN" dirty="0" err="1"/>
              <a:t>myArray</a:t>
            </a:r>
            <a:r>
              <a:rPr lang="zh-CN" altLang="zh-CN" dirty="0"/>
              <a:t>和</a:t>
            </a:r>
            <a:r>
              <a:rPr lang="en-US" altLang="zh-CN" dirty="0" err="1"/>
              <a:t>myMapping</a:t>
            </a:r>
            <a:r>
              <a:rPr lang="zh-CN" altLang="zh-CN" dirty="0"/>
              <a:t>函数，即可获取构造函数执行后数组和映射的取值</a:t>
            </a:r>
            <a:endParaRPr lang="zh-CN" altLang="en-US" dirty="0"/>
          </a:p>
          <a:p>
            <a:pPr>
              <a:lnSpc>
                <a:spcPct val="140000"/>
              </a:lnSpc>
            </a:pPr>
            <a:endParaRPr lang="zh-CN" altLang="zh-CN" dirty="0"/>
          </a:p>
          <a:p>
            <a:pPr lvl="1">
              <a:lnSpc>
                <a:spcPct val="140000"/>
              </a:lnSpc>
            </a:pP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57EA60E-053E-2142-8FE4-5A692A694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36</a:t>
            </a:fld>
            <a:endParaRPr kumimoji="1"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67C11FC-48FE-7746-ABBC-0A08BFBBCE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640693" y="1506154"/>
            <a:ext cx="4028661" cy="458825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6767236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55A8A8-0864-814C-A327-6BBA68129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函数类型</a:t>
            </a:r>
          </a:p>
        </p:txBody>
      </p:sp>
      <p:sp>
        <p:nvSpPr>
          <p:cNvPr id="486" name="内容占位符 485">
            <a:extLst>
              <a:ext uri="{FF2B5EF4-FFF2-40B4-BE49-F238E27FC236}">
                <a16:creationId xmlns:a16="http://schemas.microsoft.com/office/drawing/2014/main" id="{5A1600D8-82EA-9E45-A9E6-6170EFC16A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5453" y="1418897"/>
            <a:ext cx="9885799" cy="5302578"/>
          </a:xfrm>
        </p:spPr>
        <p:txBody>
          <a:bodyPr anchor="t" anchorCtr="0">
            <a:normAutofit/>
          </a:bodyPr>
          <a:lstStyle/>
          <a:p>
            <a:pPr>
              <a:lnSpc>
                <a:spcPct val="140000"/>
              </a:lnSpc>
            </a:pPr>
            <a:r>
              <a:rPr lang="zh-CN" altLang="en-US" dirty="0"/>
              <a:t>函数的声明：在</a:t>
            </a:r>
            <a:r>
              <a:rPr lang="en-US" altLang="zh-CN" dirty="0"/>
              <a:t>Solidity</a:t>
            </a:r>
            <a:r>
              <a:rPr lang="zh-CN" altLang="en-US" dirty="0"/>
              <a:t>中，函数通过以下形式进行声明：</a:t>
            </a:r>
            <a:endParaRPr lang="en-US" altLang="zh-CN" dirty="0"/>
          </a:p>
          <a:p>
            <a:pPr lvl="1">
              <a:lnSpc>
                <a:spcPct val="140000"/>
              </a:lnSpc>
            </a:pPr>
            <a:r>
              <a:rPr lang="en-US" altLang="zh-CN" dirty="0"/>
              <a:t>function (</a:t>
            </a:r>
            <a:r>
              <a:rPr lang="zh-CN" altLang="en-US" dirty="0"/>
              <a:t>参数</a:t>
            </a:r>
            <a:r>
              <a:rPr lang="en-US" altLang="zh-CN" dirty="0"/>
              <a:t>) {</a:t>
            </a:r>
            <a:r>
              <a:rPr lang="en-US" altLang="zh-CN" dirty="0" err="1"/>
              <a:t>public|private|internal|external</a:t>
            </a:r>
            <a:r>
              <a:rPr lang="en-US" altLang="zh-CN" dirty="0"/>
              <a:t>}</a:t>
            </a:r>
          </a:p>
          <a:p>
            <a:pPr lvl="1">
              <a:lnSpc>
                <a:spcPct val="140000"/>
              </a:lnSpc>
            </a:pPr>
            <a:r>
              <a:rPr lang="en-US" altLang="zh-CN" dirty="0"/>
              <a:t>[</a:t>
            </a:r>
            <a:r>
              <a:rPr lang="en-US" altLang="zh-CN" dirty="0" err="1"/>
              <a:t>pure|constant|view|payable</a:t>
            </a:r>
            <a:r>
              <a:rPr lang="en-US" altLang="zh-CN" dirty="0"/>
              <a:t>] [returns (</a:t>
            </a:r>
            <a:r>
              <a:rPr lang="zh-CN" altLang="en-US" dirty="0"/>
              <a:t>返回值</a:t>
            </a:r>
            <a:r>
              <a:rPr lang="en-US" altLang="zh-CN" dirty="0"/>
              <a:t>)]</a:t>
            </a:r>
          </a:p>
          <a:p>
            <a:pPr lvl="1">
              <a:lnSpc>
                <a:spcPct val="140000"/>
              </a:lnSpc>
            </a:pPr>
            <a:r>
              <a:rPr lang="en-US" altLang="zh-CN" dirty="0"/>
              <a:t>[]</a:t>
            </a:r>
            <a:r>
              <a:rPr lang="zh-CN" altLang="en-US" dirty="0"/>
              <a:t>中的选项为可选的函数类型描述。</a:t>
            </a:r>
          </a:p>
          <a:p>
            <a:pPr>
              <a:lnSpc>
                <a:spcPct val="140000"/>
              </a:lnSpc>
            </a:pPr>
            <a:endParaRPr lang="zh-CN" altLang="en-US" dirty="0"/>
          </a:p>
          <a:p>
            <a:pPr>
              <a:lnSpc>
                <a:spcPct val="140000"/>
              </a:lnSpc>
            </a:pPr>
            <a:endParaRPr lang="zh-CN" altLang="zh-CN" dirty="0"/>
          </a:p>
          <a:p>
            <a:pPr lvl="1">
              <a:lnSpc>
                <a:spcPct val="140000"/>
              </a:lnSpc>
            </a:pP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57EA60E-053E-2142-8FE4-5A692A694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37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1067742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55A8A8-0864-814C-A327-6BBA68129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函数类型</a:t>
            </a:r>
          </a:p>
        </p:txBody>
      </p:sp>
      <p:sp>
        <p:nvSpPr>
          <p:cNvPr id="486" name="内容占位符 485">
            <a:extLst>
              <a:ext uri="{FF2B5EF4-FFF2-40B4-BE49-F238E27FC236}">
                <a16:creationId xmlns:a16="http://schemas.microsoft.com/office/drawing/2014/main" id="{5A1600D8-82EA-9E45-A9E6-6170EFC16A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5453" y="1418897"/>
            <a:ext cx="9885799" cy="5302578"/>
          </a:xfrm>
        </p:spPr>
        <p:txBody>
          <a:bodyPr anchor="t" anchorCtr="0">
            <a:normAutofit/>
          </a:bodyPr>
          <a:lstStyle/>
          <a:p>
            <a:pPr>
              <a:lnSpc>
                <a:spcPct val="140000"/>
              </a:lnSpc>
            </a:pPr>
            <a:r>
              <a:rPr lang="zh-CN" altLang="en-US" dirty="0"/>
              <a:t>不同选项类型对函数的作用效果 </a:t>
            </a:r>
            <a:endParaRPr lang="en-US" altLang="zh-CN" dirty="0"/>
          </a:p>
          <a:p>
            <a:pPr>
              <a:lnSpc>
                <a:spcPct val="140000"/>
              </a:lnSpc>
            </a:pPr>
            <a:endParaRPr lang="zh-CN" altLang="en-US" dirty="0"/>
          </a:p>
          <a:p>
            <a:pPr>
              <a:lnSpc>
                <a:spcPct val="140000"/>
              </a:lnSpc>
            </a:pPr>
            <a:endParaRPr lang="zh-CN" altLang="zh-CN" dirty="0"/>
          </a:p>
          <a:p>
            <a:pPr lvl="1">
              <a:lnSpc>
                <a:spcPct val="140000"/>
              </a:lnSpc>
            </a:pP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57EA60E-053E-2142-8FE4-5A692A694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38</a:t>
            </a:fld>
            <a:endParaRPr kumimoji="1" lang="zh-CN" altLang="en-US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C08C53AB-7B5B-0749-BC41-E744E06591F9}"/>
              </a:ext>
            </a:extLst>
          </p:cNvPr>
          <p:cNvGraphicFramePr>
            <a:graphicFrameLocks noGrp="1"/>
          </p:cNvGraphicFramePr>
          <p:nvPr/>
        </p:nvGraphicFramePr>
        <p:xfrm>
          <a:off x="1510748" y="2171299"/>
          <a:ext cx="8472995" cy="4321575"/>
        </p:xfrm>
        <a:graphic>
          <a:graphicData uri="http://schemas.openxmlformats.org/drawingml/2006/table">
            <a:tbl>
              <a:tblPr firstRow="1" firstCol="1" bandRow="1">
                <a:tableStyleId>{F5AB1C69-6EDB-4FF4-983F-18BD219EF322}</a:tableStyleId>
              </a:tblPr>
              <a:tblGrid>
                <a:gridCol w="1864892">
                  <a:extLst>
                    <a:ext uri="{9D8B030D-6E8A-4147-A177-3AD203B41FA5}">
                      <a16:colId xmlns:a16="http://schemas.microsoft.com/office/drawing/2014/main" val="2078583473"/>
                    </a:ext>
                  </a:extLst>
                </a:gridCol>
                <a:gridCol w="6608103">
                  <a:extLst>
                    <a:ext uri="{9D8B030D-6E8A-4147-A177-3AD203B41FA5}">
                      <a16:colId xmlns:a16="http://schemas.microsoft.com/office/drawing/2014/main" val="624288399"/>
                    </a:ext>
                  </a:extLst>
                </a:gridCol>
              </a:tblGrid>
              <a:tr h="360131">
                <a:tc>
                  <a:txBody>
                    <a:bodyPr/>
                    <a:lstStyle/>
                    <a:p>
                      <a:pPr marL="111125" indent="-111125" algn="ctr">
                        <a:spcAft>
                          <a:spcPts val="780"/>
                        </a:spcAft>
                      </a:pPr>
                      <a:r>
                        <a:rPr lang="zh-CN" sz="1800" kern="0">
                          <a:effectLst/>
                        </a:rPr>
                        <a:t>类型</a:t>
                      </a:r>
                      <a:endParaRPr lang="zh-CN" sz="18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5400" algn="ctr">
                        <a:spcAft>
                          <a:spcPts val="780"/>
                        </a:spcAft>
                      </a:pPr>
                      <a:r>
                        <a:rPr lang="zh-CN" sz="1800" kern="0" dirty="0">
                          <a:effectLst/>
                        </a:rPr>
                        <a:t>作用</a:t>
                      </a:r>
                      <a:endParaRPr lang="zh-CN" sz="18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93466232"/>
                  </a:ext>
                </a:extLst>
              </a:tr>
              <a:tr h="360131">
                <a:tc>
                  <a:txBody>
                    <a:bodyPr/>
                    <a:lstStyle/>
                    <a:p>
                      <a:pPr algn="ctr">
                        <a:spcAft>
                          <a:spcPts val="780"/>
                        </a:spcAft>
                      </a:pPr>
                      <a:r>
                        <a:rPr lang="en-US" sz="1800" kern="0">
                          <a:effectLst/>
                        </a:rPr>
                        <a:t>public</a:t>
                      </a:r>
                      <a:endParaRPr lang="zh-CN" sz="18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5400" algn="ctr">
                        <a:spcAft>
                          <a:spcPts val="780"/>
                        </a:spcAft>
                      </a:pPr>
                      <a:r>
                        <a:rPr lang="zh-CN" sz="1800" kern="0" dirty="0">
                          <a:effectLst/>
                        </a:rPr>
                        <a:t>对合约内外均可见，即可被外部的人或合约调用。</a:t>
                      </a:r>
                      <a:endParaRPr lang="zh-CN" sz="18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229199970"/>
                  </a:ext>
                </a:extLst>
              </a:tr>
              <a:tr h="360131">
                <a:tc>
                  <a:txBody>
                    <a:bodyPr/>
                    <a:lstStyle/>
                    <a:p>
                      <a:pPr algn="ctr">
                        <a:spcAft>
                          <a:spcPts val="780"/>
                        </a:spcAft>
                      </a:pPr>
                      <a:r>
                        <a:rPr lang="en-US" sz="1800" kern="0">
                          <a:effectLst/>
                        </a:rPr>
                        <a:t>private</a:t>
                      </a:r>
                      <a:endParaRPr lang="zh-CN" sz="18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5400" algn="ctr">
                        <a:spcAft>
                          <a:spcPts val="780"/>
                        </a:spcAft>
                      </a:pPr>
                      <a:r>
                        <a:rPr lang="zh-CN" sz="1800" kern="0" dirty="0">
                          <a:effectLst/>
                        </a:rPr>
                        <a:t>对合约内可见。</a:t>
                      </a:r>
                      <a:endParaRPr lang="zh-CN" sz="18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061043740"/>
                  </a:ext>
                </a:extLst>
              </a:tr>
              <a:tr h="720263">
                <a:tc>
                  <a:txBody>
                    <a:bodyPr/>
                    <a:lstStyle/>
                    <a:p>
                      <a:pPr algn="ctr">
                        <a:spcAft>
                          <a:spcPts val="780"/>
                        </a:spcAft>
                      </a:pPr>
                      <a:r>
                        <a:rPr lang="en-US" sz="1800" kern="0">
                          <a:effectLst/>
                        </a:rPr>
                        <a:t>internal</a:t>
                      </a:r>
                      <a:endParaRPr lang="zh-CN" sz="18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5400" algn="ctr">
                        <a:spcAft>
                          <a:spcPts val="780"/>
                        </a:spcAft>
                      </a:pPr>
                      <a:r>
                        <a:rPr lang="zh-CN" sz="1800" kern="0" dirty="0">
                          <a:effectLst/>
                        </a:rPr>
                        <a:t>仅对内部可见，注意，是对当前</a:t>
                      </a:r>
                      <a:r>
                        <a:rPr lang="en-US" sz="1800" kern="0" dirty="0">
                          <a:effectLst/>
                        </a:rPr>
                        <a:t>Solidity</a:t>
                      </a:r>
                      <a:r>
                        <a:rPr lang="zh-CN" sz="1800" kern="0" dirty="0">
                          <a:effectLst/>
                        </a:rPr>
                        <a:t>源文件内的合约可见。</a:t>
                      </a:r>
                      <a:endParaRPr lang="zh-CN" sz="18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567396421"/>
                  </a:ext>
                </a:extLst>
              </a:tr>
              <a:tr h="360131">
                <a:tc>
                  <a:txBody>
                    <a:bodyPr/>
                    <a:lstStyle/>
                    <a:p>
                      <a:pPr algn="ctr">
                        <a:spcAft>
                          <a:spcPts val="780"/>
                        </a:spcAft>
                      </a:pPr>
                      <a:r>
                        <a:rPr lang="en-US" sz="1800" kern="0">
                          <a:effectLst/>
                        </a:rPr>
                        <a:t>external</a:t>
                      </a:r>
                      <a:endParaRPr lang="zh-CN" sz="18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5400" algn="ctr">
                        <a:spcAft>
                          <a:spcPts val="780"/>
                        </a:spcAft>
                      </a:pPr>
                      <a:r>
                        <a:rPr lang="zh-CN" sz="1800" kern="0" dirty="0">
                          <a:effectLst/>
                        </a:rPr>
                        <a:t>仅对外部可见，仅能通过合约</a:t>
                      </a:r>
                      <a:r>
                        <a:rPr lang="en-US" sz="1800" kern="0" dirty="0">
                          <a:effectLst/>
                        </a:rPr>
                        <a:t>.</a:t>
                      </a:r>
                      <a:r>
                        <a:rPr lang="zh-CN" sz="1800" kern="0" dirty="0">
                          <a:effectLst/>
                        </a:rPr>
                        <a:t>函数的形式调用。</a:t>
                      </a:r>
                      <a:endParaRPr lang="zh-CN" sz="18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174968551"/>
                  </a:ext>
                </a:extLst>
              </a:tr>
              <a:tr h="360131">
                <a:tc>
                  <a:txBody>
                    <a:bodyPr/>
                    <a:lstStyle/>
                    <a:p>
                      <a:pPr algn="ctr">
                        <a:spcAft>
                          <a:spcPts val="780"/>
                        </a:spcAft>
                      </a:pPr>
                      <a:r>
                        <a:rPr lang="en-US" sz="1800" kern="0">
                          <a:effectLst/>
                        </a:rPr>
                        <a:t>pure</a:t>
                      </a:r>
                      <a:endParaRPr lang="zh-CN" sz="18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5400" algn="ctr">
                        <a:spcAft>
                          <a:spcPts val="780"/>
                        </a:spcAft>
                      </a:pPr>
                      <a:r>
                        <a:rPr lang="zh-CN" sz="1800" kern="0" dirty="0">
                          <a:effectLst/>
                        </a:rPr>
                        <a:t>不允许函数读取或写入状态。</a:t>
                      </a:r>
                      <a:endParaRPr lang="zh-CN" sz="18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48358797"/>
                  </a:ext>
                </a:extLst>
              </a:tr>
              <a:tr h="360131">
                <a:tc>
                  <a:txBody>
                    <a:bodyPr/>
                    <a:lstStyle/>
                    <a:p>
                      <a:pPr algn="ctr">
                        <a:spcAft>
                          <a:spcPts val="780"/>
                        </a:spcAft>
                      </a:pPr>
                      <a:r>
                        <a:rPr lang="en-US" sz="1800" kern="0">
                          <a:effectLst/>
                        </a:rPr>
                        <a:t>constant</a:t>
                      </a:r>
                      <a:endParaRPr lang="zh-CN" sz="18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5400" algn="ctr">
                        <a:spcAft>
                          <a:spcPts val="780"/>
                        </a:spcAft>
                      </a:pPr>
                      <a:r>
                        <a:rPr lang="zh-CN" sz="1800" kern="0" dirty="0">
                          <a:effectLst/>
                        </a:rPr>
                        <a:t>不允许函数写入状态。</a:t>
                      </a:r>
                      <a:endParaRPr lang="zh-CN" sz="18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90092831"/>
                  </a:ext>
                </a:extLst>
              </a:tr>
              <a:tr h="720263">
                <a:tc>
                  <a:txBody>
                    <a:bodyPr/>
                    <a:lstStyle/>
                    <a:p>
                      <a:pPr algn="ctr">
                        <a:spcAft>
                          <a:spcPts val="780"/>
                        </a:spcAft>
                      </a:pPr>
                      <a:r>
                        <a:rPr lang="en-US" sz="1800" kern="0">
                          <a:effectLst/>
                        </a:rPr>
                        <a:t>view</a:t>
                      </a:r>
                      <a:endParaRPr lang="zh-CN" sz="18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553210" algn="l">
                        <a:spcAft>
                          <a:spcPts val="780"/>
                        </a:spcAft>
                      </a:pPr>
                      <a:r>
                        <a:rPr lang="zh-CN" sz="1800" kern="0" dirty="0">
                          <a:effectLst/>
                        </a:rPr>
                        <a:t>同</a:t>
                      </a:r>
                      <a:r>
                        <a:rPr lang="en-US" sz="1800" kern="0" dirty="0">
                          <a:effectLst/>
                        </a:rPr>
                        <a:t>constant</a:t>
                      </a:r>
                      <a:r>
                        <a:rPr lang="zh-CN" sz="1800" kern="0" dirty="0">
                          <a:effectLst/>
                        </a:rPr>
                        <a:t>，不允许函数写入状态</a:t>
                      </a:r>
                      <a:r>
                        <a:rPr lang="zh-CN" altLang="en-US" sz="1800" kern="0" dirty="0">
                          <a:effectLst/>
                        </a:rPr>
                        <a:t>。</a:t>
                      </a:r>
                      <a:endParaRPr lang="zh-CN" sz="18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620077823"/>
                  </a:ext>
                </a:extLst>
              </a:tr>
              <a:tr h="720263">
                <a:tc>
                  <a:txBody>
                    <a:bodyPr/>
                    <a:lstStyle/>
                    <a:p>
                      <a:pPr algn="ctr">
                        <a:spcAft>
                          <a:spcPts val="780"/>
                        </a:spcAft>
                      </a:pPr>
                      <a:r>
                        <a:rPr lang="en-US" sz="1800" kern="0">
                          <a:effectLst/>
                        </a:rPr>
                        <a:t>payable</a:t>
                      </a:r>
                      <a:endParaRPr lang="zh-CN" sz="18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25400" algn="ctr">
                        <a:spcAft>
                          <a:spcPts val="780"/>
                        </a:spcAft>
                      </a:pPr>
                      <a:r>
                        <a:rPr lang="zh-CN" sz="1800" kern="0" dirty="0">
                          <a:effectLst/>
                        </a:rPr>
                        <a:t>允许函数接收以太币。注意，在调用合约时，对不带有</a:t>
                      </a:r>
                      <a:r>
                        <a:rPr lang="en-US" sz="1800" kern="0" dirty="0">
                          <a:effectLst/>
                        </a:rPr>
                        <a:t>payable</a:t>
                      </a:r>
                      <a:r>
                        <a:rPr lang="zh-CN" sz="1800" kern="0" dirty="0">
                          <a:effectLst/>
                        </a:rPr>
                        <a:t>的函数进行带有以太币的转账将导致调用失败。</a:t>
                      </a:r>
                      <a:endParaRPr lang="zh-CN" sz="18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2222083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9430709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55A8A8-0864-814C-A327-6BBA68129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特殊变量</a:t>
            </a:r>
          </a:p>
        </p:txBody>
      </p:sp>
      <p:sp>
        <p:nvSpPr>
          <p:cNvPr id="486" name="内容占位符 485">
            <a:extLst>
              <a:ext uri="{FF2B5EF4-FFF2-40B4-BE49-F238E27FC236}">
                <a16:creationId xmlns:a16="http://schemas.microsoft.com/office/drawing/2014/main" id="{5A1600D8-82EA-9E45-A9E6-6170EFC16A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5453" y="1418897"/>
            <a:ext cx="9885799" cy="5302578"/>
          </a:xfrm>
        </p:spPr>
        <p:txBody>
          <a:bodyPr anchor="t" anchorCtr="0">
            <a:normAutofit/>
          </a:bodyPr>
          <a:lstStyle/>
          <a:p>
            <a:pPr>
              <a:lnSpc>
                <a:spcPct val="140000"/>
              </a:lnSpc>
            </a:pPr>
            <a:r>
              <a:rPr lang="zh-CN" altLang="en-US" dirty="0"/>
              <a:t>特殊变量的由来</a:t>
            </a:r>
            <a:endParaRPr lang="en-US" altLang="zh-CN" dirty="0"/>
          </a:p>
          <a:p>
            <a:pPr lvl="1">
              <a:lnSpc>
                <a:spcPct val="140000"/>
              </a:lnSpc>
            </a:pPr>
            <a:r>
              <a:rPr lang="zh-CN" altLang="zh-CN" dirty="0"/>
              <a:t>以太坊虚拟机提供了获取部分区块链信息的操作码，在</a:t>
            </a:r>
            <a:r>
              <a:rPr lang="en-US" altLang="zh-CN" dirty="0"/>
              <a:t>Solidity</a:t>
            </a:r>
            <a:r>
              <a:rPr lang="zh-CN" altLang="zh-CN" dirty="0"/>
              <a:t>中，相对应地，也预设了一些特殊变量和函数</a:t>
            </a:r>
            <a:endParaRPr lang="en-US" altLang="zh-CN" dirty="0"/>
          </a:p>
          <a:p>
            <a:pPr lvl="1">
              <a:lnSpc>
                <a:spcPct val="140000"/>
              </a:lnSpc>
            </a:pPr>
            <a:r>
              <a:rPr lang="zh-CN" altLang="en-US" dirty="0"/>
              <a:t>在</a:t>
            </a:r>
            <a:r>
              <a:rPr lang="en-US" altLang="zh-CN" dirty="0"/>
              <a:t>Remix</a:t>
            </a:r>
            <a:r>
              <a:rPr lang="zh-CN" altLang="zh-CN" dirty="0"/>
              <a:t>编译器中</a:t>
            </a:r>
            <a:r>
              <a:rPr lang="zh-CN" altLang="en-US" dirty="0"/>
              <a:t>可尝试得到</a:t>
            </a:r>
            <a:r>
              <a:rPr lang="zh-CN" altLang="zh-CN" dirty="0"/>
              <a:t>各个变量的返回值</a:t>
            </a:r>
            <a:endParaRPr lang="en-US" altLang="zh-CN" dirty="0"/>
          </a:p>
          <a:p>
            <a:pPr>
              <a:lnSpc>
                <a:spcPct val="140000"/>
              </a:lnSpc>
            </a:pPr>
            <a:endParaRPr lang="zh-CN" altLang="zh-CN" dirty="0"/>
          </a:p>
          <a:p>
            <a:pPr lvl="1">
              <a:lnSpc>
                <a:spcPct val="140000"/>
              </a:lnSpc>
            </a:pP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57EA60E-053E-2142-8FE4-5A692A694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39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9984735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55A8A8-0864-814C-A327-6BBA68129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特殊变量</a:t>
            </a:r>
          </a:p>
        </p:txBody>
      </p:sp>
      <p:sp>
        <p:nvSpPr>
          <p:cNvPr id="486" name="内容占位符 485">
            <a:extLst>
              <a:ext uri="{FF2B5EF4-FFF2-40B4-BE49-F238E27FC236}">
                <a16:creationId xmlns:a16="http://schemas.microsoft.com/office/drawing/2014/main" id="{5A1600D8-82EA-9E45-A9E6-6170EFC16A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5453" y="1418897"/>
            <a:ext cx="9885799" cy="5302578"/>
          </a:xfrm>
        </p:spPr>
        <p:txBody>
          <a:bodyPr anchor="t" anchorCtr="0">
            <a:normAutofit/>
          </a:bodyPr>
          <a:lstStyle/>
          <a:p>
            <a:pPr>
              <a:lnSpc>
                <a:spcPct val="140000"/>
              </a:lnSpc>
            </a:pPr>
            <a:r>
              <a:rPr lang="zh-CN" altLang="en-US" dirty="0"/>
              <a:t>常用特殊变量</a:t>
            </a:r>
            <a:endParaRPr lang="en-US" altLang="zh-CN" dirty="0"/>
          </a:p>
          <a:p>
            <a:pPr lvl="1">
              <a:lnSpc>
                <a:spcPct val="140000"/>
              </a:lnSpc>
            </a:pPr>
            <a:r>
              <a:rPr lang="en-US" altLang="zh-CN" dirty="0" err="1"/>
              <a:t>block.blockhash</a:t>
            </a:r>
            <a:r>
              <a:rPr lang="en-US" altLang="zh-CN" dirty="0"/>
              <a:t>(</a:t>
            </a:r>
            <a:r>
              <a:rPr lang="zh-CN" altLang="en-US" dirty="0"/>
              <a:t>区块号参数</a:t>
            </a:r>
            <a:r>
              <a:rPr lang="en-US" altLang="zh-CN" dirty="0"/>
              <a:t>)</a:t>
            </a:r>
            <a:r>
              <a:rPr lang="zh-CN" altLang="en-US" dirty="0"/>
              <a:t>：近</a:t>
            </a:r>
            <a:r>
              <a:rPr lang="en-US" altLang="zh-CN" dirty="0"/>
              <a:t>256</a:t>
            </a:r>
            <a:r>
              <a:rPr lang="zh-CN" altLang="en-US" dirty="0"/>
              <a:t>个区块哈希；</a:t>
            </a:r>
          </a:p>
          <a:p>
            <a:pPr lvl="1">
              <a:lnSpc>
                <a:spcPct val="140000"/>
              </a:lnSpc>
            </a:pPr>
            <a:r>
              <a:rPr lang="en-US" altLang="zh-CN" dirty="0" err="1"/>
              <a:t>block.coinbase</a:t>
            </a:r>
            <a:r>
              <a:rPr lang="en-US" altLang="zh-CN" dirty="0"/>
              <a:t>: </a:t>
            </a:r>
            <a:r>
              <a:rPr lang="zh-CN" altLang="en-US" dirty="0"/>
              <a:t>合约交易所处区块的矿工地址；</a:t>
            </a:r>
          </a:p>
          <a:p>
            <a:pPr lvl="1">
              <a:lnSpc>
                <a:spcPct val="140000"/>
              </a:lnSpc>
            </a:pPr>
            <a:r>
              <a:rPr lang="en-US" altLang="zh-CN" dirty="0" err="1"/>
              <a:t>block.difficulty</a:t>
            </a:r>
            <a:r>
              <a:rPr lang="en-US" altLang="zh-CN" dirty="0"/>
              <a:t>: </a:t>
            </a:r>
            <a:r>
              <a:rPr lang="zh-CN" altLang="en-US" dirty="0"/>
              <a:t>合约交易所处区块的挖矿难度；</a:t>
            </a:r>
          </a:p>
          <a:p>
            <a:pPr lvl="1">
              <a:lnSpc>
                <a:spcPct val="140000"/>
              </a:lnSpc>
            </a:pPr>
            <a:r>
              <a:rPr lang="en-US" altLang="zh-CN" dirty="0" err="1"/>
              <a:t>block.gaslimit</a:t>
            </a:r>
            <a:r>
              <a:rPr lang="en-US" altLang="zh-CN" dirty="0"/>
              <a:t>: </a:t>
            </a:r>
            <a:r>
              <a:rPr lang="zh-CN" altLang="en-US" dirty="0"/>
              <a:t>合约交易所处区块的</a:t>
            </a:r>
            <a:r>
              <a:rPr lang="en-US" altLang="zh-CN" dirty="0" err="1"/>
              <a:t>gasLimit</a:t>
            </a:r>
            <a:r>
              <a:rPr lang="zh-CN" altLang="en-US" dirty="0"/>
              <a:t>；</a:t>
            </a:r>
          </a:p>
          <a:p>
            <a:pPr lvl="1">
              <a:lnSpc>
                <a:spcPct val="140000"/>
              </a:lnSpc>
            </a:pPr>
            <a:r>
              <a:rPr lang="en-US" altLang="zh-CN" dirty="0" err="1"/>
              <a:t>block.number</a:t>
            </a:r>
            <a:r>
              <a:rPr lang="en-US" altLang="zh-CN" dirty="0"/>
              <a:t>: </a:t>
            </a:r>
            <a:r>
              <a:rPr lang="zh-CN" altLang="en-US" dirty="0"/>
              <a:t>合约交易所处区块的高度；</a:t>
            </a:r>
          </a:p>
          <a:p>
            <a:pPr lvl="1">
              <a:lnSpc>
                <a:spcPct val="140000"/>
              </a:lnSpc>
            </a:pPr>
            <a:r>
              <a:rPr lang="en-US" altLang="zh-CN" dirty="0" err="1"/>
              <a:t>block.timestamp</a:t>
            </a:r>
            <a:r>
              <a:rPr lang="en-US" altLang="zh-CN" dirty="0"/>
              <a:t>: </a:t>
            </a:r>
            <a:r>
              <a:rPr lang="zh-CN" altLang="en-US" dirty="0"/>
              <a:t>合约交易所处区块的时间戳；</a:t>
            </a:r>
          </a:p>
          <a:p>
            <a:pPr>
              <a:lnSpc>
                <a:spcPct val="140000"/>
              </a:lnSpc>
            </a:pPr>
            <a:endParaRPr lang="zh-CN" altLang="zh-CN" dirty="0"/>
          </a:p>
          <a:p>
            <a:pPr lvl="1">
              <a:lnSpc>
                <a:spcPct val="140000"/>
              </a:lnSpc>
            </a:pP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57EA60E-053E-2142-8FE4-5A692A694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40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7436982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55A8A8-0864-814C-A327-6BBA68129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特殊变量</a:t>
            </a:r>
          </a:p>
        </p:txBody>
      </p:sp>
      <p:sp>
        <p:nvSpPr>
          <p:cNvPr id="486" name="内容占位符 485">
            <a:extLst>
              <a:ext uri="{FF2B5EF4-FFF2-40B4-BE49-F238E27FC236}">
                <a16:creationId xmlns:a16="http://schemas.microsoft.com/office/drawing/2014/main" id="{5A1600D8-82EA-9E45-A9E6-6170EFC16A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5453" y="1418897"/>
            <a:ext cx="9885799" cy="5302578"/>
          </a:xfrm>
        </p:spPr>
        <p:txBody>
          <a:bodyPr anchor="t" anchorCtr="0">
            <a:normAutofit/>
          </a:bodyPr>
          <a:lstStyle/>
          <a:p>
            <a:pPr>
              <a:lnSpc>
                <a:spcPct val="140000"/>
              </a:lnSpc>
            </a:pPr>
            <a:r>
              <a:rPr lang="zh-CN" altLang="en-US" dirty="0"/>
              <a:t>常用特殊变量</a:t>
            </a:r>
            <a:endParaRPr lang="en-US" altLang="zh-CN" dirty="0"/>
          </a:p>
          <a:p>
            <a:pPr lvl="1">
              <a:lnSpc>
                <a:spcPct val="140000"/>
              </a:lnSpc>
            </a:pPr>
            <a:r>
              <a:rPr lang="en-US" altLang="zh-CN" dirty="0" err="1"/>
              <a:t>gasleft</a:t>
            </a:r>
            <a:r>
              <a:rPr lang="en-US" altLang="zh-CN" dirty="0"/>
              <a:t>()</a:t>
            </a:r>
            <a:r>
              <a:rPr lang="zh-CN" altLang="en-US" dirty="0"/>
              <a:t>：合约交易剩余可用</a:t>
            </a:r>
            <a:r>
              <a:rPr lang="en-US" altLang="zh-CN" dirty="0"/>
              <a:t>gas</a:t>
            </a:r>
            <a:r>
              <a:rPr lang="zh-CN" altLang="en-US" dirty="0"/>
              <a:t>，即</a:t>
            </a:r>
            <a:r>
              <a:rPr lang="en-US" altLang="zh-CN" dirty="0" err="1"/>
              <a:t>gasLimit</a:t>
            </a:r>
            <a:r>
              <a:rPr lang="en-US" altLang="zh-CN" dirty="0"/>
              <a:t>-</a:t>
            </a:r>
            <a:r>
              <a:rPr lang="zh-CN" altLang="en-US" dirty="0"/>
              <a:t>当前</a:t>
            </a:r>
            <a:r>
              <a:rPr lang="en-US" altLang="zh-CN" dirty="0" err="1"/>
              <a:t>gasUsed</a:t>
            </a:r>
            <a:r>
              <a:rPr lang="zh-CN" altLang="en-US" dirty="0"/>
              <a:t>；</a:t>
            </a:r>
            <a:endParaRPr lang="en-US" altLang="zh-CN" dirty="0">
              <a:solidFill>
                <a:srgbClr val="C00000"/>
              </a:solidFill>
            </a:endParaRPr>
          </a:p>
          <a:p>
            <a:pPr lvl="1">
              <a:lnSpc>
                <a:spcPct val="140000"/>
              </a:lnSpc>
            </a:pPr>
            <a:r>
              <a:rPr lang="en-US" altLang="zh-CN" dirty="0" err="1"/>
              <a:t>msg.data</a:t>
            </a:r>
            <a:r>
              <a:rPr lang="en-US" altLang="zh-CN" dirty="0"/>
              <a:t>: </a:t>
            </a:r>
            <a:r>
              <a:rPr lang="zh-CN" altLang="en-US" dirty="0"/>
              <a:t>合约消息的</a:t>
            </a:r>
            <a:r>
              <a:rPr lang="en-US" altLang="zh-CN" dirty="0" err="1"/>
              <a:t>calldata</a:t>
            </a:r>
            <a:r>
              <a:rPr lang="zh-CN" altLang="en-US" dirty="0"/>
              <a:t>（一笔交易中可发生多次调用，即多条消息，下同）；</a:t>
            </a:r>
          </a:p>
          <a:p>
            <a:pPr lvl="1">
              <a:lnSpc>
                <a:spcPct val="140000"/>
              </a:lnSpc>
            </a:pPr>
            <a:r>
              <a:rPr lang="en-US" altLang="zh-CN" dirty="0" err="1"/>
              <a:t>msg.gas</a:t>
            </a:r>
            <a:r>
              <a:rPr lang="en-US" altLang="zh-CN" dirty="0"/>
              <a:t>: </a:t>
            </a:r>
            <a:r>
              <a:rPr lang="zh-CN" altLang="en-US" dirty="0"/>
              <a:t>合约消息剩余可用</a:t>
            </a:r>
            <a:r>
              <a:rPr lang="en-US" altLang="zh-CN" dirty="0"/>
              <a:t>gas </a:t>
            </a:r>
            <a:r>
              <a:rPr lang="zh-CN" altLang="en-US" dirty="0"/>
              <a:t>；</a:t>
            </a:r>
          </a:p>
          <a:p>
            <a:pPr lvl="1">
              <a:lnSpc>
                <a:spcPct val="140000"/>
              </a:lnSpc>
            </a:pPr>
            <a:r>
              <a:rPr lang="en-US" altLang="zh-CN" dirty="0" err="1"/>
              <a:t>msg.sender</a:t>
            </a:r>
            <a:r>
              <a:rPr lang="en-US" altLang="zh-CN" dirty="0"/>
              <a:t>: </a:t>
            </a:r>
            <a:r>
              <a:rPr lang="zh-CN" altLang="en-US" dirty="0"/>
              <a:t>合约消息发送者；</a:t>
            </a:r>
          </a:p>
          <a:p>
            <a:pPr lvl="1">
              <a:lnSpc>
                <a:spcPct val="140000"/>
              </a:lnSpc>
            </a:pPr>
            <a:r>
              <a:rPr lang="en-US" altLang="zh-CN" dirty="0" err="1"/>
              <a:t>msg.sig</a:t>
            </a:r>
            <a:r>
              <a:rPr lang="en-US" altLang="zh-CN" dirty="0"/>
              <a:t>: </a:t>
            </a:r>
            <a:r>
              <a:rPr lang="zh-CN" altLang="en-US" dirty="0"/>
              <a:t>合约消息的</a:t>
            </a:r>
            <a:r>
              <a:rPr lang="en-US" altLang="zh-CN" dirty="0" err="1"/>
              <a:t>calldata</a:t>
            </a:r>
            <a:r>
              <a:rPr lang="en-US" altLang="zh-CN" dirty="0"/>
              <a:t> </a:t>
            </a:r>
            <a:r>
              <a:rPr lang="zh-CN" altLang="en-US" dirty="0"/>
              <a:t>的前 </a:t>
            </a:r>
            <a:r>
              <a:rPr lang="en-US" altLang="zh-CN" dirty="0"/>
              <a:t>4 </a:t>
            </a:r>
            <a:r>
              <a:rPr lang="zh-CN" altLang="en-US" dirty="0"/>
              <a:t>字节，即函数标识符。（同样函数名与参数类型的函数，编译完成后的函数标识符相同）；</a:t>
            </a:r>
          </a:p>
          <a:p>
            <a:pPr lvl="1">
              <a:lnSpc>
                <a:spcPct val="140000"/>
              </a:lnSpc>
            </a:pPr>
            <a:r>
              <a:rPr lang="en-US" altLang="zh-CN" dirty="0" err="1"/>
              <a:t>msg.value</a:t>
            </a:r>
            <a:r>
              <a:rPr lang="en-US" altLang="zh-CN" dirty="0"/>
              <a:t>: </a:t>
            </a:r>
            <a:r>
              <a:rPr lang="zh-CN" altLang="en-US" dirty="0"/>
              <a:t>合约消息所带的以太币，单位为</a:t>
            </a:r>
            <a:r>
              <a:rPr lang="en-US" altLang="zh-CN" dirty="0" err="1"/>
              <a:t>wei</a:t>
            </a:r>
            <a:r>
              <a:rPr lang="zh-CN" altLang="en-US" dirty="0"/>
              <a:t>；</a:t>
            </a:r>
          </a:p>
          <a:p>
            <a:pPr>
              <a:lnSpc>
                <a:spcPct val="140000"/>
              </a:lnSpc>
            </a:pPr>
            <a:endParaRPr lang="zh-CN" altLang="zh-CN" dirty="0"/>
          </a:p>
          <a:p>
            <a:pPr lvl="1">
              <a:lnSpc>
                <a:spcPct val="140000"/>
              </a:lnSpc>
            </a:pP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57EA60E-053E-2142-8FE4-5A692A694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41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3921953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55A8A8-0864-814C-A327-6BBA68129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特殊变量</a:t>
            </a:r>
          </a:p>
        </p:txBody>
      </p:sp>
      <p:sp>
        <p:nvSpPr>
          <p:cNvPr id="486" name="内容占位符 485">
            <a:extLst>
              <a:ext uri="{FF2B5EF4-FFF2-40B4-BE49-F238E27FC236}">
                <a16:creationId xmlns:a16="http://schemas.microsoft.com/office/drawing/2014/main" id="{5A1600D8-82EA-9E45-A9E6-6170EFC16A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5453" y="1418897"/>
            <a:ext cx="9885799" cy="5302578"/>
          </a:xfrm>
        </p:spPr>
        <p:txBody>
          <a:bodyPr anchor="t" anchorCtr="0">
            <a:normAutofit/>
          </a:bodyPr>
          <a:lstStyle/>
          <a:p>
            <a:pPr>
              <a:lnSpc>
                <a:spcPct val="140000"/>
              </a:lnSpc>
            </a:pPr>
            <a:r>
              <a:rPr lang="zh-CN" altLang="en-US" dirty="0"/>
              <a:t>常用特殊变量</a:t>
            </a:r>
            <a:endParaRPr lang="en-US" altLang="zh-CN" dirty="0"/>
          </a:p>
          <a:p>
            <a:pPr lvl="1">
              <a:lnSpc>
                <a:spcPct val="140000"/>
              </a:lnSpc>
            </a:pPr>
            <a:r>
              <a:rPr lang="en-US" altLang="zh-CN" dirty="0"/>
              <a:t>now: </a:t>
            </a:r>
            <a:r>
              <a:rPr lang="zh-CN" altLang="en-US" dirty="0"/>
              <a:t>同</a:t>
            </a:r>
            <a:r>
              <a:rPr lang="en-US" altLang="zh-CN" dirty="0" err="1"/>
              <a:t>block.timestamp</a:t>
            </a:r>
            <a:r>
              <a:rPr lang="zh-CN" altLang="en-US" dirty="0"/>
              <a:t>；</a:t>
            </a:r>
          </a:p>
          <a:p>
            <a:pPr lvl="1">
              <a:lnSpc>
                <a:spcPct val="140000"/>
              </a:lnSpc>
            </a:pPr>
            <a:r>
              <a:rPr lang="en-US" altLang="zh-CN" dirty="0" err="1"/>
              <a:t>tx.gasprice</a:t>
            </a:r>
            <a:r>
              <a:rPr lang="en-US" altLang="zh-CN" dirty="0"/>
              <a:t>: </a:t>
            </a:r>
            <a:r>
              <a:rPr lang="zh-CN" altLang="en-US" dirty="0"/>
              <a:t>合约交易的</a:t>
            </a:r>
            <a:r>
              <a:rPr lang="en-US" altLang="zh-CN" dirty="0" err="1"/>
              <a:t>gasPrice</a:t>
            </a:r>
            <a:r>
              <a:rPr lang="zh-CN" altLang="en-US" dirty="0"/>
              <a:t>；</a:t>
            </a:r>
          </a:p>
          <a:p>
            <a:pPr lvl="1">
              <a:lnSpc>
                <a:spcPct val="140000"/>
              </a:lnSpc>
            </a:pPr>
            <a:r>
              <a:rPr lang="en-US" altLang="zh-CN" dirty="0" err="1"/>
              <a:t>tx.origin</a:t>
            </a:r>
            <a:r>
              <a:rPr lang="en-US" altLang="zh-CN" dirty="0"/>
              <a:t>: </a:t>
            </a:r>
            <a:r>
              <a:rPr lang="zh-CN" altLang="en-US" dirty="0"/>
              <a:t>合约交易的</a:t>
            </a:r>
            <a:r>
              <a:rPr lang="en-US" altLang="zh-CN" dirty="0"/>
              <a:t>from</a:t>
            </a:r>
            <a:r>
              <a:rPr lang="zh-CN" altLang="en-US" dirty="0"/>
              <a:t>；</a:t>
            </a:r>
          </a:p>
          <a:p>
            <a:pPr lvl="1">
              <a:lnSpc>
                <a:spcPct val="140000"/>
              </a:lnSpc>
            </a:pPr>
            <a:r>
              <a:rPr lang="en-US" altLang="zh-CN" dirty="0"/>
              <a:t>this: </a:t>
            </a:r>
            <a:r>
              <a:rPr lang="zh-CN" altLang="en-US" dirty="0"/>
              <a:t>当前合约，可以明确转换为地址类型；</a:t>
            </a:r>
          </a:p>
          <a:p>
            <a:pPr lvl="1">
              <a:lnSpc>
                <a:spcPct val="140000"/>
              </a:lnSpc>
            </a:pPr>
            <a:r>
              <a:rPr lang="en-US" altLang="zh-CN" dirty="0" err="1"/>
              <a:t>selfdestruct</a:t>
            </a:r>
            <a:r>
              <a:rPr lang="en-US" altLang="zh-CN" dirty="0"/>
              <a:t>(</a:t>
            </a:r>
            <a:r>
              <a:rPr lang="zh-CN" altLang="en-US" dirty="0"/>
              <a:t>地址</a:t>
            </a:r>
            <a:r>
              <a:rPr lang="en-US" altLang="zh-CN" dirty="0"/>
              <a:t>):</a:t>
            </a:r>
            <a:r>
              <a:rPr lang="zh-CN" altLang="en-US" dirty="0"/>
              <a:t>删除合约代码，并把余额返回到特定地址；</a:t>
            </a:r>
          </a:p>
          <a:p>
            <a:pPr lvl="1">
              <a:lnSpc>
                <a:spcPct val="140000"/>
              </a:lnSpc>
            </a:pPr>
            <a:r>
              <a:rPr lang="en-US" altLang="zh-CN" dirty="0"/>
              <a:t>suicide(</a:t>
            </a:r>
            <a:r>
              <a:rPr lang="zh-CN" altLang="en-US" dirty="0"/>
              <a:t>地址</a:t>
            </a:r>
            <a:r>
              <a:rPr lang="en-US" altLang="zh-CN" dirty="0"/>
              <a:t>): </a:t>
            </a:r>
            <a:r>
              <a:rPr lang="zh-CN" altLang="en-US" dirty="0"/>
              <a:t>删除合约代码，并把余额返回到特定地址。</a:t>
            </a:r>
          </a:p>
          <a:p>
            <a:pPr>
              <a:lnSpc>
                <a:spcPct val="140000"/>
              </a:lnSpc>
            </a:pPr>
            <a:endParaRPr lang="zh-CN" altLang="zh-CN" dirty="0"/>
          </a:p>
          <a:p>
            <a:pPr lvl="1">
              <a:lnSpc>
                <a:spcPct val="140000"/>
              </a:lnSpc>
            </a:pP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57EA60E-053E-2142-8FE4-5A692A694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42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7319794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55A8A8-0864-814C-A327-6BBA68129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特殊变量</a:t>
            </a:r>
          </a:p>
        </p:txBody>
      </p:sp>
      <p:sp>
        <p:nvSpPr>
          <p:cNvPr id="486" name="内容占位符 485">
            <a:extLst>
              <a:ext uri="{FF2B5EF4-FFF2-40B4-BE49-F238E27FC236}">
                <a16:creationId xmlns:a16="http://schemas.microsoft.com/office/drawing/2014/main" id="{5A1600D8-82EA-9E45-A9E6-6170EFC16A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5453" y="1418897"/>
            <a:ext cx="9885799" cy="5302578"/>
          </a:xfrm>
        </p:spPr>
        <p:txBody>
          <a:bodyPr anchor="t" anchorCtr="0">
            <a:normAutofit/>
          </a:bodyPr>
          <a:lstStyle/>
          <a:p>
            <a:pPr>
              <a:lnSpc>
                <a:spcPct val="140000"/>
              </a:lnSpc>
            </a:pPr>
            <a:r>
              <a:rPr lang="zh-CN" altLang="en-US" dirty="0"/>
              <a:t>其他特殊变量</a:t>
            </a:r>
            <a:endParaRPr lang="en-US" altLang="zh-CN" dirty="0"/>
          </a:p>
          <a:p>
            <a:pPr lvl="1">
              <a:lnSpc>
                <a:spcPct val="140000"/>
              </a:lnSpc>
            </a:pPr>
            <a:r>
              <a:rPr lang="zh-CN" altLang="zh-CN" dirty="0"/>
              <a:t>除了常用的特殊变量，</a:t>
            </a:r>
            <a:r>
              <a:rPr lang="zh-CN" altLang="en-US" dirty="0"/>
              <a:t>还有</a:t>
            </a:r>
            <a:r>
              <a:rPr lang="zh-CN" altLang="zh-CN" dirty="0"/>
              <a:t>其他如时间单位、</a:t>
            </a:r>
            <a:r>
              <a:rPr lang="en-US" altLang="zh-CN" dirty="0"/>
              <a:t>ABI </a:t>
            </a:r>
            <a:r>
              <a:rPr lang="zh-CN" altLang="zh-CN" dirty="0"/>
              <a:t>编码、密码学函数等特殊变量与函数</a:t>
            </a:r>
          </a:p>
          <a:p>
            <a:pPr lvl="1">
              <a:lnSpc>
                <a:spcPct val="140000"/>
              </a:lnSpc>
            </a:pP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57EA60E-053E-2142-8FE4-5A692A694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43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9361528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55A8A8-0864-814C-A327-6BBA68129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事件日志</a:t>
            </a:r>
          </a:p>
        </p:txBody>
      </p:sp>
      <p:sp>
        <p:nvSpPr>
          <p:cNvPr id="486" name="内容占位符 485">
            <a:extLst>
              <a:ext uri="{FF2B5EF4-FFF2-40B4-BE49-F238E27FC236}">
                <a16:creationId xmlns:a16="http://schemas.microsoft.com/office/drawing/2014/main" id="{5A1600D8-82EA-9E45-A9E6-6170EFC16A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5453" y="1418897"/>
            <a:ext cx="9885799" cy="5302578"/>
          </a:xfrm>
        </p:spPr>
        <p:txBody>
          <a:bodyPr anchor="t" anchorCtr="0">
            <a:normAutofit/>
          </a:bodyPr>
          <a:lstStyle/>
          <a:p>
            <a:pPr>
              <a:lnSpc>
                <a:spcPct val="140000"/>
              </a:lnSpc>
            </a:pPr>
            <a:r>
              <a:rPr lang="zh-CN" altLang="en-US" dirty="0"/>
              <a:t>背景</a:t>
            </a:r>
            <a:endParaRPr lang="en-US" altLang="zh-CN" dirty="0"/>
          </a:p>
          <a:p>
            <a:pPr lvl="1">
              <a:lnSpc>
                <a:spcPct val="140000"/>
              </a:lnSpc>
            </a:pPr>
            <a:r>
              <a:rPr lang="zh-CN" altLang="zh-CN" dirty="0"/>
              <a:t>以太坊中，合约的状态数据都是存储于状态树中，运行结果也是写入到状态中。如果只依赖状态树进行状态的记录，那么，当上层应用需要获取合约运行过程的某些状态（如购买了某种商品的</a:t>
            </a:r>
            <a:r>
              <a:rPr lang="en-US" altLang="zh-CN" dirty="0"/>
              <a:t>ID</a:t>
            </a:r>
            <a:r>
              <a:rPr lang="zh-CN" altLang="zh-CN" dirty="0"/>
              <a:t>）时，就必须比对前后的状态改变或开辟状态的增量数组进行记录，成本较高。</a:t>
            </a:r>
            <a:endParaRPr lang="en-US" altLang="zh-CN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57EA60E-053E-2142-8FE4-5A692A694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44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9565553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55A8A8-0864-814C-A327-6BBA68129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事件日志</a:t>
            </a:r>
          </a:p>
        </p:txBody>
      </p:sp>
      <p:sp>
        <p:nvSpPr>
          <p:cNvPr id="486" name="内容占位符 485">
            <a:extLst>
              <a:ext uri="{FF2B5EF4-FFF2-40B4-BE49-F238E27FC236}">
                <a16:creationId xmlns:a16="http://schemas.microsoft.com/office/drawing/2014/main" id="{5A1600D8-82EA-9E45-A9E6-6170EFC16A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5453" y="1418897"/>
            <a:ext cx="9885799" cy="5302578"/>
          </a:xfrm>
        </p:spPr>
        <p:txBody>
          <a:bodyPr anchor="t" anchorCtr="0">
            <a:normAutofit/>
          </a:bodyPr>
          <a:lstStyle/>
          <a:p>
            <a:pPr>
              <a:lnSpc>
                <a:spcPct val="140000"/>
              </a:lnSpc>
            </a:pPr>
            <a:r>
              <a:rPr lang="zh-CN" altLang="en-US" dirty="0"/>
              <a:t>以太坊事件树</a:t>
            </a:r>
            <a:endParaRPr lang="en-US" altLang="zh-CN" dirty="0"/>
          </a:p>
          <a:p>
            <a:pPr lvl="1">
              <a:lnSpc>
                <a:spcPct val="140000"/>
              </a:lnSpc>
            </a:pPr>
            <a:r>
              <a:rPr lang="zh-CN" altLang="zh-CN" dirty="0"/>
              <a:t>以太坊采用了事件日志进行记录</a:t>
            </a:r>
            <a:r>
              <a:rPr lang="zh-CN" altLang="en-US" dirty="0"/>
              <a:t>，</a:t>
            </a:r>
            <a:r>
              <a:rPr lang="zh-CN" altLang="zh-CN" dirty="0"/>
              <a:t>有别于状态树，事件树是单向输出、不可被合约读取的</a:t>
            </a:r>
            <a:endParaRPr lang="en-US" altLang="zh-CN" dirty="0"/>
          </a:p>
          <a:p>
            <a:pPr lvl="1">
              <a:lnSpc>
                <a:spcPct val="140000"/>
              </a:lnSpc>
            </a:pPr>
            <a:r>
              <a:rPr lang="zh-CN" altLang="en-US" dirty="0"/>
              <a:t>事件树为</a:t>
            </a:r>
            <a:r>
              <a:rPr lang="zh-CN" altLang="zh-CN" dirty="0"/>
              <a:t>上层应用提供了高效的查询方式，使得上层应用能够观察特定合约的特定动作的发生及其内容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57EA60E-053E-2142-8FE4-5A692A694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45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5466812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55A8A8-0864-814C-A327-6BBA68129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事件日志</a:t>
            </a:r>
          </a:p>
        </p:txBody>
      </p:sp>
      <p:sp>
        <p:nvSpPr>
          <p:cNvPr id="486" name="内容占位符 485">
            <a:extLst>
              <a:ext uri="{FF2B5EF4-FFF2-40B4-BE49-F238E27FC236}">
                <a16:creationId xmlns:a16="http://schemas.microsoft.com/office/drawing/2014/main" id="{5A1600D8-82EA-9E45-A9E6-6170EFC16A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5453" y="1418897"/>
            <a:ext cx="9885799" cy="5302578"/>
          </a:xfrm>
        </p:spPr>
        <p:txBody>
          <a:bodyPr anchor="t" anchorCtr="0">
            <a:normAutofit/>
          </a:bodyPr>
          <a:lstStyle/>
          <a:p>
            <a:pPr>
              <a:lnSpc>
                <a:spcPct val="140000"/>
              </a:lnSpc>
            </a:pPr>
            <a:r>
              <a:rPr lang="zh-CN" altLang="en-US" dirty="0"/>
              <a:t>实例：事件日志</a:t>
            </a:r>
            <a:endParaRPr lang="en-US" altLang="zh-CN" dirty="0"/>
          </a:p>
          <a:p>
            <a:pPr lvl="1">
              <a:lnSpc>
                <a:spcPct val="140000"/>
              </a:lnSpc>
            </a:pPr>
            <a:r>
              <a:rPr lang="zh-CN" altLang="zh-CN" dirty="0"/>
              <a:t>依照</a:t>
            </a:r>
            <a:r>
              <a:rPr lang="en-US" altLang="zh-CN" dirty="0"/>
              <a:t>2.4.2</a:t>
            </a:r>
            <a:r>
              <a:rPr lang="zh-CN" altLang="zh-CN" dirty="0"/>
              <a:t>的步骤打开</a:t>
            </a:r>
            <a:r>
              <a:rPr lang="en-US" altLang="zh-CN" dirty="0"/>
              <a:t>Remix</a:t>
            </a:r>
            <a:r>
              <a:rPr lang="zh-CN" altLang="zh-CN" dirty="0"/>
              <a:t>在线编译器，键入以下合约代码 </a:t>
            </a:r>
            <a:endParaRPr lang="en-US" altLang="zh-CN" dirty="0">
              <a:solidFill>
                <a:srgbClr val="C00000"/>
              </a:solidFill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57EA60E-053E-2142-8FE4-5A692A694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46</a:t>
            </a:fld>
            <a:endParaRPr kumimoji="1"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1E96673-6DA8-FD47-B5B1-0FE47D24BB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862483" y="2758450"/>
            <a:ext cx="6467033" cy="35979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278309D0-D4D5-2B4E-A27B-E431A81EA2FF}"/>
              </a:ext>
            </a:extLst>
          </p:cNvPr>
          <p:cNvSpPr/>
          <p:nvPr/>
        </p:nvSpPr>
        <p:spPr>
          <a:xfrm>
            <a:off x="4336934" y="3725630"/>
            <a:ext cx="1401418" cy="344556"/>
          </a:xfrm>
          <a:prstGeom prst="rect">
            <a:avLst/>
          </a:prstGeom>
          <a:solidFill>
            <a:srgbClr val="EE6C4D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/>
              <a:t>声明变量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1CE1963-0EEC-A04F-8599-E716C053E61F}"/>
              </a:ext>
            </a:extLst>
          </p:cNvPr>
          <p:cNvSpPr/>
          <p:nvPr/>
        </p:nvSpPr>
        <p:spPr>
          <a:xfrm>
            <a:off x="5395290" y="4385122"/>
            <a:ext cx="1401418" cy="344556"/>
          </a:xfrm>
          <a:prstGeom prst="rect">
            <a:avLst/>
          </a:prstGeom>
          <a:solidFill>
            <a:srgbClr val="EE6C4D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/>
              <a:t>定义事件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05E87A-E059-0D46-A5A7-ED32A598FF3A}"/>
              </a:ext>
            </a:extLst>
          </p:cNvPr>
          <p:cNvSpPr/>
          <p:nvPr/>
        </p:nvSpPr>
        <p:spPr>
          <a:xfrm>
            <a:off x="5613951" y="5439103"/>
            <a:ext cx="1401418" cy="344556"/>
          </a:xfrm>
          <a:prstGeom prst="rect">
            <a:avLst/>
          </a:prstGeom>
          <a:solidFill>
            <a:srgbClr val="EE6C4D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/>
              <a:t>输出事件</a:t>
            </a:r>
          </a:p>
        </p:txBody>
      </p:sp>
    </p:spTree>
    <p:extLst>
      <p:ext uri="{BB962C8B-B14F-4D97-AF65-F5344CB8AC3E}">
        <p14:creationId xmlns:p14="http://schemas.microsoft.com/office/powerpoint/2010/main" val="121480810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55A8A8-0864-814C-A327-6BBA68129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事件日志</a:t>
            </a:r>
          </a:p>
        </p:txBody>
      </p:sp>
      <p:sp>
        <p:nvSpPr>
          <p:cNvPr id="486" name="内容占位符 485">
            <a:extLst>
              <a:ext uri="{FF2B5EF4-FFF2-40B4-BE49-F238E27FC236}">
                <a16:creationId xmlns:a16="http://schemas.microsoft.com/office/drawing/2014/main" id="{5A1600D8-82EA-9E45-A9E6-6170EFC16A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5453" y="1418897"/>
            <a:ext cx="9885799" cy="5302578"/>
          </a:xfrm>
        </p:spPr>
        <p:txBody>
          <a:bodyPr anchor="t" anchorCtr="0">
            <a:normAutofit/>
          </a:bodyPr>
          <a:lstStyle/>
          <a:p>
            <a:pPr>
              <a:lnSpc>
                <a:spcPct val="140000"/>
              </a:lnSpc>
            </a:pPr>
            <a:r>
              <a:rPr lang="zh-CN" altLang="en-US" dirty="0"/>
              <a:t>实例：事件日志</a:t>
            </a:r>
            <a:endParaRPr lang="en-US" altLang="zh-CN" dirty="0"/>
          </a:p>
          <a:p>
            <a:pPr lvl="1">
              <a:lnSpc>
                <a:spcPct val="140000"/>
              </a:lnSpc>
            </a:pPr>
            <a:r>
              <a:rPr lang="zh-CN" altLang="zh-CN" dirty="0"/>
              <a:t>在函数</a:t>
            </a:r>
            <a:r>
              <a:rPr lang="en-US" altLang="zh-CN" dirty="0"/>
              <a:t>set()</a:t>
            </a:r>
            <a:r>
              <a:rPr lang="zh-CN" altLang="zh-CN" dirty="0"/>
              <a:t>中，我们采用</a:t>
            </a:r>
            <a:r>
              <a:rPr lang="en-US" altLang="zh-CN" dirty="0"/>
              <a:t>emit</a:t>
            </a:r>
            <a:r>
              <a:rPr lang="zh-CN" altLang="zh-CN" dirty="0"/>
              <a:t>操作输出了这一事件</a:t>
            </a:r>
            <a:r>
              <a:rPr lang="zh-CN" altLang="en-US" dirty="0"/>
              <a:t>。</a:t>
            </a:r>
            <a:endParaRPr lang="en-US" altLang="zh-CN" dirty="0"/>
          </a:p>
          <a:p>
            <a:pPr lvl="1">
              <a:lnSpc>
                <a:spcPct val="140000"/>
              </a:lnSpc>
            </a:pPr>
            <a:r>
              <a:rPr lang="zh-CN" altLang="zh-CN" dirty="0"/>
              <a:t>这一事件不是写入到状态树中，而是写入到以太坊虚拟机的收据中。在具体的执行过后，以太坊节点将收集运行过程中的收据，生成收据树，计算出收据树的树根记录到区块中。 </a:t>
            </a:r>
            <a:endParaRPr lang="en-US" altLang="zh-CN" dirty="0">
              <a:solidFill>
                <a:srgbClr val="C00000"/>
              </a:solidFill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57EA60E-053E-2142-8FE4-5A692A694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47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4878700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55A8A8-0864-814C-A327-6BBA68129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事件日志</a:t>
            </a:r>
          </a:p>
        </p:txBody>
      </p:sp>
      <p:sp>
        <p:nvSpPr>
          <p:cNvPr id="486" name="内容占位符 485">
            <a:extLst>
              <a:ext uri="{FF2B5EF4-FFF2-40B4-BE49-F238E27FC236}">
                <a16:creationId xmlns:a16="http://schemas.microsoft.com/office/drawing/2014/main" id="{5A1600D8-82EA-9E45-A9E6-6170EFC16A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5453" y="1418897"/>
            <a:ext cx="3462643" cy="5302578"/>
          </a:xfrm>
        </p:spPr>
        <p:txBody>
          <a:bodyPr anchor="t" anchorCtr="0">
            <a:normAutofit/>
          </a:bodyPr>
          <a:lstStyle/>
          <a:p>
            <a:pPr>
              <a:lnSpc>
                <a:spcPct val="140000"/>
              </a:lnSpc>
            </a:pPr>
            <a:r>
              <a:rPr lang="zh-CN" altLang="en-US" dirty="0"/>
              <a:t>实例：事件日志</a:t>
            </a:r>
            <a:endParaRPr lang="en-US" altLang="zh-CN" dirty="0"/>
          </a:p>
          <a:p>
            <a:pPr lvl="1">
              <a:lnSpc>
                <a:spcPct val="140000"/>
              </a:lnSpc>
            </a:pPr>
            <a:r>
              <a:rPr lang="zh-CN" altLang="zh-CN" dirty="0"/>
              <a:t>在</a:t>
            </a:r>
            <a:r>
              <a:rPr lang="en-US" altLang="zh-CN" dirty="0"/>
              <a:t>Remix</a:t>
            </a:r>
            <a:r>
              <a:rPr lang="zh-CN" altLang="zh-CN" dirty="0"/>
              <a:t>虚拟以太坊环境中调了</a:t>
            </a:r>
            <a:r>
              <a:rPr lang="en-US" altLang="zh-CN" dirty="0"/>
              <a:t>set(100)</a:t>
            </a:r>
            <a:r>
              <a:rPr lang="zh-CN" altLang="zh-CN" dirty="0"/>
              <a:t>函后</a:t>
            </a:r>
            <a:endParaRPr lang="en-US" altLang="zh-CN" dirty="0"/>
          </a:p>
          <a:p>
            <a:pPr lvl="1">
              <a:lnSpc>
                <a:spcPct val="140000"/>
              </a:lnSpc>
            </a:pPr>
            <a:r>
              <a:rPr lang="en-US" altLang="zh-CN" dirty="0"/>
              <a:t>logs</a:t>
            </a:r>
            <a:r>
              <a:rPr lang="zh-CN" altLang="zh-CN" dirty="0"/>
              <a:t>字段为写入到交易收据中的内容之一 </a:t>
            </a:r>
            <a:endParaRPr lang="en-US" altLang="zh-CN" dirty="0"/>
          </a:p>
          <a:p>
            <a:pPr lvl="1">
              <a:lnSpc>
                <a:spcPct val="140000"/>
              </a:lnSpc>
            </a:pPr>
            <a:endParaRPr lang="en-US" altLang="zh-CN" dirty="0">
              <a:solidFill>
                <a:srgbClr val="C00000"/>
              </a:solidFill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57EA60E-053E-2142-8FE4-5A692A694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48</a:t>
            </a:fld>
            <a:endParaRPr kumimoji="1"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B93F910-8155-5F46-87A4-CFD494F68B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258096" y="1752476"/>
            <a:ext cx="7539049" cy="451653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767458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55A8A8-0864-814C-A327-6BBA68129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事件日志</a:t>
            </a:r>
          </a:p>
        </p:txBody>
      </p:sp>
      <p:sp>
        <p:nvSpPr>
          <p:cNvPr id="486" name="内容占位符 485">
            <a:extLst>
              <a:ext uri="{FF2B5EF4-FFF2-40B4-BE49-F238E27FC236}">
                <a16:creationId xmlns:a16="http://schemas.microsoft.com/office/drawing/2014/main" id="{5A1600D8-82EA-9E45-A9E6-6170EFC16A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5453" y="1418897"/>
            <a:ext cx="9885799" cy="5302578"/>
          </a:xfrm>
        </p:spPr>
        <p:txBody>
          <a:bodyPr anchor="t" anchorCtr="0">
            <a:normAutofit/>
          </a:bodyPr>
          <a:lstStyle/>
          <a:p>
            <a:pPr>
              <a:lnSpc>
                <a:spcPct val="140000"/>
              </a:lnSpc>
            </a:pPr>
            <a:r>
              <a:rPr lang="zh-CN" altLang="en-US" dirty="0"/>
              <a:t>实例：事件日志</a:t>
            </a:r>
            <a:endParaRPr lang="en-US" altLang="zh-CN" dirty="0"/>
          </a:p>
          <a:p>
            <a:pPr lvl="1">
              <a:lnSpc>
                <a:spcPct val="140000"/>
              </a:lnSpc>
            </a:pPr>
            <a:r>
              <a:rPr lang="zh-CN" altLang="zh-CN" dirty="0"/>
              <a:t>在底层实现中，</a:t>
            </a:r>
            <a:r>
              <a:rPr lang="en-US" altLang="zh-CN" dirty="0" err="1"/>
              <a:t>numberIsSet</a:t>
            </a:r>
            <a:r>
              <a:rPr lang="zh-CN" altLang="zh-CN" dirty="0"/>
              <a:t>及其参数类型被哈希编码为</a:t>
            </a:r>
            <a:r>
              <a:rPr lang="en-US" altLang="zh-CN" dirty="0"/>
              <a:t>topic</a:t>
            </a:r>
            <a:r>
              <a:rPr lang="zh-CN" altLang="zh-CN" dirty="0"/>
              <a:t>，与函数签名类似，同样的事件名具有同样的</a:t>
            </a:r>
            <a:r>
              <a:rPr lang="en-US" altLang="zh-CN" dirty="0"/>
              <a:t>topic</a:t>
            </a:r>
            <a:r>
              <a:rPr lang="zh-CN" altLang="zh-CN" dirty="0"/>
              <a:t>值 </a:t>
            </a:r>
            <a:endParaRPr lang="en-US" altLang="zh-CN" dirty="0"/>
          </a:p>
          <a:p>
            <a:pPr lvl="1">
              <a:lnSpc>
                <a:spcPct val="140000"/>
              </a:lnSpc>
            </a:pPr>
            <a:r>
              <a:rPr lang="zh-CN" altLang="zh-CN" dirty="0"/>
              <a:t>在每个区块中，所有交易收据都将经过计算生成布隆过滤器，记录为区块中“</a:t>
            </a:r>
            <a:r>
              <a:rPr lang="en-US" altLang="zh-CN" dirty="0" err="1"/>
              <a:t>logsBloom</a:t>
            </a:r>
            <a:r>
              <a:rPr lang="zh-CN" altLang="zh-CN" dirty="0"/>
              <a:t>”的值 </a:t>
            </a:r>
            <a:endParaRPr lang="en-US" altLang="zh-CN" dirty="0"/>
          </a:p>
          <a:p>
            <a:pPr lvl="1">
              <a:lnSpc>
                <a:spcPct val="140000"/>
              </a:lnSpc>
            </a:pPr>
            <a:r>
              <a:rPr lang="zh-CN" altLang="zh-CN" dirty="0"/>
              <a:t>观察合约的上层应用，只需要向以太坊节点请求区块的</a:t>
            </a:r>
            <a:r>
              <a:rPr lang="en-US" altLang="zh-CN" dirty="0" err="1"/>
              <a:t>logsBloom</a:t>
            </a:r>
            <a:r>
              <a:rPr lang="zh-CN" altLang="zh-CN" dirty="0"/>
              <a:t>值，通过</a:t>
            </a:r>
            <a:r>
              <a:rPr lang="en-US" altLang="zh-CN" dirty="0" err="1"/>
              <a:t>logsBloom</a:t>
            </a:r>
            <a:r>
              <a:rPr lang="zh-CN" altLang="zh-CN" dirty="0"/>
              <a:t>的值</a:t>
            </a:r>
            <a:r>
              <a:rPr lang="en-US" altLang="zh-CN" dirty="0"/>
              <a:t>,</a:t>
            </a:r>
            <a:r>
              <a:rPr lang="zh-CN" altLang="zh-CN" dirty="0"/>
              <a:t>就可以判断某个区块中某个合约的事件是否一定没有发生</a:t>
            </a:r>
            <a:endParaRPr lang="en-US" altLang="zh-CN" dirty="0">
              <a:solidFill>
                <a:srgbClr val="C00000"/>
              </a:solidFill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57EA60E-053E-2142-8FE4-5A692A694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49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6210411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55A8A8-0864-814C-A327-6BBA68129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事件日志</a:t>
            </a:r>
          </a:p>
        </p:txBody>
      </p:sp>
      <p:sp>
        <p:nvSpPr>
          <p:cNvPr id="486" name="内容占位符 485">
            <a:extLst>
              <a:ext uri="{FF2B5EF4-FFF2-40B4-BE49-F238E27FC236}">
                <a16:creationId xmlns:a16="http://schemas.microsoft.com/office/drawing/2014/main" id="{5A1600D8-82EA-9E45-A9E6-6170EFC16A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5453" y="1418897"/>
            <a:ext cx="9885799" cy="5302578"/>
          </a:xfrm>
        </p:spPr>
        <p:txBody>
          <a:bodyPr anchor="t" anchorCtr="0">
            <a:normAutofit/>
          </a:bodyPr>
          <a:lstStyle/>
          <a:p>
            <a:pPr>
              <a:lnSpc>
                <a:spcPct val="140000"/>
              </a:lnSpc>
            </a:pPr>
            <a:r>
              <a:rPr lang="zh-CN" altLang="en-US" dirty="0"/>
              <a:t>事件日志与状态树</a:t>
            </a:r>
            <a:endParaRPr lang="en-US" altLang="zh-CN" dirty="0"/>
          </a:p>
          <a:p>
            <a:pPr lvl="1">
              <a:lnSpc>
                <a:spcPct val="140000"/>
              </a:lnSpc>
            </a:pPr>
            <a:r>
              <a:rPr lang="zh-CN" altLang="zh-CN" dirty="0"/>
              <a:t>事件日志和状态树都是智能合约可以输出的存储空间</a:t>
            </a:r>
            <a:r>
              <a:rPr lang="zh-CN" altLang="en-US" dirty="0"/>
              <a:t>。</a:t>
            </a:r>
            <a:endParaRPr lang="en-US" altLang="zh-CN" dirty="0"/>
          </a:p>
          <a:p>
            <a:pPr lvl="1">
              <a:lnSpc>
                <a:spcPct val="140000"/>
              </a:lnSpc>
            </a:pPr>
            <a:r>
              <a:rPr lang="zh-CN" altLang="zh-CN" dirty="0"/>
              <a:t>区别在于，事件日志为单向输出、不可读取，因而其操作的</a:t>
            </a:r>
            <a:r>
              <a:rPr lang="en-US" altLang="zh-CN" dirty="0"/>
              <a:t>Gas</a:t>
            </a:r>
            <a:r>
              <a:rPr lang="zh-CN" altLang="zh-CN" dirty="0"/>
              <a:t>定价也更为便宜。</a:t>
            </a:r>
            <a:endParaRPr lang="en-US" altLang="zh-CN" dirty="0"/>
          </a:p>
          <a:p>
            <a:pPr lvl="1">
              <a:lnSpc>
                <a:spcPct val="140000"/>
              </a:lnSpc>
            </a:pPr>
            <a:r>
              <a:rPr lang="zh-CN" altLang="zh-CN" dirty="0"/>
              <a:t>相同的是，状态与收据本身并没有完整记录在区块中，他们由区块链的交易进行改变，而把树根的值、布隆过滤器的值记录到区块中。 </a:t>
            </a:r>
            <a:endParaRPr lang="en-US" altLang="zh-CN" dirty="0">
              <a:solidFill>
                <a:srgbClr val="C00000"/>
              </a:solidFill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57EA60E-053E-2142-8FE4-5A692A694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50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3847774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55A8A8-0864-814C-A327-6BBA68129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错误处理</a:t>
            </a:r>
          </a:p>
        </p:txBody>
      </p:sp>
      <p:sp>
        <p:nvSpPr>
          <p:cNvPr id="486" name="内容占位符 485">
            <a:extLst>
              <a:ext uri="{FF2B5EF4-FFF2-40B4-BE49-F238E27FC236}">
                <a16:creationId xmlns:a16="http://schemas.microsoft.com/office/drawing/2014/main" id="{5A1600D8-82EA-9E45-A9E6-6170EFC16A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5453" y="1418897"/>
            <a:ext cx="9885799" cy="5302578"/>
          </a:xfrm>
        </p:spPr>
        <p:txBody>
          <a:bodyPr anchor="t" anchorCtr="0">
            <a:normAutofit/>
          </a:bodyPr>
          <a:lstStyle/>
          <a:p>
            <a:pPr>
              <a:lnSpc>
                <a:spcPct val="140000"/>
              </a:lnSpc>
            </a:pPr>
            <a:r>
              <a:rPr lang="zh-CN" altLang="en-US" dirty="0"/>
              <a:t>背景</a:t>
            </a:r>
            <a:endParaRPr lang="en-US" altLang="zh-CN" dirty="0"/>
          </a:p>
          <a:p>
            <a:pPr lvl="1">
              <a:lnSpc>
                <a:spcPct val="140000"/>
              </a:lnSpc>
            </a:pPr>
            <a:r>
              <a:rPr lang="zh-CN" altLang="zh-CN" dirty="0"/>
              <a:t>与传统计算机程序类似，以太坊智能合约的运行过程中，也可能出现由开发者定义的异常或错误，例如发起交易的地址不具有调用该函数的权限等。因此，需要对合约运行中的交易进行处理。</a:t>
            </a:r>
            <a:endParaRPr lang="en-US" altLang="zh-CN" dirty="0"/>
          </a:p>
          <a:p>
            <a:pPr>
              <a:lnSpc>
                <a:spcPct val="140000"/>
              </a:lnSpc>
            </a:pPr>
            <a:endParaRPr lang="en-US" altLang="zh-CN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57EA60E-053E-2142-8FE4-5A692A694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51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1380373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55A8A8-0864-814C-A327-6BBA68129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错误处理</a:t>
            </a:r>
          </a:p>
        </p:txBody>
      </p:sp>
      <p:sp>
        <p:nvSpPr>
          <p:cNvPr id="486" name="内容占位符 485">
            <a:extLst>
              <a:ext uri="{FF2B5EF4-FFF2-40B4-BE49-F238E27FC236}">
                <a16:creationId xmlns:a16="http://schemas.microsoft.com/office/drawing/2014/main" id="{5A1600D8-82EA-9E45-A9E6-6170EFC16A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5453" y="1418897"/>
            <a:ext cx="9885799" cy="5302578"/>
          </a:xfrm>
        </p:spPr>
        <p:txBody>
          <a:bodyPr anchor="t" anchorCtr="0">
            <a:normAutofit fontScale="92500" lnSpcReduction="10000"/>
          </a:bodyPr>
          <a:lstStyle/>
          <a:p>
            <a:pPr>
              <a:lnSpc>
                <a:spcPct val="140000"/>
              </a:lnSpc>
            </a:pPr>
            <a:r>
              <a:rPr lang="zh-CN" altLang="en-US" dirty="0"/>
              <a:t>以太坊错误处理</a:t>
            </a:r>
            <a:endParaRPr lang="en-US" altLang="zh-CN" dirty="0"/>
          </a:p>
          <a:p>
            <a:pPr lvl="1">
              <a:lnSpc>
                <a:spcPct val="140000"/>
              </a:lnSpc>
            </a:pPr>
            <a:r>
              <a:rPr lang="zh-CN" altLang="zh-CN" dirty="0"/>
              <a:t>在以太坊智能合约中，一般而言，交易在发生异常后，其交易修改的所有状态都将被回滚、都是无效的。 </a:t>
            </a:r>
            <a:endParaRPr lang="en-US" altLang="zh-CN" dirty="0"/>
          </a:p>
          <a:p>
            <a:pPr>
              <a:lnSpc>
                <a:spcPct val="140000"/>
              </a:lnSpc>
            </a:pPr>
            <a:r>
              <a:rPr lang="zh-CN" altLang="en-US" dirty="0"/>
              <a:t>低级调用函数产生异常</a:t>
            </a:r>
            <a:endParaRPr lang="en-US" altLang="zh-CN" dirty="0"/>
          </a:p>
          <a:p>
            <a:pPr lvl="1">
              <a:lnSpc>
                <a:spcPct val="140000"/>
              </a:lnSpc>
            </a:pPr>
            <a:r>
              <a:rPr lang="zh-CN" altLang="zh-CN" dirty="0"/>
              <a:t>通过</a:t>
            </a:r>
            <a:r>
              <a:rPr lang="en-US" altLang="zh-CN" dirty="0"/>
              <a:t>Solidity</a:t>
            </a:r>
            <a:r>
              <a:rPr lang="zh-CN" altLang="zh-CN" dirty="0"/>
              <a:t>提供的低级调用函数（</a:t>
            </a:r>
            <a:r>
              <a:rPr lang="en-US" altLang="zh-CN" dirty="0"/>
              <a:t>call</a:t>
            </a:r>
            <a:r>
              <a:rPr lang="zh-CN" altLang="zh-CN" dirty="0"/>
              <a:t>、</a:t>
            </a:r>
            <a:r>
              <a:rPr lang="en-US" altLang="zh-CN" dirty="0" err="1"/>
              <a:t>delegatecall</a:t>
            </a:r>
            <a:r>
              <a:rPr lang="zh-CN" altLang="zh-CN" dirty="0"/>
              <a:t>、</a:t>
            </a:r>
            <a:r>
              <a:rPr lang="en-US" altLang="zh-CN" dirty="0" err="1"/>
              <a:t>callcode</a:t>
            </a:r>
            <a:r>
              <a:rPr lang="zh-CN" altLang="zh-CN" dirty="0"/>
              <a:t>）进行合约子调用时若产生异常将返回</a:t>
            </a:r>
            <a:r>
              <a:rPr lang="en-US" altLang="zh-CN" dirty="0"/>
              <a:t>false</a:t>
            </a:r>
            <a:r>
              <a:rPr lang="zh-CN" altLang="zh-CN" dirty="0"/>
              <a:t>，从而不会将子调用之外修改的状态回滚。 </a:t>
            </a:r>
            <a:endParaRPr lang="en-US" altLang="zh-CN" dirty="0"/>
          </a:p>
          <a:p>
            <a:pPr>
              <a:lnSpc>
                <a:spcPct val="140000"/>
              </a:lnSpc>
            </a:pPr>
            <a:r>
              <a:rPr lang="zh-CN" altLang="en-US" dirty="0"/>
              <a:t>以太坊底层实现</a:t>
            </a:r>
            <a:endParaRPr lang="en-US" altLang="zh-CN" dirty="0"/>
          </a:p>
          <a:p>
            <a:pPr lvl="1">
              <a:lnSpc>
                <a:spcPct val="140000"/>
              </a:lnSpc>
            </a:pPr>
            <a:r>
              <a:rPr lang="zh-CN" altLang="zh-CN" dirty="0"/>
              <a:t>以太坊通过记录状态根进行状态回滚，在发生异常时回到交易执行前的状态根、且不记录日志</a:t>
            </a:r>
            <a:r>
              <a:rPr lang="zh-CN" altLang="en-US" dirty="0"/>
              <a:t>。</a:t>
            </a:r>
            <a:endParaRPr lang="en-US" altLang="zh-CN" dirty="0">
              <a:solidFill>
                <a:srgbClr val="C00000"/>
              </a:solidFill>
            </a:endParaRPr>
          </a:p>
          <a:p>
            <a:pPr>
              <a:lnSpc>
                <a:spcPct val="140000"/>
              </a:lnSpc>
            </a:pPr>
            <a:endParaRPr lang="en-US" altLang="zh-CN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57EA60E-053E-2142-8FE4-5A692A694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52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9558345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55A8A8-0864-814C-A327-6BBA68129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错误处理</a:t>
            </a:r>
          </a:p>
        </p:txBody>
      </p:sp>
      <p:sp>
        <p:nvSpPr>
          <p:cNvPr id="486" name="内容占位符 485">
            <a:extLst>
              <a:ext uri="{FF2B5EF4-FFF2-40B4-BE49-F238E27FC236}">
                <a16:creationId xmlns:a16="http://schemas.microsoft.com/office/drawing/2014/main" id="{5A1600D8-82EA-9E45-A9E6-6170EFC16A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5453" y="1418897"/>
            <a:ext cx="6241451" cy="5302578"/>
          </a:xfrm>
        </p:spPr>
        <p:txBody>
          <a:bodyPr anchor="t" anchorCtr="0">
            <a:normAutofit/>
          </a:bodyPr>
          <a:lstStyle/>
          <a:p>
            <a:pPr>
              <a:lnSpc>
                <a:spcPct val="140000"/>
              </a:lnSpc>
            </a:pPr>
            <a:r>
              <a:rPr lang="zh-CN" altLang="en-US" sz="2400" dirty="0"/>
              <a:t>实例：以太坊错误处理</a:t>
            </a:r>
            <a:endParaRPr lang="en-US" altLang="zh-CN" sz="2400" dirty="0"/>
          </a:p>
          <a:p>
            <a:pPr lvl="1">
              <a:lnSpc>
                <a:spcPct val="140000"/>
              </a:lnSpc>
            </a:pPr>
            <a:r>
              <a:rPr lang="zh-CN" altLang="zh-CN" sz="2000" dirty="0"/>
              <a:t>通过设置变量</a:t>
            </a:r>
            <a:r>
              <a:rPr lang="en-US" altLang="zh-CN" sz="2000" dirty="0" err="1"/>
              <a:t>myUint</a:t>
            </a:r>
            <a:r>
              <a:rPr lang="zh-CN" altLang="zh-CN" sz="2000" dirty="0"/>
              <a:t>，并在函数中对变量进行赋值，观察变量的变化 </a:t>
            </a:r>
            <a:endParaRPr lang="en-US" altLang="zh-CN" sz="2000" dirty="0"/>
          </a:p>
          <a:p>
            <a:pPr lvl="1">
              <a:lnSpc>
                <a:spcPct val="140000"/>
              </a:lnSpc>
            </a:pPr>
            <a:r>
              <a:rPr lang="zh-CN" altLang="zh-CN" sz="2000" dirty="0"/>
              <a:t>在</a:t>
            </a:r>
            <a:r>
              <a:rPr lang="en-US" altLang="zh-CN" sz="2000" dirty="0"/>
              <a:t>set()</a:t>
            </a:r>
            <a:r>
              <a:rPr lang="zh-CN" altLang="zh-CN" sz="2000" dirty="0"/>
              <a:t>函数中，通过</a:t>
            </a:r>
            <a:r>
              <a:rPr lang="en-US" altLang="zh-CN" sz="2000" dirty="0"/>
              <a:t>require(</a:t>
            </a:r>
            <a:r>
              <a:rPr lang="en-US" altLang="zh-CN" sz="2000" dirty="0" err="1"/>
              <a:t>myUint</a:t>
            </a:r>
            <a:r>
              <a:rPr lang="en-US" altLang="zh-CN" sz="2000" dirty="0"/>
              <a:t>&lt;5)</a:t>
            </a:r>
            <a:r>
              <a:rPr lang="zh-CN" altLang="zh-CN" sz="2000" dirty="0"/>
              <a:t>对</a:t>
            </a:r>
            <a:r>
              <a:rPr lang="en-US" altLang="zh-CN" sz="2000" dirty="0" err="1"/>
              <a:t>myUint</a:t>
            </a:r>
            <a:r>
              <a:rPr lang="zh-CN" altLang="zh-CN" sz="2000" dirty="0"/>
              <a:t>的值进行检查，如果其小于</a:t>
            </a:r>
            <a:r>
              <a:rPr lang="en-US" altLang="zh-CN" sz="2000" dirty="0"/>
              <a:t>5</a:t>
            </a:r>
            <a:r>
              <a:rPr lang="zh-CN" altLang="zh-CN" sz="2000" dirty="0"/>
              <a:t>不成立，则抛出异常 </a:t>
            </a:r>
            <a:endParaRPr lang="en-US" altLang="zh-CN" sz="2000" dirty="0"/>
          </a:p>
          <a:p>
            <a:pPr lvl="1">
              <a:lnSpc>
                <a:spcPct val="140000"/>
              </a:lnSpc>
            </a:pPr>
            <a:endParaRPr lang="en-US" altLang="zh-CN" sz="2000" dirty="0">
              <a:solidFill>
                <a:srgbClr val="C00000"/>
              </a:solidFill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57EA60E-053E-2142-8FE4-5A692A694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53</a:t>
            </a:fld>
            <a:endParaRPr kumimoji="1"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3FC40B6-AC21-CE4F-9181-533D00392A1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7643"/>
          <a:stretch/>
        </p:blipFill>
        <p:spPr>
          <a:xfrm>
            <a:off x="7290818" y="1538234"/>
            <a:ext cx="3711786" cy="4818116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21F49AD9-A18C-B54E-867A-B5D58FFCB31D}"/>
              </a:ext>
            </a:extLst>
          </p:cNvPr>
          <p:cNvSpPr/>
          <p:nvPr/>
        </p:nvSpPr>
        <p:spPr>
          <a:xfrm>
            <a:off x="7752522" y="2756452"/>
            <a:ext cx="1775798" cy="344557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D03EA65-9A8D-7F4A-B3DF-BFF4B8994ECE}"/>
              </a:ext>
            </a:extLst>
          </p:cNvPr>
          <p:cNvSpPr/>
          <p:nvPr/>
        </p:nvSpPr>
        <p:spPr>
          <a:xfrm>
            <a:off x="8166046" y="5125247"/>
            <a:ext cx="1775798" cy="344557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0748273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55A8A8-0864-814C-A327-6BBA68129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错误处理</a:t>
            </a:r>
          </a:p>
        </p:txBody>
      </p:sp>
      <p:sp>
        <p:nvSpPr>
          <p:cNvPr id="486" name="内容占位符 485">
            <a:extLst>
              <a:ext uri="{FF2B5EF4-FFF2-40B4-BE49-F238E27FC236}">
                <a16:creationId xmlns:a16="http://schemas.microsoft.com/office/drawing/2014/main" id="{5A1600D8-82EA-9E45-A9E6-6170EFC16A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5453" y="1418897"/>
            <a:ext cx="9885799" cy="5302578"/>
          </a:xfrm>
        </p:spPr>
        <p:txBody>
          <a:bodyPr anchor="t" anchorCtr="0">
            <a:normAutofit/>
          </a:bodyPr>
          <a:lstStyle/>
          <a:p>
            <a:pPr>
              <a:lnSpc>
                <a:spcPct val="140000"/>
              </a:lnSpc>
            </a:pPr>
            <a:r>
              <a:rPr lang="zh-CN" altLang="en-US" dirty="0"/>
              <a:t>以太坊合约的“原子性”</a:t>
            </a:r>
            <a:endParaRPr lang="en-US" altLang="zh-CN" dirty="0"/>
          </a:p>
          <a:p>
            <a:pPr lvl="1">
              <a:lnSpc>
                <a:spcPct val="140000"/>
              </a:lnSpc>
            </a:pPr>
            <a:r>
              <a:rPr lang="zh-CN" altLang="zh-CN" dirty="0"/>
              <a:t>一次合约调用中，交易需要全部执行成功或全部执行失败，这有利于保证用户执行合约时的安全性，尤其是在资产互换的场景中。</a:t>
            </a:r>
          </a:p>
          <a:p>
            <a:pPr lvl="1">
              <a:lnSpc>
                <a:spcPct val="140000"/>
              </a:lnSpc>
            </a:pPr>
            <a:endParaRPr lang="en-US" altLang="zh-CN" dirty="0">
              <a:solidFill>
                <a:srgbClr val="C00000"/>
              </a:solidFill>
            </a:endParaRPr>
          </a:p>
          <a:p>
            <a:pPr lvl="1">
              <a:lnSpc>
                <a:spcPct val="140000"/>
              </a:lnSpc>
            </a:pPr>
            <a:endParaRPr lang="en-US" altLang="zh-CN" dirty="0">
              <a:solidFill>
                <a:srgbClr val="C00000"/>
              </a:solidFill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57EA60E-053E-2142-8FE4-5A692A694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54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61263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55A8A8-0864-814C-A327-6BBA68129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错误处理</a:t>
            </a:r>
          </a:p>
        </p:txBody>
      </p:sp>
      <p:sp>
        <p:nvSpPr>
          <p:cNvPr id="486" name="内容占位符 485">
            <a:extLst>
              <a:ext uri="{FF2B5EF4-FFF2-40B4-BE49-F238E27FC236}">
                <a16:creationId xmlns:a16="http://schemas.microsoft.com/office/drawing/2014/main" id="{5A1600D8-82EA-9E45-A9E6-6170EFC16A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5453" y="1418897"/>
            <a:ext cx="9885799" cy="5302578"/>
          </a:xfrm>
        </p:spPr>
        <p:txBody>
          <a:bodyPr anchor="t" anchorCtr="0">
            <a:normAutofit/>
          </a:bodyPr>
          <a:lstStyle/>
          <a:p>
            <a:pPr>
              <a:lnSpc>
                <a:spcPct val="140000"/>
              </a:lnSpc>
            </a:pPr>
            <a:r>
              <a:rPr lang="en-US" altLang="zh-CN" dirty="0"/>
              <a:t>Solidity</a:t>
            </a:r>
            <a:r>
              <a:rPr lang="zh-CN" altLang="en-US" dirty="0"/>
              <a:t>错误处理函数</a:t>
            </a:r>
            <a:endParaRPr lang="en-US" altLang="zh-CN" dirty="0"/>
          </a:p>
          <a:p>
            <a:pPr lvl="1">
              <a:lnSpc>
                <a:spcPct val="140000"/>
              </a:lnSpc>
            </a:pPr>
            <a:r>
              <a:rPr lang="en-US" altLang="zh-CN" dirty="0"/>
              <a:t>assert(</a:t>
            </a:r>
            <a:r>
              <a:rPr lang="zh-CN" altLang="en-US" dirty="0"/>
              <a:t>条件参数</a:t>
            </a:r>
            <a:r>
              <a:rPr lang="en-US" altLang="zh-CN" dirty="0"/>
              <a:t>)</a:t>
            </a:r>
          </a:p>
          <a:p>
            <a:pPr lvl="2">
              <a:lnSpc>
                <a:spcPct val="140000"/>
              </a:lnSpc>
            </a:pPr>
            <a:r>
              <a:rPr lang="zh-CN" altLang="en-US" dirty="0"/>
              <a:t>如果条件参数为</a:t>
            </a:r>
            <a:r>
              <a:rPr lang="en-US" altLang="zh-CN" dirty="0"/>
              <a:t>false</a:t>
            </a:r>
            <a:r>
              <a:rPr lang="zh-CN" altLang="en-US" dirty="0"/>
              <a:t>，则使当前交易没有效果</a:t>
            </a:r>
            <a:r>
              <a:rPr lang="en-US" altLang="zh-CN" dirty="0"/>
              <a:t>,</a:t>
            </a:r>
            <a:r>
              <a:rPr lang="zh-CN" altLang="en-US" dirty="0"/>
              <a:t>并消耗交易剩余的</a:t>
            </a:r>
            <a:r>
              <a:rPr lang="en-US" altLang="zh-CN" dirty="0"/>
              <a:t>gas</a:t>
            </a:r>
            <a:r>
              <a:rPr lang="zh-CN" altLang="en-US" dirty="0"/>
              <a:t>。</a:t>
            </a:r>
          </a:p>
          <a:p>
            <a:pPr lvl="1">
              <a:lnSpc>
                <a:spcPct val="140000"/>
              </a:lnSpc>
            </a:pPr>
            <a:r>
              <a:rPr lang="en-US" altLang="zh-CN" dirty="0"/>
              <a:t>require(</a:t>
            </a:r>
            <a:r>
              <a:rPr lang="zh-CN" altLang="en-US" dirty="0"/>
              <a:t>条件参数，</a:t>
            </a:r>
            <a:r>
              <a:rPr lang="en-US" altLang="zh-CN" dirty="0"/>
              <a:t>[</a:t>
            </a:r>
            <a:r>
              <a:rPr lang="zh-CN" altLang="en-US" dirty="0"/>
              <a:t>消息参数</a:t>
            </a:r>
            <a:r>
              <a:rPr lang="en-US" altLang="zh-CN" dirty="0"/>
              <a:t>])</a:t>
            </a:r>
          </a:p>
          <a:p>
            <a:pPr lvl="2">
              <a:lnSpc>
                <a:spcPct val="140000"/>
              </a:lnSpc>
            </a:pPr>
            <a:r>
              <a:rPr lang="zh-CN" altLang="en-US" dirty="0"/>
              <a:t>如果条件参数为</a:t>
            </a:r>
            <a:r>
              <a:rPr lang="en-US" altLang="zh-CN" dirty="0"/>
              <a:t>false</a:t>
            </a:r>
            <a:r>
              <a:rPr lang="zh-CN" altLang="en-US" dirty="0"/>
              <a:t>，则撤销状态更改，并且，如果还传入了消息参数，则提供一个错误消息。</a:t>
            </a:r>
          </a:p>
          <a:p>
            <a:pPr lvl="1">
              <a:lnSpc>
                <a:spcPct val="140000"/>
              </a:lnSpc>
            </a:pPr>
            <a:r>
              <a:rPr lang="en-US" altLang="zh-CN" dirty="0"/>
              <a:t>revert([</a:t>
            </a:r>
            <a:r>
              <a:rPr lang="zh-CN" altLang="en-US" dirty="0"/>
              <a:t>消息参数</a:t>
            </a:r>
            <a:r>
              <a:rPr lang="en-US" altLang="zh-CN" dirty="0"/>
              <a:t>])</a:t>
            </a:r>
          </a:p>
          <a:p>
            <a:pPr lvl="2">
              <a:lnSpc>
                <a:spcPct val="140000"/>
              </a:lnSpc>
            </a:pPr>
            <a:r>
              <a:rPr lang="zh-CN" altLang="en-US" dirty="0"/>
              <a:t>终止运行并撤销状态更改，如果还传入了消息参数，则提供一个错误消息。</a:t>
            </a:r>
          </a:p>
          <a:p>
            <a:pPr lvl="1">
              <a:lnSpc>
                <a:spcPct val="140000"/>
              </a:lnSpc>
            </a:pPr>
            <a:endParaRPr lang="en-US" altLang="zh-CN" dirty="0">
              <a:solidFill>
                <a:srgbClr val="C00000"/>
              </a:solidFill>
            </a:endParaRPr>
          </a:p>
          <a:p>
            <a:pPr lvl="1">
              <a:lnSpc>
                <a:spcPct val="140000"/>
              </a:lnSpc>
            </a:pPr>
            <a:endParaRPr lang="en-US" altLang="zh-CN" dirty="0">
              <a:solidFill>
                <a:srgbClr val="C00000"/>
              </a:solidFill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57EA60E-053E-2142-8FE4-5A692A694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55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1279311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55A8A8-0864-814C-A327-6BBA68129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公开竞拍示例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57EA60E-053E-2142-8FE4-5A692A694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56</a:t>
            </a:fld>
            <a:endParaRPr kumimoji="1" lang="zh-CN" altLang="en-US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D80DFA4-4454-4EC4-BA90-87C9CD8986E7}"/>
              </a:ext>
            </a:extLst>
          </p:cNvPr>
          <p:cNvSpPr txBox="1"/>
          <p:nvPr/>
        </p:nvSpPr>
        <p:spPr>
          <a:xfrm>
            <a:off x="416615" y="1402100"/>
            <a:ext cx="2068168" cy="424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0680" indent="-36068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合约状态定义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E445BBE3-A02C-4915-B656-B38D73CCDB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2017" y="0"/>
            <a:ext cx="5893302" cy="6635045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E374AFC8-4561-4B81-AC96-A979B34EBAFB}"/>
              </a:ext>
            </a:extLst>
          </p:cNvPr>
          <p:cNvSpPr txBox="1"/>
          <p:nvPr/>
        </p:nvSpPr>
        <p:spPr>
          <a:xfrm>
            <a:off x="3719719" y="1402100"/>
            <a:ext cx="2068168" cy="424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0680" indent="-36068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竞价函数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11925234-3E32-4370-B2C9-F23CD56630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207" y="1825078"/>
            <a:ext cx="3867150" cy="3276745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8D0EBAFB-F8B0-4E1B-9E44-755E1F4AA0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34867" y="5063420"/>
            <a:ext cx="3867150" cy="1571625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575824AA-3C80-4ADA-A20F-3B9E1953D999}"/>
              </a:ext>
            </a:extLst>
          </p:cNvPr>
          <p:cNvSpPr txBox="1"/>
          <p:nvPr/>
        </p:nvSpPr>
        <p:spPr>
          <a:xfrm>
            <a:off x="273424" y="5849232"/>
            <a:ext cx="2068168" cy="424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0680" indent="-36068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构造函数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0368184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55A8A8-0864-814C-A327-6BBA68129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公开竞拍示例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57EA60E-053E-2142-8FE4-5A692A694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57</a:t>
            </a:fld>
            <a:endParaRPr kumimoji="1" lang="zh-CN" altLang="en-US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D80DFA4-4454-4EC4-BA90-87C9CD8986E7}"/>
              </a:ext>
            </a:extLst>
          </p:cNvPr>
          <p:cNvSpPr txBox="1"/>
          <p:nvPr/>
        </p:nvSpPr>
        <p:spPr>
          <a:xfrm>
            <a:off x="416615" y="1402100"/>
            <a:ext cx="2068168" cy="424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0680" indent="-36068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取回竞价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374AFC8-4561-4B81-AC96-A979B34EBAFB}"/>
              </a:ext>
            </a:extLst>
          </p:cNvPr>
          <p:cNvSpPr txBox="1"/>
          <p:nvPr/>
        </p:nvSpPr>
        <p:spPr>
          <a:xfrm>
            <a:off x="3719719" y="1402100"/>
            <a:ext cx="2068168" cy="424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0680" indent="-36068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结束竞拍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ED03935-582B-4F08-8B3C-2DE787396B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82" y="2187185"/>
            <a:ext cx="5767708" cy="317519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03F98A3E-9AD5-4070-9621-BC62DE3F91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3550" y="1171575"/>
            <a:ext cx="6648450" cy="5686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743295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6677D1-D26E-4D72-B562-AD05F0D6A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交易驱动的状态机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5554310-CE35-4F34-BA96-FBF1B239B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58</a:t>
            </a:fld>
            <a:endParaRPr kumimoji="1" lang="zh-CN" altLang="en-US" dirty="0"/>
          </a:p>
        </p:txBody>
      </p:sp>
      <p:sp>
        <p:nvSpPr>
          <p:cNvPr id="44" name="文本占位符 3">
            <a:extLst>
              <a:ext uri="{FF2B5EF4-FFF2-40B4-BE49-F238E27FC236}">
                <a16:creationId xmlns:a16="http://schemas.microsoft.com/office/drawing/2014/main" id="{BA5E1B10-AB5B-461B-A9A5-B37178D303D2}"/>
              </a:ext>
            </a:extLst>
          </p:cNvPr>
          <p:cNvSpPr>
            <a:spLocks noGrp="1"/>
          </p:cNvSpPr>
          <p:nvPr/>
        </p:nvSpPr>
        <p:spPr bwMode="auto">
          <a:xfrm>
            <a:off x="157800" y="1384960"/>
            <a:ext cx="5462628" cy="57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7013" indent="-227013" algn="l" defTabSz="912813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Wingdings" pitchFamily="2" charset="2"/>
              <a:buChar char="ü"/>
              <a:defRPr sz="2400" b="1" i="0" kern="1200">
                <a:solidFill>
                  <a:schemeClr val="tx1"/>
                </a:solidFill>
                <a:latin typeface="LXGW WenKai" pitchFamily="2" charset="-120"/>
                <a:ea typeface="LXGW WenKai" pitchFamily="2" charset="-120"/>
                <a:cs typeface="等线" panose="02010600030101010101" pitchFamily="2" charset="-122"/>
              </a:defRPr>
            </a:lvl1pPr>
            <a:lvl2pPr marL="457200" indent="0" algn="l" defTabSz="912813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等线" panose="02010600030101010101" pitchFamily="2" charset="-122"/>
              </a:defRPr>
            </a:lvl2pPr>
            <a:lvl3pPr marL="1141413" indent="-227013" algn="l" defTabSz="912813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等线" panose="02010600030101010101" pitchFamily="2" charset="-122"/>
              </a:defRPr>
            </a:lvl3pPr>
            <a:lvl4pPr marL="1598613" indent="-227013" algn="l" defTabSz="912813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等线" panose="02010600030101010101" pitchFamily="2" charset="-122"/>
              </a:defRPr>
            </a:lvl4pPr>
            <a:lvl5pPr marL="2055813" indent="-227013" algn="l" defTabSz="912813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等线" panose="02010600030101010101" pitchFamily="2" charset="-122"/>
              </a:defRPr>
            </a:lvl5pPr>
            <a:lvl6pPr marL="2514516" indent="-228593" algn="l" defTabSz="91437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01" indent="-228593" algn="l" defTabSz="91437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85" indent="-228593" algn="l" defTabSz="91437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71" indent="-228593" algn="l" defTabSz="91437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en-US" altLang="zh-CN" dirty="0"/>
              <a:t> </a:t>
            </a:r>
            <a:r>
              <a:rPr lang="zh-CN" altLang="en-US" dirty="0"/>
              <a:t>交易驱动的状态机</a:t>
            </a:r>
          </a:p>
        </p:txBody>
      </p:sp>
      <p:pic>
        <p:nvPicPr>
          <p:cNvPr id="45" name="图片 44">
            <a:extLst>
              <a:ext uri="{FF2B5EF4-FFF2-40B4-BE49-F238E27FC236}">
                <a16:creationId xmlns:a16="http://schemas.microsoft.com/office/drawing/2014/main" id="{D5C98D9B-6DB5-41C9-88C1-4D62D813E7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0735" y="4164333"/>
            <a:ext cx="6041265" cy="2429742"/>
          </a:xfrm>
          <a:prstGeom prst="rect">
            <a:avLst/>
          </a:prstGeom>
        </p:spPr>
      </p:pic>
      <p:sp>
        <p:nvSpPr>
          <p:cNvPr id="46" name="椭圆 45">
            <a:extLst>
              <a:ext uri="{FF2B5EF4-FFF2-40B4-BE49-F238E27FC236}">
                <a16:creationId xmlns:a16="http://schemas.microsoft.com/office/drawing/2014/main" id="{EC05434A-894B-414C-885A-BD7433FFDDA3}"/>
              </a:ext>
            </a:extLst>
          </p:cNvPr>
          <p:cNvSpPr/>
          <p:nvPr/>
        </p:nvSpPr>
        <p:spPr>
          <a:xfrm>
            <a:off x="1111865" y="2143171"/>
            <a:ext cx="1132888" cy="480361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A: 100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47" name="椭圆 46">
            <a:extLst>
              <a:ext uri="{FF2B5EF4-FFF2-40B4-BE49-F238E27FC236}">
                <a16:creationId xmlns:a16="http://schemas.microsoft.com/office/drawing/2014/main" id="{750CD519-5BBA-4670-BBFB-12899F48EB42}"/>
              </a:ext>
            </a:extLst>
          </p:cNvPr>
          <p:cNvSpPr/>
          <p:nvPr/>
        </p:nvSpPr>
        <p:spPr>
          <a:xfrm>
            <a:off x="2890152" y="2143171"/>
            <a:ext cx="1132888" cy="480361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A: 30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48" name="椭圆 47">
            <a:extLst>
              <a:ext uri="{FF2B5EF4-FFF2-40B4-BE49-F238E27FC236}">
                <a16:creationId xmlns:a16="http://schemas.microsoft.com/office/drawing/2014/main" id="{7036356C-4B44-4243-BD86-84301867A7F5}"/>
              </a:ext>
            </a:extLst>
          </p:cNvPr>
          <p:cNvSpPr/>
          <p:nvPr/>
        </p:nvSpPr>
        <p:spPr>
          <a:xfrm>
            <a:off x="4677964" y="2143171"/>
            <a:ext cx="1132888" cy="480361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A: 50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49" name="椭圆 48">
            <a:extLst>
              <a:ext uri="{FF2B5EF4-FFF2-40B4-BE49-F238E27FC236}">
                <a16:creationId xmlns:a16="http://schemas.microsoft.com/office/drawing/2014/main" id="{A0C3C59A-3FFE-4793-BA82-87CFF05BF387}"/>
              </a:ext>
            </a:extLst>
          </p:cNvPr>
          <p:cNvSpPr/>
          <p:nvPr/>
        </p:nvSpPr>
        <p:spPr>
          <a:xfrm>
            <a:off x="431997" y="2220151"/>
            <a:ext cx="314036" cy="314036"/>
          </a:xfrm>
          <a:prstGeom prst="ellipse">
            <a:avLst/>
          </a:prstGeom>
          <a:solidFill>
            <a:srgbClr val="00356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50" name="椭圆 49">
            <a:extLst>
              <a:ext uri="{FF2B5EF4-FFF2-40B4-BE49-F238E27FC236}">
                <a16:creationId xmlns:a16="http://schemas.microsoft.com/office/drawing/2014/main" id="{E3A764D2-DD8A-40A9-9F75-FC6C2CC03947}"/>
              </a:ext>
            </a:extLst>
          </p:cNvPr>
          <p:cNvSpPr/>
          <p:nvPr/>
        </p:nvSpPr>
        <p:spPr>
          <a:xfrm>
            <a:off x="431997" y="2818047"/>
            <a:ext cx="314036" cy="314036"/>
          </a:xfrm>
          <a:prstGeom prst="ellipse">
            <a:avLst/>
          </a:prstGeom>
          <a:solidFill>
            <a:srgbClr val="00356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51" name="椭圆 50">
            <a:extLst>
              <a:ext uri="{FF2B5EF4-FFF2-40B4-BE49-F238E27FC236}">
                <a16:creationId xmlns:a16="http://schemas.microsoft.com/office/drawing/2014/main" id="{84A800AB-1EB9-47E6-A68B-49935DFB9F2C}"/>
              </a:ext>
            </a:extLst>
          </p:cNvPr>
          <p:cNvSpPr/>
          <p:nvPr/>
        </p:nvSpPr>
        <p:spPr>
          <a:xfrm>
            <a:off x="431997" y="3415943"/>
            <a:ext cx="314036" cy="314036"/>
          </a:xfrm>
          <a:prstGeom prst="ellipse">
            <a:avLst/>
          </a:prstGeom>
          <a:solidFill>
            <a:srgbClr val="00356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52" name="椭圆 51">
            <a:extLst>
              <a:ext uri="{FF2B5EF4-FFF2-40B4-BE49-F238E27FC236}">
                <a16:creationId xmlns:a16="http://schemas.microsoft.com/office/drawing/2014/main" id="{E29FB1F7-D3A8-491F-B8FA-7341521AA767}"/>
              </a:ext>
            </a:extLst>
          </p:cNvPr>
          <p:cNvSpPr/>
          <p:nvPr/>
        </p:nvSpPr>
        <p:spPr>
          <a:xfrm>
            <a:off x="431997" y="4010640"/>
            <a:ext cx="314036" cy="314036"/>
          </a:xfrm>
          <a:prstGeom prst="ellipse">
            <a:avLst/>
          </a:prstGeom>
          <a:pattFill prst="wdUpDiag">
            <a:fgClr>
              <a:srgbClr val="003566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53" name="椭圆 52">
            <a:extLst>
              <a:ext uri="{FF2B5EF4-FFF2-40B4-BE49-F238E27FC236}">
                <a16:creationId xmlns:a16="http://schemas.microsoft.com/office/drawing/2014/main" id="{5331E1BC-8D86-4359-9495-2C904BD9F46B}"/>
              </a:ext>
            </a:extLst>
          </p:cNvPr>
          <p:cNvSpPr/>
          <p:nvPr/>
        </p:nvSpPr>
        <p:spPr>
          <a:xfrm>
            <a:off x="1111865" y="2734884"/>
            <a:ext cx="1132888" cy="480361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A: 100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54" name="椭圆 53">
            <a:extLst>
              <a:ext uri="{FF2B5EF4-FFF2-40B4-BE49-F238E27FC236}">
                <a16:creationId xmlns:a16="http://schemas.microsoft.com/office/drawing/2014/main" id="{05AFE1B8-DB9D-45CD-9B6A-5D0D5FD9972B}"/>
              </a:ext>
            </a:extLst>
          </p:cNvPr>
          <p:cNvSpPr/>
          <p:nvPr/>
        </p:nvSpPr>
        <p:spPr>
          <a:xfrm>
            <a:off x="1111865" y="3332780"/>
            <a:ext cx="1132888" cy="480361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A: 100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55" name="椭圆 54">
            <a:extLst>
              <a:ext uri="{FF2B5EF4-FFF2-40B4-BE49-F238E27FC236}">
                <a16:creationId xmlns:a16="http://schemas.microsoft.com/office/drawing/2014/main" id="{0C9013C3-EE54-4DC9-A009-CF6F91F6EB81}"/>
              </a:ext>
            </a:extLst>
          </p:cNvPr>
          <p:cNvSpPr/>
          <p:nvPr/>
        </p:nvSpPr>
        <p:spPr>
          <a:xfrm>
            <a:off x="1111865" y="3930676"/>
            <a:ext cx="1132888" cy="480361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A: 100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56" name="椭圆 55">
            <a:extLst>
              <a:ext uri="{FF2B5EF4-FFF2-40B4-BE49-F238E27FC236}">
                <a16:creationId xmlns:a16="http://schemas.microsoft.com/office/drawing/2014/main" id="{678DC49C-FDB8-414F-91F2-7B658566F6DE}"/>
              </a:ext>
            </a:extLst>
          </p:cNvPr>
          <p:cNvSpPr/>
          <p:nvPr/>
        </p:nvSpPr>
        <p:spPr>
          <a:xfrm>
            <a:off x="2890152" y="2743481"/>
            <a:ext cx="1132888" cy="480361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A: 30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57" name="椭圆 56">
            <a:extLst>
              <a:ext uri="{FF2B5EF4-FFF2-40B4-BE49-F238E27FC236}">
                <a16:creationId xmlns:a16="http://schemas.microsoft.com/office/drawing/2014/main" id="{3E2267EA-016C-4F83-A8F8-D1F01BFDB8FE}"/>
              </a:ext>
            </a:extLst>
          </p:cNvPr>
          <p:cNvSpPr/>
          <p:nvPr/>
        </p:nvSpPr>
        <p:spPr>
          <a:xfrm>
            <a:off x="4677964" y="2743481"/>
            <a:ext cx="1132888" cy="480361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A: 50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58" name="椭圆 57">
            <a:extLst>
              <a:ext uri="{FF2B5EF4-FFF2-40B4-BE49-F238E27FC236}">
                <a16:creationId xmlns:a16="http://schemas.microsoft.com/office/drawing/2014/main" id="{28D949F4-3074-4808-AAE6-E1845D8E7AC1}"/>
              </a:ext>
            </a:extLst>
          </p:cNvPr>
          <p:cNvSpPr/>
          <p:nvPr/>
        </p:nvSpPr>
        <p:spPr>
          <a:xfrm>
            <a:off x="2890152" y="3332780"/>
            <a:ext cx="1132888" cy="480361"/>
          </a:xfrm>
          <a:prstGeom prst="ellipse">
            <a:avLst/>
          </a:prstGeom>
          <a:pattFill prst="wdUpDiag">
            <a:fgClr>
              <a:srgbClr val="003566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A: 30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59" name="文本框 39">
            <a:extLst>
              <a:ext uri="{FF2B5EF4-FFF2-40B4-BE49-F238E27FC236}">
                <a16:creationId xmlns:a16="http://schemas.microsoft.com/office/drawing/2014/main" id="{8E023145-C151-4DDB-B716-B9B49543AED6}"/>
              </a:ext>
            </a:extLst>
          </p:cNvPr>
          <p:cNvSpPr txBox="1"/>
          <p:nvPr/>
        </p:nvSpPr>
        <p:spPr>
          <a:xfrm>
            <a:off x="157799" y="1831803"/>
            <a:ext cx="8002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等线" panose="02010600030101010101" pitchFamily="2" charset="-122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等线" panose="02010600030101010101" pitchFamily="2" charset="-122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等线" panose="02010600030101010101" pitchFamily="2" charset="-122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等线" panose="02010600030101010101" pitchFamily="2" charset="-122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等线" panose="02010600030101010101" pitchFamily="2" charset="-122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等线" panose="02010600030101010101" pitchFamily="2" charset="-122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等线" panose="02010600030101010101" pitchFamily="2" charset="-122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等线" panose="02010600030101010101" pitchFamily="2" charset="-122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等线" panose="02010600030101010101" pitchFamily="2" charset="-122"/>
              </a:defRPr>
            </a:lvl9pPr>
          </a:lstStyle>
          <a:p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全节点</a:t>
            </a:r>
          </a:p>
        </p:txBody>
      </p:sp>
      <p:cxnSp>
        <p:nvCxnSpPr>
          <p:cNvPr id="60" name="直接箭头连接符 59">
            <a:extLst>
              <a:ext uri="{FF2B5EF4-FFF2-40B4-BE49-F238E27FC236}">
                <a16:creationId xmlns:a16="http://schemas.microsoft.com/office/drawing/2014/main" id="{AE3DAEA4-632D-44DE-A17F-822ADD13A4C1}"/>
              </a:ext>
            </a:extLst>
          </p:cNvPr>
          <p:cNvCxnSpPr>
            <a:stCxn id="49" idx="6"/>
            <a:endCxn id="46" idx="2"/>
          </p:cNvCxnSpPr>
          <p:nvPr/>
        </p:nvCxnSpPr>
        <p:spPr>
          <a:xfrm>
            <a:off x="746033" y="2377169"/>
            <a:ext cx="365832" cy="6183"/>
          </a:xfrm>
          <a:prstGeom prst="straightConnector1">
            <a:avLst/>
          </a:prstGeom>
          <a:ln w="19050">
            <a:solidFill>
              <a:srgbClr val="EE1A1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接箭头连接符 60">
            <a:extLst>
              <a:ext uri="{FF2B5EF4-FFF2-40B4-BE49-F238E27FC236}">
                <a16:creationId xmlns:a16="http://schemas.microsoft.com/office/drawing/2014/main" id="{96C6B052-B222-4D45-A876-BF9F3C45ACCE}"/>
              </a:ext>
            </a:extLst>
          </p:cNvPr>
          <p:cNvCxnSpPr>
            <a:cxnSpLocks/>
            <a:stCxn id="50" idx="6"/>
            <a:endCxn id="53" idx="2"/>
          </p:cNvCxnSpPr>
          <p:nvPr/>
        </p:nvCxnSpPr>
        <p:spPr>
          <a:xfrm>
            <a:off x="746033" y="2975065"/>
            <a:ext cx="365832" cy="0"/>
          </a:xfrm>
          <a:prstGeom prst="straightConnector1">
            <a:avLst/>
          </a:prstGeom>
          <a:ln w="19050">
            <a:solidFill>
              <a:srgbClr val="EE1A1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箭头连接符 61">
            <a:extLst>
              <a:ext uri="{FF2B5EF4-FFF2-40B4-BE49-F238E27FC236}">
                <a16:creationId xmlns:a16="http://schemas.microsoft.com/office/drawing/2014/main" id="{D61E2901-7395-4AE6-A890-D8F7E5E23D1E}"/>
              </a:ext>
            </a:extLst>
          </p:cNvPr>
          <p:cNvCxnSpPr>
            <a:cxnSpLocks/>
            <a:stCxn id="51" idx="6"/>
            <a:endCxn id="54" idx="2"/>
          </p:cNvCxnSpPr>
          <p:nvPr/>
        </p:nvCxnSpPr>
        <p:spPr>
          <a:xfrm>
            <a:off x="746033" y="3572961"/>
            <a:ext cx="365832" cy="0"/>
          </a:xfrm>
          <a:prstGeom prst="straightConnector1">
            <a:avLst/>
          </a:prstGeom>
          <a:ln w="19050">
            <a:solidFill>
              <a:srgbClr val="EE1A1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箭头连接符 62">
            <a:extLst>
              <a:ext uri="{FF2B5EF4-FFF2-40B4-BE49-F238E27FC236}">
                <a16:creationId xmlns:a16="http://schemas.microsoft.com/office/drawing/2014/main" id="{638C524C-A354-4D4D-B433-63D0224B41DD}"/>
              </a:ext>
            </a:extLst>
          </p:cNvPr>
          <p:cNvCxnSpPr>
            <a:cxnSpLocks/>
            <a:stCxn id="52" idx="6"/>
            <a:endCxn id="55" idx="2"/>
          </p:cNvCxnSpPr>
          <p:nvPr/>
        </p:nvCxnSpPr>
        <p:spPr>
          <a:xfrm>
            <a:off x="746033" y="4167658"/>
            <a:ext cx="365832" cy="3199"/>
          </a:xfrm>
          <a:prstGeom prst="straightConnector1">
            <a:avLst/>
          </a:prstGeom>
          <a:ln w="19050">
            <a:solidFill>
              <a:srgbClr val="EE1A1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箭头连接符 63">
            <a:extLst>
              <a:ext uri="{FF2B5EF4-FFF2-40B4-BE49-F238E27FC236}">
                <a16:creationId xmlns:a16="http://schemas.microsoft.com/office/drawing/2014/main" id="{49760B4E-1C18-4CCE-9F4F-5B160722800A}"/>
              </a:ext>
            </a:extLst>
          </p:cNvPr>
          <p:cNvCxnSpPr>
            <a:cxnSpLocks/>
            <a:stCxn id="54" idx="6"/>
            <a:endCxn id="58" idx="2"/>
          </p:cNvCxnSpPr>
          <p:nvPr/>
        </p:nvCxnSpPr>
        <p:spPr>
          <a:xfrm>
            <a:off x="2244753" y="3572961"/>
            <a:ext cx="645399" cy="0"/>
          </a:xfrm>
          <a:prstGeom prst="straightConnector1">
            <a:avLst/>
          </a:prstGeom>
          <a:ln w="19050">
            <a:solidFill>
              <a:srgbClr val="EE1A1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箭头连接符 64">
            <a:extLst>
              <a:ext uri="{FF2B5EF4-FFF2-40B4-BE49-F238E27FC236}">
                <a16:creationId xmlns:a16="http://schemas.microsoft.com/office/drawing/2014/main" id="{C5A3FD03-B132-4415-9060-6CF19A90B2D1}"/>
              </a:ext>
            </a:extLst>
          </p:cNvPr>
          <p:cNvCxnSpPr>
            <a:cxnSpLocks/>
            <a:stCxn id="53" idx="6"/>
            <a:endCxn id="56" idx="2"/>
          </p:cNvCxnSpPr>
          <p:nvPr/>
        </p:nvCxnSpPr>
        <p:spPr>
          <a:xfrm>
            <a:off x="2244753" y="2975065"/>
            <a:ext cx="645399" cy="8597"/>
          </a:xfrm>
          <a:prstGeom prst="straightConnector1">
            <a:avLst/>
          </a:prstGeom>
          <a:ln w="19050">
            <a:solidFill>
              <a:srgbClr val="EE1A1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箭头连接符 65">
            <a:extLst>
              <a:ext uri="{FF2B5EF4-FFF2-40B4-BE49-F238E27FC236}">
                <a16:creationId xmlns:a16="http://schemas.microsoft.com/office/drawing/2014/main" id="{457CE94B-9487-47A5-B338-BA55B31A1386}"/>
              </a:ext>
            </a:extLst>
          </p:cNvPr>
          <p:cNvCxnSpPr>
            <a:cxnSpLocks/>
            <a:stCxn id="46" idx="6"/>
            <a:endCxn id="47" idx="2"/>
          </p:cNvCxnSpPr>
          <p:nvPr/>
        </p:nvCxnSpPr>
        <p:spPr>
          <a:xfrm>
            <a:off x="2244753" y="2383352"/>
            <a:ext cx="645399" cy="0"/>
          </a:xfrm>
          <a:prstGeom prst="straightConnector1">
            <a:avLst/>
          </a:prstGeom>
          <a:ln w="19050">
            <a:solidFill>
              <a:srgbClr val="EE1A1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箭头连接符 66">
            <a:extLst>
              <a:ext uri="{FF2B5EF4-FFF2-40B4-BE49-F238E27FC236}">
                <a16:creationId xmlns:a16="http://schemas.microsoft.com/office/drawing/2014/main" id="{015E0FB5-6319-428D-9D99-953985E00931}"/>
              </a:ext>
            </a:extLst>
          </p:cNvPr>
          <p:cNvCxnSpPr>
            <a:cxnSpLocks/>
            <a:stCxn id="47" idx="6"/>
            <a:endCxn id="48" idx="2"/>
          </p:cNvCxnSpPr>
          <p:nvPr/>
        </p:nvCxnSpPr>
        <p:spPr>
          <a:xfrm>
            <a:off x="4023040" y="2383352"/>
            <a:ext cx="654924" cy="0"/>
          </a:xfrm>
          <a:prstGeom prst="straightConnector1">
            <a:avLst/>
          </a:prstGeom>
          <a:ln w="19050">
            <a:solidFill>
              <a:srgbClr val="EE1A1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接箭头连接符 67">
            <a:extLst>
              <a:ext uri="{FF2B5EF4-FFF2-40B4-BE49-F238E27FC236}">
                <a16:creationId xmlns:a16="http://schemas.microsoft.com/office/drawing/2014/main" id="{FD6BB3BD-A148-4554-AD95-404579A6CCF0}"/>
              </a:ext>
            </a:extLst>
          </p:cNvPr>
          <p:cNvCxnSpPr>
            <a:cxnSpLocks/>
            <a:stCxn id="56" idx="6"/>
            <a:endCxn id="57" idx="2"/>
          </p:cNvCxnSpPr>
          <p:nvPr/>
        </p:nvCxnSpPr>
        <p:spPr>
          <a:xfrm>
            <a:off x="4023040" y="2983662"/>
            <a:ext cx="654924" cy="0"/>
          </a:xfrm>
          <a:prstGeom prst="straightConnector1">
            <a:avLst/>
          </a:prstGeom>
          <a:ln w="19050">
            <a:solidFill>
              <a:srgbClr val="EE1A1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文本框 84">
            <a:extLst>
              <a:ext uri="{FF2B5EF4-FFF2-40B4-BE49-F238E27FC236}">
                <a16:creationId xmlns:a16="http://schemas.microsoft.com/office/drawing/2014/main" id="{6C3D36CC-A71D-49BB-8F6E-189E37DB0541}"/>
              </a:ext>
            </a:extLst>
          </p:cNvPr>
          <p:cNvSpPr txBox="1"/>
          <p:nvPr/>
        </p:nvSpPr>
        <p:spPr>
          <a:xfrm>
            <a:off x="1695309" y="1829848"/>
            <a:ext cx="174586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等线" panose="02010600030101010101" pitchFamily="2" charset="-122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等线" panose="02010600030101010101" pitchFamily="2" charset="-122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等线" panose="02010600030101010101" pitchFamily="2" charset="-122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等线" panose="02010600030101010101" pitchFamily="2" charset="-122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等线" panose="02010600030101010101" pitchFamily="2" charset="-122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等线" panose="02010600030101010101" pitchFamily="2" charset="-122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等线" panose="02010600030101010101" pitchFamily="2" charset="-122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等线" panose="02010600030101010101" pitchFamily="2" charset="-122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等线" panose="02010600030101010101" pitchFamily="2" charset="-122"/>
              </a:defRPr>
            </a:lvl9pPr>
          </a:lstStyle>
          <a:p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Tx: A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→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B 70 ETH</a:t>
            </a:r>
            <a:endParaRPr lang="zh-CN" altLang="en-US" sz="160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70" name="文本框 85">
            <a:extLst>
              <a:ext uri="{FF2B5EF4-FFF2-40B4-BE49-F238E27FC236}">
                <a16:creationId xmlns:a16="http://schemas.microsoft.com/office/drawing/2014/main" id="{92F845A5-A4BA-4ECE-92A2-1C902489AC9A}"/>
              </a:ext>
            </a:extLst>
          </p:cNvPr>
          <p:cNvSpPr txBox="1"/>
          <p:nvPr/>
        </p:nvSpPr>
        <p:spPr>
          <a:xfrm>
            <a:off x="3508654" y="1827769"/>
            <a:ext cx="17570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等线" panose="02010600030101010101" pitchFamily="2" charset="-122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等线" panose="02010600030101010101" pitchFamily="2" charset="-122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等线" panose="02010600030101010101" pitchFamily="2" charset="-122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等线" panose="02010600030101010101" pitchFamily="2" charset="-122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等线" panose="02010600030101010101" pitchFamily="2" charset="-122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等线" panose="02010600030101010101" pitchFamily="2" charset="-122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等线" panose="02010600030101010101" pitchFamily="2" charset="-122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等线" panose="02010600030101010101" pitchFamily="2" charset="-122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等线" panose="02010600030101010101" pitchFamily="2" charset="-122"/>
              </a:defRPr>
            </a:lvl9pPr>
          </a:lstStyle>
          <a:p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Tx: C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→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A 20 ETH</a:t>
            </a:r>
            <a:endParaRPr lang="zh-CN" altLang="en-US" sz="160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71" name="直接箭头连接符 70">
            <a:extLst>
              <a:ext uri="{FF2B5EF4-FFF2-40B4-BE49-F238E27FC236}">
                <a16:creationId xmlns:a16="http://schemas.microsoft.com/office/drawing/2014/main" id="{91A2CF4C-4CC4-4D20-BAAA-6C5251C3D894}"/>
              </a:ext>
            </a:extLst>
          </p:cNvPr>
          <p:cNvCxnSpPr>
            <a:stCxn id="69" idx="2"/>
          </p:cNvCxnSpPr>
          <p:nvPr/>
        </p:nvCxnSpPr>
        <p:spPr>
          <a:xfrm flipH="1">
            <a:off x="2566302" y="2168402"/>
            <a:ext cx="1939" cy="208767"/>
          </a:xfrm>
          <a:prstGeom prst="straightConnector1">
            <a:avLst/>
          </a:prstGeom>
          <a:ln w="19050">
            <a:solidFill>
              <a:srgbClr val="0035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接箭头连接符 71">
            <a:extLst>
              <a:ext uri="{FF2B5EF4-FFF2-40B4-BE49-F238E27FC236}">
                <a16:creationId xmlns:a16="http://schemas.microsoft.com/office/drawing/2014/main" id="{77F0E22B-6A1B-4903-82C5-C7D521BDEFF2}"/>
              </a:ext>
            </a:extLst>
          </p:cNvPr>
          <p:cNvCxnSpPr>
            <a:cxnSpLocks/>
            <a:stCxn id="70" idx="2"/>
          </p:cNvCxnSpPr>
          <p:nvPr/>
        </p:nvCxnSpPr>
        <p:spPr>
          <a:xfrm>
            <a:off x="4387196" y="2166323"/>
            <a:ext cx="0" cy="244691"/>
          </a:xfrm>
          <a:prstGeom prst="straightConnector1">
            <a:avLst/>
          </a:prstGeom>
          <a:ln w="19050">
            <a:solidFill>
              <a:srgbClr val="00356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文本框 95">
            <a:extLst>
              <a:ext uri="{FF2B5EF4-FFF2-40B4-BE49-F238E27FC236}">
                <a16:creationId xmlns:a16="http://schemas.microsoft.com/office/drawing/2014/main" id="{4F4258C1-DF07-4F3F-B1F4-12697D516675}"/>
              </a:ext>
            </a:extLst>
          </p:cNvPr>
          <p:cNvSpPr txBox="1"/>
          <p:nvPr/>
        </p:nvSpPr>
        <p:spPr>
          <a:xfrm>
            <a:off x="188728" y="4530117"/>
            <a:ext cx="2377574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2060"/>
            </a:solidFill>
            <a:prstDash val="dash"/>
          </a:ln>
        </p:spPr>
        <p:txBody>
          <a:bodyPr wrap="none" rtlCol="0">
            <a:spAutoFit/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等线" panose="02010600030101010101" pitchFamily="2" charset="-122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等线" panose="02010600030101010101" pitchFamily="2" charset="-122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等线" panose="02010600030101010101" pitchFamily="2" charset="-122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等线" panose="02010600030101010101" pitchFamily="2" charset="-122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等线" panose="02010600030101010101" pitchFamily="2" charset="-122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等线" panose="02010600030101010101" pitchFamily="2" charset="-122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等线" panose="02010600030101010101" pitchFamily="2" charset="-122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等线" panose="02010600030101010101" pitchFamily="2" charset="-122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等线" panose="02010600030101010101" pitchFamily="2" charset="-122"/>
              </a:defRPr>
            </a:lvl9pPr>
          </a:lstStyle>
          <a:p>
            <a:r>
              <a:rPr lang="zh-CN" altLang="en-US" dirty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执行交易 → 状态迁移</a:t>
            </a:r>
          </a:p>
        </p:txBody>
      </p:sp>
      <p:pic>
        <p:nvPicPr>
          <p:cNvPr id="74" name="图片 73">
            <a:extLst>
              <a:ext uri="{FF2B5EF4-FFF2-40B4-BE49-F238E27FC236}">
                <a16:creationId xmlns:a16="http://schemas.microsoft.com/office/drawing/2014/main" id="{4E328226-5FBF-4C2A-B0C6-AF32264FE7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38" y="5869189"/>
            <a:ext cx="542925" cy="542925"/>
          </a:xfrm>
          <a:prstGeom prst="rect">
            <a:avLst/>
          </a:prstGeom>
        </p:spPr>
      </p:pic>
      <p:pic>
        <p:nvPicPr>
          <p:cNvPr id="75" name="图片 74">
            <a:extLst>
              <a:ext uri="{FF2B5EF4-FFF2-40B4-BE49-F238E27FC236}">
                <a16:creationId xmlns:a16="http://schemas.microsoft.com/office/drawing/2014/main" id="{376B4FAA-A698-4434-9B8E-EFF07AE2012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8736" y="5892537"/>
            <a:ext cx="496228" cy="496228"/>
          </a:xfrm>
          <a:prstGeom prst="rect">
            <a:avLst/>
          </a:prstGeom>
        </p:spPr>
      </p:pic>
      <p:sp>
        <p:nvSpPr>
          <p:cNvPr id="76" name="文本框 103">
            <a:extLst>
              <a:ext uri="{FF2B5EF4-FFF2-40B4-BE49-F238E27FC236}">
                <a16:creationId xmlns:a16="http://schemas.microsoft.com/office/drawing/2014/main" id="{2A740697-4524-41A8-85CD-4280B06F4994}"/>
              </a:ext>
            </a:extLst>
          </p:cNvPr>
          <p:cNvSpPr txBox="1"/>
          <p:nvPr/>
        </p:nvSpPr>
        <p:spPr>
          <a:xfrm>
            <a:off x="645463" y="5958816"/>
            <a:ext cx="2548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等线" panose="02010600030101010101" pitchFamily="2" charset="-122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等线" panose="02010600030101010101" pitchFamily="2" charset="-122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等线" panose="02010600030101010101" pitchFamily="2" charset="-122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等线" panose="02010600030101010101" pitchFamily="2" charset="-122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等线" panose="02010600030101010101" pitchFamily="2" charset="-122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等线" panose="02010600030101010101" pitchFamily="2" charset="-122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等线" panose="02010600030101010101" pitchFamily="2" charset="-122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等线" panose="02010600030101010101" pitchFamily="2" charset="-122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等线" panose="02010600030101010101" pitchFamily="2" charset="-122"/>
              </a:defRPr>
            </a:lvl9pPr>
          </a:lstStyle>
          <a:p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</a:rPr>
              <a:t>融资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</a:rPr>
              <a:t>ETH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</a:rPr>
              <a:t>，按比例分红</a:t>
            </a:r>
          </a:p>
        </p:txBody>
      </p:sp>
      <p:sp>
        <p:nvSpPr>
          <p:cNvPr id="77" name="文本框 104">
            <a:extLst>
              <a:ext uri="{FF2B5EF4-FFF2-40B4-BE49-F238E27FC236}">
                <a16:creationId xmlns:a16="http://schemas.microsoft.com/office/drawing/2014/main" id="{CFAAC0BA-C88D-4A30-89C9-A08B85417E6A}"/>
              </a:ext>
            </a:extLst>
          </p:cNvPr>
          <p:cNvSpPr txBox="1"/>
          <p:nvPr/>
        </p:nvSpPr>
        <p:spPr>
          <a:xfrm>
            <a:off x="4136402" y="5958816"/>
            <a:ext cx="12764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等线" panose="02010600030101010101" pitchFamily="2" charset="-122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等线" panose="02010600030101010101" pitchFamily="2" charset="-122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等线" panose="02010600030101010101" pitchFamily="2" charset="-122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等线" panose="02010600030101010101" pitchFamily="2" charset="-122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等线" panose="02010600030101010101" pitchFamily="2" charset="-122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等线" panose="02010600030101010101" pitchFamily="2" charset="-122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等线" panose="02010600030101010101" pitchFamily="2" charset="-122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等线" panose="02010600030101010101" pitchFamily="2" charset="-122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等线" panose="02010600030101010101" pitchFamily="2" charset="-122"/>
              </a:defRPr>
            </a:lvl9pPr>
          </a:lstStyle>
          <a:p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</a:rPr>
              <a:t>智能合约</a:t>
            </a:r>
          </a:p>
        </p:txBody>
      </p:sp>
      <p:cxnSp>
        <p:nvCxnSpPr>
          <p:cNvPr id="78" name="直接箭头连接符 77">
            <a:extLst>
              <a:ext uri="{FF2B5EF4-FFF2-40B4-BE49-F238E27FC236}">
                <a16:creationId xmlns:a16="http://schemas.microsoft.com/office/drawing/2014/main" id="{2B7CA840-CD2A-4743-8924-2D376F7ECF50}"/>
              </a:ext>
            </a:extLst>
          </p:cNvPr>
          <p:cNvCxnSpPr>
            <a:stCxn id="75" idx="1"/>
            <a:endCxn id="76" idx="3"/>
          </p:cNvCxnSpPr>
          <p:nvPr/>
        </p:nvCxnSpPr>
        <p:spPr>
          <a:xfrm flipH="1">
            <a:off x="3193607" y="6140651"/>
            <a:ext cx="495129" cy="2831"/>
          </a:xfrm>
          <a:prstGeom prst="straightConnector1">
            <a:avLst/>
          </a:prstGeom>
          <a:ln w="19050">
            <a:solidFill>
              <a:srgbClr val="EE1A1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文本框 107">
            <a:extLst>
              <a:ext uri="{FF2B5EF4-FFF2-40B4-BE49-F238E27FC236}">
                <a16:creationId xmlns:a16="http://schemas.microsoft.com/office/drawing/2014/main" id="{4B4DB349-9EB8-4EAC-99F5-810C8232FE24}"/>
              </a:ext>
            </a:extLst>
          </p:cNvPr>
          <p:cNvSpPr txBox="1"/>
          <p:nvPr/>
        </p:nvSpPr>
        <p:spPr>
          <a:xfrm>
            <a:off x="6241993" y="1490161"/>
            <a:ext cx="2839239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2060"/>
            </a:solidFill>
            <a:prstDash val="dash"/>
          </a:ln>
        </p:spPr>
        <p:txBody>
          <a:bodyPr wrap="none" rtlCol="0">
            <a:spAutoFit/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等线" panose="02010600030101010101" pitchFamily="2" charset="-122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等线" panose="02010600030101010101" pitchFamily="2" charset="-122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等线" panose="02010600030101010101" pitchFamily="2" charset="-122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等线" panose="02010600030101010101" pitchFamily="2" charset="-122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等线" panose="02010600030101010101" pitchFamily="2" charset="-122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等线" panose="02010600030101010101" pitchFamily="2" charset="-122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等线" panose="02010600030101010101" pitchFamily="2" charset="-122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等线" panose="02010600030101010101" pitchFamily="2" charset="-122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等线" panose="02010600030101010101" pitchFamily="2" charset="-122"/>
              </a:defRPr>
            </a:lvl9pPr>
          </a:lstStyle>
          <a:p>
            <a:r>
              <a:rPr lang="zh-CN" altLang="en-US" dirty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执行智能合约 → 状态迁移</a:t>
            </a: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365A027A-7FE1-45BC-891A-D3654DCA29B5}"/>
              </a:ext>
            </a:extLst>
          </p:cNvPr>
          <p:cNvSpPr/>
          <p:nvPr/>
        </p:nvSpPr>
        <p:spPr>
          <a:xfrm>
            <a:off x="746033" y="5096501"/>
            <a:ext cx="5313258" cy="64633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rgbClr val="002060"/>
            </a:solidFill>
            <a:prstDash val="dash"/>
          </a:ln>
        </p:spPr>
        <p:txBody>
          <a:bodyPr wrap="square">
            <a:spAutoFit/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等线" panose="02010600030101010101" pitchFamily="2" charset="-122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等线" panose="02010600030101010101" pitchFamily="2" charset="-122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等线" panose="02010600030101010101" pitchFamily="2" charset="-122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等线" panose="02010600030101010101" pitchFamily="2" charset="-122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等线" panose="02010600030101010101" pitchFamily="2" charset="-122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等线" panose="02010600030101010101" pitchFamily="2" charset="-122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等线" panose="02010600030101010101" pitchFamily="2" charset="-122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等线" panose="02010600030101010101" pitchFamily="2" charset="-122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等线" panose="02010600030101010101" pitchFamily="2" charset="-122"/>
              </a:defRPr>
            </a:lvl9pPr>
          </a:lstStyle>
          <a:p>
            <a:r>
              <a:rPr kumimoji="1" lang="zh-CN" altLang="en-US" dirty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交易，只是账户余额变化。能否实现复杂金融业务逻辑？</a:t>
            </a:r>
          </a:p>
        </p:txBody>
      </p:sp>
      <p:pic>
        <p:nvPicPr>
          <p:cNvPr id="81" name="图片 80">
            <a:extLst>
              <a:ext uri="{FF2B5EF4-FFF2-40B4-BE49-F238E27FC236}">
                <a16:creationId xmlns:a16="http://schemas.microsoft.com/office/drawing/2014/main" id="{622CC84C-56C2-478B-B459-57FAAC07A9E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404" y="5071252"/>
            <a:ext cx="601662" cy="601662"/>
          </a:xfrm>
          <a:prstGeom prst="rect">
            <a:avLst/>
          </a:prstGeom>
        </p:spPr>
      </p:pic>
      <p:sp>
        <p:nvSpPr>
          <p:cNvPr id="82" name="文本框 111">
            <a:extLst>
              <a:ext uri="{FF2B5EF4-FFF2-40B4-BE49-F238E27FC236}">
                <a16:creationId xmlns:a16="http://schemas.microsoft.com/office/drawing/2014/main" id="{7A3825C4-BDC2-46CB-AE2B-12552E29C174}"/>
              </a:ext>
            </a:extLst>
          </p:cNvPr>
          <p:cNvSpPr txBox="1"/>
          <p:nvPr/>
        </p:nvSpPr>
        <p:spPr>
          <a:xfrm>
            <a:off x="6161202" y="1950566"/>
            <a:ext cx="5250155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等线" panose="02010600030101010101" pitchFamily="2" charset="-122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等线" panose="02010600030101010101" pitchFamily="2" charset="-122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等线" panose="02010600030101010101" pitchFamily="2" charset="-122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等线" panose="02010600030101010101" pitchFamily="2" charset="-122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等线" panose="02010600030101010101" pitchFamily="2" charset="-122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等线" panose="02010600030101010101" pitchFamily="2" charset="-122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等线" panose="02010600030101010101" pitchFamily="2" charset="-122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等线" panose="02010600030101010101" pitchFamily="2" charset="-122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等线" panose="02010600030101010101" pitchFamily="2" charset="-122"/>
                <a:cs typeface="等线" panose="02010600030101010101" pitchFamily="2" charset="-122"/>
              </a:defRPr>
            </a:lvl9pPr>
          </a:lstStyle>
          <a:p>
            <a:pPr marL="342900" indent="-342900">
              <a:buFont typeface="+mj-lt"/>
              <a:buAutoNum type="arabicPeriod"/>
            </a:pP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每个全节点运行一个以太坊虚拟机（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EVM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）</a:t>
            </a:r>
            <a:endParaRPr lang="en-US" altLang="zh-CN" sz="160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342900" indent="-342900">
              <a:buFont typeface="+mj-lt"/>
              <a:buAutoNum type="arabicPeriod"/>
            </a:pPr>
            <a:endParaRPr lang="en-US" altLang="zh-CN" sz="160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交易可以调用智能合约</a:t>
            </a:r>
            <a:endParaRPr lang="en-US" altLang="zh-CN" sz="160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342900" indent="-342900">
              <a:buFont typeface="+mj-lt"/>
              <a:buAutoNum type="arabicPeriod"/>
            </a:pPr>
            <a:endParaRPr lang="en-US" altLang="zh-CN" sz="160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全节点在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EVM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上运行合约程序</a:t>
            </a:r>
            <a:endParaRPr lang="en-US" altLang="zh-CN" sz="160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342900" indent="-342900">
              <a:buFont typeface="+mj-lt"/>
              <a:buAutoNum type="arabicPeriod"/>
            </a:pPr>
            <a:endParaRPr lang="en-US" altLang="zh-CN" sz="160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全节点修改状态</a:t>
            </a:r>
            <a:endParaRPr lang="en-US" altLang="zh-CN" sz="160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342900" indent="-342900">
              <a:buFont typeface="+mj-lt"/>
              <a:buAutoNum type="arabicPeriod"/>
            </a:pPr>
            <a:endParaRPr lang="en-US" altLang="zh-CN" sz="1600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</a:rPr>
              <a:t>区块上链，所有全节点执行相同操作，实现状态同步</a:t>
            </a:r>
          </a:p>
        </p:txBody>
      </p:sp>
    </p:spTree>
    <p:extLst>
      <p:ext uri="{BB962C8B-B14F-4D97-AF65-F5344CB8AC3E}">
        <p14:creationId xmlns:p14="http://schemas.microsoft.com/office/powerpoint/2010/main" val="135834966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09B8FE-3A08-AB44-8FD5-4884CABBB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本章内容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EAE97F77-16B3-2043-B14E-0B774467C1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7508" y="1409610"/>
            <a:ext cx="10515600" cy="4982116"/>
          </a:xfrm>
        </p:spPr>
        <p:txBody>
          <a:bodyPr>
            <a:norm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kumimoji="1" lang="en-US" altLang="zh-CN" dirty="0">
                <a:latin typeface="Garamond" panose="02020404030301010803" pitchFamily="18" charset="0"/>
              </a:rPr>
              <a:t>5.5</a:t>
            </a:r>
            <a:r>
              <a:rPr kumimoji="1" lang="en-US" altLang="zh-CN" b="1" dirty="0">
                <a:solidFill>
                  <a:srgbClr val="B962FF"/>
                </a:solidFill>
                <a:latin typeface="Garamond" panose="02020404030301010803" pitchFamily="18" charset="0"/>
              </a:rPr>
              <a:t> </a:t>
            </a:r>
            <a:r>
              <a:rPr kumimoji="1" lang="zh-CN" altLang="en-US" dirty="0">
                <a:latin typeface="Garamond" panose="02020404030301010803" pitchFamily="18" charset="0"/>
              </a:rPr>
              <a:t>智能合约与</a:t>
            </a:r>
            <a:r>
              <a:rPr kumimoji="1" lang="en-US" altLang="zh-CN" dirty="0">
                <a:latin typeface="Garamond" panose="02020404030301010803" pitchFamily="18" charset="0"/>
              </a:rPr>
              <a:t>Solidity</a:t>
            </a:r>
            <a:r>
              <a:rPr kumimoji="1" lang="zh-CN" altLang="en-US" dirty="0">
                <a:latin typeface="Garamond" panose="02020404030301010803" pitchFamily="18" charset="0"/>
              </a:rPr>
              <a:t>语言</a:t>
            </a:r>
            <a:endParaRPr kumimoji="1" lang="en-US" altLang="zh-CN" b="1" dirty="0">
              <a:solidFill>
                <a:srgbClr val="B962FF"/>
              </a:solidFill>
              <a:latin typeface="Garamond" panose="02020404030301010803" pitchFamily="18" charset="0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kumimoji="1" lang="en-US" altLang="zh-CN" b="1" dirty="0">
                <a:solidFill>
                  <a:srgbClr val="B962FF"/>
                </a:solidFill>
                <a:latin typeface="Garamond" panose="02020404030301010803" pitchFamily="18" charset="0"/>
              </a:rPr>
              <a:t>5.6</a:t>
            </a:r>
            <a:r>
              <a:rPr kumimoji="1" lang="en-US" altLang="zh-CN" dirty="0">
                <a:latin typeface="Garamond" panose="02020404030301010803" pitchFamily="18" charset="0"/>
              </a:rPr>
              <a:t> </a:t>
            </a:r>
            <a:r>
              <a:rPr kumimoji="1" lang="zh-CN" altLang="en-US" b="1" dirty="0">
                <a:solidFill>
                  <a:srgbClr val="B962FF"/>
                </a:solidFill>
                <a:latin typeface="Garamond" panose="02020404030301010803" pitchFamily="18" charset="0"/>
              </a:rPr>
              <a:t>以太坊交易</a:t>
            </a:r>
            <a:endParaRPr lang="zh-CN" altLang="en-US" dirty="0">
              <a:latin typeface="Garamond" panose="02020404030301010803" pitchFamily="18" charset="0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493E6B42-DAB5-7042-B243-5902825EB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59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305738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55A8A8-0864-814C-A327-6BBA68129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状态模型</a:t>
            </a:r>
          </a:p>
        </p:txBody>
      </p:sp>
      <p:sp>
        <p:nvSpPr>
          <p:cNvPr id="486" name="内容占位符 485">
            <a:extLst>
              <a:ext uri="{FF2B5EF4-FFF2-40B4-BE49-F238E27FC236}">
                <a16:creationId xmlns:a16="http://schemas.microsoft.com/office/drawing/2014/main" id="{5A1600D8-82EA-9E45-A9E6-6170EFC16A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2664" y="1418897"/>
            <a:ext cx="8775656" cy="5302578"/>
          </a:xfrm>
        </p:spPr>
        <p:txBody>
          <a:bodyPr anchor="t" anchorCtr="0">
            <a:normAutofit/>
          </a:bodyPr>
          <a:lstStyle/>
          <a:p>
            <a:pPr marL="360680" indent="-360680">
              <a:lnSpc>
                <a:spcPct val="130000"/>
              </a:lnSpc>
            </a:pPr>
            <a:r>
              <a:rPr lang="zh-CN" altLang="en-US" dirty="0"/>
              <a:t>背景</a:t>
            </a:r>
            <a:endParaRPr lang="en-US" altLang="zh-CN" dirty="0"/>
          </a:p>
          <a:p>
            <a:pPr lvl="1">
              <a:lnSpc>
                <a:spcPct val="140000"/>
              </a:lnSpc>
            </a:pPr>
            <a:r>
              <a:rPr lang="zh-TW" altLang="zh-CN" dirty="0"/>
              <a:t>在账户模型中，用户的余额通过地址上的账户数据来表示，具体为账户数据结构中的一个余额的数值</a:t>
            </a:r>
            <a:endParaRPr lang="en-US" altLang="zh-TW" dirty="0"/>
          </a:p>
          <a:p>
            <a:pPr lvl="1">
              <a:lnSpc>
                <a:spcPct val="140000"/>
              </a:lnSpc>
            </a:pPr>
            <a:r>
              <a:rPr lang="zh-TW" altLang="zh-CN" dirty="0"/>
              <a:t>在转账交易的过程中，通过转账预先定义好的语义，在发起者的账户中减去交易中定义好的转账金额，在接受者的账户中增加相应的金额</a:t>
            </a:r>
            <a:endParaRPr lang="en-US" altLang="zh-TW" dirty="0"/>
          </a:p>
          <a:p>
            <a:pPr lvl="1">
              <a:lnSpc>
                <a:spcPct val="140000"/>
              </a:lnSpc>
            </a:pPr>
            <a:r>
              <a:rPr lang="zh-TW" altLang="zh-CN" dirty="0"/>
              <a:t>可以把账户的余额泛化成一种</a:t>
            </a:r>
            <a:r>
              <a:rPr lang="zh-TW" altLang="zh-CN" dirty="0">
                <a:solidFill>
                  <a:srgbClr val="C00000"/>
                </a:solidFill>
              </a:rPr>
              <a:t>账户的状态</a:t>
            </a:r>
            <a:r>
              <a:rPr lang="zh-TW" altLang="zh-CN" dirty="0"/>
              <a:t>，而把转账交易当作是</a:t>
            </a:r>
            <a:r>
              <a:rPr lang="zh-TW" altLang="zh-CN" dirty="0">
                <a:solidFill>
                  <a:srgbClr val="C00000"/>
                </a:solidFill>
              </a:rPr>
              <a:t>改变状态的一个方法</a:t>
            </a:r>
            <a:endParaRPr lang="en-US" altLang="zh-TW" dirty="0">
              <a:solidFill>
                <a:srgbClr val="C00000"/>
              </a:solidFill>
            </a:endParaRPr>
          </a:p>
          <a:p>
            <a:pPr lvl="1">
              <a:lnSpc>
                <a:spcPct val="140000"/>
              </a:lnSpc>
            </a:pPr>
            <a:endParaRPr lang="en-US" altLang="zh-CN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57EA60E-053E-2142-8FE4-5A692A694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60</a:t>
            </a:fld>
            <a:endParaRPr kumimoji="1" lang="zh-CN" altLang="en-US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372700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55A8A8-0864-814C-A327-6BBA68129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状态模型</a:t>
            </a:r>
          </a:p>
        </p:txBody>
      </p:sp>
      <p:sp>
        <p:nvSpPr>
          <p:cNvPr id="486" name="内容占位符 485">
            <a:extLst>
              <a:ext uri="{FF2B5EF4-FFF2-40B4-BE49-F238E27FC236}">
                <a16:creationId xmlns:a16="http://schemas.microsoft.com/office/drawing/2014/main" id="{5A1600D8-82EA-9E45-A9E6-6170EFC16A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2664" y="1418897"/>
            <a:ext cx="8775656" cy="5302578"/>
          </a:xfrm>
        </p:spPr>
        <p:txBody>
          <a:bodyPr anchor="t" anchorCtr="0">
            <a:normAutofit/>
          </a:bodyPr>
          <a:lstStyle/>
          <a:p>
            <a:pPr lvl="1">
              <a:lnSpc>
                <a:spcPct val="140000"/>
              </a:lnSpc>
            </a:pPr>
            <a:r>
              <a:rPr lang="zh-CN" altLang="en-US" sz="2000" dirty="0"/>
              <a:t>只要约定好的变换规则是固定的，就可以不断地通过变换规则不停地作用到原有状态上产生新的状态</a:t>
            </a:r>
            <a:endParaRPr lang="en-US" altLang="zh-CN" sz="2000" dirty="0"/>
          </a:p>
          <a:p>
            <a:pPr lvl="1">
              <a:lnSpc>
                <a:spcPct val="140000"/>
              </a:lnSpc>
            </a:pPr>
            <a:r>
              <a:rPr lang="zh-TW" altLang="zh-CN" sz="2000" dirty="0"/>
              <a:t>对于有着相同的初始状态的参与者们来说，经过完全相同的变换过程，最后必然得到完全相同的当前状态。</a:t>
            </a:r>
            <a:endParaRPr lang="en-US" altLang="zh-CN" sz="2000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57EA60E-053E-2142-8FE4-5A692A694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61</a:t>
            </a:fld>
            <a:endParaRPr kumimoji="1" lang="zh-CN" altLang="en-US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9" name="图片 8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545809" y="3299460"/>
            <a:ext cx="5744210" cy="2866390"/>
          </a:xfrm>
          <a:prstGeom prst="rect">
            <a:avLst/>
          </a:prstGeom>
          <a:noFill/>
        </p:spPr>
      </p:pic>
      <p:sp>
        <p:nvSpPr>
          <p:cNvPr id="10" name="文本框 9"/>
          <p:cNvSpPr txBox="1"/>
          <p:nvPr/>
        </p:nvSpPr>
        <p:spPr>
          <a:xfrm>
            <a:off x="4643935" y="6259809"/>
            <a:ext cx="23391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三种系统下的状态变换例子</a:t>
            </a:r>
          </a:p>
        </p:txBody>
      </p:sp>
    </p:spTree>
    <p:extLst>
      <p:ext uri="{BB962C8B-B14F-4D97-AF65-F5344CB8AC3E}">
        <p14:creationId xmlns:p14="http://schemas.microsoft.com/office/powerpoint/2010/main" val="130357085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55A8A8-0864-814C-A327-6BBA68129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交易内容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57EA60E-053E-2142-8FE4-5A692A694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62</a:t>
            </a:fld>
            <a:endParaRPr kumimoji="1" lang="zh-CN" altLang="en-US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dirty="0"/>
              <a:t>背景</a:t>
            </a:r>
            <a:endParaRPr lang="en-US" altLang="zh-CN" dirty="0"/>
          </a:p>
          <a:p>
            <a:pPr lvl="1">
              <a:lnSpc>
                <a:spcPct val="130000"/>
              </a:lnSpc>
            </a:pPr>
            <a:r>
              <a:rPr lang="zh-TW" altLang="zh-CN" dirty="0"/>
              <a:t>在以太坊中，交易承载了账户转账和创建、调用合约等功能，</a:t>
            </a:r>
            <a:r>
              <a:rPr lang="zh-CN" altLang="en-US" dirty="0"/>
              <a:t>交易</a:t>
            </a:r>
            <a:r>
              <a:rPr lang="zh-TW" altLang="zh-CN" dirty="0"/>
              <a:t>数据的内容更为复杂，大体上可以粗略的分为三个部分，即</a:t>
            </a:r>
            <a:r>
              <a:rPr lang="zh-TW" altLang="zh-CN" dirty="0">
                <a:solidFill>
                  <a:srgbClr val="C00000"/>
                </a:solidFill>
              </a:rPr>
              <a:t>基本的交易，驱动智能合约和交易的签名</a:t>
            </a:r>
            <a:endParaRPr lang="en-US" altLang="zh-CN" dirty="0">
              <a:solidFill>
                <a:srgbClr val="C00000"/>
              </a:solidFill>
            </a:endParaRPr>
          </a:p>
          <a:p>
            <a:pPr lvl="1">
              <a:lnSpc>
                <a:spcPct val="130000"/>
              </a:lnSpc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24936035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55A8A8-0864-814C-A327-6BBA68129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交易内容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57EA60E-053E-2142-8FE4-5A692A694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63</a:t>
            </a:fld>
            <a:endParaRPr kumimoji="1" lang="zh-CN" altLang="en-US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838200" y="1510758"/>
            <a:ext cx="10515600" cy="2097146"/>
          </a:xfrm>
        </p:spPr>
        <p:txBody>
          <a:bodyPr>
            <a:normAutofit lnSpcReduction="10000"/>
          </a:bodyPr>
          <a:lstStyle/>
          <a:p>
            <a:pPr>
              <a:lnSpc>
                <a:spcPct val="130000"/>
              </a:lnSpc>
            </a:pPr>
            <a:r>
              <a:rPr lang="zh-CN" altLang="en-US" dirty="0"/>
              <a:t>背景</a:t>
            </a:r>
            <a:endParaRPr lang="en-US" altLang="zh-CN" dirty="0"/>
          </a:p>
          <a:p>
            <a:pPr lvl="1">
              <a:lnSpc>
                <a:spcPct val="130000"/>
              </a:lnSpc>
            </a:pPr>
            <a:r>
              <a:rPr lang="zh-TW" altLang="zh-CN" dirty="0"/>
              <a:t>在以太坊中，交易承载了账户转账和创建、调用合约等功能，</a:t>
            </a:r>
            <a:r>
              <a:rPr lang="zh-CN" altLang="en-US" dirty="0"/>
              <a:t>交易</a:t>
            </a:r>
            <a:r>
              <a:rPr lang="zh-TW" altLang="zh-CN" dirty="0"/>
              <a:t>数据的内容更为复杂，大体上可以粗略的分为三个部分，即</a:t>
            </a:r>
            <a:r>
              <a:rPr lang="zh-TW" altLang="zh-CN" dirty="0">
                <a:solidFill>
                  <a:srgbClr val="C00000"/>
                </a:solidFill>
              </a:rPr>
              <a:t>基本的交易，驱动智能合约</a:t>
            </a:r>
            <a:r>
              <a:rPr lang="zh-TW" altLang="zh-CN" dirty="0"/>
              <a:t>和</a:t>
            </a:r>
            <a:r>
              <a:rPr lang="zh-TW" altLang="zh-CN" dirty="0">
                <a:solidFill>
                  <a:srgbClr val="C00000"/>
                </a:solidFill>
              </a:rPr>
              <a:t>交易的签名</a:t>
            </a:r>
            <a:endParaRPr lang="en-US" altLang="zh-CN" dirty="0">
              <a:solidFill>
                <a:srgbClr val="C00000"/>
              </a:solidFill>
            </a:endParaRPr>
          </a:p>
        </p:txBody>
      </p:sp>
      <p:sp>
        <p:nvSpPr>
          <p:cNvPr id="9" name="内容占位符 6">
            <a:extLst>
              <a:ext uri="{FF2B5EF4-FFF2-40B4-BE49-F238E27FC236}">
                <a16:creationId xmlns:a16="http://schemas.microsoft.com/office/drawing/2014/main" id="{3C9C666F-336E-4685-B264-4DB9AC3FD9B1}"/>
              </a:ext>
            </a:extLst>
          </p:cNvPr>
          <p:cNvSpPr txBox="1">
            <a:spLocks/>
          </p:cNvSpPr>
          <p:nvPr/>
        </p:nvSpPr>
        <p:spPr>
          <a:xfrm>
            <a:off x="838200" y="3429000"/>
            <a:ext cx="10515600" cy="7255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0363" indent="-360363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itchFamily="2" charset="2"/>
              <a:buChar char="Ø"/>
              <a:tabLst/>
              <a:defRPr sz="2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dirty="0"/>
              <a:t>账户</a:t>
            </a:r>
            <a:endParaRPr lang="en-US" altLang="zh-CN" dirty="0">
              <a:solidFill>
                <a:srgbClr val="C00000"/>
              </a:solidFill>
            </a:endParaRPr>
          </a:p>
        </p:txBody>
      </p:sp>
      <p:sp>
        <p:nvSpPr>
          <p:cNvPr id="5" name="内容占位符 6">
            <a:extLst>
              <a:ext uri="{FF2B5EF4-FFF2-40B4-BE49-F238E27FC236}">
                <a16:creationId xmlns:a16="http://schemas.microsoft.com/office/drawing/2014/main" id="{284AC324-F125-BFE5-2455-84F50F3C90C4}"/>
              </a:ext>
            </a:extLst>
          </p:cNvPr>
          <p:cNvSpPr txBox="1">
            <a:spLocks/>
          </p:cNvSpPr>
          <p:nvPr/>
        </p:nvSpPr>
        <p:spPr>
          <a:xfrm>
            <a:off x="838200" y="3992658"/>
            <a:ext cx="10515600" cy="7255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0363" indent="-360363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itchFamily="2" charset="2"/>
              <a:buChar char="Ø"/>
              <a:tabLst/>
              <a:defRPr sz="2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30000"/>
              </a:lnSpc>
            </a:pPr>
            <a:r>
              <a:rPr lang="zh-CN" altLang="en-US" dirty="0">
                <a:solidFill>
                  <a:srgbClr val="C00000"/>
                </a:solidFill>
              </a:rPr>
              <a:t>外部账户</a:t>
            </a:r>
            <a:r>
              <a:rPr lang="en-US" altLang="zh-CN" dirty="0"/>
              <a:t>——</a:t>
            </a:r>
            <a:r>
              <a:rPr lang="zh-CN" altLang="en-US" dirty="0"/>
              <a:t>普通用户，可以转账、部署智能合约、调用智能合约</a:t>
            </a:r>
            <a:endParaRPr lang="en-US" altLang="zh-CN" dirty="0"/>
          </a:p>
        </p:txBody>
      </p:sp>
      <p:sp>
        <p:nvSpPr>
          <p:cNvPr id="10" name="内容占位符 6">
            <a:extLst>
              <a:ext uri="{FF2B5EF4-FFF2-40B4-BE49-F238E27FC236}">
                <a16:creationId xmlns:a16="http://schemas.microsoft.com/office/drawing/2014/main" id="{FDB0F55E-D3A8-726C-9EBE-667E257D7C4E}"/>
              </a:ext>
            </a:extLst>
          </p:cNvPr>
          <p:cNvSpPr txBox="1">
            <a:spLocks/>
          </p:cNvSpPr>
          <p:nvPr/>
        </p:nvSpPr>
        <p:spPr>
          <a:xfrm>
            <a:off x="838200" y="4718215"/>
            <a:ext cx="10515600" cy="7255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0363" indent="-360363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itchFamily="2" charset="2"/>
              <a:buChar char="Ø"/>
              <a:tabLst/>
              <a:defRPr sz="2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30000"/>
              </a:lnSpc>
            </a:pPr>
            <a:r>
              <a:rPr lang="zh-CN" altLang="en-US" dirty="0">
                <a:solidFill>
                  <a:srgbClr val="C00000"/>
                </a:solidFill>
              </a:rPr>
              <a:t>合约账户</a:t>
            </a:r>
            <a:r>
              <a:rPr lang="en-US" altLang="zh-CN" dirty="0"/>
              <a:t>——</a:t>
            </a:r>
            <a:r>
              <a:rPr lang="zh-CN" altLang="en-US" dirty="0"/>
              <a:t>智能合约的账户，只能被调用，不能主动发起调用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92786030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55A8A8-0864-814C-A327-6BBA68129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交易结构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57EA60E-053E-2142-8FE4-5A692A694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64</a:t>
            </a:fld>
            <a:endParaRPr kumimoji="1" lang="zh-CN" altLang="en-US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7B4FDF29-C51D-45AF-8F49-EE9AEE111AB2}"/>
              </a:ext>
            </a:extLst>
          </p:cNvPr>
          <p:cNvSpPr/>
          <p:nvPr/>
        </p:nvSpPr>
        <p:spPr>
          <a:xfrm>
            <a:off x="556591" y="1461961"/>
            <a:ext cx="3001618" cy="5259511"/>
          </a:xfrm>
          <a:prstGeom prst="roundRect">
            <a:avLst>
              <a:gd name="adj" fmla="val 8058"/>
            </a:avLst>
          </a:prstGeom>
          <a:solidFill>
            <a:srgbClr val="5B307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9D5B7FD-B21A-41BC-889F-1BB96FDAA770}"/>
              </a:ext>
            </a:extLst>
          </p:cNvPr>
          <p:cNvSpPr/>
          <p:nvPr/>
        </p:nvSpPr>
        <p:spPr>
          <a:xfrm>
            <a:off x="844826" y="1614363"/>
            <a:ext cx="2425148" cy="373464"/>
          </a:xfrm>
          <a:prstGeom prst="roundRect">
            <a:avLst>
              <a:gd name="adj" fmla="val 8058"/>
            </a:avLst>
          </a:prstGeom>
          <a:solidFill>
            <a:srgbClr val="FDFCD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rPr>
              <a:t>from</a:t>
            </a:r>
            <a:endParaRPr lang="zh-CN" altLang="en-US" dirty="0">
              <a:solidFill>
                <a:schemeClr val="tx1"/>
              </a:solidFill>
              <a:latin typeface="Garamond" panose="02020404030301010803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BC34A864-AD9D-40AC-9866-3F8ADC98BCA9}"/>
              </a:ext>
            </a:extLst>
          </p:cNvPr>
          <p:cNvSpPr/>
          <p:nvPr/>
        </p:nvSpPr>
        <p:spPr>
          <a:xfrm>
            <a:off x="844826" y="2184843"/>
            <a:ext cx="2425148" cy="373464"/>
          </a:xfrm>
          <a:prstGeom prst="roundRect">
            <a:avLst>
              <a:gd name="adj" fmla="val 8058"/>
            </a:avLst>
          </a:prstGeom>
          <a:solidFill>
            <a:srgbClr val="FDFCD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rPr>
              <a:t>to</a:t>
            </a:r>
            <a:endParaRPr lang="zh-CN" altLang="en-US" dirty="0">
              <a:solidFill>
                <a:schemeClr val="tx1"/>
              </a:solidFill>
              <a:latin typeface="Garamond" panose="02020404030301010803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3A7FA913-266F-4F3E-99F8-F04CDC59EECF}"/>
              </a:ext>
            </a:extLst>
          </p:cNvPr>
          <p:cNvSpPr/>
          <p:nvPr/>
        </p:nvSpPr>
        <p:spPr>
          <a:xfrm>
            <a:off x="844826" y="2755323"/>
            <a:ext cx="2425148" cy="373464"/>
          </a:xfrm>
          <a:prstGeom prst="roundRect">
            <a:avLst>
              <a:gd name="adj" fmla="val 8058"/>
            </a:avLst>
          </a:prstGeom>
          <a:solidFill>
            <a:srgbClr val="FDFCD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rPr>
              <a:t>value</a:t>
            </a:r>
            <a:endParaRPr lang="zh-CN" altLang="en-US" dirty="0">
              <a:solidFill>
                <a:schemeClr val="tx1"/>
              </a:solidFill>
              <a:latin typeface="Garamond" panose="02020404030301010803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F066CE79-5D4C-4145-847D-50D125FF88AA}"/>
              </a:ext>
            </a:extLst>
          </p:cNvPr>
          <p:cNvSpPr/>
          <p:nvPr/>
        </p:nvSpPr>
        <p:spPr>
          <a:xfrm>
            <a:off x="844826" y="3325803"/>
            <a:ext cx="2425148" cy="373464"/>
          </a:xfrm>
          <a:prstGeom prst="roundRect">
            <a:avLst>
              <a:gd name="adj" fmla="val 8058"/>
            </a:avLst>
          </a:prstGeom>
          <a:solidFill>
            <a:srgbClr val="FDFCD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rPr>
              <a:t>nonce</a:t>
            </a:r>
            <a:endParaRPr lang="zh-CN" altLang="en-US" dirty="0">
              <a:solidFill>
                <a:schemeClr val="tx1"/>
              </a:solidFill>
              <a:latin typeface="Garamond" panose="02020404030301010803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67682E51-2BDD-4C02-A503-C624CC885A3A}"/>
              </a:ext>
            </a:extLst>
          </p:cNvPr>
          <p:cNvSpPr/>
          <p:nvPr/>
        </p:nvSpPr>
        <p:spPr>
          <a:xfrm>
            <a:off x="844826" y="3896283"/>
            <a:ext cx="2425148" cy="373464"/>
          </a:xfrm>
          <a:prstGeom prst="roundRect">
            <a:avLst>
              <a:gd name="adj" fmla="val 8058"/>
            </a:avLst>
          </a:prstGeom>
          <a:solidFill>
            <a:srgbClr val="FDFCD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rPr>
              <a:t>signature</a:t>
            </a:r>
            <a:endParaRPr lang="zh-CN" altLang="en-US" dirty="0">
              <a:solidFill>
                <a:schemeClr val="tx1"/>
              </a:solidFill>
              <a:latin typeface="Garamond" panose="02020404030301010803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30B0B676-F888-40C5-A6F8-EEEE4DC5B63E}"/>
              </a:ext>
            </a:extLst>
          </p:cNvPr>
          <p:cNvSpPr/>
          <p:nvPr/>
        </p:nvSpPr>
        <p:spPr>
          <a:xfrm>
            <a:off x="844826" y="4466763"/>
            <a:ext cx="2425148" cy="373464"/>
          </a:xfrm>
          <a:prstGeom prst="roundRect">
            <a:avLst>
              <a:gd name="adj" fmla="val 8058"/>
            </a:avLst>
          </a:prstGeom>
          <a:solidFill>
            <a:srgbClr val="FDFCD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rPr>
              <a:t>Input data</a:t>
            </a:r>
            <a:endParaRPr lang="zh-CN" altLang="en-US" dirty="0">
              <a:solidFill>
                <a:schemeClr val="tx1"/>
              </a:solidFill>
              <a:latin typeface="Garamond" panose="02020404030301010803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7DE0BDF1-6168-45FB-BC8F-A9FEC625D39B}"/>
              </a:ext>
            </a:extLst>
          </p:cNvPr>
          <p:cNvSpPr/>
          <p:nvPr/>
        </p:nvSpPr>
        <p:spPr>
          <a:xfrm>
            <a:off x="844826" y="5037243"/>
            <a:ext cx="2425148" cy="373464"/>
          </a:xfrm>
          <a:prstGeom prst="roundRect">
            <a:avLst>
              <a:gd name="adj" fmla="val 8058"/>
            </a:avLst>
          </a:prstGeom>
          <a:solidFill>
            <a:srgbClr val="FDFCD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rPr>
              <a:t>gasLimit</a:t>
            </a:r>
            <a:endParaRPr lang="zh-CN" altLang="en-US" dirty="0">
              <a:solidFill>
                <a:schemeClr val="tx1"/>
              </a:solidFill>
              <a:latin typeface="Garamond" panose="02020404030301010803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9C8220D9-EE89-4B33-9725-12E5DDFA8313}"/>
              </a:ext>
            </a:extLst>
          </p:cNvPr>
          <p:cNvSpPr/>
          <p:nvPr/>
        </p:nvSpPr>
        <p:spPr>
          <a:xfrm>
            <a:off x="844826" y="5607723"/>
            <a:ext cx="2425148" cy="373464"/>
          </a:xfrm>
          <a:prstGeom prst="roundRect">
            <a:avLst>
              <a:gd name="adj" fmla="val 8058"/>
            </a:avLst>
          </a:prstGeom>
          <a:solidFill>
            <a:srgbClr val="FDFCD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rPr>
              <a:t>maxPriorityFeePerGas</a:t>
            </a:r>
            <a:endParaRPr lang="zh-CN" altLang="en-US" dirty="0">
              <a:solidFill>
                <a:schemeClr val="tx1"/>
              </a:solidFill>
              <a:latin typeface="Garamond" panose="02020404030301010803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DE4B5D3C-8C61-4A61-90E8-43A23CAB4F9F}"/>
              </a:ext>
            </a:extLst>
          </p:cNvPr>
          <p:cNvSpPr/>
          <p:nvPr/>
        </p:nvSpPr>
        <p:spPr>
          <a:xfrm>
            <a:off x="844826" y="6178207"/>
            <a:ext cx="2425148" cy="373464"/>
          </a:xfrm>
          <a:prstGeom prst="roundRect">
            <a:avLst>
              <a:gd name="adj" fmla="val 8058"/>
            </a:avLst>
          </a:prstGeom>
          <a:solidFill>
            <a:srgbClr val="FDFCD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rPr>
              <a:t>maxFeePerGas</a:t>
            </a:r>
            <a:endParaRPr lang="zh-CN" altLang="en-US" dirty="0">
              <a:solidFill>
                <a:schemeClr val="tx1"/>
              </a:solidFill>
              <a:latin typeface="Garamond" panose="02020404030301010803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Rectangle 3">
            <a:extLst>
              <a:ext uri="{FF2B5EF4-FFF2-40B4-BE49-F238E27FC236}">
                <a16:creationId xmlns:a16="http://schemas.microsoft.com/office/drawing/2014/main" id="{3B7209AB-2F19-4171-A273-A74E1E27E0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3582" y="2511288"/>
            <a:ext cx="7362226" cy="2769989"/>
          </a:xfrm>
          <a:prstGeom prst="rect">
            <a:avLst/>
          </a:prstGeom>
          <a:solidFill>
            <a:srgbClr val="12121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C6783"/>
                </a:solidFill>
                <a:effectLst/>
                <a:latin typeface="Arial Unicode MS"/>
                <a:ea typeface="monofur" panose="020F0409020203020204" pitchFamily="49" charset="-122"/>
              </a:rPr>
              <a:t>{</a:t>
            </a: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rgbClr val="B38DF0"/>
              </a:solidFill>
              <a:effectLst/>
              <a:latin typeface="Arial Unicode MS"/>
              <a:ea typeface="monofur" panose="020F0409020203020204" pitchFamily="49" charset="-122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FFCC99"/>
                </a:solidFill>
                <a:effectLst/>
                <a:latin typeface="Arial Unicode MS"/>
                <a:ea typeface="monofur" panose="020F0409020203020204" pitchFamily="49" charset="-122"/>
              </a:rPr>
              <a:t>from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E09142"/>
                </a:solidFill>
                <a:effectLst/>
                <a:latin typeface="Arial Unicode MS"/>
                <a:ea typeface="monofur" panose="020F0409020203020204" pitchFamily="49" charset="-122"/>
              </a:rPr>
              <a:t>: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B38DF0"/>
                </a:solidFill>
                <a:effectLst/>
                <a:latin typeface="Arial Unicode MS"/>
                <a:ea typeface="monofur" panose="020F0409020203020204" pitchFamily="49" charset="-122"/>
              </a:rPr>
              <a:t>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FFCC99"/>
                </a:solidFill>
                <a:effectLst/>
                <a:latin typeface="Arial Unicode MS"/>
                <a:ea typeface="monofur" panose="020F0409020203020204" pitchFamily="49" charset="-122"/>
              </a:rPr>
              <a:t>"0xEA674fdDe714fd979de3EdF0F56AA9716B898ec8"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C6783"/>
                </a:solidFill>
                <a:effectLst/>
                <a:latin typeface="Arial Unicode MS"/>
                <a:ea typeface="monofur" panose="020F0409020203020204" pitchFamily="49" charset="-122"/>
              </a:rPr>
              <a:t>,</a:t>
            </a: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rgbClr val="B38DF0"/>
              </a:solidFill>
              <a:effectLst/>
              <a:latin typeface="Arial Unicode MS"/>
              <a:ea typeface="monofur" panose="020F0409020203020204" pitchFamily="49" charset="-122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B38DF0"/>
                </a:solidFill>
                <a:effectLst/>
                <a:latin typeface="Arial Unicode MS"/>
                <a:ea typeface="monofur" panose="020F0409020203020204" pitchFamily="49" charset="-122"/>
              </a:rPr>
              <a:t>to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E09142"/>
                </a:solidFill>
                <a:effectLst/>
                <a:latin typeface="Arial Unicode MS"/>
                <a:ea typeface="monofur" panose="020F0409020203020204" pitchFamily="49" charset="-122"/>
              </a:rPr>
              <a:t>: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B38DF0"/>
                </a:solidFill>
                <a:effectLst/>
                <a:latin typeface="Arial Unicode MS"/>
                <a:ea typeface="monofur" panose="020F0409020203020204" pitchFamily="49" charset="-122"/>
              </a:rPr>
              <a:t>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FFCC99"/>
                </a:solidFill>
                <a:effectLst/>
                <a:latin typeface="Arial Unicode MS"/>
                <a:ea typeface="monofur" panose="020F0409020203020204" pitchFamily="49" charset="-122"/>
              </a:rPr>
              <a:t>"0xac03bb73b6a9e108530aff4df5077c2b3d481e5a"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C6783"/>
                </a:solidFill>
                <a:effectLst/>
                <a:latin typeface="Arial Unicode MS"/>
                <a:ea typeface="monofur" panose="020F0409020203020204" pitchFamily="49" charset="-122"/>
              </a:rPr>
              <a:t>,</a:t>
            </a: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rgbClr val="B38DF0"/>
              </a:solidFill>
              <a:effectLst/>
              <a:latin typeface="Arial Unicode MS"/>
              <a:ea typeface="monofur" panose="020F0409020203020204" pitchFamily="49" charset="-122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B38DF0"/>
                </a:solidFill>
                <a:effectLst/>
                <a:latin typeface="Arial Unicode MS"/>
                <a:ea typeface="monofur" panose="020F0409020203020204" pitchFamily="49" charset="-122"/>
              </a:rPr>
              <a:t>gasLimit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E09142"/>
                </a:solidFill>
                <a:effectLst/>
                <a:latin typeface="Arial Unicode MS"/>
                <a:ea typeface="monofur" panose="020F0409020203020204" pitchFamily="49" charset="-122"/>
              </a:rPr>
              <a:t>: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B38DF0"/>
                </a:solidFill>
                <a:effectLst/>
                <a:latin typeface="Arial Unicode MS"/>
                <a:ea typeface="monofur" panose="020F0409020203020204" pitchFamily="49" charset="-122"/>
              </a:rPr>
              <a:t>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FFCC99"/>
                </a:solidFill>
                <a:effectLst/>
                <a:latin typeface="Arial Unicode MS"/>
                <a:ea typeface="monofur" panose="020F0409020203020204" pitchFamily="49" charset="-122"/>
              </a:rPr>
              <a:t>"21000"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C6783"/>
                </a:solidFill>
                <a:effectLst/>
                <a:latin typeface="Arial Unicode MS"/>
                <a:ea typeface="monofur" panose="020F0409020203020204" pitchFamily="49" charset="-122"/>
              </a:rPr>
              <a:t>,</a:t>
            </a: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rgbClr val="B38DF0"/>
              </a:solidFill>
              <a:effectLst/>
              <a:latin typeface="Arial Unicode MS"/>
              <a:ea typeface="monofur" panose="020F0409020203020204" pitchFamily="49" charset="-122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B38DF0"/>
                </a:solidFill>
                <a:effectLst/>
                <a:latin typeface="Arial Unicode MS"/>
                <a:ea typeface="monofur" panose="020F0409020203020204" pitchFamily="49" charset="-122"/>
              </a:rPr>
              <a:t>maxFeePerGas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E09142"/>
                </a:solidFill>
                <a:effectLst/>
                <a:latin typeface="Arial Unicode MS"/>
                <a:ea typeface="monofur" panose="020F0409020203020204" pitchFamily="49" charset="-122"/>
              </a:rPr>
              <a:t>: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B38DF0"/>
                </a:solidFill>
                <a:effectLst/>
                <a:latin typeface="Arial Unicode MS"/>
                <a:ea typeface="monofur" panose="020F0409020203020204" pitchFamily="49" charset="-122"/>
              </a:rPr>
              <a:t>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FFCC99"/>
                </a:solidFill>
                <a:effectLst/>
                <a:latin typeface="Arial Unicode MS"/>
                <a:ea typeface="monofur" panose="020F0409020203020204" pitchFamily="49" charset="-122"/>
              </a:rPr>
              <a:t>"300"</a:t>
            </a: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rgbClr val="B38DF0"/>
              </a:solidFill>
              <a:effectLst/>
              <a:latin typeface="Arial Unicode MS"/>
              <a:ea typeface="monofur" panose="020F0409020203020204" pitchFamily="49" charset="-122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B38DF0"/>
                </a:solidFill>
                <a:effectLst/>
                <a:latin typeface="Arial Unicode MS"/>
                <a:ea typeface="monofur" panose="020F0409020203020204" pitchFamily="49" charset="-122"/>
              </a:rPr>
              <a:t>maxPriorityFeePerGas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E09142"/>
                </a:solidFill>
                <a:effectLst/>
                <a:latin typeface="Arial Unicode MS"/>
                <a:ea typeface="monofur" panose="020F0409020203020204" pitchFamily="49" charset="-122"/>
              </a:rPr>
              <a:t>: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B38DF0"/>
                </a:solidFill>
                <a:effectLst/>
                <a:latin typeface="Arial Unicode MS"/>
                <a:ea typeface="monofur" panose="020F0409020203020204" pitchFamily="49" charset="-122"/>
              </a:rPr>
              <a:t>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FFCC99"/>
                </a:solidFill>
                <a:effectLst/>
                <a:latin typeface="Arial Unicode MS"/>
                <a:ea typeface="monofur" panose="020F0409020203020204" pitchFamily="49" charset="-122"/>
              </a:rPr>
              <a:t>"10"</a:t>
            </a: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rgbClr val="B38DF0"/>
              </a:solidFill>
              <a:effectLst/>
              <a:latin typeface="Arial Unicode MS"/>
              <a:ea typeface="monofur" panose="020F0409020203020204" pitchFamily="49" charset="-122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B38DF0"/>
                </a:solidFill>
                <a:effectLst/>
                <a:latin typeface="Arial Unicode MS"/>
                <a:ea typeface="monofur" panose="020F0409020203020204" pitchFamily="49" charset="-122"/>
              </a:rPr>
              <a:t>nonce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E09142"/>
                </a:solidFill>
                <a:effectLst/>
                <a:latin typeface="Arial Unicode MS"/>
                <a:ea typeface="monofur" panose="020F0409020203020204" pitchFamily="49" charset="-122"/>
              </a:rPr>
              <a:t>: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B38DF0"/>
                </a:solidFill>
                <a:effectLst/>
                <a:latin typeface="Arial Unicode MS"/>
                <a:ea typeface="monofur" panose="020F0409020203020204" pitchFamily="49" charset="-122"/>
              </a:rPr>
              <a:t>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FFCC99"/>
                </a:solidFill>
                <a:effectLst/>
                <a:latin typeface="Arial Unicode MS"/>
                <a:ea typeface="monofur" panose="020F0409020203020204" pitchFamily="49" charset="-122"/>
              </a:rPr>
              <a:t>"0"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C6783"/>
                </a:solidFill>
                <a:effectLst/>
                <a:latin typeface="Arial Unicode MS"/>
                <a:ea typeface="monofur" panose="020F0409020203020204" pitchFamily="49" charset="-122"/>
              </a:rPr>
              <a:t>,</a:t>
            </a: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rgbClr val="B38DF0"/>
              </a:solidFill>
              <a:effectLst/>
              <a:latin typeface="Arial Unicode MS"/>
              <a:ea typeface="monofur" panose="020F0409020203020204" pitchFamily="49" charset="-122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B38DF0"/>
                </a:solidFill>
                <a:effectLst/>
                <a:latin typeface="Arial Unicode MS"/>
                <a:ea typeface="monofur" panose="020F0409020203020204" pitchFamily="49" charset="-122"/>
              </a:rPr>
              <a:t>value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E09142"/>
                </a:solidFill>
                <a:effectLst/>
                <a:latin typeface="Arial Unicode MS"/>
                <a:ea typeface="monofur" panose="020F0409020203020204" pitchFamily="49" charset="-122"/>
              </a:rPr>
              <a:t>: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B38DF0"/>
                </a:solidFill>
                <a:effectLst/>
                <a:latin typeface="Arial Unicode MS"/>
                <a:ea typeface="monofur" panose="020F0409020203020204" pitchFamily="49" charset="-122"/>
              </a:rPr>
              <a:t>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FFCC99"/>
                </a:solidFill>
                <a:effectLst/>
                <a:latin typeface="Arial Unicode MS"/>
                <a:ea typeface="monofur" panose="020F0409020203020204" pitchFamily="49" charset="-122"/>
              </a:rPr>
              <a:t>"10000000000"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C6783"/>
                </a:solidFill>
                <a:effectLst/>
                <a:latin typeface="Arial Unicode MS"/>
                <a:ea typeface="monofur" panose="020F0409020203020204" pitchFamily="49" charset="-122"/>
              </a:rPr>
              <a:t>,</a:t>
            </a: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rgbClr val="B38DF0"/>
              </a:solidFill>
              <a:effectLst/>
              <a:latin typeface="Arial Unicode MS"/>
              <a:ea typeface="monofur" panose="020F0409020203020204" pitchFamily="49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6C6783"/>
                </a:solidFill>
                <a:effectLst/>
                <a:latin typeface="Arial Unicode MS"/>
                <a:ea typeface="monofur" panose="020F0409020203020204" pitchFamily="49" charset="-122"/>
              </a:rPr>
              <a:t>}</a:t>
            </a: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monofur" panose="020F0409020203020204" pitchFamily="49" charset="-122"/>
            </a:endParaRPr>
          </a:p>
        </p:txBody>
      </p:sp>
      <p:sp>
        <p:nvSpPr>
          <p:cNvPr id="5" name="内容占位符 6">
            <a:extLst>
              <a:ext uri="{FF2B5EF4-FFF2-40B4-BE49-F238E27FC236}">
                <a16:creationId xmlns:a16="http://schemas.microsoft.com/office/drawing/2014/main" id="{569A3A00-1080-3E9F-7C25-12C603BB6525}"/>
              </a:ext>
            </a:extLst>
          </p:cNvPr>
          <p:cNvSpPr txBox="1">
            <a:spLocks/>
          </p:cNvSpPr>
          <p:nvPr/>
        </p:nvSpPr>
        <p:spPr>
          <a:xfrm>
            <a:off x="4082845" y="1461961"/>
            <a:ext cx="7468494" cy="7255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0363" indent="-360363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itchFamily="2" charset="2"/>
              <a:buChar char="Ø"/>
              <a:tabLst/>
              <a:defRPr sz="2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endParaRPr lang="en-US" altLang="zh-CN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968140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55A8A8-0864-814C-A327-6BBA68129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交易内容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57EA60E-053E-2142-8FE4-5A692A694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65</a:t>
            </a:fld>
            <a:endParaRPr kumimoji="1" lang="zh-CN" altLang="en-US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dirty="0">
                <a:latin typeface="Garamond" panose="02020404030301010803" pitchFamily="18" charset="0"/>
              </a:rPr>
              <a:t>基本交易内容</a:t>
            </a:r>
            <a:endParaRPr lang="en-US" altLang="zh-CN" dirty="0">
              <a:latin typeface="Garamond" panose="02020404030301010803" pitchFamily="18" charset="0"/>
            </a:endParaRPr>
          </a:p>
          <a:p>
            <a:pPr lvl="1">
              <a:lnSpc>
                <a:spcPct val="130000"/>
              </a:lnSpc>
            </a:pPr>
            <a:r>
              <a:rPr lang="en-US" altLang="zh-CN" b="1" dirty="0">
                <a:solidFill>
                  <a:srgbClr val="0000CC"/>
                </a:solidFill>
                <a:latin typeface="Garamond" panose="02020404030301010803" pitchFamily="18" charset="0"/>
              </a:rPr>
              <a:t>from</a:t>
            </a:r>
            <a:r>
              <a:rPr lang="zh-CN" altLang="en-US" b="1" dirty="0">
                <a:solidFill>
                  <a:srgbClr val="0000CC"/>
                </a:solidFill>
                <a:latin typeface="Garamond" panose="02020404030301010803" pitchFamily="18" charset="0"/>
              </a:rPr>
              <a:t>：</a:t>
            </a:r>
            <a:r>
              <a:rPr lang="zh-CN" altLang="en-US" dirty="0">
                <a:latin typeface="Garamond" panose="02020404030301010803" pitchFamily="18" charset="0"/>
              </a:rPr>
              <a:t>交易发送者的地址。发送者地址可以通过合约的签名信息</a:t>
            </a:r>
            <a:r>
              <a:rPr lang="en-US" altLang="zh-CN" dirty="0">
                <a:latin typeface="Garamond" panose="02020404030301010803" pitchFamily="18" charset="0"/>
              </a:rPr>
              <a:t>&lt;r, s, v&gt;</a:t>
            </a:r>
            <a:r>
              <a:rPr lang="zh-CN" altLang="en-US" dirty="0">
                <a:latin typeface="Garamond" panose="02020404030301010803" pitchFamily="18" charset="0"/>
              </a:rPr>
              <a:t>计算得到，实现上交易的数据结构中并不会存储发送者地址</a:t>
            </a:r>
          </a:p>
          <a:p>
            <a:pPr lvl="1">
              <a:lnSpc>
                <a:spcPct val="130000"/>
              </a:lnSpc>
            </a:pPr>
            <a:r>
              <a:rPr lang="en-US" altLang="zh-CN" b="1" dirty="0">
                <a:solidFill>
                  <a:srgbClr val="0000CC"/>
                </a:solidFill>
                <a:latin typeface="Garamond" panose="02020404030301010803" pitchFamily="18" charset="0"/>
              </a:rPr>
              <a:t>to</a:t>
            </a:r>
            <a:r>
              <a:rPr lang="zh-CN" altLang="en-US" b="1" dirty="0">
                <a:solidFill>
                  <a:srgbClr val="0000CC"/>
                </a:solidFill>
                <a:latin typeface="Garamond" panose="02020404030301010803" pitchFamily="18" charset="0"/>
              </a:rPr>
              <a:t>：</a:t>
            </a:r>
            <a:r>
              <a:rPr lang="zh-CN" altLang="en-US" dirty="0">
                <a:latin typeface="Garamond" panose="02020404030301010803" pitchFamily="18" charset="0"/>
              </a:rPr>
              <a:t>交易接收者的地址。在</a:t>
            </a:r>
            <a:r>
              <a:rPr lang="zh-CN" altLang="en-US" b="1" dirty="0">
                <a:solidFill>
                  <a:srgbClr val="5B307E"/>
                </a:solidFill>
                <a:latin typeface="Garamond" panose="02020404030301010803" pitchFamily="18" charset="0"/>
              </a:rPr>
              <a:t>进行转账时</a:t>
            </a:r>
            <a:r>
              <a:rPr lang="zh-CN" altLang="en-US" dirty="0">
                <a:latin typeface="Garamond" panose="02020404030301010803" pitchFamily="18" charset="0"/>
              </a:rPr>
              <a:t>是接受转账金额的地址，在</a:t>
            </a:r>
            <a:r>
              <a:rPr lang="zh-CN" altLang="en-US" b="1" dirty="0">
                <a:solidFill>
                  <a:srgbClr val="5B307E"/>
                </a:solidFill>
                <a:latin typeface="Garamond" panose="02020404030301010803" pitchFamily="18" charset="0"/>
              </a:rPr>
              <a:t>创建合约时</a:t>
            </a:r>
            <a:r>
              <a:rPr lang="zh-CN" altLang="en-US" dirty="0">
                <a:latin typeface="Garamond" panose="02020404030301010803" pitchFamily="18" charset="0"/>
              </a:rPr>
              <a:t>设置为</a:t>
            </a:r>
            <a:r>
              <a:rPr lang="en-US" altLang="zh-CN" dirty="0">
                <a:latin typeface="Garamond" panose="02020404030301010803" pitchFamily="18" charset="0"/>
              </a:rPr>
              <a:t>0x0000...000</a:t>
            </a:r>
            <a:r>
              <a:rPr lang="zh-CN" altLang="en-US" dirty="0">
                <a:latin typeface="Garamond" panose="02020404030301010803" pitchFamily="18" charset="0"/>
              </a:rPr>
              <a:t>，在</a:t>
            </a:r>
            <a:r>
              <a:rPr lang="zh-CN" altLang="en-US" b="1" dirty="0">
                <a:solidFill>
                  <a:srgbClr val="5B307E"/>
                </a:solidFill>
                <a:latin typeface="Garamond" panose="02020404030301010803" pitchFamily="18" charset="0"/>
              </a:rPr>
              <a:t>调用合约时</a:t>
            </a:r>
            <a:r>
              <a:rPr lang="zh-CN" altLang="en-US" dirty="0">
                <a:latin typeface="Garamond" panose="02020404030301010803" pitchFamily="18" charset="0"/>
              </a:rPr>
              <a:t>则是合约的地址</a:t>
            </a:r>
          </a:p>
          <a:p>
            <a:pPr lvl="1">
              <a:lnSpc>
                <a:spcPct val="130000"/>
              </a:lnSpc>
            </a:pPr>
            <a:r>
              <a:rPr lang="en-US" altLang="zh-CN" b="1" dirty="0">
                <a:solidFill>
                  <a:srgbClr val="0000CC"/>
                </a:solidFill>
                <a:latin typeface="Garamond" panose="02020404030301010803" pitchFamily="18" charset="0"/>
              </a:rPr>
              <a:t>value</a:t>
            </a:r>
            <a:r>
              <a:rPr lang="zh-CN" altLang="en-US" b="1" dirty="0">
                <a:solidFill>
                  <a:srgbClr val="0000CC"/>
                </a:solidFill>
                <a:latin typeface="Garamond" panose="02020404030301010803" pitchFamily="18" charset="0"/>
              </a:rPr>
              <a:t>：</a:t>
            </a:r>
            <a:r>
              <a:rPr lang="zh-CN" altLang="en-US" dirty="0">
                <a:latin typeface="Garamond" panose="02020404030301010803" pitchFamily="18" charset="0"/>
              </a:rPr>
              <a:t>交易的金额，单位是</a:t>
            </a:r>
            <a:r>
              <a:rPr lang="en-US" altLang="zh-CN" dirty="0">
                <a:latin typeface="Garamond" panose="02020404030301010803" pitchFamily="18" charset="0"/>
              </a:rPr>
              <a:t>Wei</a:t>
            </a:r>
            <a:r>
              <a:rPr lang="zh-CN" altLang="en-US" dirty="0">
                <a:latin typeface="Garamond" panose="02020404030301010803" pitchFamily="18" charset="0"/>
              </a:rPr>
              <a:t>。</a:t>
            </a:r>
            <a:r>
              <a:rPr lang="en-US" altLang="zh-CN" dirty="0">
                <a:latin typeface="Garamond" panose="02020404030301010803" pitchFamily="18" charset="0"/>
              </a:rPr>
              <a:t>Wei</a:t>
            </a:r>
            <a:r>
              <a:rPr lang="zh-CN" altLang="en-US" dirty="0">
                <a:latin typeface="Garamond" panose="02020404030301010803" pitchFamily="18" charset="0"/>
              </a:rPr>
              <a:t>是以太币最小单位，我们常说的</a:t>
            </a:r>
            <a:r>
              <a:rPr lang="en-US" altLang="zh-CN" dirty="0">
                <a:latin typeface="Garamond" panose="02020404030301010803" pitchFamily="18" charset="0"/>
              </a:rPr>
              <a:t>1</a:t>
            </a:r>
            <a:r>
              <a:rPr lang="zh-CN" altLang="en-US" dirty="0">
                <a:latin typeface="Garamond" panose="02020404030301010803" pitchFamily="18" charset="0"/>
              </a:rPr>
              <a:t>个以太币是单位</a:t>
            </a:r>
            <a:r>
              <a:rPr lang="en-US" altLang="zh-CN" dirty="0">
                <a:latin typeface="Garamond" panose="02020404030301010803" pitchFamily="18" charset="0"/>
              </a:rPr>
              <a:t>Ether</a:t>
            </a:r>
            <a:r>
              <a:rPr lang="zh-CN" altLang="en-US" dirty="0">
                <a:latin typeface="Garamond" panose="02020404030301010803" pitchFamily="18" charset="0"/>
              </a:rPr>
              <a:t>，</a:t>
            </a:r>
            <a:r>
              <a:rPr lang="en-US" altLang="zh-CN" dirty="0">
                <a:latin typeface="Garamond" panose="02020404030301010803" pitchFamily="18" charset="0"/>
              </a:rPr>
              <a:t>1 Ether =10</a:t>
            </a:r>
            <a:r>
              <a:rPr lang="en-US" altLang="zh-CN" baseline="30000" dirty="0">
                <a:latin typeface="Garamond" panose="02020404030301010803" pitchFamily="18" charset="0"/>
              </a:rPr>
              <a:t>18</a:t>
            </a:r>
            <a:r>
              <a:rPr lang="en-US" altLang="zh-CN" dirty="0">
                <a:latin typeface="Garamond" panose="02020404030301010803" pitchFamily="18" charset="0"/>
              </a:rPr>
              <a:t> Wei</a:t>
            </a:r>
            <a:endParaRPr lang="zh-CN" altLang="en-US" dirty="0">
              <a:latin typeface="Garamond" panose="02020404030301010803" pitchFamily="18" charset="0"/>
            </a:endParaRPr>
          </a:p>
          <a:p>
            <a:pPr lvl="1">
              <a:lnSpc>
                <a:spcPct val="130000"/>
              </a:lnSpc>
            </a:pPr>
            <a:endParaRPr lang="en-US" altLang="zh-CN" dirty="0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892027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55A8A8-0864-814C-A327-6BBA68129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交易内容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57EA60E-053E-2142-8FE4-5A692A694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66</a:t>
            </a:fld>
            <a:endParaRPr kumimoji="1" lang="zh-CN" altLang="en-US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lnSpc>
                <a:spcPct val="130000"/>
              </a:lnSpc>
            </a:pPr>
            <a:r>
              <a:rPr lang="zh-TW" altLang="zh-CN" dirty="0">
                <a:latin typeface="Garamond" panose="02020404030301010803" pitchFamily="18" charset="0"/>
              </a:rPr>
              <a:t>驱动智能合约</a:t>
            </a:r>
            <a:endParaRPr lang="en-US" altLang="zh-TW" dirty="0">
              <a:latin typeface="Garamond" panose="02020404030301010803" pitchFamily="18" charset="0"/>
            </a:endParaRPr>
          </a:p>
          <a:p>
            <a:pPr lvl="1">
              <a:lnSpc>
                <a:spcPct val="130000"/>
              </a:lnSpc>
            </a:pPr>
            <a:r>
              <a:rPr lang="en-US" altLang="zh-CN" b="1" dirty="0">
                <a:solidFill>
                  <a:srgbClr val="0000CC"/>
                </a:solidFill>
                <a:latin typeface="Garamond" panose="02020404030301010803" pitchFamily="18" charset="0"/>
              </a:rPr>
              <a:t>data</a:t>
            </a:r>
            <a:r>
              <a:rPr lang="zh-CN" altLang="en-US" b="1" dirty="0">
                <a:solidFill>
                  <a:srgbClr val="0000CC"/>
                </a:solidFill>
                <a:latin typeface="Garamond" panose="02020404030301010803" pitchFamily="18" charset="0"/>
              </a:rPr>
              <a:t>：</a:t>
            </a:r>
            <a:r>
              <a:rPr lang="zh-CN" altLang="en-US" dirty="0">
                <a:latin typeface="Garamond" panose="02020404030301010803" pitchFamily="18" charset="0"/>
              </a:rPr>
              <a:t>交易附带数据，传递创建合约的代码和构造函数，或调用合约的函数及参数</a:t>
            </a:r>
          </a:p>
          <a:p>
            <a:pPr lvl="1">
              <a:lnSpc>
                <a:spcPct val="130000"/>
              </a:lnSpc>
            </a:pPr>
            <a:r>
              <a:rPr lang="en-US" altLang="zh-CN" b="1" dirty="0">
                <a:solidFill>
                  <a:srgbClr val="0000CC"/>
                </a:solidFill>
                <a:latin typeface="Garamond" panose="02020404030301010803" pitchFamily="18" charset="0"/>
              </a:rPr>
              <a:t>nonce</a:t>
            </a:r>
            <a:r>
              <a:rPr lang="zh-CN" altLang="en-US" b="1" dirty="0">
                <a:solidFill>
                  <a:srgbClr val="0000CC"/>
                </a:solidFill>
                <a:latin typeface="Garamond" panose="02020404030301010803" pitchFamily="18" charset="0"/>
              </a:rPr>
              <a:t>：</a:t>
            </a:r>
            <a:r>
              <a:rPr lang="zh-CN" altLang="en-US" dirty="0">
                <a:latin typeface="Garamond" panose="02020404030301010803" pitchFamily="18" charset="0"/>
              </a:rPr>
              <a:t>交易发送者累计发出的交易数量，用于区分一个账户的不同交易及顺序</a:t>
            </a:r>
          </a:p>
          <a:p>
            <a:pPr lvl="1">
              <a:lnSpc>
                <a:spcPct val="130000"/>
              </a:lnSpc>
            </a:pPr>
            <a:r>
              <a:rPr lang="en-US" altLang="zh-CN" b="1" dirty="0" err="1">
                <a:solidFill>
                  <a:srgbClr val="0000CC"/>
                </a:solidFill>
                <a:latin typeface="Garamond" panose="02020404030301010803" pitchFamily="18" charset="0"/>
              </a:rPr>
              <a:t>maxFeePerGas</a:t>
            </a:r>
            <a:r>
              <a:rPr lang="en-US" altLang="zh-CN" b="1" dirty="0">
                <a:solidFill>
                  <a:srgbClr val="0000CC"/>
                </a:solidFill>
                <a:latin typeface="Garamond" panose="02020404030301010803" pitchFamily="18" charset="0"/>
              </a:rPr>
              <a:t>/</a:t>
            </a:r>
            <a:r>
              <a:rPr lang="en-US" altLang="zh-CN" b="1" dirty="0" err="1">
                <a:solidFill>
                  <a:srgbClr val="0000CC"/>
                </a:solidFill>
                <a:latin typeface="Garamond" panose="02020404030301010803" pitchFamily="18" charset="0"/>
              </a:rPr>
              <a:t>maxPriorityFeePerGas</a:t>
            </a:r>
            <a:r>
              <a:rPr lang="zh-CN" altLang="en-US" b="1" dirty="0">
                <a:solidFill>
                  <a:srgbClr val="0000CC"/>
                </a:solidFill>
                <a:latin typeface="Garamond" panose="02020404030301010803" pitchFamily="18" charset="0"/>
              </a:rPr>
              <a:t>：</a:t>
            </a:r>
            <a:r>
              <a:rPr lang="zh-CN" altLang="en-US" dirty="0">
                <a:latin typeface="Garamond" panose="02020404030301010803" pitchFamily="18" charset="0"/>
              </a:rPr>
              <a:t>发送者需要燃烧的</a:t>
            </a:r>
            <a:r>
              <a:rPr lang="en-US" altLang="zh-CN" dirty="0">
                <a:latin typeface="Garamond" panose="02020404030301010803" pitchFamily="18" charset="0"/>
              </a:rPr>
              <a:t>gas</a:t>
            </a:r>
            <a:r>
              <a:rPr lang="zh-CN" altLang="en-US" dirty="0">
                <a:latin typeface="Garamond" panose="02020404030301010803" pitchFamily="18" charset="0"/>
              </a:rPr>
              <a:t>的价格</a:t>
            </a:r>
            <a:r>
              <a:rPr lang="en-US" altLang="zh-CN" dirty="0">
                <a:latin typeface="Garamond" panose="02020404030301010803" pitchFamily="18" charset="0"/>
              </a:rPr>
              <a:t>/</a:t>
            </a:r>
            <a:r>
              <a:rPr lang="zh-CN" altLang="en-US" dirty="0">
                <a:latin typeface="Garamond" panose="02020404030301010803" pitchFamily="18" charset="0"/>
              </a:rPr>
              <a:t>需要支付给矿工的</a:t>
            </a:r>
            <a:r>
              <a:rPr lang="en-US" altLang="zh-CN" dirty="0">
                <a:latin typeface="Garamond" panose="02020404030301010803" pitchFamily="18" charset="0"/>
              </a:rPr>
              <a:t>gas</a:t>
            </a:r>
            <a:r>
              <a:rPr lang="zh-CN" altLang="en-US" dirty="0">
                <a:latin typeface="Garamond" panose="02020404030301010803" pitchFamily="18" charset="0"/>
              </a:rPr>
              <a:t>的价格，用于实现从</a:t>
            </a:r>
            <a:r>
              <a:rPr lang="en-US" altLang="zh-CN" dirty="0">
                <a:latin typeface="Garamond" panose="02020404030301010803" pitchFamily="18" charset="0"/>
              </a:rPr>
              <a:t>Gas</a:t>
            </a:r>
            <a:r>
              <a:rPr lang="zh-CN" altLang="en-US" dirty="0">
                <a:latin typeface="Garamond" panose="02020404030301010803" pitchFamily="18" charset="0"/>
              </a:rPr>
              <a:t>到以太坊货币单位的转换，从而计算使用的</a:t>
            </a:r>
            <a:r>
              <a:rPr lang="en-US" altLang="zh-CN" dirty="0">
                <a:latin typeface="Garamond" panose="02020404030301010803" pitchFamily="18" charset="0"/>
              </a:rPr>
              <a:t>Gas</a:t>
            </a:r>
            <a:r>
              <a:rPr lang="zh-CN" altLang="en-US" dirty="0">
                <a:latin typeface="Garamond" panose="02020404030301010803" pitchFamily="18" charset="0"/>
              </a:rPr>
              <a:t>的总价格，最终被销毁</a:t>
            </a:r>
            <a:r>
              <a:rPr lang="en-US" altLang="zh-CN" dirty="0">
                <a:latin typeface="Garamond" panose="02020404030301010803" pitchFamily="18" charset="0"/>
              </a:rPr>
              <a:t>/</a:t>
            </a:r>
            <a:r>
              <a:rPr lang="zh-CN" altLang="en-US">
                <a:latin typeface="Garamond" panose="02020404030301010803" pitchFamily="18" charset="0"/>
              </a:rPr>
              <a:t>给予矿工。</a:t>
            </a:r>
            <a:endParaRPr lang="zh-CN" altLang="en-US" dirty="0">
              <a:latin typeface="Garamond" panose="02020404030301010803" pitchFamily="18" charset="0"/>
            </a:endParaRPr>
          </a:p>
          <a:p>
            <a:pPr lvl="1">
              <a:lnSpc>
                <a:spcPct val="130000"/>
              </a:lnSpc>
            </a:pPr>
            <a:r>
              <a:rPr lang="en-US" altLang="zh-CN" b="1" dirty="0" err="1">
                <a:solidFill>
                  <a:srgbClr val="0000CC"/>
                </a:solidFill>
                <a:latin typeface="Garamond" panose="02020404030301010803" pitchFamily="18" charset="0"/>
              </a:rPr>
              <a:t>gasLimit</a:t>
            </a:r>
            <a:r>
              <a:rPr lang="zh-CN" altLang="en-US" b="1" dirty="0">
                <a:solidFill>
                  <a:srgbClr val="0000CC"/>
                </a:solidFill>
                <a:latin typeface="Garamond" panose="02020404030301010803" pitchFamily="18" charset="0"/>
              </a:rPr>
              <a:t>：</a:t>
            </a:r>
            <a:r>
              <a:rPr lang="zh-CN" altLang="en-US" dirty="0">
                <a:latin typeface="Garamond" panose="02020404030301010803" pitchFamily="18" charset="0"/>
              </a:rPr>
              <a:t>该交易允许消耗的最大的</a:t>
            </a:r>
            <a:r>
              <a:rPr lang="en-US" altLang="zh-CN" dirty="0">
                <a:latin typeface="Garamond" panose="02020404030301010803" pitchFamily="18" charset="0"/>
              </a:rPr>
              <a:t>gas</a:t>
            </a:r>
            <a:r>
              <a:rPr lang="zh-CN" altLang="en-US" dirty="0">
                <a:latin typeface="Garamond" panose="02020404030301010803" pitchFamily="18" charset="0"/>
              </a:rPr>
              <a:t>，用于解决智能合约不能停机的问题</a:t>
            </a:r>
          </a:p>
          <a:p>
            <a:pPr lvl="1">
              <a:lnSpc>
                <a:spcPct val="130000"/>
              </a:lnSpc>
            </a:pPr>
            <a:endParaRPr lang="en-US" altLang="zh-CN" dirty="0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29614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55A8A8-0864-814C-A327-6BBA68129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交易内容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57EA60E-053E-2142-8FE4-5A692A694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67</a:t>
            </a:fld>
            <a:endParaRPr kumimoji="1" lang="zh-CN" altLang="en-US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dirty="0"/>
              <a:t>交易的签名</a:t>
            </a:r>
            <a:endParaRPr lang="en-US" altLang="zh-CN" dirty="0"/>
          </a:p>
          <a:p>
            <a:pPr lvl="1">
              <a:lnSpc>
                <a:spcPct val="130000"/>
              </a:lnSpc>
            </a:pPr>
            <a:r>
              <a:rPr lang="en-US" altLang="zh-CN" b="1" dirty="0">
                <a:solidFill>
                  <a:srgbClr val="0000CC"/>
                </a:solidFill>
                <a:latin typeface="Garamond" panose="02020404030301010803" pitchFamily="18" charset="0"/>
              </a:rPr>
              <a:t>hash</a:t>
            </a:r>
            <a:r>
              <a:rPr lang="zh-CN" altLang="en-US" b="1" dirty="0">
                <a:solidFill>
                  <a:srgbClr val="0000CC"/>
                </a:solidFill>
                <a:latin typeface="Garamond" panose="02020404030301010803" pitchFamily="18" charset="0"/>
              </a:rPr>
              <a:t>：</a:t>
            </a:r>
            <a:r>
              <a:rPr lang="zh-CN" altLang="en-US" dirty="0">
                <a:latin typeface="Garamond" panose="02020404030301010803" pitchFamily="18" charset="0"/>
              </a:rPr>
              <a:t>由以上字段生成的哈希值，也作为交易的</a:t>
            </a:r>
            <a:r>
              <a:rPr lang="en-US" altLang="zh-CN" dirty="0">
                <a:latin typeface="Garamond" panose="02020404030301010803" pitchFamily="18" charset="0"/>
              </a:rPr>
              <a:t>id</a:t>
            </a:r>
            <a:r>
              <a:rPr lang="zh-CN" altLang="en-US" dirty="0">
                <a:latin typeface="Garamond" panose="02020404030301010803" pitchFamily="18" charset="0"/>
              </a:rPr>
              <a:t>。</a:t>
            </a:r>
          </a:p>
          <a:p>
            <a:pPr lvl="1">
              <a:lnSpc>
                <a:spcPct val="130000"/>
              </a:lnSpc>
            </a:pPr>
            <a:r>
              <a:rPr lang="en-US" altLang="zh-CN" b="1" dirty="0">
                <a:solidFill>
                  <a:srgbClr val="0000CC"/>
                </a:solidFill>
                <a:latin typeface="Garamond" panose="02020404030301010803" pitchFamily="18" charset="0"/>
              </a:rPr>
              <a:t>r</a:t>
            </a:r>
            <a:r>
              <a:rPr lang="zh-CN" altLang="en-US" b="1" dirty="0">
                <a:solidFill>
                  <a:srgbClr val="0000CC"/>
                </a:solidFill>
                <a:latin typeface="Garamond" panose="02020404030301010803" pitchFamily="18" charset="0"/>
              </a:rPr>
              <a:t>、</a:t>
            </a:r>
            <a:r>
              <a:rPr lang="en-US" altLang="zh-CN" b="1" dirty="0">
                <a:solidFill>
                  <a:srgbClr val="0000CC"/>
                </a:solidFill>
                <a:latin typeface="Garamond" panose="02020404030301010803" pitchFamily="18" charset="0"/>
              </a:rPr>
              <a:t>s</a:t>
            </a:r>
            <a:r>
              <a:rPr lang="zh-CN" altLang="en-US" b="1" dirty="0">
                <a:solidFill>
                  <a:srgbClr val="0000CC"/>
                </a:solidFill>
                <a:latin typeface="Garamond" panose="02020404030301010803" pitchFamily="18" charset="0"/>
              </a:rPr>
              <a:t>、</a:t>
            </a:r>
            <a:r>
              <a:rPr lang="en-US" altLang="zh-CN" b="1" dirty="0">
                <a:solidFill>
                  <a:srgbClr val="0000CC"/>
                </a:solidFill>
                <a:latin typeface="Garamond" panose="02020404030301010803" pitchFamily="18" charset="0"/>
              </a:rPr>
              <a:t>v(signature)</a:t>
            </a:r>
            <a:r>
              <a:rPr lang="zh-CN" altLang="en-US" b="1" dirty="0">
                <a:solidFill>
                  <a:srgbClr val="0000CC"/>
                </a:solidFill>
                <a:latin typeface="Garamond" panose="02020404030301010803" pitchFamily="18" charset="0"/>
              </a:rPr>
              <a:t>：</a:t>
            </a:r>
            <a:r>
              <a:rPr lang="zh-CN" altLang="en-US" dirty="0">
                <a:latin typeface="Garamond" panose="02020404030301010803" pitchFamily="18" charset="0"/>
              </a:rPr>
              <a:t>用于</a:t>
            </a:r>
            <a:r>
              <a:rPr lang="en-US" altLang="zh-CN" dirty="0">
                <a:latin typeface="Garamond" panose="02020404030301010803" pitchFamily="18" charset="0"/>
              </a:rPr>
              <a:t>ECDSA</a:t>
            </a:r>
            <a:r>
              <a:rPr lang="zh-CN" altLang="en-US" dirty="0">
                <a:latin typeface="Garamond" panose="02020404030301010803" pitchFamily="18" charset="0"/>
              </a:rPr>
              <a:t>验证的参数，由发送者的私钥对交易的哈希做数字签名生成，用于确认转账的合法性。</a:t>
            </a:r>
          </a:p>
          <a:p>
            <a:pPr lvl="1">
              <a:lnSpc>
                <a:spcPct val="130000"/>
              </a:lnSpc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88653683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55A8A8-0864-814C-A327-6BBA68129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交易费用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57EA60E-053E-2142-8FE4-5A692A694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68</a:t>
            </a:fld>
            <a:endParaRPr kumimoji="1" lang="zh-CN" altLang="en-US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dirty="0">
                <a:latin typeface="Garamond" panose="02020404030301010803" pitchFamily="18" charset="0"/>
              </a:rPr>
              <a:t>背景</a:t>
            </a:r>
            <a:endParaRPr lang="en-US" altLang="zh-CN" dirty="0">
              <a:latin typeface="Garamond" panose="02020404030301010803" pitchFamily="18" charset="0"/>
            </a:endParaRPr>
          </a:p>
          <a:p>
            <a:pPr lvl="1">
              <a:lnSpc>
                <a:spcPct val="130000"/>
              </a:lnSpc>
            </a:pPr>
            <a:r>
              <a:rPr lang="en-US" altLang="zh-CN" dirty="0">
                <a:latin typeface="Garamond" panose="02020404030301010803" pitchFamily="18" charset="0"/>
              </a:rPr>
              <a:t>Gas</a:t>
            </a:r>
            <a:r>
              <a:rPr lang="zh-CN" altLang="en-US" dirty="0">
                <a:latin typeface="Garamond" panose="02020404030301010803" pitchFamily="18" charset="0"/>
              </a:rPr>
              <a:t>机制不仅可以保证合约停机，同时可以对交易执行的成本进行归一化计算，以太坊中通过</a:t>
            </a:r>
            <a:r>
              <a:rPr lang="en-US" altLang="zh-CN" dirty="0">
                <a:latin typeface="Garamond" panose="02020404030301010803" pitchFamily="18" charset="0"/>
              </a:rPr>
              <a:t>Gas</a:t>
            </a:r>
            <a:r>
              <a:rPr lang="zh-CN" altLang="en-US" dirty="0">
                <a:latin typeface="Garamond" panose="02020404030301010803" pitchFamily="18" charset="0"/>
              </a:rPr>
              <a:t>进行计算交易的费用</a:t>
            </a:r>
            <a:endParaRPr lang="en-US" altLang="zh-CN" dirty="0">
              <a:latin typeface="Garamond" panose="02020404030301010803" pitchFamily="18" charset="0"/>
            </a:endParaRPr>
          </a:p>
          <a:p>
            <a:pPr>
              <a:lnSpc>
                <a:spcPct val="130000"/>
              </a:lnSpc>
            </a:pPr>
            <a:r>
              <a:rPr lang="zh-CN" altLang="en-US" dirty="0">
                <a:latin typeface="Garamond" panose="02020404030301010803" pitchFamily="18" charset="0"/>
              </a:rPr>
              <a:t>主要概念</a:t>
            </a:r>
            <a:endParaRPr lang="en-US" altLang="zh-CN" dirty="0">
              <a:latin typeface="Garamond" panose="02020404030301010803" pitchFamily="18" charset="0"/>
            </a:endParaRPr>
          </a:p>
          <a:p>
            <a:pPr lvl="1">
              <a:lnSpc>
                <a:spcPct val="130000"/>
              </a:lnSpc>
            </a:pPr>
            <a:r>
              <a:rPr lang="en-US" altLang="zh-CN" dirty="0">
                <a:latin typeface="Garamond" panose="02020404030301010803" pitchFamily="18" charset="0"/>
              </a:rPr>
              <a:t>Gas</a:t>
            </a:r>
            <a:r>
              <a:rPr lang="zh-CN" altLang="en-US" dirty="0">
                <a:latin typeface="Garamond" panose="02020404030301010803" pitchFamily="18" charset="0"/>
              </a:rPr>
              <a:t>：以太坊中资源消耗的基础单位</a:t>
            </a:r>
          </a:p>
          <a:p>
            <a:pPr lvl="1">
              <a:lnSpc>
                <a:spcPct val="130000"/>
              </a:lnSpc>
            </a:pPr>
            <a:r>
              <a:rPr lang="en-US" altLang="zh-CN" dirty="0" err="1">
                <a:latin typeface="Garamond" panose="02020404030301010803" pitchFamily="18" charset="0"/>
              </a:rPr>
              <a:t>GasLimit</a:t>
            </a:r>
            <a:r>
              <a:rPr lang="en-US" altLang="zh-CN" dirty="0">
                <a:latin typeface="Garamond" panose="02020404030301010803" pitchFamily="18" charset="0"/>
              </a:rPr>
              <a:t>: </a:t>
            </a:r>
            <a:r>
              <a:rPr lang="zh-CN" altLang="en-US" dirty="0">
                <a:latin typeface="Garamond" panose="02020404030301010803" pitchFamily="18" charset="0"/>
              </a:rPr>
              <a:t>允许消耗的最大</a:t>
            </a:r>
            <a:r>
              <a:rPr lang="en-US" altLang="zh-CN" dirty="0">
                <a:latin typeface="Garamond" panose="02020404030301010803" pitchFamily="18" charset="0"/>
              </a:rPr>
              <a:t>Gas</a:t>
            </a:r>
            <a:r>
              <a:rPr lang="zh-CN" altLang="en-US" dirty="0">
                <a:latin typeface="Garamond" panose="02020404030301010803" pitchFamily="18" charset="0"/>
              </a:rPr>
              <a:t>值</a:t>
            </a:r>
            <a:endParaRPr lang="en-US" altLang="zh-CN" dirty="0">
              <a:latin typeface="Garamond" panose="02020404030301010803" pitchFamily="18" charset="0"/>
            </a:endParaRPr>
          </a:p>
          <a:p>
            <a:pPr lvl="1">
              <a:lnSpc>
                <a:spcPct val="130000"/>
              </a:lnSpc>
            </a:pPr>
            <a:r>
              <a:rPr lang="en-US" altLang="zh-CN" dirty="0" err="1">
                <a:latin typeface="Garamond" panose="02020404030301010803" pitchFamily="18" charset="0"/>
              </a:rPr>
              <a:t>GasPrice</a:t>
            </a:r>
            <a:r>
              <a:rPr lang="zh-CN" altLang="en-US" dirty="0">
                <a:latin typeface="Garamond" panose="02020404030301010803" pitchFamily="18" charset="0"/>
              </a:rPr>
              <a:t>：每单位</a:t>
            </a:r>
            <a:r>
              <a:rPr lang="en-US" altLang="zh-CN" dirty="0">
                <a:latin typeface="Garamond" panose="02020404030301010803" pitchFamily="18" charset="0"/>
              </a:rPr>
              <a:t>Gas</a:t>
            </a:r>
            <a:r>
              <a:rPr lang="zh-CN" altLang="en-US" dirty="0">
                <a:latin typeface="Garamond" panose="02020404030301010803" pitchFamily="18" charset="0"/>
              </a:rPr>
              <a:t>价值的以太币数量</a:t>
            </a:r>
          </a:p>
        </p:txBody>
      </p:sp>
    </p:spTree>
    <p:extLst>
      <p:ext uri="{BB962C8B-B14F-4D97-AF65-F5344CB8AC3E}">
        <p14:creationId xmlns:p14="http://schemas.microsoft.com/office/powerpoint/2010/main" val="113172532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55A8A8-0864-814C-A327-6BBA68129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交易费用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57EA60E-053E-2142-8FE4-5A692A694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69</a:t>
            </a:fld>
            <a:endParaRPr kumimoji="1" lang="zh-CN" altLang="en-US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838200" y="1510758"/>
            <a:ext cx="10515600" cy="2703432"/>
          </a:xfrm>
        </p:spPr>
        <p:txBody>
          <a:bodyPr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dirty="0">
                <a:latin typeface="Garamond" panose="02020404030301010803" pitchFamily="18" charset="0"/>
              </a:rPr>
              <a:t>Gas</a:t>
            </a:r>
            <a:r>
              <a:rPr lang="zh-CN" altLang="en-US" dirty="0">
                <a:latin typeface="Garamond" panose="02020404030301010803" pitchFamily="18" charset="0"/>
              </a:rPr>
              <a:t>与</a:t>
            </a:r>
            <a:r>
              <a:rPr lang="en-US" altLang="zh-CN" dirty="0" err="1">
                <a:latin typeface="Garamond" panose="02020404030301010803" pitchFamily="18" charset="0"/>
              </a:rPr>
              <a:t>GasUsed</a:t>
            </a:r>
            <a:endParaRPr lang="en-US" altLang="zh-CN" dirty="0">
              <a:latin typeface="Garamond" panose="02020404030301010803" pitchFamily="18" charset="0"/>
            </a:endParaRPr>
          </a:p>
          <a:p>
            <a:pPr lvl="1">
              <a:lnSpc>
                <a:spcPct val="130000"/>
              </a:lnSpc>
            </a:pPr>
            <a:r>
              <a:rPr lang="zh-CN" altLang="zh-CN" dirty="0">
                <a:latin typeface="Garamond" panose="02020404030301010803" pitchFamily="18" charset="0"/>
              </a:rPr>
              <a:t>在交易的执行过程中，每笔交易都带有基础</a:t>
            </a:r>
            <a:r>
              <a:rPr lang="en-US" altLang="zh-CN" dirty="0">
                <a:latin typeface="Garamond" panose="02020404030301010803" pitchFamily="18" charset="0"/>
              </a:rPr>
              <a:t>Gas</a:t>
            </a:r>
            <a:r>
              <a:rPr lang="zh-CN" altLang="zh-CN" dirty="0">
                <a:latin typeface="Garamond" panose="02020404030301010803" pitchFamily="18" charset="0"/>
              </a:rPr>
              <a:t>消耗值，用户在创建或调用智能合约的过程中，对以太坊虚拟机的不同操作都将消耗不同值的</a:t>
            </a:r>
            <a:r>
              <a:rPr lang="en-US" altLang="zh-CN" dirty="0">
                <a:latin typeface="Garamond" panose="02020404030301010803" pitchFamily="18" charset="0"/>
              </a:rPr>
              <a:t>Gas</a:t>
            </a:r>
            <a:r>
              <a:rPr lang="zh-CN" altLang="en-US" dirty="0">
                <a:latin typeface="Garamond" panose="02020404030301010803" pitchFamily="18" charset="0"/>
              </a:rPr>
              <a:t>。</a:t>
            </a:r>
            <a:endParaRPr lang="en-US" altLang="zh-CN" dirty="0">
              <a:latin typeface="Garamond" panose="02020404030301010803" pitchFamily="18" charset="0"/>
            </a:endParaRPr>
          </a:p>
          <a:p>
            <a:pPr lvl="1">
              <a:lnSpc>
                <a:spcPct val="130000"/>
              </a:lnSpc>
            </a:pPr>
            <a:r>
              <a:rPr lang="zh-CN" altLang="zh-CN" dirty="0">
                <a:latin typeface="Garamond" panose="02020404030301010803" pitchFamily="18" charset="0"/>
              </a:rPr>
              <a:t>基础的交易</a:t>
            </a:r>
            <a:r>
              <a:rPr lang="en-US" altLang="zh-CN" dirty="0">
                <a:latin typeface="Garamond" panose="02020404030301010803" pitchFamily="18" charset="0"/>
              </a:rPr>
              <a:t>Gas</a:t>
            </a:r>
            <a:r>
              <a:rPr lang="zh-CN" altLang="zh-CN" dirty="0">
                <a:latin typeface="Garamond" panose="02020404030301010803" pitchFamily="18" charset="0"/>
              </a:rPr>
              <a:t>值加上以太坊虚拟机运行时的</a:t>
            </a:r>
            <a:r>
              <a:rPr lang="en-US" altLang="zh-CN" dirty="0">
                <a:latin typeface="Garamond" panose="02020404030301010803" pitchFamily="18" charset="0"/>
              </a:rPr>
              <a:t>Gas</a:t>
            </a:r>
            <a:r>
              <a:rPr lang="zh-CN" altLang="zh-CN" dirty="0">
                <a:latin typeface="Garamond" panose="02020404030301010803" pitchFamily="18" charset="0"/>
              </a:rPr>
              <a:t>消耗值，即构成了交易的</a:t>
            </a:r>
            <a:r>
              <a:rPr lang="en-US" altLang="zh-CN" dirty="0" err="1">
                <a:latin typeface="Garamond" panose="02020404030301010803" pitchFamily="18" charset="0"/>
              </a:rPr>
              <a:t>GasUsed</a:t>
            </a:r>
            <a:r>
              <a:rPr lang="zh-CN" altLang="zh-CN" dirty="0">
                <a:latin typeface="Garamond" panose="02020404030301010803" pitchFamily="18" charset="0"/>
              </a:rPr>
              <a:t>。</a:t>
            </a:r>
          </a:p>
        </p:txBody>
      </p:sp>
      <p:sp>
        <p:nvSpPr>
          <p:cNvPr id="9" name="内容占位符 6">
            <a:extLst>
              <a:ext uri="{FF2B5EF4-FFF2-40B4-BE49-F238E27FC236}">
                <a16:creationId xmlns:a16="http://schemas.microsoft.com/office/drawing/2014/main" id="{27639B8B-8E58-41A8-9C4B-94723117D2F2}"/>
              </a:ext>
            </a:extLst>
          </p:cNvPr>
          <p:cNvSpPr txBox="1">
            <a:spLocks/>
          </p:cNvSpPr>
          <p:nvPr/>
        </p:nvSpPr>
        <p:spPr>
          <a:xfrm>
            <a:off x="838200" y="4138001"/>
            <a:ext cx="10515600" cy="6824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0363" indent="-360363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itchFamily="2" charset="2"/>
              <a:buChar char="Ø"/>
              <a:tabLst/>
              <a:defRPr sz="2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30000"/>
              </a:lnSpc>
            </a:pPr>
            <a:r>
              <a:rPr lang="zh-CN" altLang="en-US" dirty="0">
                <a:latin typeface="Garamond" panose="02020404030301010803" pitchFamily="18" charset="0"/>
              </a:rPr>
              <a:t>区块头的字段</a:t>
            </a:r>
            <a:r>
              <a:rPr lang="en-US" altLang="zh-CN" dirty="0">
                <a:latin typeface="Garamond" panose="02020404030301010803" pitchFamily="18" charset="0"/>
              </a:rPr>
              <a:t>Gas used</a:t>
            </a:r>
            <a:r>
              <a:rPr lang="zh-CN" altLang="en-US" dirty="0">
                <a:latin typeface="Garamond" panose="02020404030301010803" pitchFamily="18" charset="0"/>
              </a:rPr>
              <a:t>是由该区块内全部交易所消耗的</a:t>
            </a:r>
            <a:r>
              <a:rPr lang="en-US" altLang="zh-CN" dirty="0">
                <a:latin typeface="Garamond" panose="02020404030301010803" pitchFamily="18" charset="0"/>
              </a:rPr>
              <a:t>Gas</a:t>
            </a:r>
            <a:r>
              <a:rPr lang="zh-CN" altLang="en-US" dirty="0">
                <a:latin typeface="Garamond" panose="02020404030301010803" pitchFamily="18" charset="0"/>
              </a:rPr>
              <a:t>的和</a:t>
            </a:r>
            <a:endParaRPr lang="zh-CN" altLang="zh-CN" dirty="0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2203443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55A8A8-0864-814C-A327-6BBA68129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交易费用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57EA60E-053E-2142-8FE4-5A692A694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70</a:t>
            </a:fld>
            <a:endParaRPr kumimoji="1" lang="zh-CN" altLang="en-US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838200" y="1510758"/>
            <a:ext cx="10515600" cy="2256172"/>
          </a:xfrm>
        </p:spPr>
        <p:txBody>
          <a:bodyPr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dirty="0" err="1">
                <a:latin typeface="Garamond" panose="02020404030301010803" pitchFamily="18" charset="0"/>
              </a:rPr>
              <a:t>GasLimit</a:t>
            </a:r>
            <a:endParaRPr lang="en-US" altLang="zh-CN" dirty="0">
              <a:latin typeface="Garamond" panose="02020404030301010803" pitchFamily="18" charset="0"/>
            </a:endParaRPr>
          </a:p>
          <a:p>
            <a:pPr lvl="1">
              <a:lnSpc>
                <a:spcPct val="130000"/>
              </a:lnSpc>
            </a:pPr>
            <a:r>
              <a:rPr lang="zh-CN" altLang="zh-CN" dirty="0">
                <a:latin typeface="Garamond" panose="02020404030301010803" pitchFamily="18" charset="0"/>
              </a:rPr>
              <a:t>交易的</a:t>
            </a:r>
            <a:r>
              <a:rPr lang="en-US" altLang="zh-CN" dirty="0" err="1">
                <a:latin typeface="Garamond" panose="02020404030301010803" pitchFamily="18" charset="0"/>
              </a:rPr>
              <a:t>GasUsed</a:t>
            </a:r>
            <a:r>
              <a:rPr lang="zh-CN" altLang="zh-CN" dirty="0">
                <a:latin typeface="Garamond" panose="02020404030301010803" pitchFamily="18" charset="0"/>
              </a:rPr>
              <a:t>是实时计算的，即以太坊虚拟机的每步操作都将计算累积一次，如果交易的</a:t>
            </a:r>
            <a:r>
              <a:rPr lang="en-US" altLang="zh-CN" dirty="0" err="1">
                <a:latin typeface="Garamond" panose="02020404030301010803" pitchFamily="18" charset="0"/>
              </a:rPr>
              <a:t>GasUsed</a:t>
            </a:r>
            <a:r>
              <a:rPr lang="zh-CN" altLang="zh-CN" dirty="0">
                <a:latin typeface="Garamond" panose="02020404030301010803" pitchFamily="18" charset="0"/>
              </a:rPr>
              <a:t>超过了用户定义的</a:t>
            </a:r>
            <a:r>
              <a:rPr lang="en-US" altLang="zh-CN" dirty="0" err="1">
                <a:latin typeface="Garamond" panose="02020404030301010803" pitchFamily="18" charset="0"/>
              </a:rPr>
              <a:t>GasLimit</a:t>
            </a:r>
            <a:r>
              <a:rPr lang="zh-CN" altLang="zh-CN" dirty="0">
                <a:latin typeface="Garamond" panose="02020404030301010803" pitchFamily="18" charset="0"/>
              </a:rPr>
              <a:t>，则判定为</a:t>
            </a:r>
            <a:r>
              <a:rPr lang="en-US" altLang="zh-CN" dirty="0">
                <a:latin typeface="Garamond" panose="02020404030301010803" pitchFamily="18" charset="0"/>
              </a:rPr>
              <a:t>Gas</a:t>
            </a:r>
            <a:r>
              <a:rPr lang="zh-CN" altLang="zh-CN" dirty="0">
                <a:latin typeface="Garamond" panose="02020404030301010803" pitchFamily="18" charset="0"/>
              </a:rPr>
              <a:t>不足，交易执行失败。</a:t>
            </a:r>
            <a:endParaRPr lang="zh-CN" altLang="en-US" dirty="0">
              <a:latin typeface="Garamond" panose="02020404030301010803" pitchFamily="18" charset="0"/>
            </a:endParaRPr>
          </a:p>
        </p:txBody>
      </p:sp>
      <p:sp>
        <p:nvSpPr>
          <p:cNvPr id="9" name="内容占位符 6">
            <a:extLst>
              <a:ext uri="{FF2B5EF4-FFF2-40B4-BE49-F238E27FC236}">
                <a16:creationId xmlns:a16="http://schemas.microsoft.com/office/drawing/2014/main" id="{35A86A64-979A-4DCE-A039-50C6F074C68E}"/>
              </a:ext>
            </a:extLst>
          </p:cNvPr>
          <p:cNvSpPr txBox="1">
            <a:spLocks/>
          </p:cNvSpPr>
          <p:nvPr/>
        </p:nvSpPr>
        <p:spPr>
          <a:xfrm>
            <a:off x="838200" y="3601288"/>
            <a:ext cx="10515600" cy="6228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0363" indent="-360363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itchFamily="2" charset="2"/>
              <a:buChar char="Ø"/>
              <a:tabLst/>
              <a:defRPr sz="2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30000"/>
              </a:lnSpc>
            </a:pPr>
            <a:r>
              <a:rPr lang="zh-CN" altLang="en-US" dirty="0"/>
              <a:t>交易失败后，</a:t>
            </a:r>
            <a:r>
              <a:rPr lang="zh-CN" altLang="en-US" b="1" dirty="0">
                <a:solidFill>
                  <a:srgbClr val="5B307E"/>
                </a:solidFill>
              </a:rPr>
              <a:t>已执行的状态需要回滚到最初的状态。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830686B-67F9-4934-BF45-C128408C6474}"/>
              </a:ext>
            </a:extLst>
          </p:cNvPr>
          <p:cNvSpPr/>
          <p:nvPr/>
        </p:nvSpPr>
        <p:spPr>
          <a:xfrm>
            <a:off x="4508815" y="4651908"/>
            <a:ext cx="3402734" cy="3693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rgbClr val="002060"/>
            </a:solidFill>
            <a:prstDash val="dash"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dirty="0">
                <a:solidFill>
                  <a:srgbClr val="002060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为什么需要回滚？如何回滚？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4B8DDCE5-ECA9-4065-8AF2-7C23FB5E7D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3315" y="4530891"/>
            <a:ext cx="601662" cy="601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198637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55A8A8-0864-814C-A327-6BBA68129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交易费用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57EA60E-053E-2142-8FE4-5A692A694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71</a:t>
            </a:fld>
            <a:endParaRPr kumimoji="1" lang="zh-CN" altLang="en-US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dirty="0" err="1">
                <a:latin typeface="Garamond" panose="02020404030301010803" pitchFamily="18" charset="0"/>
              </a:rPr>
              <a:t>GasPrice</a:t>
            </a:r>
            <a:endParaRPr lang="en-US" altLang="zh-CN" dirty="0">
              <a:latin typeface="Garamond" panose="02020404030301010803" pitchFamily="18" charset="0"/>
            </a:endParaRPr>
          </a:p>
          <a:p>
            <a:pPr lvl="1">
              <a:lnSpc>
                <a:spcPct val="130000"/>
              </a:lnSpc>
            </a:pPr>
            <a:r>
              <a:rPr lang="zh-CN" altLang="zh-CN" dirty="0">
                <a:latin typeface="Garamond" panose="02020404030301010803" pitchFamily="18" charset="0"/>
              </a:rPr>
              <a:t>交易执行完成后，将得到交易的</a:t>
            </a:r>
            <a:r>
              <a:rPr lang="en-US" altLang="zh-CN" dirty="0" err="1">
                <a:latin typeface="Garamond" panose="02020404030301010803" pitchFamily="18" charset="0"/>
              </a:rPr>
              <a:t>GasUsed</a:t>
            </a:r>
            <a:r>
              <a:rPr lang="zh-CN" altLang="zh-CN" dirty="0">
                <a:latin typeface="Garamond" panose="02020404030301010803" pitchFamily="18" charset="0"/>
              </a:rPr>
              <a:t>乘上</a:t>
            </a:r>
            <a:r>
              <a:rPr lang="en-US" altLang="zh-CN" dirty="0" err="1">
                <a:latin typeface="Garamond" panose="02020404030301010803" pitchFamily="18" charset="0"/>
              </a:rPr>
              <a:t>GasPrice</a:t>
            </a:r>
            <a:r>
              <a:rPr lang="zh-CN" altLang="en-US" dirty="0">
                <a:latin typeface="Garamond" panose="02020404030301010803" pitchFamily="18" charset="0"/>
              </a:rPr>
              <a:t>，</a:t>
            </a:r>
            <a:r>
              <a:rPr lang="zh-CN" altLang="zh-CN" dirty="0">
                <a:latin typeface="Garamond" panose="02020404030301010803" pitchFamily="18" charset="0"/>
              </a:rPr>
              <a:t>即为用户该笔交易应付的手续费，这一手续费从交易发起账户扣除，加到区块</a:t>
            </a:r>
            <a:r>
              <a:rPr lang="en-US" altLang="zh-CN" dirty="0" err="1">
                <a:latin typeface="Garamond" panose="02020404030301010803" pitchFamily="18" charset="0"/>
              </a:rPr>
              <a:t>Coinbase</a:t>
            </a:r>
            <a:r>
              <a:rPr lang="zh-CN" altLang="zh-CN" dirty="0">
                <a:latin typeface="Garamond" panose="02020404030301010803" pitchFamily="18" charset="0"/>
              </a:rPr>
              <a:t>账户中</a:t>
            </a:r>
            <a:r>
              <a:rPr lang="zh-CN" altLang="en-US" dirty="0">
                <a:latin typeface="Garamond" panose="02020404030301010803" pitchFamily="18" charset="0"/>
              </a:rPr>
              <a:t>。</a:t>
            </a:r>
            <a:endParaRPr lang="en-US" altLang="zh-CN" dirty="0">
              <a:latin typeface="Garamond" panose="02020404030301010803" pitchFamily="18" charset="0"/>
            </a:endParaRPr>
          </a:p>
          <a:p>
            <a:pPr lvl="1">
              <a:lnSpc>
                <a:spcPct val="130000"/>
              </a:lnSpc>
            </a:pPr>
            <a:r>
              <a:rPr lang="zh-CN" altLang="en-US" dirty="0">
                <a:latin typeface="Garamond" panose="02020404030301010803" pitchFamily="18" charset="0"/>
              </a:rPr>
              <a:t>验证区块</a:t>
            </a:r>
            <a:r>
              <a:rPr lang="zh-CN" altLang="zh-CN" dirty="0">
                <a:latin typeface="Garamond" panose="02020404030301010803" pitchFamily="18" charset="0"/>
              </a:rPr>
              <a:t>的节点除了得到区块奖励外，还将得到运行以太坊智能合约的手续费。同样地，区块中也带有</a:t>
            </a:r>
            <a:r>
              <a:rPr lang="en-US" altLang="zh-CN" dirty="0" err="1">
                <a:latin typeface="Garamond" panose="02020404030301010803" pitchFamily="18" charset="0"/>
              </a:rPr>
              <a:t>GasLimit</a:t>
            </a:r>
            <a:r>
              <a:rPr lang="zh-CN" altLang="zh-CN" dirty="0">
                <a:latin typeface="Garamond" panose="02020404030301010803" pitchFamily="18" charset="0"/>
              </a:rPr>
              <a:t>和</a:t>
            </a:r>
            <a:r>
              <a:rPr lang="en-US" altLang="zh-CN" dirty="0" err="1">
                <a:latin typeface="Garamond" panose="02020404030301010803" pitchFamily="18" charset="0"/>
              </a:rPr>
              <a:t>GasUsed</a:t>
            </a:r>
            <a:r>
              <a:rPr lang="zh-CN" altLang="zh-CN" dirty="0">
                <a:latin typeface="Garamond" panose="02020404030301010803" pitchFamily="18" charset="0"/>
              </a:rPr>
              <a:t>字段。</a:t>
            </a:r>
          </a:p>
          <a:p>
            <a:pPr marL="457200" lvl="1" indent="0">
              <a:lnSpc>
                <a:spcPct val="130000"/>
              </a:lnSpc>
              <a:buNone/>
            </a:pPr>
            <a:endParaRPr lang="zh-CN" altLang="en-US" dirty="0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585132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55A8A8-0864-814C-A327-6BBA68129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交易费用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57EA60E-053E-2142-8FE4-5A692A694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72</a:t>
            </a:fld>
            <a:endParaRPr kumimoji="1" lang="zh-CN" altLang="en-US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838200" y="1510758"/>
            <a:ext cx="10515600" cy="2186597"/>
          </a:xfrm>
        </p:spPr>
        <p:txBody>
          <a:bodyPr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dirty="0">
                <a:latin typeface="Garamond" panose="02020404030301010803" pitchFamily="18" charset="0"/>
              </a:rPr>
              <a:t>Gas</a:t>
            </a:r>
            <a:r>
              <a:rPr lang="zh-CN" altLang="en-US" dirty="0">
                <a:latin typeface="Garamond" panose="02020404030301010803" pitchFamily="18" charset="0"/>
              </a:rPr>
              <a:t>的弊端</a:t>
            </a:r>
            <a:endParaRPr lang="en-US" altLang="zh-CN" dirty="0">
              <a:latin typeface="Garamond" panose="02020404030301010803" pitchFamily="18" charset="0"/>
            </a:endParaRPr>
          </a:p>
          <a:p>
            <a:pPr lvl="1">
              <a:lnSpc>
                <a:spcPct val="130000"/>
              </a:lnSpc>
            </a:pPr>
            <a:r>
              <a:rPr lang="zh-CN" altLang="zh-CN" dirty="0">
                <a:latin typeface="Garamond" panose="02020404030301010803" pitchFamily="18" charset="0"/>
              </a:rPr>
              <a:t>以太坊虚拟机的每个操作的定价是以太坊社区的开发者决定的，定价的合理性也时常受到质疑。在以太坊两百多万的区块高度上，曾经出现过针对</a:t>
            </a:r>
            <a:r>
              <a:rPr lang="en-US" altLang="zh-CN" dirty="0">
                <a:latin typeface="Garamond" panose="02020404030301010803" pitchFamily="18" charset="0"/>
              </a:rPr>
              <a:t>Gas</a:t>
            </a:r>
            <a:r>
              <a:rPr lang="zh-CN" altLang="zh-CN" dirty="0">
                <a:latin typeface="Garamond" panose="02020404030301010803" pitchFamily="18" charset="0"/>
              </a:rPr>
              <a:t>定价不合理的攻击</a:t>
            </a:r>
            <a:r>
              <a:rPr lang="zh-CN" altLang="en-US" dirty="0">
                <a:latin typeface="Garamond" panose="02020404030301010803" pitchFamily="18" charset="0"/>
              </a:rPr>
              <a:t>（矿工监守自盗，联合起来抬高</a:t>
            </a:r>
            <a:r>
              <a:rPr lang="en-US" altLang="zh-CN" dirty="0">
                <a:latin typeface="Garamond" panose="02020404030301010803" pitchFamily="18" charset="0"/>
              </a:rPr>
              <a:t>Gas</a:t>
            </a:r>
            <a:r>
              <a:rPr lang="zh-CN" altLang="en-US" dirty="0">
                <a:latin typeface="Garamond" panose="02020404030301010803" pitchFamily="18" charset="0"/>
              </a:rPr>
              <a:t>价格）</a:t>
            </a:r>
          </a:p>
        </p:txBody>
      </p:sp>
      <p:sp>
        <p:nvSpPr>
          <p:cNvPr id="9" name="内容占位符 6">
            <a:extLst>
              <a:ext uri="{FF2B5EF4-FFF2-40B4-BE49-F238E27FC236}">
                <a16:creationId xmlns:a16="http://schemas.microsoft.com/office/drawing/2014/main" id="{736BDB0A-457F-4036-BEB2-B67080D00002}"/>
              </a:ext>
            </a:extLst>
          </p:cNvPr>
          <p:cNvSpPr txBox="1">
            <a:spLocks/>
          </p:cNvSpPr>
          <p:nvPr/>
        </p:nvSpPr>
        <p:spPr>
          <a:xfrm>
            <a:off x="838200" y="3697355"/>
            <a:ext cx="10515600" cy="254441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60363" indent="-360363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itchFamily="2" charset="2"/>
              <a:buChar char="Ø"/>
              <a:tabLst/>
              <a:defRPr sz="2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altLang="zh-CN" b="1" dirty="0">
                <a:solidFill>
                  <a:srgbClr val="5B307E"/>
                </a:solidFill>
              </a:rPr>
              <a:t>EIP-1559 </a:t>
            </a:r>
            <a:r>
              <a:rPr lang="zh-CN" altLang="en-US" b="1" dirty="0">
                <a:solidFill>
                  <a:srgbClr val="5B307E"/>
                </a:solidFill>
              </a:rPr>
              <a:t>伦敦升级</a:t>
            </a:r>
            <a:endParaRPr lang="en-US" altLang="zh-CN" b="1" dirty="0">
              <a:solidFill>
                <a:srgbClr val="5B307E"/>
              </a:solidFill>
            </a:endParaRPr>
          </a:p>
          <a:p>
            <a:pPr lvl="1">
              <a:lnSpc>
                <a:spcPct val="130000"/>
              </a:lnSpc>
            </a:pPr>
            <a:r>
              <a:rPr lang="en-US" altLang="zh-CN" dirty="0"/>
              <a:t>Gas</a:t>
            </a:r>
            <a:r>
              <a:rPr lang="zh-CN" altLang="en-US" dirty="0"/>
              <a:t>费用分为基础性费用和竞争性（优先级）费用。基础性费用直接燃烧掉；竞争性费用由矿工获得。</a:t>
            </a:r>
            <a:endParaRPr lang="en-US" altLang="zh-CN" dirty="0"/>
          </a:p>
          <a:p>
            <a:pPr lvl="1">
              <a:lnSpc>
                <a:spcPct val="130000"/>
              </a:lnSpc>
            </a:pPr>
            <a:r>
              <a:rPr lang="en-US" altLang="zh-CN" dirty="0" err="1">
                <a:latin typeface="Garamond" panose="02020404030301010803" pitchFamily="18" charset="0"/>
              </a:rPr>
              <a:t>maxFeePerGas</a:t>
            </a:r>
            <a:r>
              <a:rPr lang="zh-CN" altLang="en-US" dirty="0">
                <a:latin typeface="Garamond" panose="02020404030301010803" pitchFamily="18" charset="0"/>
              </a:rPr>
              <a:t>：每单位</a:t>
            </a:r>
            <a:r>
              <a:rPr lang="en-US" altLang="zh-CN" dirty="0">
                <a:latin typeface="Garamond" panose="02020404030301010803" pitchFamily="18" charset="0"/>
              </a:rPr>
              <a:t>Gas</a:t>
            </a:r>
            <a:r>
              <a:rPr lang="zh-CN" altLang="en-US" dirty="0">
                <a:latin typeface="Garamond" panose="02020404030301010803" pitchFamily="18" charset="0"/>
              </a:rPr>
              <a:t>需要销毁的以太币值</a:t>
            </a:r>
            <a:endParaRPr lang="en-US" altLang="zh-CN" dirty="0">
              <a:latin typeface="Garamond" panose="02020404030301010803" pitchFamily="18" charset="0"/>
            </a:endParaRPr>
          </a:p>
          <a:p>
            <a:pPr lvl="1">
              <a:lnSpc>
                <a:spcPct val="130000"/>
              </a:lnSpc>
            </a:pPr>
            <a:r>
              <a:rPr lang="en-US" altLang="zh-CN" dirty="0" err="1">
                <a:latin typeface="Garamond" panose="02020404030301010803" pitchFamily="18" charset="0"/>
              </a:rPr>
              <a:t>maxPriorityFeePerGas</a:t>
            </a:r>
            <a:r>
              <a:rPr lang="zh-CN" altLang="en-US" dirty="0">
                <a:latin typeface="Garamond" panose="02020404030301010803" pitchFamily="18" charset="0"/>
              </a:rPr>
              <a:t>：每单位</a:t>
            </a:r>
            <a:r>
              <a:rPr lang="en-US" altLang="zh-CN" dirty="0">
                <a:latin typeface="Garamond" panose="02020404030301010803" pitchFamily="18" charset="0"/>
              </a:rPr>
              <a:t>Gas</a:t>
            </a:r>
            <a:r>
              <a:rPr lang="zh-CN" altLang="en-US" dirty="0">
                <a:latin typeface="Garamond" panose="02020404030301010803" pitchFamily="18" charset="0"/>
              </a:rPr>
              <a:t>需要支付给矿工的以太币值</a:t>
            </a:r>
          </a:p>
          <a:p>
            <a:pPr marL="457200" lvl="1" indent="0">
              <a:lnSpc>
                <a:spcPct val="130000"/>
              </a:lnSpc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29923899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55A8A8-0864-814C-A327-6BBA68129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区块费用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57EA60E-053E-2142-8FE4-5A692A694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73</a:t>
            </a:fld>
            <a:endParaRPr kumimoji="1" lang="zh-CN" altLang="en-US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838200" y="1510759"/>
            <a:ext cx="10515600" cy="755364"/>
          </a:xfrm>
        </p:spPr>
        <p:txBody>
          <a:bodyPr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dirty="0">
                <a:latin typeface="Garamond" panose="02020404030301010803" pitchFamily="18" charset="0"/>
              </a:rPr>
              <a:t>区块执行头部包含三个与</a:t>
            </a:r>
            <a:r>
              <a:rPr lang="en-US" altLang="zh-CN" dirty="0">
                <a:latin typeface="Garamond" panose="02020404030301010803" pitchFamily="18" charset="0"/>
              </a:rPr>
              <a:t>Gas</a:t>
            </a:r>
            <a:r>
              <a:rPr lang="zh-CN" altLang="en-US" dirty="0">
                <a:latin typeface="Garamond" panose="02020404030301010803" pitchFamily="18" charset="0"/>
              </a:rPr>
              <a:t>费用相关的字段：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17C7B71A-FF52-4DC8-989D-9AAC77B76006}"/>
              </a:ext>
            </a:extLst>
          </p:cNvPr>
          <p:cNvSpPr/>
          <p:nvPr/>
        </p:nvSpPr>
        <p:spPr>
          <a:xfrm>
            <a:off x="644301" y="2754970"/>
            <a:ext cx="1998103" cy="510249"/>
          </a:xfrm>
          <a:prstGeom prst="roundRect">
            <a:avLst/>
          </a:prstGeom>
          <a:solidFill>
            <a:srgbClr val="5B307E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0" i="0" dirty="0">
                <a:solidFill>
                  <a:srgbClr val="FDFCDC"/>
                </a:solidFill>
                <a:effectLst/>
                <a:latin typeface="Garamond" panose="02020404030301010803" pitchFamily="18" charset="0"/>
              </a:rPr>
              <a:t>Gas limit</a:t>
            </a:r>
            <a:endParaRPr lang="zh-CN" altLang="en-US" sz="1600" dirty="0">
              <a:solidFill>
                <a:srgbClr val="FDFCDC"/>
              </a:solidFill>
              <a:latin typeface="Garamond" panose="02020404030301010803" pitchFamily="18" charset="0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06214A4-282F-4DFD-9FDE-47CC1730ACA4}"/>
              </a:ext>
            </a:extLst>
          </p:cNvPr>
          <p:cNvSpPr/>
          <p:nvPr/>
        </p:nvSpPr>
        <p:spPr>
          <a:xfrm>
            <a:off x="644300" y="3844959"/>
            <a:ext cx="1998103" cy="510249"/>
          </a:xfrm>
          <a:prstGeom prst="roundRect">
            <a:avLst/>
          </a:prstGeom>
          <a:solidFill>
            <a:srgbClr val="5B307E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0" i="0" dirty="0">
                <a:solidFill>
                  <a:srgbClr val="FDFCDC"/>
                </a:solidFill>
                <a:effectLst/>
                <a:latin typeface="Garamond" panose="02020404030301010803" pitchFamily="18" charset="0"/>
              </a:rPr>
              <a:t>Gas used</a:t>
            </a:r>
            <a:endParaRPr lang="zh-CN" altLang="en-US" sz="1600" dirty="0">
              <a:solidFill>
                <a:srgbClr val="FDFCDC"/>
              </a:solidFill>
              <a:latin typeface="Garamond" panose="02020404030301010803" pitchFamily="18" charset="0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C5DF44FD-4FA7-4511-9636-85B71C0CF3FA}"/>
              </a:ext>
            </a:extLst>
          </p:cNvPr>
          <p:cNvSpPr/>
          <p:nvPr/>
        </p:nvSpPr>
        <p:spPr>
          <a:xfrm>
            <a:off x="644299" y="4934948"/>
            <a:ext cx="1998103" cy="510249"/>
          </a:xfrm>
          <a:prstGeom prst="roundRect">
            <a:avLst/>
          </a:prstGeom>
          <a:solidFill>
            <a:srgbClr val="5B307E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0" i="0" dirty="0">
                <a:solidFill>
                  <a:srgbClr val="FDFCDC"/>
                </a:solidFill>
                <a:effectLst/>
                <a:latin typeface="Garamond" panose="02020404030301010803" pitchFamily="18" charset="0"/>
              </a:rPr>
              <a:t>Base fee per gas</a:t>
            </a:r>
            <a:endParaRPr lang="zh-CN" altLang="en-US" sz="1600" dirty="0">
              <a:solidFill>
                <a:srgbClr val="FDFCDC"/>
              </a:solidFill>
              <a:latin typeface="Garamond" panose="02020404030301010803" pitchFamily="18" charset="0"/>
            </a:endParaRPr>
          </a:p>
        </p:txBody>
      </p:sp>
      <p:sp>
        <p:nvSpPr>
          <p:cNvPr id="13" name="内容占位符 6">
            <a:extLst>
              <a:ext uri="{FF2B5EF4-FFF2-40B4-BE49-F238E27FC236}">
                <a16:creationId xmlns:a16="http://schemas.microsoft.com/office/drawing/2014/main" id="{4C8FE880-7453-4D65-9F97-5CCFB0574A24}"/>
              </a:ext>
            </a:extLst>
          </p:cNvPr>
          <p:cNvSpPr txBox="1">
            <a:spLocks/>
          </p:cNvSpPr>
          <p:nvPr/>
        </p:nvSpPr>
        <p:spPr>
          <a:xfrm>
            <a:off x="2759767" y="4812390"/>
            <a:ext cx="7934740" cy="7553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0363" indent="-360363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itchFamily="2" charset="2"/>
              <a:buChar char="Ø"/>
              <a:tabLst/>
              <a:defRPr sz="2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buNone/>
            </a:pPr>
            <a:r>
              <a:rPr lang="zh-CN" altLang="en-US" dirty="0">
                <a:latin typeface="Garamond" panose="02020404030301010803" pitchFamily="18" charset="0"/>
              </a:rPr>
              <a:t>该区块内的基础</a:t>
            </a:r>
            <a:r>
              <a:rPr lang="en-US" altLang="zh-CN" dirty="0">
                <a:latin typeface="Garamond" panose="02020404030301010803" pitchFamily="18" charset="0"/>
              </a:rPr>
              <a:t>Gas</a:t>
            </a:r>
            <a:r>
              <a:rPr lang="zh-CN" altLang="en-US" dirty="0">
                <a:latin typeface="Garamond" panose="02020404030301010803" pitchFamily="18" charset="0"/>
              </a:rPr>
              <a:t>费用值（动态变化）</a:t>
            </a:r>
          </a:p>
        </p:txBody>
      </p:sp>
      <p:sp>
        <p:nvSpPr>
          <p:cNvPr id="14" name="内容占位符 6">
            <a:extLst>
              <a:ext uri="{FF2B5EF4-FFF2-40B4-BE49-F238E27FC236}">
                <a16:creationId xmlns:a16="http://schemas.microsoft.com/office/drawing/2014/main" id="{C6200B17-B7A3-4B1D-9B06-16947E2F473B}"/>
              </a:ext>
            </a:extLst>
          </p:cNvPr>
          <p:cNvSpPr txBox="1">
            <a:spLocks/>
          </p:cNvSpPr>
          <p:nvPr/>
        </p:nvSpPr>
        <p:spPr>
          <a:xfrm>
            <a:off x="2759767" y="3722401"/>
            <a:ext cx="7934740" cy="7553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0363" indent="-360363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itchFamily="2" charset="2"/>
              <a:buChar char="Ø"/>
              <a:tabLst/>
              <a:defRPr sz="2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buNone/>
            </a:pPr>
            <a:r>
              <a:rPr lang="zh-CN" altLang="en-US" dirty="0">
                <a:latin typeface="Garamond" panose="02020404030301010803" pitchFamily="18" charset="0"/>
              </a:rPr>
              <a:t>该区块内全部交易消耗的</a:t>
            </a:r>
            <a:r>
              <a:rPr lang="en-US" altLang="zh-CN" dirty="0">
                <a:latin typeface="Garamond" panose="02020404030301010803" pitchFamily="18" charset="0"/>
              </a:rPr>
              <a:t>Gas</a:t>
            </a:r>
            <a:r>
              <a:rPr lang="zh-CN" altLang="en-US" dirty="0">
                <a:latin typeface="Garamond" panose="02020404030301010803" pitchFamily="18" charset="0"/>
              </a:rPr>
              <a:t>数量</a:t>
            </a:r>
          </a:p>
        </p:txBody>
      </p:sp>
      <p:sp>
        <p:nvSpPr>
          <p:cNvPr id="15" name="内容占位符 6">
            <a:extLst>
              <a:ext uri="{FF2B5EF4-FFF2-40B4-BE49-F238E27FC236}">
                <a16:creationId xmlns:a16="http://schemas.microsoft.com/office/drawing/2014/main" id="{47936984-8F22-4986-8355-0FCCF20C1C78}"/>
              </a:ext>
            </a:extLst>
          </p:cNvPr>
          <p:cNvSpPr txBox="1">
            <a:spLocks/>
          </p:cNvSpPr>
          <p:nvPr/>
        </p:nvSpPr>
        <p:spPr>
          <a:xfrm>
            <a:off x="2759766" y="2616580"/>
            <a:ext cx="9127435" cy="7553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marL="360363" indent="-360363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Wingdings" pitchFamily="2" charset="2"/>
              <a:buChar char="Ø"/>
              <a:tabLst/>
              <a:defRPr sz="2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buNone/>
            </a:pPr>
            <a:r>
              <a:rPr lang="zh-CN" altLang="en-US" dirty="0">
                <a:latin typeface="Garamond" panose="02020404030301010803" pitchFamily="18" charset="0"/>
              </a:rPr>
              <a:t>该区块内能够消耗的</a:t>
            </a:r>
            <a:r>
              <a:rPr lang="en-US" altLang="zh-CN" dirty="0">
                <a:latin typeface="Garamond" panose="02020404030301010803" pitchFamily="18" charset="0"/>
              </a:rPr>
              <a:t>Gas</a:t>
            </a:r>
            <a:r>
              <a:rPr lang="zh-CN" altLang="en-US" dirty="0">
                <a:latin typeface="Garamond" panose="02020404030301010803" pitchFamily="18" charset="0"/>
              </a:rPr>
              <a:t>的上限（以太坊</a:t>
            </a:r>
            <a:r>
              <a:rPr lang="en-US" altLang="zh-CN" dirty="0">
                <a:latin typeface="Garamond" panose="02020404030301010803" pitchFamily="18" charset="0"/>
              </a:rPr>
              <a:t>Gas Limit</a:t>
            </a:r>
            <a:r>
              <a:rPr lang="zh-CN" altLang="en-US" dirty="0">
                <a:latin typeface="Garamond" panose="02020404030301010803" pitchFamily="18" charset="0"/>
              </a:rPr>
              <a:t>限定了区块的“大小”）</a:t>
            </a:r>
          </a:p>
        </p:txBody>
      </p:sp>
    </p:spTree>
    <p:extLst>
      <p:ext uri="{BB962C8B-B14F-4D97-AF65-F5344CB8AC3E}">
        <p14:creationId xmlns:p14="http://schemas.microsoft.com/office/powerpoint/2010/main" val="1825301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10" grpId="0" animBg="1"/>
      <p:bldP spid="11" grpId="0" animBg="1"/>
      <p:bldP spid="12" grpId="0" animBg="1"/>
      <p:bldP spid="13" grpId="0"/>
      <p:bldP spid="14" grpId="0"/>
      <p:bldP spid="15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55A8A8-0864-814C-A327-6BBA68129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交易的周期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57EA60E-053E-2142-8FE4-5A692A694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74</a:t>
            </a:fld>
            <a:endParaRPr kumimoji="1" lang="zh-CN" altLang="en-US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dirty="0"/>
              <a:t>以太坊交易周期</a:t>
            </a:r>
            <a:endParaRPr lang="en-US" altLang="zh-CN" dirty="0"/>
          </a:p>
          <a:p>
            <a:pPr lvl="1">
              <a:lnSpc>
                <a:spcPct val="130000"/>
              </a:lnSpc>
            </a:pPr>
            <a:r>
              <a:rPr lang="zh-CN" altLang="en-US" dirty="0"/>
              <a:t>发起</a:t>
            </a:r>
            <a:endParaRPr lang="en-US" altLang="zh-CN" dirty="0"/>
          </a:p>
          <a:p>
            <a:pPr lvl="1">
              <a:lnSpc>
                <a:spcPct val="130000"/>
              </a:lnSpc>
            </a:pPr>
            <a:r>
              <a:rPr lang="zh-CN" altLang="en-US" dirty="0"/>
              <a:t>广播</a:t>
            </a:r>
            <a:endParaRPr lang="en-US" altLang="zh-CN" dirty="0"/>
          </a:p>
          <a:p>
            <a:pPr lvl="1">
              <a:lnSpc>
                <a:spcPct val="130000"/>
              </a:lnSpc>
            </a:pPr>
            <a:r>
              <a:rPr lang="zh-CN" altLang="en-US" dirty="0"/>
              <a:t>打包与执行</a:t>
            </a:r>
            <a:endParaRPr lang="en-US" altLang="zh-CN" dirty="0"/>
          </a:p>
          <a:p>
            <a:pPr lvl="1">
              <a:lnSpc>
                <a:spcPct val="130000"/>
              </a:lnSpc>
            </a:pPr>
            <a:r>
              <a:rPr lang="zh-CN" altLang="en-US" dirty="0"/>
              <a:t>验证与执行</a:t>
            </a:r>
            <a:endParaRPr lang="en-US" altLang="zh-CN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277684" y="2710952"/>
            <a:ext cx="5803095" cy="218630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文本框 4"/>
          <p:cNvSpPr txBox="1"/>
          <p:nvPr/>
        </p:nvSpPr>
        <p:spPr>
          <a:xfrm>
            <a:off x="7972425" y="5002266"/>
            <a:ext cx="12618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/>
              <a:t>以太坊交易周期</a:t>
            </a:r>
          </a:p>
        </p:txBody>
      </p:sp>
    </p:spTree>
    <p:extLst>
      <p:ext uri="{BB962C8B-B14F-4D97-AF65-F5344CB8AC3E}">
        <p14:creationId xmlns:p14="http://schemas.microsoft.com/office/powerpoint/2010/main" val="4220734129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55A8A8-0864-814C-A327-6BBA68129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发起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57EA60E-053E-2142-8FE4-5A692A694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75</a:t>
            </a:fld>
            <a:endParaRPr kumimoji="1" lang="zh-CN" altLang="en-US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30000"/>
              </a:lnSpc>
            </a:pPr>
            <a:r>
              <a:rPr lang="zh-CN" altLang="en-US" dirty="0">
                <a:latin typeface="Garamond" panose="02020404030301010803" pitchFamily="18" charset="0"/>
              </a:rPr>
              <a:t>发起</a:t>
            </a:r>
            <a:endParaRPr lang="en-US" altLang="zh-CN" dirty="0">
              <a:latin typeface="Garamond" panose="02020404030301010803" pitchFamily="18" charset="0"/>
            </a:endParaRPr>
          </a:p>
          <a:p>
            <a:pPr lvl="1">
              <a:lnSpc>
                <a:spcPct val="130000"/>
              </a:lnSpc>
            </a:pPr>
            <a:r>
              <a:rPr lang="zh-CN" altLang="en-US" dirty="0">
                <a:latin typeface="Garamond" panose="02020404030301010803" pitchFamily="18" charset="0"/>
              </a:rPr>
              <a:t>设定交易内容</a:t>
            </a:r>
            <a:endParaRPr lang="en-US" altLang="zh-CN" dirty="0">
              <a:latin typeface="Garamond" panose="02020404030301010803" pitchFamily="18" charset="0"/>
            </a:endParaRPr>
          </a:p>
          <a:p>
            <a:pPr lvl="2">
              <a:lnSpc>
                <a:spcPct val="130000"/>
              </a:lnSpc>
            </a:pPr>
            <a:r>
              <a:rPr lang="zh-TW" altLang="zh-CN" dirty="0">
                <a:latin typeface="Garamond" panose="02020404030301010803" pitchFamily="18" charset="0"/>
              </a:rPr>
              <a:t>用户在本地的以太坊钱包软件中选择要发送交易的地址（</a:t>
            </a:r>
            <a:r>
              <a:rPr lang="en-US" altLang="zh-CN" dirty="0">
                <a:latin typeface="Garamond" panose="02020404030301010803" pitchFamily="18" charset="0"/>
              </a:rPr>
              <a:t>from</a:t>
            </a:r>
            <a:r>
              <a:rPr lang="zh-TW" altLang="zh-CN" dirty="0">
                <a:latin typeface="Garamond" panose="02020404030301010803" pitchFamily="18" charset="0"/>
              </a:rPr>
              <a:t>），输入目标地址（</a:t>
            </a:r>
            <a:r>
              <a:rPr lang="en-US" altLang="zh-CN" dirty="0">
                <a:latin typeface="Garamond" panose="02020404030301010803" pitchFamily="18" charset="0"/>
              </a:rPr>
              <a:t>to</a:t>
            </a:r>
            <a:r>
              <a:rPr lang="zh-TW" altLang="zh-CN" dirty="0">
                <a:latin typeface="Garamond" panose="02020404030301010803" pitchFamily="18" charset="0"/>
              </a:rPr>
              <a:t>）、金额（</a:t>
            </a:r>
            <a:r>
              <a:rPr lang="en-US" altLang="zh-CN" dirty="0">
                <a:latin typeface="Garamond" panose="02020404030301010803" pitchFamily="18" charset="0"/>
              </a:rPr>
              <a:t>value</a:t>
            </a:r>
            <a:r>
              <a:rPr lang="zh-TW" altLang="zh-CN" dirty="0">
                <a:latin typeface="Garamond" panose="02020404030301010803" pitchFamily="18" charset="0"/>
              </a:rPr>
              <a:t>）、是否部署或调用合约（</a:t>
            </a:r>
            <a:r>
              <a:rPr lang="en-US" altLang="zh-CN" dirty="0">
                <a:latin typeface="Garamond" panose="02020404030301010803" pitchFamily="18" charset="0"/>
              </a:rPr>
              <a:t>data</a:t>
            </a:r>
            <a:r>
              <a:rPr lang="zh-TW" altLang="zh-CN" dirty="0">
                <a:latin typeface="Garamond" panose="02020404030301010803" pitchFamily="18" charset="0"/>
              </a:rPr>
              <a:t>）、手续费单价（</a:t>
            </a:r>
            <a:r>
              <a:rPr lang="en-US" altLang="zh-CN" dirty="0" err="1">
                <a:latin typeface="Garamond" panose="02020404030301010803" pitchFamily="18" charset="0"/>
              </a:rPr>
              <a:t>gasPrice</a:t>
            </a:r>
            <a:r>
              <a:rPr lang="zh-TW" altLang="zh-CN" dirty="0">
                <a:latin typeface="Garamond" panose="02020404030301010803" pitchFamily="18" charset="0"/>
              </a:rPr>
              <a:t>）等</a:t>
            </a:r>
            <a:endParaRPr lang="en-US" altLang="zh-TW" dirty="0">
              <a:latin typeface="Garamond" panose="02020404030301010803" pitchFamily="18" charset="0"/>
            </a:endParaRPr>
          </a:p>
          <a:p>
            <a:pPr lvl="1">
              <a:lnSpc>
                <a:spcPct val="130000"/>
              </a:lnSpc>
            </a:pPr>
            <a:r>
              <a:rPr lang="zh-CN" altLang="en-US" dirty="0">
                <a:latin typeface="Garamond" panose="02020404030301010803" pitchFamily="18" charset="0"/>
              </a:rPr>
              <a:t>发起交易</a:t>
            </a:r>
            <a:endParaRPr lang="en-US" altLang="zh-CN" dirty="0">
              <a:latin typeface="Garamond" panose="02020404030301010803" pitchFamily="18" charset="0"/>
            </a:endParaRPr>
          </a:p>
          <a:p>
            <a:pPr lvl="2">
              <a:lnSpc>
                <a:spcPct val="130000"/>
              </a:lnSpc>
            </a:pPr>
            <a:r>
              <a:rPr lang="zh-CN" altLang="en-US" dirty="0">
                <a:latin typeface="Garamond" panose="02020404030301010803" pitchFamily="18" charset="0"/>
              </a:rPr>
              <a:t>用户</a:t>
            </a:r>
            <a:r>
              <a:rPr lang="zh-TW" altLang="zh-CN" dirty="0">
                <a:latin typeface="Garamond" panose="02020404030301010803" pitchFamily="18" charset="0"/>
              </a:rPr>
              <a:t>确认发送至以太坊节点，多个用户各自保有钱包私钥，而通过同一个以太坊节点广播交易</a:t>
            </a:r>
            <a:endParaRPr lang="en-US" altLang="zh-TW" dirty="0">
              <a:latin typeface="Garamond" panose="02020404030301010803" pitchFamily="18" charset="0"/>
            </a:endParaRPr>
          </a:p>
          <a:p>
            <a:pPr lvl="1">
              <a:lnSpc>
                <a:spcPct val="130000"/>
              </a:lnSpc>
            </a:pPr>
            <a:r>
              <a:rPr lang="zh-CN" altLang="en-US" dirty="0">
                <a:latin typeface="Garamond" panose="02020404030301010803" pitchFamily="18" charset="0"/>
              </a:rPr>
              <a:t>以太坊钱包软件补充内容</a:t>
            </a:r>
            <a:endParaRPr lang="en-US" altLang="zh-CN" dirty="0">
              <a:latin typeface="Garamond" panose="02020404030301010803" pitchFamily="18" charset="0"/>
            </a:endParaRPr>
          </a:p>
          <a:p>
            <a:pPr lvl="2">
              <a:lnSpc>
                <a:spcPct val="130000"/>
              </a:lnSpc>
            </a:pPr>
            <a:r>
              <a:rPr lang="zh-TW" altLang="zh-CN" dirty="0">
                <a:latin typeface="Garamond" panose="02020404030301010803" pitchFamily="18" charset="0"/>
              </a:rPr>
              <a:t>以太坊钱包软件将自动为用户得出交易所需的燃料上限（</a:t>
            </a:r>
            <a:r>
              <a:rPr lang="en-US" altLang="zh-CN" dirty="0" err="1">
                <a:latin typeface="Garamond" panose="02020404030301010803" pitchFamily="18" charset="0"/>
              </a:rPr>
              <a:t>gasLimit</a:t>
            </a:r>
            <a:r>
              <a:rPr lang="zh-TW" altLang="zh-CN" dirty="0">
                <a:latin typeface="Garamond" panose="02020404030301010803" pitchFamily="18" charset="0"/>
              </a:rPr>
              <a:t>），并给出用户地址对应的</a:t>
            </a:r>
            <a:r>
              <a:rPr lang="en-US" altLang="zh-CN" dirty="0">
                <a:latin typeface="Garamond" panose="02020404030301010803" pitchFamily="18" charset="0"/>
              </a:rPr>
              <a:t>nonce</a:t>
            </a:r>
            <a:r>
              <a:rPr lang="zh-TW" altLang="zh-CN" dirty="0">
                <a:latin typeface="Garamond" panose="02020404030301010803" pitchFamily="18" charset="0"/>
              </a:rPr>
              <a:t>值，最后使用私钥得到</a:t>
            </a:r>
            <a:r>
              <a:rPr lang="en-US" altLang="zh-CN" dirty="0">
                <a:latin typeface="Garamond" panose="02020404030301010803" pitchFamily="18" charset="0"/>
              </a:rPr>
              <a:t>r</a:t>
            </a:r>
            <a:r>
              <a:rPr lang="zh-TW" altLang="zh-CN" dirty="0">
                <a:latin typeface="Garamond" panose="02020404030301010803" pitchFamily="18" charset="0"/>
              </a:rPr>
              <a:t>、</a:t>
            </a:r>
            <a:r>
              <a:rPr lang="en-US" altLang="zh-CN" dirty="0">
                <a:latin typeface="Garamond" panose="02020404030301010803" pitchFamily="18" charset="0"/>
              </a:rPr>
              <a:t>s</a:t>
            </a:r>
            <a:r>
              <a:rPr lang="zh-TW" altLang="zh-CN" dirty="0">
                <a:latin typeface="Garamond" panose="02020404030301010803" pitchFamily="18" charset="0"/>
              </a:rPr>
              <a:t>、</a:t>
            </a:r>
            <a:r>
              <a:rPr lang="en-US" altLang="zh-CN" dirty="0">
                <a:latin typeface="Garamond" panose="02020404030301010803" pitchFamily="18" charset="0"/>
              </a:rPr>
              <a:t>v</a:t>
            </a:r>
            <a:r>
              <a:rPr lang="zh-TW" altLang="zh-CN" dirty="0">
                <a:latin typeface="Garamond" panose="02020404030301010803" pitchFamily="18" charset="0"/>
              </a:rPr>
              <a:t>，最终将交易序列化后发送到网络中</a:t>
            </a:r>
            <a:endParaRPr lang="en-US" altLang="zh-TW" dirty="0">
              <a:latin typeface="Garamond" panose="02020404030301010803" pitchFamily="18" charset="0"/>
            </a:endParaRPr>
          </a:p>
          <a:p>
            <a:pPr lvl="2">
              <a:lnSpc>
                <a:spcPct val="130000"/>
              </a:lnSpc>
            </a:pPr>
            <a:r>
              <a:rPr lang="zh-TW" altLang="zh-CN" dirty="0">
                <a:latin typeface="Garamond" panose="02020404030301010803" pitchFamily="18" charset="0"/>
              </a:rPr>
              <a:t>部分客户端中，</a:t>
            </a:r>
            <a:r>
              <a:rPr lang="en-US" altLang="zh-CN" dirty="0" err="1">
                <a:latin typeface="Garamond" panose="02020404030301010803" pitchFamily="18" charset="0"/>
              </a:rPr>
              <a:t>gasLimit</a:t>
            </a:r>
            <a:r>
              <a:rPr lang="zh-TW" altLang="zh-CN" dirty="0">
                <a:latin typeface="Garamond" panose="02020404030301010803" pitchFamily="18" charset="0"/>
              </a:rPr>
              <a:t>与</a:t>
            </a:r>
            <a:r>
              <a:rPr lang="en-US" altLang="zh-CN" dirty="0">
                <a:latin typeface="Garamond" panose="02020404030301010803" pitchFamily="18" charset="0"/>
              </a:rPr>
              <a:t>nonce</a:t>
            </a:r>
            <a:r>
              <a:rPr lang="zh-TW" altLang="zh-CN" dirty="0">
                <a:latin typeface="Garamond" panose="02020404030301010803" pitchFamily="18" charset="0"/>
              </a:rPr>
              <a:t>也可以是用户自定义的。</a:t>
            </a:r>
            <a:endParaRPr lang="en-US" altLang="zh-CN" dirty="0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0645005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55A8A8-0864-814C-A327-6BBA68129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广播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57EA60E-053E-2142-8FE4-5A692A694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76</a:t>
            </a:fld>
            <a:endParaRPr kumimoji="1" lang="zh-CN" altLang="en-US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dirty="0">
                <a:latin typeface="Garamond" panose="02020404030301010803" pitchFamily="18" charset="0"/>
              </a:rPr>
              <a:t>广播</a:t>
            </a:r>
            <a:endParaRPr lang="en-US" altLang="zh-CN" dirty="0">
              <a:latin typeface="Garamond" panose="02020404030301010803" pitchFamily="18" charset="0"/>
            </a:endParaRPr>
          </a:p>
          <a:p>
            <a:pPr lvl="1">
              <a:lnSpc>
                <a:spcPct val="130000"/>
              </a:lnSpc>
            </a:pPr>
            <a:r>
              <a:rPr lang="zh-TW" altLang="zh-CN" dirty="0">
                <a:latin typeface="Garamond" panose="02020404030301010803" pitchFamily="18" charset="0"/>
              </a:rPr>
              <a:t>节点收到（或自己发起）交易后，对交易进行验证</a:t>
            </a:r>
            <a:r>
              <a:rPr lang="zh-CN" altLang="zh-CN" dirty="0">
                <a:latin typeface="Garamond" panose="02020404030301010803" pitchFamily="18" charset="0"/>
              </a:rPr>
              <a:t> </a:t>
            </a:r>
            <a:endParaRPr lang="en-US" altLang="zh-CN" dirty="0">
              <a:latin typeface="Garamond" panose="02020404030301010803" pitchFamily="18" charset="0"/>
            </a:endParaRPr>
          </a:p>
          <a:p>
            <a:pPr lvl="1">
              <a:lnSpc>
                <a:spcPct val="130000"/>
              </a:lnSpc>
            </a:pPr>
            <a:r>
              <a:rPr lang="zh-TW" altLang="zh-CN" dirty="0">
                <a:latin typeface="Garamond" panose="02020404030301010803" pitchFamily="18" charset="0"/>
              </a:rPr>
              <a:t>节点验证交易为合法交易后，将交易加入节点的交易池中</a:t>
            </a:r>
            <a:r>
              <a:rPr lang="zh-CN" altLang="zh-CN" dirty="0">
                <a:latin typeface="Garamond" panose="02020404030301010803" pitchFamily="18" charset="0"/>
              </a:rPr>
              <a:t> </a:t>
            </a:r>
            <a:endParaRPr lang="en-US" altLang="zh-CN" dirty="0">
              <a:latin typeface="Garamond" panose="02020404030301010803" pitchFamily="18" charset="0"/>
            </a:endParaRPr>
          </a:p>
          <a:p>
            <a:pPr lvl="1">
              <a:lnSpc>
                <a:spcPct val="130000"/>
              </a:lnSpc>
            </a:pPr>
            <a:r>
              <a:rPr lang="zh-TW" altLang="zh-CN" dirty="0">
                <a:latin typeface="Garamond" panose="02020404030301010803" pitchFamily="18" charset="0"/>
              </a:rPr>
              <a:t>节点验证交易通过后，除了加入节点的交易池中，还会根据</a:t>
            </a:r>
            <a:r>
              <a:rPr lang="en-US" altLang="zh-CN" dirty="0">
                <a:latin typeface="Garamond" panose="02020404030301010803" pitchFamily="18" charset="0"/>
              </a:rPr>
              <a:t>P2P</a:t>
            </a:r>
            <a:r>
              <a:rPr lang="zh-TW" altLang="zh-CN" dirty="0">
                <a:latin typeface="Garamond" panose="02020404030301010803" pitchFamily="18" charset="0"/>
              </a:rPr>
              <a:t>网络广播的策略向相邻节点继续广播该交易</a:t>
            </a:r>
            <a:endParaRPr lang="zh-CN" altLang="zh-CN" dirty="0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3025210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55A8A8-0864-814C-A327-6BBA68129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打包与执行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57EA60E-053E-2142-8FE4-5A692A694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77</a:t>
            </a:fld>
            <a:endParaRPr kumimoji="1" lang="zh-CN" altLang="en-US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dirty="0">
                <a:latin typeface="Garamond" panose="02020404030301010803" pitchFamily="18" charset="0"/>
              </a:rPr>
              <a:t>交易类型：</a:t>
            </a:r>
            <a:r>
              <a:rPr lang="zh-TW" altLang="zh-CN" dirty="0">
                <a:latin typeface="Garamond" panose="02020404030301010803" pitchFamily="18" charset="0"/>
              </a:rPr>
              <a:t>根据</a:t>
            </a:r>
            <a:r>
              <a:rPr lang="en-US" altLang="zh-CN" dirty="0">
                <a:latin typeface="Garamond" panose="02020404030301010803" pitchFamily="18" charset="0"/>
              </a:rPr>
              <a:t>to</a:t>
            </a:r>
            <a:r>
              <a:rPr lang="zh-TW" altLang="zh-CN" dirty="0">
                <a:latin typeface="Garamond" panose="02020404030301010803" pitchFamily="18" charset="0"/>
              </a:rPr>
              <a:t>值的不同，将交易分为</a:t>
            </a:r>
            <a:r>
              <a:rPr lang="en-US" altLang="zh-CN" dirty="0">
                <a:latin typeface="Garamond" panose="02020404030301010803" pitchFamily="18" charset="0"/>
              </a:rPr>
              <a:t>3</a:t>
            </a:r>
            <a:r>
              <a:rPr lang="zh-CN" altLang="en-US" dirty="0">
                <a:latin typeface="Garamond" panose="02020404030301010803" pitchFamily="18" charset="0"/>
              </a:rPr>
              <a:t>种执行类型</a:t>
            </a:r>
            <a:endParaRPr lang="zh-CN" altLang="zh-CN" dirty="0">
              <a:latin typeface="Garamond" panose="02020404030301010803" pitchFamily="18" charset="0"/>
            </a:endParaRPr>
          </a:p>
          <a:p>
            <a:pPr lvl="1">
              <a:lnSpc>
                <a:spcPct val="130000"/>
              </a:lnSpc>
            </a:pPr>
            <a:r>
              <a:rPr lang="zh-TW" altLang="zh-CN" dirty="0">
                <a:latin typeface="Garamond" panose="02020404030301010803" pitchFamily="18" charset="0"/>
              </a:rPr>
              <a:t>普通转账交易</a:t>
            </a:r>
            <a:r>
              <a:rPr lang="zh-CN" altLang="zh-CN" dirty="0">
                <a:latin typeface="Garamond" panose="02020404030301010803" pitchFamily="18" charset="0"/>
              </a:rPr>
              <a:t> </a:t>
            </a:r>
            <a:endParaRPr lang="en-US" altLang="zh-TW" dirty="0">
              <a:latin typeface="Garamond" panose="02020404030301010803" pitchFamily="18" charset="0"/>
            </a:endParaRPr>
          </a:p>
          <a:p>
            <a:pPr lvl="1">
              <a:lnSpc>
                <a:spcPct val="130000"/>
              </a:lnSpc>
            </a:pPr>
            <a:r>
              <a:rPr lang="zh-TW" altLang="zh-CN" dirty="0">
                <a:latin typeface="Garamond" panose="02020404030301010803" pitchFamily="18" charset="0"/>
              </a:rPr>
              <a:t>创建合约交易</a:t>
            </a:r>
            <a:endParaRPr lang="en-US" altLang="zh-TW" dirty="0">
              <a:latin typeface="Garamond" panose="02020404030301010803" pitchFamily="18" charset="0"/>
            </a:endParaRPr>
          </a:p>
          <a:p>
            <a:pPr lvl="1">
              <a:lnSpc>
                <a:spcPct val="130000"/>
              </a:lnSpc>
            </a:pPr>
            <a:r>
              <a:rPr lang="zh-CN" altLang="en-US" dirty="0">
                <a:latin typeface="Garamond" panose="02020404030301010803" pitchFamily="18" charset="0"/>
              </a:rPr>
              <a:t>调用合约交易 </a:t>
            </a:r>
            <a:endParaRPr lang="en-US" altLang="zh-CN" dirty="0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5571339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55A8A8-0864-814C-A327-6BBA68129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打包与执行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57EA60E-053E-2142-8FE4-5A692A694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78</a:t>
            </a:fld>
            <a:endParaRPr kumimoji="1" lang="zh-CN" altLang="en-US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30000"/>
              </a:lnSpc>
            </a:pPr>
            <a:r>
              <a:rPr lang="zh-TW" altLang="zh-CN" dirty="0">
                <a:latin typeface="Garamond" panose="02020404030301010803" pitchFamily="18" charset="0"/>
              </a:rPr>
              <a:t>普通转账交易：</a:t>
            </a:r>
            <a:r>
              <a:rPr lang="en-US" altLang="zh-CN" dirty="0">
                <a:latin typeface="Garamond" panose="02020404030301010803" pitchFamily="18" charset="0"/>
              </a:rPr>
              <a:t>to</a:t>
            </a:r>
            <a:r>
              <a:rPr lang="zh-TW" altLang="zh-CN" dirty="0">
                <a:latin typeface="Garamond" panose="02020404030301010803" pitchFamily="18" charset="0"/>
              </a:rPr>
              <a:t>为</a:t>
            </a:r>
            <a:r>
              <a:rPr lang="zh-TW" altLang="zh-CN" b="1" dirty="0">
                <a:solidFill>
                  <a:srgbClr val="5B307E"/>
                </a:solidFill>
                <a:latin typeface="Garamond" panose="02020404030301010803" pitchFamily="18" charset="0"/>
              </a:rPr>
              <a:t>外部账户</a:t>
            </a:r>
            <a:r>
              <a:rPr lang="zh-TW" altLang="zh-CN" dirty="0">
                <a:latin typeface="Garamond" panose="02020404030301010803" pitchFamily="18" charset="0"/>
              </a:rPr>
              <a:t>的交易</a:t>
            </a:r>
            <a:endParaRPr lang="en-US" altLang="zh-TW" dirty="0">
              <a:latin typeface="Garamond" panose="02020404030301010803" pitchFamily="18" charset="0"/>
            </a:endParaRPr>
          </a:p>
          <a:p>
            <a:pPr lvl="1">
              <a:lnSpc>
                <a:spcPct val="130000"/>
              </a:lnSpc>
            </a:pPr>
            <a:r>
              <a:rPr lang="zh-TW" altLang="zh-CN" dirty="0">
                <a:latin typeface="Garamond" panose="02020404030301010803" pitchFamily="18" charset="0"/>
              </a:rPr>
              <a:t>直接将以太币金额从</a:t>
            </a:r>
            <a:r>
              <a:rPr lang="en-US" altLang="zh-CN" dirty="0">
                <a:latin typeface="Garamond" panose="02020404030301010803" pitchFamily="18" charset="0"/>
              </a:rPr>
              <a:t>from</a:t>
            </a:r>
            <a:r>
              <a:rPr lang="zh-TW" altLang="zh-CN" dirty="0">
                <a:latin typeface="Garamond" panose="02020404030301010803" pitchFamily="18" charset="0"/>
              </a:rPr>
              <a:t>转到</a:t>
            </a:r>
            <a:r>
              <a:rPr lang="en-US" altLang="zh-CN" dirty="0">
                <a:latin typeface="Garamond" panose="02020404030301010803" pitchFamily="18" charset="0"/>
              </a:rPr>
              <a:t>to</a:t>
            </a:r>
            <a:r>
              <a:rPr lang="zh-TW" altLang="zh-CN" dirty="0">
                <a:latin typeface="Garamond" panose="02020404030301010803" pitchFamily="18" charset="0"/>
              </a:rPr>
              <a:t>。</a:t>
            </a:r>
            <a:endParaRPr lang="zh-CN" altLang="zh-CN" dirty="0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1789786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55A8A8-0864-814C-A327-6BBA68129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打包与执行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57EA60E-053E-2142-8FE4-5A692A694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79</a:t>
            </a:fld>
            <a:endParaRPr kumimoji="1" lang="zh-CN" altLang="en-US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838200" y="1510758"/>
            <a:ext cx="10515600" cy="2335685"/>
          </a:xfrm>
        </p:spPr>
        <p:txBody>
          <a:bodyPr>
            <a:normAutofit/>
          </a:bodyPr>
          <a:lstStyle/>
          <a:p>
            <a:pPr>
              <a:lnSpc>
                <a:spcPct val="130000"/>
              </a:lnSpc>
            </a:pPr>
            <a:r>
              <a:rPr lang="zh-TW" altLang="zh-CN" dirty="0">
                <a:latin typeface="Garamond" panose="02020404030301010803" pitchFamily="18" charset="0"/>
              </a:rPr>
              <a:t>创建合约交易</a:t>
            </a:r>
            <a:r>
              <a:rPr lang="zh-CN" altLang="en-US" dirty="0">
                <a:latin typeface="Garamond" panose="02020404030301010803" pitchFamily="18" charset="0"/>
              </a:rPr>
              <a:t>：</a:t>
            </a:r>
            <a:r>
              <a:rPr lang="en-US" altLang="zh-CN" dirty="0">
                <a:latin typeface="Garamond" panose="02020404030301010803" pitchFamily="18" charset="0"/>
              </a:rPr>
              <a:t> to</a:t>
            </a:r>
            <a:r>
              <a:rPr lang="zh-TW" altLang="zh-CN" dirty="0">
                <a:latin typeface="Garamond" panose="02020404030301010803" pitchFamily="18" charset="0"/>
              </a:rPr>
              <a:t>为</a:t>
            </a:r>
            <a:r>
              <a:rPr lang="zh-TW" altLang="zh-CN" b="1" dirty="0">
                <a:solidFill>
                  <a:srgbClr val="5B307E"/>
                </a:solidFill>
                <a:latin typeface="Garamond" panose="02020404030301010803" pitchFamily="18" charset="0"/>
              </a:rPr>
              <a:t>空</a:t>
            </a:r>
            <a:r>
              <a:rPr lang="zh-TW" altLang="zh-CN" dirty="0">
                <a:latin typeface="Garamond" panose="02020404030301010803" pitchFamily="18" charset="0"/>
              </a:rPr>
              <a:t>的交易</a:t>
            </a:r>
            <a:r>
              <a:rPr lang="zh-CN" altLang="zh-CN" dirty="0">
                <a:latin typeface="Garamond" panose="02020404030301010803" pitchFamily="18" charset="0"/>
              </a:rPr>
              <a:t> </a:t>
            </a:r>
            <a:endParaRPr lang="en-US" altLang="zh-CN" dirty="0">
              <a:solidFill>
                <a:srgbClr val="C00000"/>
              </a:solidFill>
              <a:latin typeface="Garamond" panose="02020404030301010803" pitchFamily="18" charset="0"/>
            </a:endParaRPr>
          </a:p>
          <a:p>
            <a:pPr lvl="1">
              <a:lnSpc>
                <a:spcPct val="130000"/>
              </a:lnSpc>
            </a:pPr>
            <a:r>
              <a:rPr lang="en-US" altLang="zh-CN" dirty="0">
                <a:latin typeface="Garamond" panose="02020404030301010803" pitchFamily="18" charset="0"/>
              </a:rPr>
              <a:t>EVM</a:t>
            </a:r>
            <a:r>
              <a:rPr lang="zh-TW" altLang="zh-CN" dirty="0">
                <a:latin typeface="Garamond" panose="02020404030301010803" pitchFamily="18" charset="0"/>
              </a:rPr>
              <a:t>根据</a:t>
            </a:r>
            <a:r>
              <a:rPr lang="en-US" altLang="zh-CN" dirty="0">
                <a:latin typeface="Garamond" panose="02020404030301010803" pitchFamily="18" charset="0"/>
              </a:rPr>
              <a:t>from</a:t>
            </a:r>
            <a:r>
              <a:rPr lang="zh-TW" altLang="zh-CN" dirty="0">
                <a:latin typeface="Garamond" panose="02020404030301010803" pitchFamily="18" charset="0"/>
              </a:rPr>
              <a:t>值及</a:t>
            </a:r>
            <a:r>
              <a:rPr lang="en-US" altLang="zh-CN" dirty="0">
                <a:latin typeface="Garamond" panose="02020404030301010803" pitchFamily="18" charset="0"/>
              </a:rPr>
              <a:t>nonce</a:t>
            </a:r>
            <a:r>
              <a:rPr lang="zh-TW" altLang="zh-CN" dirty="0">
                <a:latin typeface="Garamond" panose="02020404030301010803" pitchFamily="18" charset="0"/>
              </a:rPr>
              <a:t>值生成合约地址</a:t>
            </a:r>
            <a:endParaRPr lang="en-US" altLang="zh-TW" dirty="0">
              <a:latin typeface="Garamond" panose="02020404030301010803" pitchFamily="18" charset="0"/>
            </a:endParaRPr>
          </a:p>
          <a:p>
            <a:pPr lvl="1">
              <a:lnSpc>
                <a:spcPct val="130000"/>
              </a:lnSpc>
            </a:pPr>
            <a:r>
              <a:rPr lang="zh-TW" altLang="zh-CN" dirty="0">
                <a:latin typeface="Garamond" panose="02020404030301010803" pitchFamily="18" charset="0"/>
              </a:rPr>
              <a:t>执行</a:t>
            </a:r>
            <a:r>
              <a:rPr lang="en-US" altLang="zh-CN" dirty="0">
                <a:latin typeface="Garamond" panose="02020404030301010803" pitchFamily="18" charset="0"/>
              </a:rPr>
              <a:t>data</a:t>
            </a:r>
            <a:r>
              <a:rPr lang="zh-TW" altLang="zh-CN" dirty="0">
                <a:latin typeface="Garamond" panose="02020404030301010803" pitchFamily="18" charset="0"/>
              </a:rPr>
              <a:t>中对应的智能合约代码</a:t>
            </a:r>
            <a:endParaRPr lang="en-US" altLang="zh-TW" dirty="0">
              <a:latin typeface="Garamond" panose="02020404030301010803" pitchFamily="18" charset="0"/>
            </a:endParaRPr>
          </a:p>
          <a:p>
            <a:pPr lvl="1">
              <a:lnSpc>
                <a:spcPct val="130000"/>
              </a:lnSpc>
            </a:pPr>
            <a:r>
              <a:rPr lang="zh-TW" altLang="zh-CN" dirty="0">
                <a:latin typeface="Garamond" panose="02020404030301010803" pitchFamily="18" charset="0"/>
              </a:rPr>
              <a:t>将合约</a:t>
            </a:r>
            <a:r>
              <a:rPr lang="en-US" altLang="zh-CN" dirty="0">
                <a:latin typeface="Garamond" panose="02020404030301010803" pitchFamily="18" charset="0"/>
              </a:rPr>
              <a:t>EVM</a:t>
            </a:r>
            <a:r>
              <a:rPr lang="zh-TW" altLang="zh-CN" dirty="0">
                <a:latin typeface="Garamond" panose="02020404030301010803" pitchFamily="18" charset="0"/>
              </a:rPr>
              <a:t>代码存储到合约地址中</a:t>
            </a:r>
            <a:r>
              <a:rPr lang="zh-CN" altLang="zh-CN" dirty="0"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72575815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55A8A8-0864-814C-A327-6BBA68129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打包与执行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57EA60E-053E-2142-8FE4-5A692A694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80</a:t>
            </a:fld>
            <a:endParaRPr kumimoji="1" lang="zh-CN" altLang="en-US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dirty="0">
                <a:latin typeface="Garamond" panose="02020404030301010803" pitchFamily="18" charset="0"/>
              </a:rPr>
              <a:t>调用合约交易：</a:t>
            </a:r>
            <a:r>
              <a:rPr lang="en-US" altLang="zh-CN" dirty="0">
                <a:latin typeface="Garamond" panose="02020404030301010803" pitchFamily="18" charset="0"/>
              </a:rPr>
              <a:t>to</a:t>
            </a:r>
            <a:r>
              <a:rPr lang="zh-TW" altLang="zh-CN" dirty="0">
                <a:latin typeface="Garamond" panose="02020404030301010803" pitchFamily="18" charset="0"/>
              </a:rPr>
              <a:t>为</a:t>
            </a:r>
            <a:r>
              <a:rPr lang="zh-TW" altLang="zh-CN" b="1" dirty="0">
                <a:solidFill>
                  <a:srgbClr val="5B307E"/>
                </a:solidFill>
                <a:latin typeface="Garamond" panose="02020404030301010803" pitchFamily="18" charset="0"/>
              </a:rPr>
              <a:t>合约账户</a:t>
            </a:r>
            <a:r>
              <a:rPr lang="zh-TW" altLang="zh-CN" dirty="0">
                <a:latin typeface="Garamond" panose="02020404030301010803" pitchFamily="18" charset="0"/>
              </a:rPr>
              <a:t>的交易</a:t>
            </a:r>
            <a:endParaRPr lang="en-US" altLang="zh-TW" dirty="0">
              <a:latin typeface="Garamond" panose="02020404030301010803" pitchFamily="18" charset="0"/>
            </a:endParaRPr>
          </a:p>
          <a:p>
            <a:pPr lvl="1">
              <a:lnSpc>
                <a:spcPct val="130000"/>
              </a:lnSpc>
            </a:pPr>
            <a:r>
              <a:rPr lang="en-US" altLang="zh-CN" dirty="0">
                <a:latin typeface="Garamond" panose="02020404030301010803" pitchFamily="18" charset="0"/>
              </a:rPr>
              <a:t>EVM</a:t>
            </a:r>
            <a:r>
              <a:rPr lang="zh-TW" altLang="zh-CN" dirty="0">
                <a:latin typeface="Garamond" panose="02020404030301010803" pitchFamily="18" charset="0"/>
              </a:rPr>
              <a:t>将从世界状态中获取</a:t>
            </a:r>
            <a:r>
              <a:rPr lang="en-US" altLang="zh-CN" dirty="0">
                <a:latin typeface="Garamond" panose="02020404030301010803" pitchFamily="18" charset="0"/>
              </a:rPr>
              <a:t>to</a:t>
            </a:r>
            <a:r>
              <a:rPr lang="zh-TW" altLang="zh-CN" dirty="0">
                <a:latin typeface="Garamond" panose="02020404030301010803" pitchFamily="18" charset="0"/>
              </a:rPr>
              <a:t>地址中存储的</a:t>
            </a:r>
            <a:r>
              <a:rPr lang="en-US" altLang="zh-CN" dirty="0">
                <a:latin typeface="Garamond" panose="02020404030301010803" pitchFamily="18" charset="0"/>
              </a:rPr>
              <a:t>EVM</a:t>
            </a:r>
            <a:r>
              <a:rPr lang="zh-TW" altLang="zh-CN" dirty="0">
                <a:latin typeface="Garamond" panose="02020404030301010803" pitchFamily="18" charset="0"/>
              </a:rPr>
              <a:t>代码</a:t>
            </a:r>
            <a:endParaRPr lang="en-US" altLang="zh-TW" dirty="0">
              <a:latin typeface="Garamond" panose="02020404030301010803" pitchFamily="18" charset="0"/>
            </a:endParaRPr>
          </a:p>
          <a:p>
            <a:pPr lvl="2">
              <a:lnSpc>
                <a:spcPct val="130000"/>
              </a:lnSpc>
            </a:pPr>
            <a:r>
              <a:rPr lang="en-US" altLang="zh-CN" dirty="0">
                <a:latin typeface="Garamond" panose="02020404030301010803" pitchFamily="18" charset="0"/>
              </a:rPr>
              <a:t>to</a:t>
            </a:r>
            <a:r>
              <a:rPr lang="zh-TW" altLang="zh-CN" dirty="0">
                <a:latin typeface="Garamond" panose="02020404030301010803" pitchFamily="18" charset="0"/>
              </a:rPr>
              <a:t>地址中存储的是合约本身</a:t>
            </a:r>
            <a:endParaRPr lang="en-US" altLang="zh-TW" dirty="0">
              <a:latin typeface="Garamond" panose="02020404030301010803" pitchFamily="18" charset="0"/>
            </a:endParaRPr>
          </a:p>
          <a:p>
            <a:pPr lvl="1">
              <a:lnSpc>
                <a:spcPct val="130000"/>
              </a:lnSpc>
            </a:pPr>
            <a:r>
              <a:rPr lang="zh-TW" altLang="zh-CN" dirty="0">
                <a:latin typeface="Garamond" panose="02020404030301010803" pitchFamily="18" charset="0"/>
              </a:rPr>
              <a:t>执行交易的</a:t>
            </a:r>
            <a:r>
              <a:rPr lang="en-US" altLang="zh-CN" dirty="0">
                <a:latin typeface="Garamond" panose="02020404030301010803" pitchFamily="18" charset="0"/>
              </a:rPr>
              <a:t>data</a:t>
            </a:r>
            <a:r>
              <a:rPr lang="zh-TW" altLang="zh-CN" dirty="0">
                <a:latin typeface="Garamond" panose="02020404030301010803" pitchFamily="18" charset="0"/>
              </a:rPr>
              <a:t>字段中包含的代码</a:t>
            </a:r>
            <a:endParaRPr lang="en-US" altLang="zh-TW" dirty="0">
              <a:latin typeface="Garamond" panose="02020404030301010803" pitchFamily="18" charset="0"/>
            </a:endParaRPr>
          </a:p>
          <a:p>
            <a:pPr lvl="2">
              <a:lnSpc>
                <a:spcPct val="130000"/>
              </a:lnSpc>
            </a:pPr>
            <a:r>
              <a:rPr lang="en-US" altLang="zh-CN" dirty="0">
                <a:latin typeface="Garamond" panose="02020404030301010803" pitchFamily="18" charset="0"/>
              </a:rPr>
              <a:t>data</a:t>
            </a:r>
            <a:r>
              <a:rPr lang="zh-TW" altLang="zh-CN" dirty="0">
                <a:latin typeface="Garamond" panose="02020404030301010803" pitchFamily="18" charset="0"/>
              </a:rPr>
              <a:t>中则包含了调用合约的相应函数及其参数</a:t>
            </a:r>
            <a:endParaRPr lang="en-US" altLang="zh-TW" dirty="0">
              <a:latin typeface="Garamond" panose="02020404030301010803" pitchFamily="18" charset="0"/>
            </a:endParaRPr>
          </a:p>
          <a:p>
            <a:pPr lvl="1">
              <a:lnSpc>
                <a:spcPct val="130000"/>
              </a:lnSpc>
            </a:pPr>
            <a:r>
              <a:rPr lang="zh-TW" altLang="zh-CN" dirty="0">
                <a:latin typeface="Garamond" panose="02020404030301010803" pitchFamily="18" charset="0"/>
              </a:rPr>
              <a:t>本质上讲，对合约的调用，是</a:t>
            </a:r>
            <a:r>
              <a:rPr lang="zh-TW" altLang="zh-CN" b="1" dirty="0">
                <a:solidFill>
                  <a:srgbClr val="5B307E"/>
                </a:solidFill>
                <a:latin typeface="Garamond" panose="02020404030301010803" pitchFamily="18" charset="0"/>
              </a:rPr>
              <a:t>对合约</a:t>
            </a:r>
            <a:r>
              <a:rPr lang="zh-CN" altLang="en-US" b="1" dirty="0">
                <a:solidFill>
                  <a:srgbClr val="5B307E"/>
                </a:solidFill>
                <a:latin typeface="Garamond" panose="02020404030301010803" pitchFamily="18" charset="0"/>
              </a:rPr>
              <a:t>账户</a:t>
            </a:r>
            <a:r>
              <a:rPr lang="zh-TW" altLang="zh-CN" b="1" dirty="0">
                <a:solidFill>
                  <a:srgbClr val="5B307E"/>
                </a:solidFill>
                <a:latin typeface="Garamond" panose="02020404030301010803" pitchFamily="18" charset="0"/>
              </a:rPr>
              <a:t>状态</a:t>
            </a:r>
            <a:r>
              <a:rPr lang="zh-CN" altLang="en-US" b="1" dirty="0">
                <a:solidFill>
                  <a:srgbClr val="5B307E"/>
                </a:solidFill>
                <a:latin typeface="Garamond" panose="02020404030301010803" pitchFamily="18" charset="0"/>
              </a:rPr>
              <a:t>数据</a:t>
            </a:r>
            <a:r>
              <a:rPr lang="zh-TW" altLang="zh-CN" b="1" dirty="0">
                <a:solidFill>
                  <a:srgbClr val="5B307E"/>
                </a:solidFill>
                <a:latin typeface="Garamond" panose="02020404030301010803" pitchFamily="18" charset="0"/>
              </a:rPr>
              <a:t>的修改</a:t>
            </a:r>
            <a:r>
              <a:rPr lang="zh-TW" altLang="zh-CN" dirty="0">
                <a:latin typeface="Garamond" panose="02020404030301010803" pitchFamily="18" charset="0"/>
              </a:rPr>
              <a:t>。</a:t>
            </a:r>
            <a:r>
              <a:rPr lang="zh-CN" altLang="zh-CN" dirty="0">
                <a:latin typeface="Garamond" panose="02020404030301010803" pitchFamily="18" charset="0"/>
              </a:rPr>
              <a:t> </a:t>
            </a:r>
            <a:endParaRPr lang="en-US" altLang="zh-TW" dirty="0">
              <a:latin typeface="Garamond" panose="02020404030301010803" pitchFamily="18" charset="0"/>
            </a:endParaRPr>
          </a:p>
          <a:p>
            <a:pPr marL="457200" lvl="1" indent="0">
              <a:lnSpc>
                <a:spcPct val="130000"/>
              </a:lnSpc>
              <a:buNone/>
            </a:pPr>
            <a:endParaRPr lang="en-US" altLang="zh-TW" dirty="0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8906814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7EFC88-15A8-8F47-A008-BBB6B0BEC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总结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D01C0D4-2EC3-7D4D-AAC5-3C4CCB3DBC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kumimoji="1" lang="zh-CN" altLang="en-US" dirty="0"/>
              <a:t>以太坊的智能合约基本原理</a:t>
            </a:r>
            <a:endParaRPr kumimoji="1" lang="en-US" altLang="zh-CN" dirty="0"/>
          </a:p>
          <a:p>
            <a:pPr>
              <a:lnSpc>
                <a:spcPct val="120000"/>
              </a:lnSpc>
            </a:pPr>
            <a:r>
              <a:rPr kumimoji="1" lang="zh-CN" altLang="en-US"/>
              <a:t>以太坊的交易结构及汽油费</a:t>
            </a:r>
            <a:endParaRPr kumimoji="1"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FE33C2B-DFEA-AB45-B09F-58B1C2A16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81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974612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灰度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11141</TotalTime>
  <Words>5445</Words>
  <Application>Microsoft Office PowerPoint</Application>
  <PresentationFormat>宽屏</PresentationFormat>
  <Paragraphs>663</Paragraphs>
  <Slides>82</Slides>
  <Notes>80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82</vt:i4>
      </vt:variant>
    </vt:vector>
  </HeadingPairs>
  <TitlesOfParts>
    <vt:vector size="93" baseType="lpstr">
      <vt:lpstr>Arial Unicode MS</vt:lpstr>
      <vt:lpstr>LXGW WenKai</vt:lpstr>
      <vt:lpstr>等线</vt:lpstr>
      <vt:lpstr>微软雅黑</vt:lpstr>
      <vt:lpstr>微软雅黑</vt:lpstr>
      <vt:lpstr>Arial</vt:lpstr>
      <vt:lpstr>Calibri</vt:lpstr>
      <vt:lpstr>Garamond</vt:lpstr>
      <vt:lpstr>Times New Roman</vt:lpstr>
      <vt:lpstr>Wingdings</vt:lpstr>
      <vt:lpstr>Office 主题​​</vt:lpstr>
      <vt:lpstr>第五章 以太坊 ——智能合约及交易结构</vt:lpstr>
      <vt:lpstr>本章内容</vt:lpstr>
      <vt:lpstr>智能合约</vt:lpstr>
      <vt:lpstr>智能合约</vt:lpstr>
      <vt:lpstr>智能合约</vt:lpstr>
      <vt:lpstr>智能合约</vt:lpstr>
      <vt:lpstr>合约账户与数据存储</vt:lpstr>
      <vt:lpstr>合约账户与数据存储</vt:lpstr>
      <vt:lpstr>合约账户与数据存储</vt:lpstr>
      <vt:lpstr>合约地址的生成</vt:lpstr>
      <vt:lpstr>合约地址的生成</vt:lpstr>
      <vt:lpstr>合约地址的生成</vt:lpstr>
      <vt:lpstr>驱动智能合约</vt:lpstr>
      <vt:lpstr>调用合约</vt:lpstr>
      <vt:lpstr>调用合约</vt:lpstr>
      <vt:lpstr>调用合约</vt:lpstr>
      <vt:lpstr>调用合约</vt:lpstr>
      <vt:lpstr>调用合约</vt:lpstr>
      <vt:lpstr>创建合约</vt:lpstr>
      <vt:lpstr>创建合约</vt:lpstr>
      <vt:lpstr>创建合约</vt:lpstr>
      <vt:lpstr>停机问题与Gas</vt:lpstr>
      <vt:lpstr>停机问题与Gas</vt:lpstr>
      <vt:lpstr>Gas值</vt:lpstr>
      <vt:lpstr>以太坊虚拟机</vt:lpstr>
      <vt:lpstr>以太坊虚拟机</vt:lpstr>
      <vt:lpstr>以太坊虚拟机</vt:lpstr>
      <vt:lpstr>Solidity语言</vt:lpstr>
      <vt:lpstr>常用类型</vt:lpstr>
      <vt:lpstr>常用类型</vt:lpstr>
      <vt:lpstr>常用类型</vt:lpstr>
      <vt:lpstr>常用类型</vt:lpstr>
      <vt:lpstr>常用类型</vt:lpstr>
      <vt:lpstr>常用类型</vt:lpstr>
      <vt:lpstr>常用类型</vt:lpstr>
      <vt:lpstr>常用类型</vt:lpstr>
      <vt:lpstr>常用类型</vt:lpstr>
      <vt:lpstr>函数类型</vt:lpstr>
      <vt:lpstr>函数类型</vt:lpstr>
      <vt:lpstr>特殊变量</vt:lpstr>
      <vt:lpstr>特殊变量</vt:lpstr>
      <vt:lpstr>特殊变量</vt:lpstr>
      <vt:lpstr>特殊变量</vt:lpstr>
      <vt:lpstr>特殊变量</vt:lpstr>
      <vt:lpstr>事件日志</vt:lpstr>
      <vt:lpstr>事件日志</vt:lpstr>
      <vt:lpstr>事件日志</vt:lpstr>
      <vt:lpstr>事件日志</vt:lpstr>
      <vt:lpstr>事件日志</vt:lpstr>
      <vt:lpstr>事件日志</vt:lpstr>
      <vt:lpstr>事件日志</vt:lpstr>
      <vt:lpstr>错误处理</vt:lpstr>
      <vt:lpstr>错误处理</vt:lpstr>
      <vt:lpstr>错误处理</vt:lpstr>
      <vt:lpstr>错误处理</vt:lpstr>
      <vt:lpstr>错误处理</vt:lpstr>
      <vt:lpstr>公开竞拍示例</vt:lpstr>
      <vt:lpstr>公开竞拍示例</vt:lpstr>
      <vt:lpstr>交易驱动的状态机</vt:lpstr>
      <vt:lpstr>本章内容</vt:lpstr>
      <vt:lpstr>状态模型</vt:lpstr>
      <vt:lpstr>状态模型</vt:lpstr>
      <vt:lpstr>交易内容</vt:lpstr>
      <vt:lpstr>交易内容</vt:lpstr>
      <vt:lpstr>交易结构</vt:lpstr>
      <vt:lpstr>交易内容</vt:lpstr>
      <vt:lpstr>交易内容</vt:lpstr>
      <vt:lpstr>交易内容</vt:lpstr>
      <vt:lpstr>交易费用</vt:lpstr>
      <vt:lpstr>交易费用</vt:lpstr>
      <vt:lpstr>交易费用</vt:lpstr>
      <vt:lpstr>交易费用</vt:lpstr>
      <vt:lpstr>交易费用</vt:lpstr>
      <vt:lpstr>区块费用</vt:lpstr>
      <vt:lpstr>交易的周期</vt:lpstr>
      <vt:lpstr>发起</vt:lpstr>
      <vt:lpstr>广播</vt:lpstr>
      <vt:lpstr>打包与执行</vt:lpstr>
      <vt:lpstr>打包与执行</vt:lpstr>
      <vt:lpstr>打包与执行</vt:lpstr>
      <vt:lpstr>打包与执行</vt:lpstr>
      <vt:lpstr>总结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Yong Cui</dc:creator>
  <cp:lastModifiedBy>h 侯璐</cp:lastModifiedBy>
  <cp:revision>1629</cp:revision>
  <dcterms:created xsi:type="dcterms:W3CDTF">2021-01-06T05:35:51Z</dcterms:created>
  <dcterms:modified xsi:type="dcterms:W3CDTF">2025-05-20T14:55:57Z</dcterms:modified>
</cp:coreProperties>
</file>