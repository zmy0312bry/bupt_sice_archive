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53"/>
  </p:notesMasterIdLst>
  <p:sldIdLst>
    <p:sldId id="1257" r:id="rId2"/>
    <p:sldId id="1261" r:id="rId3"/>
    <p:sldId id="353" r:id="rId4"/>
    <p:sldId id="341" r:id="rId5"/>
    <p:sldId id="1258" r:id="rId6"/>
    <p:sldId id="1259" r:id="rId7"/>
    <p:sldId id="1351" r:id="rId8"/>
    <p:sldId id="1352" r:id="rId9"/>
    <p:sldId id="1262" r:id="rId10"/>
    <p:sldId id="1260" r:id="rId11"/>
    <p:sldId id="1275" r:id="rId12"/>
    <p:sldId id="1263" r:id="rId13"/>
    <p:sldId id="1276" r:id="rId14"/>
    <p:sldId id="1264" r:id="rId15"/>
    <p:sldId id="1277" r:id="rId16"/>
    <p:sldId id="1265" r:id="rId17"/>
    <p:sldId id="1350" r:id="rId18"/>
    <p:sldId id="1267" r:id="rId19"/>
    <p:sldId id="1268" r:id="rId20"/>
    <p:sldId id="1269" r:id="rId21"/>
    <p:sldId id="1270" r:id="rId22"/>
    <p:sldId id="1272" r:id="rId23"/>
    <p:sldId id="1271" r:id="rId24"/>
    <p:sldId id="1273" r:id="rId25"/>
    <p:sldId id="1274" r:id="rId26"/>
    <p:sldId id="1357" r:id="rId27"/>
    <p:sldId id="1358" r:id="rId28"/>
    <p:sldId id="1278" r:id="rId29"/>
    <p:sldId id="1355" r:id="rId30"/>
    <p:sldId id="1353" r:id="rId31"/>
    <p:sldId id="1332" r:id="rId32"/>
    <p:sldId id="1333" r:id="rId33"/>
    <p:sldId id="1331" r:id="rId34"/>
    <p:sldId id="1335" r:id="rId35"/>
    <p:sldId id="1336" r:id="rId36"/>
    <p:sldId id="1337" r:id="rId37"/>
    <p:sldId id="1338" r:id="rId38"/>
    <p:sldId id="1339" r:id="rId39"/>
    <p:sldId id="1340" r:id="rId40"/>
    <p:sldId id="1341" r:id="rId41"/>
    <p:sldId id="1347" r:id="rId42"/>
    <p:sldId id="1342" r:id="rId43"/>
    <p:sldId id="1343" r:id="rId44"/>
    <p:sldId id="1344" r:id="rId45"/>
    <p:sldId id="1356" r:id="rId46"/>
    <p:sldId id="1334" r:id="rId47"/>
    <p:sldId id="1348" r:id="rId48"/>
    <p:sldId id="1345" r:id="rId49"/>
    <p:sldId id="1346" r:id="rId50"/>
    <p:sldId id="1359" r:id="rId51"/>
    <p:sldId id="994"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261"/>
            <p14:sldId id="353"/>
            <p14:sldId id="341"/>
            <p14:sldId id="1258"/>
            <p14:sldId id="1259"/>
            <p14:sldId id="1351"/>
            <p14:sldId id="1352"/>
            <p14:sldId id="1262"/>
            <p14:sldId id="1260"/>
            <p14:sldId id="1275"/>
            <p14:sldId id="1263"/>
            <p14:sldId id="1276"/>
            <p14:sldId id="1264"/>
            <p14:sldId id="1277"/>
            <p14:sldId id="1265"/>
            <p14:sldId id="1350"/>
            <p14:sldId id="1267"/>
            <p14:sldId id="1268"/>
            <p14:sldId id="1269"/>
            <p14:sldId id="1270"/>
            <p14:sldId id="1272"/>
            <p14:sldId id="1271"/>
            <p14:sldId id="1273"/>
            <p14:sldId id="1274"/>
            <p14:sldId id="1357"/>
            <p14:sldId id="1358"/>
            <p14:sldId id="1278"/>
            <p14:sldId id="1355"/>
            <p14:sldId id="1353"/>
            <p14:sldId id="1332"/>
            <p14:sldId id="1333"/>
            <p14:sldId id="1331"/>
            <p14:sldId id="1335"/>
            <p14:sldId id="1336"/>
            <p14:sldId id="1337"/>
            <p14:sldId id="1338"/>
            <p14:sldId id="1339"/>
            <p14:sldId id="1340"/>
            <p14:sldId id="1341"/>
            <p14:sldId id="1347"/>
            <p14:sldId id="1342"/>
            <p14:sldId id="1343"/>
            <p14:sldId id="1344"/>
            <p14:sldId id="1356"/>
            <p14:sldId id="1334"/>
            <p14:sldId id="1348"/>
            <p14:sldId id="1345"/>
            <p14:sldId id="1346"/>
            <p14:sldId id="1359"/>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FCDC"/>
    <a:srgbClr val="EE6C4D"/>
    <a:srgbClr val="0000CC"/>
    <a:srgbClr val="0081A7"/>
    <a:srgbClr val="00AFB9"/>
    <a:srgbClr val="0000FF"/>
    <a:srgbClr val="B962FF"/>
    <a:srgbClr val="FDCB0B"/>
    <a:srgbClr val="FFD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8"/>
    <p:restoredTop sz="88282" autoAdjust="0"/>
  </p:normalViewPr>
  <p:slideViewPr>
    <p:cSldViewPr snapToGrid="0" snapToObjects="1">
      <p:cViewPr varScale="1">
        <p:scale>
          <a:sx n="110" d="100"/>
          <a:sy n="110" d="100"/>
        </p:scale>
        <p:origin x="936" y="184"/>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2026/5/22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extLst>
      <p:ext uri="{BB962C8B-B14F-4D97-AF65-F5344CB8AC3E}">
        <p14:creationId xmlns:p14="http://schemas.microsoft.com/office/powerpoint/2010/main" val="1111909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extLst>
      <p:ext uri="{BB962C8B-B14F-4D97-AF65-F5344CB8AC3E}">
        <p14:creationId xmlns:p14="http://schemas.microsoft.com/office/powerpoint/2010/main" val="1605687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extLst>
      <p:ext uri="{BB962C8B-B14F-4D97-AF65-F5344CB8AC3E}">
        <p14:creationId xmlns:p14="http://schemas.microsoft.com/office/powerpoint/2010/main" val="2366757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1191599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3761598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3701662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1980300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1763572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570100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1773198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820504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3314905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3351684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2096406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7424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1091003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4022752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692465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3743558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10443152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19103970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16318545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extLst>
      <p:ext uri="{BB962C8B-B14F-4D97-AF65-F5344CB8AC3E}">
        <p14:creationId xmlns:p14="http://schemas.microsoft.com/office/powerpoint/2010/main" val="3096778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1521046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4770529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1093795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3976951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33942601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39134875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31115382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23209997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10139072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34250170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22327855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8276472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24101845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5730130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6860935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24347627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38723249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29089635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extLst>
      <p:ext uri="{BB962C8B-B14F-4D97-AF65-F5344CB8AC3E}">
        <p14:creationId xmlns:p14="http://schemas.microsoft.com/office/powerpoint/2010/main" val="4809259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44</a:t>
            </a:fld>
            <a:endParaRPr kumimoji="1" lang="zh-CN" altLang="en-US"/>
          </a:p>
        </p:txBody>
      </p:sp>
    </p:spTree>
    <p:extLst>
      <p:ext uri="{BB962C8B-B14F-4D97-AF65-F5344CB8AC3E}">
        <p14:creationId xmlns:p14="http://schemas.microsoft.com/office/powerpoint/2010/main" val="39673501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extLst>
      <p:ext uri="{BB962C8B-B14F-4D97-AF65-F5344CB8AC3E}">
        <p14:creationId xmlns:p14="http://schemas.microsoft.com/office/powerpoint/2010/main" val="1263338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46</a:t>
            </a:fld>
            <a:endParaRPr kumimoji="1" lang="zh-CN" altLang="en-US"/>
          </a:p>
        </p:txBody>
      </p:sp>
    </p:spTree>
    <p:extLst>
      <p:ext uri="{BB962C8B-B14F-4D97-AF65-F5344CB8AC3E}">
        <p14:creationId xmlns:p14="http://schemas.microsoft.com/office/powerpoint/2010/main" val="40734526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47</a:t>
            </a:fld>
            <a:endParaRPr kumimoji="1" lang="zh-CN" altLang="en-US"/>
          </a:p>
        </p:txBody>
      </p:sp>
    </p:spTree>
    <p:extLst>
      <p:ext uri="{BB962C8B-B14F-4D97-AF65-F5344CB8AC3E}">
        <p14:creationId xmlns:p14="http://schemas.microsoft.com/office/powerpoint/2010/main" val="17443433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524138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49</a:t>
            </a:fld>
            <a:endParaRPr kumimoji="1" lang="zh-CN" altLang="en-US"/>
          </a:p>
        </p:txBody>
      </p:sp>
    </p:spTree>
    <p:extLst>
      <p:ext uri="{BB962C8B-B14F-4D97-AF65-F5344CB8AC3E}">
        <p14:creationId xmlns:p14="http://schemas.microsoft.com/office/powerpoint/2010/main" val="39654836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8"/>
            <a:ext cx="8938039"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区块链原理与技术</a:t>
            </a:r>
          </a:p>
        </p:txBody>
      </p:sp>
      <p:pic>
        <p:nvPicPr>
          <p:cNvPr id="9" name="图片 8">
            <a:extLst>
              <a:ext uri="{FF2B5EF4-FFF2-40B4-BE49-F238E27FC236}">
                <a16:creationId xmlns:a16="http://schemas.microsoft.com/office/drawing/2014/main" id="{4F642740-0C37-4CC2-A867-A9457DA8012A}"/>
              </a:ext>
            </a:extLst>
          </p:cNvPr>
          <p:cNvPicPr>
            <a:picLocks noChangeAspect="1"/>
          </p:cNvPicPr>
          <p:nvPr userDrawn="1"/>
        </p:nvPicPr>
        <p:blipFill>
          <a:blip r:embed="rId2"/>
          <a:stretch>
            <a:fillRect/>
          </a:stretch>
        </p:blipFill>
        <p:spPr>
          <a:xfrm>
            <a:off x="9179859" y="-10825"/>
            <a:ext cx="3012141" cy="90415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479A4E1F-B48A-45F9-A570-AE56D115EC21}"/>
              </a:ext>
            </a:extLst>
          </p:cNvPr>
          <p:cNvPicPr>
            <a:picLocks noChangeAspect="1"/>
          </p:cNvPicPr>
          <p:nvPr userDrawn="1"/>
        </p:nvPicPr>
        <p:blipFill>
          <a:blip r:embed="rId2"/>
          <a:stretch>
            <a:fillRect/>
          </a:stretch>
        </p:blipFill>
        <p:spPr>
          <a:xfrm flipH="1">
            <a:off x="667831" y="535244"/>
            <a:ext cx="509314" cy="511567"/>
          </a:xfrm>
          <a:prstGeom prst="rect">
            <a:avLst/>
          </a:prstGeom>
        </p:spPr>
      </p:pic>
      <p:pic>
        <p:nvPicPr>
          <p:cNvPr id="9" name="图片 8">
            <a:extLst>
              <a:ext uri="{FF2B5EF4-FFF2-40B4-BE49-F238E27FC236}">
                <a16:creationId xmlns:a16="http://schemas.microsoft.com/office/drawing/2014/main" id="{FE393C34-9723-41FA-B8BE-899008CF761D}"/>
              </a:ext>
            </a:extLst>
          </p:cNvPr>
          <p:cNvPicPr>
            <a:picLocks noChangeAspect="1"/>
          </p:cNvPicPr>
          <p:nvPr userDrawn="1"/>
        </p:nvPicPr>
        <p:blipFill>
          <a:blip r:embed="rId3"/>
          <a:stretch>
            <a:fillRect/>
          </a:stretch>
        </p:blipFill>
        <p:spPr>
          <a:xfrm>
            <a:off x="9751203" y="420369"/>
            <a:ext cx="2266577" cy="680357"/>
          </a:xfrm>
          <a:prstGeom prst="rect">
            <a:avLst/>
          </a:prstGeom>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36006"/>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3" name="图片 22">
            <a:extLst>
              <a:ext uri="{FF2B5EF4-FFF2-40B4-BE49-F238E27FC236}">
                <a16:creationId xmlns:a16="http://schemas.microsoft.com/office/drawing/2014/main" id="{479A4E1F-B48A-45F9-A570-AE56D115EC21}"/>
              </a:ext>
            </a:extLst>
          </p:cNvPr>
          <p:cNvPicPr>
            <a:picLocks noChangeAspect="1"/>
          </p:cNvPicPr>
          <p:nvPr userDrawn="1"/>
        </p:nvPicPr>
        <p:blipFill>
          <a:blip r:embed="rId2"/>
          <a:stretch>
            <a:fillRect/>
          </a:stretch>
        </p:blipFill>
        <p:spPr>
          <a:xfrm flipH="1">
            <a:off x="667831" y="535244"/>
            <a:ext cx="509314" cy="511567"/>
          </a:xfrm>
          <a:prstGeom prst="rect">
            <a:avLst/>
          </a:prstGeom>
        </p:spPr>
      </p:pic>
      <p:pic>
        <p:nvPicPr>
          <p:cNvPr id="22" name="图片 21">
            <a:extLst>
              <a:ext uri="{FF2B5EF4-FFF2-40B4-BE49-F238E27FC236}">
                <a16:creationId xmlns:a16="http://schemas.microsoft.com/office/drawing/2014/main" id="{6B45DD9E-B9FB-4014-BB3E-0DB4C21C1A7A}"/>
              </a:ext>
            </a:extLst>
          </p:cNvPr>
          <p:cNvPicPr>
            <a:picLocks noChangeAspect="1"/>
          </p:cNvPicPr>
          <p:nvPr userDrawn="1"/>
        </p:nvPicPr>
        <p:blipFill>
          <a:blip r:embed="rId3"/>
          <a:stretch>
            <a:fillRect/>
          </a:stretch>
        </p:blipFill>
        <p:spPr>
          <a:xfrm>
            <a:off x="9751203" y="420369"/>
            <a:ext cx="2266577" cy="680357"/>
          </a:xfrm>
          <a:prstGeom prst="rect">
            <a:avLst/>
          </a:prstGeom>
        </p:spPr>
      </p:pic>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vl1pPr>
          </a:lstStyle>
          <a:p>
            <a:fld id="{07279A2F-85B5-794E-ADF1-0805CD3C44B7}" type="slidenum">
              <a:rPr lang="en-US" altLang="zh-CN"/>
              <a:pPr/>
              <a:t>‹#›</a:t>
            </a:fld>
            <a:endParaRPr lang="en-US" altLang="zh-CN"/>
          </a:p>
        </p:txBody>
      </p:sp>
    </p:spTree>
    <p:extLst>
      <p:ext uri="{BB962C8B-B14F-4D97-AF65-F5344CB8AC3E}">
        <p14:creationId xmlns:p14="http://schemas.microsoft.com/office/powerpoint/2010/main" val="2710465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ethereum.org/en/developers/docs/block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第五章 以太坊</a:t>
            </a:r>
            <a:br>
              <a:rPr kumimoji="1" lang="en-US" altLang="zh-CN" dirty="0"/>
            </a:br>
            <a:r>
              <a:rPr kumimoji="1" lang="en-US" altLang="zh-CN" sz="3600" dirty="0"/>
              <a:t>——</a:t>
            </a:r>
            <a:r>
              <a:rPr kumimoji="1" lang="zh-CN" altLang="en-US" sz="3600" dirty="0"/>
              <a:t>账户及数据结构</a:t>
            </a:r>
          </a:p>
        </p:txBody>
      </p:sp>
      <p:sp>
        <p:nvSpPr>
          <p:cNvPr id="6"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411207"/>
            <a:ext cx="9144000" cy="1657977"/>
          </a:xfrm>
        </p:spPr>
        <p:txBody>
          <a:bodyPr>
            <a:normAutofit/>
          </a:bodyPr>
          <a:lstStyle/>
          <a:p>
            <a:pPr>
              <a:lnSpc>
                <a:spcPct val="150000"/>
              </a:lnSpc>
            </a:pPr>
            <a:r>
              <a:rPr kumimoji="1" lang="zh-CN" altLang="en-US" sz="3200" dirty="0"/>
              <a:t>授课教师：侯璐</a:t>
            </a:r>
            <a:endParaRPr kumimoji="1" lang="en-US" altLang="zh-CN" sz="3200" dirty="0"/>
          </a:p>
          <a:p>
            <a:pPr>
              <a:lnSpc>
                <a:spcPct val="150000"/>
              </a:lnSpc>
            </a:pPr>
            <a:r>
              <a:rPr kumimoji="1" lang="zh-CN" altLang="en-US" sz="3200" dirty="0"/>
              <a:t>北京邮电大学</a:t>
            </a:r>
            <a:endParaRPr kumimoji="1" lang="en-US" altLang="zh-CN" sz="3200" dirty="0"/>
          </a:p>
        </p:txBody>
      </p:sp>
    </p:spTree>
    <p:extLst>
      <p:ext uri="{BB962C8B-B14F-4D97-AF65-F5344CB8AC3E}">
        <p14:creationId xmlns:p14="http://schemas.microsoft.com/office/powerpoint/2010/main" val="2465913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b="1" dirty="0">
                <a:solidFill>
                  <a:srgbClr val="B962FF"/>
                </a:solidFill>
                <a:latin typeface="Garamond" panose="02020404030301010803" pitchFamily="18" charset="0"/>
              </a:rPr>
              <a:t>5.1 </a:t>
            </a:r>
            <a:r>
              <a:rPr kumimoji="1" lang="zh-CN" altLang="en-US" b="1" dirty="0">
                <a:solidFill>
                  <a:srgbClr val="B962FF"/>
                </a:solidFill>
                <a:latin typeface="Garamond" panose="02020404030301010803" pitchFamily="18" charset="0"/>
              </a:rPr>
              <a:t>以太坊简介</a:t>
            </a:r>
            <a:endParaRPr kumimoji="1" lang="en-US" altLang="zh-CN" b="1" dirty="0">
              <a:solidFill>
                <a:srgbClr val="B962FF"/>
              </a:solidFill>
              <a:latin typeface="Garamond" panose="02020404030301010803" pitchFamily="18" charset="0"/>
            </a:endParaRPr>
          </a:p>
          <a:p>
            <a:pPr marL="0" indent="0">
              <a:lnSpc>
                <a:spcPct val="130000"/>
              </a:lnSpc>
              <a:buNone/>
            </a:pPr>
            <a:r>
              <a:rPr kumimoji="1" lang="en-US" altLang="zh-CN" dirty="0"/>
              <a:t>5.2</a:t>
            </a:r>
            <a:r>
              <a:rPr kumimoji="1" lang="zh-CN" altLang="en-US" dirty="0"/>
              <a:t> 以太坊基本架构及原理</a:t>
            </a:r>
            <a:endParaRPr kumimoji="1" lang="en-US" altLang="zh-CN" dirty="0"/>
          </a:p>
          <a:p>
            <a:pPr marL="0" indent="0">
              <a:lnSpc>
                <a:spcPct val="130000"/>
              </a:lnSpc>
              <a:buNone/>
            </a:pPr>
            <a:r>
              <a:rPr kumimoji="1" lang="en-US" altLang="zh-CN" dirty="0"/>
              <a:t>5.3</a:t>
            </a:r>
            <a:r>
              <a:rPr kumimoji="1" lang="zh-CN" altLang="en-US" dirty="0"/>
              <a:t> 以太坊账户模型与转账</a:t>
            </a:r>
            <a:endParaRPr kumimoji="1" lang="en-US" altLang="zh-CN" dirty="0"/>
          </a:p>
          <a:p>
            <a:pPr marL="0" indent="0">
              <a:lnSpc>
                <a:spcPct val="130000"/>
              </a:lnSpc>
              <a:buNone/>
            </a:pPr>
            <a:r>
              <a:rPr kumimoji="1" lang="en-US" altLang="zh-CN" dirty="0"/>
              <a:t>5.4</a:t>
            </a:r>
            <a:r>
              <a:rPr kumimoji="1" lang="zh-CN" altLang="en-US" dirty="0"/>
              <a:t> 以太坊数据结构及存储</a:t>
            </a:r>
            <a:endParaRPr kumimoji="1" lang="en-US" altLang="zh-CN" dirty="0"/>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
        <p:nvSpPr>
          <p:cNvPr id="6" name="矩形标注 6">
            <a:extLst>
              <a:ext uri="{FF2B5EF4-FFF2-40B4-BE49-F238E27FC236}">
                <a16:creationId xmlns:a16="http://schemas.microsoft.com/office/drawing/2014/main" id="{E5403611-1688-4145-B64D-DF574BC0C6D2}"/>
              </a:ext>
            </a:extLst>
          </p:cNvPr>
          <p:cNvSpPr/>
          <p:nvPr/>
        </p:nvSpPr>
        <p:spPr>
          <a:xfrm>
            <a:off x="6096000" y="1620253"/>
            <a:ext cx="4281889" cy="1808747"/>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以太坊的诞生</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以太坊与比特币对比</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以太坊的特色与应用</a:t>
            </a:r>
          </a:p>
        </p:txBody>
      </p:sp>
    </p:spTree>
    <p:extLst>
      <p:ext uri="{BB962C8B-B14F-4D97-AF65-F5344CB8AC3E}">
        <p14:creationId xmlns:p14="http://schemas.microsoft.com/office/powerpoint/2010/main" val="273057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以太坊简介</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6943817" cy="5302578"/>
          </a:xfrm>
        </p:spPr>
        <p:txBody>
          <a:bodyPr anchor="t" anchorCtr="0">
            <a:normAutofit/>
          </a:bodyPr>
          <a:lstStyle/>
          <a:p>
            <a:pPr>
              <a:lnSpc>
                <a:spcPct val="140000"/>
              </a:lnSpc>
            </a:pPr>
            <a:r>
              <a:rPr lang="zh-CN" altLang="en-US" dirty="0"/>
              <a:t>第一个支持</a:t>
            </a:r>
            <a:r>
              <a:rPr lang="zh-CN" altLang="en-US" b="1" dirty="0">
                <a:solidFill>
                  <a:srgbClr val="0000CC"/>
                </a:solidFill>
              </a:rPr>
              <a:t>智能合约</a:t>
            </a:r>
            <a:r>
              <a:rPr lang="zh-CN" altLang="en-US" dirty="0"/>
              <a:t>的区块链系统</a:t>
            </a:r>
            <a:endParaRPr lang="en-US" altLang="zh-CN" dirty="0"/>
          </a:p>
          <a:p>
            <a:pPr>
              <a:lnSpc>
                <a:spcPct val="140000"/>
              </a:lnSpc>
            </a:pPr>
            <a:r>
              <a:rPr lang="zh-CN" altLang="en-US" dirty="0"/>
              <a:t>使用</a:t>
            </a:r>
            <a:r>
              <a:rPr lang="en-US" altLang="zh-CN" dirty="0"/>
              <a:t>Ether</a:t>
            </a:r>
            <a:r>
              <a:rPr lang="zh-CN" altLang="en-US" dirty="0"/>
              <a:t>作为加密数字货币</a:t>
            </a:r>
            <a:endParaRPr lang="en-US" altLang="zh-CN" dirty="0"/>
          </a:p>
          <a:p>
            <a:pPr>
              <a:lnSpc>
                <a:spcPct val="140000"/>
              </a:lnSpc>
            </a:pPr>
            <a:r>
              <a:rPr lang="zh-CN" altLang="en-US" dirty="0"/>
              <a:t>生态社区最活跃的区块链系统</a:t>
            </a:r>
            <a:endParaRPr lang="en-US" altLang="zh-CN" dirty="0"/>
          </a:p>
          <a:p>
            <a:pPr>
              <a:lnSpc>
                <a:spcPct val="140000"/>
              </a:lnSpc>
            </a:pPr>
            <a:r>
              <a:rPr lang="zh-CN" altLang="en-US" dirty="0"/>
              <a:t>超过</a:t>
            </a:r>
            <a:r>
              <a:rPr lang="en-US" altLang="zh-CN" dirty="0"/>
              <a:t>30,000</a:t>
            </a:r>
            <a:r>
              <a:rPr lang="zh-CN" altLang="en-US" dirty="0"/>
              <a:t>个</a:t>
            </a:r>
            <a:r>
              <a:rPr lang="en-US" altLang="zh-CN" dirty="0" err="1"/>
              <a:t>github</a:t>
            </a:r>
            <a:r>
              <a:rPr lang="zh-CN" altLang="en-US" dirty="0"/>
              <a:t>开源项目</a:t>
            </a:r>
            <a:endParaRPr lang="en-US" altLang="zh-CN" dirty="0"/>
          </a:p>
          <a:p>
            <a:pPr>
              <a:lnSpc>
                <a:spcPct val="140000"/>
              </a:lnSpc>
            </a:pPr>
            <a:r>
              <a:rPr lang="zh-CN" altLang="en-US" dirty="0"/>
              <a:t>超过 </a:t>
            </a:r>
            <a:r>
              <a:rPr lang="en-US" altLang="zh-CN" dirty="0"/>
              <a:t>3000 </a:t>
            </a:r>
            <a:r>
              <a:rPr lang="zh-CN" altLang="en-US" dirty="0"/>
              <a:t>个基于以太坊的 </a:t>
            </a:r>
            <a:r>
              <a:rPr lang="en-US" altLang="zh-CN" dirty="0" err="1"/>
              <a:t>Dapp</a:t>
            </a:r>
            <a:endParaRPr lang="en-US" altLang="zh-CN" dirty="0"/>
          </a:p>
          <a:p>
            <a:pPr>
              <a:lnSpc>
                <a:spcPct val="140000"/>
              </a:lnSpc>
            </a:pPr>
            <a:r>
              <a:rPr lang="en-US" altLang="zh-CN" dirty="0"/>
              <a:t>…</a:t>
            </a:r>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1385809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以太坊的诞生与发展</a:t>
            </a:r>
          </a:p>
        </p:txBody>
      </p:sp>
      <p:sp>
        <p:nvSpPr>
          <p:cNvPr id="3" name="内容占位符 2"/>
          <p:cNvSpPr>
            <a:spLocks noGrp="1"/>
          </p:cNvSpPr>
          <p:nvPr>
            <p:ph idx="1"/>
          </p:nvPr>
        </p:nvSpPr>
        <p:spPr>
          <a:xfrm>
            <a:off x="2627243" y="1906180"/>
            <a:ext cx="8849139" cy="4586694"/>
          </a:xfrm>
        </p:spPr>
        <p:txBody>
          <a:bodyPr>
            <a:normAutofit fontScale="92500" lnSpcReduction="20000"/>
          </a:bodyPr>
          <a:lstStyle/>
          <a:p>
            <a:r>
              <a:rPr lang="en-US" altLang="zh-CN" dirty="0">
                <a:latin typeface="Garamond" panose="02020404030301010803" pitchFamily="18" charset="0"/>
              </a:rPr>
              <a:t>Frontier</a:t>
            </a:r>
            <a:r>
              <a:rPr lang="zh-CN" altLang="en-US" dirty="0">
                <a:latin typeface="Garamond" panose="02020404030301010803" pitchFamily="18" charset="0"/>
              </a:rPr>
              <a:t>阶段 </a:t>
            </a:r>
            <a:endParaRPr lang="en-US" altLang="zh-CN" dirty="0">
              <a:latin typeface="Garamond" panose="02020404030301010803" pitchFamily="18" charset="0"/>
            </a:endParaRPr>
          </a:p>
          <a:p>
            <a:pPr lvl="1"/>
            <a:r>
              <a:rPr lang="zh-CN" altLang="en-US" dirty="0">
                <a:latin typeface="Garamond" panose="02020404030301010803" pitchFamily="18" charset="0"/>
              </a:rPr>
              <a:t>仅开发者测试使用</a:t>
            </a:r>
            <a:endParaRPr lang="en-US" altLang="zh-CN" dirty="0">
              <a:latin typeface="Garamond" panose="02020404030301010803" pitchFamily="18" charset="0"/>
            </a:endParaRPr>
          </a:p>
          <a:p>
            <a:endParaRPr lang="en-US" altLang="zh-CN" dirty="0">
              <a:latin typeface="Garamond" panose="02020404030301010803" pitchFamily="18" charset="0"/>
            </a:endParaRPr>
          </a:p>
          <a:p>
            <a:r>
              <a:rPr lang="en-US" altLang="zh-CN" dirty="0">
                <a:latin typeface="Garamond" panose="02020404030301010803" pitchFamily="18" charset="0"/>
              </a:rPr>
              <a:t>Homestead</a:t>
            </a:r>
            <a:r>
              <a:rPr lang="zh-CN" altLang="en-US" dirty="0">
                <a:latin typeface="Garamond" panose="02020404030301010803" pitchFamily="18" charset="0"/>
              </a:rPr>
              <a:t>阶段</a:t>
            </a:r>
            <a:endParaRPr lang="en-US" altLang="zh-CN" dirty="0">
              <a:latin typeface="Garamond" panose="02020404030301010803" pitchFamily="18" charset="0"/>
            </a:endParaRPr>
          </a:p>
          <a:p>
            <a:pPr lvl="1"/>
            <a:r>
              <a:rPr lang="zh-CN" altLang="en-US" dirty="0">
                <a:latin typeface="Garamond" panose="02020404030301010803" pitchFamily="18" charset="0"/>
              </a:rPr>
              <a:t>提供图形界面，提升安全性和平稳性</a:t>
            </a:r>
            <a:endParaRPr lang="en-US" altLang="zh-CN" dirty="0">
              <a:latin typeface="Garamond" panose="02020404030301010803" pitchFamily="18" charset="0"/>
            </a:endParaRPr>
          </a:p>
          <a:p>
            <a:pPr lvl="1"/>
            <a:endParaRPr lang="en-US" altLang="zh-CN" dirty="0">
              <a:latin typeface="Garamond" panose="02020404030301010803" pitchFamily="18" charset="0"/>
            </a:endParaRPr>
          </a:p>
          <a:p>
            <a:r>
              <a:rPr lang="en-US" altLang="zh-CN" dirty="0">
                <a:latin typeface="Garamond" panose="02020404030301010803" pitchFamily="18" charset="0"/>
              </a:rPr>
              <a:t>Metropolis</a:t>
            </a:r>
            <a:r>
              <a:rPr lang="zh-CN" altLang="en-US" dirty="0">
                <a:latin typeface="Garamond" panose="02020404030301010803" pitchFamily="18" charset="0"/>
              </a:rPr>
              <a:t>阶段</a:t>
            </a:r>
            <a:endParaRPr lang="en-US" altLang="zh-CN" dirty="0">
              <a:latin typeface="Garamond" panose="02020404030301010803" pitchFamily="18" charset="0"/>
            </a:endParaRPr>
          </a:p>
          <a:p>
            <a:pPr lvl="1"/>
            <a:r>
              <a:rPr lang="zh-CN" altLang="en-US" dirty="0">
                <a:latin typeface="Garamond" panose="02020404030301010803" pitchFamily="18" charset="0"/>
              </a:rPr>
              <a:t>在智能合约执行性能、以太坊经济政策等方面进行了优化</a:t>
            </a:r>
            <a:endParaRPr lang="en-US" altLang="zh-CN" dirty="0">
              <a:latin typeface="Garamond" panose="02020404030301010803" pitchFamily="18" charset="0"/>
            </a:endParaRPr>
          </a:p>
          <a:p>
            <a:pPr marL="457200" lvl="1" indent="0">
              <a:buNone/>
            </a:pPr>
            <a:endParaRPr lang="en-US" altLang="zh-CN" dirty="0">
              <a:latin typeface="Garamond" panose="02020404030301010803" pitchFamily="18" charset="0"/>
            </a:endParaRPr>
          </a:p>
          <a:p>
            <a:r>
              <a:rPr lang="en-US" altLang="zh-CN" dirty="0">
                <a:latin typeface="Garamond" panose="02020404030301010803" pitchFamily="18" charset="0"/>
              </a:rPr>
              <a:t>Serenity</a:t>
            </a:r>
            <a:r>
              <a:rPr lang="zh-CN" altLang="en-US" dirty="0">
                <a:latin typeface="Garamond" panose="02020404030301010803" pitchFamily="18" charset="0"/>
              </a:rPr>
              <a:t>阶段</a:t>
            </a:r>
            <a:endParaRPr lang="en-US" altLang="zh-CN" dirty="0">
              <a:latin typeface="Garamond" panose="02020404030301010803" pitchFamily="18" charset="0"/>
            </a:endParaRPr>
          </a:p>
          <a:p>
            <a:pPr lvl="1"/>
            <a:r>
              <a:rPr lang="zh-CN" altLang="en-US" dirty="0">
                <a:latin typeface="Garamond" panose="02020404030301010803" pitchFamily="18" charset="0"/>
              </a:rPr>
              <a:t>将共识机制从工作量证明</a:t>
            </a:r>
            <a:r>
              <a:rPr lang="en-US" altLang="zh-CN" dirty="0">
                <a:latin typeface="Garamond" panose="02020404030301010803" pitchFamily="18" charset="0"/>
              </a:rPr>
              <a:t>(Proof of Work</a:t>
            </a:r>
            <a:r>
              <a:rPr lang="zh-CN" altLang="en-US" dirty="0">
                <a:latin typeface="Garamond" panose="02020404030301010803" pitchFamily="18" charset="0"/>
              </a:rPr>
              <a:t>，简称 </a:t>
            </a:r>
            <a:r>
              <a:rPr lang="en-US" altLang="zh-CN" dirty="0" err="1">
                <a:latin typeface="Garamond" panose="02020404030301010803" pitchFamily="18" charset="0"/>
              </a:rPr>
              <a:t>PoW</a:t>
            </a:r>
            <a:r>
              <a:rPr lang="en-US" altLang="zh-CN" dirty="0">
                <a:latin typeface="Garamond" panose="02020404030301010803" pitchFamily="18" charset="0"/>
              </a:rPr>
              <a:t>)</a:t>
            </a:r>
            <a:r>
              <a:rPr lang="zh-CN" altLang="en-US" dirty="0">
                <a:latin typeface="Garamond" panose="02020404030301010803" pitchFamily="18" charset="0"/>
              </a:rPr>
              <a:t>转向 </a:t>
            </a:r>
            <a:r>
              <a:rPr lang="en-US" altLang="zh-CN" dirty="0" err="1">
                <a:latin typeface="Garamond" panose="02020404030301010803" pitchFamily="18" charset="0"/>
              </a:rPr>
              <a:t>PoS</a:t>
            </a:r>
            <a:r>
              <a:rPr lang="zh-CN" altLang="en-US" dirty="0">
                <a:latin typeface="Garamond" panose="02020404030301010803" pitchFamily="18" charset="0"/>
              </a:rPr>
              <a:t>，使持币者也能有一定的决定权 </a:t>
            </a:r>
          </a:p>
          <a:p>
            <a:pPr marL="457200" lvl="1" indent="0">
              <a:buNone/>
            </a:pPr>
            <a:endParaRPr lang="zh-CN" altLang="en-US" dirty="0">
              <a:latin typeface="Garamond" panose="02020404030301010803" pitchFamily="18" charset="0"/>
            </a:endParaRPr>
          </a:p>
        </p:txBody>
      </p:sp>
      <p:sp>
        <p:nvSpPr>
          <p:cNvPr id="4" name="下箭头 3">
            <a:extLst>
              <a:ext uri="{FF2B5EF4-FFF2-40B4-BE49-F238E27FC236}">
                <a16:creationId xmlns:a16="http://schemas.microsoft.com/office/drawing/2014/main" id="{D097A6AE-B145-5A4D-BA66-59A6CDA2BE60}"/>
              </a:ext>
            </a:extLst>
          </p:cNvPr>
          <p:cNvSpPr/>
          <p:nvPr/>
        </p:nvSpPr>
        <p:spPr>
          <a:xfrm>
            <a:off x="485874" y="1523598"/>
            <a:ext cx="689113" cy="4969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Garamond" panose="02020404030301010803" pitchFamily="18" charset="0"/>
            </a:endParaRPr>
          </a:p>
        </p:txBody>
      </p:sp>
      <p:cxnSp>
        <p:nvCxnSpPr>
          <p:cNvPr id="11" name="直线箭头连接符 10">
            <a:extLst>
              <a:ext uri="{FF2B5EF4-FFF2-40B4-BE49-F238E27FC236}">
                <a16:creationId xmlns:a16="http://schemas.microsoft.com/office/drawing/2014/main" id="{AC8BE801-5B9B-7641-BCFF-3715A5DF4E7C}"/>
              </a:ext>
            </a:extLst>
          </p:cNvPr>
          <p:cNvCxnSpPr>
            <a:cxnSpLocks/>
          </p:cNvCxnSpPr>
          <p:nvPr/>
        </p:nvCxnSpPr>
        <p:spPr>
          <a:xfrm>
            <a:off x="1174987" y="1906180"/>
            <a:ext cx="1452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文本框 11">
            <a:extLst>
              <a:ext uri="{FF2B5EF4-FFF2-40B4-BE49-F238E27FC236}">
                <a16:creationId xmlns:a16="http://schemas.microsoft.com/office/drawing/2014/main" id="{707DB248-F685-684F-BBF8-35C81B3E514B}"/>
              </a:ext>
            </a:extLst>
          </p:cNvPr>
          <p:cNvSpPr txBox="1"/>
          <p:nvPr/>
        </p:nvSpPr>
        <p:spPr>
          <a:xfrm>
            <a:off x="1129040" y="1523598"/>
            <a:ext cx="1422184" cy="369332"/>
          </a:xfrm>
          <a:prstGeom prst="rect">
            <a:avLst/>
          </a:prstGeom>
          <a:noFill/>
        </p:spPr>
        <p:txBody>
          <a:bodyPr wrap="none" rtlCol="0">
            <a:spAutoFit/>
          </a:bodyPr>
          <a:lstStyle/>
          <a:p>
            <a:r>
              <a:rPr lang="en-US" altLang="zh-CN" dirty="0">
                <a:latin typeface="Garamond" panose="02020404030301010803" pitchFamily="18" charset="0"/>
              </a:rPr>
              <a:t>2015 </a:t>
            </a:r>
            <a:r>
              <a:rPr lang="zh-CN" altLang="en-US" dirty="0">
                <a:latin typeface="Garamond" panose="02020404030301010803" pitchFamily="18" charset="0"/>
              </a:rPr>
              <a:t>年 </a:t>
            </a:r>
            <a:r>
              <a:rPr lang="en-US" altLang="zh-CN" dirty="0">
                <a:latin typeface="Garamond" panose="02020404030301010803" pitchFamily="18" charset="0"/>
              </a:rPr>
              <a:t>7 </a:t>
            </a:r>
            <a:r>
              <a:rPr lang="zh-CN" altLang="en-US" dirty="0">
                <a:latin typeface="Garamond" panose="02020404030301010803" pitchFamily="18" charset="0"/>
              </a:rPr>
              <a:t>月 </a:t>
            </a:r>
          </a:p>
        </p:txBody>
      </p:sp>
      <p:sp>
        <p:nvSpPr>
          <p:cNvPr id="118" name="文本框 117">
            <a:extLst>
              <a:ext uri="{FF2B5EF4-FFF2-40B4-BE49-F238E27FC236}">
                <a16:creationId xmlns:a16="http://schemas.microsoft.com/office/drawing/2014/main" id="{E8915E3D-6FE8-1849-80F0-3669C70EB0E5}"/>
              </a:ext>
            </a:extLst>
          </p:cNvPr>
          <p:cNvSpPr txBox="1"/>
          <p:nvPr/>
        </p:nvSpPr>
        <p:spPr>
          <a:xfrm>
            <a:off x="1129040" y="2748238"/>
            <a:ext cx="1422184" cy="369332"/>
          </a:xfrm>
          <a:prstGeom prst="rect">
            <a:avLst/>
          </a:prstGeom>
          <a:noFill/>
        </p:spPr>
        <p:txBody>
          <a:bodyPr wrap="none" rtlCol="0">
            <a:spAutoFit/>
          </a:bodyPr>
          <a:lstStyle/>
          <a:p>
            <a:r>
              <a:rPr lang="en-US" altLang="zh-CN" dirty="0">
                <a:latin typeface="Garamond" panose="02020404030301010803" pitchFamily="18" charset="0"/>
              </a:rPr>
              <a:t>2016 </a:t>
            </a:r>
            <a:r>
              <a:rPr lang="zh-CN" altLang="en-US" dirty="0">
                <a:latin typeface="Garamond" panose="02020404030301010803" pitchFamily="18" charset="0"/>
              </a:rPr>
              <a:t>年 </a:t>
            </a:r>
            <a:r>
              <a:rPr lang="en-US" altLang="zh-CN" dirty="0">
                <a:latin typeface="Garamond" panose="02020404030301010803" pitchFamily="18" charset="0"/>
              </a:rPr>
              <a:t>3</a:t>
            </a:r>
            <a:r>
              <a:rPr lang="zh-CN" altLang="en-US" dirty="0">
                <a:latin typeface="Garamond" panose="02020404030301010803" pitchFamily="18" charset="0"/>
              </a:rPr>
              <a:t> 月 </a:t>
            </a:r>
          </a:p>
        </p:txBody>
      </p:sp>
      <p:sp>
        <p:nvSpPr>
          <p:cNvPr id="121" name="文本框 120">
            <a:extLst>
              <a:ext uri="{FF2B5EF4-FFF2-40B4-BE49-F238E27FC236}">
                <a16:creationId xmlns:a16="http://schemas.microsoft.com/office/drawing/2014/main" id="{A05C9304-87C5-064F-B6DF-0D57B0E9823B}"/>
              </a:ext>
            </a:extLst>
          </p:cNvPr>
          <p:cNvSpPr txBox="1"/>
          <p:nvPr/>
        </p:nvSpPr>
        <p:spPr>
          <a:xfrm>
            <a:off x="1129040" y="3848761"/>
            <a:ext cx="1531188" cy="369332"/>
          </a:xfrm>
          <a:prstGeom prst="rect">
            <a:avLst/>
          </a:prstGeom>
          <a:noFill/>
        </p:spPr>
        <p:txBody>
          <a:bodyPr wrap="none" rtlCol="0">
            <a:spAutoFit/>
          </a:bodyPr>
          <a:lstStyle/>
          <a:p>
            <a:r>
              <a:rPr lang="en-US" altLang="zh-CN" dirty="0">
                <a:latin typeface="Garamond" panose="02020404030301010803" pitchFamily="18" charset="0"/>
              </a:rPr>
              <a:t>2017 </a:t>
            </a:r>
            <a:r>
              <a:rPr lang="zh-CN" altLang="en-US" dirty="0">
                <a:latin typeface="Garamond" panose="02020404030301010803" pitchFamily="18" charset="0"/>
              </a:rPr>
              <a:t>年 </a:t>
            </a:r>
            <a:r>
              <a:rPr lang="en-US" altLang="zh-CN" dirty="0">
                <a:latin typeface="Garamond" panose="02020404030301010803" pitchFamily="18" charset="0"/>
              </a:rPr>
              <a:t>10</a:t>
            </a:r>
            <a:r>
              <a:rPr lang="zh-CN" altLang="en-US" dirty="0">
                <a:latin typeface="Garamond" panose="02020404030301010803" pitchFamily="18" charset="0"/>
              </a:rPr>
              <a:t> 月 </a:t>
            </a:r>
          </a:p>
        </p:txBody>
      </p:sp>
      <p:sp>
        <p:nvSpPr>
          <p:cNvPr id="13" name="文本框 12">
            <a:extLst>
              <a:ext uri="{FF2B5EF4-FFF2-40B4-BE49-F238E27FC236}">
                <a16:creationId xmlns:a16="http://schemas.microsoft.com/office/drawing/2014/main" id="{E8D0EC52-E632-AF4D-9CF7-7392BF7DF163}"/>
              </a:ext>
            </a:extLst>
          </p:cNvPr>
          <p:cNvSpPr txBox="1"/>
          <p:nvPr/>
        </p:nvSpPr>
        <p:spPr>
          <a:xfrm>
            <a:off x="1212396" y="4979945"/>
            <a:ext cx="1191352" cy="369332"/>
          </a:xfrm>
          <a:prstGeom prst="rect">
            <a:avLst/>
          </a:prstGeom>
          <a:noFill/>
        </p:spPr>
        <p:txBody>
          <a:bodyPr wrap="none" rtlCol="0">
            <a:spAutoFit/>
          </a:bodyPr>
          <a:lstStyle/>
          <a:p>
            <a:r>
              <a:rPr kumimoji="1" lang="en-US" altLang="zh-CN" dirty="0">
                <a:latin typeface="Garamond" panose="02020404030301010803" pitchFamily="18" charset="0"/>
              </a:rPr>
              <a:t>2022</a:t>
            </a:r>
            <a:r>
              <a:rPr kumimoji="1" lang="zh-CN" altLang="en-US" dirty="0">
                <a:latin typeface="Garamond" panose="02020404030301010803" pitchFamily="18" charset="0"/>
              </a:rPr>
              <a:t>年</a:t>
            </a:r>
            <a:r>
              <a:rPr kumimoji="1" lang="en-US" altLang="zh-CN" dirty="0">
                <a:latin typeface="Garamond" panose="02020404030301010803" pitchFamily="18" charset="0"/>
              </a:rPr>
              <a:t>9</a:t>
            </a:r>
            <a:r>
              <a:rPr kumimoji="1" lang="zh-CN" altLang="en-US" dirty="0">
                <a:latin typeface="Garamond" panose="02020404030301010803" pitchFamily="18" charset="0"/>
              </a:rPr>
              <a:t>月</a:t>
            </a:r>
          </a:p>
        </p:txBody>
      </p:sp>
      <p:cxnSp>
        <p:nvCxnSpPr>
          <p:cNvPr id="126" name="直线箭头连接符 125">
            <a:extLst>
              <a:ext uri="{FF2B5EF4-FFF2-40B4-BE49-F238E27FC236}">
                <a16:creationId xmlns:a16="http://schemas.microsoft.com/office/drawing/2014/main" id="{9EE4C527-9EE2-874F-9F05-086707BBD6D4}"/>
              </a:ext>
            </a:extLst>
          </p:cNvPr>
          <p:cNvCxnSpPr>
            <a:cxnSpLocks/>
          </p:cNvCxnSpPr>
          <p:nvPr/>
        </p:nvCxnSpPr>
        <p:spPr>
          <a:xfrm>
            <a:off x="1174987" y="3148567"/>
            <a:ext cx="1452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直线箭头连接符 126">
            <a:extLst>
              <a:ext uri="{FF2B5EF4-FFF2-40B4-BE49-F238E27FC236}">
                <a16:creationId xmlns:a16="http://schemas.microsoft.com/office/drawing/2014/main" id="{C563DDEA-7BE9-E349-B322-2E6A0C4BD1FF}"/>
              </a:ext>
            </a:extLst>
          </p:cNvPr>
          <p:cNvCxnSpPr>
            <a:cxnSpLocks/>
          </p:cNvCxnSpPr>
          <p:nvPr/>
        </p:nvCxnSpPr>
        <p:spPr>
          <a:xfrm>
            <a:off x="1182324" y="4217272"/>
            <a:ext cx="1452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直线箭头连接符 127">
            <a:extLst>
              <a:ext uri="{FF2B5EF4-FFF2-40B4-BE49-F238E27FC236}">
                <a16:creationId xmlns:a16="http://schemas.microsoft.com/office/drawing/2014/main" id="{F2569781-0E14-C441-8FF8-B934FF3BF99C}"/>
              </a:ext>
            </a:extLst>
          </p:cNvPr>
          <p:cNvCxnSpPr>
            <a:cxnSpLocks/>
          </p:cNvCxnSpPr>
          <p:nvPr/>
        </p:nvCxnSpPr>
        <p:spPr>
          <a:xfrm>
            <a:off x="1182324" y="5358371"/>
            <a:ext cx="14522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89A2A4D1-AFB6-46B1-9C78-6BD29DF835CB}"/>
              </a:ext>
            </a:extLst>
          </p:cNvPr>
          <p:cNvSpPr txBox="1"/>
          <p:nvPr/>
        </p:nvSpPr>
        <p:spPr>
          <a:xfrm>
            <a:off x="1174987" y="6111129"/>
            <a:ext cx="851515" cy="369332"/>
          </a:xfrm>
          <a:prstGeom prst="rect">
            <a:avLst/>
          </a:prstGeom>
          <a:noFill/>
        </p:spPr>
        <p:txBody>
          <a:bodyPr wrap="none" rtlCol="0">
            <a:spAutoFit/>
          </a:bodyPr>
          <a:lstStyle/>
          <a:p>
            <a:r>
              <a:rPr kumimoji="1" lang="en-US" altLang="zh-CN">
                <a:latin typeface="Garamond" panose="02020404030301010803" pitchFamily="18" charset="0"/>
              </a:rPr>
              <a:t>2026</a:t>
            </a:r>
            <a:r>
              <a:rPr kumimoji="1" lang="zh-CN" altLang="en-US">
                <a:latin typeface="Garamond" panose="02020404030301010803" pitchFamily="18" charset="0"/>
              </a:rPr>
              <a:t>年</a:t>
            </a:r>
            <a:endParaRPr kumimoji="1" lang="zh-CN" altLang="en-US" dirty="0">
              <a:latin typeface="Garamond" panose="02020404030301010803" pitchFamily="18" charset="0"/>
            </a:endParaRPr>
          </a:p>
        </p:txBody>
      </p:sp>
    </p:spTree>
    <p:extLst>
      <p:ext uri="{BB962C8B-B14F-4D97-AF65-F5344CB8AC3E}">
        <p14:creationId xmlns:p14="http://schemas.microsoft.com/office/powerpoint/2010/main" val="1796240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以太坊与比特币对比</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6943817" cy="5302578"/>
          </a:xfrm>
        </p:spPr>
        <p:txBody>
          <a:bodyPr anchor="t" anchorCtr="0">
            <a:normAutofit/>
          </a:bodyPr>
          <a:lstStyle/>
          <a:p>
            <a:pPr>
              <a:lnSpc>
                <a:spcPct val="140000"/>
              </a:lnSpc>
            </a:pPr>
            <a:r>
              <a:rPr lang="zh-CN" altLang="en-US" dirty="0">
                <a:latin typeface="Garamond" panose="02020404030301010803" pitchFamily="18" charset="0"/>
              </a:rPr>
              <a:t>技术</a:t>
            </a:r>
            <a:endParaRPr lang="en-US" altLang="zh-CN" dirty="0">
              <a:latin typeface="Garamond" panose="02020404030301010803" pitchFamily="18" charset="0"/>
            </a:endParaRPr>
          </a:p>
          <a:p>
            <a:pPr lvl="1">
              <a:lnSpc>
                <a:spcPct val="140000"/>
              </a:lnSpc>
            </a:pPr>
            <a:r>
              <a:rPr lang="zh-CN" altLang="en-US" dirty="0">
                <a:latin typeface="Garamond" panose="02020404030301010803" pitchFamily="18" charset="0"/>
              </a:rPr>
              <a:t>支持智能合约</a:t>
            </a:r>
            <a:endParaRPr lang="en-US" altLang="zh-CN" dirty="0">
              <a:latin typeface="Garamond" panose="02020404030301010803" pitchFamily="18" charset="0"/>
            </a:endParaRPr>
          </a:p>
          <a:p>
            <a:pPr>
              <a:lnSpc>
                <a:spcPct val="140000"/>
              </a:lnSpc>
            </a:pPr>
            <a:r>
              <a:rPr lang="zh-CN" altLang="en-US" dirty="0">
                <a:latin typeface="Garamond" panose="02020404030301010803" pitchFamily="18" charset="0"/>
              </a:rPr>
              <a:t>性能</a:t>
            </a:r>
            <a:endParaRPr lang="en-US" altLang="zh-CN" dirty="0">
              <a:latin typeface="Garamond" panose="02020404030301010803" pitchFamily="18" charset="0"/>
            </a:endParaRPr>
          </a:p>
          <a:p>
            <a:pPr lvl="1">
              <a:lnSpc>
                <a:spcPct val="140000"/>
              </a:lnSpc>
            </a:pPr>
            <a:r>
              <a:rPr lang="zh-CN" altLang="en-US" dirty="0">
                <a:latin typeface="Garamond" panose="02020404030301010803" pitchFamily="18" charset="0"/>
              </a:rPr>
              <a:t>增加叔块奖励，减少出块时间</a:t>
            </a:r>
            <a:endParaRPr lang="en-US" altLang="zh-CN" dirty="0">
              <a:latin typeface="Garamond" panose="02020404030301010803" pitchFamily="18" charset="0"/>
            </a:endParaRPr>
          </a:p>
          <a:p>
            <a:pPr lvl="1">
              <a:lnSpc>
                <a:spcPct val="140000"/>
              </a:lnSpc>
            </a:pPr>
            <a:r>
              <a:rPr lang="en-US" altLang="zh-CN" dirty="0" err="1">
                <a:latin typeface="Garamond" panose="02020404030301010803" pitchFamily="18" charset="0"/>
              </a:rPr>
              <a:t>Ethash</a:t>
            </a:r>
            <a:r>
              <a:rPr lang="zh-CN" altLang="en-US" dirty="0">
                <a:latin typeface="Garamond" panose="02020404030301010803" pitchFamily="18" charset="0"/>
              </a:rPr>
              <a:t>共识机制</a:t>
            </a:r>
            <a:endParaRPr lang="en-US" altLang="zh-CN" dirty="0">
              <a:latin typeface="Garamond" panose="02020404030301010803" pitchFamily="18" charset="0"/>
            </a:endParaRPr>
          </a:p>
          <a:p>
            <a:pPr>
              <a:lnSpc>
                <a:spcPct val="140000"/>
              </a:lnSpc>
            </a:pPr>
            <a:r>
              <a:rPr lang="zh-CN" altLang="en-US" dirty="0">
                <a:latin typeface="Garamond" panose="02020404030301010803" pitchFamily="18" charset="0"/>
              </a:rPr>
              <a:t>社区</a:t>
            </a:r>
            <a:endParaRPr lang="en-US" altLang="zh-CN" dirty="0">
              <a:latin typeface="Garamond" panose="02020404030301010803" pitchFamily="18" charset="0"/>
            </a:endParaRPr>
          </a:p>
          <a:p>
            <a:pPr lvl="1">
              <a:lnSpc>
                <a:spcPct val="140000"/>
              </a:lnSpc>
            </a:pPr>
            <a:r>
              <a:rPr lang="zh-CN" altLang="en-US" dirty="0">
                <a:latin typeface="Garamond" panose="02020404030301010803" pitchFamily="18" charset="0"/>
              </a:rPr>
              <a:t>更加活跃的社区</a:t>
            </a:r>
            <a:endParaRPr lang="en-US" altLang="zh-CN" dirty="0">
              <a:latin typeface="Garamond" panose="02020404030301010803" pitchFamily="18" charset="0"/>
            </a:endParaRPr>
          </a:p>
          <a:p>
            <a:pPr lvl="1">
              <a:lnSpc>
                <a:spcPct val="140000"/>
              </a:lnSpc>
            </a:pPr>
            <a:r>
              <a:rPr lang="zh-CN" altLang="en-US" dirty="0">
                <a:latin typeface="Garamond" panose="02020404030301010803" pitchFamily="18" charset="0"/>
              </a:rPr>
              <a:t>超过</a:t>
            </a:r>
            <a:r>
              <a:rPr lang="en-US" altLang="zh-CN" dirty="0">
                <a:latin typeface="Garamond" panose="02020404030301010803" pitchFamily="18" charset="0"/>
              </a:rPr>
              <a:t>35k</a:t>
            </a:r>
            <a:r>
              <a:rPr lang="zh-CN" altLang="en-US" dirty="0">
                <a:latin typeface="Garamond" panose="02020404030301010803" pitchFamily="18" charset="0"/>
              </a:rPr>
              <a:t>的开源项目</a:t>
            </a: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4" name="椭圆 3">
            <a:extLst>
              <a:ext uri="{FF2B5EF4-FFF2-40B4-BE49-F238E27FC236}">
                <a16:creationId xmlns:a16="http://schemas.microsoft.com/office/drawing/2014/main" id="{B4FE7CCC-481C-874D-B55D-26C9FB4BC2A3}"/>
              </a:ext>
            </a:extLst>
          </p:cNvPr>
          <p:cNvSpPr/>
          <p:nvPr/>
        </p:nvSpPr>
        <p:spPr>
          <a:xfrm>
            <a:off x="8428390" y="4070186"/>
            <a:ext cx="2756452" cy="2027582"/>
          </a:xfrm>
          <a:prstGeom prst="ellipse">
            <a:avLst/>
          </a:prstGeom>
          <a:solidFill>
            <a:srgbClr val="00AFB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技术</a:t>
            </a:r>
            <a:endParaRPr kumimoji="1" lang="en-US" altLang="zh-CN" b="1" dirty="0"/>
          </a:p>
          <a:p>
            <a:pPr algn="ctr"/>
            <a:r>
              <a:rPr kumimoji="1" lang="zh-CN" altLang="en-US" dirty="0"/>
              <a:t>对智能合约的支持</a:t>
            </a:r>
          </a:p>
        </p:txBody>
      </p:sp>
      <p:sp>
        <p:nvSpPr>
          <p:cNvPr id="6" name="椭圆 5">
            <a:extLst>
              <a:ext uri="{FF2B5EF4-FFF2-40B4-BE49-F238E27FC236}">
                <a16:creationId xmlns:a16="http://schemas.microsoft.com/office/drawing/2014/main" id="{37E1939E-981F-804B-B7AD-F1056DB2CB37}"/>
              </a:ext>
            </a:extLst>
          </p:cNvPr>
          <p:cNvSpPr/>
          <p:nvPr/>
        </p:nvSpPr>
        <p:spPr>
          <a:xfrm>
            <a:off x="4485864" y="4075853"/>
            <a:ext cx="2756452" cy="2027582"/>
          </a:xfrm>
          <a:prstGeom prst="ellipse">
            <a:avLst/>
          </a:prstGeom>
          <a:solidFill>
            <a:srgbClr val="0081A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性能</a:t>
            </a:r>
            <a:endParaRPr kumimoji="1" lang="en-US" altLang="zh-CN" b="1" dirty="0"/>
          </a:p>
          <a:p>
            <a:pPr algn="ctr"/>
            <a:r>
              <a:rPr kumimoji="1" lang="zh-CN" altLang="en-US" dirty="0"/>
              <a:t>更先进的奖励机制</a:t>
            </a:r>
          </a:p>
        </p:txBody>
      </p:sp>
      <p:sp>
        <p:nvSpPr>
          <p:cNvPr id="7" name="椭圆 6">
            <a:extLst>
              <a:ext uri="{FF2B5EF4-FFF2-40B4-BE49-F238E27FC236}">
                <a16:creationId xmlns:a16="http://schemas.microsoft.com/office/drawing/2014/main" id="{3C94C791-F8C9-644C-93D6-B4DA79DBA149}"/>
              </a:ext>
            </a:extLst>
          </p:cNvPr>
          <p:cNvSpPr/>
          <p:nvPr/>
        </p:nvSpPr>
        <p:spPr>
          <a:xfrm>
            <a:off x="6361044" y="1741747"/>
            <a:ext cx="2756452" cy="2027582"/>
          </a:xfrm>
          <a:prstGeom prst="ellipse">
            <a:avLst/>
          </a:prstGeom>
          <a:solidFill>
            <a:srgbClr val="EE6C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t>社区</a:t>
            </a:r>
            <a:endParaRPr kumimoji="1" lang="en-US" altLang="zh-CN" b="1" dirty="0"/>
          </a:p>
          <a:p>
            <a:pPr algn="ctr"/>
            <a:r>
              <a:rPr kumimoji="1" lang="zh-CN" altLang="en-US" dirty="0"/>
              <a:t>更活跃的社区讨论</a:t>
            </a:r>
          </a:p>
        </p:txBody>
      </p:sp>
      <p:sp>
        <p:nvSpPr>
          <p:cNvPr id="5" name="上箭头 4">
            <a:extLst>
              <a:ext uri="{FF2B5EF4-FFF2-40B4-BE49-F238E27FC236}">
                <a16:creationId xmlns:a16="http://schemas.microsoft.com/office/drawing/2014/main" id="{25CD5789-DFA7-CC4A-81AE-E73AC25F9BC0}"/>
              </a:ext>
            </a:extLst>
          </p:cNvPr>
          <p:cNvSpPr/>
          <p:nvPr/>
        </p:nvSpPr>
        <p:spPr>
          <a:xfrm rot="2365758">
            <a:off x="6436850" y="3364373"/>
            <a:ext cx="384313" cy="90206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上箭头 8">
            <a:extLst>
              <a:ext uri="{FF2B5EF4-FFF2-40B4-BE49-F238E27FC236}">
                <a16:creationId xmlns:a16="http://schemas.microsoft.com/office/drawing/2014/main" id="{3DA286B2-3A3D-6B4A-BD7E-8A0C7FFEC0D2}"/>
              </a:ext>
            </a:extLst>
          </p:cNvPr>
          <p:cNvSpPr/>
          <p:nvPr/>
        </p:nvSpPr>
        <p:spPr>
          <a:xfrm rot="19064183">
            <a:off x="8579993" y="3468727"/>
            <a:ext cx="384313" cy="90206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92219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以太坊特色与应用</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6943817" cy="5302578"/>
          </a:xfrm>
        </p:spPr>
        <p:txBody>
          <a:bodyPr anchor="t" anchorCtr="0">
            <a:normAutofit/>
          </a:bodyPr>
          <a:lstStyle/>
          <a:p>
            <a:pPr>
              <a:lnSpc>
                <a:spcPct val="140000"/>
              </a:lnSpc>
            </a:pPr>
            <a:r>
              <a:rPr lang="zh-CN" altLang="en-US" dirty="0"/>
              <a:t>溯源存证 </a:t>
            </a:r>
          </a:p>
          <a:p>
            <a:pPr>
              <a:lnSpc>
                <a:spcPct val="140000"/>
              </a:lnSpc>
            </a:pPr>
            <a:r>
              <a:rPr lang="zh-CN" altLang="en-US" dirty="0"/>
              <a:t>数字资产发行和流通 </a:t>
            </a:r>
          </a:p>
          <a:p>
            <a:pPr>
              <a:lnSpc>
                <a:spcPct val="140000"/>
              </a:lnSpc>
            </a:pPr>
            <a:r>
              <a:rPr lang="zh-CN" altLang="en-US" dirty="0"/>
              <a:t>数据共享 </a:t>
            </a:r>
          </a:p>
          <a:p>
            <a:pPr>
              <a:lnSpc>
                <a:spcPct val="140000"/>
              </a:lnSpc>
            </a:pPr>
            <a:r>
              <a:rPr lang="en-US" altLang="zh-CN" dirty="0"/>
              <a:t>…</a:t>
            </a:r>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pic>
        <p:nvPicPr>
          <p:cNvPr id="4" name="图片 3">
            <a:extLst>
              <a:ext uri="{FF2B5EF4-FFF2-40B4-BE49-F238E27FC236}">
                <a16:creationId xmlns:a16="http://schemas.microsoft.com/office/drawing/2014/main" id="{26FC795A-ECC2-F843-A8B4-0AEB14DB3E8D}"/>
              </a:ext>
            </a:extLst>
          </p:cNvPr>
          <p:cNvPicPr>
            <a:picLocks noChangeAspect="1"/>
          </p:cNvPicPr>
          <p:nvPr/>
        </p:nvPicPr>
        <p:blipFill>
          <a:blip r:embed="rId3"/>
          <a:stretch>
            <a:fillRect/>
          </a:stretch>
        </p:blipFill>
        <p:spPr>
          <a:xfrm>
            <a:off x="4461007" y="2462721"/>
            <a:ext cx="7336138" cy="4030153"/>
          </a:xfrm>
          <a:prstGeom prst="rect">
            <a:avLst/>
          </a:prstGeom>
        </p:spPr>
      </p:pic>
    </p:spTree>
    <p:extLst>
      <p:ext uri="{BB962C8B-B14F-4D97-AF65-F5344CB8AC3E}">
        <p14:creationId xmlns:p14="http://schemas.microsoft.com/office/powerpoint/2010/main" val="3356339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以太坊现状</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pic>
        <p:nvPicPr>
          <p:cNvPr id="7" name="图片 6">
            <a:extLst>
              <a:ext uri="{FF2B5EF4-FFF2-40B4-BE49-F238E27FC236}">
                <a16:creationId xmlns:a16="http://schemas.microsoft.com/office/drawing/2014/main" id="{0B553F02-7A18-473F-84C9-6BCFF9E9349B}"/>
              </a:ext>
            </a:extLst>
          </p:cNvPr>
          <p:cNvPicPr>
            <a:picLocks noChangeAspect="1"/>
          </p:cNvPicPr>
          <p:nvPr/>
        </p:nvPicPr>
        <p:blipFill>
          <a:blip r:embed="rId3"/>
          <a:stretch>
            <a:fillRect/>
          </a:stretch>
        </p:blipFill>
        <p:spPr>
          <a:xfrm>
            <a:off x="204406" y="1157069"/>
            <a:ext cx="11877866" cy="5564406"/>
          </a:xfrm>
          <a:prstGeom prst="rect">
            <a:avLst/>
          </a:prstGeom>
        </p:spPr>
      </p:pic>
    </p:spTree>
    <p:extLst>
      <p:ext uri="{BB962C8B-B14F-4D97-AF65-F5344CB8AC3E}">
        <p14:creationId xmlns:p14="http://schemas.microsoft.com/office/powerpoint/2010/main" val="2994617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2C9A9A-F115-4119-A2E3-16B8A6877937}"/>
              </a:ext>
            </a:extLst>
          </p:cNvPr>
          <p:cNvSpPr>
            <a:spLocks noGrp="1"/>
          </p:cNvSpPr>
          <p:nvPr>
            <p:ph type="title"/>
          </p:nvPr>
        </p:nvSpPr>
        <p:spPr/>
        <p:txBody>
          <a:bodyPr/>
          <a:lstStyle/>
          <a:p>
            <a:r>
              <a:rPr lang="zh-CN" altLang="en-US" dirty="0"/>
              <a:t>比特币对比</a:t>
            </a:r>
          </a:p>
        </p:txBody>
      </p:sp>
      <p:sp>
        <p:nvSpPr>
          <p:cNvPr id="4" name="灯片编号占位符 3">
            <a:extLst>
              <a:ext uri="{FF2B5EF4-FFF2-40B4-BE49-F238E27FC236}">
                <a16:creationId xmlns:a16="http://schemas.microsoft.com/office/drawing/2014/main" id="{5CDDB981-0D2B-4A94-9760-4A92B6C33289}"/>
              </a:ext>
            </a:extLst>
          </p:cNvPr>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pic>
        <p:nvPicPr>
          <p:cNvPr id="5" name="图片 4">
            <a:extLst>
              <a:ext uri="{FF2B5EF4-FFF2-40B4-BE49-F238E27FC236}">
                <a16:creationId xmlns:a16="http://schemas.microsoft.com/office/drawing/2014/main" id="{41AD10C4-E247-4709-9AAD-B1CA0C024E42}"/>
              </a:ext>
            </a:extLst>
          </p:cNvPr>
          <p:cNvPicPr>
            <a:picLocks noChangeAspect="1"/>
          </p:cNvPicPr>
          <p:nvPr/>
        </p:nvPicPr>
        <p:blipFill rotWithShape="1">
          <a:blip r:embed="rId2"/>
          <a:srcRect l="1200"/>
          <a:stretch/>
        </p:blipFill>
        <p:spPr>
          <a:xfrm>
            <a:off x="146304" y="1877656"/>
            <a:ext cx="12045696" cy="4478694"/>
          </a:xfrm>
          <a:prstGeom prst="rect">
            <a:avLst/>
          </a:prstGeom>
        </p:spPr>
      </p:pic>
    </p:spTree>
    <p:extLst>
      <p:ext uri="{BB962C8B-B14F-4D97-AF65-F5344CB8AC3E}">
        <p14:creationId xmlns:p14="http://schemas.microsoft.com/office/powerpoint/2010/main" val="1938033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5.1 </a:t>
            </a:r>
            <a:r>
              <a:rPr kumimoji="1" lang="zh-CN" altLang="en-US" dirty="0"/>
              <a:t>以太坊简介</a:t>
            </a:r>
            <a:endParaRPr kumimoji="1" lang="en-US" altLang="zh-CN" dirty="0"/>
          </a:p>
          <a:p>
            <a:pPr marL="0" indent="0">
              <a:lnSpc>
                <a:spcPct val="130000"/>
              </a:lnSpc>
              <a:buNone/>
            </a:pPr>
            <a:r>
              <a:rPr kumimoji="1" lang="en-US" altLang="zh-CN" b="1" dirty="0">
                <a:solidFill>
                  <a:srgbClr val="B962FF"/>
                </a:solidFill>
                <a:latin typeface="Garamond" panose="02020404030301010803" pitchFamily="18" charset="0"/>
              </a:rPr>
              <a:t>5.2</a:t>
            </a:r>
            <a:r>
              <a:rPr kumimoji="1" lang="zh-CN" altLang="en-US" b="1" dirty="0">
                <a:solidFill>
                  <a:srgbClr val="B962FF"/>
                </a:solidFill>
                <a:latin typeface="Garamond" panose="02020404030301010803" pitchFamily="18" charset="0"/>
              </a:rPr>
              <a:t> 以太坊基本架构及原理</a:t>
            </a:r>
            <a:endParaRPr kumimoji="1" lang="en-US" altLang="zh-CN" b="1" dirty="0">
              <a:solidFill>
                <a:srgbClr val="B962FF"/>
              </a:solidFill>
              <a:latin typeface="Garamond" panose="02020404030301010803" pitchFamily="18" charset="0"/>
            </a:endParaRPr>
          </a:p>
          <a:p>
            <a:pPr marL="0" indent="0">
              <a:lnSpc>
                <a:spcPct val="130000"/>
              </a:lnSpc>
              <a:buNone/>
            </a:pPr>
            <a:r>
              <a:rPr kumimoji="1" lang="en-US" altLang="zh-CN" dirty="0"/>
              <a:t>5.3</a:t>
            </a:r>
            <a:r>
              <a:rPr kumimoji="1" lang="zh-CN" altLang="en-US" dirty="0"/>
              <a:t> 以太坊账户模型与转账</a:t>
            </a:r>
            <a:endParaRPr kumimoji="1" lang="en-US" altLang="zh-CN" dirty="0"/>
          </a:p>
          <a:p>
            <a:pPr marL="0" indent="0">
              <a:lnSpc>
                <a:spcPct val="130000"/>
              </a:lnSpc>
              <a:buNone/>
            </a:pPr>
            <a:r>
              <a:rPr kumimoji="1" lang="en-US" altLang="zh-CN" dirty="0"/>
              <a:t>5.4</a:t>
            </a:r>
            <a:r>
              <a:rPr kumimoji="1" lang="zh-CN" altLang="en-US" dirty="0"/>
              <a:t> 以太坊数据结构及存储</a:t>
            </a:r>
            <a:endParaRPr kumimoji="1" lang="en-US" altLang="zh-CN" dirty="0"/>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Tree>
    <p:extLst>
      <p:ext uri="{BB962C8B-B14F-4D97-AF65-F5344CB8AC3E}">
        <p14:creationId xmlns:p14="http://schemas.microsoft.com/office/powerpoint/2010/main" val="164188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以太坊基本架构及原理</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885799" cy="5302578"/>
          </a:xfrm>
        </p:spPr>
        <p:txBody>
          <a:bodyPr anchor="t" anchorCtr="0">
            <a:normAutofit/>
          </a:bodyPr>
          <a:lstStyle/>
          <a:p>
            <a:pPr>
              <a:lnSpc>
                <a:spcPct val="140000"/>
              </a:lnSpc>
            </a:pPr>
            <a:r>
              <a:rPr lang="zh-CN" altLang="en-US" dirty="0">
                <a:latin typeface="Garamond" panose="02020404030301010803" pitchFamily="18" charset="0"/>
              </a:rPr>
              <a:t>定义</a:t>
            </a:r>
            <a:endParaRPr lang="en-US" altLang="zh-CN" dirty="0">
              <a:latin typeface="Garamond" panose="02020404030301010803" pitchFamily="18" charset="0"/>
            </a:endParaRPr>
          </a:p>
          <a:p>
            <a:pPr lvl="1">
              <a:lnSpc>
                <a:spcPct val="140000"/>
              </a:lnSpc>
            </a:pPr>
            <a:r>
              <a:rPr lang="zh-CN" altLang="en-US" dirty="0">
                <a:latin typeface="Garamond" panose="02020404030301010803" pitchFamily="18" charset="0"/>
              </a:rPr>
              <a:t>以太坊状态</a:t>
            </a:r>
            <a:endParaRPr lang="en-US" altLang="zh-CN" dirty="0">
              <a:latin typeface="Garamond" panose="02020404030301010803" pitchFamily="18" charset="0"/>
            </a:endParaRPr>
          </a:p>
          <a:p>
            <a:pPr lvl="2">
              <a:lnSpc>
                <a:spcPct val="140000"/>
              </a:lnSpc>
            </a:pPr>
            <a:r>
              <a:rPr lang="zh-CN" altLang="en-US" dirty="0">
                <a:latin typeface="Garamond" panose="02020404030301010803" pitchFamily="18" charset="0"/>
              </a:rPr>
              <a:t>所有以太坊账户</a:t>
            </a:r>
            <a:endParaRPr lang="en-US" altLang="zh-CN" dirty="0">
              <a:latin typeface="Garamond" panose="02020404030301010803" pitchFamily="18" charset="0"/>
            </a:endParaRPr>
          </a:p>
          <a:p>
            <a:pPr lvl="2">
              <a:lnSpc>
                <a:spcPct val="140000"/>
              </a:lnSpc>
            </a:pPr>
            <a:r>
              <a:rPr lang="zh-CN" altLang="en-US" dirty="0">
                <a:latin typeface="Garamond" panose="02020404030301010803" pitchFamily="18" charset="0"/>
              </a:rPr>
              <a:t>账户余额</a:t>
            </a:r>
            <a:endParaRPr lang="en-US" altLang="zh-CN" dirty="0">
              <a:latin typeface="Garamond" panose="02020404030301010803" pitchFamily="18" charset="0"/>
            </a:endParaRPr>
          </a:p>
          <a:p>
            <a:pPr lvl="2">
              <a:lnSpc>
                <a:spcPct val="140000"/>
              </a:lnSpc>
            </a:pPr>
            <a:r>
              <a:rPr lang="zh-CN" altLang="en-US" dirty="0">
                <a:latin typeface="Garamond" panose="02020404030301010803" pitchFamily="18" charset="0"/>
              </a:rPr>
              <a:t>智能合约代码</a:t>
            </a:r>
            <a:endParaRPr lang="en-US" altLang="zh-CN" dirty="0">
              <a:latin typeface="Garamond" panose="02020404030301010803" pitchFamily="18" charset="0"/>
            </a:endParaRPr>
          </a:p>
          <a:p>
            <a:pPr lvl="2">
              <a:lnSpc>
                <a:spcPct val="140000"/>
              </a:lnSpc>
            </a:pPr>
            <a:r>
              <a:rPr lang="zh-CN" altLang="en-US" dirty="0">
                <a:latin typeface="Garamond" panose="02020404030301010803" pitchFamily="18" charset="0"/>
              </a:rPr>
              <a:t>智能合约状态</a:t>
            </a:r>
            <a:endParaRPr lang="en-US" altLang="zh-CN" dirty="0">
              <a:latin typeface="Garamond" panose="02020404030301010803" pitchFamily="18" charset="0"/>
            </a:endParaRPr>
          </a:p>
          <a:p>
            <a:pPr lvl="1">
              <a:lnSpc>
                <a:spcPct val="140000"/>
              </a:lnSpc>
            </a:pPr>
            <a:r>
              <a:rPr lang="zh-CN" altLang="en-US" dirty="0">
                <a:latin typeface="Garamond" panose="02020404030301010803" pitchFamily="18" charset="0"/>
              </a:rPr>
              <a:t>状态转移</a:t>
            </a:r>
            <a:endParaRPr lang="en-US" altLang="zh-CN" dirty="0">
              <a:latin typeface="Garamond" panose="02020404030301010803" pitchFamily="18" charset="0"/>
            </a:endParaRPr>
          </a:p>
          <a:p>
            <a:pPr lvl="2">
              <a:lnSpc>
                <a:spcPct val="140000"/>
              </a:lnSpc>
            </a:pPr>
            <a:r>
              <a:rPr lang="zh-TW" altLang="zh-CN" dirty="0">
                <a:latin typeface="Garamond" panose="02020404030301010803" pitchFamily="18" charset="0"/>
              </a:rPr>
              <a:t>在区块N执行前状态为S，经过区块N的交易进行状态转换后，转换为状态S'，再经过区块N+1的转换后，转换为状态S''</a:t>
            </a:r>
            <a:endParaRPr lang="en-US" altLang="zh-CN" dirty="0">
              <a:solidFill>
                <a:srgbClr val="C00000"/>
              </a:solidFill>
              <a:latin typeface="Garamond" panose="02020404030301010803" pitchFamily="18" charset="0"/>
            </a:endParaRPr>
          </a:p>
          <a:p>
            <a:pPr lvl="2">
              <a:lnSpc>
                <a:spcPct val="140000"/>
              </a:lnSpc>
            </a:pP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extLst>
      <p:ext uri="{BB962C8B-B14F-4D97-AF65-F5344CB8AC3E}">
        <p14:creationId xmlns:p14="http://schemas.microsoft.com/office/powerpoint/2010/main" val="2706017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以太坊基本架构及原理</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885799" cy="5302578"/>
          </a:xfrm>
        </p:spPr>
        <p:txBody>
          <a:bodyPr anchor="t" anchorCtr="0">
            <a:normAutofit/>
          </a:bodyPr>
          <a:lstStyle/>
          <a:p>
            <a:pPr lvl="1">
              <a:lnSpc>
                <a:spcPct val="140000"/>
              </a:lnSpc>
            </a:pPr>
            <a:r>
              <a:rPr lang="zh-CN" altLang="en-US" dirty="0">
                <a:latin typeface="Garamond" panose="02020404030301010803" pitchFamily="18" charset="0"/>
              </a:rPr>
              <a:t>以太坊状态转移</a:t>
            </a:r>
            <a:endParaRPr lang="en-US" altLang="zh-CN" dirty="0">
              <a:latin typeface="Garamond" panose="02020404030301010803" pitchFamily="18" charset="0"/>
            </a:endParaRPr>
          </a:p>
          <a:p>
            <a:pPr lvl="2">
              <a:lnSpc>
                <a:spcPct val="140000"/>
              </a:lnSpc>
            </a:pPr>
            <a:r>
              <a:rPr lang="zh-TW" altLang="zh-CN" dirty="0">
                <a:latin typeface="Garamond" panose="02020404030301010803" pitchFamily="18" charset="0"/>
              </a:rPr>
              <a:t>智能合约</a:t>
            </a:r>
            <a:r>
              <a:rPr lang="zh-CN" altLang="en-US" dirty="0">
                <a:latin typeface="Garamond" panose="02020404030301010803" pitchFamily="18" charset="0"/>
              </a:rPr>
              <a:t>：</a:t>
            </a:r>
            <a:r>
              <a:rPr lang="zh-TW" altLang="zh-CN" dirty="0">
                <a:latin typeface="Garamond" panose="02020404030301010803" pitchFamily="18" charset="0"/>
              </a:rPr>
              <a:t>作用于该状态机转换的代码</a:t>
            </a:r>
            <a:endParaRPr lang="en-US" altLang="zh-TW" dirty="0">
              <a:latin typeface="Garamond" panose="02020404030301010803" pitchFamily="18" charset="0"/>
            </a:endParaRPr>
          </a:p>
          <a:p>
            <a:pPr lvl="2">
              <a:lnSpc>
                <a:spcPct val="140000"/>
              </a:lnSpc>
            </a:pPr>
            <a:r>
              <a:rPr lang="zh-CN" altLang="en-US" dirty="0">
                <a:latin typeface="Garamond" panose="02020404030301010803" pitchFamily="18" charset="0"/>
              </a:rPr>
              <a:t>以太坊虚拟机</a:t>
            </a:r>
            <a:r>
              <a:rPr lang="zh-TW" altLang="zh-CN" dirty="0">
                <a:latin typeface="Garamond" panose="02020404030301010803" pitchFamily="18" charset="0"/>
              </a:rPr>
              <a:t>（Ethereum Virtual Machine，简称EVM）</a:t>
            </a:r>
            <a:r>
              <a:rPr lang="zh-CN" altLang="en-US" dirty="0">
                <a:latin typeface="Garamond" panose="02020404030301010803" pitchFamily="18" charset="0"/>
              </a:rPr>
              <a:t>：</a:t>
            </a:r>
            <a:r>
              <a:rPr lang="zh-TW" altLang="zh-CN" dirty="0">
                <a:latin typeface="Garamond" panose="02020404030301010803" pitchFamily="18" charset="0"/>
              </a:rPr>
              <a:t>执行状态转换代码的虚拟机</a:t>
            </a: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pic>
        <p:nvPicPr>
          <p:cNvPr id="6" name="图片 5">
            <a:extLst>
              <a:ext uri="{FF2B5EF4-FFF2-40B4-BE49-F238E27FC236}">
                <a16:creationId xmlns:a16="http://schemas.microsoft.com/office/drawing/2014/main" id="{9EE72932-ABC2-9D45-B863-5870A3F25B8F}"/>
              </a:ext>
            </a:extLst>
          </p:cNvPr>
          <p:cNvPicPr/>
          <p:nvPr/>
        </p:nvPicPr>
        <p:blipFill>
          <a:blip r:embed="rId3">
            <a:extLst>
              <a:ext uri="{28A0092B-C50C-407E-A947-70E740481C1C}">
                <a14:useLocalDpi xmlns:a14="http://schemas.microsoft.com/office/drawing/2010/main" val="0"/>
              </a:ext>
            </a:extLst>
          </a:blip>
          <a:srcRect/>
          <a:stretch>
            <a:fillRect/>
          </a:stretch>
        </p:blipFill>
        <p:spPr>
          <a:xfrm>
            <a:off x="5891392" y="3423400"/>
            <a:ext cx="5088512" cy="2389611"/>
          </a:xfrm>
          <a:prstGeom prst="rect">
            <a:avLst/>
          </a:prstGeom>
          <a:noFill/>
          <a:ln>
            <a:noFill/>
          </a:ln>
        </p:spPr>
      </p:pic>
      <p:sp>
        <p:nvSpPr>
          <p:cNvPr id="5" name="圆角矩形 4">
            <a:extLst>
              <a:ext uri="{FF2B5EF4-FFF2-40B4-BE49-F238E27FC236}">
                <a16:creationId xmlns:a16="http://schemas.microsoft.com/office/drawing/2014/main" id="{D5AB2C08-F5C6-5E4E-A194-1D901AF34C0B}"/>
              </a:ext>
            </a:extLst>
          </p:cNvPr>
          <p:cNvSpPr/>
          <p:nvPr/>
        </p:nvSpPr>
        <p:spPr>
          <a:xfrm>
            <a:off x="1097958" y="4720417"/>
            <a:ext cx="3366052" cy="15107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zh-CN" altLang="en-US" dirty="0">
                <a:solidFill>
                  <a:sysClr val="windowText" lastClr="000000"/>
                </a:solidFill>
              </a:rPr>
              <a:t>账户</a:t>
            </a:r>
            <a:endParaRPr kumimoji="1" lang="en-US" altLang="zh-CN" dirty="0">
              <a:solidFill>
                <a:sysClr val="windowText" lastClr="000000"/>
              </a:solidFill>
            </a:endParaRPr>
          </a:p>
          <a:p>
            <a:pPr marL="285750" indent="-285750">
              <a:buFont typeface="Arial" panose="020B0604020202020204" pitchFamily="34" charset="0"/>
              <a:buChar char="•"/>
            </a:pPr>
            <a:r>
              <a:rPr kumimoji="1" lang="zh-CN" altLang="en-US" dirty="0">
                <a:solidFill>
                  <a:sysClr val="windowText" lastClr="000000"/>
                </a:solidFill>
              </a:rPr>
              <a:t>余额</a:t>
            </a:r>
            <a:endParaRPr kumimoji="1" lang="en-US" altLang="zh-CN" dirty="0">
              <a:solidFill>
                <a:sysClr val="windowText" lastClr="000000"/>
              </a:solidFill>
            </a:endParaRPr>
          </a:p>
          <a:p>
            <a:pPr marL="285750" indent="-285750">
              <a:buFont typeface="Arial" panose="020B0604020202020204" pitchFamily="34" charset="0"/>
              <a:buChar char="•"/>
            </a:pPr>
            <a:r>
              <a:rPr kumimoji="1" lang="zh-CN" altLang="en-US" dirty="0">
                <a:solidFill>
                  <a:sysClr val="windowText" lastClr="000000"/>
                </a:solidFill>
              </a:rPr>
              <a:t>智能合约代码</a:t>
            </a:r>
            <a:endParaRPr kumimoji="1" lang="en-US" altLang="zh-CN" dirty="0">
              <a:solidFill>
                <a:sysClr val="windowText" lastClr="000000"/>
              </a:solidFill>
            </a:endParaRPr>
          </a:p>
          <a:p>
            <a:pPr marL="285750" indent="-285750">
              <a:buFont typeface="Arial" panose="020B0604020202020204" pitchFamily="34" charset="0"/>
              <a:buChar char="•"/>
            </a:pPr>
            <a:r>
              <a:rPr kumimoji="1" lang="zh-CN" altLang="en-US" dirty="0">
                <a:solidFill>
                  <a:sysClr val="windowText" lastClr="000000"/>
                </a:solidFill>
              </a:rPr>
              <a:t>智能合约状态</a:t>
            </a:r>
          </a:p>
        </p:txBody>
      </p:sp>
      <p:cxnSp>
        <p:nvCxnSpPr>
          <p:cNvPr id="8" name="直线连接符 7">
            <a:extLst>
              <a:ext uri="{FF2B5EF4-FFF2-40B4-BE49-F238E27FC236}">
                <a16:creationId xmlns:a16="http://schemas.microsoft.com/office/drawing/2014/main" id="{8C7B8B59-0E6E-6B4A-90C5-39BDBF9BC52D}"/>
              </a:ext>
            </a:extLst>
          </p:cNvPr>
          <p:cNvCxnSpPr>
            <a:cxnSpLocks/>
          </p:cNvCxnSpPr>
          <p:nvPr/>
        </p:nvCxnSpPr>
        <p:spPr>
          <a:xfrm flipH="1" flipV="1">
            <a:off x="4464010" y="4878733"/>
            <a:ext cx="1473409" cy="467140"/>
          </a:xfrm>
          <a:prstGeom prst="line">
            <a:avLst/>
          </a:prstGeom>
        </p:spPr>
        <p:style>
          <a:lnRef idx="1">
            <a:schemeClr val="dk1"/>
          </a:lnRef>
          <a:fillRef idx="0">
            <a:schemeClr val="dk1"/>
          </a:fillRef>
          <a:effectRef idx="0">
            <a:schemeClr val="dk1"/>
          </a:effectRef>
          <a:fontRef idx="minor">
            <a:schemeClr val="tx1"/>
          </a:fontRef>
        </p:style>
      </p:cxnSp>
      <p:cxnSp>
        <p:nvCxnSpPr>
          <p:cNvPr id="10" name="直线连接符 9">
            <a:extLst>
              <a:ext uri="{FF2B5EF4-FFF2-40B4-BE49-F238E27FC236}">
                <a16:creationId xmlns:a16="http://schemas.microsoft.com/office/drawing/2014/main" id="{541E906E-F7FC-4F4B-911B-5DAD383F1009}"/>
              </a:ext>
            </a:extLst>
          </p:cNvPr>
          <p:cNvCxnSpPr>
            <a:cxnSpLocks/>
          </p:cNvCxnSpPr>
          <p:nvPr/>
        </p:nvCxnSpPr>
        <p:spPr>
          <a:xfrm flipH="1">
            <a:off x="4488539" y="5701495"/>
            <a:ext cx="1402853" cy="373832"/>
          </a:xfrm>
          <a:prstGeom prst="line">
            <a:avLst/>
          </a:prstGeom>
        </p:spPr>
        <p:style>
          <a:lnRef idx="1">
            <a:schemeClr val="dk1"/>
          </a:lnRef>
          <a:fillRef idx="0">
            <a:schemeClr val="dk1"/>
          </a:fillRef>
          <a:effectRef idx="0">
            <a:schemeClr val="dk1"/>
          </a:effectRef>
          <a:fontRef idx="minor">
            <a:schemeClr val="tx1"/>
          </a:fontRef>
        </p:style>
      </p:cxnSp>
      <p:sp>
        <p:nvSpPr>
          <p:cNvPr id="4" name="文本框 3"/>
          <p:cNvSpPr txBox="1"/>
          <p:nvPr/>
        </p:nvSpPr>
        <p:spPr>
          <a:xfrm>
            <a:off x="4389264" y="6385023"/>
            <a:ext cx="2698175" cy="307777"/>
          </a:xfrm>
          <a:prstGeom prst="rect">
            <a:avLst/>
          </a:prstGeom>
          <a:noFill/>
        </p:spPr>
        <p:txBody>
          <a:bodyPr wrap="none" rtlCol="0">
            <a:spAutoFit/>
          </a:bodyPr>
          <a:lstStyle/>
          <a:p>
            <a:r>
              <a:rPr lang="zh-CN" altLang="zh-CN" sz="1400" dirty="0">
                <a:latin typeface="微软雅黑" panose="020B0503020204020204" pitchFamily="34" charset="-122"/>
                <a:ea typeface="微软雅黑" panose="020B0503020204020204" pitchFamily="34" charset="-122"/>
              </a:rPr>
              <a:t>以太坊中的状态转换模型示意图</a:t>
            </a:r>
          </a:p>
        </p:txBody>
      </p:sp>
    </p:spTree>
    <p:extLst>
      <p:ext uri="{BB962C8B-B14F-4D97-AF65-F5344CB8AC3E}">
        <p14:creationId xmlns:p14="http://schemas.microsoft.com/office/powerpoint/2010/main" val="2050752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以太坊简易架构图</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885799" cy="5302578"/>
          </a:xfrm>
        </p:spPr>
        <p:txBody>
          <a:bodyPr anchor="t" anchorCtr="0">
            <a:normAutofit/>
          </a:bodyPr>
          <a:lstStyle/>
          <a:p>
            <a:pPr>
              <a:lnSpc>
                <a:spcPct val="140000"/>
              </a:lnSpc>
            </a:pPr>
            <a:r>
              <a:rPr lang="zh-CN" altLang="en-US" dirty="0"/>
              <a:t>定义</a:t>
            </a:r>
            <a:endParaRPr lang="en-US" altLang="zh-CN" dirty="0"/>
          </a:p>
          <a:p>
            <a:pPr lvl="1">
              <a:lnSpc>
                <a:spcPct val="140000"/>
              </a:lnSpc>
            </a:pPr>
            <a:r>
              <a:rPr lang="zh-CN" altLang="en-US" dirty="0"/>
              <a:t>区块链数据</a:t>
            </a:r>
            <a:endParaRPr lang="en-US" altLang="zh-CN" dirty="0"/>
          </a:p>
          <a:p>
            <a:pPr lvl="2">
              <a:lnSpc>
                <a:spcPct val="140000"/>
              </a:lnSpc>
            </a:pPr>
            <a:r>
              <a:rPr lang="zh-CN" altLang="en-US" dirty="0"/>
              <a:t>以太坊区块链，状态数据，收据数据等</a:t>
            </a:r>
            <a:endParaRPr lang="en-US" altLang="zh-CN" dirty="0"/>
          </a:p>
          <a:p>
            <a:pPr lvl="1">
              <a:lnSpc>
                <a:spcPct val="140000"/>
              </a:lnSpc>
            </a:pPr>
            <a:r>
              <a:rPr lang="zh-CN" altLang="en-US" dirty="0"/>
              <a:t>智能合约</a:t>
            </a:r>
            <a:endParaRPr lang="en-US" altLang="zh-CN" dirty="0"/>
          </a:p>
          <a:p>
            <a:pPr lvl="2">
              <a:lnSpc>
                <a:spcPct val="140000"/>
              </a:lnSpc>
            </a:pPr>
            <a:r>
              <a:rPr lang="zh-CN" altLang="en-US" dirty="0"/>
              <a:t>存储在以太坊上的一段代码</a:t>
            </a:r>
            <a:endParaRPr lang="en-US" altLang="zh-CN" dirty="0"/>
          </a:p>
          <a:p>
            <a:pPr lvl="1">
              <a:lnSpc>
                <a:spcPct val="140000"/>
              </a:lnSpc>
            </a:pPr>
            <a:r>
              <a:rPr lang="zh-CN" altLang="en-US" dirty="0"/>
              <a:t>节点</a:t>
            </a:r>
            <a:endParaRPr lang="en-US" altLang="zh-CN" dirty="0"/>
          </a:p>
          <a:p>
            <a:pPr lvl="2">
              <a:lnSpc>
                <a:spcPct val="140000"/>
              </a:lnSpc>
            </a:pPr>
            <a:r>
              <a:rPr lang="zh-CN" altLang="en-US" dirty="0"/>
              <a:t>保存有区块链数据的节点</a:t>
            </a:r>
            <a:endParaRPr lang="en-US" altLang="zh-CN" dirty="0"/>
          </a:p>
          <a:p>
            <a:pPr lvl="2">
              <a:lnSpc>
                <a:spcPct val="140000"/>
              </a:lnSpc>
            </a:pPr>
            <a:r>
              <a:rPr lang="zh-CN" altLang="en-US" dirty="0"/>
              <a:t>每个节点独立的维护区块链数据</a:t>
            </a:r>
            <a:endParaRPr lang="en-US" altLang="zh-CN" dirty="0"/>
          </a:p>
          <a:p>
            <a:pPr lvl="2">
              <a:lnSpc>
                <a:spcPct val="140000"/>
              </a:lnSpc>
            </a:pPr>
            <a:r>
              <a:rPr lang="zh-CN" altLang="en-US" dirty="0"/>
              <a:t>节点间采用共识机制达成共识，维护全网的状态一致</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pic>
        <p:nvPicPr>
          <p:cNvPr id="9" name="图片 8">
            <a:extLst>
              <a:ext uri="{FF2B5EF4-FFF2-40B4-BE49-F238E27FC236}">
                <a16:creationId xmlns:a16="http://schemas.microsoft.com/office/drawing/2014/main" id="{5E9EDD10-0B59-9C43-9024-9EF13CB474C5}"/>
              </a:ext>
            </a:extLst>
          </p:cNvPr>
          <p:cNvPicPr/>
          <p:nvPr/>
        </p:nvPicPr>
        <p:blipFill>
          <a:blip r:embed="rId3">
            <a:extLst>
              <a:ext uri="{28A0092B-C50C-407E-A947-70E740481C1C}">
                <a14:useLocalDpi xmlns:a14="http://schemas.microsoft.com/office/drawing/2010/main" val="0"/>
              </a:ext>
            </a:extLst>
          </a:blip>
          <a:srcRect/>
          <a:stretch>
            <a:fillRect/>
          </a:stretch>
        </p:blipFill>
        <p:spPr>
          <a:xfrm>
            <a:off x="6944937" y="2656055"/>
            <a:ext cx="4958225" cy="2828262"/>
          </a:xfrm>
          <a:prstGeom prst="rect">
            <a:avLst/>
          </a:prstGeom>
          <a:noFill/>
          <a:ln>
            <a:noFill/>
          </a:ln>
        </p:spPr>
      </p:pic>
    </p:spTree>
    <p:extLst>
      <p:ext uri="{BB962C8B-B14F-4D97-AF65-F5344CB8AC3E}">
        <p14:creationId xmlns:p14="http://schemas.microsoft.com/office/powerpoint/2010/main" val="2793965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以太坊基本架构及原理</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885799" cy="5302578"/>
          </a:xfrm>
        </p:spPr>
        <p:txBody>
          <a:bodyPr anchor="t" anchorCtr="0">
            <a:normAutofit/>
          </a:bodyPr>
          <a:lstStyle/>
          <a:p>
            <a:pPr>
              <a:lnSpc>
                <a:spcPct val="130000"/>
              </a:lnSpc>
            </a:pPr>
            <a:r>
              <a:rPr lang="zh-CN" altLang="en-US" dirty="0">
                <a:latin typeface="Garamond" panose="02020404030301010803" pitchFamily="18" charset="0"/>
              </a:rPr>
              <a:t>以太坊状态转移模型的共识问题</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相比比特币的</a:t>
            </a:r>
            <a:r>
              <a:rPr lang="en-US" altLang="zh-CN" dirty="0">
                <a:latin typeface="Garamond" panose="02020404030301010803" pitchFamily="18" charset="0"/>
              </a:rPr>
              <a:t>UTXO</a:t>
            </a:r>
            <a:r>
              <a:rPr lang="zh-TW" altLang="zh-CN" dirty="0">
                <a:latin typeface="Garamond" panose="02020404030301010803" pitchFamily="18" charset="0"/>
              </a:rPr>
              <a:t>模型，状态转换模型虽然使得智能合约的各种变量存储、传参等变得更加灵活，但也带来了多方共识上的困难，如发生分叉时的处理</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在以太坊的状态转换模型中，如果发生分叉，需要回到分叉时的状态，重新验证另一条分支上的区块</a:t>
            </a:r>
            <a:endParaRPr lang="en-US" altLang="zh-TW" dirty="0">
              <a:latin typeface="Garamond" panose="02020404030301010803" pitchFamily="18" charset="0"/>
            </a:endParaRPr>
          </a:p>
          <a:p>
            <a:pPr lvl="1">
              <a:lnSpc>
                <a:spcPct val="130000"/>
              </a:lnSpc>
            </a:pPr>
            <a:r>
              <a:rPr lang="zh-CN" altLang="en-US" dirty="0">
                <a:latin typeface="Garamond" panose="02020404030301010803" pitchFamily="18" charset="0"/>
              </a:rPr>
              <a:t>以太坊</a:t>
            </a:r>
            <a:r>
              <a:rPr lang="zh-TW" altLang="zh-CN" dirty="0">
                <a:latin typeface="Garamond" panose="02020404030301010803" pitchFamily="18" charset="0"/>
              </a:rPr>
              <a:t>状态的存储采用了一种独立于区块链存在的树形结构，该状态树结构的树根登记在区块中，记为</a:t>
            </a:r>
            <a:r>
              <a:rPr lang="en-US" altLang="zh-CN" dirty="0" err="1">
                <a:latin typeface="Garamond" panose="02020404030301010803" pitchFamily="18" charset="0"/>
              </a:rPr>
              <a:t>stateRoot</a:t>
            </a:r>
            <a:r>
              <a:rPr lang="zh-TW" altLang="zh-CN" dirty="0">
                <a:latin typeface="Garamond" panose="02020404030301010803" pitchFamily="18" charset="0"/>
              </a:rPr>
              <a:t>，从而使得状态能够在全网得到共识确认，并在分叉时能够快速回滚。</a:t>
            </a:r>
            <a:endParaRPr lang="zh-CN"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extLst>
      <p:ext uri="{BB962C8B-B14F-4D97-AF65-F5344CB8AC3E}">
        <p14:creationId xmlns:p14="http://schemas.microsoft.com/office/powerpoint/2010/main" val="180506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以太坊基本原理及例子</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4375927" cy="5302578"/>
          </a:xfrm>
        </p:spPr>
        <p:txBody>
          <a:bodyPr anchor="t" anchorCtr="0">
            <a:normAutofit/>
          </a:bodyPr>
          <a:lstStyle/>
          <a:p>
            <a:pPr>
              <a:lnSpc>
                <a:spcPct val="140000"/>
              </a:lnSpc>
            </a:pPr>
            <a:r>
              <a:rPr lang="zh-CN" altLang="en-US" dirty="0">
                <a:latin typeface="Garamond" panose="02020404030301010803" pitchFamily="18" charset="0"/>
              </a:rPr>
              <a:t>交易执行概述</a:t>
            </a:r>
            <a:endParaRPr lang="en-US" altLang="zh-CN" dirty="0">
              <a:latin typeface="Garamond" panose="02020404030301010803" pitchFamily="18" charset="0"/>
            </a:endParaRPr>
          </a:p>
          <a:p>
            <a:pPr marL="914400" lvl="1" indent="-457200">
              <a:lnSpc>
                <a:spcPct val="140000"/>
              </a:lnSpc>
              <a:buFont typeface="+mj-lt"/>
              <a:buAutoNum type="arabicPeriod"/>
            </a:pPr>
            <a:r>
              <a:rPr lang="zh-CN" altLang="en-US" dirty="0">
                <a:latin typeface="Garamond" panose="02020404030301010803" pitchFamily="18" charset="0"/>
              </a:rPr>
              <a:t>每个节点独立维护数据</a:t>
            </a:r>
            <a:endParaRPr lang="en-US" altLang="zh-CN" dirty="0">
              <a:latin typeface="Garamond" panose="02020404030301010803" pitchFamily="18" charset="0"/>
            </a:endParaRPr>
          </a:p>
          <a:p>
            <a:pPr marL="914400" lvl="1" indent="-457200">
              <a:lnSpc>
                <a:spcPct val="140000"/>
              </a:lnSpc>
              <a:buFont typeface="+mj-lt"/>
              <a:buAutoNum type="arabicPeriod"/>
            </a:pPr>
            <a:r>
              <a:rPr lang="zh-CN" altLang="en-US" dirty="0">
                <a:latin typeface="Garamond" panose="02020404030301010803" pitchFamily="18" charset="0"/>
              </a:rPr>
              <a:t>节点独立地在</a:t>
            </a:r>
            <a:r>
              <a:rPr lang="en-US" altLang="zh-CN" dirty="0">
                <a:latin typeface="Garamond" panose="02020404030301010803" pitchFamily="18" charset="0"/>
              </a:rPr>
              <a:t>EVM</a:t>
            </a:r>
            <a:r>
              <a:rPr lang="zh-CN" altLang="en-US" dirty="0">
                <a:latin typeface="Garamond" panose="02020404030301010803" pitchFamily="18" charset="0"/>
              </a:rPr>
              <a:t>中执行合约</a:t>
            </a:r>
            <a:endParaRPr lang="en-US" altLang="zh-CN" dirty="0">
              <a:latin typeface="Garamond" panose="02020404030301010803" pitchFamily="18" charset="0"/>
            </a:endParaRPr>
          </a:p>
          <a:p>
            <a:pPr marL="914400" lvl="1" indent="-457200">
              <a:lnSpc>
                <a:spcPct val="140000"/>
              </a:lnSpc>
              <a:buFont typeface="+mj-lt"/>
              <a:buAutoNum type="arabicPeriod"/>
            </a:pPr>
            <a:r>
              <a:rPr lang="zh-CN" altLang="en-US" dirty="0">
                <a:latin typeface="Garamond" panose="02020404030301010803" pitchFamily="18" charset="0"/>
              </a:rPr>
              <a:t>将执行结果写回区块链数据</a:t>
            </a:r>
            <a:endParaRPr lang="en-US" altLang="zh-CN" dirty="0">
              <a:latin typeface="Garamond" panose="02020404030301010803" pitchFamily="18" charset="0"/>
            </a:endParaRPr>
          </a:p>
          <a:p>
            <a:pPr marL="914400" lvl="1" indent="-457200">
              <a:lnSpc>
                <a:spcPct val="140000"/>
              </a:lnSpc>
              <a:buFont typeface="+mj-lt"/>
              <a:buAutoNum type="arabicPeriod"/>
            </a:pPr>
            <a:r>
              <a:rPr lang="zh-CN" altLang="en-US" dirty="0">
                <a:latin typeface="Garamond" panose="02020404030301010803" pitchFamily="18" charset="0"/>
              </a:rPr>
              <a:t>节点之间执行共识机制，达成共识</a:t>
            </a: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pic>
        <p:nvPicPr>
          <p:cNvPr id="4" name="图片 3">
            <a:extLst>
              <a:ext uri="{FF2B5EF4-FFF2-40B4-BE49-F238E27FC236}">
                <a16:creationId xmlns:a16="http://schemas.microsoft.com/office/drawing/2014/main" id="{BC3A4242-5664-974B-9833-C284CC15C82F}"/>
              </a:ext>
            </a:extLst>
          </p:cNvPr>
          <p:cNvPicPr>
            <a:picLocks noChangeAspect="1"/>
          </p:cNvPicPr>
          <p:nvPr/>
        </p:nvPicPr>
        <p:blipFill>
          <a:blip r:embed="rId3"/>
          <a:stretch>
            <a:fillRect/>
          </a:stretch>
        </p:blipFill>
        <p:spPr>
          <a:xfrm>
            <a:off x="4836137" y="2343283"/>
            <a:ext cx="6961008" cy="3593691"/>
          </a:xfrm>
          <a:prstGeom prst="rect">
            <a:avLst/>
          </a:prstGeom>
        </p:spPr>
      </p:pic>
      <p:sp>
        <p:nvSpPr>
          <p:cNvPr id="6" name="文本框 5"/>
          <p:cNvSpPr txBox="1"/>
          <p:nvPr/>
        </p:nvSpPr>
        <p:spPr>
          <a:xfrm>
            <a:off x="7262506" y="5965428"/>
            <a:ext cx="2108269" cy="307777"/>
          </a:xfrm>
          <a:prstGeom prst="rect">
            <a:avLst/>
          </a:prstGeom>
          <a:noFill/>
        </p:spPr>
        <p:txBody>
          <a:bodyPr wrap="none" rtlCol="0">
            <a:spAutoFit/>
          </a:bodyPr>
          <a:lstStyle/>
          <a:p>
            <a:r>
              <a:rPr lang="zh-CN" altLang="en-US" sz="1400" dirty="0"/>
              <a:t>“张三买电影票”交易案例</a:t>
            </a:r>
          </a:p>
        </p:txBody>
      </p:sp>
    </p:spTree>
    <p:extLst>
      <p:ext uri="{BB962C8B-B14F-4D97-AF65-F5344CB8AC3E}">
        <p14:creationId xmlns:p14="http://schemas.microsoft.com/office/powerpoint/2010/main" val="4149190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以太坊基本原理及例子</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10927272" cy="5302578"/>
          </a:xfrm>
        </p:spPr>
        <p:txBody>
          <a:bodyPr anchor="t" anchorCtr="0">
            <a:normAutofit/>
          </a:bodyPr>
          <a:lstStyle/>
          <a:p>
            <a:pPr>
              <a:lnSpc>
                <a:spcPct val="140000"/>
              </a:lnSpc>
            </a:pPr>
            <a:r>
              <a:rPr lang="zh-CN" altLang="en-US" sz="2000" dirty="0">
                <a:latin typeface="Garamond" panose="02020404030301010803" pitchFamily="18" charset="0"/>
              </a:rPr>
              <a:t>实例：交易执行具体过程</a:t>
            </a:r>
            <a:endParaRPr lang="en-US" altLang="zh-CN" sz="2000" dirty="0">
              <a:latin typeface="Garamond" panose="02020404030301010803" pitchFamily="18" charset="0"/>
            </a:endParaRPr>
          </a:p>
          <a:p>
            <a:pPr marL="914400" lvl="1" indent="-457200">
              <a:lnSpc>
                <a:spcPct val="140000"/>
              </a:lnSpc>
              <a:buFont typeface="+mj-lt"/>
              <a:buAutoNum type="arabicPeriod"/>
            </a:pPr>
            <a:r>
              <a:rPr lang="zh-CN" altLang="en-US" sz="1800" dirty="0">
                <a:latin typeface="Garamond" panose="02020404030301010803" pitchFamily="18" charset="0"/>
              </a:rPr>
              <a:t>每个节点独立维护数据，这些节点</a:t>
            </a:r>
            <a:r>
              <a:rPr lang="zh-TW" altLang="zh-CN" sz="1800" dirty="0">
                <a:latin typeface="Garamond" panose="02020404030301010803" pitchFamily="18" charset="0"/>
              </a:rPr>
              <a:t>可以是张三、李四、赵四、影院主管等人</a:t>
            </a:r>
            <a:endParaRPr lang="zh-CN" altLang="zh-CN" sz="1800" dirty="0">
              <a:latin typeface="Garamond" panose="02020404030301010803" pitchFamily="18" charset="0"/>
            </a:endParaRPr>
          </a:p>
          <a:p>
            <a:pPr marL="914400" lvl="1" indent="-457200">
              <a:lnSpc>
                <a:spcPct val="140000"/>
              </a:lnSpc>
              <a:buFont typeface="+mj-lt"/>
              <a:buAutoNum type="arabicPeriod"/>
            </a:pPr>
            <a:r>
              <a:rPr lang="en-US" altLang="zh-CN" sz="1800" dirty="0">
                <a:latin typeface="Garamond" panose="02020404030301010803" pitchFamily="18" charset="0"/>
              </a:rPr>
              <a:t>“</a:t>
            </a:r>
            <a:r>
              <a:rPr lang="zh-TW" altLang="zh-CN" sz="1800" dirty="0">
                <a:latin typeface="Garamond" panose="02020404030301010803" pitchFamily="18" charset="0"/>
              </a:rPr>
              <a:t>张三买电影票</a:t>
            </a:r>
            <a:r>
              <a:rPr lang="en-US" altLang="zh-CN" sz="1800" dirty="0">
                <a:latin typeface="Garamond" panose="02020404030301010803" pitchFamily="18" charset="0"/>
              </a:rPr>
              <a:t>”</a:t>
            </a:r>
            <a:r>
              <a:rPr lang="zh-TW" altLang="zh-CN" sz="1800" dirty="0">
                <a:latin typeface="Garamond" panose="02020404030301010803" pitchFamily="18" charset="0"/>
              </a:rPr>
              <a:t>的交易在所有节点中被</a:t>
            </a:r>
            <a:r>
              <a:rPr lang="zh-CN" altLang="en-US" sz="1800" dirty="0">
                <a:latin typeface="Garamond" panose="02020404030301010803" pitchFamily="18" charset="0"/>
              </a:rPr>
              <a:t>独立</a:t>
            </a:r>
            <a:r>
              <a:rPr lang="zh-TW" altLang="zh-CN" sz="1800" dirty="0">
                <a:latin typeface="Garamond" panose="02020404030301010803" pitchFamily="18" charset="0"/>
              </a:rPr>
              <a:t>验证</a:t>
            </a:r>
            <a:endParaRPr lang="en-US" altLang="zh-TW" sz="1800" dirty="0">
              <a:latin typeface="Garamond" panose="02020404030301010803" pitchFamily="18" charset="0"/>
            </a:endParaRPr>
          </a:p>
          <a:p>
            <a:pPr marL="914400" lvl="1" indent="-457200">
              <a:lnSpc>
                <a:spcPct val="140000"/>
              </a:lnSpc>
              <a:buFont typeface="+mj-lt"/>
              <a:buAutoNum type="arabicPeriod"/>
            </a:pPr>
            <a:r>
              <a:rPr lang="zh-CN" altLang="en-US" sz="1800" dirty="0">
                <a:latin typeface="Garamond" panose="02020404030301010803" pitchFamily="18" charset="0"/>
              </a:rPr>
              <a:t>以太坊虚拟机的执行结果将以某种方式写回到区块链数据中，</a:t>
            </a:r>
            <a:r>
              <a:rPr lang="zh-TW" altLang="zh-CN" sz="1800" dirty="0">
                <a:latin typeface="Garamond" panose="02020404030301010803" pitchFamily="18" charset="0"/>
              </a:rPr>
              <a:t>比如张三的余额、影院的余票等。每个区块中会保留一段摘要，这段摘要为执行完区块中交易后以太坊状态的</a:t>
            </a:r>
            <a:r>
              <a:rPr lang="en-US" altLang="zh-CN" sz="1800" dirty="0" err="1">
                <a:latin typeface="Garamond" panose="02020404030301010803" pitchFamily="18" charset="0"/>
              </a:rPr>
              <a:t>stateRoot</a:t>
            </a:r>
            <a:r>
              <a:rPr lang="zh-TW" altLang="zh-CN" sz="1800" dirty="0">
                <a:latin typeface="Garamond" panose="02020404030301010803" pitchFamily="18" charset="0"/>
              </a:rPr>
              <a:t>，任一子状态的不同都将导致</a:t>
            </a:r>
            <a:r>
              <a:rPr lang="en-US" altLang="zh-CN" sz="1800" dirty="0" err="1">
                <a:latin typeface="Garamond" panose="02020404030301010803" pitchFamily="18" charset="0"/>
              </a:rPr>
              <a:t>stateRoot</a:t>
            </a:r>
            <a:r>
              <a:rPr lang="zh-TW" altLang="zh-CN" sz="1800" dirty="0">
                <a:latin typeface="Garamond" panose="02020404030301010803" pitchFamily="18" charset="0"/>
              </a:rPr>
              <a:t>的不同</a:t>
            </a:r>
            <a:endParaRPr lang="en-US" altLang="zh-TW" sz="1800" dirty="0">
              <a:latin typeface="Garamond" panose="02020404030301010803" pitchFamily="18" charset="0"/>
            </a:endParaRPr>
          </a:p>
          <a:p>
            <a:pPr marL="914400" lvl="1" indent="-457200">
              <a:lnSpc>
                <a:spcPct val="140000"/>
              </a:lnSpc>
              <a:buFont typeface="+mj-lt"/>
              <a:buAutoNum type="arabicPeriod"/>
            </a:pPr>
            <a:r>
              <a:rPr lang="zh-CN" altLang="en-US" sz="1800" dirty="0">
                <a:latin typeface="Garamond" panose="02020404030301010803" pitchFamily="18" charset="0"/>
              </a:rPr>
              <a:t>如果张三控制的节点受到非法攻击或篡改，则执行结果及区块链数据将与网络中其他节点（如李四、赵四、影院的节点）不符，无法参与到网络的下一步共识中</a:t>
            </a:r>
            <a:endParaRPr lang="en-US" altLang="zh-TW" sz="1800" dirty="0">
              <a:latin typeface="Garamond" panose="02020404030301010803" pitchFamily="18" charset="0"/>
            </a:endParaRPr>
          </a:p>
          <a:p>
            <a:pPr marL="914400" lvl="1" indent="-457200">
              <a:lnSpc>
                <a:spcPct val="140000"/>
              </a:lnSpc>
              <a:buFont typeface="+mj-lt"/>
              <a:buAutoNum type="arabicPeriod"/>
            </a:pPr>
            <a:endParaRPr lang="en-US" altLang="zh-TW" sz="1400"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extLst>
      <p:ext uri="{BB962C8B-B14F-4D97-AF65-F5344CB8AC3E}">
        <p14:creationId xmlns:p14="http://schemas.microsoft.com/office/powerpoint/2010/main" val="2522230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5.1 </a:t>
            </a:r>
            <a:r>
              <a:rPr kumimoji="1" lang="zh-CN" altLang="en-US" dirty="0"/>
              <a:t>以太坊简介</a:t>
            </a:r>
            <a:endParaRPr kumimoji="1" lang="en-US" altLang="zh-CN" dirty="0"/>
          </a:p>
          <a:p>
            <a:pPr marL="0" indent="0">
              <a:lnSpc>
                <a:spcPct val="130000"/>
              </a:lnSpc>
              <a:buNone/>
            </a:pPr>
            <a:r>
              <a:rPr kumimoji="1" lang="en-US" altLang="zh-CN" dirty="0"/>
              <a:t>5.2</a:t>
            </a:r>
            <a:r>
              <a:rPr kumimoji="1" lang="zh-CN" altLang="en-US" dirty="0"/>
              <a:t> 以太坊基本架构及原理</a:t>
            </a:r>
            <a:endParaRPr kumimoji="1" lang="en-US" altLang="zh-CN" dirty="0"/>
          </a:p>
          <a:p>
            <a:pPr marL="0" indent="0">
              <a:lnSpc>
                <a:spcPct val="130000"/>
              </a:lnSpc>
              <a:buNone/>
            </a:pPr>
            <a:r>
              <a:rPr kumimoji="1" lang="en-US" altLang="zh-CN" b="1" dirty="0">
                <a:solidFill>
                  <a:srgbClr val="B962FF"/>
                </a:solidFill>
                <a:latin typeface="Garamond" panose="02020404030301010803" pitchFamily="18" charset="0"/>
              </a:rPr>
              <a:t>5.3</a:t>
            </a:r>
            <a:r>
              <a:rPr kumimoji="1" lang="zh-CN" altLang="en-US" b="1" dirty="0">
                <a:solidFill>
                  <a:srgbClr val="B962FF"/>
                </a:solidFill>
                <a:latin typeface="Garamond" panose="02020404030301010803" pitchFamily="18" charset="0"/>
              </a:rPr>
              <a:t> 以太坊账户模型与转账</a:t>
            </a:r>
            <a:endParaRPr kumimoji="1" lang="en-US" altLang="zh-CN" b="1" dirty="0">
              <a:solidFill>
                <a:srgbClr val="B962FF"/>
              </a:solidFill>
              <a:latin typeface="Garamond" panose="02020404030301010803" pitchFamily="18" charset="0"/>
            </a:endParaRPr>
          </a:p>
          <a:p>
            <a:pPr marL="0" indent="0">
              <a:lnSpc>
                <a:spcPct val="130000"/>
              </a:lnSpc>
              <a:buNone/>
            </a:pPr>
            <a:r>
              <a:rPr kumimoji="1" lang="en-US" altLang="zh-CN" dirty="0"/>
              <a:t>5.4</a:t>
            </a:r>
            <a:r>
              <a:rPr kumimoji="1" lang="zh-CN" altLang="en-US" dirty="0"/>
              <a:t> 以太坊数据结构及存储</a:t>
            </a:r>
            <a:endParaRPr kumimoji="1" lang="en-US" altLang="zh-CN" dirty="0"/>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
        <p:nvSpPr>
          <p:cNvPr id="6" name="矩形标注 6">
            <a:extLst>
              <a:ext uri="{FF2B5EF4-FFF2-40B4-BE49-F238E27FC236}">
                <a16:creationId xmlns:a16="http://schemas.microsoft.com/office/drawing/2014/main" id="{880F6849-F0DD-4182-8830-FA99522FAF63}"/>
              </a:ext>
            </a:extLst>
          </p:cNvPr>
          <p:cNvSpPr/>
          <p:nvPr/>
        </p:nvSpPr>
        <p:spPr>
          <a:xfrm>
            <a:off x="6913000" y="2417087"/>
            <a:ext cx="4281889" cy="1808747"/>
          </a:xfrm>
          <a:prstGeom prst="wedgeRectCallout">
            <a:avLst>
              <a:gd name="adj1" fmla="val -76323"/>
              <a:gd name="adj2" fmla="val -2004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账户模型</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转账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Garamond" panose="02020404030301010803" pitchFamily="18" charset="0"/>
                <a:ea typeface="Microsoft YaHei" panose="020B0503020204020204" pitchFamily="34" charset="-122"/>
              </a:rPr>
              <a:t>Nonce</a:t>
            </a:r>
          </a:p>
        </p:txBody>
      </p:sp>
    </p:spTree>
    <p:extLst>
      <p:ext uri="{BB962C8B-B14F-4D97-AF65-F5344CB8AC3E}">
        <p14:creationId xmlns:p14="http://schemas.microsoft.com/office/powerpoint/2010/main" val="213930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以太坊账户模型</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文本占位符 3">
            <a:extLst>
              <a:ext uri="{FF2B5EF4-FFF2-40B4-BE49-F238E27FC236}">
                <a16:creationId xmlns:a16="http://schemas.microsoft.com/office/drawing/2014/main" id="{13B7C1C9-81B8-4F01-8C3F-BCCA2019C691}"/>
              </a:ext>
            </a:extLst>
          </p:cNvPr>
          <p:cNvSpPr>
            <a:spLocks noGrp="1"/>
          </p:cNvSpPr>
          <p:nvPr/>
        </p:nvSpPr>
        <p:spPr bwMode="auto">
          <a:xfrm>
            <a:off x="160082" y="1323610"/>
            <a:ext cx="546262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7013" indent="-227013" algn="l" defTabSz="912813" rtl="0" eaLnBrk="0" fontAlgn="base" hangingPunct="0">
              <a:lnSpc>
                <a:spcPct val="90000"/>
              </a:lnSpc>
              <a:spcBef>
                <a:spcPts val="1000"/>
              </a:spcBef>
              <a:spcAft>
                <a:spcPct val="0"/>
              </a:spcAft>
              <a:buFont typeface="Wingdings" pitchFamily="2" charset="2"/>
              <a:buChar char="ü"/>
              <a:defRPr sz="2400" b="1" i="0" kern="1200">
                <a:solidFill>
                  <a:schemeClr val="tx1"/>
                </a:solidFill>
                <a:latin typeface="LXGW WenKai" pitchFamily="2" charset="-120"/>
                <a:ea typeface="LXGW WenKai" pitchFamily="2" charset="-120"/>
                <a:cs typeface="等线" panose="02010600030101010101" pitchFamily="2" charset="-122"/>
              </a:defRPr>
            </a:lvl1pPr>
            <a:lvl2pPr marL="457200" indent="0" algn="l" defTabSz="912813" rtl="0" eaLnBrk="0" fontAlgn="base" hangingPunct="0">
              <a:lnSpc>
                <a:spcPct val="90000"/>
              </a:lnSpc>
              <a:spcBef>
                <a:spcPts val="500"/>
              </a:spcBef>
              <a:spcAft>
                <a:spcPct val="0"/>
              </a:spcAft>
              <a:buFont typeface="Arial" panose="020B0604020202020204" pitchFamily="34" charset="0"/>
              <a:buNone/>
              <a:defRPr sz="2400" kern="1200">
                <a:solidFill>
                  <a:schemeClr val="tx1"/>
                </a:solidFill>
                <a:latin typeface="+mn-lt"/>
                <a:ea typeface="+mn-ea"/>
                <a:cs typeface="等线" panose="02010600030101010101" pitchFamily="2" charset="-122"/>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pitchFamily="2" charset="-122"/>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panose="02010600030101010101" pitchFamily="2" charset="-122"/>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panose="02010600030101010101" pitchFamily="2" charset="-122"/>
              </a:defRPr>
            </a:lvl5pPr>
            <a:lvl6pPr marL="2514516"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01"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85"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71"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 </a:t>
            </a:r>
            <a:r>
              <a:rPr lang="zh-CN" altLang="en-US" dirty="0"/>
              <a:t>基于账户的账本</a:t>
            </a:r>
          </a:p>
        </p:txBody>
      </p:sp>
      <p:sp>
        <p:nvSpPr>
          <p:cNvPr id="13" name="文本框 5">
            <a:extLst>
              <a:ext uri="{FF2B5EF4-FFF2-40B4-BE49-F238E27FC236}">
                <a16:creationId xmlns:a16="http://schemas.microsoft.com/office/drawing/2014/main" id="{DA551B03-A89E-4387-8FEC-E5F7CA4013DC}"/>
              </a:ext>
            </a:extLst>
          </p:cNvPr>
          <p:cNvSpPr txBox="1"/>
          <p:nvPr/>
        </p:nvSpPr>
        <p:spPr>
          <a:xfrm>
            <a:off x="154764" y="1861799"/>
            <a:ext cx="3012363"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marL="285750" indent="-285750">
              <a:buFont typeface="Wingdings" panose="05000000000000000000" pitchFamily="2" charset="2"/>
              <a:buChar char="p"/>
            </a:pPr>
            <a:r>
              <a:rPr lang="zh-CN" altLang="en-US" b="1" dirty="0">
                <a:latin typeface="Times New Roman" panose="02020603050405020304" pitchFamily="18" charset="0"/>
                <a:ea typeface="微软雅黑" panose="020B0503020204020204" pitchFamily="34" charset="-122"/>
              </a:rPr>
              <a:t>比特币：</a:t>
            </a:r>
            <a:r>
              <a:rPr lang="zh-CN" altLang="en-US" dirty="0">
                <a:latin typeface="Times New Roman" panose="02020603050405020304" pitchFamily="18" charset="0"/>
                <a:ea typeface="微软雅黑" panose="020B0503020204020204" pitchFamily="34" charset="-122"/>
              </a:rPr>
              <a:t>基于交易的账本</a:t>
            </a:r>
          </a:p>
        </p:txBody>
      </p:sp>
      <p:sp>
        <p:nvSpPr>
          <p:cNvPr id="14" name="矩形 13">
            <a:extLst>
              <a:ext uri="{FF2B5EF4-FFF2-40B4-BE49-F238E27FC236}">
                <a16:creationId xmlns:a16="http://schemas.microsoft.com/office/drawing/2014/main" id="{3901D09D-147D-471C-9307-0456F8FC99A6}"/>
              </a:ext>
            </a:extLst>
          </p:cNvPr>
          <p:cNvSpPr/>
          <p:nvPr/>
        </p:nvSpPr>
        <p:spPr>
          <a:xfrm>
            <a:off x="4350396" y="2046465"/>
            <a:ext cx="226243" cy="369332"/>
          </a:xfrm>
          <a:prstGeom prst="rect">
            <a:avLst/>
          </a:prstGeom>
          <a:solidFill>
            <a:schemeClr val="accent4">
              <a:lumMod val="20000"/>
              <a:lumOff val="80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49F82325-CE74-40BD-B68A-E2711B003F79}"/>
              </a:ext>
            </a:extLst>
          </p:cNvPr>
          <p:cNvSpPr/>
          <p:nvPr/>
        </p:nvSpPr>
        <p:spPr>
          <a:xfrm>
            <a:off x="4576639" y="2046465"/>
            <a:ext cx="226243" cy="369332"/>
          </a:xfrm>
          <a:prstGeom prst="rect">
            <a:avLst/>
          </a:prstGeom>
          <a:pattFill prst="wdUpDiag">
            <a:fgClr>
              <a:srgbClr val="EE1A1A"/>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id="{3392EE5D-0E7A-4263-AAC6-39CBB204BA69}"/>
              </a:ext>
            </a:extLst>
          </p:cNvPr>
          <p:cNvSpPr/>
          <p:nvPr/>
        </p:nvSpPr>
        <p:spPr>
          <a:xfrm>
            <a:off x="4799183" y="2046465"/>
            <a:ext cx="226243" cy="369332"/>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id="{4209725C-78D9-4B46-9F70-E24102B771CB}"/>
              </a:ext>
            </a:extLst>
          </p:cNvPr>
          <p:cNvSpPr/>
          <p:nvPr/>
        </p:nvSpPr>
        <p:spPr>
          <a:xfrm>
            <a:off x="5031253" y="2046465"/>
            <a:ext cx="226243" cy="369332"/>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582142B9-D537-4DA4-B5ED-FA9736FF9E96}"/>
              </a:ext>
            </a:extLst>
          </p:cNvPr>
          <p:cNvSpPr/>
          <p:nvPr/>
        </p:nvSpPr>
        <p:spPr>
          <a:xfrm>
            <a:off x="5257496" y="2046465"/>
            <a:ext cx="226243" cy="369332"/>
          </a:xfrm>
          <a:prstGeom prst="rect">
            <a:avLst/>
          </a:prstGeom>
          <a:pattFill prst="wdUpDiag">
            <a:fgClr>
              <a:srgbClr val="EE1A1A"/>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D67E9F07-3E80-409A-B883-73FE92E36AD0}"/>
              </a:ext>
            </a:extLst>
          </p:cNvPr>
          <p:cNvSpPr/>
          <p:nvPr/>
        </p:nvSpPr>
        <p:spPr>
          <a:xfrm>
            <a:off x="5483739" y="2046465"/>
            <a:ext cx="226243" cy="369332"/>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文本框 12">
            <a:extLst>
              <a:ext uri="{FF2B5EF4-FFF2-40B4-BE49-F238E27FC236}">
                <a16:creationId xmlns:a16="http://schemas.microsoft.com/office/drawing/2014/main" id="{4FB7B60A-1258-486D-B6A8-AC93FD9F4EAE}"/>
              </a:ext>
            </a:extLst>
          </p:cNvPr>
          <p:cNvSpPr txBox="1"/>
          <p:nvPr/>
        </p:nvSpPr>
        <p:spPr>
          <a:xfrm>
            <a:off x="3518702" y="2046465"/>
            <a:ext cx="825867"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UTXO</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1" name="直接箭头连接符 20">
            <a:extLst>
              <a:ext uri="{FF2B5EF4-FFF2-40B4-BE49-F238E27FC236}">
                <a16:creationId xmlns:a16="http://schemas.microsoft.com/office/drawing/2014/main" id="{F46B8137-A683-4260-90A0-F6C1B74C683A}"/>
              </a:ext>
            </a:extLst>
          </p:cNvPr>
          <p:cNvCxnSpPr>
            <a:cxnSpLocks/>
            <a:stCxn id="14" idx="0"/>
          </p:cNvCxnSpPr>
          <p:nvPr/>
        </p:nvCxnSpPr>
        <p:spPr>
          <a:xfrm flipV="1">
            <a:off x="4463518" y="1811779"/>
            <a:ext cx="0" cy="234686"/>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sp>
        <p:nvSpPr>
          <p:cNvPr id="22" name="文本框 16">
            <a:extLst>
              <a:ext uri="{FF2B5EF4-FFF2-40B4-BE49-F238E27FC236}">
                <a16:creationId xmlns:a16="http://schemas.microsoft.com/office/drawing/2014/main" id="{089ACA9B-2B5A-4D4E-B4A8-E25F6F62847D}"/>
              </a:ext>
            </a:extLst>
          </p:cNvPr>
          <p:cNvSpPr txBox="1"/>
          <p:nvPr/>
        </p:nvSpPr>
        <p:spPr>
          <a:xfrm>
            <a:off x="4050583" y="1492467"/>
            <a:ext cx="774571"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output</a:t>
            </a:r>
            <a:endParaRPr lang="zh-CN" altLang="en-US" dirty="0">
              <a:latin typeface="Times New Roman" panose="02020603050405020304" pitchFamily="18" charset="0"/>
              <a:cs typeface="Times New Roman" panose="02020603050405020304" pitchFamily="18" charset="0"/>
            </a:endParaRPr>
          </a:p>
        </p:txBody>
      </p:sp>
      <p:cxnSp>
        <p:nvCxnSpPr>
          <p:cNvPr id="23" name="直接箭头连接符 22">
            <a:extLst>
              <a:ext uri="{FF2B5EF4-FFF2-40B4-BE49-F238E27FC236}">
                <a16:creationId xmlns:a16="http://schemas.microsoft.com/office/drawing/2014/main" id="{979F4870-BE4B-4FED-B15B-FE0FC9451F97}"/>
              </a:ext>
            </a:extLst>
          </p:cNvPr>
          <p:cNvCxnSpPr>
            <a:cxnSpLocks/>
          </p:cNvCxnSpPr>
          <p:nvPr/>
        </p:nvCxnSpPr>
        <p:spPr>
          <a:xfrm flipV="1">
            <a:off x="4689760" y="2415797"/>
            <a:ext cx="0" cy="234686"/>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sp>
        <p:nvSpPr>
          <p:cNvPr id="24" name="文本框 18">
            <a:extLst>
              <a:ext uri="{FF2B5EF4-FFF2-40B4-BE49-F238E27FC236}">
                <a16:creationId xmlns:a16="http://schemas.microsoft.com/office/drawing/2014/main" id="{E7B8D544-AA60-4B01-AFD0-8BB44289F4C1}"/>
              </a:ext>
            </a:extLst>
          </p:cNvPr>
          <p:cNvSpPr txBox="1"/>
          <p:nvPr/>
        </p:nvSpPr>
        <p:spPr>
          <a:xfrm>
            <a:off x="4347358" y="2604128"/>
            <a:ext cx="684803"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input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5" name="直接箭头连接符 24">
            <a:extLst>
              <a:ext uri="{FF2B5EF4-FFF2-40B4-BE49-F238E27FC236}">
                <a16:creationId xmlns:a16="http://schemas.microsoft.com/office/drawing/2014/main" id="{04114D14-51C7-4653-B6B1-918E7C37A194}"/>
              </a:ext>
            </a:extLst>
          </p:cNvPr>
          <p:cNvCxnSpPr>
            <a:cxnSpLocks/>
          </p:cNvCxnSpPr>
          <p:nvPr/>
        </p:nvCxnSpPr>
        <p:spPr>
          <a:xfrm flipV="1">
            <a:off x="5367581" y="2415797"/>
            <a:ext cx="0" cy="234686"/>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文本框 20">
            <a:extLst>
              <a:ext uri="{FF2B5EF4-FFF2-40B4-BE49-F238E27FC236}">
                <a16:creationId xmlns:a16="http://schemas.microsoft.com/office/drawing/2014/main" id="{ED887946-959F-4DB3-AC51-65B9FC3BD850}"/>
              </a:ext>
            </a:extLst>
          </p:cNvPr>
          <p:cNvSpPr txBox="1"/>
          <p:nvPr/>
        </p:nvSpPr>
        <p:spPr>
          <a:xfrm>
            <a:off x="5025179" y="2604128"/>
            <a:ext cx="684803"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input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7" name="图片 26">
            <a:extLst>
              <a:ext uri="{FF2B5EF4-FFF2-40B4-BE49-F238E27FC236}">
                <a16:creationId xmlns:a16="http://schemas.microsoft.com/office/drawing/2014/main" id="{0BB1F886-9B06-4B64-BE0C-2C98C3D72363}"/>
              </a:ext>
            </a:extLst>
          </p:cNvPr>
          <p:cNvPicPr>
            <a:picLocks noChangeAspect="1"/>
          </p:cNvPicPr>
          <p:nvPr/>
        </p:nvPicPr>
        <p:blipFill>
          <a:blip r:embed="rId3"/>
          <a:stretch>
            <a:fillRect/>
          </a:stretch>
        </p:blipFill>
        <p:spPr>
          <a:xfrm>
            <a:off x="126401" y="2401209"/>
            <a:ext cx="4884366" cy="1044354"/>
          </a:xfrm>
          <a:prstGeom prst="rect">
            <a:avLst/>
          </a:prstGeom>
        </p:spPr>
      </p:pic>
      <p:sp>
        <p:nvSpPr>
          <p:cNvPr id="28" name="文本框 22">
            <a:extLst>
              <a:ext uri="{FF2B5EF4-FFF2-40B4-BE49-F238E27FC236}">
                <a16:creationId xmlns:a16="http://schemas.microsoft.com/office/drawing/2014/main" id="{822F8A1C-E61D-4536-8F18-4228942E13D6}"/>
              </a:ext>
            </a:extLst>
          </p:cNvPr>
          <p:cNvSpPr txBox="1"/>
          <p:nvPr/>
        </p:nvSpPr>
        <p:spPr>
          <a:xfrm>
            <a:off x="67484" y="3556633"/>
            <a:ext cx="3012363"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marL="285750" indent="-285750">
              <a:buFont typeface="Wingdings" panose="05000000000000000000" pitchFamily="2" charset="2"/>
              <a:buChar char="p"/>
            </a:pPr>
            <a:r>
              <a:rPr lang="zh-CN" altLang="en-US" b="1" dirty="0">
                <a:latin typeface="Times New Roman" panose="02020603050405020304" pitchFamily="18" charset="0"/>
                <a:ea typeface="微软雅黑" panose="020B0503020204020204" pitchFamily="34" charset="-122"/>
              </a:rPr>
              <a:t>以太坊：</a:t>
            </a:r>
            <a:r>
              <a:rPr lang="zh-CN" altLang="en-US" dirty="0">
                <a:latin typeface="Times New Roman" panose="02020603050405020304" pitchFamily="18" charset="0"/>
                <a:ea typeface="微软雅黑" panose="020B0503020204020204" pitchFamily="34" charset="-122"/>
              </a:rPr>
              <a:t>基于</a:t>
            </a:r>
            <a:r>
              <a:rPr lang="zh-CN" altLang="en-US" dirty="0">
                <a:solidFill>
                  <a:srgbClr val="EE1A1A"/>
                </a:solidFill>
                <a:latin typeface="Times New Roman" panose="02020603050405020304" pitchFamily="18" charset="0"/>
                <a:ea typeface="微软雅黑" panose="020B0503020204020204" pitchFamily="34" charset="-122"/>
              </a:rPr>
              <a:t>账户</a:t>
            </a:r>
            <a:r>
              <a:rPr lang="zh-CN" altLang="en-US" dirty="0">
                <a:latin typeface="Times New Roman" panose="02020603050405020304" pitchFamily="18" charset="0"/>
                <a:ea typeface="微软雅黑" panose="020B0503020204020204" pitchFamily="34" charset="-122"/>
              </a:rPr>
              <a:t>的账本</a:t>
            </a:r>
          </a:p>
        </p:txBody>
      </p:sp>
      <p:pic>
        <p:nvPicPr>
          <p:cNvPr id="29" name="Picture 4" descr="See the source image">
            <a:extLst>
              <a:ext uri="{FF2B5EF4-FFF2-40B4-BE49-F238E27FC236}">
                <a16:creationId xmlns:a16="http://schemas.microsoft.com/office/drawing/2014/main" id="{8B8CC855-0551-4B97-AE99-74D41278AF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6322" y="4801507"/>
            <a:ext cx="2361068" cy="1574045"/>
          </a:xfrm>
          <a:prstGeom prst="rect">
            <a:avLst/>
          </a:prstGeom>
          <a:noFill/>
          <a:extLst>
            <a:ext uri="{909E8E84-426E-40DD-AFC4-6F175D3DCCD1}">
              <a14:hiddenFill xmlns:a14="http://schemas.microsoft.com/office/drawing/2010/main">
                <a:solidFill>
                  <a:srgbClr val="FFFFFF"/>
                </a:solidFill>
              </a14:hiddenFill>
            </a:ext>
          </a:extLst>
        </p:spPr>
      </p:pic>
      <p:sp>
        <p:nvSpPr>
          <p:cNvPr id="31" name="文本框 26">
            <a:extLst>
              <a:ext uri="{FF2B5EF4-FFF2-40B4-BE49-F238E27FC236}">
                <a16:creationId xmlns:a16="http://schemas.microsoft.com/office/drawing/2014/main" id="{E3E14D45-AB2D-4B09-AD09-898DAA0659BB}"/>
              </a:ext>
            </a:extLst>
          </p:cNvPr>
          <p:cNvSpPr txBox="1"/>
          <p:nvPr/>
        </p:nvSpPr>
        <p:spPr>
          <a:xfrm>
            <a:off x="6214168" y="4879225"/>
            <a:ext cx="3348413" cy="1569660"/>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algn="just"/>
            <a:r>
              <a:rPr lang="en-US" altLang="zh-CN" sz="1600" b="1" dirty="0">
                <a:latin typeface="Times New Roman" panose="02020603050405020304" pitchFamily="18" charset="0"/>
                <a:ea typeface="微软雅黑" panose="020B0503020204020204" pitchFamily="34" charset="-122"/>
              </a:rPr>
              <a:t>2010</a:t>
            </a:r>
            <a:r>
              <a:rPr lang="zh-CN" altLang="en-US" sz="1600" b="1"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Blizzard</a:t>
            </a:r>
            <a:r>
              <a:rPr lang="zh-CN" altLang="en-US" sz="1600" dirty="0">
                <a:latin typeface="Times New Roman" panose="02020603050405020304" pitchFamily="18" charset="0"/>
                <a:ea typeface="微软雅黑" panose="020B0503020204020204" pitchFamily="34" charset="-122"/>
              </a:rPr>
              <a:t>移除了</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魔兽世界</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术士的“生命虹吸”技能，这是</a:t>
            </a:r>
            <a:r>
              <a:rPr lang="en-US" altLang="zh-CN" sz="1600" dirty="0" err="1">
                <a:latin typeface="Times New Roman" panose="02020603050405020304" pitchFamily="18" charset="0"/>
                <a:ea typeface="微软雅黑" panose="020B0503020204020204" pitchFamily="34" charset="-122"/>
              </a:rPr>
              <a:t>Vitalik</a:t>
            </a:r>
            <a:r>
              <a:rPr lang="zh-CN" altLang="en-US" sz="1600" dirty="0">
                <a:latin typeface="Times New Roman" panose="02020603050405020304" pitchFamily="18" charset="0"/>
                <a:ea typeface="微软雅黑" panose="020B0503020204020204" pitchFamily="34" charset="-122"/>
              </a:rPr>
              <a:t>最喜欢的技能。</a:t>
            </a:r>
            <a:r>
              <a:rPr lang="en-US" altLang="zh-CN" sz="1600" dirty="0" err="1">
                <a:latin typeface="Times New Roman" panose="02020603050405020304" pitchFamily="18" charset="0"/>
                <a:ea typeface="微软雅黑" panose="020B0503020204020204" pitchFamily="34" charset="-122"/>
              </a:rPr>
              <a:t>Vitalik</a:t>
            </a:r>
            <a:r>
              <a:rPr lang="zh-CN" altLang="en-US" sz="1600" dirty="0">
                <a:latin typeface="Times New Roman" panose="02020603050405020304" pitchFamily="18" charset="0"/>
                <a:ea typeface="微软雅黑" panose="020B0503020204020204" pitchFamily="34" charset="-122"/>
              </a:rPr>
              <a:t>一气之下删除了</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魔兽世界</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并开始反思中心化架构的弊病。</a:t>
            </a:r>
            <a:r>
              <a:rPr lang="en-US" altLang="zh-CN" sz="1600" dirty="0">
                <a:latin typeface="Times New Roman" panose="02020603050405020304" pitchFamily="18" charset="0"/>
                <a:ea typeface="微软雅黑" panose="020B0503020204020204" pitchFamily="34" charset="-122"/>
              </a:rPr>
              <a:t>2013</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以太坊白皮书</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问世。</a:t>
            </a:r>
            <a:endParaRPr lang="zh-CN" altLang="en-US" sz="1600" b="1" dirty="0">
              <a:latin typeface="Times New Roman" panose="02020603050405020304" pitchFamily="18" charset="0"/>
              <a:ea typeface="微软雅黑" panose="020B0503020204020204" pitchFamily="34" charset="-122"/>
            </a:endParaRPr>
          </a:p>
        </p:txBody>
      </p:sp>
      <p:sp>
        <p:nvSpPr>
          <p:cNvPr id="32" name="矩形 31">
            <a:extLst>
              <a:ext uri="{FF2B5EF4-FFF2-40B4-BE49-F238E27FC236}">
                <a16:creationId xmlns:a16="http://schemas.microsoft.com/office/drawing/2014/main" id="{56B1A481-9377-40B0-93CC-D0D4C6FD1619}"/>
              </a:ext>
            </a:extLst>
          </p:cNvPr>
          <p:cNvSpPr/>
          <p:nvPr/>
        </p:nvSpPr>
        <p:spPr>
          <a:xfrm>
            <a:off x="9982140" y="6318339"/>
            <a:ext cx="1562223"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err="1">
                <a:latin typeface="Times New Roman" panose="02020603050405020304" pitchFamily="18" charset="0"/>
                <a:ea typeface="微软雅黑" panose="020B0503020204020204" pitchFamily="34" charset="-122"/>
              </a:rPr>
              <a:t>Vitalik</a:t>
            </a:r>
            <a:r>
              <a:rPr lang="en-US" altLang="zh-CN" dirty="0">
                <a:latin typeface="Times New Roman" panose="02020603050405020304" pitchFamily="18" charset="0"/>
                <a:ea typeface="微软雅黑" panose="020B0503020204020204" pitchFamily="34" charset="-122"/>
              </a:rPr>
              <a:t> </a:t>
            </a:r>
            <a:r>
              <a:rPr lang="en-US" altLang="zh-CN" dirty="0" err="1">
                <a:latin typeface="Times New Roman" panose="02020603050405020304" pitchFamily="18" charset="0"/>
                <a:ea typeface="微软雅黑" panose="020B0503020204020204" pitchFamily="34" charset="-122"/>
              </a:rPr>
              <a:t>Buterin</a:t>
            </a:r>
            <a:endParaRPr lang="en-US" altLang="zh-CN" b="0" i="0" dirty="0">
              <a:effectLst/>
              <a:latin typeface="Times New Roman" panose="02020603050405020304" pitchFamily="18" charset="0"/>
              <a:ea typeface="微软雅黑" panose="020B0503020204020204" pitchFamily="34" charset="-122"/>
            </a:endParaRPr>
          </a:p>
        </p:txBody>
      </p:sp>
      <p:sp>
        <p:nvSpPr>
          <p:cNvPr id="33" name="文本框 25">
            <a:extLst>
              <a:ext uri="{FF2B5EF4-FFF2-40B4-BE49-F238E27FC236}">
                <a16:creationId xmlns:a16="http://schemas.microsoft.com/office/drawing/2014/main" id="{53C5A10B-460B-4A82-85A6-CF26166688B7}"/>
              </a:ext>
            </a:extLst>
          </p:cNvPr>
          <p:cNvSpPr txBox="1"/>
          <p:nvPr/>
        </p:nvSpPr>
        <p:spPr>
          <a:xfrm>
            <a:off x="146955" y="4093746"/>
            <a:ext cx="2416046"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zh-CN" altLang="en-US" dirty="0">
                <a:latin typeface="Times New Roman" panose="02020603050405020304" pitchFamily="18" charset="0"/>
                <a:ea typeface="微软雅黑" panose="020B0503020204020204" pitchFamily="34" charset="-122"/>
              </a:rPr>
              <a:t>账户</a:t>
            </a:r>
            <a:r>
              <a:rPr lang="en-US" altLang="zh-CN" dirty="0">
                <a:latin typeface="Times New Roman" panose="02020603050405020304" pitchFamily="18" charset="0"/>
                <a:ea typeface="微软雅黑" panose="020B0503020204020204" pitchFamily="34" charset="-122"/>
              </a:rPr>
              <a:t>A</a:t>
            </a:r>
            <a:r>
              <a:rPr lang="zh-CN" altLang="en-US" dirty="0">
                <a:latin typeface="Times New Roman" panose="02020603050405020304" pitchFamily="18" charset="0"/>
                <a:ea typeface="微软雅黑" panose="020B0503020204020204" pitchFamily="34" charset="-122"/>
              </a:rPr>
              <a:t>（公钥哈希）：</a:t>
            </a:r>
          </a:p>
        </p:txBody>
      </p:sp>
      <p:sp>
        <p:nvSpPr>
          <p:cNvPr id="34" name="文本框 29">
            <a:extLst>
              <a:ext uri="{FF2B5EF4-FFF2-40B4-BE49-F238E27FC236}">
                <a16:creationId xmlns:a16="http://schemas.microsoft.com/office/drawing/2014/main" id="{8B417997-4A67-4CF1-BDAF-435B0567260C}"/>
              </a:ext>
            </a:extLst>
          </p:cNvPr>
          <p:cNvSpPr txBox="1"/>
          <p:nvPr/>
        </p:nvSpPr>
        <p:spPr>
          <a:xfrm>
            <a:off x="2374262" y="3967327"/>
            <a:ext cx="1858201" cy="646331"/>
          </a:xfrm>
          <a:prstGeom prst="rect">
            <a:avLst/>
          </a:prstGeom>
          <a:solidFill>
            <a:schemeClr val="accent1">
              <a:lumMod val="20000"/>
              <a:lumOff val="80000"/>
            </a:schemeClr>
          </a:solidFill>
          <a:ln w="19050">
            <a:solidFill>
              <a:schemeClr val="tx1"/>
            </a:solidFill>
            <a:prstDash val="dash"/>
          </a:ln>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marL="285750" indent="-285750">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rPr>
              <a:t>余额</a:t>
            </a:r>
            <a:endParaRPr lang="en-US" altLang="zh-CN"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rPr>
              <a:t>累计交易数量</a:t>
            </a:r>
          </a:p>
        </p:txBody>
      </p:sp>
      <p:sp>
        <p:nvSpPr>
          <p:cNvPr id="35" name="文本框 30">
            <a:extLst>
              <a:ext uri="{FF2B5EF4-FFF2-40B4-BE49-F238E27FC236}">
                <a16:creationId xmlns:a16="http://schemas.microsoft.com/office/drawing/2014/main" id="{39CED40F-1339-492B-A06B-945D866B2490}"/>
              </a:ext>
            </a:extLst>
          </p:cNvPr>
          <p:cNvSpPr txBox="1"/>
          <p:nvPr/>
        </p:nvSpPr>
        <p:spPr>
          <a:xfrm>
            <a:off x="146955" y="4805382"/>
            <a:ext cx="2416046"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zh-CN" altLang="en-US" dirty="0">
                <a:latin typeface="Times New Roman" panose="02020603050405020304" pitchFamily="18" charset="0"/>
                <a:ea typeface="微软雅黑" panose="020B0503020204020204" pitchFamily="34" charset="-122"/>
              </a:rPr>
              <a:t>账户</a:t>
            </a:r>
            <a:r>
              <a:rPr lang="en-US" altLang="zh-CN" dirty="0">
                <a:latin typeface="Times New Roman" panose="02020603050405020304" pitchFamily="18" charset="0"/>
                <a:ea typeface="微软雅黑" panose="020B0503020204020204" pitchFamily="34" charset="-122"/>
              </a:rPr>
              <a:t>B</a:t>
            </a:r>
            <a:r>
              <a:rPr lang="zh-CN" altLang="en-US" dirty="0">
                <a:latin typeface="Times New Roman" panose="02020603050405020304" pitchFamily="18" charset="0"/>
                <a:ea typeface="微软雅黑" panose="020B0503020204020204" pitchFamily="34" charset="-122"/>
              </a:rPr>
              <a:t>（公钥哈希）：</a:t>
            </a:r>
          </a:p>
        </p:txBody>
      </p:sp>
      <p:sp>
        <p:nvSpPr>
          <p:cNvPr id="36" name="文本框 31">
            <a:extLst>
              <a:ext uri="{FF2B5EF4-FFF2-40B4-BE49-F238E27FC236}">
                <a16:creationId xmlns:a16="http://schemas.microsoft.com/office/drawing/2014/main" id="{B3A2FD2B-44DD-475F-94AC-53CED4685E54}"/>
              </a:ext>
            </a:extLst>
          </p:cNvPr>
          <p:cNvSpPr txBox="1"/>
          <p:nvPr/>
        </p:nvSpPr>
        <p:spPr>
          <a:xfrm>
            <a:off x="2374185" y="4702391"/>
            <a:ext cx="1858201" cy="646331"/>
          </a:xfrm>
          <a:prstGeom prst="rect">
            <a:avLst/>
          </a:prstGeom>
          <a:solidFill>
            <a:schemeClr val="accent1">
              <a:lumMod val="20000"/>
              <a:lumOff val="80000"/>
            </a:schemeClr>
          </a:solidFill>
          <a:ln w="19050">
            <a:solidFill>
              <a:schemeClr val="tx1"/>
            </a:solidFill>
            <a:prstDash val="dash"/>
          </a:ln>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marL="285750" indent="-285750">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rPr>
              <a:t>余额</a:t>
            </a:r>
            <a:endParaRPr lang="en-US" altLang="zh-CN" dirty="0">
              <a:latin typeface="Times New Roman" panose="02020603050405020304" pitchFamily="18" charset="0"/>
              <a:ea typeface="微软雅黑" panose="020B0503020204020204" pitchFamily="34" charset="-122"/>
            </a:endParaRPr>
          </a:p>
          <a:p>
            <a:pPr marL="285750" indent="-285750">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rPr>
              <a:t>累计交易数量</a:t>
            </a:r>
          </a:p>
        </p:txBody>
      </p:sp>
      <p:sp>
        <p:nvSpPr>
          <p:cNvPr id="37" name="矩形 36">
            <a:extLst>
              <a:ext uri="{FF2B5EF4-FFF2-40B4-BE49-F238E27FC236}">
                <a16:creationId xmlns:a16="http://schemas.microsoft.com/office/drawing/2014/main" id="{A03770CD-8CE7-47F7-9F2B-C33FFA9DD893}"/>
              </a:ext>
            </a:extLst>
          </p:cNvPr>
          <p:cNvSpPr/>
          <p:nvPr/>
        </p:nvSpPr>
        <p:spPr>
          <a:xfrm>
            <a:off x="624768" y="5549959"/>
            <a:ext cx="1460420" cy="33855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endParaRPr>
          </a:p>
        </p:txBody>
      </p:sp>
      <p:sp>
        <p:nvSpPr>
          <p:cNvPr id="38" name="矩形 37">
            <a:extLst>
              <a:ext uri="{FF2B5EF4-FFF2-40B4-BE49-F238E27FC236}">
                <a16:creationId xmlns:a16="http://schemas.microsoft.com/office/drawing/2014/main" id="{423E0B60-90FF-4329-810D-C07432B53856}"/>
              </a:ext>
            </a:extLst>
          </p:cNvPr>
          <p:cNvSpPr/>
          <p:nvPr/>
        </p:nvSpPr>
        <p:spPr>
          <a:xfrm>
            <a:off x="258459" y="5534570"/>
            <a:ext cx="351378"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sp>
        <p:nvSpPr>
          <p:cNvPr id="39" name="矩形 38">
            <a:extLst>
              <a:ext uri="{FF2B5EF4-FFF2-40B4-BE49-F238E27FC236}">
                <a16:creationId xmlns:a16="http://schemas.microsoft.com/office/drawing/2014/main" id="{40D66129-3143-4FCC-B5E2-32694B400F29}"/>
              </a:ext>
            </a:extLst>
          </p:cNvPr>
          <p:cNvSpPr/>
          <p:nvPr/>
        </p:nvSpPr>
        <p:spPr>
          <a:xfrm>
            <a:off x="624768" y="6164451"/>
            <a:ext cx="1460420" cy="33855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endParaRPr>
          </a:p>
        </p:txBody>
      </p:sp>
      <p:sp>
        <p:nvSpPr>
          <p:cNvPr id="40" name="矩形 39">
            <a:extLst>
              <a:ext uri="{FF2B5EF4-FFF2-40B4-BE49-F238E27FC236}">
                <a16:creationId xmlns:a16="http://schemas.microsoft.com/office/drawing/2014/main" id="{AA7773C8-6F99-4CDE-939F-E0F80C0CD657}"/>
              </a:ext>
            </a:extLst>
          </p:cNvPr>
          <p:cNvSpPr/>
          <p:nvPr/>
        </p:nvSpPr>
        <p:spPr>
          <a:xfrm>
            <a:off x="258459" y="6149062"/>
            <a:ext cx="351378"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sp>
        <p:nvSpPr>
          <p:cNvPr id="41" name="矩形 40">
            <a:extLst>
              <a:ext uri="{FF2B5EF4-FFF2-40B4-BE49-F238E27FC236}">
                <a16:creationId xmlns:a16="http://schemas.microsoft.com/office/drawing/2014/main" id="{B0AC1E9E-928E-4717-BF00-88F6A3A94B3B}"/>
              </a:ext>
            </a:extLst>
          </p:cNvPr>
          <p:cNvSpPr/>
          <p:nvPr/>
        </p:nvSpPr>
        <p:spPr>
          <a:xfrm>
            <a:off x="3493564" y="5565348"/>
            <a:ext cx="1460420" cy="33855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endParaRPr>
          </a:p>
        </p:txBody>
      </p:sp>
      <p:sp>
        <p:nvSpPr>
          <p:cNvPr id="42" name="矩形 41">
            <a:extLst>
              <a:ext uri="{FF2B5EF4-FFF2-40B4-BE49-F238E27FC236}">
                <a16:creationId xmlns:a16="http://schemas.microsoft.com/office/drawing/2014/main" id="{388DC5A7-7A9F-4468-9106-14A93198FBB7}"/>
              </a:ext>
            </a:extLst>
          </p:cNvPr>
          <p:cNvSpPr/>
          <p:nvPr/>
        </p:nvSpPr>
        <p:spPr>
          <a:xfrm>
            <a:off x="4960732" y="5534570"/>
            <a:ext cx="338554" cy="369332"/>
          </a:xfrm>
          <a:prstGeom prst="rect">
            <a:avLst/>
          </a:prstGeom>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sp>
        <p:nvSpPr>
          <p:cNvPr id="43" name="矩形 42">
            <a:extLst>
              <a:ext uri="{FF2B5EF4-FFF2-40B4-BE49-F238E27FC236}">
                <a16:creationId xmlns:a16="http://schemas.microsoft.com/office/drawing/2014/main" id="{D42EED25-25E3-4C7D-A8CB-0059F5C90638}"/>
              </a:ext>
            </a:extLst>
          </p:cNvPr>
          <p:cNvSpPr/>
          <p:nvPr/>
        </p:nvSpPr>
        <p:spPr>
          <a:xfrm>
            <a:off x="3493564" y="6179840"/>
            <a:ext cx="1460420" cy="33855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endParaRPr>
          </a:p>
        </p:txBody>
      </p:sp>
      <p:sp>
        <p:nvSpPr>
          <p:cNvPr id="44" name="矩形 43">
            <a:extLst>
              <a:ext uri="{FF2B5EF4-FFF2-40B4-BE49-F238E27FC236}">
                <a16:creationId xmlns:a16="http://schemas.microsoft.com/office/drawing/2014/main" id="{3FCBE097-F070-4CEF-B330-A729470B15DA}"/>
              </a:ext>
            </a:extLst>
          </p:cNvPr>
          <p:cNvSpPr/>
          <p:nvPr/>
        </p:nvSpPr>
        <p:spPr>
          <a:xfrm>
            <a:off x="4960732" y="6149062"/>
            <a:ext cx="338554" cy="369332"/>
          </a:xfrm>
          <a:prstGeom prst="rect">
            <a:avLst/>
          </a:prstGeom>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sp>
        <p:nvSpPr>
          <p:cNvPr id="45" name="文本框 32">
            <a:extLst>
              <a:ext uri="{FF2B5EF4-FFF2-40B4-BE49-F238E27FC236}">
                <a16:creationId xmlns:a16="http://schemas.microsoft.com/office/drawing/2014/main" id="{DE2BFF30-7368-4C6E-A212-32FCD9CFA154}"/>
              </a:ext>
            </a:extLst>
          </p:cNvPr>
          <p:cNvSpPr txBox="1"/>
          <p:nvPr/>
        </p:nvSpPr>
        <p:spPr>
          <a:xfrm>
            <a:off x="624767" y="5542264"/>
            <a:ext cx="1467169" cy="369332"/>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Balance: 100</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文本框 41">
            <a:extLst>
              <a:ext uri="{FF2B5EF4-FFF2-40B4-BE49-F238E27FC236}">
                <a16:creationId xmlns:a16="http://schemas.microsoft.com/office/drawing/2014/main" id="{9A1C6E2F-3E03-48E0-A6A6-9F585A858602}"/>
              </a:ext>
            </a:extLst>
          </p:cNvPr>
          <p:cNvSpPr txBox="1"/>
          <p:nvPr/>
        </p:nvSpPr>
        <p:spPr>
          <a:xfrm>
            <a:off x="624767" y="6149062"/>
            <a:ext cx="1467169" cy="369332"/>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Balance: 50</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文本框 42">
            <a:extLst>
              <a:ext uri="{FF2B5EF4-FFF2-40B4-BE49-F238E27FC236}">
                <a16:creationId xmlns:a16="http://schemas.microsoft.com/office/drawing/2014/main" id="{1F25E2DC-6B28-496E-B3D1-72607E9BA336}"/>
              </a:ext>
            </a:extLst>
          </p:cNvPr>
          <p:cNvSpPr txBox="1"/>
          <p:nvPr/>
        </p:nvSpPr>
        <p:spPr>
          <a:xfrm>
            <a:off x="3493563" y="5542264"/>
            <a:ext cx="1442558" cy="369332"/>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Balance: 0</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文本框 43">
            <a:extLst>
              <a:ext uri="{FF2B5EF4-FFF2-40B4-BE49-F238E27FC236}">
                <a16:creationId xmlns:a16="http://schemas.microsoft.com/office/drawing/2014/main" id="{B96A81B4-4BD0-466E-8172-9F1D15B2D96A}"/>
              </a:ext>
            </a:extLst>
          </p:cNvPr>
          <p:cNvSpPr txBox="1"/>
          <p:nvPr/>
        </p:nvSpPr>
        <p:spPr>
          <a:xfrm>
            <a:off x="3486816" y="6142321"/>
            <a:ext cx="1442558" cy="369332"/>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Balance: 50</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矩形 48">
            <a:extLst>
              <a:ext uri="{FF2B5EF4-FFF2-40B4-BE49-F238E27FC236}">
                <a16:creationId xmlns:a16="http://schemas.microsoft.com/office/drawing/2014/main" id="{8AEDE6BC-A0A2-4E3A-868F-A7650ADD676D}"/>
              </a:ext>
            </a:extLst>
          </p:cNvPr>
          <p:cNvSpPr/>
          <p:nvPr/>
        </p:nvSpPr>
        <p:spPr>
          <a:xfrm>
            <a:off x="2528111" y="5557653"/>
            <a:ext cx="516846" cy="33855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Tx</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50" name="矩形 49">
            <a:extLst>
              <a:ext uri="{FF2B5EF4-FFF2-40B4-BE49-F238E27FC236}">
                <a16:creationId xmlns:a16="http://schemas.microsoft.com/office/drawing/2014/main" id="{182E6824-579F-444F-B276-78809BC96DA4}"/>
              </a:ext>
            </a:extLst>
          </p:cNvPr>
          <p:cNvSpPr/>
          <p:nvPr/>
        </p:nvSpPr>
        <p:spPr>
          <a:xfrm>
            <a:off x="2316892" y="5888513"/>
            <a:ext cx="922047"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50 ETH</a:t>
            </a:r>
            <a:endParaRPr lang="zh-CN" altLang="en-US" dirty="0">
              <a:latin typeface="Times New Roman" panose="02020603050405020304" pitchFamily="18" charset="0"/>
              <a:ea typeface="微软雅黑" panose="020B0503020204020204" pitchFamily="34" charset="-122"/>
            </a:endParaRPr>
          </a:p>
        </p:txBody>
      </p:sp>
      <p:cxnSp>
        <p:nvCxnSpPr>
          <p:cNvPr id="51" name="直接箭头连接符 50">
            <a:extLst>
              <a:ext uri="{FF2B5EF4-FFF2-40B4-BE49-F238E27FC236}">
                <a16:creationId xmlns:a16="http://schemas.microsoft.com/office/drawing/2014/main" id="{562757C2-C866-4F96-9627-FD4CF53B4676}"/>
              </a:ext>
            </a:extLst>
          </p:cNvPr>
          <p:cNvCxnSpPr>
            <a:stCxn id="45" idx="3"/>
            <a:endCxn id="49" idx="1"/>
          </p:cNvCxnSpPr>
          <p:nvPr/>
        </p:nvCxnSpPr>
        <p:spPr>
          <a:xfrm>
            <a:off x="2091936" y="5726930"/>
            <a:ext cx="4361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E921446A-CBE9-459A-B0A3-07C30476E04B}"/>
              </a:ext>
            </a:extLst>
          </p:cNvPr>
          <p:cNvCxnSpPr>
            <a:cxnSpLocks/>
            <a:stCxn id="49" idx="3"/>
            <a:endCxn id="41" idx="1"/>
          </p:cNvCxnSpPr>
          <p:nvPr/>
        </p:nvCxnSpPr>
        <p:spPr>
          <a:xfrm>
            <a:off x="3044957" y="5726930"/>
            <a:ext cx="448607" cy="7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1AD62AEE-9F39-4BB2-9414-E5E0E1AD5875}"/>
              </a:ext>
            </a:extLst>
          </p:cNvPr>
          <p:cNvCxnSpPr>
            <a:cxnSpLocks/>
            <a:stCxn id="45" idx="2"/>
            <a:endCxn id="46" idx="0"/>
          </p:cNvCxnSpPr>
          <p:nvPr/>
        </p:nvCxnSpPr>
        <p:spPr>
          <a:xfrm>
            <a:off x="1358352" y="5911596"/>
            <a:ext cx="0" cy="237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10C796F7-85EA-441F-9118-715F2C928427}"/>
              </a:ext>
            </a:extLst>
          </p:cNvPr>
          <p:cNvCxnSpPr>
            <a:cxnSpLocks/>
            <a:stCxn id="47" idx="2"/>
            <a:endCxn id="48" idx="0"/>
          </p:cNvCxnSpPr>
          <p:nvPr/>
        </p:nvCxnSpPr>
        <p:spPr>
          <a:xfrm flipH="1">
            <a:off x="4208095" y="5911596"/>
            <a:ext cx="6747" cy="230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文本框 57">
            <a:extLst>
              <a:ext uri="{FF2B5EF4-FFF2-40B4-BE49-F238E27FC236}">
                <a16:creationId xmlns:a16="http://schemas.microsoft.com/office/drawing/2014/main" id="{32559AA5-D8A5-46A4-9DF3-FDD8099A03F3}"/>
              </a:ext>
            </a:extLst>
          </p:cNvPr>
          <p:cNvSpPr txBox="1"/>
          <p:nvPr/>
        </p:nvSpPr>
        <p:spPr>
          <a:xfrm>
            <a:off x="6192034" y="1371587"/>
            <a:ext cx="4166525" cy="646331"/>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marL="285750" indent="-285750">
              <a:buFont typeface="Wingdings" panose="05000000000000000000" pitchFamily="2" charset="2"/>
              <a:buChar char="p"/>
            </a:pPr>
            <a:r>
              <a:rPr lang="zh-CN" altLang="en-US" b="1" dirty="0">
                <a:latin typeface="Times New Roman" panose="02020603050405020304" pitchFamily="18" charset="0"/>
                <a:ea typeface="微软雅黑" panose="020B0503020204020204" pitchFamily="34" charset="-122"/>
              </a:rPr>
              <a:t>双花攻击：</a:t>
            </a:r>
            <a:r>
              <a:rPr lang="zh-CN" altLang="en-US" dirty="0">
                <a:latin typeface="Times New Roman" panose="02020603050405020304" pitchFamily="18" charset="0"/>
                <a:ea typeface="微软雅黑" panose="020B0503020204020204" pitchFamily="34" charset="-122"/>
              </a:rPr>
              <a:t>花多少，账户余额扣多少</a:t>
            </a:r>
            <a:endParaRPr lang="en-US" altLang="zh-CN" dirty="0">
              <a:latin typeface="Times New Roman" panose="02020603050405020304" pitchFamily="18" charset="0"/>
              <a:ea typeface="微软雅黑" panose="020B0503020204020204" pitchFamily="34" charset="-122"/>
            </a:endParaRPr>
          </a:p>
          <a:p>
            <a:pPr marL="285750" indent="-285750">
              <a:buFont typeface="Wingdings" panose="05000000000000000000" pitchFamily="2" charset="2"/>
              <a:buChar char="p"/>
            </a:pPr>
            <a:r>
              <a:rPr lang="zh-CN" altLang="en-US" b="1" dirty="0">
                <a:latin typeface="Times New Roman" panose="02020603050405020304" pitchFamily="18" charset="0"/>
                <a:ea typeface="微软雅黑" panose="020B0503020204020204" pitchFamily="34" charset="-122"/>
              </a:rPr>
              <a:t>重放攻击：</a:t>
            </a:r>
            <a:r>
              <a:rPr lang="zh-CN" altLang="en-US" dirty="0">
                <a:latin typeface="Times New Roman" panose="02020603050405020304" pitchFamily="18" charset="0"/>
                <a:ea typeface="微软雅黑" panose="020B0503020204020204" pitchFamily="34" charset="-122"/>
              </a:rPr>
              <a:t>累积交易数量不一致</a:t>
            </a:r>
          </a:p>
        </p:txBody>
      </p:sp>
      <p:sp>
        <p:nvSpPr>
          <p:cNvPr id="56" name="文本框 56">
            <a:extLst>
              <a:ext uri="{FF2B5EF4-FFF2-40B4-BE49-F238E27FC236}">
                <a16:creationId xmlns:a16="http://schemas.microsoft.com/office/drawing/2014/main" id="{8A4AC603-0B0D-479A-A6CB-00B40CD51548}"/>
              </a:ext>
            </a:extLst>
          </p:cNvPr>
          <p:cNvSpPr txBox="1"/>
          <p:nvPr/>
        </p:nvSpPr>
        <p:spPr>
          <a:xfrm>
            <a:off x="6266636" y="2055113"/>
            <a:ext cx="5061514" cy="369332"/>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zh-CN" altLang="en-US" dirty="0">
                <a:latin typeface="Times New Roman" panose="02020603050405020304" pitchFamily="18" charset="0"/>
                <a:ea typeface="微软雅黑" panose="020B0503020204020204" pitchFamily="34" charset="-122"/>
              </a:rPr>
              <a:t>默克尔</a:t>
            </a:r>
            <a:r>
              <a:rPr lang="en-US" altLang="zh-CN" dirty="0">
                <a:latin typeface="Times New Roman" panose="02020603050405020304" pitchFamily="18" charset="0"/>
                <a:ea typeface="微软雅黑" panose="020B0503020204020204" pitchFamily="34" charset="-122"/>
                <a:cs typeface="Calibri" panose="020F0502020204030204" pitchFamily="34" charset="0"/>
              </a:rPr>
              <a:t>•</a:t>
            </a:r>
            <a:r>
              <a:rPr lang="zh-CN" altLang="en-US" dirty="0">
                <a:latin typeface="Times New Roman" panose="02020603050405020304" pitchFamily="18" charset="0"/>
                <a:ea typeface="微软雅黑" panose="020B0503020204020204" pitchFamily="34" charset="-122"/>
              </a:rPr>
              <a:t>帕特里夏树（</a:t>
            </a:r>
            <a:r>
              <a:rPr lang="en-US" altLang="zh-CN" dirty="0">
                <a:latin typeface="Times New Roman" panose="02020603050405020304" pitchFamily="18" charset="0"/>
                <a:ea typeface="微软雅黑" panose="020B0503020204020204" pitchFamily="34" charset="-122"/>
              </a:rPr>
              <a:t>Merkle Patricia Tree, MPT</a:t>
            </a:r>
            <a:r>
              <a:rPr lang="zh-CN" altLang="en-US" dirty="0">
                <a:latin typeface="Times New Roman" panose="02020603050405020304" pitchFamily="18" charset="0"/>
                <a:ea typeface="微软雅黑" panose="020B0503020204020204" pitchFamily="34" charset="-122"/>
              </a:rPr>
              <a:t>）</a:t>
            </a:r>
          </a:p>
        </p:txBody>
      </p:sp>
      <p:sp>
        <p:nvSpPr>
          <p:cNvPr id="57" name="矩形 56">
            <a:extLst>
              <a:ext uri="{FF2B5EF4-FFF2-40B4-BE49-F238E27FC236}">
                <a16:creationId xmlns:a16="http://schemas.microsoft.com/office/drawing/2014/main" id="{2FB53ABA-DC44-4CEE-A611-29EC740153C6}"/>
              </a:ext>
            </a:extLst>
          </p:cNvPr>
          <p:cNvSpPr/>
          <p:nvPr/>
        </p:nvSpPr>
        <p:spPr>
          <a:xfrm>
            <a:off x="6288337" y="3110014"/>
            <a:ext cx="1967060" cy="329938"/>
          </a:xfrm>
          <a:prstGeom prst="rect">
            <a:avLst/>
          </a:prstGeom>
          <a:solidFill>
            <a:schemeClr val="tx2">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endParaRPr>
          </a:p>
        </p:txBody>
      </p:sp>
      <p:sp>
        <p:nvSpPr>
          <p:cNvPr id="58" name="矩形 57">
            <a:extLst>
              <a:ext uri="{FF2B5EF4-FFF2-40B4-BE49-F238E27FC236}">
                <a16:creationId xmlns:a16="http://schemas.microsoft.com/office/drawing/2014/main" id="{8157C425-0B11-472C-8F9F-C231AD34DDBC}"/>
              </a:ext>
            </a:extLst>
          </p:cNvPr>
          <p:cNvSpPr/>
          <p:nvPr/>
        </p:nvSpPr>
        <p:spPr>
          <a:xfrm>
            <a:off x="8470643" y="3106403"/>
            <a:ext cx="1967060" cy="329938"/>
          </a:xfrm>
          <a:prstGeom prst="rect">
            <a:avLst/>
          </a:prstGeom>
          <a:solidFill>
            <a:schemeClr val="tx2">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endParaRPr>
          </a:p>
        </p:txBody>
      </p:sp>
      <p:sp>
        <p:nvSpPr>
          <p:cNvPr id="59" name="矩形 58">
            <a:extLst>
              <a:ext uri="{FF2B5EF4-FFF2-40B4-BE49-F238E27FC236}">
                <a16:creationId xmlns:a16="http://schemas.microsoft.com/office/drawing/2014/main" id="{31610A69-96D7-4E20-902D-22A4F3D8B321}"/>
              </a:ext>
            </a:extLst>
          </p:cNvPr>
          <p:cNvSpPr/>
          <p:nvPr/>
        </p:nvSpPr>
        <p:spPr>
          <a:xfrm>
            <a:off x="6288337" y="4094579"/>
            <a:ext cx="329938" cy="329938"/>
          </a:xfrm>
          <a:prstGeom prst="rect">
            <a:avLst/>
          </a:prstGeom>
          <a:solidFill>
            <a:schemeClr val="accent4">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A</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60" name="矩形 59">
            <a:extLst>
              <a:ext uri="{FF2B5EF4-FFF2-40B4-BE49-F238E27FC236}">
                <a16:creationId xmlns:a16="http://schemas.microsoft.com/office/drawing/2014/main" id="{79CF1B5A-5A67-48B0-94C3-12793F67BE00}"/>
              </a:ext>
            </a:extLst>
          </p:cNvPr>
          <p:cNvSpPr/>
          <p:nvPr/>
        </p:nvSpPr>
        <p:spPr>
          <a:xfrm>
            <a:off x="6834306" y="4094579"/>
            <a:ext cx="329938" cy="329938"/>
          </a:xfrm>
          <a:prstGeom prst="rect">
            <a:avLst/>
          </a:prstGeom>
          <a:solidFill>
            <a:schemeClr val="accent4">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B</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61" name="矩形 60">
            <a:extLst>
              <a:ext uri="{FF2B5EF4-FFF2-40B4-BE49-F238E27FC236}">
                <a16:creationId xmlns:a16="http://schemas.microsoft.com/office/drawing/2014/main" id="{ED70C348-9A80-4229-8078-5AB8E3B88D05}"/>
              </a:ext>
            </a:extLst>
          </p:cNvPr>
          <p:cNvSpPr/>
          <p:nvPr/>
        </p:nvSpPr>
        <p:spPr>
          <a:xfrm>
            <a:off x="7380275" y="4094579"/>
            <a:ext cx="329938" cy="329938"/>
          </a:xfrm>
          <a:prstGeom prst="rect">
            <a:avLst/>
          </a:prstGeom>
          <a:solidFill>
            <a:schemeClr val="accent4">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C</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62" name="矩形 61">
            <a:extLst>
              <a:ext uri="{FF2B5EF4-FFF2-40B4-BE49-F238E27FC236}">
                <a16:creationId xmlns:a16="http://schemas.microsoft.com/office/drawing/2014/main" id="{E762147E-CFC0-4222-8948-FC130DF8D4A2}"/>
              </a:ext>
            </a:extLst>
          </p:cNvPr>
          <p:cNvSpPr/>
          <p:nvPr/>
        </p:nvSpPr>
        <p:spPr>
          <a:xfrm>
            <a:off x="7925459" y="4094579"/>
            <a:ext cx="329938" cy="329938"/>
          </a:xfrm>
          <a:prstGeom prst="rect">
            <a:avLst/>
          </a:prstGeom>
          <a:solidFill>
            <a:schemeClr val="accent4">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D</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63" name="矩形 62">
            <a:extLst>
              <a:ext uri="{FF2B5EF4-FFF2-40B4-BE49-F238E27FC236}">
                <a16:creationId xmlns:a16="http://schemas.microsoft.com/office/drawing/2014/main" id="{A58FD0C7-FBA9-4BB7-8659-3F6D194361CA}"/>
              </a:ext>
            </a:extLst>
          </p:cNvPr>
          <p:cNvSpPr/>
          <p:nvPr/>
        </p:nvSpPr>
        <p:spPr>
          <a:xfrm>
            <a:off x="8470643" y="4094579"/>
            <a:ext cx="329938" cy="329938"/>
          </a:xfrm>
          <a:prstGeom prst="rect">
            <a:avLst/>
          </a:prstGeom>
          <a:solidFill>
            <a:schemeClr val="accent4">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E</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64" name="矩形 63">
            <a:extLst>
              <a:ext uri="{FF2B5EF4-FFF2-40B4-BE49-F238E27FC236}">
                <a16:creationId xmlns:a16="http://schemas.microsoft.com/office/drawing/2014/main" id="{26AC0FCB-ADF5-478C-A2B8-EEBE635BBC69}"/>
              </a:ext>
            </a:extLst>
          </p:cNvPr>
          <p:cNvSpPr/>
          <p:nvPr/>
        </p:nvSpPr>
        <p:spPr>
          <a:xfrm>
            <a:off x="9016612" y="4094579"/>
            <a:ext cx="329938" cy="329938"/>
          </a:xfrm>
          <a:prstGeom prst="rect">
            <a:avLst/>
          </a:prstGeom>
          <a:solidFill>
            <a:schemeClr val="accent4">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F</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65" name="矩形 64">
            <a:extLst>
              <a:ext uri="{FF2B5EF4-FFF2-40B4-BE49-F238E27FC236}">
                <a16:creationId xmlns:a16="http://schemas.microsoft.com/office/drawing/2014/main" id="{5DB97B85-C706-4F6C-9A0F-91BE8D207B8E}"/>
              </a:ext>
            </a:extLst>
          </p:cNvPr>
          <p:cNvSpPr/>
          <p:nvPr/>
        </p:nvSpPr>
        <p:spPr>
          <a:xfrm>
            <a:off x="9562581" y="4094579"/>
            <a:ext cx="329938" cy="329938"/>
          </a:xfrm>
          <a:prstGeom prst="rect">
            <a:avLst/>
          </a:prstGeom>
          <a:solidFill>
            <a:schemeClr val="accent4">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G</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66" name="矩形 65">
            <a:extLst>
              <a:ext uri="{FF2B5EF4-FFF2-40B4-BE49-F238E27FC236}">
                <a16:creationId xmlns:a16="http://schemas.microsoft.com/office/drawing/2014/main" id="{06A8ACE2-AFB6-47CB-A241-086DB60026A7}"/>
              </a:ext>
            </a:extLst>
          </p:cNvPr>
          <p:cNvSpPr/>
          <p:nvPr/>
        </p:nvSpPr>
        <p:spPr>
          <a:xfrm>
            <a:off x="10107765" y="4094579"/>
            <a:ext cx="329938" cy="329938"/>
          </a:xfrm>
          <a:prstGeom prst="rect">
            <a:avLst/>
          </a:prstGeom>
          <a:solidFill>
            <a:schemeClr val="accent4">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H</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67" name="矩形 66">
            <a:extLst>
              <a:ext uri="{FF2B5EF4-FFF2-40B4-BE49-F238E27FC236}">
                <a16:creationId xmlns:a16="http://schemas.microsoft.com/office/drawing/2014/main" id="{57699276-62DA-45CE-87E1-875C7789814E}"/>
              </a:ext>
            </a:extLst>
          </p:cNvPr>
          <p:cNvSpPr/>
          <p:nvPr/>
        </p:nvSpPr>
        <p:spPr>
          <a:xfrm>
            <a:off x="6484230" y="2479607"/>
            <a:ext cx="1568742" cy="329938"/>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bg1"/>
                </a:solidFill>
                <a:latin typeface="Times New Roman" panose="02020603050405020304" pitchFamily="18" charset="0"/>
                <a:ea typeface="微软雅黑" panose="020B0503020204020204" pitchFamily="34" charset="-122"/>
              </a:rPr>
              <a:t>MPT root hash</a:t>
            </a:r>
            <a:endParaRPr lang="zh-CN" altLang="en-US" dirty="0">
              <a:solidFill>
                <a:schemeClr val="bg1"/>
              </a:solidFill>
              <a:latin typeface="Times New Roman" panose="02020603050405020304" pitchFamily="18" charset="0"/>
              <a:ea typeface="微软雅黑" panose="020B0503020204020204" pitchFamily="34" charset="-122"/>
            </a:endParaRPr>
          </a:p>
        </p:txBody>
      </p:sp>
      <p:sp>
        <p:nvSpPr>
          <p:cNvPr id="68" name="矩形 67">
            <a:extLst>
              <a:ext uri="{FF2B5EF4-FFF2-40B4-BE49-F238E27FC236}">
                <a16:creationId xmlns:a16="http://schemas.microsoft.com/office/drawing/2014/main" id="{30141290-45F7-460E-88EF-D99BEF319BC6}"/>
              </a:ext>
            </a:extLst>
          </p:cNvPr>
          <p:cNvSpPr/>
          <p:nvPr/>
        </p:nvSpPr>
        <p:spPr>
          <a:xfrm>
            <a:off x="6754219" y="2772022"/>
            <a:ext cx="505267"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H()</a:t>
            </a:r>
            <a:endParaRPr lang="zh-CN" altLang="en-US" dirty="0">
              <a:latin typeface="Times New Roman" panose="02020603050405020304" pitchFamily="18" charset="0"/>
              <a:ea typeface="微软雅黑" panose="020B0503020204020204" pitchFamily="34" charset="-122"/>
            </a:endParaRPr>
          </a:p>
        </p:txBody>
      </p:sp>
      <p:sp>
        <p:nvSpPr>
          <p:cNvPr id="69" name="矩形 68">
            <a:extLst>
              <a:ext uri="{FF2B5EF4-FFF2-40B4-BE49-F238E27FC236}">
                <a16:creationId xmlns:a16="http://schemas.microsoft.com/office/drawing/2014/main" id="{8460C41F-8D10-4FAF-90BB-3606B8E13D45}"/>
              </a:ext>
            </a:extLst>
          </p:cNvPr>
          <p:cNvSpPr/>
          <p:nvPr/>
        </p:nvSpPr>
        <p:spPr>
          <a:xfrm>
            <a:off x="10454089" y="3081608"/>
            <a:ext cx="1614545"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algn="ctr"/>
            <a:r>
              <a:rPr lang="en-US" altLang="zh-CN" dirty="0">
                <a:latin typeface="Times New Roman" panose="02020603050405020304" pitchFamily="18" charset="0"/>
                <a:ea typeface="微软雅黑" panose="020B0503020204020204" pitchFamily="34" charset="-122"/>
              </a:rPr>
              <a:t>Extension node</a:t>
            </a:r>
            <a:endParaRPr lang="zh-CN" altLang="en-US" dirty="0">
              <a:latin typeface="Times New Roman" panose="02020603050405020304" pitchFamily="18" charset="0"/>
              <a:ea typeface="微软雅黑" panose="020B0503020204020204" pitchFamily="34" charset="-122"/>
            </a:endParaRPr>
          </a:p>
        </p:txBody>
      </p:sp>
      <p:sp>
        <p:nvSpPr>
          <p:cNvPr id="70" name="矩形 69">
            <a:extLst>
              <a:ext uri="{FF2B5EF4-FFF2-40B4-BE49-F238E27FC236}">
                <a16:creationId xmlns:a16="http://schemas.microsoft.com/office/drawing/2014/main" id="{06672F98-C58B-4FEF-B1F9-B9ECE1FFF0BF}"/>
              </a:ext>
            </a:extLst>
          </p:cNvPr>
          <p:cNvSpPr/>
          <p:nvPr/>
        </p:nvSpPr>
        <p:spPr>
          <a:xfrm>
            <a:off x="6288337" y="3585399"/>
            <a:ext cx="164240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solidFill>
                <a:schemeClr val="tx1"/>
              </a:solidFill>
              <a:latin typeface="Times New Roman" panose="02020603050405020304" pitchFamily="18" charset="0"/>
              <a:ea typeface="微软雅黑" panose="020B0503020204020204" pitchFamily="34" charset="-122"/>
            </a:endParaRPr>
          </a:p>
        </p:txBody>
      </p:sp>
      <p:sp>
        <p:nvSpPr>
          <p:cNvPr id="71" name="矩形 70">
            <a:extLst>
              <a:ext uri="{FF2B5EF4-FFF2-40B4-BE49-F238E27FC236}">
                <a16:creationId xmlns:a16="http://schemas.microsoft.com/office/drawing/2014/main" id="{6FFECC50-EF3F-4A1C-93FF-768B3F589090}"/>
              </a:ext>
            </a:extLst>
          </p:cNvPr>
          <p:cNvSpPr/>
          <p:nvPr/>
        </p:nvSpPr>
        <p:spPr>
          <a:xfrm>
            <a:off x="8141948" y="3581365"/>
            <a:ext cx="2295756" cy="329938"/>
          </a:xfrm>
          <a:prstGeom prst="rect">
            <a:avLst/>
          </a:prstGeom>
          <a:no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Times New Roman" panose="02020603050405020304" pitchFamily="18" charset="0"/>
              <a:ea typeface="微软雅黑" panose="020B0503020204020204" pitchFamily="34" charset="-122"/>
            </a:endParaRPr>
          </a:p>
        </p:txBody>
      </p:sp>
      <p:sp>
        <p:nvSpPr>
          <p:cNvPr id="72" name="矩形 71">
            <a:extLst>
              <a:ext uri="{FF2B5EF4-FFF2-40B4-BE49-F238E27FC236}">
                <a16:creationId xmlns:a16="http://schemas.microsoft.com/office/drawing/2014/main" id="{2C9CB0AF-3407-412E-913E-023539200170}"/>
              </a:ext>
            </a:extLst>
          </p:cNvPr>
          <p:cNvSpPr/>
          <p:nvPr/>
        </p:nvSpPr>
        <p:spPr>
          <a:xfrm>
            <a:off x="10454089" y="3577963"/>
            <a:ext cx="1358064"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algn="ctr"/>
            <a:r>
              <a:rPr lang="en-US" altLang="zh-CN" dirty="0">
                <a:latin typeface="Times New Roman" panose="02020603050405020304" pitchFamily="18" charset="0"/>
                <a:ea typeface="微软雅黑" panose="020B0503020204020204" pitchFamily="34" charset="-122"/>
              </a:rPr>
              <a:t>Branch node</a:t>
            </a:r>
            <a:endParaRPr lang="zh-CN" altLang="en-US" dirty="0">
              <a:latin typeface="Times New Roman" panose="02020603050405020304" pitchFamily="18" charset="0"/>
              <a:ea typeface="微软雅黑" panose="020B0503020204020204" pitchFamily="34" charset="-122"/>
            </a:endParaRPr>
          </a:p>
        </p:txBody>
      </p:sp>
      <p:sp>
        <p:nvSpPr>
          <p:cNvPr id="73" name="矩形 72">
            <a:extLst>
              <a:ext uri="{FF2B5EF4-FFF2-40B4-BE49-F238E27FC236}">
                <a16:creationId xmlns:a16="http://schemas.microsoft.com/office/drawing/2014/main" id="{23B51B36-7EA2-406B-8E28-EA55247E78B3}"/>
              </a:ext>
            </a:extLst>
          </p:cNvPr>
          <p:cNvSpPr/>
          <p:nvPr/>
        </p:nvSpPr>
        <p:spPr>
          <a:xfrm>
            <a:off x="10454089" y="4074318"/>
            <a:ext cx="1114408"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algn="ctr"/>
            <a:r>
              <a:rPr lang="en-US" altLang="zh-CN" dirty="0">
                <a:latin typeface="Times New Roman" panose="02020603050405020304" pitchFamily="18" charset="0"/>
                <a:ea typeface="微软雅黑" panose="020B0503020204020204" pitchFamily="34" charset="-122"/>
              </a:rPr>
              <a:t>Leaf node</a:t>
            </a:r>
            <a:endParaRPr lang="zh-CN" altLang="en-US" dirty="0">
              <a:latin typeface="Times New Roman" panose="02020603050405020304" pitchFamily="18" charset="0"/>
              <a:ea typeface="微软雅黑" panose="020B0503020204020204" pitchFamily="34" charset="-122"/>
            </a:endParaRPr>
          </a:p>
        </p:txBody>
      </p:sp>
      <p:sp>
        <p:nvSpPr>
          <p:cNvPr id="74" name="矩形 73">
            <a:extLst>
              <a:ext uri="{FF2B5EF4-FFF2-40B4-BE49-F238E27FC236}">
                <a16:creationId xmlns:a16="http://schemas.microsoft.com/office/drawing/2014/main" id="{9FACD384-4BCD-4373-A3CB-56D94BCB3955}"/>
              </a:ext>
            </a:extLst>
          </p:cNvPr>
          <p:cNvSpPr/>
          <p:nvPr/>
        </p:nvSpPr>
        <p:spPr>
          <a:xfrm>
            <a:off x="6279748" y="3585763"/>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75" name="矩形 74">
            <a:extLst>
              <a:ext uri="{FF2B5EF4-FFF2-40B4-BE49-F238E27FC236}">
                <a16:creationId xmlns:a16="http://schemas.microsoft.com/office/drawing/2014/main" id="{65DBEF05-D178-4518-9196-6AEA1F0DC140}"/>
              </a:ext>
            </a:extLst>
          </p:cNvPr>
          <p:cNvSpPr/>
          <p:nvPr/>
        </p:nvSpPr>
        <p:spPr>
          <a:xfrm>
            <a:off x="6606669" y="3585763"/>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76" name="矩形 75">
            <a:extLst>
              <a:ext uri="{FF2B5EF4-FFF2-40B4-BE49-F238E27FC236}">
                <a16:creationId xmlns:a16="http://schemas.microsoft.com/office/drawing/2014/main" id="{2DE435D2-E958-4162-A9D2-977955581645}"/>
              </a:ext>
            </a:extLst>
          </p:cNvPr>
          <p:cNvSpPr/>
          <p:nvPr/>
        </p:nvSpPr>
        <p:spPr>
          <a:xfrm>
            <a:off x="6941929" y="3585763"/>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77" name="矩形 76">
            <a:extLst>
              <a:ext uri="{FF2B5EF4-FFF2-40B4-BE49-F238E27FC236}">
                <a16:creationId xmlns:a16="http://schemas.microsoft.com/office/drawing/2014/main" id="{721B6763-D3EB-4C14-BFA1-BAF5DDC8278B}"/>
              </a:ext>
            </a:extLst>
          </p:cNvPr>
          <p:cNvSpPr/>
          <p:nvPr/>
        </p:nvSpPr>
        <p:spPr>
          <a:xfrm>
            <a:off x="7268601" y="3585763"/>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cxnSp>
        <p:nvCxnSpPr>
          <p:cNvPr id="78" name="直接箭头连接符 77">
            <a:extLst>
              <a:ext uri="{FF2B5EF4-FFF2-40B4-BE49-F238E27FC236}">
                <a16:creationId xmlns:a16="http://schemas.microsoft.com/office/drawing/2014/main" id="{DD36CE15-7474-42DE-8E7E-1A7505D7691B}"/>
              </a:ext>
            </a:extLst>
          </p:cNvPr>
          <p:cNvCxnSpPr>
            <a:stCxn id="74" idx="2"/>
            <a:endCxn id="59" idx="0"/>
          </p:cNvCxnSpPr>
          <p:nvPr/>
        </p:nvCxnSpPr>
        <p:spPr>
          <a:xfrm>
            <a:off x="6444717" y="3915701"/>
            <a:ext cx="8589" cy="178878"/>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129CB054-E5A4-4060-8BE8-88482BFDD036}"/>
              </a:ext>
            </a:extLst>
          </p:cNvPr>
          <p:cNvCxnSpPr>
            <a:stCxn id="75" idx="2"/>
            <a:endCxn id="60" idx="0"/>
          </p:cNvCxnSpPr>
          <p:nvPr/>
        </p:nvCxnSpPr>
        <p:spPr>
          <a:xfrm>
            <a:off x="6771638" y="3915701"/>
            <a:ext cx="227637" cy="178878"/>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B6460C3A-5DB5-44ED-BC39-9D32C6BD430F}"/>
              </a:ext>
            </a:extLst>
          </p:cNvPr>
          <p:cNvCxnSpPr>
            <a:stCxn id="76" idx="2"/>
            <a:endCxn id="61" idx="0"/>
          </p:cNvCxnSpPr>
          <p:nvPr/>
        </p:nvCxnSpPr>
        <p:spPr>
          <a:xfrm>
            <a:off x="7106898" y="3915701"/>
            <a:ext cx="438346" cy="178878"/>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81" name="矩形 80">
            <a:extLst>
              <a:ext uri="{FF2B5EF4-FFF2-40B4-BE49-F238E27FC236}">
                <a16:creationId xmlns:a16="http://schemas.microsoft.com/office/drawing/2014/main" id="{411852E0-CCD7-427B-BBDF-FD31347AE5D2}"/>
              </a:ext>
            </a:extLst>
          </p:cNvPr>
          <p:cNvSpPr/>
          <p:nvPr/>
        </p:nvSpPr>
        <p:spPr>
          <a:xfrm>
            <a:off x="8141948" y="3584976"/>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82" name="矩形 81">
            <a:extLst>
              <a:ext uri="{FF2B5EF4-FFF2-40B4-BE49-F238E27FC236}">
                <a16:creationId xmlns:a16="http://schemas.microsoft.com/office/drawing/2014/main" id="{45635829-82DD-40A0-8F7A-23467D1706DC}"/>
              </a:ext>
            </a:extLst>
          </p:cNvPr>
          <p:cNvSpPr/>
          <p:nvPr/>
        </p:nvSpPr>
        <p:spPr>
          <a:xfrm>
            <a:off x="8468869" y="3584976"/>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83" name="矩形 82">
            <a:extLst>
              <a:ext uri="{FF2B5EF4-FFF2-40B4-BE49-F238E27FC236}">
                <a16:creationId xmlns:a16="http://schemas.microsoft.com/office/drawing/2014/main" id="{77F1F552-815F-4815-BDD1-A301936093DC}"/>
              </a:ext>
            </a:extLst>
          </p:cNvPr>
          <p:cNvSpPr/>
          <p:nvPr/>
        </p:nvSpPr>
        <p:spPr>
          <a:xfrm>
            <a:off x="8804129" y="3584976"/>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84" name="矩形 83">
            <a:extLst>
              <a:ext uri="{FF2B5EF4-FFF2-40B4-BE49-F238E27FC236}">
                <a16:creationId xmlns:a16="http://schemas.microsoft.com/office/drawing/2014/main" id="{CE19AC7B-B9E5-444A-9008-8593A8BB118F}"/>
              </a:ext>
            </a:extLst>
          </p:cNvPr>
          <p:cNvSpPr/>
          <p:nvPr/>
        </p:nvSpPr>
        <p:spPr>
          <a:xfrm>
            <a:off x="9130801" y="3584976"/>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85" name="矩形 84">
            <a:extLst>
              <a:ext uri="{FF2B5EF4-FFF2-40B4-BE49-F238E27FC236}">
                <a16:creationId xmlns:a16="http://schemas.microsoft.com/office/drawing/2014/main" id="{024FB26B-493C-4882-975B-4922ECE9D592}"/>
              </a:ext>
            </a:extLst>
          </p:cNvPr>
          <p:cNvSpPr/>
          <p:nvPr/>
        </p:nvSpPr>
        <p:spPr>
          <a:xfrm>
            <a:off x="9455453" y="3584976"/>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86" name="矩形 85">
            <a:extLst>
              <a:ext uri="{FF2B5EF4-FFF2-40B4-BE49-F238E27FC236}">
                <a16:creationId xmlns:a16="http://schemas.microsoft.com/office/drawing/2014/main" id="{AB89FE22-78AE-4065-B4F4-0B3E91620A19}"/>
              </a:ext>
            </a:extLst>
          </p:cNvPr>
          <p:cNvSpPr/>
          <p:nvPr/>
        </p:nvSpPr>
        <p:spPr>
          <a:xfrm>
            <a:off x="9782374" y="3584976"/>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87" name="矩形 86">
            <a:extLst>
              <a:ext uri="{FF2B5EF4-FFF2-40B4-BE49-F238E27FC236}">
                <a16:creationId xmlns:a16="http://schemas.microsoft.com/office/drawing/2014/main" id="{8FB423C7-9300-48D2-B8DA-D31BB986485B}"/>
              </a:ext>
            </a:extLst>
          </p:cNvPr>
          <p:cNvSpPr/>
          <p:nvPr/>
        </p:nvSpPr>
        <p:spPr>
          <a:xfrm>
            <a:off x="10117634" y="3584976"/>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cxnSp>
        <p:nvCxnSpPr>
          <p:cNvPr id="88" name="直接箭头连接符 87">
            <a:extLst>
              <a:ext uri="{FF2B5EF4-FFF2-40B4-BE49-F238E27FC236}">
                <a16:creationId xmlns:a16="http://schemas.microsoft.com/office/drawing/2014/main" id="{8F604161-606D-41A8-A232-E238BCC0BE76}"/>
              </a:ext>
            </a:extLst>
          </p:cNvPr>
          <p:cNvCxnSpPr>
            <a:stCxn id="81" idx="2"/>
            <a:endCxn id="62" idx="0"/>
          </p:cNvCxnSpPr>
          <p:nvPr/>
        </p:nvCxnSpPr>
        <p:spPr>
          <a:xfrm flipH="1">
            <a:off x="8090428" y="3914914"/>
            <a:ext cx="216489" cy="179665"/>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81260014-14F6-4DAB-8CE9-F40D8E62CE63}"/>
              </a:ext>
            </a:extLst>
          </p:cNvPr>
          <p:cNvCxnSpPr>
            <a:cxnSpLocks/>
            <a:stCxn id="82" idx="2"/>
            <a:endCxn id="63" idx="0"/>
          </p:cNvCxnSpPr>
          <p:nvPr/>
        </p:nvCxnSpPr>
        <p:spPr>
          <a:xfrm>
            <a:off x="8633838" y="3914914"/>
            <a:ext cx="1774" cy="179665"/>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DE3B339E-C5FC-4688-92A7-9ED1FC1252AC}"/>
              </a:ext>
            </a:extLst>
          </p:cNvPr>
          <p:cNvCxnSpPr>
            <a:cxnSpLocks/>
            <a:stCxn id="83" idx="2"/>
            <a:endCxn id="64" idx="0"/>
          </p:cNvCxnSpPr>
          <p:nvPr/>
        </p:nvCxnSpPr>
        <p:spPr>
          <a:xfrm>
            <a:off x="8969098" y="3914914"/>
            <a:ext cx="212483" cy="179665"/>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D57A09E2-93D5-45E7-98AD-47F378408D8C}"/>
              </a:ext>
            </a:extLst>
          </p:cNvPr>
          <p:cNvCxnSpPr>
            <a:cxnSpLocks/>
            <a:stCxn id="85" idx="2"/>
            <a:endCxn id="65" idx="0"/>
          </p:cNvCxnSpPr>
          <p:nvPr/>
        </p:nvCxnSpPr>
        <p:spPr>
          <a:xfrm>
            <a:off x="9620422" y="3914914"/>
            <a:ext cx="107128" cy="179665"/>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A62C2A42-05C6-4F0F-B173-DDB8150DF8DB}"/>
              </a:ext>
            </a:extLst>
          </p:cNvPr>
          <p:cNvCxnSpPr>
            <a:cxnSpLocks/>
            <a:stCxn id="86" idx="2"/>
            <a:endCxn id="66" idx="0"/>
          </p:cNvCxnSpPr>
          <p:nvPr/>
        </p:nvCxnSpPr>
        <p:spPr>
          <a:xfrm>
            <a:off x="9947343" y="3914914"/>
            <a:ext cx="325391" cy="179665"/>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93" name="矩形 92">
            <a:extLst>
              <a:ext uri="{FF2B5EF4-FFF2-40B4-BE49-F238E27FC236}">
                <a16:creationId xmlns:a16="http://schemas.microsoft.com/office/drawing/2014/main" id="{47A215C5-CFE4-4332-9A3D-8B2A7A52FAE5}"/>
              </a:ext>
            </a:extLst>
          </p:cNvPr>
          <p:cNvSpPr/>
          <p:nvPr/>
        </p:nvSpPr>
        <p:spPr>
          <a:xfrm>
            <a:off x="6199170" y="4411983"/>
            <a:ext cx="1569660" cy="369332"/>
          </a:xfrm>
          <a:prstGeom prst="rect">
            <a:avLst/>
          </a:prstGeom>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algn="ctr"/>
            <a:r>
              <a:rPr lang="zh-CN" altLang="en-US" dirty="0">
                <a:latin typeface="Times New Roman" panose="02020603050405020304" pitchFamily="18" charset="0"/>
                <a:ea typeface="微软雅黑" panose="020B0503020204020204" pitchFamily="34" charset="-122"/>
              </a:rPr>
              <a:t>账户状态数据</a:t>
            </a:r>
          </a:p>
        </p:txBody>
      </p:sp>
      <p:cxnSp>
        <p:nvCxnSpPr>
          <p:cNvPr id="94" name="直接箭头连接符 93">
            <a:extLst>
              <a:ext uri="{FF2B5EF4-FFF2-40B4-BE49-F238E27FC236}">
                <a16:creationId xmlns:a16="http://schemas.microsoft.com/office/drawing/2014/main" id="{B3E65A0B-14F8-4AB1-BFA4-41DC10CED3E6}"/>
              </a:ext>
            </a:extLst>
          </p:cNvPr>
          <p:cNvCxnSpPr>
            <a:cxnSpLocks/>
            <a:stCxn id="57" idx="0"/>
            <a:endCxn id="67" idx="2"/>
          </p:cNvCxnSpPr>
          <p:nvPr/>
        </p:nvCxnSpPr>
        <p:spPr>
          <a:xfrm flipH="1" flipV="1">
            <a:off x="7268601" y="2809545"/>
            <a:ext cx="3266" cy="300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矩形 94">
            <a:extLst>
              <a:ext uri="{FF2B5EF4-FFF2-40B4-BE49-F238E27FC236}">
                <a16:creationId xmlns:a16="http://schemas.microsoft.com/office/drawing/2014/main" id="{8ED7D5D8-FB94-485F-BD5F-B88FECDD87F0}"/>
              </a:ext>
            </a:extLst>
          </p:cNvPr>
          <p:cNvSpPr/>
          <p:nvPr/>
        </p:nvSpPr>
        <p:spPr>
          <a:xfrm>
            <a:off x="6284431" y="3103831"/>
            <a:ext cx="1304310" cy="329938"/>
          </a:xfrm>
          <a:prstGeom prst="rect">
            <a:avLst/>
          </a:prstGeom>
          <a:no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Next node</a:t>
            </a:r>
            <a:endParaRPr lang="zh-CN" altLang="en-US" dirty="0">
              <a:solidFill>
                <a:schemeClr val="tx1"/>
              </a:solidFill>
              <a:latin typeface="Times New Roman" panose="02020603050405020304" pitchFamily="18" charset="0"/>
              <a:ea typeface="微软雅黑" panose="020B0503020204020204" pitchFamily="34" charset="-122"/>
            </a:endParaRPr>
          </a:p>
        </p:txBody>
      </p:sp>
      <p:sp>
        <p:nvSpPr>
          <p:cNvPr id="96" name="矩形 95">
            <a:extLst>
              <a:ext uri="{FF2B5EF4-FFF2-40B4-BE49-F238E27FC236}">
                <a16:creationId xmlns:a16="http://schemas.microsoft.com/office/drawing/2014/main" id="{2B41F63C-E747-4247-A32E-4A916A51ECE5}"/>
              </a:ext>
            </a:extLst>
          </p:cNvPr>
          <p:cNvSpPr/>
          <p:nvPr/>
        </p:nvSpPr>
        <p:spPr>
          <a:xfrm>
            <a:off x="7603861" y="3588587"/>
            <a:ext cx="329938" cy="329938"/>
          </a:xfrm>
          <a:prstGeom prst="rect">
            <a:avLst/>
          </a:prstGeom>
          <a:solidFill>
            <a:schemeClr val="accent6">
              <a:lumMod val="20000"/>
              <a:lumOff val="80000"/>
            </a:schemeClr>
          </a:solid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dirty="0">
              <a:solidFill>
                <a:schemeClr val="tx1"/>
              </a:solidFill>
              <a:latin typeface="Times New Roman" panose="02020603050405020304" pitchFamily="18" charset="0"/>
              <a:ea typeface="微软雅黑" panose="020B0503020204020204" pitchFamily="34" charset="-122"/>
            </a:endParaRPr>
          </a:p>
        </p:txBody>
      </p:sp>
      <p:cxnSp>
        <p:nvCxnSpPr>
          <p:cNvPr id="97" name="直接箭头连接符 96">
            <a:extLst>
              <a:ext uri="{FF2B5EF4-FFF2-40B4-BE49-F238E27FC236}">
                <a16:creationId xmlns:a16="http://schemas.microsoft.com/office/drawing/2014/main" id="{7B6D4201-7D36-4FEA-8053-5C1360873A10}"/>
              </a:ext>
            </a:extLst>
          </p:cNvPr>
          <p:cNvCxnSpPr>
            <a:cxnSpLocks/>
            <a:stCxn id="96" idx="3"/>
            <a:endCxn id="58" idx="1"/>
          </p:cNvCxnSpPr>
          <p:nvPr/>
        </p:nvCxnSpPr>
        <p:spPr>
          <a:xfrm flipV="1">
            <a:off x="7933799" y="3271372"/>
            <a:ext cx="536844" cy="482184"/>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072CEF1D-D2B9-4961-B1E3-8F7EA5DA61D7}"/>
              </a:ext>
            </a:extLst>
          </p:cNvPr>
          <p:cNvCxnSpPr>
            <a:stCxn id="95" idx="2"/>
            <a:endCxn id="76" idx="0"/>
          </p:cNvCxnSpPr>
          <p:nvPr/>
        </p:nvCxnSpPr>
        <p:spPr>
          <a:xfrm>
            <a:off x="6936586" y="3433769"/>
            <a:ext cx="170312" cy="151994"/>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99" name="矩形 98">
            <a:extLst>
              <a:ext uri="{FF2B5EF4-FFF2-40B4-BE49-F238E27FC236}">
                <a16:creationId xmlns:a16="http://schemas.microsoft.com/office/drawing/2014/main" id="{D46511F3-EB40-4478-97EE-74578C92EEFA}"/>
              </a:ext>
            </a:extLst>
          </p:cNvPr>
          <p:cNvSpPr/>
          <p:nvPr/>
        </p:nvSpPr>
        <p:spPr>
          <a:xfrm>
            <a:off x="8485144" y="3109589"/>
            <a:ext cx="1304310" cy="335974"/>
          </a:xfrm>
          <a:prstGeom prst="rect">
            <a:avLst/>
          </a:prstGeom>
          <a:noFill/>
          <a:ln w="19050">
            <a:solidFill>
              <a:srgbClr val="0035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dirty="0">
                <a:solidFill>
                  <a:schemeClr val="tx1"/>
                </a:solidFill>
                <a:latin typeface="Times New Roman" panose="02020603050405020304" pitchFamily="18" charset="0"/>
                <a:ea typeface="微软雅黑" panose="020B0503020204020204" pitchFamily="34" charset="-122"/>
              </a:rPr>
              <a:t>Next node</a:t>
            </a:r>
            <a:endParaRPr lang="zh-CN" altLang="en-US" dirty="0">
              <a:solidFill>
                <a:schemeClr val="tx1"/>
              </a:solidFill>
              <a:latin typeface="Times New Roman" panose="02020603050405020304" pitchFamily="18" charset="0"/>
              <a:ea typeface="微软雅黑" panose="020B0503020204020204" pitchFamily="34" charset="-122"/>
            </a:endParaRPr>
          </a:p>
        </p:txBody>
      </p:sp>
      <p:cxnSp>
        <p:nvCxnSpPr>
          <p:cNvPr id="100" name="直接箭头连接符 99">
            <a:extLst>
              <a:ext uri="{FF2B5EF4-FFF2-40B4-BE49-F238E27FC236}">
                <a16:creationId xmlns:a16="http://schemas.microsoft.com/office/drawing/2014/main" id="{7F4F267F-9FA6-4487-91AA-C159A8C13DDA}"/>
              </a:ext>
            </a:extLst>
          </p:cNvPr>
          <p:cNvCxnSpPr>
            <a:cxnSpLocks/>
            <a:stCxn id="99" idx="2"/>
            <a:endCxn id="84" idx="0"/>
          </p:cNvCxnSpPr>
          <p:nvPr/>
        </p:nvCxnSpPr>
        <p:spPr>
          <a:xfrm>
            <a:off x="9137299" y="3445563"/>
            <a:ext cx="158471" cy="139413"/>
          </a:xfrm>
          <a:prstGeom prst="straightConnector1">
            <a:avLst/>
          </a:prstGeom>
          <a:ln w="25400">
            <a:solidFill>
              <a:srgbClr val="EE1A1A"/>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D2DBC024-3652-49C1-A94E-A2586C0B1B0D}"/>
              </a:ext>
            </a:extLst>
          </p:cNvPr>
          <p:cNvCxnSpPr/>
          <p:nvPr/>
        </p:nvCxnSpPr>
        <p:spPr>
          <a:xfrm>
            <a:off x="6214168" y="4781315"/>
            <a:ext cx="5733222"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836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以太坊账户模型</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9584032" cy="5302578"/>
          </a:xfrm>
        </p:spPr>
        <p:txBody>
          <a:bodyPr anchor="t" anchorCtr="0">
            <a:normAutofit/>
          </a:bodyPr>
          <a:lstStyle/>
          <a:p>
            <a:pPr>
              <a:lnSpc>
                <a:spcPct val="140000"/>
              </a:lnSpc>
            </a:pPr>
            <a:r>
              <a:rPr lang="zh-CN" altLang="en-US" dirty="0">
                <a:latin typeface="Garamond" panose="02020404030301010803" pitchFamily="18" charset="0"/>
              </a:rPr>
              <a:t>地址的生成</a:t>
            </a:r>
            <a:endParaRPr lang="en-US" altLang="zh-CN" dirty="0">
              <a:latin typeface="Garamond" panose="02020404030301010803" pitchFamily="18" charset="0"/>
            </a:endParaRPr>
          </a:p>
          <a:p>
            <a:pPr lvl="1">
              <a:lnSpc>
                <a:spcPct val="140000"/>
              </a:lnSpc>
            </a:pPr>
            <a:r>
              <a:rPr lang="zh-CN" altLang="en-US" dirty="0">
                <a:latin typeface="Garamond" panose="02020404030301010803" pitchFamily="18" charset="0"/>
              </a:rPr>
              <a:t>计算椭圆曲线下的</a:t>
            </a:r>
            <a:r>
              <a:rPr lang="zh-TW" altLang="zh-CN" dirty="0">
                <a:latin typeface="Garamond" panose="02020404030301010803" pitchFamily="18" charset="0"/>
              </a:rPr>
              <a:t>私钥与公钥</a:t>
            </a:r>
            <a:endParaRPr lang="en-US" altLang="zh-TW" dirty="0">
              <a:latin typeface="Garamond" panose="02020404030301010803" pitchFamily="18" charset="0"/>
            </a:endParaRPr>
          </a:p>
          <a:p>
            <a:pPr lvl="1">
              <a:lnSpc>
                <a:spcPct val="140000"/>
              </a:lnSpc>
            </a:pPr>
            <a:endParaRPr lang="en-US" altLang="zh-CN" dirty="0">
              <a:latin typeface="Garamond" panose="02020404030301010803" pitchFamily="18" charset="0"/>
            </a:endParaRPr>
          </a:p>
          <a:p>
            <a:pPr lvl="1">
              <a:lnSpc>
                <a:spcPct val="140000"/>
              </a:lnSpc>
            </a:pPr>
            <a:endParaRPr lang="en-US" altLang="zh-CN" dirty="0">
              <a:latin typeface="Garamond" panose="02020404030301010803" pitchFamily="18" charset="0"/>
            </a:endParaRPr>
          </a:p>
          <a:p>
            <a:pPr lvl="1">
              <a:lnSpc>
                <a:spcPct val="140000"/>
              </a:lnSpc>
            </a:pPr>
            <a:r>
              <a:rPr lang="zh-CN" altLang="zh-CN" dirty="0">
                <a:latin typeface="Garamond" panose="02020404030301010803" pitchFamily="18" charset="0"/>
              </a:rPr>
              <a:t>对公钥使用</a:t>
            </a:r>
            <a:r>
              <a:rPr lang="en-US" altLang="zh-CN" dirty="0">
                <a:latin typeface="Garamond" panose="02020404030301010803" pitchFamily="18" charset="0"/>
              </a:rPr>
              <a:t>KECCAK256</a:t>
            </a:r>
            <a:r>
              <a:rPr lang="zh-CN" altLang="zh-CN" dirty="0">
                <a:latin typeface="Garamond" panose="02020404030301010803" pitchFamily="18" charset="0"/>
              </a:rPr>
              <a:t>哈希算法，计算得到一个</a:t>
            </a:r>
            <a:r>
              <a:rPr lang="en-US" altLang="zh-CN" dirty="0">
                <a:latin typeface="Garamond" panose="02020404030301010803" pitchFamily="18" charset="0"/>
              </a:rPr>
              <a:t>64</a:t>
            </a:r>
            <a:r>
              <a:rPr lang="zh-CN" altLang="zh-CN" dirty="0">
                <a:latin typeface="Garamond" panose="02020404030301010803" pitchFamily="18" charset="0"/>
              </a:rPr>
              <a:t>位的</a:t>
            </a:r>
            <a:r>
              <a:rPr lang="en-US" altLang="zh-CN" dirty="0">
                <a:latin typeface="Garamond" panose="02020404030301010803" pitchFamily="18" charset="0"/>
              </a:rPr>
              <a:t>16</a:t>
            </a:r>
            <a:r>
              <a:rPr lang="zh-CN" altLang="zh-CN" dirty="0">
                <a:latin typeface="Garamond" panose="02020404030301010803" pitchFamily="18" charset="0"/>
              </a:rPr>
              <a:t>进制哈希值（</a:t>
            </a:r>
            <a:r>
              <a:rPr lang="en-US" altLang="zh-CN" dirty="0">
                <a:latin typeface="Garamond" panose="02020404030301010803" pitchFamily="18" charset="0"/>
              </a:rPr>
              <a:t>256</a:t>
            </a:r>
            <a:r>
              <a:rPr lang="zh-CN" altLang="zh-CN" dirty="0">
                <a:latin typeface="Garamond" panose="02020404030301010803" pitchFamily="18" charset="0"/>
              </a:rPr>
              <a:t>个比特长）</a:t>
            </a:r>
            <a:endParaRPr lang="en-US" altLang="zh-CN" dirty="0">
              <a:latin typeface="Garamond" panose="02020404030301010803" pitchFamily="18" charset="0"/>
            </a:endParaRPr>
          </a:p>
          <a:p>
            <a:pPr lvl="1">
              <a:lnSpc>
                <a:spcPct val="140000"/>
              </a:lnSpc>
            </a:pPr>
            <a:endParaRPr lang="en-US" altLang="zh-CN" dirty="0">
              <a:latin typeface="Garamond" panose="02020404030301010803" pitchFamily="18" charset="0"/>
            </a:endParaRPr>
          </a:p>
          <a:p>
            <a:pPr lvl="1">
              <a:lnSpc>
                <a:spcPct val="140000"/>
              </a:lnSpc>
            </a:pPr>
            <a:r>
              <a:rPr lang="zh-CN" altLang="zh-CN" dirty="0">
                <a:latin typeface="Garamond" panose="02020404030301010803" pitchFamily="18" charset="0"/>
              </a:rPr>
              <a:t>截取这个哈希值的最后</a:t>
            </a:r>
            <a:r>
              <a:rPr lang="en-US" altLang="zh-CN" b="1" dirty="0">
                <a:solidFill>
                  <a:srgbClr val="5B307E"/>
                </a:solidFill>
                <a:latin typeface="Garamond" panose="02020404030301010803" pitchFamily="18" charset="0"/>
              </a:rPr>
              <a:t>40</a:t>
            </a:r>
            <a:r>
              <a:rPr lang="zh-CN" altLang="zh-CN" b="1" dirty="0">
                <a:solidFill>
                  <a:srgbClr val="5B307E"/>
                </a:solidFill>
                <a:latin typeface="Garamond" panose="02020404030301010803" pitchFamily="18" charset="0"/>
              </a:rPr>
              <a:t>位</a:t>
            </a:r>
            <a:r>
              <a:rPr lang="zh-CN" altLang="en-US" b="1" dirty="0">
                <a:solidFill>
                  <a:srgbClr val="5B307E"/>
                </a:solidFill>
                <a:latin typeface="Garamond" panose="02020404030301010803" pitchFamily="18" charset="0"/>
              </a:rPr>
              <a:t>（十六进制）</a:t>
            </a:r>
            <a:r>
              <a:rPr lang="zh-CN" altLang="zh-CN" dirty="0">
                <a:latin typeface="Garamond" panose="02020404030301010803" pitchFamily="18" charset="0"/>
              </a:rPr>
              <a:t>作为一个以太坊地址。</a:t>
            </a:r>
          </a:p>
          <a:p>
            <a:pPr lvl="1">
              <a:lnSpc>
                <a:spcPct val="140000"/>
              </a:lnSpc>
            </a:pPr>
            <a:endParaRPr lang="en-US" altLang="zh-CN" dirty="0">
              <a:latin typeface="Garamond" panose="02020404030301010803" pitchFamily="18" charset="0"/>
            </a:endParaRPr>
          </a:p>
          <a:p>
            <a:pPr marL="0" indent="0">
              <a:lnSpc>
                <a:spcPct val="140000"/>
              </a:lnSpc>
              <a:buNone/>
            </a:pP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 Box 1"/>
          <p:cNvSpPr txBox="1">
            <a:spLocks noChangeArrowheads="1"/>
          </p:cNvSpPr>
          <p:nvPr/>
        </p:nvSpPr>
        <p:spPr bwMode="auto">
          <a:xfrm>
            <a:off x="1524000" y="2750419"/>
            <a:ext cx="5619750" cy="938719"/>
          </a:xfrm>
          <a:prstGeom prst="rect">
            <a:avLst/>
          </a:prstGeom>
          <a:solidFill>
            <a:srgbClr val="D9D9D9"/>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7C7FC7CCECC1FEE3B3E4AC63ADD864BD786696C20CA15683A269AA9AD8639443</a:t>
            </a:r>
            <a:r>
              <a:rPr kumimoji="0" lang="zh-CN" altLang="en-US"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（私钥）</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FBD0A98CEF180CDAA3FC2B64A4CA56FBC8E8AF5CC74E820DA34EB9DAB0D46FF2E3858707929D0A9BEACF5533C22BF02D34E0A6EE4F1A19C1CEAC4FC4251810A6</a:t>
            </a:r>
            <a:r>
              <a:rPr kumimoji="0" lang="zh-CN" altLang="en-US"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（公钥）</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 Box 4"/>
          <p:cNvSpPr txBox="1">
            <a:spLocks noChangeArrowheads="1"/>
          </p:cNvSpPr>
          <p:nvPr/>
        </p:nvSpPr>
        <p:spPr bwMode="auto">
          <a:xfrm>
            <a:off x="1524000" y="5140489"/>
            <a:ext cx="5781675" cy="260350"/>
          </a:xfrm>
          <a:prstGeom prst="rect">
            <a:avLst/>
          </a:prstGeom>
          <a:solidFill>
            <a:srgbClr val="D9D9D9"/>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DDC0D707E349E9B726925710</a:t>
            </a:r>
            <a:r>
              <a:rPr kumimoji="0" lang="en-US" altLang="zh-CN" sz="1100" b="1"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238661F085A338F04B0C7C956A796B57018151F0</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 Box 7"/>
          <p:cNvSpPr txBox="1">
            <a:spLocks noChangeArrowheads="1"/>
          </p:cNvSpPr>
          <p:nvPr/>
        </p:nvSpPr>
        <p:spPr bwMode="auto">
          <a:xfrm>
            <a:off x="1524000" y="6261099"/>
            <a:ext cx="4703763" cy="249238"/>
          </a:xfrm>
          <a:prstGeom prst="rect">
            <a:avLst/>
          </a:prstGeom>
          <a:solidFill>
            <a:srgbClr val="D9D9D9"/>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238661F085A338F04B0C7C956A796B57018151F0</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9687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以太坊账户模型</a:t>
            </a:r>
            <a:r>
              <a:rPr kumimoji="1" lang="en-US" altLang="zh-CN" dirty="0"/>
              <a:t>——</a:t>
            </a:r>
            <a:r>
              <a:rPr kumimoji="1" lang="zh-CN" altLang="en-US" dirty="0"/>
              <a:t>外部账户</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11219880" cy="5302578"/>
          </a:xfrm>
        </p:spPr>
        <p:txBody>
          <a:bodyPr anchor="t" anchorCtr="0">
            <a:normAutofit/>
          </a:bodyPr>
          <a:lstStyle/>
          <a:p>
            <a:pPr>
              <a:lnSpc>
                <a:spcPct val="140000"/>
              </a:lnSpc>
            </a:pPr>
            <a:r>
              <a:rPr lang="zh-CN" altLang="en-US" dirty="0">
                <a:latin typeface="Garamond" panose="02020404030301010803" pitchFamily="18" charset="0"/>
              </a:rPr>
              <a:t>外部账户</a:t>
            </a:r>
            <a:r>
              <a:rPr lang="en-US" altLang="zh-CN" dirty="0">
                <a:latin typeface="Garamond" panose="02020404030301010803" pitchFamily="18" charset="0"/>
              </a:rPr>
              <a:t>(Externally Owned Account)</a:t>
            </a:r>
            <a:r>
              <a:rPr lang="zh-CN" altLang="en-US" dirty="0">
                <a:latin typeface="Garamond" panose="02020404030301010803" pitchFamily="18" charset="0"/>
              </a:rPr>
              <a:t>结构</a:t>
            </a:r>
            <a:endParaRPr lang="en-US" altLang="zh-CN" dirty="0">
              <a:latin typeface="Garamond" panose="02020404030301010803" pitchFamily="18" charset="0"/>
            </a:endParaRPr>
          </a:p>
          <a:p>
            <a:pPr lvl="1">
              <a:lnSpc>
                <a:spcPct val="140000"/>
              </a:lnSpc>
            </a:pPr>
            <a:r>
              <a:rPr lang="zh-TW" altLang="zh-CN" dirty="0">
                <a:latin typeface="Garamond" panose="02020404030301010803" pitchFamily="18" charset="0"/>
              </a:rPr>
              <a:t>用户账户结构保存了用户地址对应账户的数据信息</a:t>
            </a:r>
            <a:endParaRPr lang="en-US" altLang="zh-TW" dirty="0">
              <a:latin typeface="Garamond" panose="02020404030301010803" pitchFamily="18" charset="0"/>
            </a:endParaRPr>
          </a:p>
          <a:p>
            <a:pPr lvl="1">
              <a:lnSpc>
                <a:spcPct val="140000"/>
              </a:lnSpc>
            </a:pPr>
            <a:r>
              <a:rPr lang="zh-TW" altLang="zh-CN" b="1" dirty="0">
                <a:latin typeface="Garamond" panose="02020404030301010803" pitchFamily="18" charset="0"/>
              </a:rPr>
              <a:t>余额</a:t>
            </a:r>
            <a:r>
              <a:rPr lang="zh-CN" altLang="en-US" dirty="0">
                <a:latin typeface="Garamond" panose="02020404030301010803" pitchFamily="18" charset="0"/>
              </a:rPr>
              <a:t>：</a:t>
            </a:r>
            <a:r>
              <a:rPr lang="zh-TW" altLang="zh-CN" dirty="0">
                <a:latin typeface="Garamond" panose="02020404030301010803" pitchFamily="18" charset="0"/>
              </a:rPr>
              <a:t>记录了当前地址持有的以太币的数额，单位是</a:t>
            </a:r>
            <a:r>
              <a:rPr lang="en-US" altLang="zh-CN" dirty="0">
                <a:latin typeface="Garamond" panose="02020404030301010803" pitchFamily="18" charset="0"/>
              </a:rPr>
              <a:t>Wei</a:t>
            </a:r>
            <a:r>
              <a:rPr lang="zh-CN" altLang="en-US" dirty="0">
                <a:latin typeface="Garamond" panose="02020404030301010803" pitchFamily="18" charset="0"/>
              </a:rPr>
              <a:t>，</a:t>
            </a:r>
            <a:r>
              <a:rPr lang="en-US" altLang="zh-CN" b="1" dirty="0">
                <a:solidFill>
                  <a:srgbClr val="0000CC"/>
                </a:solidFill>
                <a:latin typeface="Garamond" panose="02020404030301010803" pitchFamily="18" charset="0"/>
              </a:rPr>
              <a:t>1 Wei = 10</a:t>
            </a:r>
            <a:r>
              <a:rPr lang="en-US" altLang="zh-CN" b="1" baseline="30000" dirty="0">
                <a:solidFill>
                  <a:srgbClr val="0000CC"/>
                </a:solidFill>
                <a:latin typeface="Garamond" panose="02020404030301010803" pitchFamily="18" charset="0"/>
              </a:rPr>
              <a:t>-18 </a:t>
            </a:r>
            <a:r>
              <a:rPr lang="en-US" altLang="zh-CN" b="1" dirty="0">
                <a:solidFill>
                  <a:srgbClr val="0000CC"/>
                </a:solidFill>
                <a:latin typeface="Garamond" panose="02020404030301010803" pitchFamily="18" charset="0"/>
              </a:rPr>
              <a:t>Ether</a:t>
            </a:r>
          </a:p>
          <a:p>
            <a:pPr lvl="1">
              <a:lnSpc>
                <a:spcPct val="140000"/>
              </a:lnSpc>
            </a:pPr>
            <a:r>
              <a:rPr lang="en-US" altLang="zh-CN" b="1" dirty="0">
                <a:latin typeface="Garamond" panose="02020404030301010803" pitchFamily="18" charset="0"/>
              </a:rPr>
              <a:t>Nonce</a:t>
            </a:r>
            <a:r>
              <a:rPr lang="zh-CN" altLang="en-US" dirty="0">
                <a:latin typeface="Garamond" panose="02020404030301010803" pitchFamily="18" charset="0"/>
              </a:rPr>
              <a:t>：</a:t>
            </a:r>
            <a:r>
              <a:rPr lang="zh-TW" altLang="zh-CN" dirty="0">
                <a:latin typeface="Garamond" panose="02020404030301010803" pitchFamily="18" charset="0"/>
              </a:rPr>
              <a:t>记录了这个地址创建以来累计发起的交易次数</a:t>
            </a:r>
            <a:endParaRPr lang="en-US" altLang="zh-CN" dirty="0">
              <a:latin typeface="Garamond" panose="02020404030301010803" pitchFamily="18" charset="0"/>
            </a:endParaRPr>
          </a:p>
          <a:p>
            <a:pPr marL="0" indent="0">
              <a:lnSpc>
                <a:spcPct val="140000"/>
              </a:lnSpc>
              <a:buNone/>
            </a:pP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1" name="图片 10"/>
          <p:cNvPicPr/>
          <p:nvPr/>
        </p:nvPicPr>
        <p:blipFill>
          <a:blip r:embed="rId3" cstate="print">
            <a:extLst>
              <a:ext uri="{28A0092B-C50C-407E-A947-70E740481C1C}">
                <a14:useLocalDpi xmlns:a14="http://schemas.microsoft.com/office/drawing/2010/main" val="0"/>
              </a:ext>
            </a:extLst>
          </a:blip>
          <a:srcRect/>
          <a:stretch>
            <a:fillRect/>
          </a:stretch>
        </p:blipFill>
        <p:spPr>
          <a:xfrm>
            <a:off x="3254375" y="3908261"/>
            <a:ext cx="5556250" cy="2252980"/>
          </a:xfrm>
          <a:prstGeom prst="rect">
            <a:avLst/>
          </a:prstGeom>
          <a:noFill/>
        </p:spPr>
      </p:pic>
      <p:sp>
        <p:nvSpPr>
          <p:cNvPr id="10" name="文本框 9"/>
          <p:cNvSpPr txBox="1"/>
          <p:nvPr/>
        </p:nvSpPr>
        <p:spPr>
          <a:xfrm>
            <a:off x="5047723" y="6161241"/>
            <a:ext cx="1800493"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以太坊外部账户结构</a:t>
            </a:r>
          </a:p>
        </p:txBody>
      </p:sp>
    </p:spTree>
    <p:extLst>
      <p:ext uri="{BB962C8B-B14F-4D97-AF65-F5344CB8AC3E}">
        <p14:creationId xmlns:p14="http://schemas.microsoft.com/office/powerpoint/2010/main" val="1543531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转账</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10182036" cy="5302578"/>
          </a:xfrm>
        </p:spPr>
        <p:txBody>
          <a:bodyPr anchor="t" anchorCtr="0">
            <a:normAutofit/>
          </a:bodyPr>
          <a:lstStyle/>
          <a:p>
            <a:pPr>
              <a:lnSpc>
                <a:spcPct val="140000"/>
              </a:lnSpc>
            </a:pPr>
            <a:r>
              <a:rPr lang="zh-CN" altLang="en-US" sz="2000" dirty="0">
                <a:latin typeface="Garamond" panose="02020404030301010803" pitchFamily="18" charset="0"/>
              </a:rPr>
              <a:t>实例：</a:t>
            </a:r>
            <a:r>
              <a:rPr lang="zh-TW" altLang="zh-CN" sz="2000" dirty="0">
                <a:latin typeface="Garamond" panose="02020404030301010803" pitchFamily="18" charset="0"/>
              </a:rPr>
              <a:t>以太坊的</a:t>
            </a:r>
            <a:r>
              <a:rPr lang="zh-CN" altLang="en-US" sz="2000" dirty="0">
                <a:latin typeface="Garamond" panose="02020404030301010803" pitchFamily="18" charset="0"/>
              </a:rPr>
              <a:t>转账交易过程</a:t>
            </a:r>
            <a:endParaRPr lang="en-US" altLang="zh-TW" sz="2000" dirty="0">
              <a:latin typeface="Garamond" panose="02020404030301010803" pitchFamily="18" charset="0"/>
            </a:endParaRPr>
          </a:p>
          <a:p>
            <a:pPr lvl="1">
              <a:lnSpc>
                <a:spcPct val="140000"/>
              </a:lnSpc>
            </a:pPr>
            <a:r>
              <a:rPr lang="zh-TW" altLang="zh-CN" sz="1600" dirty="0">
                <a:latin typeface="Garamond" panose="02020404030301010803" pitchFamily="18" charset="0"/>
              </a:rPr>
              <a:t>交易的数据通过</a:t>
            </a:r>
            <a:r>
              <a:rPr lang="en-US" altLang="zh-CN" sz="1600" dirty="0">
                <a:latin typeface="Garamond" panose="02020404030301010803" pitchFamily="18" charset="0"/>
              </a:rPr>
              <a:t>Alice</a:t>
            </a:r>
            <a:r>
              <a:rPr lang="zh-TW" altLang="zh-CN" sz="1600" dirty="0">
                <a:latin typeface="Garamond" panose="02020404030301010803" pitchFamily="18" charset="0"/>
              </a:rPr>
              <a:t>的私钥进行签名之后得到对应的数字签名</a:t>
            </a:r>
            <a:endParaRPr lang="en-US" altLang="zh-TW" sz="1600" dirty="0">
              <a:latin typeface="Garamond" panose="02020404030301010803" pitchFamily="18" charset="0"/>
            </a:endParaRPr>
          </a:p>
          <a:p>
            <a:pPr lvl="1">
              <a:lnSpc>
                <a:spcPct val="140000"/>
              </a:lnSpc>
            </a:pPr>
            <a:r>
              <a:rPr lang="zh-TW" altLang="zh-CN" sz="1600" dirty="0">
                <a:latin typeface="Garamond" panose="02020404030301010803" pitchFamily="18" charset="0"/>
              </a:rPr>
              <a:t>以太坊节点通过交易本身和对应的数字签名还原得到</a:t>
            </a:r>
            <a:r>
              <a:rPr lang="en-US" altLang="zh-CN" sz="1600" dirty="0">
                <a:latin typeface="Garamond" panose="02020404030301010803" pitchFamily="18" charset="0"/>
              </a:rPr>
              <a:t>Alice</a:t>
            </a:r>
            <a:r>
              <a:rPr lang="zh-TW" altLang="zh-CN" sz="1600" dirty="0">
                <a:latin typeface="Garamond" panose="02020404030301010803" pitchFamily="18" charset="0"/>
              </a:rPr>
              <a:t>的公钥值</a:t>
            </a:r>
            <a:endParaRPr lang="en-US" altLang="zh-TW" sz="1600" dirty="0">
              <a:latin typeface="Garamond" panose="02020404030301010803" pitchFamily="18" charset="0"/>
            </a:endParaRPr>
          </a:p>
          <a:p>
            <a:pPr lvl="1">
              <a:lnSpc>
                <a:spcPct val="140000"/>
              </a:lnSpc>
            </a:pPr>
            <a:r>
              <a:rPr lang="zh-TW" altLang="zh-CN" sz="1600" dirty="0">
                <a:latin typeface="Garamond" panose="02020404030301010803" pitchFamily="18" charset="0"/>
              </a:rPr>
              <a:t>通过以太坊的地址生成流程，</a:t>
            </a:r>
            <a:r>
              <a:rPr lang="zh-CN" altLang="en-US" sz="1600" dirty="0">
                <a:latin typeface="Garamond" panose="02020404030301010803" pitchFamily="18" charset="0"/>
              </a:rPr>
              <a:t>根据</a:t>
            </a:r>
            <a:r>
              <a:rPr lang="en-US" altLang="zh-CN" sz="1600" dirty="0">
                <a:latin typeface="Garamond" panose="02020404030301010803" pitchFamily="18" charset="0"/>
              </a:rPr>
              <a:t>Alice</a:t>
            </a:r>
            <a:r>
              <a:rPr lang="zh-TW" altLang="zh-CN" sz="1600" dirty="0">
                <a:latin typeface="Garamond" panose="02020404030301010803" pitchFamily="18" charset="0"/>
              </a:rPr>
              <a:t>的公钥计算出对应的</a:t>
            </a:r>
            <a:r>
              <a:rPr lang="en-US" altLang="zh-CN" sz="1600" dirty="0">
                <a:latin typeface="Garamond" panose="02020404030301010803" pitchFamily="18" charset="0"/>
              </a:rPr>
              <a:t>Alice</a:t>
            </a:r>
            <a:r>
              <a:rPr lang="zh-TW" altLang="zh-CN" sz="1600" dirty="0">
                <a:latin typeface="Garamond" panose="02020404030301010803" pitchFamily="18" charset="0"/>
              </a:rPr>
              <a:t>的以太坊地址</a:t>
            </a:r>
            <a:endParaRPr lang="en-US" altLang="zh-TW" sz="1600" dirty="0">
              <a:latin typeface="Garamond" panose="02020404030301010803" pitchFamily="18" charset="0"/>
            </a:endParaRPr>
          </a:p>
          <a:p>
            <a:pPr lvl="1">
              <a:lnSpc>
                <a:spcPct val="140000"/>
              </a:lnSpc>
            </a:pPr>
            <a:r>
              <a:rPr lang="zh-TW" altLang="zh-CN" sz="1600" dirty="0">
                <a:latin typeface="Garamond" panose="02020404030301010803" pitchFamily="18" charset="0"/>
              </a:rPr>
              <a:t>如果交易受到篡改，计算通过交易哈希和签名计算得到的地址便是错误的</a:t>
            </a:r>
            <a:endParaRPr lang="en-US" altLang="zh-CN" sz="1600"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1307508" y="3849627"/>
            <a:ext cx="8768814" cy="2332038"/>
          </a:xfrm>
          <a:prstGeom prst="rect">
            <a:avLst/>
          </a:prstGeom>
          <a:noFill/>
        </p:spPr>
      </p:pic>
      <p:sp>
        <p:nvSpPr>
          <p:cNvPr id="5" name="文本框 4"/>
          <p:cNvSpPr txBox="1"/>
          <p:nvPr/>
        </p:nvSpPr>
        <p:spPr>
          <a:xfrm>
            <a:off x="4991236" y="6223395"/>
            <a:ext cx="1398140" cy="307777"/>
          </a:xfrm>
          <a:prstGeom prst="rect">
            <a:avLst/>
          </a:prstGeom>
          <a:noFill/>
        </p:spPr>
        <p:txBody>
          <a:bodyPr wrap="none" rtlCol="0">
            <a:spAutoFit/>
          </a:bodyPr>
          <a:lstStyle/>
          <a:p>
            <a:r>
              <a:rPr lang="en-US" altLang="zh-CN" sz="1400" dirty="0">
                <a:latin typeface="Garamond" panose="02020404030301010803" pitchFamily="18" charset="0"/>
                <a:ea typeface="微软雅黑" panose="020B0503020204020204" pitchFamily="34" charset="-122"/>
              </a:rPr>
              <a:t>Alice</a:t>
            </a:r>
            <a:r>
              <a:rPr lang="zh-CN" altLang="en-US" sz="1400" dirty="0">
                <a:latin typeface="Garamond" panose="02020404030301010803" pitchFamily="18" charset="0"/>
                <a:ea typeface="微软雅黑" panose="020B0503020204020204" pitchFamily="34" charset="-122"/>
              </a:rPr>
              <a:t>向</a:t>
            </a:r>
            <a:r>
              <a:rPr lang="en-US" altLang="zh-CN" sz="1400" dirty="0">
                <a:latin typeface="Garamond" panose="02020404030301010803" pitchFamily="18" charset="0"/>
                <a:ea typeface="微软雅黑" panose="020B0503020204020204" pitchFamily="34" charset="-122"/>
              </a:rPr>
              <a:t>Bob</a:t>
            </a:r>
            <a:r>
              <a:rPr lang="zh-CN" altLang="en-US" sz="1400" dirty="0">
                <a:latin typeface="Garamond" panose="02020404030301010803" pitchFamily="18" charset="0"/>
                <a:ea typeface="微软雅黑" panose="020B0503020204020204" pitchFamily="34" charset="-122"/>
              </a:rPr>
              <a:t>转账</a:t>
            </a:r>
          </a:p>
        </p:txBody>
      </p:sp>
    </p:spTree>
    <p:extLst>
      <p:ext uri="{BB962C8B-B14F-4D97-AF65-F5344CB8AC3E}">
        <p14:creationId xmlns:p14="http://schemas.microsoft.com/office/powerpoint/2010/main" val="1550786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交易重放问题</a:t>
            </a:r>
            <a:endParaRPr lang="en-US" altLang="zh-CN" dirty="0"/>
          </a:p>
          <a:p>
            <a:pPr lvl="1">
              <a:lnSpc>
                <a:spcPct val="140000"/>
              </a:lnSpc>
            </a:pPr>
            <a:r>
              <a:rPr lang="zh-TW" altLang="zh-CN" dirty="0"/>
              <a:t>在以太坊的模型中，交易的合法性检验在于转账发起者的账户余额</a:t>
            </a:r>
            <a:endParaRPr lang="en-US" altLang="zh-TW" dirty="0"/>
          </a:p>
          <a:p>
            <a:pPr lvl="1">
              <a:lnSpc>
                <a:spcPct val="140000"/>
              </a:lnSpc>
            </a:pPr>
            <a:r>
              <a:rPr lang="zh-TW" altLang="zh-CN" dirty="0"/>
              <a:t>如果没有其他手段来使得发起过的交易失效，那么这个交易将可以被无限次的重新发起而不需要发起者的同意，因为发起者的签名对于交易始终是有效的。</a:t>
            </a:r>
            <a:endParaRPr lang="en-US" altLang="zh-TW" dirty="0"/>
          </a:p>
          <a:p>
            <a:pPr marL="457200" lvl="1" indent="0">
              <a:lnSpc>
                <a:spcPct val="140000"/>
              </a:lnSpc>
              <a:buNone/>
            </a:pPr>
            <a:endParaRPr lang="en-US" altLang="zh-CN" dirty="0"/>
          </a:p>
          <a:p>
            <a:pPr lvl="1">
              <a:lnSpc>
                <a:spcPct val="140000"/>
              </a:lnSpc>
            </a:pPr>
            <a:endParaRPr lang="en-US" altLang="zh-CN" dirty="0"/>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85080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dirty="0"/>
              <a:t>交易重放问题</a:t>
            </a:r>
            <a:endParaRPr lang="en-US" altLang="zh-CN" dirty="0"/>
          </a:p>
          <a:p>
            <a:pPr lvl="1">
              <a:lnSpc>
                <a:spcPct val="140000"/>
              </a:lnSpc>
            </a:pPr>
            <a:r>
              <a:rPr lang="zh-CN" altLang="en-US" sz="2000" dirty="0"/>
              <a:t>如何判断这笔交易是</a:t>
            </a:r>
            <a:r>
              <a:rPr lang="en-US" altLang="zh-CN" sz="2000" dirty="0"/>
              <a:t>Alice</a:t>
            </a:r>
            <a:r>
              <a:rPr lang="zh-CN" altLang="en-US" sz="2000" dirty="0"/>
              <a:t>继续向</a:t>
            </a:r>
            <a:r>
              <a:rPr lang="en-US" altLang="zh-CN" sz="2000" dirty="0"/>
              <a:t>Bob</a:t>
            </a:r>
            <a:r>
              <a:rPr lang="zh-CN" altLang="en-US" sz="2000" dirty="0"/>
              <a:t>转账，还是在没有</a:t>
            </a:r>
            <a:r>
              <a:rPr lang="en-US" altLang="zh-CN" sz="2000" dirty="0"/>
              <a:t>Alice</a:t>
            </a:r>
            <a:r>
              <a:rPr lang="zh-CN" altLang="en-US" sz="2000" dirty="0"/>
              <a:t>同意的情况下进行的一次恶意的攻击行为？</a:t>
            </a:r>
            <a:endParaRPr lang="zh-CN" altLang="zh-CN" sz="2000" dirty="0"/>
          </a:p>
          <a:p>
            <a:pPr lvl="1">
              <a:lnSpc>
                <a:spcPct val="140000"/>
              </a:lnSpc>
            </a:pPr>
            <a:endParaRPr lang="en-US" altLang="zh-CN" dirty="0"/>
          </a:p>
          <a:p>
            <a:pPr lvl="1">
              <a:lnSpc>
                <a:spcPct val="140000"/>
              </a:lnSpc>
            </a:pPr>
            <a:endParaRPr lang="en-US" altLang="zh-CN" dirty="0"/>
          </a:p>
          <a:p>
            <a:pPr>
              <a:lnSpc>
                <a:spcPct val="140000"/>
              </a:lnSpc>
            </a:pPr>
            <a:endParaRPr lang="en-US" altLang="zh-CN" dirty="0"/>
          </a:p>
          <a:p>
            <a:pPr>
              <a:lnSpc>
                <a:spcPct val="140000"/>
              </a:lnSpc>
            </a:pP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图片 9"/>
          <p:cNvPicPr/>
          <p:nvPr/>
        </p:nvPicPr>
        <p:blipFill>
          <a:blip r:embed="rId3" cstate="print">
            <a:extLst>
              <a:ext uri="{28A0092B-C50C-407E-A947-70E740481C1C}">
                <a14:useLocalDpi xmlns:a14="http://schemas.microsoft.com/office/drawing/2010/main" val="0"/>
              </a:ext>
            </a:extLst>
          </a:blip>
          <a:srcRect t="5526"/>
          <a:stretch>
            <a:fillRect/>
          </a:stretch>
        </p:blipFill>
        <p:spPr>
          <a:xfrm>
            <a:off x="1396437" y="3247831"/>
            <a:ext cx="9399125" cy="2644458"/>
          </a:xfrm>
          <a:prstGeom prst="rect">
            <a:avLst/>
          </a:prstGeom>
          <a:noFill/>
        </p:spPr>
      </p:pic>
      <p:sp>
        <p:nvSpPr>
          <p:cNvPr id="5" name="文本框 4"/>
          <p:cNvSpPr txBox="1"/>
          <p:nvPr/>
        </p:nvSpPr>
        <p:spPr>
          <a:xfrm>
            <a:off x="4803150" y="5979631"/>
            <a:ext cx="1800493" cy="307777"/>
          </a:xfrm>
          <a:prstGeom prst="rect">
            <a:avLst/>
          </a:prstGeom>
          <a:noFill/>
        </p:spPr>
        <p:txBody>
          <a:bodyPr wrap="none" rtlCol="0">
            <a:spAutoFit/>
          </a:bodyPr>
          <a:lstStyle/>
          <a:p>
            <a:r>
              <a:rPr lang="zh-CN" altLang="en-US" sz="1400" dirty="0"/>
              <a:t>无法识别的交易重放</a:t>
            </a:r>
          </a:p>
        </p:txBody>
      </p:sp>
    </p:spTree>
    <p:extLst>
      <p:ext uri="{BB962C8B-B14F-4D97-AF65-F5344CB8AC3E}">
        <p14:creationId xmlns:p14="http://schemas.microsoft.com/office/powerpoint/2010/main" val="3378939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9817800" cy="5302578"/>
          </a:xfrm>
        </p:spPr>
        <p:txBody>
          <a:bodyPr anchor="t" anchorCtr="0">
            <a:normAutofit/>
          </a:bodyPr>
          <a:lstStyle/>
          <a:p>
            <a:pPr>
              <a:lnSpc>
                <a:spcPct val="140000"/>
              </a:lnSpc>
            </a:pPr>
            <a:r>
              <a:rPr lang="en-US" altLang="zh-CN" dirty="0">
                <a:latin typeface="Garamond" panose="02020404030301010803" pitchFamily="18" charset="0"/>
              </a:rPr>
              <a:t>Nonce</a:t>
            </a:r>
            <a:r>
              <a:rPr lang="zh-CN" altLang="en-US" dirty="0">
                <a:latin typeface="Garamond" panose="02020404030301010803" pitchFamily="18" charset="0"/>
              </a:rPr>
              <a:t>计数器：计算交易次数和序列</a:t>
            </a:r>
            <a:endParaRPr lang="en-US" altLang="zh-CN" dirty="0">
              <a:latin typeface="Garamond" panose="02020404030301010803" pitchFamily="18" charset="0"/>
            </a:endParaRPr>
          </a:p>
          <a:p>
            <a:pPr lvl="1">
              <a:lnSpc>
                <a:spcPct val="140000"/>
              </a:lnSpc>
            </a:pPr>
            <a:r>
              <a:rPr lang="zh-TW" altLang="zh-CN" dirty="0">
                <a:latin typeface="Garamond" panose="02020404030301010803" pitchFamily="18" charset="0"/>
              </a:rPr>
              <a:t>只有账户的</a:t>
            </a:r>
            <a:r>
              <a:rPr lang="en-US" altLang="zh-CN" dirty="0">
                <a:latin typeface="Garamond" panose="02020404030301010803" pitchFamily="18" charset="0"/>
              </a:rPr>
              <a:t>Nonce</a:t>
            </a:r>
            <a:r>
              <a:rPr lang="zh-TW" altLang="zh-CN" dirty="0">
                <a:latin typeface="Garamond" panose="02020404030301010803" pitchFamily="18" charset="0"/>
              </a:rPr>
              <a:t>和交易的</a:t>
            </a:r>
            <a:r>
              <a:rPr lang="en-US" altLang="zh-CN" dirty="0">
                <a:latin typeface="Garamond" panose="02020404030301010803" pitchFamily="18" charset="0"/>
              </a:rPr>
              <a:t>Nonce</a:t>
            </a:r>
            <a:r>
              <a:rPr lang="zh-TW" altLang="zh-CN" dirty="0">
                <a:latin typeface="Garamond" panose="02020404030301010803" pitchFamily="18" charset="0"/>
              </a:rPr>
              <a:t>能够对应的情况下，交易才是合法的</a:t>
            </a:r>
            <a:endParaRPr lang="en-US" altLang="zh-CN" dirty="0">
              <a:latin typeface="Garamond" panose="02020404030301010803" pitchFamily="18" charset="0"/>
            </a:endParaRPr>
          </a:p>
          <a:p>
            <a:pPr lvl="1">
              <a:lnSpc>
                <a:spcPct val="140000"/>
              </a:lnSpc>
            </a:pPr>
            <a:r>
              <a:rPr lang="zh-TW" altLang="zh-CN" dirty="0">
                <a:latin typeface="Garamond" panose="02020404030301010803" pitchFamily="18" charset="0"/>
              </a:rPr>
              <a:t>当一个交易执行完毕之后，账户的</a:t>
            </a:r>
            <a:r>
              <a:rPr lang="en-US" altLang="zh-CN" dirty="0">
                <a:latin typeface="Garamond" panose="02020404030301010803" pitchFamily="18" charset="0"/>
              </a:rPr>
              <a:t>Nonce</a:t>
            </a:r>
            <a:r>
              <a:rPr lang="zh-TW" altLang="zh-CN" dirty="0">
                <a:latin typeface="Garamond" panose="02020404030301010803" pitchFamily="18" charset="0"/>
              </a:rPr>
              <a:t>值增加</a:t>
            </a:r>
            <a:r>
              <a:rPr lang="zh-CN" altLang="en-US" dirty="0">
                <a:latin typeface="Garamond" panose="02020404030301010803" pitchFamily="18" charset="0"/>
              </a:rPr>
              <a:t>，</a:t>
            </a:r>
            <a:r>
              <a:rPr lang="zh-TW" altLang="zh-CN" dirty="0">
                <a:latin typeface="Garamond" panose="02020404030301010803" pitchFamily="18" charset="0"/>
              </a:rPr>
              <a:t>原本执行完毕的交易中的</a:t>
            </a:r>
            <a:r>
              <a:rPr lang="en-US" altLang="zh-CN" dirty="0">
                <a:latin typeface="Garamond" panose="02020404030301010803" pitchFamily="18" charset="0"/>
              </a:rPr>
              <a:t>Nonce</a:t>
            </a:r>
            <a:r>
              <a:rPr lang="zh-TW" altLang="zh-CN" dirty="0">
                <a:latin typeface="Garamond" panose="02020404030301010803" pitchFamily="18" charset="0"/>
              </a:rPr>
              <a:t>值就无法与现在账户的</a:t>
            </a:r>
            <a:r>
              <a:rPr lang="en-US" altLang="zh-CN" dirty="0">
                <a:latin typeface="Garamond" panose="02020404030301010803" pitchFamily="18" charset="0"/>
              </a:rPr>
              <a:t>Nonce</a:t>
            </a:r>
            <a:r>
              <a:rPr lang="zh-TW" altLang="zh-CN" dirty="0">
                <a:latin typeface="Garamond" panose="02020404030301010803" pitchFamily="18" charset="0"/>
              </a:rPr>
              <a:t>值匹配</a:t>
            </a:r>
            <a:endParaRPr lang="en-US" altLang="zh-TW" dirty="0">
              <a:latin typeface="Garamond" panose="02020404030301010803" pitchFamily="18" charset="0"/>
            </a:endParaRPr>
          </a:p>
          <a:p>
            <a:pPr lvl="1">
              <a:lnSpc>
                <a:spcPct val="140000"/>
              </a:lnSpc>
            </a:pPr>
            <a:r>
              <a:rPr lang="zh-TW" altLang="zh-CN" dirty="0">
                <a:latin typeface="Garamond" panose="02020404030301010803" pitchFamily="18" charset="0"/>
              </a:rPr>
              <a:t>修改对应的</a:t>
            </a:r>
            <a:r>
              <a:rPr lang="en-US" altLang="zh-CN" dirty="0">
                <a:latin typeface="Garamond" panose="02020404030301010803" pitchFamily="18" charset="0"/>
              </a:rPr>
              <a:t>Nonce</a:t>
            </a:r>
            <a:r>
              <a:rPr lang="zh-TW" altLang="zh-CN" dirty="0">
                <a:latin typeface="Garamond" panose="02020404030301010803" pitchFamily="18" charset="0"/>
              </a:rPr>
              <a:t>值，意味着原有交易的签名失效，需要发起者的重新签名</a:t>
            </a:r>
            <a:endParaRPr lang="en-US" altLang="zh-CN" dirty="0">
              <a:latin typeface="Garamond" panose="02020404030301010803" pitchFamily="18" charset="0"/>
            </a:endParaRPr>
          </a:p>
          <a:p>
            <a:pPr>
              <a:lnSpc>
                <a:spcPct val="140000"/>
              </a:lnSpc>
            </a:pPr>
            <a:endParaRPr lang="en-US" altLang="zh-CN" dirty="0">
              <a:latin typeface="Garamond" panose="02020404030301010803" pitchFamily="18" charset="0"/>
            </a:endParaRPr>
          </a:p>
          <a:p>
            <a:pPr>
              <a:lnSpc>
                <a:spcPct val="140000"/>
              </a:lnSpc>
            </a:pP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74163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zh-CN" altLang="en-US" sz="2000" dirty="0">
                <a:latin typeface="Garamond" panose="02020404030301010803" pitchFamily="18" charset="0"/>
              </a:rPr>
              <a:t>实例：</a:t>
            </a:r>
            <a:r>
              <a:rPr lang="en-US" altLang="zh-CN" sz="2000" dirty="0">
                <a:latin typeface="Garamond" panose="02020404030301010803" pitchFamily="18" charset="0"/>
              </a:rPr>
              <a:t>Nonce</a:t>
            </a:r>
            <a:r>
              <a:rPr lang="zh-CN" altLang="en-US" sz="2000" dirty="0">
                <a:latin typeface="Garamond" panose="02020404030301010803" pitchFamily="18" charset="0"/>
              </a:rPr>
              <a:t>计数器</a:t>
            </a:r>
            <a:endParaRPr lang="en-US" altLang="zh-CN" sz="2000" dirty="0">
              <a:latin typeface="Garamond" panose="02020404030301010803" pitchFamily="18" charset="0"/>
            </a:endParaRPr>
          </a:p>
          <a:p>
            <a:pPr lvl="1">
              <a:lnSpc>
                <a:spcPct val="140000"/>
              </a:lnSpc>
            </a:pPr>
            <a:r>
              <a:rPr lang="en-US" altLang="zh-CN" sz="1600" dirty="0">
                <a:latin typeface="Garamond" panose="02020404030301010803" pitchFamily="18" charset="0"/>
              </a:rPr>
              <a:t>Alice</a:t>
            </a:r>
            <a:r>
              <a:rPr lang="zh-TW" altLang="zh-CN" sz="1600" dirty="0">
                <a:latin typeface="Garamond" panose="02020404030301010803" pitchFamily="18" charset="0"/>
              </a:rPr>
              <a:t>向</a:t>
            </a:r>
            <a:r>
              <a:rPr lang="en-US" altLang="zh-CN" sz="1600" dirty="0">
                <a:latin typeface="Garamond" panose="02020404030301010803" pitchFamily="18" charset="0"/>
              </a:rPr>
              <a:t>Bob</a:t>
            </a:r>
            <a:r>
              <a:rPr lang="zh-TW" altLang="zh-CN" sz="1600" dirty="0">
                <a:latin typeface="Garamond" panose="02020404030301010803" pitchFamily="18" charset="0"/>
              </a:rPr>
              <a:t>转账之前，</a:t>
            </a:r>
            <a:r>
              <a:rPr lang="en-US" altLang="zh-CN" sz="1600" dirty="0">
                <a:latin typeface="Garamond" panose="02020404030301010803" pitchFamily="18" charset="0"/>
              </a:rPr>
              <a:t>Alice</a:t>
            </a:r>
            <a:r>
              <a:rPr lang="zh-TW" altLang="zh-CN" sz="1600" dirty="0">
                <a:latin typeface="Garamond" panose="02020404030301010803" pitchFamily="18" charset="0"/>
              </a:rPr>
              <a:t>的</a:t>
            </a:r>
            <a:r>
              <a:rPr lang="en-US" altLang="zh-CN" sz="1600" dirty="0">
                <a:latin typeface="Garamond" panose="02020404030301010803" pitchFamily="18" charset="0"/>
              </a:rPr>
              <a:t>Nonce</a:t>
            </a:r>
            <a:r>
              <a:rPr lang="zh-TW" altLang="zh-CN" sz="1600" dirty="0">
                <a:latin typeface="Garamond" panose="02020404030301010803" pitchFamily="18" charset="0"/>
              </a:rPr>
              <a:t>值为</a:t>
            </a:r>
            <a:r>
              <a:rPr lang="en-US" altLang="zh-CN" sz="1600" dirty="0">
                <a:latin typeface="Garamond" panose="02020404030301010803" pitchFamily="18" charset="0"/>
              </a:rPr>
              <a:t>0</a:t>
            </a:r>
          </a:p>
          <a:p>
            <a:pPr lvl="1">
              <a:lnSpc>
                <a:spcPct val="140000"/>
              </a:lnSpc>
            </a:pPr>
            <a:r>
              <a:rPr lang="zh-TW" altLang="zh-CN" sz="1600" dirty="0">
                <a:latin typeface="Garamond" panose="02020404030301010803" pitchFamily="18" charset="0"/>
              </a:rPr>
              <a:t>当</a:t>
            </a:r>
            <a:r>
              <a:rPr lang="en-US" altLang="zh-CN" sz="1600" dirty="0">
                <a:latin typeface="Garamond" panose="02020404030301010803" pitchFamily="18" charset="0"/>
              </a:rPr>
              <a:t>Alice</a:t>
            </a:r>
            <a:r>
              <a:rPr lang="zh-TW" altLang="zh-CN" sz="1600" dirty="0">
                <a:latin typeface="Garamond" panose="02020404030301010803" pitchFamily="18" charset="0"/>
              </a:rPr>
              <a:t>向</a:t>
            </a:r>
            <a:r>
              <a:rPr lang="en-US" altLang="zh-CN" sz="1600" dirty="0">
                <a:latin typeface="Garamond" panose="02020404030301010803" pitchFamily="18" charset="0"/>
              </a:rPr>
              <a:t>Bob</a:t>
            </a:r>
            <a:r>
              <a:rPr lang="zh-TW" altLang="zh-CN" sz="1600" dirty="0">
                <a:latin typeface="Garamond" panose="02020404030301010803" pitchFamily="18" charset="0"/>
              </a:rPr>
              <a:t>转账</a:t>
            </a:r>
            <a:r>
              <a:rPr lang="en-US" altLang="zh-CN" sz="1600" dirty="0">
                <a:latin typeface="Garamond" panose="02020404030301010803" pitchFamily="18" charset="0"/>
              </a:rPr>
              <a:t>1 ETH</a:t>
            </a:r>
            <a:r>
              <a:rPr lang="zh-TW" altLang="zh-CN" sz="1600" dirty="0">
                <a:latin typeface="Garamond" panose="02020404030301010803" pitchFamily="18" charset="0"/>
              </a:rPr>
              <a:t>后，</a:t>
            </a:r>
            <a:r>
              <a:rPr lang="en-US" altLang="zh-CN" sz="1600" dirty="0">
                <a:latin typeface="Garamond" panose="02020404030301010803" pitchFamily="18" charset="0"/>
              </a:rPr>
              <a:t>Alice</a:t>
            </a:r>
            <a:r>
              <a:rPr lang="zh-TW" altLang="zh-CN" sz="1600" dirty="0">
                <a:latin typeface="Garamond" panose="02020404030301010803" pitchFamily="18" charset="0"/>
              </a:rPr>
              <a:t>的</a:t>
            </a:r>
            <a:r>
              <a:rPr lang="en-US" altLang="zh-CN" sz="1600" dirty="0">
                <a:latin typeface="Garamond" panose="02020404030301010803" pitchFamily="18" charset="0"/>
              </a:rPr>
              <a:t>Nonce</a:t>
            </a:r>
            <a:r>
              <a:rPr lang="zh-TW" altLang="zh-CN" sz="1600" dirty="0">
                <a:latin typeface="Garamond" panose="02020404030301010803" pitchFamily="18" charset="0"/>
              </a:rPr>
              <a:t>值变成</a:t>
            </a:r>
            <a:r>
              <a:rPr lang="en-US" altLang="zh-CN" sz="1600" dirty="0">
                <a:latin typeface="Garamond" panose="02020404030301010803" pitchFamily="18" charset="0"/>
              </a:rPr>
              <a:t>1</a:t>
            </a:r>
          </a:p>
          <a:p>
            <a:pPr lvl="1">
              <a:lnSpc>
                <a:spcPct val="140000"/>
              </a:lnSpc>
            </a:pPr>
            <a:r>
              <a:rPr lang="en-US" altLang="zh-CN" sz="1600" dirty="0">
                <a:latin typeface="Garamond" panose="02020404030301010803" pitchFamily="18" charset="0"/>
              </a:rPr>
              <a:t>Nonce</a:t>
            </a:r>
            <a:r>
              <a:rPr lang="zh-TW" altLang="zh-CN" sz="1600" dirty="0">
                <a:latin typeface="Garamond" panose="02020404030301010803" pitchFamily="18" charset="0"/>
              </a:rPr>
              <a:t>值为</a:t>
            </a:r>
            <a:r>
              <a:rPr lang="en-US" altLang="zh-CN" sz="1600" dirty="0">
                <a:latin typeface="Garamond" panose="02020404030301010803" pitchFamily="18" charset="0"/>
              </a:rPr>
              <a:t>1</a:t>
            </a:r>
            <a:r>
              <a:rPr lang="zh-TW" altLang="zh-CN" sz="1600" dirty="0">
                <a:latin typeface="Garamond" panose="02020404030301010803" pitchFamily="18" charset="0"/>
              </a:rPr>
              <a:t>并且具有合法签名的交易</a:t>
            </a:r>
            <a:r>
              <a:rPr lang="en-US" altLang="zh-CN" sz="1600" dirty="0">
                <a:latin typeface="Garamond" panose="02020404030301010803" pitchFamily="18" charset="0"/>
              </a:rPr>
              <a:t>2</a:t>
            </a:r>
            <a:r>
              <a:rPr lang="zh-TW" altLang="zh-CN" sz="1600" dirty="0">
                <a:latin typeface="Garamond" panose="02020404030301010803" pitchFamily="18" charset="0"/>
              </a:rPr>
              <a:t>将会是一个合法的交易</a:t>
            </a:r>
            <a:endParaRPr lang="en-US" altLang="zh-CN" sz="1400" dirty="0">
              <a:latin typeface="Garamond" panose="02020404030301010803" pitchFamily="18" charset="0"/>
            </a:endParaRPr>
          </a:p>
          <a:p>
            <a:pPr lvl="1">
              <a:lnSpc>
                <a:spcPct val="140000"/>
              </a:lnSpc>
            </a:pPr>
            <a:r>
              <a:rPr lang="zh-TW" altLang="zh-CN" sz="1600" dirty="0">
                <a:latin typeface="Garamond" panose="02020404030301010803" pitchFamily="18" charset="0"/>
              </a:rPr>
              <a:t>对于重新提交的交易</a:t>
            </a:r>
            <a:r>
              <a:rPr lang="en-US" altLang="zh-CN" sz="1600" dirty="0">
                <a:latin typeface="Garamond" panose="02020404030301010803" pitchFamily="18" charset="0"/>
              </a:rPr>
              <a:t>1</a:t>
            </a:r>
            <a:r>
              <a:rPr lang="zh-TW" altLang="zh-CN" sz="1600" dirty="0">
                <a:latin typeface="Garamond" panose="02020404030301010803" pitchFamily="18" charset="0"/>
              </a:rPr>
              <a:t>而言，此时的交易记录的</a:t>
            </a:r>
            <a:r>
              <a:rPr lang="en-US" altLang="zh-CN" sz="1600" dirty="0">
                <a:latin typeface="Garamond" panose="02020404030301010803" pitchFamily="18" charset="0"/>
              </a:rPr>
              <a:t>Nonce</a:t>
            </a:r>
            <a:r>
              <a:rPr lang="zh-TW" altLang="zh-CN" sz="1600" dirty="0">
                <a:latin typeface="Garamond" panose="02020404030301010803" pitchFamily="18" charset="0"/>
              </a:rPr>
              <a:t>值依旧为</a:t>
            </a:r>
            <a:r>
              <a:rPr lang="en-US" altLang="zh-CN" sz="1600" dirty="0">
                <a:latin typeface="Garamond" panose="02020404030301010803" pitchFamily="18" charset="0"/>
              </a:rPr>
              <a:t>0</a:t>
            </a:r>
          </a:p>
          <a:p>
            <a:pPr>
              <a:lnSpc>
                <a:spcPct val="140000"/>
              </a:lnSpc>
            </a:pPr>
            <a:endParaRPr lang="en-US" altLang="zh-CN" dirty="0">
              <a:latin typeface="Garamond" panose="02020404030301010803" pitchFamily="18" charset="0"/>
            </a:endParaRPr>
          </a:p>
          <a:p>
            <a:pPr>
              <a:lnSpc>
                <a:spcPct val="140000"/>
              </a:lnSpc>
            </a:pP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a:xfrm>
            <a:off x="2065248" y="3741618"/>
            <a:ext cx="7106945" cy="2672080"/>
          </a:xfrm>
          <a:prstGeom prst="rect">
            <a:avLst/>
          </a:prstGeom>
          <a:noFill/>
        </p:spPr>
      </p:pic>
      <p:sp>
        <p:nvSpPr>
          <p:cNvPr id="5" name="文本框 4"/>
          <p:cNvSpPr txBox="1"/>
          <p:nvPr/>
        </p:nvSpPr>
        <p:spPr>
          <a:xfrm>
            <a:off x="4643935" y="6413698"/>
            <a:ext cx="1949573" cy="307777"/>
          </a:xfrm>
          <a:prstGeom prst="rect">
            <a:avLst/>
          </a:prstGeom>
          <a:noFill/>
        </p:spPr>
        <p:txBody>
          <a:bodyPr wrap="none" rtlCol="0">
            <a:spAutoFit/>
          </a:bodyPr>
          <a:lstStyle/>
          <a:p>
            <a:r>
              <a:rPr lang="en-US" altLang="zh-CN" sz="1400" dirty="0"/>
              <a:t>Nonce</a:t>
            </a:r>
            <a:r>
              <a:rPr lang="zh-CN" altLang="en-US" sz="1400" dirty="0"/>
              <a:t>值防止重复交易</a:t>
            </a:r>
          </a:p>
        </p:txBody>
      </p:sp>
    </p:spTree>
    <p:extLst>
      <p:ext uri="{BB962C8B-B14F-4D97-AF65-F5344CB8AC3E}">
        <p14:creationId xmlns:p14="http://schemas.microsoft.com/office/powerpoint/2010/main" val="2500166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Nonce</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8775656" cy="5302578"/>
          </a:xfrm>
        </p:spPr>
        <p:txBody>
          <a:bodyPr anchor="t" anchorCtr="0">
            <a:normAutofit/>
          </a:bodyPr>
          <a:lstStyle/>
          <a:p>
            <a:pPr>
              <a:lnSpc>
                <a:spcPct val="140000"/>
              </a:lnSpc>
            </a:pPr>
            <a:r>
              <a:rPr lang="en-US" altLang="zh-CN" dirty="0">
                <a:latin typeface="Garamond" panose="02020404030301010803" pitchFamily="18" charset="0"/>
              </a:rPr>
              <a:t>Nonce</a:t>
            </a:r>
            <a:r>
              <a:rPr lang="zh-CN" altLang="en-US" dirty="0">
                <a:latin typeface="Garamond" panose="02020404030301010803" pitchFamily="18" charset="0"/>
              </a:rPr>
              <a:t>的其他用途</a:t>
            </a:r>
            <a:endParaRPr lang="en-US" altLang="zh-CN" dirty="0">
              <a:latin typeface="Garamond" panose="02020404030301010803" pitchFamily="18" charset="0"/>
            </a:endParaRPr>
          </a:p>
          <a:p>
            <a:pPr lvl="1">
              <a:lnSpc>
                <a:spcPct val="140000"/>
              </a:lnSpc>
            </a:pPr>
            <a:r>
              <a:rPr lang="zh-TW" altLang="zh-CN" dirty="0">
                <a:latin typeface="Garamond" panose="02020404030301010803" pitchFamily="18" charset="0"/>
              </a:rPr>
              <a:t>控制账户发起的交易的顺序，从而实现一些相对复杂的功能。</a:t>
            </a:r>
            <a:endParaRPr lang="en-US" altLang="zh-TW" dirty="0">
              <a:latin typeface="Garamond" panose="02020404030301010803" pitchFamily="18" charset="0"/>
            </a:endParaRPr>
          </a:p>
          <a:p>
            <a:pPr lvl="1">
              <a:lnSpc>
                <a:spcPct val="140000"/>
              </a:lnSpc>
            </a:pPr>
            <a:r>
              <a:rPr lang="zh-TW" altLang="zh-CN" dirty="0">
                <a:latin typeface="Garamond" panose="02020404030301010803" pitchFamily="18" charset="0"/>
              </a:rPr>
              <a:t>通过重复提交一个相同</a:t>
            </a:r>
            <a:r>
              <a:rPr lang="en-US" altLang="zh-CN" dirty="0">
                <a:latin typeface="Garamond" panose="02020404030301010803" pitchFamily="18" charset="0"/>
              </a:rPr>
              <a:t>Nonce</a:t>
            </a:r>
            <a:r>
              <a:rPr lang="zh-TW" altLang="zh-CN" dirty="0">
                <a:latin typeface="Garamond" panose="02020404030301010803" pitchFamily="18" charset="0"/>
              </a:rPr>
              <a:t>值的交易来使得一个已经提交但是尚未被确认的交易变得不合法，从而实现一定程度的撤销功能。</a:t>
            </a:r>
            <a:endParaRPr lang="en-US" altLang="zh-TW" dirty="0">
              <a:latin typeface="Garamond" panose="02020404030301010803" pitchFamily="18" charset="0"/>
            </a:endParaRPr>
          </a:p>
          <a:p>
            <a:pPr lvl="1">
              <a:lnSpc>
                <a:spcPct val="140000"/>
              </a:lnSpc>
            </a:pPr>
            <a:r>
              <a:rPr lang="en-US" altLang="zh-CN" dirty="0">
                <a:latin typeface="Garamond" panose="02020404030301010803" pitchFamily="18" charset="0"/>
              </a:rPr>
              <a:t>… </a:t>
            </a:r>
          </a:p>
          <a:p>
            <a:pPr marL="0" indent="0">
              <a:lnSpc>
                <a:spcPct val="140000"/>
              </a:lnSpc>
              <a:buNone/>
            </a:pP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958641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合约账户</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2664" y="1418897"/>
            <a:ext cx="5533286" cy="5302578"/>
          </a:xfrm>
        </p:spPr>
        <p:txBody>
          <a:bodyPr anchor="t" anchorCtr="0">
            <a:normAutofit/>
          </a:bodyPr>
          <a:lstStyle/>
          <a:p>
            <a:pPr>
              <a:lnSpc>
                <a:spcPct val="140000"/>
              </a:lnSpc>
            </a:pPr>
            <a:r>
              <a:rPr lang="zh-CN" altLang="en-US" dirty="0">
                <a:latin typeface="Garamond" panose="02020404030301010803" pitchFamily="18" charset="0"/>
              </a:rPr>
              <a:t>合约账户</a:t>
            </a:r>
            <a:r>
              <a:rPr lang="en-US" altLang="zh-CN" dirty="0">
                <a:latin typeface="Garamond" panose="02020404030301010803" pitchFamily="18" charset="0"/>
              </a:rPr>
              <a:t>(Contracts Account)</a:t>
            </a:r>
            <a:r>
              <a:rPr lang="zh-CN" altLang="en-US" dirty="0">
                <a:latin typeface="Garamond" panose="02020404030301010803" pitchFamily="18" charset="0"/>
              </a:rPr>
              <a:t>结构</a:t>
            </a:r>
            <a:endParaRPr lang="en-US" altLang="zh-CN" dirty="0">
              <a:latin typeface="Garamond" panose="02020404030301010803" pitchFamily="18" charset="0"/>
            </a:endParaRPr>
          </a:p>
          <a:p>
            <a:pPr lvl="1">
              <a:lnSpc>
                <a:spcPct val="140000"/>
              </a:lnSpc>
              <a:buFont typeface="Wingdings" panose="05000000000000000000" pitchFamily="2" charset="2"/>
              <a:buChar char="ü"/>
            </a:pPr>
            <a:r>
              <a:rPr lang="zh-CN" altLang="en-US" sz="2000" dirty="0">
                <a:latin typeface="Garamond" panose="02020404030301010803" pitchFamily="18" charset="0"/>
              </a:rPr>
              <a:t>余额：记录了当前地址持有的以太币的数额，单位是</a:t>
            </a:r>
            <a:r>
              <a:rPr lang="en-US" altLang="zh-CN" sz="2000" dirty="0">
                <a:latin typeface="Garamond" panose="02020404030301010803" pitchFamily="18" charset="0"/>
              </a:rPr>
              <a:t>Wei</a:t>
            </a:r>
            <a:r>
              <a:rPr lang="zh-CN" altLang="en-US" sz="2000" dirty="0">
                <a:latin typeface="Garamond" panose="02020404030301010803" pitchFamily="18" charset="0"/>
              </a:rPr>
              <a:t>，</a:t>
            </a:r>
            <a:r>
              <a:rPr lang="en-US" altLang="zh-CN" sz="2000" dirty="0">
                <a:latin typeface="Garamond" panose="02020404030301010803" pitchFamily="18" charset="0"/>
              </a:rPr>
              <a:t>1 Wei = 10-18 Ether</a:t>
            </a:r>
          </a:p>
          <a:p>
            <a:pPr lvl="1">
              <a:lnSpc>
                <a:spcPct val="140000"/>
              </a:lnSpc>
              <a:buFont typeface="Wingdings" panose="05000000000000000000" pitchFamily="2" charset="2"/>
              <a:buChar char="ü"/>
            </a:pPr>
            <a:r>
              <a:rPr lang="en-US" altLang="zh-CN" sz="2000" dirty="0">
                <a:latin typeface="Garamond" panose="02020404030301010803" pitchFamily="18" charset="0"/>
              </a:rPr>
              <a:t>Nonce</a:t>
            </a:r>
            <a:r>
              <a:rPr lang="zh-CN" altLang="en-US" sz="2000" dirty="0">
                <a:latin typeface="Garamond" panose="02020404030301010803" pitchFamily="18" charset="0"/>
              </a:rPr>
              <a:t>：记录了这个地址创建以来累计发起的交易次数</a:t>
            </a:r>
            <a:endParaRPr lang="en-US" altLang="zh-CN" sz="2000" dirty="0">
              <a:latin typeface="Garamond" panose="02020404030301010803" pitchFamily="18" charset="0"/>
            </a:endParaRPr>
          </a:p>
          <a:p>
            <a:pPr lvl="1">
              <a:lnSpc>
                <a:spcPct val="140000"/>
              </a:lnSpc>
              <a:buFont typeface="Wingdings" panose="05000000000000000000" pitchFamily="2" charset="2"/>
              <a:buChar char="ü"/>
            </a:pPr>
            <a:r>
              <a:rPr lang="zh-CN" altLang="en-US" sz="2000" b="1" dirty="0">
                <a:solidFill>
                  <a:srgbClr val="5B307E"/>
                </a:solidFill>
                <a:latin typeface="Garamond" panose="02020404030301010803" pitchFamily="18" charset="0"/>
              </a:rPr>
              <a:t>代码哈希：存储了该智能合约程序代码的哈希值</a:t>
            </a:r>
            <a:endParaRPr lang="en-US" altLang="zh-CN" sz="2000" b="1" dirty="0">
              <a:solidFill>
                <a:srgbClr val="5B307E"/>
              </a:solidFill>
              <a:latin typeface="Garamond" panose="02020404030301010803" pitchFamily="18" charset="0"/>
            </a:endParaRPr>
          </a:p>
          <a:p>
            <a:pPr lvl="1">
              <a:lnSpc>
                <a:spcPct val="140000"/>
              </a:lnSpc>
              <a:buFont typeface="Wingdings" panose="05000000000000000000" pitchFamily="2" charset="2"/>
              <a:buChar char="ü"/>
            </a:pPr>
            <a:r>
              <a:rPr lang="zh-CN" altLang="en-US" sz="2000" b="1" dirty="0">
                <a:solidFill>
                  <a:srgbClr val="5B307E"/>
                </a:solidFill>
                <a:latin typeface="Garamond" panose="02020404030301010803" pitchFamily="18" charset="0"/>
              </a:rPr>
              <a:t>存储哈希：智能合约所定义的变量的值构成的</a:t>
            </a:r>
            <a:r>
              <a:rPr lang="en-US" altLang="zh-CN" sz="2000" b="1" dirty="0">
                <a:solidFill>
                  <a:srgbClr val="5B307E"/>
                </a:solidFill>
                <a:latin typeface="Garamond" panose="02020404030301010803" pitchFamily="18" charset="0"/>
              </a:rPr>
              <a:t>MPT</a:t>
            </a:r>
            <a:r>
              <a:rPr lang="zh-CN" altLang="en-US" sz="2000" b="1" dirty="0">
                <a:solidFill>
                  <a:srgbClr val="5B307E"/>
                </a:solidFill>
                <a:latin typeface="Garamond" panose="02020404030301010803" pitchFamily="18" charset="0"/>
              </a:rPr>
              <a:t>的根</a:t>
            </a:r>
          </a:p>
          <a:p>
            <a:pPr lvl="1">
              <a:lnSpc>
                <a:spcPct val="140000"/>
              </a:lnSpc>
              <a:buFont typeface="Wingdings" panose="05000000000000000000" pitchFamily="2" charset="2"/>
              <a:buChar char="ü"/>
            </a:pPr>
            <a:endParaRPr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074" name="Picture 2">
            <a:extLst>
              <a:ext uri="{FF2B5EF4-FFF2-40B4-BE49-F238E27FC236}">
                <a16:creationId xmlns:a16="http://schemas.microsoft.com/office/drawing/2014/main" id="{C30F9730-E684-4D41-9B55-CBDB66EEDC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0540" y="2325757"/>
            <a:ext cx="5533286" cy="3109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074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智能合约程序示例</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图片 9">
            <a:extLst>
              <a:ext uri="{FF2B5EF4-FFF2-40B4-BE49-F238E27FC236}">
                <a16:creationId xmlns:a16="http://schemas.microsoft.com/office/drawing/2014/main" id="{784ECA0A-AD45-40D8-A3CA-B3E565121ABF}"/>
              </a:ext>
            </a:extLst>
          </p:cNvPr>
          <p:cNvPicPr>
            <a:picLocks noChangeAspect="1"/>
          </p:cNvPicPr>
          <p:nvPr/>
        </p:nvPicPr>
        <p:blipFill>
          <a:blip r:embed="rId3"/>
          <a:stretch>
            <a:fillRect/>
          </a:stretch>
        </p:blipFill>
        <p:spPr>
          <a:xfrm>
            <a:off x="626839" y="2174875"/>
            <a:ext cx="4791075" cy="4181475"/>
          </a:xfrm>
          <a:prstGeom prst="rect">
            <a:avLst/>
          </a:prstGeom>
        </p:spPr>
      </p:pic>
      <p:pic>
        <p:nvPicPr>
          <p:cNvPr id="11" name="图片 10">
            <a:extLst>
              <a:ext uri="{FF2B5EF4-FFF2-40B4-BE49-F238E27FC236}">
                <a16:creationId xmlns:a16="http://schemas.microsoft.com/office/drawing/2014/main" id="{A1918D76-DBC7-4482-B43D-EC3F0A8258AD}"/>
              </a:ext>
            </a:extLst>
          </p:cNvPr>
          <p:cNvPicPr>
            <a:picLocks noChangeAspect="1"/>
          </p:cNvPicPr>
          <p:nvPr/>
        </p:nvPicPr>
        <p:blipFill rotWithShape="1">
          <a:blip r:embed="rId4"/>
          <a:srcRect b="47246"/>
          <a:stretch/>
        </p:blipFill>
        <p:spPr>
          <a:xfrm>
            <a:off x="6668721" y="2174875"/>
            <a:ext cx="4465842" cy="4181475"/>
          </a:xfrm>
          <a:prstGeom prst="rect">
            <a:avLst/>
          </a:prstGeom>
        </p:spPr>
      </p:pic>
      <p:sp>
        <p:nvSpPr>
          <p:cNvPr id="15" name="内容占位符 485">
            <a:extLst>
              <a:ext uri="{FF2B5EF4-FFF2-40B4-BE49-F238E27FC236}">
                <a16:creationId xmlns:a16="http://schemas.microsoft.com/office/drawing/2014/main" id="{FDA60619-9D05-4D03-AA85-A6A75BE53D5B}"/>
              </a:ext>
            </a:extLst>
          </p:cNvPr>
          <p:cNvSpPr>
            <a:spLocks noGrp="1"/>
          </p:cNvSpPr>
          <p:nvPr>
            <p:ph idx="1"/>
          </p:nvPr>
        </p:nvSpPr>
        <p:spPr>
          <a:xfrm>
            <a:off x="752663" y="1418897"/>
            <a:ext cx="10381899" cy="5302578"/>
          </a:xfrm>
        </p:spPr>
        <p:txBody>
          <a:bodyPr anchor="t" anchorCtr="0">
            <a:normAutofit/>
          </a:bodyPr>
          <a:lstStyle/>
          <a:p>
            <a:pPr>
              <a:lnSpc>
                <a:spcPct val="140000"/>
              </a:lnSpc>
            </a:pPr>
            <a:r>
              <a:rPr lang="zh-CN" altLang="en-US" dirty="0">
                <a:latin typeface="Garamond" panose="02020404030301010803" pitchFamily="18" charset="0"/>
              </a:rPr>
              <a:t>智能合约</a:t>
            </a:r>
            <a:r>
              <a:rPr lang="en-US" altLang="zh-CN" dirty="0">
                <a:latin typeface="Garamond" panose="02020404030301010803" pitchFamily="18" charset="0"/>
              </a:rPr>
              <a:t>Solidity</a:t>
            </a:r>
            <a:r>
              <a:rPr lang="zh-CN" altLang="en-US" dirty="0">
                <a:latin typeface="Garamond" panose="02020404030301010803" pitchFamily="18" charset="0"/>
              </a:rPr>
              <a:t>编程语言</a:t>
            </a:r>
            <a:r>
              <a:rPr lang="en-US" altLang="zh-CN" dirty="0">
                <a:latin typeface="Garamond" panose="02020404030301010803" pitchFamily="18" charset="0"/>
              </a:rPr>
              <a:t>(</a:t>
            </a:r>
            <a:r>
              <a:rPr lang="zh-CN" altLang="en-US" dirty="0">
                <a:latin typeface="Garamond" panose="02020404030301010803" pitchFamily="18" charset="0"/>
              </a:rPr>
              <a:t>图灵完备</a:t>
            </a:r>
            <a:r>
              <a:rPr lang="en-US" altLang="zh-CN" dirty="0">
                <a:latin typeface="Garamond" panose="02020404030301010803" pitchFamily="18" charset="0"/>
              </a:rPr>
              <a:t>)</a:t>
            </a:r>
          </a:p>
        </p:txBody>
      </p:sp>
    </p:spTree>
    <p:extLst>
      <p:ext uri="{BB962C8B-B14F-4D97-AF65-F5344CB8AC3E}">
        <p14:creationId xmlns:p14="http://schemas.microsoft.com/office/powerpoint/2010/main" val="1380616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5.1 </a:t>
            </a:r>
            <a:r>
              <a:rPr kumimoji="1" lang="zh-CN" altLang="en-US" dirty="0"/>
              <a:t>以太坊简介</a:t>
            </a:r>
            <a:endParaRPr kumimoji="1" lang="en-US" altLang="zh-CN" dirty="0"/>
          </a:p>
          <a:p>
            <a:pPr marL="0" indent="0">
              <a:lnSpc>
                <a:spcPct val="130000"/>
              </a:lnSpc>
              <a:buNone/>
            </a:pPr>
            <a:r>
              <a:rPr kumimoji="1" lang="en-US" altLang="zh-CN" dirty="0"/>
              <a:t>5.2</a:t>
            </a:r>
            <a:r>
              <a:rPr kumimoji="1" lang="zh-CN" altLang="en-US" dirty="0"/>
              <a:t> 以太坊基本架构及原理</a:t>
            </a:r>
            <a:endParaRPr kumimoji="1" lang="en-US" altLang="zh-CN" dirty="0"/>
          </a:p>
          <a:p>
            <a:pPr marL="0" indent="0">
              <a:lnSpc>
                <a:spcPct val="130000"/>
              </a:lnSpc>
              <a:buNone/>
            </a:pPr>
            <a:r>
              <a:rPr kumimoji="1" lang="en-US" altLang="zh-CN" dirty="0"/>
              <a:t>5.3</a:t>
            </a:r>
            <a:r>
              <a:rPr kumimoji="1" lang="zh-CN" altLang="en-US" dirty="0"/>
              <a:t> 以太坊账户模型与转账</a:t>
            </a:r>
            <a:endParaRPr kumimoji="1" lang="en-US" altLang="zh-CN" dirty="0"/>
          </a:p>
          <a:p>
            <a:pPr marL="0" indent="0">
              <a:lnSpc>
                <a:spcPct val="130000"/>
              </a:lnSpc>
              <a:buNone/>
            </a:pPr>
            <a:r>
              <a:rPr kumimoji="1" lang="en-US" altLang="zh-CN" b="1" dirty="0">
                <a:solidFill>
                  <a:srgbClr val="B962FF"/>
                </a:solidFill>
                <a:latin typeface="Garamond" panose="02020404030301010803" pitchFamily="18" charset="0"/>
              </a:rPr>
              <a:t>5.4</a:t>
            </a:r>
            <a:r>
              <a:rPr kumimoji="1" lang="zh-CN" altLang="en-US" b="1" dirty="0">
                <a:solidFill>
                  <a:srgbClr val="B962FF"/>
                </a:solidFill>
                <a:latin typeface="Garamond" panose="02020404030301010803" pitchFamily="18" charset="0"/>
              </a:rPr>
              <a:t> 以太坊数据结构及存储</a:t>
            </a:r>
            <a:endParaRPr kumimoji="1" lang="en-US" altLang="zh-CN" b="1" dirty="0">
              <a:solidFill>
                <a:srgbClr val="B962FF"/>
              </a:solidFill>
              <a:latin typeface="Garamond" panose="02020404030301010803" pitchFamily="18" charset="0"/>
            </a:endParaRPr>
          </a:p>
          <a:p>
            <a:pPr marL="0" indent="0">
              <a:lnSpc>
                <a:spcPct val="130000"/>
              </a:lnSpc>
              <a:buNone/>
            </a:pP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Tree>
    <p:extLst>
      <p:ext uri="{BB962C8B-B14F-4D97-AF65-F5344CB8AC3E}">
        <p14:creationId xmlns:p14="http://schemas.microsoft.com/office/powerpoint/2010/main" val="3966057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zh-CN" dirty="0"/>
              <a:t>区块</a:t>
            </a:r>
            <a:r>
              <a:rPr lang="zh-CN" altLang="en-US" dirty="0"/>
              <a:t>结构</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6">
            <a:extLst>
              <a:ext uri="{FF2B5EF4-FFF2-40B4-BE49-F238E27FC236}">
                <a16:creationId xmlns:a16="http://schemas.microsoft.com/office/drawing/2014/main" id="{1E0F47FB-7D7C-478C-A65A-004D171C7E9C}"/>
              </a:ext>
            </a:extLst>
          </p:cNvPr>
          <p:cNvSpPr>
            <a:spLocks noGrp="1"/>
          </p:cNvSpPr>
          <p:nvPr>
            <p:ph idx="1"/>
          </p:nvPr>
        </p:nvSpPr>
        <p:spPr>
          <a:xfrm>
            <a:off x="838200" y="1510758"/>
            <a:ext cx="10515600" cy="671608"/>
          </a:xfrm>
        </p:spPr>
        <p:txBody>
          <a:bodyPr>
            <a:normAutofit/>
          </a:bodyPr>
          <a:lstStyle/>
          <a:p>
            <a:pPr>
              <a:lnSpc>
                <a:spcPct val="130000"/>
              </a:lnSpc>
            </a:pPr>
            <a:r>
              <a:rPr lang="zh-CN" altLang="en-US" dirty="0"/>
              <a:t>区块（仅重要信息）：</a:t>
            </a:r>
            <a:endParaRPr lang="en-US" altLang="zh-CN" dirty="0"/>
          </a:p>
        </p:txBody>
      </p:sp>
      <p:sp>
        <p:nvSpPr>
          <p:cNvPr id="15" name="矩形: 圆角 14">
            <a:extLst>
              <a:ext uri="{FF2B5EF4-FFF2-40B4-BE49-F238E27FC236}">
                <a16:creationId xmlns:a16="http://schemas.microsoft.com/office/drawing/2014/main" id="{174BE8E2-B4DF-42BA-805E-5A1B6BBA3B09}"/>
              </a:ext>
            </a:extLst>
          </p:cNvPr>
          <p:cNvSpPr/>
          <p:nvPr/>
        </p:nvSpPr>
        <p:spPr>
          <a:xfrm>
            <a:off x="128841" y="2968263"/>
            <a:ext cx="1998103" cy="424334"/>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a:solidFill>
                  <a:srgbClr val="FDFCDC"/>
                </a:solidFill>
                <a:latin typeface="Garamond" panose="02020404030301010803" pitchFamily="18" charset="0"/>
              </a:rPr>
              <a:t>Proposer index</a:t>
            </a:r>
            <a:endParaRPr lang="zh-CN" altLang="en-US" sz="1600" dirty="0">
              <a:solidFill>
                <a:srgbClr val="FDFCDC"/>
              </a:solidFill>
              <a:latin typeface="Garamond" panose="02020404030301010803" pitchFamily="18" charset="0"/>
            </a:endParaRPr>
          </a:p>
        </p:txBody>
      </p:sp>
      <p:sp>
        <p:nvSpPr>
          <p:cNvPr id="16" name="矩形: 圆角 15">
            <a:extLst>
              <a:ext uri="{FF2B5EF4-FFF2-40B4-BE49-F238E27FC236}">
                <a16:creationId xmlns:a16="http://schemas.microsoft.com/office/drawing/2014/main" id="{7140AC2C-7C8F-4DF6-A8F8-02490644E28D}"/>
              </a:ext>
            </a:extLst>
          </p:cNvPr>
          <p:cNvSpPr/>
          <p:nvPr/>
        </p:nvSpPr>
        <p:spPr>
          <a:xfrm>
            <a:off x="2663183" y="2301579"/>
            <a:ext cx="1998103" cy="424334"/>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err="1">
                <a:solidFill>
                  <a:srgbClr val="FDFCDC"/>
                </a:solidFill>
                <a:latin typeface="Garamond" panose="02020404030301010803" pitchFamily="18" charset="0"/>
              </a:rPr>
              <a:t>Randao</a:t>
            </a:r>
            <a:r>
              <a:rPr lang="en-US" altLang="zh-CN" sz="1600" dirty="0">
                <a:solidFill>
                  <a:srgbClr val="FDFCDC"/>
                </a:solidFill>
                <a:latin typeface="Garamond" panose="02020404030301010803" pitchFamily="18" charset="0"/>
              </a:rPr>
              <a:t> reveal</a:t>
            </a:r>
            <a:endParaRPr lang="zh-CN" altLang="en-US" sz="1600" dirty="0">
              <a:solidFill>
                <a:srgbClr val="FDFCDC"/>
              </a:solidFill>
              <a:latin typeface="Garamond" panose="02020404030301010803" pitchFamily="18" charset="0"/>
            </a:endParaRPr>
          </a:p>
        </p:txBody>
      </p:sp>
      <p:sp>
        <p:nvSpPr>
          <p:cNvPr id="17" name="矩形: 圆角 16">
            <a:extLst>
              <a:ext uri="{FF2B5EF4-FFF2-40B4-BE49-F238E27FC236}">
                <a16:creationId xmlns:a16="http://schemas.microsoft.com/office/drawing/2014/main" id="{137D6674-533D-4D84-A4A6-980E80B5BD69}"/>
              </a:ext>
            </a:extLst>
          </p:cNvPr>
          <p:cNvSpPr/>
          <p:nvPr/>
        </p:nvSpPr>
        <p:spPr>
          <a:xfrm>
            <a:off x="2643927" y="5193370"/>
            <a:ext cx="1998103" cy="666504"/>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Execution Payload</a:t>
            </a:r>
            <a:endParaRPr lang="zh-CN" altLang="en-US" sz="1600" dirty="0">
              <a:solidFill>
                <a:srgbClr val="FDFCDC"/>
              </a:solidFill>
              <a:latin typeface="Garamond" panose="02020404030301010803" pitchFamily="18" charset="0"/>
            </a:endParaRPr>
          </a:p>
        </p:txBody>
      </p:sp>
      <p:sp>
        <p:nvSpPr>
          <p:cNvPr id="18" name="矩形: 圆角 17">
            <a:extLst>
              <a:ext uri="{FF2B5EF4-FFF2-40B4-BE49-F238E27FC236}">
                <a16:creationId xmlns:a16="http://schemas.microsoft.com/office/drawing/2014/main" id="{0E09A804-D1EC-4B86-8EF8-7C850372A64E}"/>
              </a:ext>
            </a:extLst>
          </p:cNvPr>
          <p:cNvSpPr/>
          <p:nvPr/>
        </p:nvSpPr>
        <p:spPr>
          <a:xfrm>
            <a:off x="5362026" y="2414436"/>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a:solidFill>
                  <a:srgbClr val="FDFCDC"/>
                </a:solidFill>
                <a:latin typeface="Garamond" panose="02020404030301010803" pitchFamily="18" charset="0"/>
              </a:rPr>
              <a:t>Parent hash</a:t>
            </a:r>
            <a:endParaRPr lang="zh-CN" altLang="en-US" sz="1600" dirty="0">
              <a:solidFill>
                <a:srgbClr val="FDFCDC"/>
              </a:solidFill>
              <a:latin typeface="Garamond" panose="02020404030301010803" pitchFamily="18" charset="0"/>
            </a:endParaRPr>
          </a:p>
        </p:txBody>
      </p:sp>
      <p:sp>
        <p:nvSpPr>
          <p:cNvPr id="26" name="矩形: 圆角 25">
            <a:extLst>
              <a:ext uri="{FF2B5EF4-FFF2-40B4-BE49-F238E27FC236}">
                <a16:creationId xmlns:a16="http://schemas.microsoft.com/office/drawing/2014/main" id="{35079E1D-A35D-4AC1-868D-EA05872D57CA}"/>
              </a:ext>
            </a:extLst>
          </p:cNvPr>
          <p:cNvSpPr/>
          <p:nvPr/>
        </p:nvSpPr>
        <p:spPr>
          <a:xfrm>
            <a:off x="128840" y="3633079"/>
            <a:ext cx="1998103" cy="424334"/>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a:solidFill>
                  <a:srgbClr val="FDFCDC"/>
                </a:solidFill>
                <a:latin typeface="Garamond" panose="02020404030301010803" pitchFamily="18" charset="0"/>
              </a:rPr>
              <a:t>Parent Hash</a:t>
            </a:r>
            <a:endParaRPr lang="zh-CN" altLang="en-US" sz="1600" dirty="0">
              <a:solidFill>
                <a:srgbClr val="FDFCDC"/>
              </a:solidFill>
              <a:latin typeface="Garamond" panose="02020404030301010803" pitchFamily="18" charset="0"/>
            </a:endParaRPr>
          </a:p>
        </p:txBody>
      </p:sp>
      <p:sp>
        <p:nvSpPr>
          <p:cNvPr id="27" name="矩形: 圆角 26">
            <a:extLst>
              <a:ext uri="{FF2B5EF4-FFF2-40B4-BE49-F238E27FC236}">
                <a16:creationId xmlns:a16="http://schemas.microsoft.com/office/drawing/2014/main" id="{81E5553C-A188-4010-ACFD-348CCCC51C4C}"/>
              </a:ext>
            </a:extLst>
          </p:cNvPr>
          <p:cNvSpPr/>
          <p:nvPr/>
        </p:nvSpPr>
        <p:spPr>
          <a:xfrm>
            <a:off x="128839" y="4297895"/>
            <a:ext cx="1998103" cy="424334"/>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a:solidFill>
                  <a:srgbClr val="FDFCDC"/>
                </a:solidFill>
                <a:latin typeface="Garamond" panose="02020404030301010803" pitchFamily="18" charset="0"/>
              </a:rPr>
              <a:t>State Root</a:t>
            </a:r>
            <a:endParaRPr lang="zh-CN" altLang="en-US" sz="1600" dirty="0">
              <a:solidFill>
                <a:srgbClr val="FDFCDC"/>
              </a:solidFill>
              <a:latin typeface="Garamond" panose="02020404030301010803" pitchFamily="18" charset="0"/>
            </a:endParaRPr>
          </a:p>
        </p:txBody>
      </p:sp>
      <p:sp>
        <p:nvSpPr>
          <p:cNvPr id="28" name="矩形: 圆角 27">
            <a:extLst>
              <a:ext uri="{FF2B5EF4-FFF2-40B4-BE49-F238E27FC236}">
                <a16:creationId xmlns:a16="http://schemas.microsoft.com/office/drawing/2014/main" id="{FB8D539A-94AA-4C46-908A-35A019A9F9E3}"/>
              </a:ext>
            </a:extLst>
          </p:cNvPr>
          <p:cNvSpPr/>
          <p:nvPr/>
        </p:nvSpPr>
        <p:spPr>
          <a:xfrm>
            <a:off x="128838" y="4962711"/>
            <a:ext cx="1998103" cy="424334"/>
          </a:xfrm>
          <a:prstGeom prst="roundRect">
            <a:avLst/>
          </a:prstGeom>
          <a:solidFill>
            <a:srgbClr val="EE6C4D"/>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a:solidFill>
                  <a:srgbClr val="FDFCDC"/>
                </a:solidFill>
                <a:latin typeface="Garamond" panose="02020404030301010803" pitchFamily="18" charset="0"/>
              </a:rPr>
              <a:t>Body</a:t>
            </a:r>
            <a:endParaRPr lang="zh-CN" altLang="en-US" sz="1600" dirty="0">
              <a:solidFill>
                <a:srgbClr val="FDFCDC"/>
              </a:solidFill>
              <a:latin typeface="Garamond" panose="02020404030301010803" pitchFamily="18" charset="0"/>
            </a:endParaRPr>
          </a:p>
        </p:txBody>
      </p:sp>
      <p:sp>
        <p:nvSpPr>
          <p:cNvPr id="30" name="文本框 29">
            <a:extLst>
              <a:ext uri="{FF2B5EF4-FFF2-40B4-BE49-F238E27FC236}">
                <a16:creationId xmlns:a16="http://schemas.microsoft.com/office/drawing/2014/main" id="{183B872D-A2BC-4E9D-915B-BDD5153E6258}"/>
              </a:ext>
            </a:extLst>
          </p:cNvPr>
          <p:cNvSpPr txBox="1"/>
          <p:nvPr/>
        </p:nvSpPr>
        <p:spPr>
          <a:xfrm>
            <a:off x="123302" y="6367857"/>
            <a:ext cx="8028432"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完整区块定义：</a:t>
            </a:r>
            <a:r>
              <a:rPr lang="zh-CN" altLang="en-US" dirty="0">
                <a:latin typeface="Garamond" panose="02020404030301010803" pitchFamily="18" charset="0"/>
                <a:hlinkClick r:id="rId3"/>
              </a:rPr>
              <a:t>https://ethereum.org/en/developers/docs/blocks/</a:t>
            </a:r>
            <a:r>
              <a:rPr lang="zh-CN" altLang="en-US" dirty="0">
                <a:latin typeface="Garamond" panose="02020404030301010803" pitchFamily="18" charset="0"/>
              </a:rPr>
              <a:t> </a:t>
            </a:r>
          </a:p>
        </p:txBody>
      </p:sp>
      <p:sp>
        <p:nvSpPr>
          <p:cNvPr id="31" name="矩形: 圆角 30">
            <a:extLst>
              <a:ext uri="{FF2B5EF4-FFF2-40B4-BE49-F238E27FC236}">
                <a16:creationId xmlns:a16="http://schemas.microsoft.com/office/drawing/2014/main" id="{2B0490E4-2DF0-4911-B1C7-A05861FA3771}"/>
              </a:ext>
            </a:extLst>
          </p:cNvPr>
          <p:cNvSpPr/>
          <p:nvPr/>
        </p:nvSpPr>
        <p:spPr>
          <a:xfrm>
            <a:off x="2663182" y="3002514"/>
            <a:ext cx="1998103" cy="424334"/>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attestations</a:t>
            </a:r>
            <a:endParaRPr lang="zh-CN" altLang="en-US" sz="1600" dirty="0">
              <a:solidFill>
                <a:srgbClr val="FDFCDC"/>
              </a:solidFill>
              <a:latin typeface="Garamond" panose="02020404030301010803" pitchFamily="18" charset="0"/>
            </a:endParaRPr>
          </a:p>
        </p:txBody>
      </p:sp>
      <p:sp>
        <p:nvSpPr>
          <p:cNvPr id="32" name="矩形: 圆角 31">
            <a:extLst>
              <a:ext uri="{FF2B5EF4-FFF2-40B4-BE49-F238E27FC236}">
                <a16:creationId xmlns:a16="http://schemas.microsoft.com/office/drawing/2014/main" id="{51666984-498B-488D-9096-EF2CBA8E162C}"/>
              </a:ext>
            </a:extLst>
          </p:cNvPr>
          <p:cNvSpPr/>
          <p:nvPr/>
        </p:nvSpPr>
        <p:spPr>
          <a:xfrm>
            <a:off x="2663181" y="3669372"/>
            <a:ext cx="1998103" cy="424334"/>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deposits</a:t>
            </a:r>
            <a:endParaRPr lang="zh-CN" altLang="en-US" sz="1600" dirty="0">
              <a:solidFill>
                <a:srgbClr val="FDFCDC"/>
              </a:solidFill>
              <a:latin typeface="Garamond" panose="02020404030301010803" pitchFamily="18" charset="0"/>
            </a:endParaRPr>
          </a:p>
        </p:txBody>
      </p:sp>
      <p:sp>
        <p:nvSpPr>
          <p:cNvPr id="33" name="矩形: 圆角 32">
            <a:extLst>
              <a:ext uri="{FF2B5EF4-FFF2-40B4-BE49-F238E27FC236}">
                <a16:creationId xmlns:a16="http://schemas.microsoft.com/office/drawing/2014/main" id="{B102B645-7EFB-4393-9A58-8664BF2B40E7}"/>
              </a:ext>
            </a:extLst>
          </p:cNvPr>
          <p:cNvSpPr/>
          <p:nvPr/>
        </p:nvSpPr>
        <p:spPr>
          <a:xfrm>
            <a:off x="2643928" y="4334187"/>
            <a:ext cx="1998103" cy="590129"/>
          </a:xfrm>
          <a:prstGeom prst="roundRect">
            <a:avLst/>
          </a:prstGeom>
          <a:solidFill>
            <a:srgbClr val="EE6C4D"/>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Execution Payload</a:t>
            </a:r>
          </a:p>
          <a:p>
            <a:pPr algn="ctr"/>
            <a:r>
              <a:rPr lang="en-US" altLang="zh-CN" sz="1600" dirty="0">
                <a:solidFill>
                  <a:srgbClr val="FDFCDC"/>
                </a:solidFill>
                <a:latin typeface="Garamond" panose="02020404030301010803" pitchFamily="18" charset="0"/>
              </a:rPr>
              <a:t>header</a:t>
            </a:r>
            <a:endParaRPr lang="zh-CN" altLang="en-US" sz="1600" dirty="0">
              <a:solidFill>
                <a:srgbClr val="FDFCDC"/>
              </a:solidFill>
              <a:latin typeface="Garamond" panose="02020404030301010803" pitchFamily="18" charset="0"/>
            </a:endParaRPr>
          </a:p>
        </p:txBody>
      </p:sp>
      <p:sp>
        <p:nvSpPr>
          <p:cNvPr id="34" name="矩形: 圆角 33">
            <a:extLst>
              <a:ext uri="{FF2B5EF4-FFF2-40B4-BE49-F238E27FC236}">
                <a16:creationId xmlns:a16="http://schemas.microsoft.com/office/drawing/2014/main" id="{E8EE453A-FA45-4795-B1E1-50B0D95DEA2D}"/>
              </a:ext>
            </a:extLst>
          </p:cNvPr>
          <p:cNvSpPr/>
          <p:nvPr/>
        </p:nvSpPr>
        <p:spPr>
          <a:xfrm>
            <a:off x="5362026" y="3139365"/>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Fee recipient</a:t>
            </a:r>
            <a:endParaRPr lang="zh-CN" altLang="en-US" sz="1600" dirty="0">
              <a:solidFill>
                <a:srgbClr val="FDFCDC"/>
              </a:solidFill>
              <a:latin typeface="Garamond" panose="02020404030301010803" pitchFamily="18" charset="0"/>
            </a:endParaRPr>
          </a:p>
        </p:txBody>
      </p:sp>
      <p:sp>
        <p:nvSpPr>
          <p:cNvPr id="35" name="矩形: 圆角 34">
            <a:extLst>
              <a:ext uri="{FF2B5EF4-FFF2-40B4-BE49-F238E27FC236}">
                <a16:creationId xmlns:a16="http://schemas.microsoft.com/office/drawing/2014/main" id="{B710DE48-AAFF-4BF7-B823-0232B15068FA}"/>
              </a:ext>
            </a:extLst>
          </p:cNvPr>
          <p:cNvSpPr/>
          <p:nvPr/>
        </p:nvSpPr>
        <p:spPr>
          <a:xfrm>
            <a:off x="5362026" y="3844959"/>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State root</a:t>
            </a:r>
            <a:endParaRPr lang="zh-CN" altLang="en-US" sz="1600" dirty="0">
              <a:solidFill>
                <a:srgbClr val="FDFCDC"/>
              </a:solidFill>
              <a:latin typeface="Garamond" panose="02020404030301010803" pitchFamily="18" charset="0"/>
            </a:endParaRPr>
          </a:p>
        </p:txBody>
      </p:sp>
      <p:sp>
        <p:nvSpPr>
          <p:cNvPr id="36" name="矩形: 圆角 35">
            <a:extLst>
              <a:ext uri="{FF2B5EF4-FFF2-40B4-BE49-F238E27FC236}">
                <a16:creationId xmlns:a16="http://schemas.microsoft.com/office/drawing/2014/main" id="{2AB7CC4E-552F-4616-8AB6-5FD28F7FEA47}"/>
              </a:ext>
            </a:extLst>
          </p:cNvPr>
          <p:cNvSpPr/>
          <p:nvPr/>
        </p:nvSpPr>
        <p:spPr>
          <a:xfrm>
            <a:off x="5362026" y="4564904"/>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Receipts root</a:t>
            </a:r>
            <a:endParaRPr lang="zh-CN" altLang="en-US" sz="1600" dirty="0">
              <a:solidFill>
                <a:srgbClr val="FDFCDC"/>
              </a:solidFill>
              <a:latin typeface="Garamond" panose="02020404030301010803" pitchFamily="18" charset="0"/>
            </a:endParaRPr>
          </a:p>
        </p:txBody>
      </p:sp>
      <p:sp>
        <p:nvSpPr>
          <p:cNvPr id="37" name="矩形: 圆角 36">
            <a:extLst>
              <a:ext uri="{FF2B5EF4-FFF2-40B4-BE49-F238E27FC236}">
                <a16:creationId xmlns:a16="http://schemas.microsoft.com/office/drawing/2014/main" id="{D9BF2094-FB2C-499A-9980-51FBD69E5146}"/>
              </a:ext>
            </a:extLst>
          </p:cNvPr>
          <p:cNvSpPr/>
          <p:nvPr/>
        </p:nvSpPr>
        <p:spPr>
          <a:xfrm>
            <a:off x="5362026" y="5286473"/>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Logs bloom</a:t>
            </a:r>
            <a:endParaRPr lang="zh-CN" altLang="en-US" sz="1600" dirty="0">
              <a:solidFill>
                <a:srgbClr val="FDFCDC"/>
              </a:solidFill>
              <a:latin typeface="Garamond" panose="02020404030301010803" pitchFamily="18" charset="0"/>
            </a:endParaRPr>
          </a:p>
        </p:txBody>
      </p:sp>
      <p:sp>
        <p:nvSpPr>
          <p:cNvPr id="38" name="矩形: 圆角 37">
            <a:extLst>
              <a:ext uri="{FF2B5EF4-FFF2-40B4-BE49-F238E27FC236}">
                <a16:creationId xmlns:a16="http://schemas.microsoft.com/office/drawing/2014/main" id="{333A4C59-34E1-4E53-AF44-D6153BBBF14C}"/>
              </a:ext>
            </a:extLst>
          </p:cNvPr>
          <p:cNvSpPr/>
          <p:nvPr/>
        </p:nvSpPr>
        <p:spPr>
          <a:xfrm>
            <a:off x="7632445" y="5267015"/>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Previous </a:t>
            </a:r>
            <a:r>
              <a:rPr lang="en-US" altLang="zh-CN" sz="1600" b="0" i="0" dirty="0" err="1">
                <a:solidFill>
                  <a:srgbClr val="FDFCDC"/>
                </a:solidFill>
                <a:effectLst/>
                <a:latin typeface="Garamond" panose="02020404030301010803" pitchFamily="18" charset="0"/>
              </a:rPr>
              <a:t>randao</a:t>
            </a:r>
            <a:endParaRPr lang="zh-CN" altLang="en-US" sz="1600" dirty="0">
              <a:solidFill>
                <a:srgbClr val="FDFCDC"/>
              </a:solidFill>
              <a:latin typeface="Garamond" panose="02020404030301010803" pitchFamily="18" charset="0"/>
            </a:endParaRPr>
          </a:p>
        </p:txBody>
      </p:sp>
      <p:sp>
        <p:nvSpPr>
          <p:cNvPr id="39" name="矩形: 圆角 38">
            <a:extLst>
              <a:ext uri="{FF2B5EF4-FFF2-40B4-BE49-F238E27FC236}">
                <a16:creationId xmlns:a16="http://schemas.microsoft.com/office/drawing/2014/main" id="{4C7B8EB0-6754-41BF-B167-64EA12CC4723}"/>
              </a:ext>
            </a:extLst>
          </p:cNvPr>
          <p:cNvSpPr/>
          <p:nvPr/>
        </p:nvSpPr>
        <p:spPr>
          <a:xfrm>
            <a:off x="7644980" y="2412134"/>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Block number</a:t>
            </a:r>
            <a:endParaRPr lang="zh-CN" altLang="en-US" sz="1600" dirty="0">
              <a:solidFill>
                <a:srgbClr val="FDFCDC"/>
              </a:solidFill>
              <a:latin typeface="Garamond" panose="02020404030301010803" pitchFamily="18" charset="0"/>
            </a:endParaRPr>
          </a:p>
        </p:txBody>
      </p:sp>
      <p:sp>
        <p:nvSpPr>
          <p:cNvPr id="40" name="矩形: 圆角 39">
            <a:extLst>
              <a:ext uri="{FF2B5EF4-FFF2-40B4-BE49-F238E27FC236}">
                <a16:creationId xmlns:a16="http://schemas.microsoft.com/office/drawing/2014/main" id="{6D400648-8CB4-4C50-AF28-522EF56F54FA}"/>
              </a:ext>
            </a:extLst>
          </p:cNvPr>
          <p:cNvSpPr/>
          <p:nvPr/>
        </p:nvSpPr>
        <p:spPr>
          <a:xfrm>
            <a:off x="7641447" y="3146845"/>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Gas limit</a:t>
            </a:r>
            <a:endParaRPr lang="zh-CN" altLang="en-US" sz="1600" dirty="0">
              <a:solidFill>
                <a:srgbClr val="FDFCDC"/>
              </a:solidFill>
              <a:latin typeface="Garamond" panose="02020404030301010803" pitchFamily="18" charset="0"/>
            </a:endParaRPr>
          </a:p>
        </p:txBody>
      </p:sp>
      <p:sp>
        <p:nvSpPr>
          <p:cNvPr id="41" name="矩形: 圆角 40">
            <a:extLst>
              <a:ext uri="{FF2B5EF4-FFF2-40B4-BE49-F238E27FC236}">
                <a16:creationId xmlns:a16="http://schemas.microsoft.com/office/drawing/2014/main" id="{7CE1605F-C933-4220-8645-F6AE825C79B5}"/>
              </a:ext>
            </a:extLst>
          </p:cNvPr>
          <p:cNvSpPr/>
          <p:nvPr/>
        </p:nvSpPr>
        <p:spPr>
          <a:xfrm>
            <a:off x="7632446" y="3844959"/>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Gas used</a:t>
            </a:r>
            <a:endParaRPr lang="zh-CN" altLang="en-US" sz="1600" dirty="0">
              <a:solidFill>
                <a:srgbClr val="FDFCDC"/>
              </a:solidFill>
              <a:latin typeface="Garamond" panose="02020404030301010803" pitchFamily="18" charset="0"/>
            </a:endParaRPr>
          </a:p>
        </p:txBody>
      </p:sp>
      <p:sp>
        <p:nvSpPr>
          <p:cNvPr id="42" name="矩形: 圆角 41">
            <a:extLst>
              <a:ext uri="{FF2B5EF4-FFF2-40B4-BE49-F238E27FC236}">
                <a16:creationId xmlns:a16="http://schemas.microsoft.com/office/drawing/2014/main" id="{8B8FF07B-83B2-4DED-8A5B-C7A6D6A126FC}"/>
              </a:ext>
            </a:extLst>
          </p:cNvPr>
          <p:cNvSpPr/>
          <p:nvPr/>
        </p:nvSpPr>
        <p:spPr>
          <a:xfrm>
            <a:off x="7624134" y="4555987"/>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timestamp</a:t>
            </a:r>
            <a:endParaRPr lang="zh-CN" altLang="en-US" sz="1600" dirty="0">
              <a:solidFill>
                <a:srgbClr val="FDFCDC"/>
              </a:solidFill>
              <a:latin typeface="Garamond" panose="02020404030301010803" pitchFamily="18" charset="0"/>
            </a:endParaRPr>
          </a:p>
        </p:txBody>
      </p:sp>
      <p:sp>
        <p:nvSpPr>
          <p:cNvPr id="43" name="矩形: 圆角 42">
            <a:extLst>
              <a:ext uri="{FF2B5EF4-FFF2-40B4-BE49-F238E27FC236}">
                <a16:creationId xmlns:a16="http://schemas.microsoft.com/office/drawing/2014/main" id="{D3B09A46-E710-4793-A341-4F51759C7EF0}"/>
              </a:ext>
            </a:extLst>
          </p:cNvPr>
          <p:cNvSpPr/>
          <p:nvPr/>
        </p:nvSpPr>
        <p:spPr>
          <a:xfrm>
            <a:off x="9795481" y="2403554"/>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Extra data</a:t>
            </a:r>
            <a:endParaRPr lang="zh-CN" altLang="en-US" sz="1600" dirty="0">
              <a:solidFill>
                <a:srgbClr val="FDFCDC"/>
              </a:solidFill>
              <a:latin typeface="Garamond" panose="02020404030301010803" pitchFamily="18" charset="0"/>
            </a:endParaRPr>
          </a:p>
        </p:txBody>
      </p:sp>
      <p:sp>
        <p:nvSpPr>
          <p:cNvPr id="44" name="矩形: 圆角 43">
            <a:extLst>
              <a:ext uri="{FF2B5EF4-FFF2-40B4-BE49-F238E27FC236}">
                <a16:creationId xmlns:a16="http://schemas.microsoft.com/office/drawing/2014/main" id="{86BEF193-9D87-481B-85C8-6D5E3632ED4B}"/>
              </a:ext>
            </a:extLst>
          </p:cNvPr>
          <p:cNvSpPr/>
          <p:nvPr/>
        </p:nvSpPr>
        <p:spPr>
          <a:xfrm>
            <a:off x="9795482" y="3172230"/>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Base fee per gas</a:t>
            </a:r>
            <a:endParaRPr lang="zh-CN" altLang="en-US" sz="1600" dirty="0">
              <a:solidFill>
                <a:srgbClr val="FDFCDC"/>
              </a:solidFill>
              <a:latin typeface="Garamond" panose="02020404030301010803" pitchFamily="18" charset="0"/>
            </a:endParaRPr>
          </a:p>
        </p:txBody>
      </p:sp>
      <p:sp>
        <p:nvSpPr>
          <p:cNvPr id="45" name="矩形: 圆角 44">
            <a:extLst>
              <a:ext uri="{FF2B5EF4-FFF2-40B4-BE49-F238E27FC236}">
                <a16:creationId xmlns:a16="http://schemas.microsoft.com/office/drawing/2014/main" id="{A305C8FB-A3F8-4C1B-982A-26AABCF15FAB}"/>
              </a:ext>
            </a:extLst>
          </p:cNvPr>
          <p:cNvSpPr/>
          <p:nvPr/>
        </p:nvSpPr>
        <p:spPr>
          <a:xfrm>
            <a:off x="9795483" y="3850508"/>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Block hash</a:t>
            </a:r>
            <a:endParaRPr lang="zh-CN" altLang="en-US" sz="1600" dirty="0">
              <a:solidFill>
                <a:srgbClr val="FDFCDC"/>
              </a:solidFill>
              <a:latin typeface="Garamond" panose="02020404030301010803" pitchFamily="18" charset="0"/>
            </a:endParaRPr>
          </a:p>
        </p:txBody>
      </p:sp>
      <p:sp>
        <p:nvSpPr>
          <p:cNvPr id="46" name="矩形: 圆角 45">
            <a:extLst>
              <a:ext uri="{FF2B5EF4-FFF2-40B4-BE49-F238E27FC236}">
                <a16:creationId xmlns:a16="http://schemas.microsoft.com/office/drawing/2014/main" id="{45FA7540-1615-4792-9976-3B8B4C518CEC}"/>
              </a:ext>
            </a:extLst>
          </p:cNvPr>
          <p:cNvSpPr/>
          <p:nvPr/>
        </p:nvSpPr>
        <p:spPr>
          <a:xfrm>
            <a:off x="9795483" y="4559455"/>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Transactions root</a:t>
            </a:r>
            <a:endParaRPr lang="zh-CN" altLang="en-US" sz="1600" dirty="0">
              <a:solidFill>
                <a:srgbClr val="FDFCDC"/>
              </a:solidFill>
              <a:latin typeface="Garamond" panose="02020404030301010803" pitchFamily="18" charset="0"/>
            </a:endParaRPr>
          </a:p>
        </p:txBody>
      </p:sp>
      <p:sp>
        <p:nvSpPr>
          <p:cNvPr id="47" name="矩形: 圆角 46">
            <a:extLst>
              <a:ext uri="{FF2B5EF4-FFF2-40B4-BE49-F238E27FC236}">
                <a16:creationId xmlns:a16="http://schemas.microsoft.com/office/drawing/2014/main" id="{082273C2-EAB0-47C5-8164-974BA858A619}"/>
              </a:ext>
            </a:extLst>
          </p:cNvPr>
          <p:cNvSpPr/>
          <p:nvPr/>
        </p:nvSpPr>
        <p:spPr>
          <a:xfrm>
            <a:off x="9795483" y="5286045"/>
            <a:ext cx="1998103" cy="510249"/>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0" i="0" dirty="0">
                <a:solidFill>
                  <a:srgbClr val="FDFCDC"/>
                </a:solidFill>
                <a:effectLst/>
                <a:latin typeface="Garamond" panose="02020404030301010803" pitchFamily="18" charset="0"/>
              </a:rPr>
              <a:t>Withdrawal root</a:t>
            </a:r>
            <a:endParaRPr lang="zh-CN" altLang="en-US" sz="1600" dirty="0">
              <a:solidFill>
                <a:srgbClr val="FDFCDC"/>
              </a:solidFill>
              <a:latin typeface="Garamond" panose="02020404030301010803" pitchFamily="18" charset="0"/>
            </a:endParaRPr>
          </a:p>
        </p:txBody>
      </p:sp>
      <p:sp>
        <p:nvSpPr>
          <p:cNvPr id="48" name="左大括号 47">
            <a:extLst>
              <a:ext uri="{FF2B5EF4-FFF2-40B4-BE49-F238E27FC236}">
                <a16:creationId xmlns:a16="http://schemas.microsoft.com/office/drawing/2014/main" id="{44839BCE-5DBE-4368-9B14-66A33DB255A5}"/>
              </a:ext>
            </a:extLst>
          </p:cNvPr>
          <p:cNvSpPr/>
          <p:nvPr/>
        </p:nvSpPr>
        <p:spPr>
          <a:xfrm>
            <a:off x="2191443" y="2523812"/>
            <a:ext cx="433637" cy="3090059"/>
          </a:xfrm>
          <a:prstGeom prst="leftBrace">
            <a:avLst>
              <a:gd name="adj1" fmla="val 136285"/>
              <a:gd name="adj2" fmla="val 8612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solidFill>
                <a:srgbClr val="FDFCDC"/>
              </a:solidFill>
            </a:endParaRPr>
          </a:p>
        </p:txBody>
      </p:sp>
      <p:sp>
        <p:nvSpPr>
          <p:cNvPr id="49" name="左大括号 48">
            <a:extLst>
              <a:ext uri="{FF2B5EF4-FFF2-40B4-BE49-F238E27FC236}">
                <a16:creationId xmlns:a16="http://schemas.microsoft.com/office/drawing/2014/main" id="{2788FA35-B36D-479B-B170-B16790002159}"/>
              </a:ext>
            </a:extLst>
          </p:cNvPr>
          <p:cNvSpPr/>
          <p:nvPr/>
        </p:nvSpPr>
        <p:spPr>
          <a:xfrm>
            <a:off x="4706529" y="2687753"/>
            <a:ext cx="655495" cy="2926118"/>
          </a:xfrm>
          <a:prstGeom prst="leftBrace">
            <a:avLst>
              <a:gd name="adj1" fmla="val 136285"/>
              <a:gd name="adj2" fmla="val 64858"/>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solidFill>
                <a:srgbClr val="FDFCDC"/>
              </a:solidFill>
            </a:endParaRPr>
          </a:p>
        </p:txBody>
      </p:sp>
      <p:sp>
        <p:nvSpPr>
          <p:cNvPr id="50" name="矩形: 圆角 49">
            <a:extLst>
              <a:ext uri="{FF2B5EF4-FFF2-40B4-BE49-F238E27FC236}">
                <a16:creationId xmlns:a16="http://schemas.microsoft.com/office/drawing/2014/main" id="{70A83BED-CBB3-4EAD-8882-82CBB518306D}"/>
              </a:ext>
            </a:extLst>
          </p:cNvPr>
          <p:cNvSpPr/>
          <p:nvPr/>
        </p:nvSpPr>
        <p:spPr>
          <a:xfrm>
            <a:off x="128841" y="2301579"/>
            <a:ext cx="1998103" cy="424334"/>
          </a:xfrm>
          <a:prstGeom prst="roundRect">
            <a:avLst/>
          </a:prstGeom>
          <a:solidFill>
            <a:srgbClr val="5B307E"/>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dirty="0">
                <a:solidFill>
                  <a:srgbClr val="FDFCDC"/>
                </a:solidFill>
                <a:latin typeface="Garamond" panose="02020404030301010803" pitchFamily="18" charset="0"/>
              </a:rPr>
              <a:t>Slots</a:t>
            </a:r>
            <a:endParaRPr lang="zh-CN" altLang="en-US" sz="1600" dirty="0">
              <a:solidFill>
                <a:srgbClr val="FDFCDC"/>
              </a:solidFill>
              <a:latin typeface="Garamond" panose="02020404030301010803" pitchFamily="18" charset="0"/>
            </a:endParaRPr>
          </a:p>
        </p:txBody>
      </p:sp>
    </p:spTree>
    <p:extLst>
      <p:ext uri="{BB962C8B-B14F-4D97-AF65-F5344CB8AC3E}">
        <p14:creationId xmlns:p14="http://schemas.microsoft.com/office/powerpoint/2010/main" val="375210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6" grpId="0" animBg="1"/>
      <p:bldP spid="27" grpId="0" animBg="1"/>
      <p:bldP spid="28"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zh-CN" dirty="0"/>
              <a:t>区块</a:t>
            </a:r>
            <a:r>
              <a:rPr lang="zh-CN" altLang="en-US" dirty="0"/>
              <a:t>结构</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2" name="内容占位符 6">
            <a:extLst>
              <a:ext uri="{FF2B5EF4-FFF2-40B4-BE49-F238E27FC236}">
                <a16:creationId xmlns:a16="http://schemas.microsoft.com/office/drawing/2014/main" id="{AD1EA51B-96E3-4A9A-AE4E-9C97329D857D}"/>
              </a:ext>
            </a:extLst>
          </p:cNvPr>
          <p:cNvSpPr>
            <a:spLocks noGrp="1"/>
          </p:cNvSpPr>
          <p:nvPr>
            <p:ph idx="1"/>
          </p:nvPr>
        </p:nvSpPr>
        <p:spPr>
          <a:xfrm>
            <a:off x="838200" y="1510758"/>
            <a:ext cx="10515600" cy="671608"/>
          </a:xfrm>
        </p:spPr>
        <p:txBody>
          <a:bodyPr>
            <a:normAutofit/>
          </a:bodyPr>
          <a:lstStyle/>
          <a:p>
            <a:pPr>
              <a:lnSpc>
                <a:spcPct val="130000"/>
              </a:lnSpc>
            </a:pPr>
            <a:r>
              <a:rPr lang="zh-CN" altLang="en-US" dirty="0"/>
              <a:t>区块重要字段：</a:t>
            </a:r>
            <a:endParaRPr lang="en-US" altLang="zh-CN" dirty="0"/>
          </a:p>
        </p:txBody>
      </p:sp>
      <p:sp>
        <p:nvSpPr>
          <p:cNvPr id="53" name="内容占位符 6">
            <a:extLst>
              <a:ext uri="{FF2B5EF4-FFF2-40B4-BE49-F238E27FC236}">
                <a16:creationId xmlns:a16="http://schemas.microsoft.com/office/drawing/2014/main" id="{F01E7BB6-13F1-4DB9-8533-35E53DCEA378}"/>
              </a:ext>
            </a:extLst>
          </p:cNvPr>
          <p:cNvSpPr txBox="1">
            <a:spLocks/>
          </p:cNvSpPr>
          <p:nvPr/>
        </p:nvSpPr>
        <p:spPr>
          <a:xfrm>
            <a:off x="838200" y="2002684"/>
            <a:ext cx="6009861"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Parent hash</a:t>
            </a:r>
            <a:r>
              <a:rPr lang="zh-CN" altLang="en-US" sz="2400" dirty="0">
                <a:latin typeface="Garamond" panose="02020404030301010803" pitchFamily="18" charset="0"/>
              </a:rPr>
              <a:t>：区块链</a:t>
            </a:r>
            <a:endParaRPr lang="en-US" altLang="zh-CN" sz="2400" dirty="0">
              <a:latin typeface="Garamond" panose="02020404030301010803" pitchFamily="18" charset="0"/>
            </a:endParaRPr>
          </a:p>
        </p:txBody>
      </p:sp>
      <p:sp>
        <p:nvSpPr>
          <p:cNvPr id="54" name="内容占位符 6">
            <a:extLst>
              <a:ext uri="{FF2B5EF4-FFF2-40B4-BE49-F238E27FC236}">
                <a16:creationId xmlns:a16="http://schemas.microsoft.com/office/drawing/2014/main" id="{B1A648E5-C56F-428E-A4D9-409DB555D54D}"/>
              </a:ext>
            </a:extLst>
          </p:cNvPr>
          <p:cNvSpPr txBox="1">
            <a:spLocks/>
          </p:cNvSpPr>
          <p:nvPr/>
        </p:nvSpPr>
        <p:spPr>
          <a:xfrm>
            <a:off x="838200" y="2697498"/>
            <a:ext cx="6009861"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Fee recipient</a:t>
            </a:r>
            <a:r>
              <a:rPr lang="zh-CN" altLang="en-US" sz="2400" dirty="0">
                <a:latin typeface="Garamond" panose="02020404030301010803" pitchFamily="18" charset="0"/>
              </a:rPr>
              <a:t>：区块费用接收人</a:t>
            </a:r>
            <a:endParaRPr lang="en-US" altLang="zh-CN" sz="2400" dirty="0">
              <a:latin typeface="Garamond" panose="02020404030301010803" pitchFamily="18" charset="0"/>
            </a:endParaRPr>
          </a:p>
        </p:txBody>
      </p:sp>
      <p:sp>
        <p:nvSpPr>
          <p:cNvPr id="55" name="内容占位符 6">
            <a:extLst>
              <a:ext uri="{FF2B5EF4-FFF2-40B4-BE49-F238E27FC236}">
                <a16:creationId xmlns:a16="http://schemas.microsoft.com/office/drawing/2014/main" id="{17F52545-4F39-4009-97B7-F8A5F67D9A30}"/>
              </a:ext>
            </a:extLst>
          </p:cNvPr>
          <p:cNvSpPr txBox="1">
            <a:spLocks/>
          </p:cNvSpPr>
          <p:nvPr/>
        </p:nvSpPr>
        <p:spPr>
          <a:xfrm>
            <a:off x="838200" y="3392312"/>
            <a:ext cx="6009861"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b="1" dirty="0">
                <a:solidFill>
                  <a:srgbClr val="5B307E"/>
                </a:solidFill>
                <a:latin typeface="Garamond" panose="02020404030301010803" pitchFamily="18" charset="0"/>
              </a:rPr>
              <a:t>State root</a:t>
            </a:r>
            <a:r>
              <a:rPr lang="zh-CN" altLang="en-US" sz="2400" b="1" dirty="0">
                <a:solidFill>
                  <a:srgbClr val="5B307E"/>
                </a:solidFill>
                <a:latin typeface="Garamond" panose="02020404030301010803" pitchFamily="18" charset="0"/>
              </a:rPr>
              <a:t>：状态树根</a:t>
            </a:r>
            <a:endParaRPr lang="en-US" altLang="zh-CN" sz="2400" b="1" dirty="0">
              <a:solidFill>
                <a:srgbClr val="5B307E"/>
              </a:solidFill>
              <a:latin typeface="Garamond" panose="02020404030301010803" pitchFamily="18" charset="0"/>
            </a:endParaRPr>
          </a:p>
        </p:txBody>
      </p:sp>
      <p:sp>
        <p:nvSpPr>
          <p:cNvPr id="56" name="内容占位符 6">
            <a:extLst>
              <a:ext uri="{FF2B5EF4-FFF2-40B4-BE49-F238E27FC236}">
                <a16:creationId xmlns:a16="http://schemas.microsoft.com/office/drawing/2014/main" id="{33C31097-884F-4784-A8DB-0A850AA4A8EB}"/>
              </a:ext>
            </a:extLst>
          </p:cNvPr>
          <p:cNvSpPr txBox="1">
            <a:spLocks/>
          </p:cNvSpPr>
          <p:nvPr/>
        </p:nvSpPr>
        <p:spPr>
          <a:xfrm>
            <a:off x="838200" y="4087126"/>
            <a:ext cx="6009861"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Receipts root</a:t>
            </a:r>
            <a:r>
              <a:rPr lang="zh-CN" altLang="en-US" sz="2400" dirty="0">
                <a:latin typeface="Garamond" panose="02020404030301010803" pitchFamily="18" charset="0"/>
              </a:rPr>
              <a:t>：收据树根</a:t>
            </a:r>
            <a:endParaRPr lang="en-US" altLang="zh-CN" sz="2400" dirty="0">
              <a:latin typeface="Garamond" panose="02020404030301010803" pitchFamily="18" charset="0"/>
            </a:endParaRPr>
          </a:p>
        </p:txBody>
      </p:sp>
      <p:sp>
        <p:nvSpPr>
          <p:cNvPr id="57" name="内容占位符 6">
            <a:extLst>
              <a:ext uri="{FF2B5EF4-FFF2-40B4-BE49-F238E27FC236}">
                <a16:creationId xmlns:a16="http://schemas.microsoft.com/office/drawing/2014/main" id="{A601E611-FF86-4C9F-8281-5FA2C2CD8C43}"/>
              </a:ext>
            </a:extLst>
          </p:cNvPr>
          <p:cNvSpPr txBox="1">
            <a:spLocks/>
          </p:cNvSpPr>
          <p:nvPr/>
        </p:nvSpPr>
        <p:spPr>
          <a:xfrm>
            <a:off x="838200" y="4781940"/>
            <a:ext cx="6009861"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Transactions root</a:t>
            </a:r>
            <a:r>
              <a:rPr lang="zh-CN" altLang="en-US" sz="2400" dirty="0">
                <a:latin typeface="Garamond" panose="02020404030301010803" pitchFamily="18" charset="0"/>
              </a:rPr>
              <a:t>：交易树根</a:t>
            </a:r>
            <a:endParaRPr lang="en-US" altLang="zh-CN" sz="2400" dirty="0">
              <a:latin typeface="Garamond" panose="02020404030301010803" pitchFamily="18" charset="0"/>
            </a:endParaRPr>
          </a:p>
        </p:txBody>
      </p:sp>
      <p:sp>
        <p:nvSpPr>
          <p:cNvPr id="58" name="内容占位符 6">
            <a:extLst>
              <a:ext uri="{FF2B5EF4-FFF2-40B4-BE49-F238E27FC236}">
                <a16:creationId xmlns:a16="http://schemas.microsoft.com/office/drawing/2014/main" id="{613F126F-5524-4520-974C-2A022F78816D}"/>
              </a:ext>
            </a:extLst>
          </p:cNvPr>
          <p:cNvSpPr txBox="1">
            <a:spLocks/>
          </p:cNvSpPr>
          <p:nvPr/>
        </p:nvSpPr>
        <p:spPr>
          <a:xfrm>
            <a:off x="838199" y="5476755"/>
            <a:ext cx="6009861"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Block number</a:t>
            </a:r>
            <a:r>
              <a:rPr lang="zh-CN" altLang="en-US" sz="2400" dirty="0">
                <a:latin typeface="Garamond" panose="02020404030301010803" pitchFamily="18" charset="0"/>
              </a:rPr>
              <a:t>：区块号</a:t>
            </a:r>
            <a:endParaRPr lang="en-US" altLang="zh-CN" sz="2400" dirty="0">
              <a:latin typeface="Garamond" panose="02020404030301010803" pitchFamily="18" charset="0"/>
            </a:endParaRPr>
          </a:p>
        </p:txBody>
      </p:sp>
      <p:sp>
        <p:nvSpPr>
          <p:cNvPr id="59" name="内容占位符 6">
            <a:extLst>
              <a:ext uri="{FF2B5EF4-FFF2-40B4-BE49-F238E27FC236}">
                <a16:creationId xmlns:a16="http://schemas.microsoft.com/office/drawing/2014/main" id="{A81E896C-264B-41C1-8955-D6F4CE7A3758}"/>
              </a:ext>
            </a:extLst>
          </p:cNvPr>
          <p:cNvSpPr txBox="1">
            <a:spLocks/>
          </p:cNvSpPr>
          <p:nvPr/>
        </p:nvSpPr>
        <p:spPr>
          <a:xfrm>
            <a:off x="6663885" y="2022597"/>
            <a:ext cx="5074982"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Gas limit</a:t>
            </a:r>
            <a:r>
              <a:rPr lang="zh-CN" altLang="en-US" sz="2400" dirty="0">
                <a:latin typeface="Garamond" panose="02020404030301010803" pitchFamily="18" charset="0"/>
              </a:rPr>
              <a:t>：汽油费上限</a:t>
            </a:r>
            <a:endParaRPr lang="en-US" altLang="zh-CN" sz="2400" dirty="0">
              <a:latin typeface="Garamond" panose="02020404030301010803" pitchFamily="18" charset="0"/>
            </a:endParaRPr>
          </a:p>
        </p:txBody>
      </p:sp>
      <p:sp>
        <p:nvSpPr>
          <p:cNvPr id="60" name="内容占位符 6">
            <a:extLst>
              <a:ext uri="{FF2B5EF4-FFF2-40B4-BE49-F238E27FC236}">
                <a16:creationId xmlns:a16="http://schemas.microsoft.com/office/drawing/2014/main" id="{217AD14A-99C1-4F1B-958F-F8513BF91369}"/>
              </a:ext>
            </a:extLst>
          </p:cNvPr>
          <p:cNvSpPr txBox="1">
            <a:spLocks/>
          </p:cNvSpPr>
          <p:nvPr/>
        </p:nvSpPr>
        <p:spPr>
          <a:xfrm>
            <a:off x="6722166" y="2860561"/>
            <a:ext cx="5074979"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Gas used</a:t>
            </a:r>
            <a:r>
              <a:rPr lang="zh-CN" altLang="en-US" sz="2400" dirty="0">
                <a:latin typeface="Garamond" panose="02020404030301010803" pitchFamily="18" charset="0"/>
              </a:rPr>
              <a:t>：消耗的汽油费</a:t>
            </a:r>
            <a:endParaRPr lang="en-US" altLang="zh-CN" sz="2400" dirty="0">
              <a:latin typeface="Garamond" panose="02020404030301010803" pitchFamily="18" charset="0"/>
            </a:endParaRPr>
          </a:p>
        </p:txBody>
      </p:sp>
      <p:sp>
        <p:nvSpPr>
          <p:cNvPr id="61" name="内容占位符 6">
            <a:extLst>
              <a:ext uri="{FF2B5EF4-FFF2-40B4-BE49-F238E27FC236}">
                <a16:creationId xmlns:a16="http://schemas.microsoft.com/office/drawing/2014/main" id="{E4938CE5-4F5B-4B67-8439-F6E87E87A651}"/>
              </a:ext>
            </a:extLst>
          </p:cNvPr>
          <p:cNvSpPr txBox="1">
            <a:spLocks/>
          </p:cNvSpPr>
          <p:nvPr/>
        </p:nvSpPr>
        <p:spPr>
          <a:xfrm>
            <a:off x="6722166" y="3716993"/>
            <a:ext cx="4796684"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Timestamp</a:t>
            </a:r>
            <a:r>
              <a:rPr lang="zh-CN" altLang="en-US" sz="2400" dirty="0">
                <a:latin typeface="Garamond" panose="02020404030301010803" pitchFamily="18" charset="0"/>
              </a:rPr>
              <a:t>：时间戳</a:t>
            </a:r>
            <a:endParaRPr lang="en-US" altLang="zh-CN" sz="2400" dirty="0">
              <a:latin typeface="Garamond" panose="02020404030301010803" pitchFamily="18" charset="0"/>
            </a:endParaRPr>
          </a:p>
        </p:txBody>
      </p:sp>
      <p:sp>
        <p:nvSpPr>
          <p:cNvPr id="62" name="内容占位符 6">
            <a:extLst>
              <a:ext uri="{FF2B5EF4-FFF2-40B4-BE49-F238E27FC236}">
                <a16:creationId xmlns:a16="http://schemas.microsoft.com/office/drawing/2014/main" id="{E7327E2C-68AA-45FE-A2DE-AFC674029F77}"/>
              </a:ext>
            </a:extLst>
          </p:cNvPr>
          <p:cNvSpPr txBox="1">
            <a:spLocks/>
          </p:cNvSpPr>
          <p:nvPr/>
        </p:nvSpPr>
        <p:spPr>
          <a:xfrm>
            <a:off x="6722164" y="4573425"/>
            <a:ext cx="5191539"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Base fee per gas</a:t>
            </a:r>
            <a:r>
              <a:rPr lang="zh-CN" altLang="en-US" sz="2400" dirty="0">
                <a:latin typeface="Garamond" panose="02020404030301010803" pitchFamily="18" charset="0"/>
              </a:rPr>
              <a:t>：汽油费基础价格</a:t>
            </a:r>
            <a:endParaRPr lang="en-US" altLang="zh-CN" sz="2400" dirty="0">
              <a:latin typeface="Garamond" panose="02020404030301010803" pitchFamily="18" charset="0"/>
            </a:endParaRPr>
          </a:p>
        </p:txBody>
      </p:sp>
      <p:sp>
        <p:nvSpPr>
          <p:cNvPr id="63" name="内容占位符 6">
            <a:extLst>
              <a:ext uri="{FF2B5EF4-FFF2-40B4-BE49-F238E27FC236}">
                <a16:creationId xmlns:a16="http://schemas.microsoft.com/office/drawing/2014/main" id="{F44225E4-394E-4AEF-AEF5-7424BF27EADF}"/>
              </a:ext>
            </a:extLst>
          </p:cNvPr>
          <p:cNvSpPr txBox="1">
            <a:spLocks/>
          </p:cNvSpPr>
          <p:nvPr/>
        </p:nvSpPr>
        <p:spPr>
          <a:xfrm>
            <a:off x="6663885" y="5429859"/>
            <a:ext cx="5191539" cy="671608"/>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pitchFamily="2" charset="2"/>
              <a:buChar char="ü"/>
            </a:pPr>
            <a:r>
              <a:rPr lang="en-US" altLang="zh-CN" sz="2400" dirty="0">
                <a:latin typeface="Garamond" panose="02020404030301010803" pitchFamily="18" charset="0"/>
              </a:rPr>
              <a:t>Block hash</a:t>
            </a:r>
            <a:r>
              <a:rPr lang="zh-CN" altLang="en-US" sz="2400" dirty="0">
                <a:latin typeface="Garamond" panose="02020404030301010803" pitchFamily="18" charset="0"/>
              </a:rPr>
              <a:t>：区块哈希</a:t>
            </a:r>
            <a:endParaRPr lang="en-US" altLang="zh-CN" sz="2400" dirty="0">
              <a:latin typeface="Garamond" panose="02020404030301010803" pitchFamily="18" charset="0"/>
            </a:endParaRPr>
          </a:p>
        </p:txBody>
      </p:sp>
    </p:spTree>
    <p:extLst>
      <p:ext uri="{BB962C8B-B14F-4D97-AF65-F5344CB8AC3E}">
        <p14:creationId xmlns:p14="http://schemas.microsoft.com/office/powerpoint/2010/main" val="3850493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normAutofit/>
          </a:bodyPr>
          <a:lstStyle/>
          <a:p>
            <a:r>
              <a:rPr kumimoji="1" lang="zh-CN" altLang="en-US" dirty="0"/>
              <a:t>叔块与</a:t>
            </a:r>
            <a:r>
              <a:rPr kumimoji="1" lang="en-US" altLang="zh-CN" dirty="0">
                <a:latin typeface="Garamond" panose="02020404030301010803" pitchFamily="18" charset="0"/>
              </a:rPr>
              <a:t>POW</a:t>
            </a:r>
            <a:r>
              <a:rPr kumimoji="1" lang="zh-CN" altLang="en-US" dirty="0"/>
              <a:t>共识</a:t>
            </a:r>
            <a:r>
              <a:rPr lang="zh-CN" altLang="en-US" dirty="0">
                <a:solidFill>
                  <a:srgbClr val="C00000"/>
                </a:solidFill>
              </a:rPr>
              <a:t>（已弃用）</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定义</a:t>
            </a:r>
            <a:endParaRPr lang="en-US" altLang="zh-CN" dirty="0"/>
          </a:p>
          <a:p>
            <a:pPr lvl="1">
              <a:lnSpc>
                <a:spcPct val="130000"/>
              </a:lnSpc>
            </a:pPr>
            <a:r>
              <a:rPr lang="zh-TW" altLang="zh-CN" dirty="0"/>
              <a:t>以太坊定义了不在主链但被主链区块记录的满足难度的区块为叔块。</a:t>
            </a:r>
            <a:r>
              <a:rPr lang="zh-CN" altLang="zh-CN" dirty="0"/>
              <a:t> </a:t>
            </a:r>
            <a:endParaRPr lang="en-US" altLang="zh-CN" dirty="0"/>
          </a:p>
          <a:p>
            <a:pPr>
              <a:lnSpc>
                <a:spcPct val="130000"/>
              </a:lnSpc>
            </a:pPr>
            <a:r>
              <a:rPr lang="zh-CN" altLang="en-US" dirty="0"/>
              <a:t>作用</a:t>
            </a:r>
            <a:endParaRPr lang="en-US" altLang="zh-CN" dirty="0"/>
          </a:p>
          <a:p>
            <a:pPr lvl="1">
              <a:lnSpc>
                <a:spcPct val="130000"/>
              </a:lnSpc>
            </a:pPr>
            <a:r>
              <a:rPr lang="zh-TW" altLang="zh-CN" dirty="0"/>
              <a:t>在尽可能减少两个相邻区块产生时间的条件下，尽量收缩和统一整个区块链的主链，同时通过叔块的激励来维护矿工的积极性。</a:t>
            </a:r>
            <a:r>
              <a:rPr lang="zh-CN" altLang="zh-CN" dirty="0"/>
              <a:t> </a:t>
            </a:r>
            <a:endParaRPr lang="en-US" altLang="zh-CN" dirty="0">
              <a:solidFill>
                <a:srgbClr val="C00000"/>
              </a:solidFill>
            </a:endParaRPr>
          </a:p>
        </p:txBody>
      </p:sp>
    </p:spTree>
    <p:extLst>
      <p:ext uri="{BB962C8B-B14F-4D97-AF65-F5344CB8AC3E}">
        <p14:creationId xmlns:p14="http://schemas.microsoft.com/office/powerpoint/2010/main" val="3433586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叔块与</a:t>
            </a:r>
            <a:r>
              <a:rPr kumimoji="1" lang="en-US" altLang="zh-CN" dirty="0">
                <a:latin typeface="Garamond" panose="02020404030301010803" pitchFamily="18" charset="0"/>
              </a:rPr>
              <a:t>POW</a:t>
            </a:r>
            <a:r>
              <a:rPr kumimoji="1" lang="zh-CN" altLang="en-US" dirty="0"/>
              <a:t>共识</a:t>
            </a:r>
            <a:r>
              <a:rPr lang="zh-CN" altLang="en-US" dirty="0">
                <a:solidFill>
                  <a:srgbClr val="C00000"/>
                </a:solidFill>
              </a:rPr>
              <a:t>（已弃用）</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sz="2400" dirty="0">
                <a:latin typeface="Garamond" panose="02020404030301010803" pitchFamily="18" charset="0"/>
              </a:rPr>
              <a:t>实例</a:t>
            </a:r>
            <a:endParaRPr lang="en-US" altLang="zh-CN" sz="2400" dirty="0">
              <a:latin typeface="Garamond" panose="02020404030301010803" pitchFamily="18" charset="0"/>
            </a:endParaRPr>
          </a:p>
          <a:p>
            <a:pPr lvl="1">
              <a:lnSpc>
                <a:spcPct val="130000"/>
              </a:lnSpc>
            </a:pPr>
            <a:r>
              <a:rPr lang="zh-TW" altLang="zh-CN" sz="2000" dirty="0">
                <a:latin typeface="Garamond" panose="02020404030301010803" pitchFamily="18" charset="0"/>
              </a:rPr>
              <a:t>创世区块后产生了三个分叉，其中中间的分叉被选为主链，其他两个区块可以被后继的区块当作叔块</a:t>
            </a:r>
            <a:r>
              <a:rPr lang="zh-CN" altLang="zh-CN" sz="2000" dirty="0">
                <a:latin typeface="Garamond" panose="02020404030301010803" pitchFamily="18" charset="0"/>
              </a:rPr>
              <a:t> </a:t>
            </a:r>
            <a:endParaRPr lang="en-US" altLang="zh-CN" sz="2000" dirty="0">
              <a:latin typeface="Garamond" panose="02020404030301010803" pitchFamily="18" charset="0"/>
            </a:endParaRPr>
          </a:p>
          <a:p>
            <a:pPr lvl="1">
              <a:lnSpc>
                <a:spcPct val="130000"/>
              </a:lnSpc>
            </a:pPr>
            <a:r>
              <a:rPr lang="zh-TW" altLang="zh-CN" sz="2000" dirty="0">
                <a:latin typeface="Garamond" panose="02020404030301010803" pitchFamily="18" charset="0"/>
              </a:rPr>
              <a:t>被纳入主链之中，获得一定的收益补偿</a:t>
            </a:r>
            <a:endParaRPr lang="en-US" altLang="zh-TW" sz="2000" dirty="0">
              <a:latin typeface="Garamond" panose="02020404030301010803" pitchFamily="18" charset="0"/>
            </a:endParaRPr>
          </a:p>
          <a:p>
            <a:pPr lvl="1">
              <a:lnSpc>
                <a:spcPct val="130000"/>
              </a:lnSpc>
            </a:pPr>
            <a:r>
              <a:rPr lang="zh-TW" altLang="zh-CN" sz="2000" dirty="0">
                <a:latin typeface="Garamond" panose="02020404030301010803" pitchFamily="18" charset="0"/>
              </a:rPr>
              <a:t>其他矿工在打包区块的时候，可以自主的选择合法的</a:t>
            </a:r>
            <a:r>
              <a:rPr lang="en-US" altLang="zh-CN" sz="2000" dirty="0">
                <a:latin typeface="Garamond" panose="02020404030301010803" pitchFamily="18" charset="0"/>
              </a:rPr>
              <a:t>0</a:t>
            </a:r>
            <a:r>
              <a:rPr lang="zh-TW" altLang="zh-CN" sz="2000" dirty="0">
                <a:latin typeface="Garamond" panose="02020404030301010803" pitchFamily="18" charset="0"/>
              </a:rPr>
              <a:t>到</a:t>
            </a:r>
            <a:r>
              <a:rPr lang="en-US" altLang="zh-CN" sz="2000" dirty="0">
                <a:latin typeface="Garamond" panose="02020404030301010803" pitchFamily="18" charset="0"/>
              </a:rPr>
              <a:t>2</a:t>
            </a:r>
            <a:r>
              <a:rPr lang="zh-TW" altLang="zh-CN" sz="2000" dirty="0">
                <a:latin typeface="Garamond" panose="02020404030301010803" pitchFamily="18" charset="0"/>
              </a:rPr>
              <a:t>个叔块打包到新区块的区块头</a:t>
            </a:r>
            <a:r>
              <a:rPr lang="zh-CN" altLang="zh-CN" sz="2000" dirty="0">
                <a:latin typeface="Garamond" panose="02020404030301010803" pitchFamily="18" charset="0"/>
              </a:rPr>
              <a:t> </a:t>
            </a:r>
            <a:endParaRPr lang="en-US" altLang="zh-TW" sz="2000" dirty="0">
              <a:latin typeface="Garamond" panose="02020404030301010803" pitchFamily="18" charset="0"/>
            </a:endParaRPr>
          </a:p>
        </p:txBody>
      </p:sp>
      <p:pic>
        <p:nvPicPr>
          <p:cNvPr id="9" name="图片 8">
            <a:extLst>
              <a:ext uri="{FF2B5EF4-FFF2-40B4-BE49-F238E27FC236}">
                <a16:creationId xmlns:a16="http://schemas.microsoft.com/office/drawing/2014/main" id="{EC88FF07-A8F6-7A40-8EF9-FCD249B376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42038" y="3959925"/>
            <a:ext cx="5551752" cy="2532949"/>
          </a:xfrm>
          <a:prstGeom prst="rect">
            <a:avLst/>
          </a:prstGeom>
          <a:noFill/>
        </p:spPr>
      </p:pic>
      <p:sp>
        <p:nvSpPr>
          <p:cNvPr id="5" name="文本框 4">
            <a:extLst>
              <a:ext uri="{FF2B5EF4-FFF2-40B4-BE49-F238E27FC236}">
                <a16:creationId xmlns:a16="http://schemas.microsoft.com/office/drawing/2014/main" id="{A49015A5-7E03-704F-B557-080FBBDC1127}"/>
              </a:ext>
            </a:extLst>
          </p:cNvPr>
          <p:cNvSpPr txBox="1"/>
          <p:nvPr/>
        </p:nvSpPr>
        <p:spPr>
          <a:xfrm>
            <a:off x="3989164" y="6346190"/>
            <a:ext cx="2857499" cy="276999"/>
          </a:xfrm>
          <a:prstGeom prst="rect">
            <a:avLst/>
          </a:prstGeom>
          <a:noFill/>
        </p:spPr>
        <p:txBody>
          <a:bodyPr wrap="square" rtlCol="0">
            <a:spAutoFit/>
          </a:bodyPr>
          <a:lstStyle/>
          <a:p>
            <a:r>
              <a:rPr lang="zh-CN" altLang="zh-CN" sz="1200" dirty="0">
                <a:latin typeface="Garamond" panose="02020404030301010803" pitchFamily="18" charset="0"/>
                <a:ea typeface="微软雅黑" panose="020B0503020204020204" pitchFamily="34" charset="-122"/>
              </a:rPr>
              <a:t>以太坊的</a:t>
            </a:r>
            <a:r>
              <a:rPr lang="en-US" altLang="zh-CN" sz="1200" dirty="0">
                <a:latin typeface="Garamond" panose="02020404030301010803" pitchFamily="18" charset="0"/>
                <a:ea typeface="微软雅黑" panose="020B0503020204020204" pitchFamily="34" charset="-122"/>
              </a:rPr>
              <a:t>GOHST</a:t>
            </a:r>
            <a:r>
              <a:rPr lang="zh-CN" altLang="zh-CN" sz="1200" dirty="0">
                <a:latin typeface="Garamond" panose="02020404030301010803" pitchFamily="18" charset="0"/>
                <a:ea typeface="微软雅黑" panose="020B0503020204020204" pitchFamily="34" charset="-122"/>
              </a:rPr>
              <a:t>和叔块（灰色）结构 </a:t>
            </a:r>
            <a:endParaRPr kumimoji="1" lang="zh-CN" altLang="en-US" sz="1200" dirty="0">
              <a:latin typeface="Garamond" panose="02020404030301010803" pitchFamily="18" charset="0"/>
              <a:ea typeface="微软雅黑" panose="020B0503020204020204" pitchFamily="34" charset="-122"/>
            </a:endParaRPr>
          </a:p>
        </p:txBody>
      </p:sp>
    </p:spTree>
    <p:extLst>
      <p:ext uri="{BB962C8B-B14F-4D97-AF65-F5344CB8AC3E}">
        <p14:creationId xmlns:p14="http://schemas.microsoft.com/office/powerpoint/2010/main" val="2948643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en-US" dirty="0"/>
              <a:t>世界状态</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85000" lnSpcReduction="20000"/>
          </a:bodyPr>
          <a:lstStyle/>
          <a:p>
            <a:pPr>
              <a:lnSpc>
                <a:spcPct val="130000"/>
              </a:lnSpc>
            </a:pPr>
            <a:r>
              <a:rPr lang="zh-CN" altLang="en-US" dirty="0"/>
              <a:t>背景</a:t>
            </a:r>
            <a:endParaRPr lang="en-US" altLang="zh-CN" dirty="0"/>
          </a:p>
          <a:p>
            <a:pPr lvl="1">
              <a:lnSpc>
                <a:spcPct val="130000"/>
              </a:lnSpc>
            </a:pPr>
            <a:r>
              <a:rPr lang="zh-TW" altLang="zh-CN" dirty="0"/>
              <a:t>由于以太坊使用了状态模型，在区块中除了保存交易列表之外，还附带了当前区块中交易执行结束状态相关的信息</a:t>
            </a:r>
            <a:r>
              <a:rPr lang="zh-CN" altLang="zh-CN" dirty="0"/>
              <a:t> </a:t>
            </a:r>
            <a:endParaRPr lang="en-US" altLang="zh-CN" dirty="0"/>
          </a:p>
          <a:p>
            <a:pPr>
              <a:lnSpc>
                <a:spcPct val="130000"/>
              </a:lnSpc>
            </a:pPr>
            <a:r>
              <a:rPr lang="zh-CN" altLang="en-US" dirty="0"/>
              <a:t>定义</a:t>
            </a:r>
            <a:endParaRPr lang="en-US" altLang="zh-CN" dirty="0"/>
          </a:p>
          <a:p>
            <a:pPr lvl="1">
              <a:lnSpc>
                <a:spcPct val="130000"/>
              </a:lnSpc>
            </a:pPr>
            <a:r>
              <a:rPr lang="zh-TW" altLang="zh-CN" dirty="0"/>
              <a:t>在以太坊中账户内部存在着各自的状态，他们在特定交易下发生变化</a:t>
            </a:r>
            <a:r>
              <a:rPr lang="zh-CN" altLang="en-US" dirty="0"/>
              <a:t>，</a:t>
            </a:r>
            <a:r>
              <a:rPr lang="zh-TW" altLang="zh-CN" dirty="0"/>
              <a:t>将以太坊中所有存在的账户的状态全部汇总到一起，就可以得到一个全局的状态，它也被称作“世界状态</a:t>
            </a:r>
            <a:r>
              <a:rPr lang="zh-CN" altLang="en-US" dirty="0"/>
              <a:t>”</a:t>
            </a:r>
            <a:endParaRPr lang="en-US" altLang="zh-CN" dirty="0"/>
          </a:p>
          <a:p>
            <a:pPr>
              <a:lnSpc>
                <a:spcPct val="130000"/>
              </a:lnSpc>
            </a:pPr>
            <a:r>
              <a:rPr lang="zh-CN" altLang="en-US" dirty="0"/>
              <a:t>状态根</a:t>
            </a:r>
            <a:endParaRPr lang="en-US" altLang="zh-TW" dirty="0"/>
          </a:p>
          <a:p>
            <a:pPr lvl="1">
              <a:lnSpc>
                <a:spcPct val="130000"/>
              </a:lnSpc>
            </a:pPr>
            <a:r>
              <a:rPr lang="zh-TW" altLang="zh-CN" dirty="0"/>
              <a:t>在区块头中，保存了对世界状态的一个信息摘要，也就是状态的哈希值。</a:t>
            </a:r>
            <a:r>
              <a:rPr lang="zh-TW" altLang="zh-CN" b="1" dirty="0">
                <a:solidFill>
                  <a:srgbClr val="5B307E"/>
                </a:solidFill>
              </a:rPr>
              <a:t>这个状态的哈希值在区块头中被叫作状态根，这是因为状态根的计算是通过一个特殊的树状哈希数据结构来实现的，计算出来的哈希值处于这种树状哈希结构的根。</a:t>
            </a:r>
            <a:endParaRPr lang="zh-CN" altLang="zh-CN" b="1" dirty="0">
              <a:solidFill>
                <a:srgbClr val="5B307E"/>
              </a:solidFill>
            </a:endParaRPr>
          </a:p>
          <a:p>
            <a:pPr lvl="1">
              <a:lnSpc>
                <a:spcPct val="130000"/>
              </a:lnSpc>
            </a:pPr>
            <a:endParaRPr lang="en-US" altLang="zh-CN" dirty="0">
              <a:solidFill>
                <a:srgbClr val="C00000"/>
              </a:solidFill>
            </a:endParaRPr>
          </a:p>
        </p:txBody>
      </p:sp>
    </p:spTree>
    <p:extLst>
      <p:ext uri="{BB962C8B-B14F-4D97-AF65-F5344CB8AC3E}">
        <p14:creationId xmlns:p14="http://schemas.microsoft.com/office/powerpoint/2010/main" val="3925845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Merkle Patricia </a:t>
            </a:r>
            <a:r>
              <a:rPr kumimoji="1" lang="en-US" altLang="zh-CN" dirty="0" err="1"/>
              <a:t>Trie</a:t>
            </a:r>
            <a:r>
              <a:rPr kumimoji="1" lang="en-US" altLang="zh-CN" dirty="0"/>
              <a:t>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t>背景</a:t>
            </a:r>
            <a:endParaRPr lang="en-US" altLang="zh-CN" dirty="0"/>
          </a:p>
          <a:p>
            <a:pPr lvl="1">
              <a:lnSpc>
                <a:spcPct val="130000"/>
              </a:lnSpc>
            </a:pPr>
            <a:r>
              <a:rPr lang="zh-TW" altLang="zh-CN" dirty="0"/>
              <a:t>在每个区块头中，以太坊都要对全体地址和账户的哈希值进行计算，得到一个世界状态的状态根</a:t>
            </a:r>
            <a:endParaRPr lang="en-US" altLang="zh-TW" dirty="0"/>
          </a:p>
          <a:p>
            <a:pPr lvl="1">
              <a:lnSpc>
                <a:spcPct val="130000"/>
              </a:lnSpc>
            </a:pPr>
            <a:r>
              <a:rPr lang="zh-TW" altLang="zh-CN" dirty="0"/>
              <a:t>直接把整个地址到账户的映射表拼接成二进制进行哈希计算的话，整个过程的开销将会十分巨大</a:t>
            </a:r>
            <a:endParaRPr lang="en-US" altLang="zh-TW" dirty="0"/>
          </a:p>
          <a:p>
            <a:pPr lvl="1">
              <a:lnSpc>
                <a:spcPct val="130000"/>
              </a:lnSpc>
            </a:pPr>
            <a:r>
              <a:rPr lang="zh-TW" altLang="zh-CN" dirty="0"/>
              <a:t>单个区块中的全部交易可能仅仅改变了几十个账户中的状态，但是节点仍然要重新遍历数万甚至数千万的账户来计算状态根</a:t>
            </a:r>
            <a:r>
              <a:rPr lang="zh-CN" altLang="zh-CN" sz="2000" dirty="0"/>
              <a:t> </a:t>
            </a:r>
            <a:endParaRPr lang="en-US" altLang="zh-TW" sz="2000" dirty="0"/>
          </a:p>
        </p:txBody>
      </p:sp>
    </p:spTree>
    <p:extLst>
      <p:ext uri="{BB962C8B-B14F-4D97-AF65-F5344CB8AC3E}">
        <p14:creationId xmlns:p14="http://schemas.microsoft.com/office/powerpoint/2010/main" val="3084209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Merkle Patricia </a:t>
            </a:r>
            <a:r>
              <a:rPr kumimoji="1" lang="en-US" altLang="zh-CN" dirty="0" err="1"/>
              <a:t>Trie</a:t>
            </a:r>
            <a:r>
              <a:rPr kumimoji="1" lang="en-US" altLang="zh-CN" dirty="0"/>
              <a:t>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p:txBody>
              <a:bodyPr>
                <a:normAutofit/>
              </a:bodyPr>
              <a:lstStyle/>
              <a:p>
                <a:pPr>
                  <a:lnSpc>
                    <a:spcPct val="130000"/>
                  </a:lnSpc>
                </a:pPr>
                <a:r>
                  <a:rPr lang="zh-CN" altLang="en-US" dirty="0">
                    <a:latin typeface="Garamond" panose="02020404030301010803" pitchFamily="18" charset="0"/>
                  </a:rPr>
                  <a:t>比特币 </a:t>
                </a:r>
                <a:r>
                  <a:rPr lang="en-US" altLang="zh-CN" dirty="0">
                    <a:latin typeface="Garamond" panose="02020404030301010803" pitchFamily="18" charset="0"/>
                  </a:rPr>
                  <a:t>Merkle Tree</a:t>
                </a:r>
              </a:p>
              <a:p>
                <a:pPr lvl="1">
                  <a:lnSpc>
                    <a:spcPct val="130000"/>
                  </a:lnSpc>
                </a:pPr>
                <a:r>
                  <a:rPr lang="zh-TW" altLang="zh-CN" dirty="0">
                    <a:latin typeface="Garamond" panose="02020404030301010803" pitchFamily="18" charset="0"/>
                  </a:rPr>
                  <a:t>在比特币中，Merkle Tree被用来组织交易列表计算哈希</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对于以太坊全体账户这种映射表的结构来说，Merkle Tree的能力还是稍显不足</a:t>
                </a:r>
                <a:endParaRPr lang="en-US" altLang="zh-TW" sz="2000" dirty="0">
                  <a:latin typeface="Garamond" panose="02020404030301010803" pitchFamily="18" charset="0"/>
                </a:endParaRPr>
              </a:p>
              <a:p>
                <a:pPr lvl="2">
                  <a:lnSpc>
                    <a:spcPct val="130000"/>
                  </a:lnSpc>
                </a:pPr>
                <a:r>
                  <a:rPr lang="zh-TW" altLang="zh-CN" sz="2400" dirty="0">
                    <a:latin typeface="Garamond" panose="02020404030301010803" pitchFamily="18" charset="0"/>
                  </a:rPr>
                  <a:t>假如使用账户地址作为列表的下标，那么潜在的列表长度是</a:t>
                </a:r>
                <a14:m>
                  <m:oMath xmlns:m="http://schemas.openxmlformats.org/officeDocument/2006/math">
                    <m:sSup>
                      <m:sSupPr>
                        <m:ctrlPr>
                          <a:rPr lang="zh-CN" altLang="zh-CN" sz="2400" i="1">
                            <a:latin typeface="Cambria Math" panose="02040503050406030204" pitchFamily="18" charset="0"/>
                          </a:rPr>
                        </m:ctrlPr>
                      </m:sSupPr>
                      <m:e>
                        <m:r>
                          <a:rPr lang="zh-TW" altLang="zh-CN" sz="2400">
                            <a:latin typeface="Cambria Math" panose="02040503050406030204" pitchFamily="18" charset="0"/>
                          </a:rPr>
                          <m:t>2</m:t>
                        </m:r>
                      </m:e>
                      <m:sup>
                        <m:r>
                          <a:rPr lang="zh-TW" altLang="zh-CN" sz="2400">
                            <a:latin typeface="Cambria Math" panose="02040503050406030204" pitchFamily="18" charset="0"/>
                          </a:rPr>
                          <m:t>160</m:t>
                        </m:r>
                      </m:sup>
                    </m:sSup>
                  </m:oMath>
                </a14:m>
                <a:r>
                  <a:rPr lang="zh-CN" altLang="zh-CN" sz="1800" dirty="0">
                    <a:effectLst/>
                    <a:latin typeface="Garamond" panose="02020404030301010803" pitchFamily="18" charset="0"/>
                  </a:rPr>
                  <a:t> </a:t>
                </a:r>
                <a:endParaRPr lang="en-US" altLang="zh-CN" sz="1800" dirty="0">
                  <a:effectLst/>
                  <a:latin typeface="Garamond" panose="02020404030301010803" pitchFamily="18" charset="0"/>
                </a:endParaRPr>
              </a:p>
              <a:p>
                <a:pPr lvl="2">
                  <a:lnSpc>
                    <a:spcPct val="130000"/>
                  </a:lnSpc>
                </a:pPr>
                <a:r>
                  <a:rPr lang="zh-TW" altLang="zh-CN" sz="2400" dirty="0">
                    <a:latin typeface="Garamond" panose="02020404030301010803" pitchFamily="18" charset="0"/>
                  </a:rPr>
                  <a:t>这个长度为</a:t>
                </a:r>
                <a14:m>
                  <m:oMath xmlns:m="http://schemas.openxmlformats.org/officeDocument/2006/math">
                    <m:sSup>
                      <m:sSupPr>
                        <m:ctrlPr>
                          <a:rPr lang="zh-CN" altLang="zh-CN" sz="2400" i="1">
                            <a:latin typeface="Cambria Math" panose="02040503050406030204" pitchFamily="18" charset="0"/>
                          </a:rPr>
                        </m:ctrlPr>
                      </m:sSupPr>
                      <m:e>
                        <m:r>
                          <a:rPr lang="zh-TW" altLang="zh-CN" sz="2400">
                            <a:latin typeface="Cambria Math" panose="02040503050406030204" pitchFamily="18" charset="0"/>
                          </a:rPr>
                          <m:t>2</m:t>
                        </m:r>
                      </m:e>
                      <m:sup>
                        <m:r>
                          <a:rPr lang="zh-TW" altLang="zh-CN" sz="2400">
                            <a:latin typeface="Cambria Math" panose="02040503050406030204" pitchFamily="18" charset="0"/>
                          </a:rPr>
                          <m:t>160</m:t>
                        </m:r>
                      </m:sup>
                    </m:sSup>
                  </m:oMath>
                </a14:m>
                <a:r>
                  <a:rPr lang="zh-TW" altLang="zh-CN" sz="2400" dirty="0">
                    <a:latin typeface="Garamond" panose="02020404030301010803" pitchFamily="18" charset="0"/>
                  </a:rPr>
                  <a:t>的列表构成的Merkle Tree将会非常巨大，总共具有</a:t>
                </a:r>
                <a14:m>
                  <m:oMath xmlns:m="http://schemas.openxmlformats.org/officeDocument/2006/math">
                    <m:sSup>
                      <m:sSupPr>
                        <m:ctrlPr>
                          <a:rPr lang="zh-CN" altLang="zh-CN" sz="2400" i="1">
                            <a:latin typeface="Cambria Math" panose="02040503050406030204" pitchFamily="18" charset="0"/>
                          </a:rPr>
                        </m:ctrlPr>
                      </m:sSupPr>
                      <m:e>
                        <m:r>
                          <a:rPr lang="zh-TW" altLang="zh-CN" sz="2400">
                            <a:latin typeface="Cambria Math" panose="02040503050406030204" pitchFamily="18" charset="0"/>
                          </a:rPr>
                          <m:t>2</m:t>
                        </m:r>
                      </m:e>
                      <m:sup>
                        <m:r>
                          <a:rPr lang="zh-TW" altLang="zh-CN" sz="2400">
                            <a:latin typeface="Cambria Math" panose="02040503050406030204" pitchFamily="18" charset="0"/>
                          </a:rPr>
                          <m:t>161</m:t>
                        </m:r>
                      </m:sup>
                    </m:sSup>
                  </m:oMath>
                </a14:m>
                <a:r>
                  <a:rPr lang="zh-TW" altLang="zh-CN" sz="2400" dirty="0">
                    <a:latin typeface="Garamond" panose="02020404030301010803" pitchFamily="18" charset="0"/>
                  </a:rPr>
                  <a:t>个节点</a:t>
                </a:r>
                <a:r>
                  <a:rPr lang="zh-CN" altLang="zh-CN" sz="1800" dirty="0">
                    <a:effectLst/>
                    <a:latin typeface="Garamond" panose="02020404030301010803" pitchFamily="18" charset="0"/>
                  </a:rPr>
                  <a:t> </a:t>
                </a:r>
                <a:endParaRPr lang="en-US" altLang="zh-TW" sz="1800" dirty="0">
                  <a:latin typeface="Garamond" panose="02020404030301010803" pitchFamily="18" charset="0"/>
                </a:endParaRPr>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blipFill>
                <a:blip r:embed="rId3"/>
                <a:stretch>
                  <a:fillRect l="-10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60714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Merkle Patricia </a:t>
            </a:r>
            <a:r>
              <a:rPr kumimoji="1" lang="en-US" altLang="zh-CN" dirty="0" err="1"/>
              <a:t>Trie</a:t>
            </a:r>
            <a:r>
              <a:rPr kumimoji="1" lang="en-US" altLang="zh-CN" dirty="0"/>
              <a:t>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92500" lnSpcReduction="10000"/>
          </a:bodyPr>
          <a:lstStyle/>
          <a:p>
            <a:pPr>
              <a:lnSpc>
                <a:spcPct val="130000"/>
              </a:lnSpc>
            </a:pPr>
            <a:r>
              <a:rPr lang="zh-CN" altLang="en-US" dirty="0">
                <a:latin typeface="Garamond" panose="02020404030301010803" pitchFamily="18" charset="0"/>
              </a:rPr>
              <a:t>以太坊 </a:t>
            </a:r>
            <a:r>
              <a:rPr lang="en-US" altLang="zh-CN" dirty="0">
                <a:latin typeface="Garamond" panose="02020404030301010803" pitchFamily="18" charset="0"/>
              </a:rPr>
              <a:t>Merkle Patricia </a:t>
            </a:r>
            <a:r>
              <a:rPr lang="en-US" altLang="zh-CN" dirty="0" err="1">
                <a:latin typeface="Garamond" panose="02020404030301010803" pitchFamily="18" charset="0"/>
              </a:rPr>
              <a:t>Trie</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使用16叉压缩前缀树（或者叫做基数树，Radix Tree）作为地址到账户的一个索引</a:t>
            </a:r>
            <a:r>
              <a:rPr lang="zh-CN" altLang="zh-CN" sz="1600" dirty="0">
                <a:latin typeface="Garamond" panose="02020404030301010803" pitchFamily="18" charset="0"/>
              </a:rPr>
              <a:t> </a:t>
            </a:r>
            <a:endParaRPr lang="en-US" altLang="zh-CN" sz="1600" dirty="0">
              <a:latin typeface="Garamond" panose="02020404030301010803" pitchFamily="18" charset="0"/>
            </a:endParaRPr>
          </a:p>
          <a:p>
            <a:pPr lvl="1">
              <a:lnSpc>
                <a:spcPct val="130000"/>
              </a:lnSpc>
            </a:pPr>
            <a:r>
              <a:rPr lang="zh-TW" altLang="zh-CN" dirty="0">
                <a:latin typeface="Garamond" panose="02020404030301010803" pitchFamily="18" charset="0"/>
              </a:rPr>
              <a:t>利用Merkle Tree的思想对每一层节点合并计算所有子节点的哈希</a:t>
            </a:r>
            <a:r>
              <a:rPr lang="zh-CN" altLang="en-US" dirty="0">
                <a:latin typeface="Garamond" panose="02020404030301010803" pitchFamily="18" charset="0"/>
              </a:rPr>
              <a:t>，</a:t>
            </a:r>
            <a:r>
              <a:rPr lang="zh-TW" altLang="zh-CN" dirty="0">
                <a:latin typeface="Garamond" panose="02020404030301010803" pitchFamily="18" charset="0"/>
              </a:rPr>
              <a:t>得到根哈希值</a:t>
            </a:r>
            <a:r>
              <a:rPr lang="zh-CN" altLang="zh-CN" sz="1600" dirty="0">
                <a:latin typeface="Garamond" panose="02020404030301010803" pitchFamily="18" charset="0"/>
              </a:rPr>
              <a:t> </a:t>
            </a:r>
            <a:endParaRPr lang="en-US" altLang="zh-CN" sz="1600" dirty="0">
              <a:latin typeface="Garamond" panose="02020404030301010803" pitchFamily="18" charset="0"/>
            </a:endParaRPr>
          </a:p>
          <a:p>
            <a:pPr>
              <a:lnSpc>
                <a:spcPct val="130000"/>
              </a:lnSpc>
            </a:pPr>
            <a:r>
              <a:rPr lang="zh-CN" altLang="en-US" dirty="0">
                <a:latin typeface="Garamond" panose="02020404030301010803" pitchFamily="18" charset="0"/>
              </a:rPr>
              <a:t>兼具</a:t>
            </a:r>
            <a:r>
              <a:rPr lang="en-US" altLang="zh-CN" dirty="0">
                <a:latin typeface="Garamond" panose="02020404030301010803" pitchFamily="18" charset="0"/>
              </a:rPr>
              <a:t>Merkle Tree</a:t>
            </a:r>
            <a:r>
              <a:rPr lang="zh-CN" altLang="en-US" dirty="0">
                <a:latin typeface="Garamond" panose="02020404030301010803" pitchFamily="18" charset="0"/>
              </a:rPr>
              <a:t>和压缩前缀树的优点</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实现有效的哈希证明</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实现修改叶子节点数据后快速重新计算哈希值</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对数据进行索引，能够更快地根据地址查询对应的账户</a:t>
            </a:r>
            <a:endParaRPr lang="en-US" altLang="zh-CN" sz="2000" dirty="0">
              <a:latin typeface="Garamond" panose="02020404030301010803" pitchFamily="18" charset="0"/>
            </a:endParaRPr>
          </a:p>
          <a:p>
            <a:pPr lvl="1">
              <a:lnSpc>
                <a:spcPct val="130000"/>
              </a:lnSpc>
            </a:pPr>
            <a:endParaRPr lang="en-US" altLang="zh-TW" sz="1600" dirty="0">
              <a:latin typeface="Garamond" panose="02020404030301010803" pitchFamily="18" charset="0"/>
            </a:endParaRPr>
          </a:p>
        </p:txBody>
      </p:sp>
    </p:spTree>
    <p:extLst>
      <p:ext uri="{BB962C8B-B14F-4D97-AF65-F5344CB8AC3E}">
        <p14:creationId xmlns:p14="http://schemas.microsoft.com/office/powerpoint/2010/main" val="931203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压缩前缀树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sz="2000" dirty="0">
                <a:latin typeface="Garamond" panose="02020404030301010803" pitchFamily="18" charset="0"/>
              </a:rPr>
              <a:t>定义</a:t>
            </a:r>
            <a:endParaRPr lang="en-US" altLang="zh-CN" sz="2000" dirty="0">
              <a:latin typeface="Garamond" panose="02020404030301010803" pitchFamily="18" charset="0"/>
            </a:endParaRPr>
          </a:p>
          <a:p>
            <a:pPr lvl="1">
              <a:lnSpc>
                <a:spcPct val="130000"/>
              </a:lnSpc>
            </a:pPr>
            <a:r>
              <a:rPr lang="zh-TW" altLang="zh-CN" sz="1800" dirty="0">
                <a:latin typeface="Garamond" panose="02020404030301010803" pitchFamily="18" charset="0"/>
              </a:rPr>
              <a:t>压缩前缀树是指由公共前缀组成的一</a:t>
            </a:r>
            <a:r>
              <a:rPr lang="zh-CN" altLang="zh-CN" sz="1800" dirty="0">
                <a:latin typeface="Garamond" panose="02020404030301010803" pitchFamily="18" charset="0"/>
              </a:rPr>
              <a:t>棵</a:t>
            </a:r>
            <a:r>
              <a:rPr lang="zh-TW" altLang="zh-CN" sz="1800" dirty="0">
                <a:latin typeface="Garamond" panose="02020404030301010803" pitchFamily="18" charset="0"/>
              </a:rPr>
              <a:t>字典树</a:t>
            </a:r>
            <a:endParaRPr lang="en-US" altLang="zh-TW" sz="1800" dirty="0">
              <a:latin typeface="Garamond" panose="02020404030301010803" pitchFamily="18" charset="0"/>
            </a:endParaRPr>
          </a:p>
          <a:p>
            <a:pPr>
              <a:lnSpc>
                <a:spcPct val="130000"/>
              </a:lnSpc>
            </a:pPr>
            <a:r>
              <a:rPr lang="zh-CN" altLang="en-US" sz="2000" dirty="0">
                <a:latin typeface="Garamond" panose="02020404030301010803" pitchFamily="18" charset="0"/>
              </a:rPr>
              <a:t>压缩前缀树的查找</a:t>
            </a:r>
            <a:endParaRPr lang="en-US" altLang="zh-TW" sz="2000" dirty="0">
              <a:latin typeface="Garamond" panose="02020404030301010803" pitchFamily="18" charset="0"/>
            </a:endParaRPr>
          </a:p>
          <a:p>
            <a:pPr lvl="1">
              <a:lnSpc>
                <a:spcPct val="130000"/>
              </a:lnSpc>
            </a:pPr>
            <a:r>
              <a:rPr lang="zh-TW" altLang="zh-CN" sz="1800" dirty="0">
                <a:latin typeface="Garamond" panose="02020404030301010803" pitchFamily="18" charset="0"/>
              </a:rPr>
              <a:t>如我们要在字典中搜索</a:t>
            </a:r>
            <a:r>
              <a:rPr lang="en-US" altLang="zh-CN" sz="1800" dirty="0">
                <a:latin typeface="Garamond" panose="02020404030301010803" pitchFamily="18" charset="0"/>
              </a:rPr>
              <a:t>Alice</a:t>
            </a:r>
            <a:r>
              <a:rPr lang="zh-TW" altLang="zh-CN" sz="1800" dirty="0">
                <a:latin typeface="Garamond" panose="02020404030301010803" pitchFamily="18" charset="0"/>
              </a:rPr>
              <a:t>这个单词，会先在字典中查找</a:t>
            </a:r>
            <a:r>
              <a:rPr lang="en-US" altLang="zh-CN" sz="1800" dirty="0">
                <a:latin typeface="Garamond" panose="02020404030301010803" pitchFamily="18" charset="0"/>
              </a:rPr>
              <a:t>A</a:t>
            </a:r>
            <a:r>
              <a:rPr lang="zh-TW" altLang="zh-CN" sz="1800" dirty="0">
                <a:latin typeface="Garamond" panose="02020404030301010803" pitchFamily="18" charset="0"/>
              </a:rPr>
              <a:t>开头的所有部分，然后进而查找</a:t>
            </a:r>
            <a:r>
              <a:rPr lang="en-US" altLang="zh-CN" sz="1800" dirty="0">
                <a:latin typeface="Garamond" panose="02020404030301010803" pitchFamily="18" charset="0"/>
              </a:rPr>
              <a:t>Al</a:t>
            </a:r>
            <a:r>
              <a:rPr lang="zh-TW" altLang="zh-CN" sz="1800" dirty="0">
                <a:latin typeface="Garamond" panose="02020404030301010803" pitchFamily="18" charset="0"/>
              </a:rPr>
              <a:t>开头的部分，最后找到单词</a:t>
            </a:r>
            <a:r>
              <a:rPr lang="en-US" altLang="zh-CN" sz="1800" dirty="0">
                <a:latin typeface="Garamond" panose="02020404030301010803" pitchFamily="18" charset="0"/>
              </a:rPr>
              <a:t>Alice</a:t>
            </a:r>
            <a:r>
              <a:rPr lang="zh-CN" altLang="en-US" sz="1800" dirty="0">
                <a:latin typeface="Garamond" panose="02020404030301010803" pitchFamily="18" charset="0"/>
              </a:rPr>
              <a:t>。压缩前缀树的原理也是类似地，将共同前缀的部分组成一个子树，然后随着层级向下逐层细分。</a:t>
            </a:r>
            <a:endParaRPr lang="en-US" altLang="zh-TW" sz="1800" dirty="0">
              <a:latin typeface="Garamond" panose="02020404030301010803" pitchFamily="18" charset="0"/>
            </a:endParaRPr>
          </a:p>
        </p:txBody>
      </p:sp>
      <p:pic>
        <p:nvPicPr>
          <p:cNvPr id="11" name="图片 10">
            <a:extLst>
              <a:ext uri="{FF2B5EF4-FFF2-40B4-BE49-F238E27FC236}">
                <a16:creationId xmlns:a16="http://schemas.microsoft.com/office/drawing/2014/main" id="{A3BE4FDB-17C3-884F-B14E-7751BB39157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008883" y="4017689"/>
            <a:ext cx="4818051" cy="2427467"/>
          </a:xfrm>
          <a:prstGeom prst="rect">
            <a:avLst/>
          </a:prstGeom>
          <a:noFill/>
        </p:spPr>
      </p:pic>
      <p:sp>
        <p:nvSpPr>
          <p:cNvPr id="12" name="文本框 11">
            <a:extLst>
              <a:ext uri="{FF2B5EF4-FFF2-40B4-BE49-F238E27FC236}">
                <a16:creationId xmlns:a16="http://schemas.microsoft.com/office/drawing/2014/main" id="{9811B671-D669-7F4D-936F-9C021B5A26DD}"/>
              </a:ext>
            </a:extLst>
          </p:cNvPr>
          <p:cNvSpPr txBox="1"/>
          <p:nvPr/>
        </p:nvSpPr>
        <p:spPr>
          <a:xfrm>
            <a:off x="4381406" y="6400412"/>
            <a:ext cx="2073003" cy="276999"/>
          </a:xfrm>
          <a:prstGeom prst="rect">
            <a:avLst/>
          </a:prstGeom>
          <a:noFill/>
        </p:spPr>
        <p:txBody>
          <a:bodyPr wrap="none" rtlCol="0">
            <a:spAutoFit/>
          </a:bodyPr>
          <a:lstStyle/>
          <a:p>
            <a:r>
              <a:rPr lang="zh-CN" altLang="zh-CN" sz="1200" dirty="0"/>
              <a:t>四个单词构成的压缩前缀树 </a:t>
            </a:r>
            <a:endParaRPr kumimoji="1" lang="zh-CN" altLang="en-US" sz="1200" dirty="0"/>
          </a:p>
        </p:txBody>
      </p:sp>
    </p:spTree>
    <p:extLst>
      <p:ext uri="{BB962C8B-B14F-4D97-AF65-F5344CB8AC3E}">
        <p14:creationId xmlns:p14="http://schemas.microsoft.com/office/powerpoint/2010/main" val="33567137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MPT</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latin typeface="Garamond" panose="02020404030301010803" pitchFamily="18" charset="0"/>
              </a:rPr>
              <a:t>背景</a:t>
            </a:r>
            <a:endParaRPr lang="en-US" altLang="zh-CN" dirty="0">
              <a:solidFill>
                <a:srgbClr val="C00000"/>
              </a:solidFill>
              <a:latin typeface="Garamond" panose="02020404030301010803" pitchFamily="18" charset="0"/>
            </a:endParaRPr>
          </a:p>
          <a:p>
            <a:pPr lvl="1">
              <a:lnSpc>
                <a:spcPct val="130000"/>
              </a:lnSpc>
            </a:pPr>
            <a:r>
              <a:rPr lang="zh-TW" altLang="zh-CN" dirty="0">
                <a:latin typeface="Garamond" panose="02020404030301010803" pitchFamily="18" charset="0"/>
              </a:rPr>
              <a:t>如果把单词和箭头都换成哈希值，然后计算每个中间节点的哈希值，便得到了</a:t>
            </a:r>
            <a:r>
              <a:rPr lang="en-US" altLang="zh-CN" dirty="0">
                <a:latin typeface="Garamond" panose="02020404030301010803" pitchFamily="18" charset="0"/>
              </a:rPr>
              <a:t>MPT</a:t>
            </a:r>
            <a:endParaRPr lang="en-US" altLang="zh-CN" dirty="0">
              <a:solidFill>
                <a:srgbClr val="C00000"/>
              </a:solidFill>
              <a:latin typeface="Garamond" panose="02020404030301010803" pitchFamily="18" charset="0"/>
            </a:endParaRPr>
          </a:p>
          <a:p>
            <a:pPr>
              <a:lnSpc>
                <a:spcPct val="130000"/>
              </a:lnSpc>
            </a:pPr>
            <a:r>
              <a:rPr lang="en-US" altLang="zh-CN" dirty="0">
                <a:latin typeface="Garamond" panose="02020404030301010803" pitchFamily="18" charset="0"/>
              </a:rPr>
              <a:t>MPT</a:t>
            </a:r>
            <a:r>
              <a:rPr lang="zh-CN" altLang="en-US" dirty="0">
                <a:latin typeface="Garamond" panose="02020404030301010803" pitchFamily="18" charset="0"/>
              </a:rPr>
              <a:t>的构造</a:t>
            </a:r>
            <a:endParaRPr lang="en-US" altLang="zh-CN" dirty="0">
              <a:solidFill>
                <a:srgbClr val="C00000"/>
              </a:solidFill>
              <a:latin typeface="Garamond" panose="02020404030301010803" pitchFamily="18" charset="0"/>
            </a:endParaRPr>
          </a:p>
          <a:p>
            <a:pPr lvl="1">
              <a:lnSpc>
                <a:spcPct val="130000"/>
              </a:lnSpc>
            </a:pPr>
            <a:r>
              <a:rPr lang="zh-TW" altLang="zh-CN" dirty="0">
                <a:latin typeface="Garamond" panose="02020404030301010803" pitchFamily="18" charset="0"/>
              </a:rPr>
              <a:t>按照所有数据的地址（或者键值）来构建一</a:t>
            </a:r>
            <a:r>
              <a:rPr lang="zh-CN" altLang="zh-CN" dirty="0">
                <a:latin typeface="Garamond" panose="02020404030301010803" pitchFamily="18" charset="0"/>
              </a:rPr>
              <a:t>棵</a:t>
            </a:r>
            <a:r>
              <a:rPr lang="zh-TW" altLang="zh-CN" dirty="0">
                <a:latin typeface="Garamond" panose="02020404030301010803" pitchFamily="18" charset="0"/>
              </a:rPr>
              <a:t>压缩前缀树</a:t>
            </a:r>
            <a:r>
              <a:rPr lang="zh-CN" altLang="zh-CN" dirty="0">
                <a:latin typeface="Garamond" panose="02020404030301010803" pitchFamily="18" charset="0"/>
              </a:rPr>
              <a:t> </a:t>
            </a:r>
            <a:endParaRPr lang="en-US" altLang="zh-CN" dirty="0">
              <a:latin typeface="Garamond" panose="02020404030301010803" pitchFamily="18" charset="0"/>
            </a:endParaRPr>
          </a:p>
          <a:p>
            <a:pPr lvl="2">
              <a:lnSpc>
                <a:spcPct val="130000"/>
              </a:lnSpc>
            </a:pPr>
            <a:r>
              <a:rPr lang="zh-TW" altLang="zh-CN" dirty="0">
                <a:latin typeface="Garamond" panose="02020404030301010803" pitchFamily="18" charset="0"/>
              </a:rPr>
              <a:t>由于地址是以</a:t>
            </a:r>
            <a:r>
              <a:rPr lang="en-US" altLang="zh-CN" dirty="0">
                <a:latin typeface="Garamond" panose="02020404030301010803" pitchFamily="18" charset="0"/>
              </a:rPr>
              <a:t>16</a:t>
            </a:r>
            <a:r>
              <a:rPr lang="zh-TW" altLang="zh-CN" dirty="0">
                <a:latin typeface="Garamond" panose="02020404030301010803" pitchFamily="18" charset="0"/>
              </a:rPr>
              <a:t>进制为编码的，我们使用</a:t>
            </a:r>
            <a:r>
              <a:rPr lang="en-US" altLang="zh-CN" dirty="0">
                <a:latin typeface="Garamond" panose="02020404030301010803" pitchFamily="18" charset="0"/>
              </a:rPr>
              <a:t>0123456789abcdef</a:t>
            </a:r>
            <a:r>
              <a:rPr lang="zh-TW" altLang="zh-CN" dirty="0">
                <a:latin typeface="Garamond" panose="02020404030301010803" pitchFamily="18" charset="0"/>
              </a:rPr>
              <a:t>作为每一个编码的单元</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按照构建得到的压缩前缀树，从叶子节点开始，逐步计算每一层的哈希值，并将其汇合到父节点中，与</a:t>
            </a:r>
            <a:r>
              <a:rPr lang="en-US" altLang="zh-CN" dirty="0">
                <a:latin typeface="Garamond" panose="02020404030301010803" pitchFamily="18" charset="0"/>
              </a:rPr>
              <a:t>Merkle Tree</a:t>
            </a:r>
            <a:r>
              <a:rPr lang="zh-TW" altLang="zh-CN" dirty="0">
                <a:latin typeface="Garamond" panose="02020404030301010803" pitchFamily="18" charset="0"/>
              </a:rPr>
              <a:t>的计算过程类似</a:t>
            </a:r>
            <a:endParaRPr lang="en-US" altLang="zh-TW" dirty="0">
              <a:latin typeface="Garamond" panose="02020404030301010803" pitchFamily="18" charset="0"/>
            </a:endParaRPr>
          </a:p>
        </p:txBody>
      </p:sp>
    </p:spTree>
    <p:extLst>
      <p:ext uri="{BB962C8B-B14F-4D97-AF65-F5344CB8AC3E}">
        <p14:creationId xmlns:p14="http://schemas.microsoft.com/office/powerpoint/2010/main" val="1022180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MPT</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xfrm>
                <a:off x="838200" y="1510758"/>
                <a:ext cx="5802630" cy="4586694"/>
              </a:xfrm>
            </p:spPr>
            <p:txBody>
              <a:bodyPr>
                <a:normAutofit fontScale="85000" lnSpcReduction="10000"/>
              </a:bodyPr>
              <a:lstStyle/>
              <a:p>
                <a:pPr>
                  <a:lnSpc>
                    <a:spcPct val="130000"/>
                  </a:lnSpc>
                </a:pPr>
                <a:r>
                  <a:rPr lang="zh-CN" altLang="en-US" dirty="0">
                    <a:latin typeface="Garamond" panose="02020404030301010803" pitchFamily="18" charset="0"/>
                  </a:rPr>
                  <a:t>实例：根哈希值的计算</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计算叶子节点的哈希值</a:t>
                </a:r>
                <a:endParaRPr lang="en-US" altLang="zh-TW" dirty="0">
                  <a:latin typeface="Garamond" panose="02020404030301010803" pitchFamily="18" charset="0"/>
                </a:endParaRPr>
              </a:p>
              <a:p>
                <a:pPr lvl="2">
                  <a:lnSpc>
                    <a:spcPct val="130000"/>
                  </a:lnSpc>
                </a:pPr>
                <a:r>
                  <a:rPr lang="zh-TW" altLang="zh-CN" dirty="0">
                    <a:latin typeface="Garamond" panose="02020404030301010803" pitchFamily="18" charset="0"/>
                  </a:rPr>
                  <a:t>空前缀加上数据</a:t>
                </a:r>
                <a:r>
                  <a:rPr lang="en-US" altLang="zh-CN" dirty="0">
                    <a:latin typeface="Garamond" panose="02020404030301010803" pitchFamily="18" charset="0"/>
                  </a:rPr>
                  <a:t>1</a:t>
                </a:r>
                <a:r>
                  <a:rPr lang="zh-TW" altLang="zh-CN" dirty="0">
                    <a:latin typeface="Garamond" panose="02020404030301010803" pitchFamily="18" charset="0"/>
                  </a:rPr>
                  <a:t>的哈希值，得到哈希值</a:t>
                </a:r>
                <a:r>
                  <a:rPr lang="en-US" altLang="zh-CN" dirty="0">
                    <a:latin typeface="Garamond" panose="02020404030301010803" pitchFamily="18" charset="0"/>
                  </a:rPr>
                  <a:t>H1 = H(“” +</a:t>
                </a:r>
                <a:r>
                  <a:rPr lang="zh-TW" altLang="zh-CN" dirty="0">
                    <a:latin typeface="Garamond" panose="02020404030301010803" pitchFamily="18" charset="0"/>
                  </a:rPr>
                  <a:t>账户</a:t>
                </a:r>
                <a:r>
                  <a:rPr lang="en-US" altLang="zh-CN" dirty="0">
                    <a:latin typeface="Garamond" panose="02020404030301010803" pitchFamily="18" charset="0"/>
                  </a:rPr>
                  <a:t>1</a:t>
                </a:r>
                <a:r>
                  <a:rPr lang="zh-TW" altLang="zh-CN" dirty="0">
                    <a:latin typeface="Garamond" panose="02020404030301010803" pitchFamily="18" charset="0"/>
                  </a:rPr>
                  <a:t>哈希</a:t>
                </a:r>
                <a:r>
                  <a:rPr lang="en-US" altLang="zh-CN" dirty="0">
                    <a:latin typeface="Garamond" panose="02020404030301010803" pitchFamily="18" charset="0"/>
                  </a:rPr>
                  <a:t> )</a:t>
                </a:r>
                <a:r>
                  <a:rPr lang="zh-TW" altLang="zh-CN" dirty="0">
                    <a:latin typeface="Garamond" panose="02020404030301010803" pitchFamily="18" charset="0"/>
                  </a:rPr>
                  <a:t>。</a:t>
                </a:r>
                <a:r>
                  <a:rPr lang="en-US" altLang="zh-CN" dirty="0">
                    <a:latin typeface="Garamond" panose="02020404030301010803" pitchFamily="18" charset="0"/>
                  </a:rPr>
                  <a:t>H2</a:t>
                </a:r>
                <a:r>
                  <a:rPr lang="zh-TW" altLang="zh-CN" dirty="0">
                    <a:latin typeface="Garamond" panose="02020404030301010803" pitchFamily="18" charset="0"/>
                  </a:rPr>
                  <a:t>、</a:t>
                </a:r>
                <a:r>
                  <a:rPr lang="en-US" altLang="zh-CN" dirty="0">
                    <a:latin typeface="Garamond" panose="02020404030301010803" pitchFamily="18" charset="0"/>
                  </a:rPr>
                  <a:t>H3</a:t>
                </a:r>
                <a:r>
                  <a:rPr lang="zh-TW" altLang="zh-CN" dirty="0">
                    <a:latin typeface="Garamond" panose="02020404030301010803" pitchFamily="18" charset="0"/>
                  </a:rPr>
                  <a:t>、</a:t>
                </a:r>
                <a:r>
                  <a:rPr lang="en-US" altLang="zh-CN" dirty="0">
                    <a:latin typeface="Garamond" panose="02020404030301010803" pitchFamily="18" charset="0"/>
                  </a:rPr>
                  <a:t>H4</a:t>
                </a:r>
                <a:r>
                  <a:rPr lang="zh-TW" altLang="zh-CN" dirty="0">
                    <a:latin typeface="Garamond" panose="02020404030301010803" pitchFamily="18" charset="0"/>
                  </a:rPr>
                  <a:t>的计算类似</a:t>
                </a:r>
                <a:r>
                  <a:rPr lang="zh-CN" altLang="en-US" dirty="0">
                    <a:latin typeface="Garamond" panose="02020404030301010803" pitchFamily="18" charset="0"/>
                  </a:rPr>
                  <a:t>。</a:t>
                </a:r>
                <a:endParaRPr lang="zh-CN" altLang="zh-CN" dirty="0">
                  <a:latin typeface="Garamond" panose="02020404030301010803" pitchFamily="18" charset="0"/>
                </a:endParaRPr>
              </a:p>
              <a:p>
                <a:pPr lvl="1">
                  <a:lnSpc>
                    <a:spcPct val="130000"/>
                  </a:lnSpc>
                </a:pPr>
                <a:r>
                  <a:rPr lang="zh-TW" altLang="zh-CN" dirty="0">
                    <a:latin typeface="Garamond" panose="02020404030301010803" pitchFamily="18" charset="0"/>
                  </a:rPr>
                  <a:t>计算父节点哈希值</a:t>
                </a:r>
                <a:endParaRPr lang="en-US" altLang="zh-TW" dirty="0">
                  <a:latin typeface="Garamond" panose="02020404030301010803" pitchFamily="18" charset="0"/>
                </a:endParaRPr>
              </a:p>
              <a:p>
                <a:pPr lvl="2">
                  <a:lnSpc>
                    <a:spcPct val="130000"/>
                  </a:lnSpc>
                </a:pPr>
                <a:r>
                  <a:rPr lang="zh-TW" altLang="zh-CN" dirty="0">
                    <a:latin typeface="Garamond" panose="02020404030301010803" pitchFamily="18" charset="0"/>
                  </a:rPr>
                  <a:t>将前缀和子分支的哈希值一同进行哈希，得到哈希值</a:t>
                </a:r>
                <a:r>
                  <a:rPr lang="en-US" altLang="zh-CN" dirty="0">
                    <a:latin typeface="Garamond" panose="02020404030301010803" pitchFamily="18" charset="0"/>
                  </a:rPr>
                  <a:t>H5 = H(</a:t>
                </a:r>
                <a:r>
                  <a:rPr lang="en-US" altLang="zh-CN" dirty="0" err="1">
                    <a:latin typeface="Garamond" panose="02020404030301010803" pitchFamily="18" charset="0"/>
                  </a:rPr>
                  <a:t>bc</a:t>
                </a:r>
                <a:r>
                  <a:rPr lang="en-US" altLang="zh-CN" dirty="0">
                    <a:latin typeface="Garamond" panose="02020404030301010803" pitchFamily="18" charset="0"/>
                  </a:rPr>
                  <a:t> + H1 + H2 + “” + … + “”)</a:t>
                </a:r>
                <a:r>
                  <a:rPr lang="zh-CN" altLang="en-US" dirty="0">
                    <a:latin typeface="Garamond" panose="02020404030301010803" pitchFamily="18" charset="0"/>
                  </a:rPr>
                  <a:t>，</a:t>
                </a:r>
                <a:r>
                  <a:rPr lang="zh-TW" altLang="zh-CN" dirty="0">
                    <a:latin typeface="Garamond" panose="02020404030301010803" pitchFamily="18" charset="0"/>
                  </a:rPr>
                  <a:t>注意其他子分支不存在，值都是空</a:t>
                </a:r>
                <a:r>
                  <a:rPr lang="zh-CN" altLang="en-US" dirty="0">
                    <a:latin typeface="Garamond" panose="02020404030301010803" pitchFamily="18" charset="0"/>
                  </a:rPr>
                  <a:t>。</a:t>
                </a:r>
                <a:r>
                  <a:rPr lang="zh-CN" altLang="zh-CN" dirty="0">
                    <a:latin typeface="Garamond" panose="02020404030301010803" pitchFamily="18" charset="0"/>
                  </a:rPr>
                  <a:t> </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逐层计算得到根哈希值</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𝑟𝑜𝑜𝑡</m:t>
                        </m:r>
                      </m:sub>
                    </m:sSub>
                  </m:oMath>
                </a14:m>
                <a:endParaRPr lang="en-US" altLang="zh-CN" dirty="0">
                  <a:latin typeface="Garamond" panose="02020404030301010803" pitchFamily="18" charset="0"/>
                </a:endParaRPr>
              </a:p>
              <a:p>
                <a:pPr lvl="2">
                  <a:lnSpc>
                    <a:spcPct val="130000"/>
                  </a:lnSpc>
                </a:pPr>
                <a:r>
                  <a:rPr lang="zh-TW" altLang="zh-CN" dirty="0">
                    <a:latin typeface="Garamond" panose="02020404030301010803" pitchFamily="18" charset="0"/>
                  </a:rPr>
                  <a:t>根哈希值</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𝑟𝑜𝑜𝑡</m:t>
                        </m:r>
                      </m:sub>
                    </m:sSub>
                  </m:oMath>
                </a14:m>
                <a:r>
                  <a:rPr lang="en-US" altLang="zh-CN" dirty="0">
                    <a:latin typeface="Garamond" panose="02020404030301010803" pitchFamily="18" charset="0"/>
                  </a:rPr>
                  <a:t>=H(“” + “” + … + “” + H5 + “” + … + “” + H6 + “”)</a:t>
                </a:r>
                <a:r>
                  <a:rPr lang="zh-CN" altLang="zh-CN" dirty="0">
                    <a:effectLst/>
                    <a:latin typeface="Garamond" panose="02020404030301010803" pitchFamily="18" charset="0"/>
                  </a:rPr>
                  <a:t> </a:t>
                </a:r>
                <a:r>
                  <a:rPr lang="zh-CN" altLang="en-US" dirty="0">
                    <a:effectLst/>
                    <a:latin typeface="Garamond" panose="02020404030301010803" pitchFamily="18" charset="0"/>
                  </a:rPr>
                  <a:t>，</a:t>
                </a:r>
                <a:r>
                  <a:rPr lang="zh-TW" altLang="zh-CN" dirty="0">
                    <a:latin typeface="Garamond" panose="02020404030301010803" pitchFamily="18" charset="0"/>
                  </a:rPr>
                  <a:t>注意到这个节点的公共前缀为空</a:t>
                </a:r>
                <a:r>
                  <a:rPr lang="zh-CN" altLang="zh-CN" dirty="0">
                    <a:latin typeface="Garamond" panose="02020404030301010803" pitchFamily="18" charset="0"/>
                  </a:rPr>
                  <a:t> </a:t>
                </a:r>
                <a:r>
                  <a:rPr lang="zh-CN" altLang="en-US" dirty="0">
                    <a:latin typeface="Garamond" panose="02020404030301010803" pitchFamily="18" charset="0"/>
                  </a:rPr>
                  <a:t>。</a:t>
                </a:r>
                <a:endParaRPr lang="en-US" altLang="zh-CN" dirty="0">
                  <a:latin typeface="Garamond" panose="02020404030301010803" pitchFamily="18" charset="0"/>
                </a:endParaRPr>
              </a:p>
              <a:p>
                <a:pPr>
                  <a:lnSpc>
                    <a:spcPct val="130000"/>
                  </a:lnSpc>
                </a:pPr>
                <a:endParaRPr lang="en-US" altLang="zh-CN" dirty="0">
                  <a:latin typeface="Garamond" panose="02020404030301010803" pitchFamily="18" charset="0"/>
                </a:endParaRPr>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xfrm>
                <a:off x="838200" y="1510758"/>
                <a:ext cx="5802630" cy="4586694"/>
              </a:xfrm>
              <a:blipFill>
                <a:blip r:embed="rId3"/>
                <a:stretch>
                  <a:fillRect l="-1472" t="-266" b="-931"/>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330FE994-1755-E841-9D69-932FB77CB26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6789420" y="1830964"/>
            <a:ext cx="4798695" cy="3946282"/>
          </a:xfrm>
          <a:prstGeom prst="rect">
            <a:avLst/>
          </a:prstGeom>
          <a:noFill/>
        </p:spPr>
      </p:pic>
      <p:sp>
        <p:nvSpPr>
          <p:cNvPr id="5" name="文本框 4">
            <a:extLst>
              <a:ext uri="{FF2B5EF4-FFF2-40B4-BE49-F238E27FC236}">
                <a16:creationId xmlns:a16="http://schemas.microsoft.com/office/drawing/2014/main" id="{13F6863E-4747-7B4A-95CB-B102DD7F64F2}"/>
              </a:ext>
            </a:extLst>
          </p:cNvPr>
          <p:cNvSpPr txBox="1"/>
          <p:nvPr/>
        </p:nvSpPr>
        <p:spPr>
          <a:xfrm>
            <a:off x="8869680" y="5928298"/>
            <a:ext cx="944489" cy="276999"/>
          </a:xfrm>
          <a:prstGeom prst="rect">
            <a:avLst/>
          </a:prstGeom>
          <a:noFill/>
        </p:spPr>
        <p:txBody>
          <a:bodyPr wrap="none" rtlCol="0">
            <a:spAutoFit/>
          </a:bodyPr>
          <a:lstStyle/>
          <a:p>
            <a:r>
              <a:rPr lang="en-US" altLang="zh-CN" sz="1200" dirty="0"/>
              <a:t>MPT</a:t>
            </a:r>
            <a:r>
              <a:rPr lang="zh-CN" altLang="zh-CN" sz="1200" dirty="0"/>
              <a:t>的构建</a:t>
            </a:r>
            <a:endParaRPr kumimoji="1" lang="zh-CN" altLang="en-US" sz="1200" dirty="0"/>
          </a:p>
        </p:txBody>
      </p:sp>
    </p:spTree>
    <p:extLst>
      <p:ext uri="{BB962C8B-B14F-4D97-AF65-F5344CB8AC3E}">
        <p14:creationId xmlns:p14="http://schemas.microsoft.com/office/powerpoint/2010/main" val="18134622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MPT</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6" name="Picture 2" descr="Merkle and Verkle trees | Flawsome Dev">
            <a:extLst>
              <a:ext uri="{FF2B5EF4-FFF2-40B4-BE49-F238E27FC236}">
                <a16:creationId xmlns:a16="http://schemas.microsoft.com/office/drawing/2014/main" id="{3F305A34-D778-495D-A130-67247C8B7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8963" y="104229"/>
            <a:ext cx="9560026" cy="6753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562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状态树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a:xfrm>
            <a:off x="838199" y="1510758"/>
            <a:ext cx="10523221" cy="4586694"/>
          </a:xfrm>
        </p:spPr>
        <p:txBody>
          <a:bodyPr>
            <a:normAutofit/>
          </a:bodyPr>
          <a:lstStyle/>
          <a:p>
            <a:pPr>
              <a:lnSpc>
                <a:spcPct val="130000"/>
              </a:lnSpc>
            </a:pPr>
            <a:r>
              <a:rPr lang="zh-CN" altLang="en-US" dirty="0"/>
              <a:t>状态树</a:t>
            </a:r>
            <a:endParaRPr lang="en-US" altLang="zh-TW" dirty="0"/>
          </a:p>
          <a:p>
            <a:pPr lvl="1">
              <a:lnSpc>
                <a:spcPct val="130000"/>
              </a:lnSpc>
            </a:pPr>
            <a:r>
              <a:rPr lang="zh-TW" altLang="zh-CN" dirty="0"/>
              <a:t>以太坊用来记录各个账号的状态</a:t>
            </a:r>
            <a:r>
              <a:rPr lang="zh-CN" altLang="en-US" dirty="0"/>
              <a:t>的树，</a:t>
            </a:r>
            <a:r>
              <a:rPr lang="zh-TW" altLang="zh-CN" dirty="0"/>
              <a:t>树的键是账户地址，值是账户的详细信息。</a:t>
            </a:r>
            <a:r>
              <a:rPr lang="zh-CN" altLang="zh-CN" dirty="0"/>
              <a:t> </a:t>
            </a:r>
            <a:endParaRPr lang="en-US" altLang="zh-CN" dirty="0"/>
          </a:p>
          <a:p>
            <a:pPr lvl="1">
              <a:lnSpc>
                <a:spcPct val="130000"/>
              </a:lnSpc>
            </a:pPr>
            <a:endParaRPr lang="en-US" altLang="zh-CN" dirty="0"/>
          </a:p>
        </p:txBody>
      </p:sp>
      <p:pic>
        <p:nvPicPr>
          <p:cNvPr id="1026" name="Picture 2">
            <a:extLst>
              <a:ext uri="{FF2B5EF4-FFF2-40B4-BE49-F238E27FC236}">
                <a16:creationId xmlns:a16="http://schemas.microsoft.com/office/drawing/2014/main" id="{48F93BB3-C075-4E39-A354-D155C03ED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6368" y="2645238"/>
            <a:ext cx="7755497" cy="3893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3705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状态树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a:xfrm>
            <a:off x="838200" y="1510758"/>
            <a:ext cx="5802630" cy="4586694"/>
          </a:xfrm>
        </p:spPr>
        <p:txBody>
          <a:bodyPr>
            <a:normAutofit/>
          </a:bodyPr>
          <a:lstStyle/>
          <a:p>
            <a:pPr>
              <a:lnSpc>
                <a:spcPct val="130000"/>
              </a:lnSpc>
            </a:pPr>
            <a:r>
              <a:rPr lang="zh-CN" altLang="en-US" dirty="0">
                <a:latin typeface="Garamond" panose="02020404030301010803" pitchFamily="18" charset="0"/>
              </a:rPr>
              <a:t>实例：</a:t>
            </a:r>
            <a:r>
              <a:rPr lang="zh-CN" altLang="zh-CN" dirty="0">
                <a:latin typeface="Garamond" panose="02020404030301010803" pitchFamily="18" charset="0"/>
              </a:rPr>
              <a:t>以太坊中状态树的变换</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当前的区块的世界观中有状态为</a:t>
            </a:r>
            <a:r>
              <a:rPr lang="en-US" altLang="zh-CN" dirty="0">
                <a:latin typeface="Garamond" panose="02020404030301010803" pitchFamily="18" charset="0"/>
              </a:rPr>
              <a:t>A</a:t>
            </a:r>
            <a:r>
              <a:rPr lang="zh-TW" altLang="zh-CN" dirty="0">
                <a:latin typeface="Garamond" panose="02020404030301010803" pitchFamily="18" charset="0"/>
              </a:rPr>
              <a:t>、</a:t>
            </a:r>
            <a:r>
              <a:rPr lang="en-US" altLang="zh-CN" dirty="0">
                <a:latin typeface="Garamond" panose="02020404030301010803" pitchFamily="18" charset="0"/>
              </a:rPr>
              <a:t>B</a:t>
            </a:r>
            <a:r>
              <a:rPr lang="zh-TW" altLang="zh-CN" dirty="0">
                <a:latin typeface="Garamond" panose="02020404030301010803" pitchFamily="18" charset="0"/>
              </a:rPr>
              <a:t>和</a:t>
            </a:r>
            <a:r>
              <a:rPr lang="en-US" altLang="zh-CN" dirty="0">
                <a:latin typeface="Garamond" panose="02020404030301010803" pitchFamily="18" charset="0"/>
              </a:rPr>
              <a:t>C</a:t>
            </a:r>
            <a:r>
              <a:rPr lang="zh-TW" altLang="zh-CN" dirty="0">
                <a:latin typeface="Garamond" panose="02020404030301010803" pitchFamily="18" charset="0"/>
              </a:rPr>
              <a:t>三个账户</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经过交易</a:t>
            </a:r>
            <a:r>
              <a:rPr lang="en-US" altLang="zh-CN" dirty="0">
                <a:latin typeface="Garamond" panose="02020404030301010803" pitchFamily="18" charset="0"/>
              </a:rPr>
              <a:t>T</a:t>
            </a:r>
            <a:r>
              <a:rPr lang="zh-TW" altLang="zh-CN" dirty="0">
                <a:latin typeface="Garamond" panose="02020404030301010803" pitchFamily="18" charset="0"/>
              </a:rPr>
              <a:t>之后，账户</a:t>
            </a:r>
            <a:r>
              <a:rPr lang="en-US" altLang="zh-CN" dirty="0">
                <a:latin typeface="Garamond" panose="02020404030301010803" pitchFamily="18" charset="0"/>
              </a:rPr>
              <a:t>C</a:t>
            </a:r>
            <a:r>
              <a:rPr lang="zh-TW" altLang="zh-CN" dirty="0">
                <a:latin typeface="Garamond" panose="02020404030301010803" pitchFamily="18" charset="0"/>
              </a:rPr>
              <a:t>的状态变成了</a:t>
            </a:r>
            <a:r>
              <a:rPr lang="en-US" altLang="zh-CN" dirty="0">
                <a:latin typeface="Garamond" panose="02020404030301010803" pitchFamily="18" charset="0"/>
              </a:rPr>
              <a:t>C’</a:t>
            </a:r>
            <a:r>
              <a:rPr lang="zh-TW" altLang="zh-CN" dirty="0">
                <a:latin typeface="Garamond" panose="02020404030301010803" pitchFamily="18" charset="0"/>
              </a:rPr>
              <a:t>，</a:t>
            </a:r>
            <a:r>
              <a:rPr lang="zh-CN" altLang="en-US" dirty="0">
                <a:latin typeface="Garamond" panose="02020404030301010803" pitchFamily="18" charset="0"/>
              </a:rPr>
              <a:t>计算</a:t>
            </a:r>
            <a:r>
              <a:rPr lang="zh-TW" altLang="zh-CN" dirty="0">
                <a:latin typeface="Garamond" panose="02020404030301010803" pitchFamily="18" charset="0"/>
              </a:rPr>
              <a:t>下一个状态树的根</a:t>
            </a:r>
            <a:r>
              <a:rPr lang="en-US" altLang="zh-CN" dirty="0">
                <a:latin typeface="Garamond" panose="02020404030301010803" pitchFamily="18" charset="0"/>
              </a:rPr>
              <a:t>S’</a:t>
            </a:r>
          </a:p>
          <a:p>
            <a:pPr lvl="1">
              <a:lnSpc>
                <a:spcPct val="130000"/>
              </a:lnSpc>
            </a:pPr>
            <a:r>
              <a:rPr lang="zh-CN" altLang="en-US" dirty="0">
                <a:latin typeface="Garamond" panose="02020404030301010803" pitchFamily="18" charset="0"/>
              </a:rPr>
              <a:t>以太坊</a:t>
            </a:r>
            <a:r>
              <a:rPr lang="zh-TW" altLang="zh-CN" dirty="0">
                <a:latin typeface="Garamond" panose="02020404030301010803" pitchFamily="18" charset="0"/>
              </a:rPr>
              <a:t>将交易</a:t>
            </a:r>
            <a:r>
              <a:rPr lang="en-US" altLang="zh-CN" dirty="0">
                <a:latin typeface="Garamond" panose="02020404030301010803" pitchFamily="18" charset="0"/>
              </a:rPr>
              <a:t>T</a:t>
            </a:r>
            <a:r>
              <a:rPr lang="zh-TW" altLang="zh-CN" dirty="0">
                <a:latin typeface="Garamond" panose="02020404030301010803" pitchFamily="18" charset="0"/>
              </a:rPr>
              <a:t>和状态树根</a:t>
            </a:r>
            <a:r>
              <a:rPr lang="en-US" altLang="zh-CN" dirty="0">
                <a:latin typeface="Garamond" panose="02020404030301010803" pitchFamily="18" charset="0"/>
              </a:rPr>
              <a:t>S’</a:t>
            </a:r>
            <a:r>
              <a:rPr lang="zh-TW" altLang="zh-CN" dirty="0">
                <a:latin typeface="Garamond" panose="02020404030301010803" pitchFamily="18" charset="0"/>
              </a:rPr>
              <a:t>记录在下一个区块之中</a:t>
            </a:r>
            <a:endParaRPr lang="en-US" altLang="zh-CN" dirty="0">
              <a:latin typeface="Garamond" panose="02020404030301010803" pitchFamily="18" charset="0"/>
            </a:endParaRPr>
          </a:p>
        </p:txBody>
      </p:sp>
      <p:pic>
        <p:nvPicPr>
          <p:cNvPr id="10" name="图片 9">
            <a:extLst>
              <a:ext uri="{FF2B5EF4-FFF2-40B4-BE49-F238E27FC236}">
                <a16:creationId xmlns:a16="http://schemas.microsoft.com/office/drawing/2014/main" id="{B5CA0FD2-FC40-A64A-A494-8638F3C820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141960" y="2030234"/>
            <a:ext cx="4361291" cy="3547741"/>
          </a:xfrm>
          <a:prstGeom prst="rect">
            <a:avLst/>
          </a:prstGeom>
          <a:noFill/>
        </p:spPr>
      </p:pic>
      <p:sp>
        <p:nvSpPr>
          <p:cNvPr id="11" name="文本框 10">
            <a:extLst>
              <a:ext uri="{FF2B5EF4-FFF2-40B4-BE49-F238E27FC236}">
                <a16:creationId xmlns:a16="http://schemas.microsoft.com/office/drawing/2014/main" id="{04F6DBAD-FCDA-3647-8E99-F227AADB3AAE}"/>
              </a:ext>
            </a:extLst>
          </p:cNvPr>
          <p:cNvSpPr txBox="1"/>
          <p:nvPr/>
        </p:nvSpPr>
        <p:spPr>
          <a:xfrm>
            <a:off x="8563675" y="5739216"/>
            <a:ext cx="1723549" cy="276999"/>
          </a:xfrm>
          <a:prstGeom prst="rect">
            <a:avLst/>
          </a:prstGeom>
          <a:noFill/>
        </p:spPr>
        <p:txBody>
          <a:bodyPr wrap="none" rtlCol="0">
            <a:spAutoFit/>
          </a:bodyPr>
          <a:lstStyle/>
          <a:p>
            <a:r>
              <a:rPr lang="zh-CN" altLang="zh-CN" sz="1200" dirty="0"/>
              <a:t>以太坊中状态树的变换</a:t>
            </a:r>
            <a:endParaRPr kumimoji="1" lang="zh-CN" altLang="en-US" sz="1200" dirty="0"/>
          </a:p>
        </p:txBody>
      </p:sp>
    </p:spTree>
    <p:extLst>
      <p:ext uri="{BB962C8B-B14F-4D97-AF65-F5344CB8AC3E}">
        <p14:creationId xmlns:p14="http://schemas.microsoft.com/office/powerpoint/2010/main" val="2636802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合约存储树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latin typeface="Garamond" panose="02020404030301010803" pitchFamily="18" charset="0"/>
              </a:rPr>
              <a:t>合约存储树</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合约账户下的存储也是一个映射表，它记录了从存储地址到存储值的一个映射关系</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在合约账户的数据结构中存储了这个映射表的哈希值</a:t>
            </a:r>
            <a:r>
              <a:rPr lang="zh-CN" altLang="en-US" dirty="0">
                <a:latin typeface="Garamond" panose="02020404030301010803" pitchFamily="18" charset="0"/>
              </a:rPr>
              <a:t>，</a:t>
            </a:r>
            <a:r>
              <a:rPr lang="zh-TW" altLang="zh-CN" dirty="0">
                <a:latin typeface="Garamond" panose="02020404030301010803" pitchFamily="18" charset="0"/>
              </a:rPr>
              <a:t>这个哈希值被称作存储根（</a:t>
            </a:r>
            <a:r>
              <a:rPr lang="en-US" altLang="zh-CN" dirty="0">
                <a:latin typeface="Garamond" panose="02020404030301010803" pitchFamily="18" charset="0"/>
              </a:rPr>
              <a:t>Storage Root</a:t>
            </a:r>
            <a:r>
              <a:rPr lang="zh-TW" altLang="zh-CN" dirty="0">
                <a:latin typeface="Garamond" panose="02020404030301010803" pitchFamily="18" charset="0"/>
              </a:rPr>
              <a:t>），它同样是由一棵</a:t>
            </a:r>
            <a:r>
              <a:rPr lang="en-US" altLang="zh-CN" dirty="0">
                <a:latin typeface="Garamond" panose="02020404030301010803" pitchFamily="18" charset="0"/>
              </a:rPr>
              <a:t>MPT</a:t>
            </a:r>
            <a:r>
              <a:rPr lang="zh-TW" altLang="zh-CN" dirty="0">
                <a:latin typeface="Garamond" panose="02020404030301010803" pitchFamily="18" charset="0"/>
              </a:rPr>
              <a:t>来维护和计算</a:t>
            </a:r>
            <a:endParaRPr lang="en-US" altLang="zh-TW" dirty="0">
              <a:latin typeface="Garamond" panose="02020404030301010803" pitchFamily="18" charset="0"/>
            </a:endParaRPr>
          </a:p>
        </p:txBody>
      </p:sp>
    </p:spTree>
    <p:extLst>
      <p:ext uri="{BB962C8B-B14F-4D97-AF65-F5344CB8AC3E}">
        <p14:creationId xmlns:p14="http://schemas.microsoft.com/office/powerpoint/2010/main" val="20040908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交易树和收据树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latin typeface="Garamond" panose="02020404030301010803" pitchFamily="18" charset="0"/>
              </a:rPr>
              <a:t>交易树和收据树</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与比特币中的Merkle Tree类似的，对于区块中的所有交易和交易对应的收据，都可以使用MPT进行组织和证明</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MPT的构建不再是通过账户地址来进行，而是通过交易或者收据在区块中的序号来构建MPT</a:t>
            </a:r>
            <a:endParaRPr lang="en-US" altLang="zh-TW" dirty="0">
              <a:latin typeface="Garamond" panose="02020404030301010803" pitchFamily="18" charset="0"/>
            </a:endParaRPr>
          </a:p>
        </p:txBody>
      </p:sp>
    </p:spTree>
    <p:extLst>
      <p:ext uri="{BB962C8B-B14F-4D97-AF65-F5344CB8AC3E}">
        <p14:creationId xmlns:p14="http://schemas.microsoft.com/office/powerpoint/2010/main" val="39252147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交易树和收据树</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6" name="Picture 2">
            <a:extLst>
              <a:ext uri="{FF2B5EF4-FFF2-40B4-BE49-F238E27FC236}">
                <a16:creationId xmlns:a16="http://schemas.microsoft.com/office/drawing/2014/main" id="{405EC9A9-2EF1-4738-B496-7A76B8B28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16" t="6265" r="7373" b="3498"/>
          <a:stretch/>
        </p:blipFill>
        <p:spPr bwMode="auto">
          <a:xfrm>
            <a:off x="1719470" y="1349619"/>
            <a:ext cx="8220812" cy="5371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3635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收据</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92500"/>
          </a:bodyPr>
          <a:lstStyle/>
          <a:p>
            <a:pPr>
              <a:lnSpc>
                <a:spcPct val="130000"/>
              </a:lnSpc>
            </a:pPr>
            <a:r>
              <a:rPr lang="zh-CN" altLang="en-US" dirty="0">
                <a:latin typeface="Garamond" panose="02020404030301010803" pitchFamily="18" charset="0"/>
              </a:rPr>
              <a:t>定义</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收据是对应交易的数据结构，代表了交易执行的一些中间状态的写入和交易的执行结果等信息</a:t>
            </a:r>
            <a:r>
              <a:rPr lang="zh-CN" altLang="zh-CN" sz="2000" dirty="0">
                <a:latin typeface="Garamond" panose="02020404030301010803" pitchFamily="18" charset="0"/>
              </a:rPr>
              <a:t> </a:t>
            </a:r>
            <a:endParaRPr lang="en-US" altLang="zh-CN" sz="2000" dirty="0">
              <a:latin typeface="Garamond" panose="02020404030301010803" pitchFamily="18" charset="0"/>
            </a:endParaRPr>
          </a:p>
          <a:p>
            <a:pPr>
              <a:lnSpc>
                <a:spcPct val="130000"/>
              </a:lnSpc>
            </a:pPr>
            <a:r>
              <a:rPr lang="zh-CN" altLang="en-US" dirty="0">
                <a:latin typeface="Garamond" panose="02020404030301010803" pitchFamily="18" charset="0"/>
              </a:rPr>
              <a:t>内容</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以太坊的智能合约向虚拟机输出</a:t>
            </a:r>
            <a:r>
              <a:rPr lang="zh-CN" altLang="en-US" dirty="0">
                <a:latin typeface="Garamond" panose="02020404030301010803" pitchFamily="18" charset="0"/>
              </a:rPr>
              <a:t>的</a:t>
            </a:r>
            <a:r>
              <a:rPr lang="zh-TW" altLang="zh-CN" dirty="0">
                <a:latin typeface="Garamond" panose="02020404030301010803" pitchFamily="18" charset="0"/>
              </a:rPr>
              <a:t>一些执行日志</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智能合约运行的</a:t>
            </a:r>
            <a:r>
              <a:rPr lang="en-US" altLang="zh-CN" dirty="0">
                <a:latin typeface="Garamond" panose="02020404030301010803" pitchFamily="18" charset="0"/>
              </a:rPr>
              <a:t>Gas</a:t>
            </a:r>
            <a:r>
              <a:rPr lang="zh-TW" altLang="zh-CN" dirty="0">
                <a:latin typeface="Garamond" panose="02020404030301010803" pitchFamily="18" charset="0"/>
              </a:rPr>
              <a:t>信息</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单个交易执行完毕后以太坊的状态根</a:t>
            </a:r>
            <a:endParaRPr lang="en-US" altLang="zh-TW" dirty="0">
              <a:latin typeface="Garamond" panose="02020404030301010803" pitchFamily="18" charset="0"/>
            </a:endParaRPr>
          </a:p>
          <a:p>
            <a:pPr lvl="1">
              <a:lnSpc>
                <a:spcPct val="130000"/>
              </a:lnSpc>
            </a:pPr>
            <a:r>
              <a:rPr lang="zh-TW" altLang="zh-CN" dirty="0">
                <a:latin typeface="Garamond" panose="02020404030301010803" pitchFamily="18" charset="0"/>
              </a:rPr>
              <a:t>交易创建智能合约的时候，如果执行成功会把新建合约的地址写到收据之中</a:t>
            </a:r>
            <a:endParaRPr lang="en-US" altLang="zh-TW" sz="2000" dirty="0">
              <a:latin typeface="Garamond" panose="02020404030301010803" pitchFamily="18" charset="0"/>
            </a:endParaRPr>
          </a:p>
        </p:txBody>
      </p:sp>
    </p:spTree>
    <p:extLst>
      <p:ext uri="{BB962C8B-B14F-4D97-AF65-F5344CB8AC3E}">
        <p14:creationId xmlns:p14="http://schemas.microsoft.com/office/powerpoint/2010/main" val="28888535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收据</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50" name="Picture 2">
            <a:extLst>
              <a:ext uri="{FF2B5EF4-FFF2-40B4-BE49-F238E27FC236}">
                <a16:creationId xmlns:a16="http://schemas.microsoft.com/office/drawing/2014/main" id="{6E014674-494E-427B-9576-AD400A306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108" y="1303146"/>
            <a:ext cx="10661523" cy="5418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792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zh-CN" dirty="0"/>
              <a:t>布隆过滤器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fontScale="92500" lnSpcReduction="10000"/>
          </a:bodyPr>
          <a:lstStyle/>
          <a:p>
            <a:pPr>
              <a:lnSpc>
                <a:spcPct val="130000"/>
              </a:lnSpc>
            </a:pPr>
            <a:r>
              <a:rPr lang="zh-CN" altLang="en-US" dirty="0"/>
              <a:t>用途</a:t>
            </a:r>
            <a:endParaRPr lang="en-US" altLang="zh-CN" dirty="0"/>
          </a:p>
          <a:p>
            <a:pPr lvl="1">
              <a:lnSpc>
                <a:spcPct val="130000"/>
              </a:lnSpc>
            </a:pPr>
            <a:r>
              <a:rPr lang="zh-TW" altLang="zh-CN" dirty="0"/>
              <a:t>以太坊中通过布隆过滤器对收据的日志进行索引</a:t>
            </a:r>
            <a:r>
              <a:rPr lang="zh-CN" altLang="en-US" dirty="0"/>
              <a:t>。</a:t>
            </a:r>
            <a:endParaRPr lang="en-US" altLang="zh-CN" dirty="0"/>
          </a:p>
          <a:p>
            <a:pPr>
              <a:lnSpc>
                <a:spcPct val="130000"/>
              </a:lnSpc>
            </a:pPr>
            <a:r>
              <a:rPr lang="zh-CN" altLang="en-US" dirty="0"/>
              <a:t>优点</a:t>
            </a:r>
            <a:endParaRPr lang="en-US" altLang="zh-CN" dirty="0"/>
          </a:p>
          <a:p>
            <a:pPr lvl="1">
              <a:lnSpc>
                <a:spcPct val="130000"/>
              </a:lnSpc>
            </a:pPr>
            <a:r>
              <a:rPr lang="zh-TW" altLang="zh-CN" dirty="0"/>
              <a:t>布隆过滤器可以用于检索一个值是否在一个集合中。在容忍一定的误识别率的条件下，它有着远超过一般算法的空间效率和时间效率。</a:t>
            </a:r>
            <a:r>
              <a:rPr lang="zh-CN" altLang="zh-CN" dirty="0"/>
              <a:t> </a:t>
            </a:r>
            <a:endParaRPr lang="en-US" altLang="zh-CN" dirty="0">
              <a:solidFill>
                <a:srgbClr val="C00000"/>
              </a:solidFill>
            </a:endParaRPr>
          </a:p>
          <a:p>
            <a:pPr>
              <a:lnSpc>
                <a:spcPct val="130000"/>
              </a:lnSpc>
            </a:pPr>
            <a:r>
              <a:rPr lang="zh-CN" altLang="en-US" dirty="0"/>
              <a:t>原理</a:t>
            </a:r>
            <a:endParaRPr lang="en-US" altLang="zh-CN" dirty="0"/>
          </a:p>
          <a:p>
            <a:pPr lvl="1">
              <a:lnSpc>
                <a:spcPct val="130000"/>
              </a:lnSpc>
            </a:pPr>
            <a:r>
              <a:rPr lang="zh-TW" altLang="zh-CN" dirty="0"/>
              <a:t>通过多个哈希函数将键值映射到位图之中，并在位图中合并集合中所有键值的映射结果。对于一个键值，如果经过同样的哈希函数映射之后，出现了在位图中没有出现的标记位，那么这个键值必定不存在于集合之中</a:t>
            </a:r>
            <a:r>
              <a:rPr lang="zh-CN" altLang="en-US" dirty="0"/>
              <a:t>。</a:t>
            </a:r>
            <a:endParaRPr lang="en-US" altLang="zh-CN" dirty="0">
              <a:solidFill>
                <a:srgbClr val="C00000"/>
              </a:solidFill>
            </a:endParaRPr>
          </a:p>
        </p:txBody>
      </p:sp>
    </p:spTree>
    <p:extLst>
      <p:ext uri="{BB962C8B-B14F-4D97-AF65-F5344CB8AC3E}">
        <p14:creationId xmlns:p14="http://schemas.microsoft.com/office/powerpoint/2010/main" val="34809726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zh-CN" dirty="0"/>
              <a:t>布隆过滤器 </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内容占位符 6"/>
          <p:cNvSpPr>
            <a:spLocks noGrp="1"/>
          </p:cNvSpPr>
          <p:nvPr>
            <p:ph idx="1"/>
          </p:nvPr>
        </p:nvSpPr>
        <p:spPr/>
        <p:txBody>
          <a:bodyPr>
            <a:normAutofit/>
          </a:bodyPr>
          <a:lstStyle/>
          <a:p>
            <a:pPr>
              <a:lnSpc>
                <a:spcPct val="130000"/>
              </a:lnSpc>
            </a:pPr>
            <a:r>
              <a:rPr lang="zh-CN" altLang="en-US" dirty="0">
                <a:latin typeface="Garamond" panose="02020404030301010803" pitchFamily="18" charset="0"/>
              </a:rPr>
              <a:t>实例</a:t>
            </a:r>
            <a:endParaRPr lang="en-US" altLang="zh-CN" dirty="0">
              <a:latin typeface="Garamond" panose="02020404030301010803" pitchFamily="18" charset="0"/>
            </a:endParaRPr>
          </a:p>
          <a:p>
            <a:pPr lvl="1">
              <a:lnSpc>
                <a:spcPct val="130000"/>
              </a:lnSpc>
            </a:pPr>
            <a:r>
              <a:rPr lang="zh-TW" altLang="zh-CN" dirty="0">
                <a:latin typeface="Garamond" panose="02020404030301010803" pitchFamily="18" charset="0"/>
              </a:rPr>
              <a:t>在进行哈希方式</a:t>
            </a:r>
            <a:r>
              <a:rPr lang="en-US" altLang="zh-CN" dirty="0">
                <a:latin typeface="Garamond" panose="02020404030301010803" pitchFamily="18" charset="0"/>
              </a:rPr>
              <a:t>B</a:t>
            </a:r>
            <a:r>
              <a:rPr lang="zh-TW" altLang="zh-CN" dirty="0">
                <a:latin typeface="Garamond" panose="02020404030301010803" pitchFamily="18" charset="0"/>
              </a:rPr>
              <a:t>之后</a:t>
            </a:r>
            <a:r>
              <a:rPr lang="zh-CN" altLang="en-US" dirty="0">
                <a:latin typeface="Garamond" panose="02020404030301010803" pitchFamily="18" charset="0"/>
              </a:rPr>
              <a:t>，若</a:t>
            </a:r>
            <a:r>
              <a:rPr lang="zh-TW" altLang="zh-CN" dirty="0">
                <a:latin typeface="Garamond" panose="02020404030301010803" pitchFamily="18" charset="0"/>
              </a:rPr>
              <a:t>日志地址</a:t>
            </a:r>
            <a:r>
              <a:rPr lang="en-US" altLang="zh-CN" dirty="0">
                <a:latin typeface="Garamond" panose="02020404030301010803" pitchFamily="18" charset="0"/>
              </a:rPr>
              <a:t>Y</a:t>
            </a:r>
            <a:r>
              <a:rPr lang="zh-TW" altLang="zh-CN" dirty="0">
                <a:latin typeface="Garamond" panose="02020404030301010803" pitchFamily="18" charset="0"/>
              </a:rPr>
              <a:t>的哈希出现了新的标记位，那么日志地址</a:t>
            </a:r>
            <a:r>
              <a:rPr lang="en-US" altLang="zh-CN" dirty="0">
                <a:latin typeface="Garamond" panose="02020404030301010803" pitchFamily="18" charset="0"/>
              </a:rPr>
              <a:t>Y</a:t>
            </a:r>
            <a:r>
              <a:rPr lang="zh-TW" altLang="zh-CN" dirty="0">
                <a:latin typeface="Garamond" panose="02020404030301010803" pitchFamily="18" charset="0"/>
              </a:rPr>
              <a:t>必然不存在于原有四个日志地址之中</a:t>
            </a:r>
            <a:endParaRPr lang="en-US" altLang="zh-CN" dirty="0">
              <a:latin typeface="Garamond" panose="02020404030301010803" pitchFamily="18" charset="0"/>
            </a:endParaRPr>
          </a:p>
        </p:txBody>
      </p:sp>
      <p:pic>
        <p:nvPicPr>
          <p:cNvPr id="9" name="图片 8">
            <a:extLst>
              <a:ext uri="{FF2B5EF4-FFF2-40B4-BE49-F238E27FC236}">
                <a16:creationId xmlns:a16="http://schemas.microsoft.com/office/drawing/2014/main" id="{050164F6-C058-A44E-8DA0-C751444DBC4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327082" y="3429000"/>
            <a:ext cx="5537835" cy="2904310"/>
          </a:xfrm>
          <a:prstGeom prst="rect">
            <a:avLst/>
          </a:prstGeom>
          <a:noFill/>
          <a:ln>
            <a:noFill/>
          </a:ln>
        </p:spPr>
      </p:pic>
      <p:sp>
        <p:nvSpPr>
          <p:cNvPr id="5" name="文本框 4">
            <a:extLst>
              <a:ext uri="{FF2B5EF4-FFF2-40B4-BE49-F238E27FC236}">
                <a16:creationId xmlns:a16="http://schemas.microsoft.com/office/drawing/2014/main" id="{B85E35F0-F291-3A4A-981B-AC5F5D9BA6FE}"/>
              </a:ext>
            </a:extLst>
          </p:cNvPr>
          <p:cNvSpPr txBox="1"/>
          <p:nvPr/>
        </p:nvSpPr>
        <p:spPr>
          <a:xfrm>
            <a:off x="5388113" y="6333310"/>
            <a:ext cx="1415772" cy="276999"/>
          </a:xfrm>
          <a:prstGeom prst="rect">
            <a:avLst/>
          </a:prstGeom>
          <a:noFill/>
        </p:spPr>
        <p:txBody>
          <a:bodyPr wrap="none" rtlCol="0">
            <a:spAutoFit/>
          </a:bodyPr>
          <a:lstStyle/>
          <a:p>
            <a:r>
              <a:rPr lang="zh-CN" altLang="zh-CN" sz="1200" dirty="0"/>
              <a:t>日志的布隆过滤器</a:t>
            </a:r>
            <a:endParaRPr kumimoji="1" lang="zh-CN" altLang="en-US" sz="1200" dirty="0"/>
          </a:p>
        </p:txBody>
      </p:sp>
    </p:spTree>
    <p:extLst>
      <p:ext uri="{BB962C8B-B14F-4D97-AF65-F5344CB8AC3E}">
        <p14:creationId xmlns:p14="http://schemas.microsoft.com/office/powerpoint/2010/main" val="18995083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en-US" dirty="0">
                <a:latin typeface="Garamond" panose="02020404030301010803" pitchFamily="18" charset="0"/>
              </a:rPr>
              <a:t>位图算法</a:t>
            </a:r>
            <a:r>
              <a:rPr lang="en-US" altLang="zh-CN" dirty="0">
                <a:latin typeface="Garamond" panose="02020404030301010803" pitchFamily="18" charset="0"/>
              </a:rPr>
              <a:t>(</a:t>
            </a:r>
            <a:r>
              <a:rPr lang="en-US" altLang="zh-CN" dirty="0" err="1">
                <a:latin typeface="Garamond" panose="02020404030301010803" pitchFamily="18" charset="0"/>
              </a:rPr>
              <a:t>BitMap</a:t>
            </a:r>
            <a:r>
              <a:rPr lang="en-US" altLang="zh-CN" dirty="0">
                <a:latin typeface="Garamond" panose="02020404030301010803" pitchFamily="18" charset="0"/>
              </a:rPr>
              <a:t>)</a:t>
            </a:r>
            <a:endParaRPr kumimoji="1" lang="zh-CN" altLang="en-US" dirty="0">
              <a:latin typeface="Garamond" panose="02020404030301010803" pitchFamily="18" charset="0"/>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122" name="Picture 2">
            <a:extLst>
              <a:ext uri="{FF2B5EF4-FFF2-40B4-BE49-F238E27FC236}">
                <a16:creationId xmlns:a16="http://schemas.microsoft.com/office/drawing/2014/main" id="{53119FB8-D571-43F8-A95D-3B1F3B1D4E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806" r="12279" b="10290"/>
          <a:stretch/>
        </p:blipFill>
        <p:spPr bwMode="auto">
          <a:xfrm>
            <a:off x="2759765" y="1912688"/>
            <a:ext cx="6471170" cy="4711148"/>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a:extLst>
              <a:ext uri="{FF2B5EF4-FFF2-40B4-BE49-F238E27FC236}">
                <a16:creationId xmlns:a16="http://schemas.microsoft.com/office/drawing/2014/main" id="{E830686B-67F9-4934-BF45-C128408C6474}"/>
              </a:ext>
            </a:extLst>
          </p:cNvPr>
          <p:cNvSpPr/>
          <p:nvPr/>
        </p:nvSpPr>
        <p:spPr>
          <a:xfrm>
            <a:off x="1020851" y="1543356"/>
            <a:ext cx="8411384" cy="369332"/>
          </a:xfrm>
          <a:prstGeom prst="rect">
            <a:avLst/>
          </a:prstGeom>
          <a:solidFill>
            <a:schemeClr val="accent3">
              <a:lumMod val="20000"/>
              <a:lumOff val="80000"/>
            </a:schemeClr>
          </a:solidFill>
          <a:ln w="19050">
            <a:solidFill>
              <a:srgbClr val="002060"/>
            </a:solidFill>
            <a:prstDash val="dash"/>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dirty="0">
                <a:solidFill>
                  <a:srgbClr val="002060"/>
                </a:solidFill>
                <a:latin typeface="Garamond" panose="02020404030301010803" pitchFamily="18" charset="0"/>
                <a:ea typeface="微软雅黑" panose="020B0503020204020204" pitchFamily="34" charset="-122"/>
              </a:rPr>
              <a:t>在</a:t>
            </a:r>
            <a:r>
              <a:rPr kumimoji="1" lang="en-US" altLang="zh-CN" dirty="0">
                <a:solidFill>
                  <a:srgbClr val="002060"/>
                </a:solidFill>
                <a:latin typeface="Garamond" panose="02020404030301010803" pitchFamily="18" charset="0"/>
                <a:ea typeface="微软雅黑" panose="020B0503020204020204" pitchFamily="34" charset="-122"/>
              </a:rPr>
              <a:t>20</a:t>
            </a:r>
            <a:r>
              <a:rPr kumimoji="1" lang="zh-CN" altLang="en-US" dirty="0">
                <a:solidFill>
                  <a:srgbClr val="002060"/>
                </a:solidFill>
                <a:latin typeface="Garamond" panose="02020404030301010803" pitchFamily="18" charset="0"/>
                <a:ea typeface="微软雅黑" panose="020B0503020204020204" pitchFamily="34" charset="-122"/>
              </a:rPr>
              <a:t>亿个随机整数中找出某个数</a:t>
            </a:r>
            <a:r>
              <a:rPr kumimoji="1" lang="en-US" altLang="zh-CN" dirty="0">
                <a:solidFill>
                  <a:srgbClr val="002060"/>
                </a:solidFill>
                <a:latin typeface="Garamond" panose="02020404030301010803" pitchFamily="18" charset="0"/>
                <a:ea typeface="微软雅黑" panose="020B0503020204020204" pitchFamily="34" charset="-122"/>
              </a:rPr>
              <a:t>m</a:t>
            </a:r>
            <a:r>
              <a:rPr kumimoji="1" lang="zh-CN" altLang="en-US" dirty="0">
                <a:solidFill>
                  <a:srgbClr val="002060"/>
                </a:solidFill>
                <a:latin typeface="Garamond" panose="02020404030301010803" pitchFamily="18" charset="0"/>
                <a:ea typeface="微软雅黑" panose="020B0503020204020204" pitchFamily="34" charset="-122"/>
              </a:rPr>
              <a:t>是否存在其中，并假设</a:t>
            </a:r>
            <a:r>
              <a:rPr kumimoji="1" lang="en-US" altLang="zh-CN" dirty="0">
                <a:solidFill>
                  <a:srgbClr val="002060"/>
                </a:solidFill>
                <a:latin typeface="Garamond" panose="02020404030301010803" pitchFamily="18" charset="0"/>
                <a:ea typeface="微软雅黑" panose="020B0503020204020204" pitchFamily="34" charset="-122"/>
              </a:rPr>
              <a:t>32</a:t>
            </a:r>
            <a:r>
              <a:rPr kumimoji="1" lang="zh-CN" altLang="en-US" dirty="0">
                <a:solidFill>
                  <a:srgbClr val="002060"/>
                </a:solidFill>
                <a:latin typeface="Garamond" panose="02020404030301010803" pitchFamily="18" charset="0"/>
                <a:ea typeface="微软雅黑" panose="020B0503020204020204" pitchFamily="34" charset="-122"/>
              </a:rPr>
              <a:t>位操作系统，</a:t>
            </a:r>
            <a:r>
              <a:rPr kumimoji="1" lang="en-US" altLang="zh-CN" dirty="0">
                <a:solidFill>
                  <a:srgbClr val="002060"/>
                </a:solidFill>
                <a:latin typeface="Garamond" panose="02020404030301010803" pitchFamily="18" charset="0"/>
                <a:ea typeface="微软雅黑" panose="020B0503020204020204" pitchFamily="34" charset="-122"/>
              </a:rPr>
              <a:t>4G</a:t>
            </a:r>
            <a:r>
              <a:rPr kumimoji="1" lang="zh-CN" altLang="en-US" dirty="0">
                <a:solidFill>
                  <a:srgbClr val="002060"/>
                </a:solidFill>
                <a:latin typeface="Garamond" panose="02020404030301010803" pitchFamily="18" charset="0"/>
                <a:ea typeface="微软雅黑" panose="020B0503020204020204" pitchFamily="34" charset="-122"/>
              </a:rPr>
              <a:t>内存。</a:t>
            </a:r>
          </a:p>
        </p:txBody>
      </p:sp>
      <p:pic>
        <p:nvPicPr>
          <p:cNvPr id="17" name="图片 16">
            <a:extLst>
              <a:ext uri="{FF2B5EF4-FFF2-40B4-BE49-F238E27FC236}">
                <a16:creationId xmlns:a16="http://schemas.microsoft.com/office/drawing/2014/main" id="{4B8DDCE5-ECA9-4065-8AF2-7C23FB5E7D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352" y="1422339"/>
            <a:ext cx="601662" cy="601662"/>
          </a:xfrm>
          <a:prstGeom prst="rect">
            <a:avLst/>
          </a:prstGeom>
        </p:spPr>
      </p:pic>
    </p:spTree>
    <p:extLst>
      <p:ext uri="{BB962C8B-B14F-4D97-AF65-F5344CB8AC3E}">
        <p14:creationId xmlns:p14="http://schemas.microsoft.com/office/powerpoint/2010/main" val="210841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20000"/>
              </a:lnSpc>
            </a:pPr>
            <a:r>
              <a:rPr kumimoji="1" lang="zh-CN" altLang="en-US" dirty="0"/>
              <a:t>以太坊的基本架构及原理</a:t>
            </a:r>
            <a:endParaRPr kumimoji="1" lang="en-US" altLang="zh-CN" dirty="0"/>
          </a:p>
          <a:p>
            <a:pPr>
              <a:lnSpc>
                <a:spcPct val="120000"/>
              </a:lnSpc>
            </a:pPr>
            <a:r>
              <a:rPr kumimoji="1" lang="zh-CN" altLang="en-US" dirty="0"/>
              <a:t>以太坊账户模型与转账原理</a:t>
            </a:r>
            <a:endParaRPr kumimoji="1" lang="en-US" altLang="zh-CN" dirty="0"/>
          </a:p>
          <a:p>
            <a:pPr>
              <a:lnSpc>
                <a:spcPct val="120000"/>
              </a:lnSpc>
            </a:pPr>
            <a:r>
              <a:rPr kumimoji="1" lang="zh-CN" altLang="en-US" dirty="0"/>
              <a:t>以太坊数据结构与存储方式</a:t>
            </a:r>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10572</TotalTime>
  <Words>3430</Words>
  <Application>Microsoft Macintosh PowerPoint</Application>
  <PresentationFormat>宽屏</PresentationFormat>
  <Paragraphs>471</Paragraphs>
  <Slides>51</Slides>
  <Notes>48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51</vt:i4>
      </vt:variant>
    </vt:vector>
  </HeadingPairs>
  <TitlesOfParts>
    <vt:vector size="62" baseType="lpstr">
      <vt:lpstr>等线</vt:lpstr>
      <vt:lpstr>Microsoft YaHei</vt:lpstr>
      <vt:lpstr>Microsoft YaHei</vt:lpstr>
      <vt:lpstr>LXGW WenKai</vt:lpstr>
      <vt:lpstr>Arial</vt:lpstr>
      <vt:lpstr>Cambria Math</vt:lpstr>
      <vt:lpstr>Courier New</vt:lpstr>
      <vt:lpstr>Garamond</vt:lpstr>
      <vt:lpstr>Times New Roman</vt:lpstr>
      <vt:lpstr>Wingdings</vt:lpstr>
      <vt:lpstr>Office 主题​​</vt:lpstr>
      <vt:lpstr>第五章 以太坊 ——账户及数据结构</vt:lpstr>
      <vt:lpstr>本章内容</vt:lpstr>
      <vt:lpstr>以太坊简介</vt:lpstr>
      <vt:lpstr>以太坊的诞生与发展</vt:lpstr>
      <vt:lpstr>以太坊与比特币对比</vt:lpstr>
      <vt:lpstr>以太坊特色与应用</vt:lpstr>
      <vt:lpstr>以太坊现状</vt:lpstr>
      <vt:lpstr>比特币对比</vt:lpstr>
      <vt:lpstr>本章内容</vt:lpstr>
      <vt:lpstr>以太坊基本架构及原理</vt:lpstr>
      <vt:lpstr>以太坊基本架构及原理</vt:lpstr>
      <vt:lpstr>以太坊简易架构图</vt:lpstr>
      <vt:lpstr>以太坊基本架构及原理</vt:lpstr>
      <vt:lpstr>以太坊基本原理及例子</vt:lpstr>
      <vt:lpstr>以太坊基本原理及例子</vt:lpstr>
      <vt:lpstr>本章内容</vt:lpstr>
      <vt:lpstr>以太坊账户模型</vt:lpstr>
      <vt:lpstr>以太坊账户模型</vt:lpstr>
      <vt:lpstr>以太坊账户模型——外部账户</vt:lpstr>
      <vt:lpstr>转账</vt:lpstr>
      <vt:lpstr>Nonce</vt:lpstr>
      <vt:lpstr>Nonce</vt:lpstr>
      <vt:lpstr>Nonce</vt:lpstr>
      <vt:lpstr>Nonce</vt:lpstr>
      <vt:lpstr>Nonce</vt:lpstr>
      <vt:lpstr>合约账户</vt:lpstr>
      <vt:lpstr>智能合约程序示例</vt:lpstr>
      <vt:lpstr>本章内容</vt:lpstr>
      <vt:lpstr>区块结构</vt:lpstr>
      <vt:lpstr>区块结构</vt:lpstr>
      <vt:lpstr>叔块与POW共识（已弃用）</vt:lpstr>
      <vt:lpstr>叔块与POW共识（已弃用）</vt:lpstr>
      <vt:lpstr>世界状态</vt:lpstr>
      <vt:lpstr>Merkle Patricia Trie </vt:lpstr>
      <vt:lpstr>Merkle Patricia Trie </vt:lpstr>
      <vt:lpstr>Merkle Patricia Trie </vt:lpstr>
      <vt:lpstr>压缩前缀树</vt:lpstr>
      <vt:lpstr>MPT</vt:lpstr>
      <vt:lpstr>MPT</vt:lpstr>
      <vt:lpstr>MPT</vt:lpstr>
      <vt:lpstr>状态树</vt:lpstr>
      <vt:lpstr>状态树</vt:lpstr>
      <vt:lpstr>合约存储树</vt:lpstr>
      <vt:lpstr>交易树和收据树</vt:lpstr>
      <vt:lpstr>交易树和收据树</vt:lpstr>
      <vt:lpstr>收据</vt:lpstr>
      <vt:lpstr>收据</vt:lpstr>
      <vt:lpstr>布隆过滤器 </vt:lpstr>
      <vt:lpstr>布隆过滤器 </vt:lpstr>
      <vt:lpstr>位图算法(BitMap)</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侯璐 h</cp:lastModifiedBy>
  <cp:revision>1487</cp:revision>
  <dcterms:created xsi:type="dcterms:W3CDTF">2021-01-06T05:35:51Z</dcterms:created>
  <dcterms:modified xsi:type="dcterms:W3CDTF">2026-05-22T08:08:01Z</dcterms:modified>
</cp:coreProperties>
</file>