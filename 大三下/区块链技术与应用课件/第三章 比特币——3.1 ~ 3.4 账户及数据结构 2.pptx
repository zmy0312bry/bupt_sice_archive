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bookmarkIdSeed="2">
  <p:sldMasterIdLst>
    <p:sldMasterId id="2147483648" r:id="rId1"/>
    <p:sldMasterId id="2147483657" r:id="rId2"/>
  </p:sldMasterIdLst>
  <p:notesMasterIdLst>
    <p:notesMasterId r:id="rId51"/>
  </p:notesMasterIdLst>
  <p:sldIdLst>
    <p:sldId id="1257" r:id="rId3"/>
    <p:sldId id="1062" r:id="rId4"/>
    <p:sldId id="1312" r:id="rId5"/>
    <p:sldId id="1311" r:id="rId6"/>
    <p:sldId id="1330" r:id="rId7"/>
    <p:sldId id="1323" r:id="rId8"/>
    <p:sldId id="1322" r:id="rId9"/>
    <p:sldId id="1324" r:id="rId10"/>
    <p:sldId id="1325" r:id="rId11"/>
    <p:sldId id="1326" r:id="rId12"/>
    <p:sldId id="1327" r:id="rId13"/>
    <p:sldId id="1328" r:id="rId14"/>
    <p:sldId id="1329" r:id="rId15"/>
    <p:sldId id="1380" r:id="rId16"/>
    <p:sldId id="1331" r:id="rId17"/>
    <p:sldId id="1332" r:id="rId18"/>
    <p:sldId id="1333" r:id="rId19"/>
    <p:sldId id="1334" r:id="rId20"/>
    <p:sldId id="1340" r:id="rId21"/>
    <p:sldId id="1372" r:id="rId22"/>
    <p:sldId id="1381" r:id="rId23"/>
    <p:sldId id="1335" r:id="rId24"/>
    <p:sldId id="1336" r:id="rId25"/>
    <p:sldId id="1337" r:id="rId26"/>
    <p:sldId id="1373" r:id="rId27"/>
    <p:sldId id="1338" r:id="rId28"/>
    <p:sldId id="1339" r:id="rId29"/>
    <p:sldId id="1375" r:id="rId30"/>
    <p:sldId id="1382" r:id="rId31"/>
    <p:sldId id="1379" r:id="rId32"/>
    <p:sldId id="1317" r:id="rId33"/>
    <p:sldId id="1318" r:id="rId34"/>
    <p:sldId id="1357" r:id="rId35"/>
    <p:sldId id="1374" r:id="rId36"/>
    <p:sldId id="1367" r:id="rId37"/>
    <p:sldId id="1358" r:id="rId38"/>
    <p:sldId id="1359" r:id="rId39"/>
    <p:sldId id="1360" r:id="rId40"/>
    <p:sldId id="1361" r:id="rId41"/>
    <p:sldId id="1362" r:id="rId42"/>
    <p:sldId id="1363" r:id="rId43"/>
    <p:sldId id="1376" r:id="rId44"/>
    <p:sldId id="1377" r:id="rId45"/>
    <p:sldId id="1364" r:id="rId46"/>
    <p:sldId id="1365" r:id="rId47"/>
    <p:sldId id="1366" r:id="rId48"/>
    <p:sldId id="1383" r:id="rId49"/>
    <p:sldId id="994"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062"/>
            <p14:sldId id="1312"/>
            <p14:sldId id="1311"/>
            <p14:sldId id="1330"/>
            <p14:sldId id="1323"/>
            <p14:sldId id="1322"/>
            <p14:sldId id="1324"/>
            <p14:sldId id="1325"/>
            <p14:sldId id="1326"/>
            <p14:sldId id="1327"/>
            <p14:sldId id="1328"/>
            <p14:sldId id="1329"/>
            <p14:sldId id="1380"/>
            <p14:sldId id="1331"/>
            <p14:sldId id="1332"/>
            <p14:sldId id="1333"/>
            <p14:sldId id="1334"/>
            <p14:sldId id="1340"/>
            <p14:sldId id="1372"/>
            <p14:sldId id="1381"/>
            <p14:sldId id="1335"/>
            <p14:sldId id="1336"/>
            <p14:sldId id="1337"/>
            <p14:sldId id="1373"/>
            <p14:sldId id="1338"/>
            <p14:sldId id="1339"/>
            <p14:sldId id="1375"/>
            <p14:sldId id="1382"/>
            <p14:sldId id="1379"/>
            <p14:sldId id="1317"/>
            <p14:sldId id="1318"/>
            <p14:sldId id="1357"/>
            <p14:sldId id="1374"/>
            <p14:sldId id="1367"/>
            <p14:sldId id="1358"/>
            <p14:sldId id="1359"/>
            <p14:sldId id="1360"/>
            <p14:sldId id="1361"/>
            <p14:sldId id="1362"/>
            <p14:sldId id="1363"/>
            <p14:sldId id="1376"/>
            <p14:sldId id="1377"/>
            <p14:sldId id="1364"/>
            <p14:sldId id="1365"/>
            <p14:sldId id="1366"/>
            <p14:sldId id="1383"/>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A40A57"/>
    <a:srgbClr val="B962FF"/>
    <a:srgbClr val="0000CC"/>
    <a:srgbClr val="0000FF"/>
    <a:srgbClr val="FDCB0B"/>
    <a:srgbClr val="FFD700"/>
    <a:srgbClr val="F9BC12"/>
    <a:srgbClr val="FFD801"/>
    <a:srgbClr val="EFB9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5969" autoAdjust="0"/>
  </p:normalViewPr>
  <p:slideViewPr>
    <p:cSldViewPr snapToGrid="0" snapToObjects="1">
      <p:cViewPr varScale="1">
        <p:scale>
          <a:sx n="104" d="100"/>
          <a:sy n="104" d="100"/>
        </p:scale>
        <p:origin x="876" y="114"/>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2025/3/18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4197858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3223492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2556076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864326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3655920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2275805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2481183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3538694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1933912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1413132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2557753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1134290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296769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9911596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90414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3782972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3381099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391497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355392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571841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22715132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1650714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2501422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p:cNvSpPr/>
          <p:nvPr userDrawn="1"/>
        </p:nvSpPr>
        <p:spPr>
          <a:xfrm>
            <a:off x="-9939" y="-8628"/>
            <a:ext cx="8755906"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区块链技术与应用</a:t>
            </a:r>
          </a:p>
        </p:txBody>
      </p:sp>
      <p:pic>
        <p:nvPicPr>
          <p:cNvPr id="9" name="图片 8">
            <a:extLst>
              <a:ext uri="{FF2B5EF4-FFF2-40B4-BE49-F238E27FC236}">
                <a16:creationId xmlns:a16="http://schemas.microsoft.com/office/drawing/2014/main" id="{A2B135FE-0B53-4AC4-B659-90621587F8A8}"/>
              </a:ext>
            </a:extLst>
          </p:cNvPr>
          <p:cNvPicPr>
            <a:picLocks noChangeAspect="1"/>
          </p:cNvPicPr>
          <p:nvPr userDrawn="1"/>
        </p:nvPicPr>
        <p:blipFill>
          <a:blip r:embed="rId2"/>
          <a:stretch>
            <a:fillRect/>
          </a:stretch>
        </p:blipFill>
        <p:spPr>
          <a:xfrm>
            <a:off x="8971879" y="0"/>
            <a:ext cx="3012141" cy="90415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2" name="图片 21"/>
          <p:cNvPicPr>
            <a:picLocks noChangeAspect="1"/>
          </p:cNvPicPr>
          <p:nvPr userDrawn="1"/>
        </p:nvPicPr>
        <p:blipFill>
          <a:blip r:embed="rId2"/>
          <a:stretch>
            <a:fillRect/>
          </a:stretch>
        </p:blipFill>
        <p:spPr>
          <a:xfrm flipH="1">
            <a:off x="667831" y="535244"/>
            <a:ext cx="509314" cy="511567"/>
          </a:xfrm>
          <a:prstGeom prst="rect">
            <a:avLst/>
          </a:prstGeom>
        </p:spPr>
      </p:pic>
      <p:pic>
        <p:nvPicPr>
          <p:cNvPr id="21" name="图片 20">
            <a:extLst>
              <a:ext uri="{FF2B5EF4-FFF2-40B4-BE49-F238E27FC236}">
                <a16:creationId xmlns:a16="http://schemas.microsoft.com/office/drawing/2014/main" id="{284CEC7B-57FC-4F9E-AA77-21D3AC7B4BA0}"/>
              </a:ext>
            </a:extLst>
          </p:cNvPr>
          <p:cNvPicPr>
            <a:picLocks noChangeAspect="1"/>
          </p:cNvPicPr>
          <p:nvPr userDrawn="1"/>
        </p:nvPicPr>
        <p:blipFill rotWithShape="1">
          <a:blip r:embed="rId3"/>
          <a:srcRect l="30231"/>
          <a:stretch/>
        </p:blipFill>
        <p:spPr>
          <a:xfrm>
            <a:off x="9882483" y="331921"/>
            <a:ext cx="2101537" cy="90415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2"/>
          <a:stretch>
            <a:fillRect/>
          </a:stretch>
        </p:blipFill>
        <p:spPr>
          <a:xfrm flipH="1">
            <a:off x="667831" y="535244"/>
            <a:ext cx="509314" cy="511567"/>
          </a:xfrm>
          <a:prstGeom prst="rect">
            <a:avLst/>
          </a:prstGeom>
        </p:spPr>
      </p:pic>
      <p:pic>
        <p:nvPicPr>
          <p:cNvPr id="10" name="图片 9">
            <a:extLst>
              <a:ext uri="{FF2B5EF4-FFF2-40B4-BE49-F238E27FC236}">
                <a16:creationId xmlns:a16="http://schemas.microsoft.com/office/drawing/2014/main" id="{0D841371-3C71-4398-BE31-04FC894401C3}"/>
              </a:ext>
            </a:extLst>
          </p:cNvPr>
          <p:cNvPicPr>
            <a:picLocks noChangeAspect="1"/>
          </p:cNvPicPr>
          <p:nvPr userDrawn="1"/>
        </p:nvPicPr>
        <p:blipFill rotWithShape="1">
          <a:blip r:embed="rId3"/>
          <a:srcRect l="30231"/>
          <a:stretch/>
        </p:blipFill>
        <p:spPr>
          <a:xfrm>
            <a:off x="9882483" y="331921"/>
            <a:ext cx="2101537" cy="90415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p:cNvSpPr>
            <a:spLocks noGrp="1" noChangeArrowheads="1"/>
          </p:cNvSpPr>
          <p:nvPr>
            <p:ph type="sldNum" sz="quarter" idx="12"/>
          </p:nvPr>
        </p:nvSpPr>
        <p:spPr/>
        <p:txBody>
          <a:bodyPr/>
          <a:lstStyle>
            <a:lvl1pPr>
              <a:defRPr/>
            </a:lvl1pPr>
          </a:lstStyle>
          <a:p>
            <a:fld id="{07279A2F-85B5-794E-ADF1-0805CD3C44B7}"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2025/3/18</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7" Type="http://schemas.openxmlformats.org/officeDocument/2006/relationships/image" Target="../media/image14.png"/><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0.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10.xml"/><Relationship Id="rId6" Type="http://schemas.openxmlformats.org/officeDocument/2006/relationships/image" Target="../media/image32.png"/><Relationship Id="rId5" Type="http://schemas.openxmlformats.org/officeDocument/2006/relationships/image" Target="../media/image18.png"/><Relationship Id="rId4" Type="http://schemas.openxmlformats.org/officeDocument/2006/relationships/image" Target="../media/image31.png"/><Relationship Id="rId9"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7.png"/><Relationship Id="rId1" Type="http://schemas.openxmlformats.org/officeDocument/2006/relationships/slideLayout" Target="../slideLayouts/slideLayout10.xml"/><Relationship Id="rId5" Type="http://schemas.openxmlformats.org/officeDocument/2006/relationships/image" Target="../media/image88.png"/><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hyperlink" Target="https://bitcoinexplorer.org/" TargetMode="External"/><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87494"/>
            <a:ext cx="9144000" cy="2002674"/>
          </a:xfrm>
        </p:spPr>
        <p:txBody>
          <a:bodyPr/>
          <a:lstStyle/>
          <a:p>
            <a:r>
              <a:rPr kumimoji="1" lang="zh-CN" altLang="en-US" dirty="0"/>
              <a:t>第三章 比特币</a:t>
            </a:r>
            <a:br>
              <a:rPr kumimoji="1" lang="en-US" altLang="zh-CN" dirty="0"/>
            </a:br>
            <a:r>
              <a:rPr kumimoji="1" lang="en-US" altLang="zh-CN" sz="3600" dirty="0"/>
              <a:t>——</a:t>
            </a:r>
            <a:r>
              <a:rPr kumimoji="1" lang="zh-CN" altLang="en-US" sz="3600" dirty="0"/>
              <a:t>账户及数据结构</a:t>
            </a:r>
            <a:endParaRPr kumimoji="1" lang="zh-CN" altLang="en-US" dirty="0"/>
          </a:p>
        </p:txBody>
      </p:sp>
      <p:sp>
        <p:nvSpPr>
          <p:cNvPr id="3" name="副标题 2"/>
          <p:cNvSpPr>
            <a:spLocks noGrp="1"/>
          </p:cNvSpPr>
          <p:nvPr>
            <p:ph type="subTitle" idx="1"/>
          </p:nvPr>
        </p:nvSpPr>
        <p:spPr>
          <a:xfrm>
            <a:off x="1524000" y="3411207"/>
            <a:ext cx="9144000" cy="1657977"/>
          </a:xfrm>
        </p:spPr>
        <p:txBody>
          <a:bodyPr>
            <a:normAutofit/>
          </a:bodyPr>
          <a:lstStyle/>
          <a:p>
            <a:pPr>
              <a:lnSpc>
                <a:spcPct val="150000"/>
              </a:lnSpc>
            </a:pPr>
            <a:r>
              <a:rPr kumimoji="1" lang="zh-CN" altLang="en-US" sz="3200" dirty="0"/>
              <a:t>授课教师：侯璐</a:t>
            </a:r>
            <a:endParaRPr kumimoji="1" lang="en-US" altLang="zh-CN" sz="3200" dirty="0"/>
          </a:p>
          <a:p>
            <a:pPr>
              <a:lnSpc>
                <a:spcPct val="150000"/>
              </a:lnSpc>
            </a:pPr>
            <a:r>
              <a:rPr kumimoji="1" lang="zh-CN" altLang="en-US" sz="3200"/>
              <a:t>信息与通信工程学院</a:t>
            </a:r>
            <a:endParaRPr kumimoji="1" lang="en-US" altLang="zh-C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b="1" dirty="0">
                <a:solidFill>
                  <a:srgbClr val="B962FF"/>
                </a:solidFill>
                <a:latin typeface="Garamond" panose="02020404030301010803" pitchFamily="18" charset="0"/>
              </a:rPr>
              <a:t>3.1 </a:t>
            </a:r>
            <a:r>
              <a:rPr kumimoji="1" lang="zh-CN" altLang="en-US" b="1" dirty="0">
                <a:solidFill>
                  <a:srgbClr val="B962FF"/>
                </a:solidFill>
                <a:latin typeface="Garamond" panose="02020404030301010803" pitchFamily="18" charset="0"/>
              </a:rPr>
              <a:t>比特币简介</a:t>
            </a:r>
            <a:endParaRPr kumimoji="1" lang="en-US" altLang="zh-CN" b="1" dirty="0">
              <a:solidFill>
                <a:srgbClr val="B962FF"/>
              </a:solidFill>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3.2 </a:t>
            </a:r>
            <a:r>
              <a:rPr kumimoji="1" lang="zh-CN" altLang="en-US" dirty="0">
                <a:latin typeface="Garamond" panose="02020404030301010803" pitchFamily="18" charset="0"/>
              </a:rPr>
              <a:t>基础知识</a:t>
            </a:r>
            <a:r>
              <a:rPr kumimoji="1" lang="en-US" altLang="zh-CN" dirty="0">
                <a:latin typeface="Garamond" panose="02020404030301010803" pitchFamily="18" charset="0"/>
              </a:rPr>
              <a:t> </a:t>
            </a:r>
          </a:p>
          <a:p>
            <a:pPr marL="0" indent="0">
              <a:lnSpc>
                <a:spcPct val="130000"/>
              </a:lnSpc>
              <a:buNone/>
            </a:pPr>
            <a:r>
              <a:rPr kumimoji="1" lang="en-US" altLang="zh-CN" dirty="0">
                <a:latin typeface="Garamond" panose="02020404030301010803" pitchFamily="18" charset="0"/>
              </a:rPr>
              <a:t>3.3 </a:t>
            </a:r>
            <a:r>
              <a:rPr kumimoji="1" lang="zh-CN" altLang="en-US" dirty="0">
                <a:latin typeface="Garamond" panose="02020404030301010803" pitchFamily="18" charset="0"/>
              </a:rPr>
              <a:t>公私密钥与地址</a:t>
            </a:r>
            <a:endParaRPr kumimoji="1" lang="en-US" altLang="zh-CN" dirty="0">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3.4 </a:t>
            </a:r>
            <a:r>
              <a:rPr kumimoji="1" lang="zh-CN" altLang="en-US" dirty="0">
                <a:latin typeface="Garamond" panose="02020404030301010803" pitchFamily="18" charset="0"/>
              </a:rPr>
              <a:t>基本数据结构</a:t>
            </a:r>
            <a:endParaRPr kumimoji="1" lang="en-US" altLang="zh-CN" dirty="0">
              <a:latin typeface="Garamond" panose="02020404030301010803" pitchFamily="18" charset="0"/>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比特币简介</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加密数字货币的诞生</a:t>
            </a:r>
          </a:p>
          <a:p>
            <a:pPr lvl="1">
              <a:lnSpc>
                <a:spcPct val="130000"/>
              </a:lnSpc>
            </a:pPr>
            <a:r>
              <a:rPr lang="en-US" altLang="zh-CN" dirty="0">
                <a:latin typeface="Garamond" panose="02020404030301010803" pitchFamily="18" charset="0"/>
              </a:rPr>
              <a:t>2008</a:t>
            </a:r>
            <a:r>
              <a:rPr lang="zh-CN" altLang="en-US" dirty="0">
                <a:latin typeface="Garamond" panose="02020404030301010803" pitchFamily="18" charset="0"/>
              </a:rPr>
              <a:t>年</a:t>
            </a:r>
            <a:r>
              <a:rPr lang="en-US" altLang="zh-CN" dirty="0">
                <a:latin typeface="Garamond" panose="02020404030301010803" pitchFamily="18" charset="0"/>
              </a:rPr>
              <a:t>10</a:t>
            </a:r>
            <a:r>
              <a:rPr lang="zh-CN" altLang="en-US" dirty="0">
                <a:latin typeface="Garamond" panose="02020404030301010803" pitchFamily="18" charset="0"/>
              </a:rPr>
              <a:t>月</a:t>
            </a:r>
            <a:r>
              <a:rPr lang="en-US" altLang="zh-CN" dirty="0">
                <a:latin typeface="Garamond" panose="02020404030301010803" pitchFamily="18" charset="0"/>
              </a:rPr>
              <a:t>31</a:t>
            </a:r>
            <a:r>
              <a:rPr lang="zh-CN" altLang="en-US" dirty="0">
                <a:latin typeface="Garamond" panose="02020404030301010803" pitchFamily="18" charset="0"/>
              </a:rPr>
              <a:t>日中本聪发表</a:t>
            </a:r>
            <a:r>
              <a:rPr lang="en-US" altLang="zh-CN" dirty="0">
                <a:latin typeface="Garamond" panose="02020404030301010803" pitchFamily="18" charset="0"/>
              </a:rPr>
              <a:t>《</a:t>
            </a:r>
            <a:r>
              <a:rPr lang="zh-CN" altLang="zh-CN" b="1" dirty="0">
                <a:solidFill>
                  <a:srgbClr val="5B307E"/>
                </a:solidFill>
                <a:latin typeface="Garamond" panose="02020404030301010803" pitchFamily="18" charset="0"/>
              </a:rPr>
              <a:t>比特币：一种点对点的电子货币系统</a:t>
            </a:r>
            <a:r>
              <a:rPr lang="en-US" altLang="zh-CN" dirty="0">
                <a:latin typeface="Garamond" panose="02020404030301010803" pitchFamily="18" charset="0"/>
              </a:rPr>
              <a:t>》</a:t>
            </a:r>
            <a:r>
              <a:rPr lang="zh-CN" altLang="en-US" dirty="0">
                <a:latin typeface="Garamond" panose="02020404030301010803" pitchFamily="18" charset="0"/>
              </a:rPr>
              <a:t>，随后在</a:t>
            </a:r>
            <a:r>
              <a:rPr lang="en-US" altLang="zh-CN" dirty="0">
                <a:latin typeface="Garamond" panose="02020404030301010803" pitchFamily="18" charset="0"/>
              </a:rPr>
              <a:t>2009</a:t>
            </a:r>
            <a:r>
              <a:rPr lang="zh-CN" altLang="en-US" dirty="0">
                <a:latin typeface="Garamond" panose="02020404030301010803" pitchFamily="18" charset="0"/>
              </a:rPr>
              <a:t>年</a:t>
            </a:r>
            <a:r>
              <a:rPr lang="en-US" altLang="zh-CN" dirty="0">
                <a:latin typeface="Garamond" panose="02020404030301010803" pitchFamily="18" charset="0"/>
              </a:rPr>
              <a:t>1</a:t>
            </a:r>
            <a:r>
              <a:rPr lang="zh-CN" altLang="en-US" dirty="0">
                <a:latin typeface="Garamond" panose="02020404030301010803" pitchFamily="18" charset="0"/>
              </a:rPr>
              <a:t>月中本聪实现了比特币系统的最初版本。</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比特币的出现宣告了加密数字货币的诞生，为货币系统实现去中心化、隐私保护、提供可靠服务给出了一套完整的解决方案。</a:t>
            </a:r>
            <a:endParaRPr lang="en-US" altLang="zh-CN" dirty="0">
              <a:latin typeface="Garamond" panose="02020404030301010803" pitchFamily="18" charset="0"/>
            </a:endParaRPr>
          </a:p>
          <a:p>
            <a:pPr lvl="0">
              <a:lnSpc>
                <a:spcPct val="130000"/>
              </a:lnSpc>
            </a:pPr>
            <a:r>
              <a:rPr lang="zh-CN" altLang="en-US" dirty="0">
                <a:solidFill>
                  <a:prstClr val="black"/>
                </a:solidFill>
                <a:latin typeface="Garamond" panose="02020404030301010803" pitchFamily="18" charset="0"/>
              </a:rPr>
              <a:t>比特币引入了更具价值的区块链技术</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区块链不仅可以用于开发一个分布式去中心化的加密货币系统，更让人们看到了其在商业应用场景中解决</a:t>
            </a:r>
            <a:r>
              <a:rPr lang="zh-CN" altLang="en-US" b="1" dirty="0">
                <a:solidFill>
                  <a:srgbClr val="5B307E"/>
                </a:solidFill>
                <a:latin typeface="Garamond" panose="02020404030301010803" pitchFamily="18" charset="0"/>
              </a:rPr>
              <a:t>安全</a:t>
            </a:r>
            <a:r>
              <a:rPr lang="zh-CN" altLang="en-US" dirty="0">
                <a:solidFill>
                  <a:prstClr val="black"/>
                </a:solidFill>
                <a:latin typeface="Garamond" panose="02020404030301010803" pitchFamily="18" charset="0"/>
              </a:rPr>
              <a:t>和</a:t>
            </a:r>
            <a:r>
              <a:rPr lang="zh-CN" altLang="en-US" b="1" dirty="0">
                <a:solidFill>
                  <a:srgbClr val="5B307E"/>
                </a:solidFill>
                <a:latin typeface="Garamond" panose="02020404030301010803" pitchFamily="18" charset="0"/>
              </a:rPr>
              <a:t>信任</a:t>
            </a:r>
            <a:r>
              <a:rPr lang="zh-CN" altLang="en-US" dirty="0">
                <a:solidFill>
                  <a:prstClr val="black"/>
                </a:solidFill>
                <a:latin typeface="Garamond" panose="02020404030301010803" pitchFamily="18" charset="0"/>
              </a:rPr>
              <a:t>问题的潜力。</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latin typeface="Garamond" panose="02020404030301010803" pitchFamily="18" charset="0"/>
              </a:rPr>
              <a:t>3.1 </a:t>
            </a:r>
            <a:r>
              <a:rPr kumimoji="1" lang="zh-CN" altLang="en-US" dirty="0">
                <a:latin typeface="Garamond" panose="02020404030301010803" pitchFamily="18" charset="0"/>
              </a:rPr>
              <a:t>比特币简介</a:t>
            </a:r>
            <a:endParaRPr kumimoji="1" lang="en-US" altLang="zh-CN" dirty="0">
              <a:latin typeface="Garamond" panose="02020404030301010803" pitchFamily="18" charset="0"/>
            </a:endParaRPr>
          </a:p>
          <a:p>
            <a:pPr marL="0" indent="0">
              <a:lnSpc>
                <a:spcPct val="130000"/>
              </a:lnSpc>
              <a:buNone/>
            </a:pPr>
            <a:r>
              <a:rPr kumimoji="1" lang="en-US" altLang="zh-CN" b="1" dirty="0">
                <a:solidFill>
                  <a:srgbClr val="B962FF"/>
                </a:solidFill>
                <a:latin typeface="Garamond" panose="02020404030301010803" pitchFamily="18" charset="0"/>
              </a:rPr>
              <a:t>3.2 </a:t>
            </a:r>
            <a:r>
              <a:rPr kumimoji="1" lang="zh-CN" altLang="en-US" b="1" dirty="0">
                <a:solidFill>
                  <a:srgbClr val="B962FF"/>
                </a:solidFill>
                <a:latin typeface="Garamond" panose="02020404030301010803" pitchFamily="18" charset="0"/>
              </a:rPr>
              <a:t>基础知识</a:t>
            </a:r>
            <a:r>
              <a:rPr kumimoji="1" lang="en-US" altLang="zh-CN" b="1" dirty="0">
                <a:solidFill>
                  <a:srgbClr val="B962FF"/>
                </a:solidFill>
                <a:latin typeface="Garamond" panose="02020404030301010803" pitchFamily="18" charset="0"/>
              </a:rPr>
              <a:t> </a:t>
            </a:r>
          </a:p>
          <a:p>
            <a:pPr marL="0" indent="0">
              <a:lnSpc>
                <a:spcPct val="130000"/>
              </a:lnSpc>
              <a:buNone/>
            </a:pPr>
            <a:r>
              <a:rPr kumimoji="1" lang="en-US" altLang="zh-CN" dirty="0">
                <a:latin typeface="Garamond" panose="02020404030301010803" pitchFamily="18" charset="0"/>
              </a:rPr>
              <a:t>3.3 </a:t>
            </a:r>
            <a:r>
              <a:rPr kumimoji="1" lang="zh-CN" altLang="en-US" dirty="0">
                <a:latin typeface="Garamond" panose="02020404030301010803" pitchFamily="18" charset="0"/>
              </a:rPr>
              <a:t>公私密钥与地址</a:t>
            </a:r>
            <a:endParaRPr kumimoji="1" lang="en-US" altLang="zh-CN" dirty="0">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3.4 </a:t>
            </a:r>
            <a:r>
              <a:rPr kumimoji="1" lang="zh-CN" altLang="en-US" dirty="0">
                <a:latin typeface="Garamond" panose="02020404030301010803" pitchFamily="18" charset="0"/>
              </a:rPr>
              <a:t>基本数据结构</a:t>
            </a:r>
            <a:endParaRPr kumimoji="1" lang="en-US" altLang="zh-CN" dirty="0">
              <a:latin typeface="Garamond" panose="02020404030301010803" pitchFamily="18" charset="0"/>
            </a:endParaRPr>
          </a:p>
        </p:txBody>
      </p:sp>
      <p:sp>
        <p:nvSpPr>
          <p:cNvPr id="7" name="矩形标注 6"/>
          <p:cNvSpPr/>
          <p:nvPr/>
        </p:nvSpPr>
        <p:spPr>
          <a:xfrm>
            <a:off x="5123543" y="2185355"/>
            <a:ext cx="4281889" cy="1746565"/>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哈希算法</a:t>
            </a: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非对称加密</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数字签名</a:t>
            </a:r>
            <a:endParaRPr kumimoji="1" lang="en-US" altLang="zh-CN" sz="2400" dirty="0">
              <a:solidFill>
                <a:prstClr val="black"/>
              </a:solidFill>
              <a:latin typeface="Garamond" panose="02020404030301010803" pitchFamily="18" charset="0"/>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latin typeface="Garamond" panose="02020404030301010803" pitchFamily="18" charset="0"/>
              </a:rPr>
              <a:t>3.1 </a:t>
            </a:r>
            <a:r>
              <a:rPr kumimoji="1" lang="zh-CN" altLang="en-US" dirty="0">
                <a:latin typeface="Garamond" panose="02020404030301010803" pitchFamily="18" charset="0"/>
              </a:rPr>
              <a:t>比特币简介</a:t>
            </a:r>
            <a:endParaRPr kumimoji="1" lang="en-US" altLang="zh-CN" dirty="0">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3.2 </a:t>
            </a:r>
            <a:r>
              <a:rPr kumimoji="1" lang="zh-CN" altLang="en-US" dirty="0">
                <a:latin typeface="Garamond" panose="02020404030301010803" pitchFamily="18" charset="0"/>
              </a:rPr>
              <a:t>基础知识</a:t>
            </a:r>
            <a:r>
              <a:rPr kumimoji="1" lang="en-US" altLang="zh-CN" dirty="0">
                <a:latin typeface="Garamond" panose="02020404030301010803" pitchFamily="18" charset="0"/>
              </a:rPr>
              <a:t> </a:t>
            </a:r>
          </a:p>
          <a:p>
            <a:pPr marL="0" indent="0">
              <a:lnSpc>
                <a:spcPct val="130000"/>
              </a:lnSpc>
              <a:buNone/>
            </a:pPr>
            <a:r>
              <a:rPr kumimoji="1" lang="en-US" altLang="zh-CN" b="1" dirty="0">
                <a:solidFill>
                  <a:srgbClr val="B962FF"/>
                </a:solidFill>
                <a:latin typeface="Garamond" panose="02020404030301010803" pitchFamily="18" charset="0"/>
              </a:rPr>
              <a:t>3.3 </a:t>
            </a:r>
            <a:r>
              <a:rPr kumimoji="1" lang="zh-CN" altLang="en-US" b="1" dirty="0">
                <a:solidFill>
                  <a:srgbClr val="B962FF"/>
                </a:solidFill>
                <a:latin typeface="Garamond" panose="02020404030301010803" pitchFamily="18" charset="0"/>
              </a:rPr>
              <a:t>公私密钥与账户</a:t>
            </a:r>
            <a:endParaRPr kumimoji="1" lang="en-US" altLang="zh-CN" b="1" dirty="0">
              <a:solidFill>
                <a:srgbClr val="B962FF"/>
              </a:solidFill>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3.4 </a:t>
            </a:r>
            <a:r>
              <a:rPr kumimoji="1" lang="zh-CN" altLang="en-US" dirty="0">
                <a:latin typeface="Garamond" panose="02020404030301010803" pitchFamily="18" charset="0"/>
              </a:rPr>
              <a:t>基本数据结构</a:t>
            </a:r>
            <a:endParaRPr kumimoji="1" lang="en-US" altLang="zh-CN" dirty="0">
              <a:latin typeface="Garamond" panose="02020404030301010803" pitchFamily="18" charset="0"/>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6" name="矩形标注 6">
            <a:extLst>
              <a:ext uri="{FF2B5EF4-FFF2-40B4-BE49-F238E27FC236}">
                <a16:creationId xmlns:a16="http://schemas.microsoft.com/office/drawing/2014/main" id="{2DC4B563-8072-43EF-925D-0F79A57E6DE8}"/>
              </a:ext>
            </a:extLst>
          </p:cNvPr>
          <p:cNvSpPr/>
          <p:nvPr/>
        </p:nvSpPr>
        <p:spPr>
          <a:xfrm>
            <a:off x="5878962" y="2633168"/>
            <a:ext cx="2918530" cy="2728104"/>
          </a:xfrm>
          <a:prstGeom prst="wedgeRectCallout">
            <a:avLst>
              <a:gd name="adj1" fmla="val -92947"/>
              <a:gd name="adj2" fmla="val -3571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私钥</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公钥</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普通地址</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Garamond" panose="02020404030301010803" pitchFamily="18" charset="0"/>
                <a:ea typeface="Microsoft YaHei" panose="020B0503020204020204" pitchFamily="34" charset="-122"/>
              </a:rPr>
              <a:t>Base58</a:t>
            </a:r>
            <a:r>
              <a:rPr kumimoji="1" lang="zh-CN" altLang="en-US" sz="2400" dirty="0">
                <a:solidFill>
                  <a:prstClr val="black"/>
                </a:solidFill>
                <a:latin typeface="Garamond" panose="02020404030301010803" pitchFamily="18" charset="0"/>
                <a:ea typeface="Microsoft YaHei" panose="020B0503020204020204" pitchFamily="34" charset="-122"/>
              </a:rPr>
              <a:t>编码</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其他地址</a:t>
            </a:r>
            <a:endParaRPr kumimoji="1" lang="en-US" altLang="zh-CN" sz="2400" dirty="0">
              <a:solidFill>
                <a:prstClr val="black"/>
              </a:solidFill>
              <a:latin typeface="Garamond" panose="02020404030301010803" pitchFamily="18" charset="0"/>
              <a:ea typeface="Microsoft YaHei" panose="020B0503020204020204" pitchFamily="34" charset="-122"/>
            </a:endParaRPr>
          </a:p>
        </p:txBody>
      </p:sp>
    </p:spTree>
    <p:extLst>
      <p:ext uri="{BB962C8B-B14F-4D97-AF65-F5344CB8AC3E}">
        <p14:creationId xmlns:p14="http://schemas.microsoft.com/office/powerpoint/2010/main" val="932551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公钥密钥与地址</a:t>
            </a:r>
          </a:p>
        </p:txBody>
      </p:sp>
      <p:sp>
        <p:nvSpPr>
          <p:cNvPr id="3" name="内容占位符 2"/>
          <p:cNvSpPr>
            <a:spLocks noGrp="1"/>
          </p:cNvSpPr>
          <p:nvPr>
            <p:ph idx="1"/>
          </p:nvPr>
        </p:nvSpPr>
        <p:spPr>
          <a:xfrm>
            <a:off x="838200" y="1510758"/>
            <a:ext cx="9888940" cy="2315807"/>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银行、网站</a:t>
            </a:r>
            <a:endParaRPr lang="en-US" altLang="zh-CN" dirty="0"/>
          </a:p>
          <a:p>
            <a:pPr lvl="2">
              <a:lnSpc>
                <a:spcPct val="130000"/>
              </a:lnSpc>
            </a:pPr>
            <a:r>
              <a:rPr lang="zh-CN" altLang="en-US" dirty="0"/>
              <a:t>用户的名称、密码一般是任意的、可自定义的。</a:t>
            </a:r>
            <a:endParaRPr lang="en-US" altLang="zh-CN" dirty="0"/>
          </a:p>
          <a:p>
            <a:pPr lvl="2">
              <a:lnSpc>
                <a:spcPct val="130000"/>
              </a:lnSpc>
            </a:pPr>
            <a:r>
              <a:rPr lang="zh-CN" altLang="en-US" dirty="0"/>
              <a:t>由权威的服务来保存用户与密码的认证关系</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6" name="文本框 5">
            <a:extLst>
              <a:ext uri="{FF2B5EF4-FFF2-40B4-BE49-F238E27FC236}">
                <a16:creationId xmlns:a16="http://schemas.microsoft.com/office/drawing/2014/main" id="{263DE5F4-9803-4B91-8AB9-991F7E448A96}"/>
              </a:ext>
            </a:extLst>
          </p:cNvPr>
          <p:cNvSpPr txBox="1"/>
          <p:nvPr/>
        </p:nvSpPr>
        <p:spPr>
          <a:xfrm>
            <a:off x="838199" y="3826565"/>
            <a:ext cx="10515601" cy="1407565"/>
          </a:xfrm>
          <a:prstGeom prst="rect">
            <a:avLst/>
          </a:prstGeom>
          <a:noFill/>
        </p:spPr>
        <p:txBody>
          <a:bodyPr wrap="square">
            <a:spAutoFit/>
          </a:bodyPr>
          <a:lstStyle/>
          <a:p>
            <a:pPr marL="700088" lvl="2" indent="-342900">
              <a:lnSpc>
                <a:spcPct val="130000"/>
              </a:lnSpc>
              <a:spcBef>
                <a:spcPts val="600"/>
              </a:spcBef>
              <a:buFont typeface="Arial" panose="020B0604020202020204" pitchFamily="34" charset="0"/>
              <a:buChar char="•"/>
            </a:pPr>
            <a:r>
              <a:rPr lang="zh-CN" altLang="en-US" sz="2000" b="1" dirty="0">
                <a:solidFill>
                  <a:srgbClr val="5B307E"/>
                </a:solidFill>
                <a:latin typeface="Microsoft YaHei" panose="020B0503020204020204" pitchFamily="34" charset="-122"/>
                <a:ea typeface="Microsoft YaHei" panose="020B0503020204020204" pitchFamily="34" charset="-122"/>
              </a:rPr>
              <a:t>比特币等区块链系统</a:t>
            </a:r>
            <a:endParaRPr lang="en-US" altLang="zh-CN" sz="2000" b="1" dirty="0">
              <a:solidFill>
                <a:srgbClr val="5B307E"/>
              </a:solidFill>
              <a:latin typeface="Microsoft YaHei" panose="020B0503020204020204" pitchFamily="34" charset="-122"/>
              <a:ea typeface="Microsoft YaHei" panose="020B0503020204020204" pitchFamily="34" charset="-122"/>
            </a:endParaRPr>
          </a:p>
          <a:p>
            <a:pPr marL="1143000" lvl="2" indent="-228600">
              <a:lnSpc>
                <a:spcPct val="130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用户的对外名称</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地址</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是根据用户的密码</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私钥</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生成的。</a:t>
            </a:r>
            <a:endParaRPr lang="en-US" altLang="zh-CN" sz="2000" dirty="0">
              <a:latin typeface="Microsoft YaHei" panose="020B0503020204020204" pitchFamily="34" charset="-122"/>
              <a:ea typeface="Microsoft YaHei" panose="020B0503020204020204" pitchFamily="34" charset="-122"/>
            </a:endParaRPr>
          </a:p>
          <a:p>
            <a:pPr marL="1143000" lvl="2" indent="-228600">
              <a:lnSpc>
                <a:spcPct val="130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在一个去中心化的系统中，利用非对称加密体系来建立密码与用户之间的映射关系。</a:t>
            </a: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4161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私钥</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比特币的加密</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采用了</a:t>
            </a:r>
            <a:r>
              <a:rPr lang="zh-CN" altLang="en-US" b="1" dirty="0">
                <a:solidFill>
                  <a:srgbClr val="B962FF"/>
                </a:solidFill>
                <a:latin typeface="Garamond" panose="02020404030301010803" pitchFamily="18" charset="0"/>
              </a:rPr>
              <a:t>椭圆曲线</a:t>
            </a:r>
            <a:r>
              <a:rPr lang="zh-CN" altLang="en-US" dirty="0">
                <a:latin typeface="Garamond" panose="02020404030301010803" pitchFamily="18" charset="0"/>
              </a:rPr>
              <a:t>进行非对称加密。</a:t>
            </a:r>
            <a:endParaRPr lang="en-US" altLang="zh-CN" dirty="0">
              <a:latin typeface="Garamond" panose="02020404030301010803" pitchFamily="18" charset="0"/>
            </a:endParaRPr>
          </a:p>
          <a:p>
            <a:pPr lvl="0">
              <a:lnSpc>
                <a:spcPct val="130000"/>
              </a:lnSpc>
            </a:pPr>
            <a:r>
              <a:rPr lang="zh-CN" altLang="en-US" dirty="0">
                <a:latin typeface="Garamond" panose="02020404030301010803" pitchFamily="18" charset="0"/>
              </a:rPr>
              <a:t>私钥的定义</a:t>
            </a:r>
            <a:endParaRPr lang="en-US" altLang="zh-CN" dirty="0">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每个独立用户都拥有一个长度为</a:t>
            </a:r>
            <a:r>
              <a:rPr lang="en-US" altLang="zh-CN" b="1" dirty="0">
                <a:solidFill>
                  <a:srgbClr val="B962FF"/>
                </a:solidFill>
                <a:latin typeface="Garamond" panose="02020404030301010803" pitchFamily="18" charset="0"/>
              </a:rPr>
              <a:t>32</a:t>
            </a:r>
            <a:r>
              <a:rPr lang="zh-CN" altLang="en-US" b="1" dirty="0">
                <a:solidFill>
                  <a:srgbClr val="B962FF"/>
                </a:solidFill>
                <a:latin typeface="Garamond" panose="02020404030301010803" pitchFamily="18" charset="0"/>
              </a:rPr>
              <a:t>字节的私钥</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处于</a:t>
            </a:r>
            <a:r>
              <a:rPr lang="en-US" altLang="zh-CN" dirty="0">
                <a:solidFill>
                  <a:prstClr val="black"/>
                </a:solidFill>
                <a:latin typeface="Garamond" panose="02020404030301010803" pitchFamily="18" charset="0"/>
              </a:rPr>
              <a:t>0x1 </a:t>
            </a:r>
            <a:r>
              <a:rPr lang="zh-CN" altLang="en-US" dirty="0">
                <a:solidFill>
                  <a:prstClr val="black"/>
                </a:solidFill>
                <a:latin typeface="Garamond" panose="02020404030301010803" pitchFamily="18" charset="0"/>
              </a:rPr>
              <a:t>到</a:t>
            </a:r>
            <a:r>
              <a:rPr lang="en-US" altLang="zh-CN" dirty="0">
                <a:solidFill>
                  <a:prstClr val="black"/>
                </a:solidFill>
                <a:latin typeface="Garamond" panose="02020404030301010803" pitchFamily="18" charset="0"/>
              </a:rPr>
              <a:t>0xFFFF FFFF FFFF FFFF FFFF FFFF FFFF FFFE BAAE DCE6 AF48 A03B BFD2 5E8C D036 4141 </a:t>
            </a:r>
            <a:r>
              <a:rPr lang="zh-CN" altLang="en-US" dirty="0">
                <a:solidFill>
                  <a:prstClr val="black"/>
                </a:solidFill>
                <a:latin typeface="Garamond" panose="02020404030301010803" pitchFamily="18" charset="0"/>
              </a:rPr>
              <a:t>之间的任意</a:t>
            </a:r>
            <a:r>
              <a:rPr lang="en-US" altLang="zh-CN" dirty="0">
                <a:solidFill>
                  <a:prstClr val="black"/>
                </a:solidFill>
                <a:latin typeface="Garamond" panose="02020404030301010803" pitchFamily="18" charset="0"/>
              </a:rPr>
              <a:t>64 </a:t>
            </a:r>
            <a:r>
              <a:rPr lang="zh-CN" altLang="en-US" dirty="0">
                <a:solidFill>
                  <a:prstClr val="black"/>
                </a:solidFill>
                <a:latin typeface="Garamond" panose="02020404030301010803" pitchFamily="18" charset="0"/>
              </a:rPr>
              <a:t>位的十六进制整数。</a:t>
            </a:r>
            <a:endParaRPr lang="en-US" altLang="zh-CN" dirty="0">
              <a:solidFill>
                <a:prstClr val="black"/>
              </a:solidFill>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Tree>
    <p:extLst>
      <p:ext uri="{BB962C8B-B14F-4D97-AF65-F5344CB8AC3E}">
        <p14:creationId xmlns:p14="http://schemas.microsoft.com/office/powerpoint/2010/main" val="157403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公钥</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定义</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通过在一个特定的椭圆曲线上乘以椭圆曲线的一个固定点得到的一个坐标值。</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比特币使用的这个特殊的椭圆曲线是由</a:t>
            </a:r>
            <a:r>
              <a:rPr lang="en-US" altLang="zh-CN" dirty="0">
                <a:latin typeface="Garamond" panose="02020404030301010803" pitchFamily="18" charset="0"/>
              </a:rPr>
              <a:t>SECG</a:t>
            </a:r>
            <a:r>
              <a:rPr lang="zh-CN" altLang="en-US" dirty="0">
                <a:latin typeface="Garamond" panose="02020404030301010803" pitchFamily="18" charset="0"/>
              </a:rPr>
              <a:t>（</a:t>
            </a:r>
            <a:r>
              <a:rPr lang="en-US" altLang="zh-CN" dirty="0">
                <a:latin typeface="Garamond" panose="02020404030301010803" pitchFamily="18" charset="0"/>
              </a:rPr>
              <a:t>Standards for Efficient Cryptography Group</a:t>
            </a:r>
            <a:r>
              <a:rPr lang="zh-CN" altLang="en-US" dirty="0">
                <a:latin typeface="Garamond" panose="02020404030301010803" pitchFamily="18" charset="0"/>
              </a:rPr>
              <a:t>）提出来的</a:t>
            </a:r>
            <a:r>
              <a:rPr lang="en-US" altLang="zh-CN" dirty="0">
                <a:latin typeface="Garamond" panose="02020404030301010803" pitchFamily="18" charset="0"/>
              </a:rPr>
              <a:t>secp256k1</a:t>
            </a:r>
            <a:r>
              <a:rPr lang="zh-CN" altLang="en-US" dirty="0">
                <a:latin typeface="Garamond" panose="02020404030301010803" pitchFamily="18" charset="0"/>
              </a:rPr>
              <a:t>。</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私钥通过计算可以得到一个</a:t>
            </a:r>
            <a:r>
              <a:rPr lang="zh-CN" altLang="en-US" b="1" dirty="0">
                <a:solidFill>
                  <a:srgbClr val="5B307E"/>
                </a:solidFill>
                <a:latin typeface="Garamond" panose="02020404030301010803" pitchFamily="18" charset="0"/>
              </a:rPr>
              <a:t>长度为</a:t>
            </a:r>
            <a:r>
              <a:rPr lang="en-US" altLang="zh-CN" b="1" dirty="0">
                <a:solidFill>
                  <a:srgbClr val="5B307E"/>
                </a:solidFill>
                <a:latin typeface="Garamond" panose="02020404030301010803" pitchFamily="18" charset="0"/>
              </a:rPr>
              <a:t>128 </a:t>
            </a:r>
            <a:r>
              <a:rPr lang="zh-CN" altLang="en-US" b="1" dirty="0">
                <a:solidFill>
                  <a:srgbClr val="5B307E"/>
                </a:solidFill>
                <a:latin typeface="Garamond" panose="02020404030301010803" pitchFamily="18" charset="0"/>
              </a:rPr>
              <a:t>位的十六进制公钥</a:t>
            </a:r>
            <a:r>
              <a:rPr lang="zh-CN" altLang="en-US" dirty="0">
                <a:latin typeface="Garamond" panose="02020404030301010803" pitchFamily="18" charset="0"/>
              </a:rPr>
              <a:t>，一般加上</a:t>
            </a:r>
            <a:r>
              <a:rPr lang="en-US" altLang="zh-CN" dirty="0">
                <a:latin typeface="Garamond" panose="02020404030301010803" pitchFamily="18" charset="0"/>
              </a:rPr>
              <a:t>0x04 </a:t>
            </a:r>
            <a:r>
              <a:rPr lang="zh-CN" altLang="en-US" dirty="0">
                <a:latin typeface="Garamond" panose="02020404030301010803" pitchFamily="18" charset="0"/>
              </a:rPr>
              <a:t>作为前缀区分。</a:t>
            </a:r>
            <a:endParaRPr lang="en-US" altLang="zh-CN" dirty="0">
              <a:latin typeface="Garamond" panose="02020404030301010803" pitchFamily="18" charset="0"/>
            </a:endParaRPr>
          </a:p>
          <a:p>
            <a:pPr>
              <a:lnSpc>
                <a:spcPct val="130000"/>
              </a:lnSpc>
            </a:pPr>
            <a:r>
              <a:rPr lang="zh-CN" altLang="en-US" dirty="0">
                <a:latin typeface="Garamond" panose="02020404030301010803" pitchFamily="18" charset="0"/>
              </a:rPr>
              <a:t>例子</a:t>
            </a:r>
            <a:endParaRPr lang="en-US" altLang="zh-CN" dirty="0">
              <a:latin typeface="Garamond" panose="02020404030301010803" pitchFamily="18" charset="0"/>
            </a:endParaRPr>
          </a:p>
          <a:p>
            <a:pPr lvl="1">
              <a:lnSpc>
                <a:spcPct val="130000"/>
              </a:lnSpc>
            </a:pP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92"/>
          <p:cNvSpPr txBox="1">
            <a:spLocks noChangeArrowheads="1"/>
          </p:cNvSpPr>
          <p:nvPr/>
        </p:nvSpPr>
        <p:spPr bwMode="auto">
          <a:xfrm>
            <a:off x="2512319" y="5468734"/>
            <a:ext cx="5736531" cy="600164"/>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itchFamily="2" charset="-122"/>
                <a:cs typeface="Courier New" panose="02070309020205020404" pitchFamily="49" charset="0"/>
              </a:rPr>
              <a:t>04 FB D0 A9 8C EF 18 0C DA A3 FC 2B 64 A4 CA 56 FB C8 E8 AF 5C C7 4E 82 0D A3 4E B9 DA B0 D4 6F F2 E3 85 87 07 92 9D 0A 9B EA CF 55 33 C2 2B F0 2D 34 E0 A6 EE 4F 1A 19 C1 CE AC 4F C4 25 18 10 A6</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extLst>
      <p:ext uri="{BB962C8B-B14F-4D97-AF65-F5344CB8AC3E}">
        <p14:creationId xmlns:p14="http://schemas.microsoft.com/office/powerpoint/2010/main" val="285450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普通地址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定义</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在公钥的基础上可以继续计算比特币的转账地址，这种地址一般被称之为普通地址。</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对应的转账脚本则是</a:t>
            </a:r>
            <a:r>
              <a:rPr lang="en-US" altLang="zh-CN" dirty="0">
                <a:latin typeface="Garamond" panose="02020404030301010803" pitchFamily="18" charset="0"/>
              </a:rPr>
              <a:t>P2PKH</a:t>
            </a:r>
            <a:r>
              <a:rPr lang="zh-CN" altLang="en-US" dirty="0">
                <a:latin typeface="Garamond" panose="02020404030301010803" pitchFamily="18" charset="0"/>
              </a:rPr>
              <a:t>（</a:t>
            </a:r>
            <a:r>
              <a:rPr lang="en-US" altLang="zh-CN" dirty="0">
                <a:latin typeface="Garamond" panose="02020404030301010803" pitchFamily="18" charset="0"/>
              </a:rPr>
              <a:t>Pay-to-</a:t>
            </a:r>
            <a:r>
              <a:rPr lang="en-US" altLang="zh-CN" dirty="0" err="1">
                <a:latin typeface="Garamond" panose="02020404030301010803" pitchFamily="18" charset="0"/>
              </a:rPr>
              <a:t>PublicKey</a:t>
            </a:r>
            <a:r>
              <a:rPr lang="en-US" altLang="zh-CN" dirty="0">
                <a:latin typeface="Garamond" panose="02020404030301010803" pitchFamily="18" charset="0"/>
              </a:rPr>
              <a:t>-Hash</a:t>
            </a:r>
            <a:r>
              <a:rPr lang="zh-CN" altLang="en-US" dirty="0">
                <a:latin typeface="Garamond" panose="02020404030301010803" pitchFamily="18" charset="0"/>
              </a:rPr>
              <a:t>）。</a:t>
            </a:r>
            <a:endParaRPr lang="en-US" altLang="zh-CN" dirty="0">
              <a:latin typeface="Garamond" panose="02020404030301010803" pitchFamily="18" charset="0"/>
            </a:endParaRPr>
          </a:p>
          <a:p>
            <a:pPr marL="0" indent="0">
              <a:lnSpc>
                <a:spcPct val="130000"/>
              </a:lnSpc>
              <a:buNone/>
            </a:pPr>
            <a:endParaRPr lang="en-US" altLang="zh-CN" dirty="0">
              <a:solidFill>
                <a:srgbClr val="C00000"/>
              </a:solidFill>
              <a:latin typeface="Garamond" panose="02020404030301010803" pitchFamily="18" charset="0"/>
            </a:endParaRPr>
          </a:p>
          <a:p>
            <a:pPr lvl="1">
              <a:lnSpc>
                <a:spcPct val="130000"/>
              </a:lnSpc>
            </a:pP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extLst>
      <p:ext uri="{BB962C8B-B14F-4D97-AF65-F5344CB8AC3E}">
        <p14:creationId xmlns:p14="http://schemas.microsoft.com/office/powerpoint/2010/main" val="17805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普通地址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实例</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首先对公钥进行采用</a:t>
            </a:r>
            <a:r>
              <a:rPr lang="en-US" altLang="zh-CN" dirty="0">
                <a:latin typeface="Garamond" panose="02020404030301010803" pitchFamily="18" charset="0"/>
              </a:rPr>
              <a:t>SHA256 </a:t>
            </a:r>
            <a:r>
              <a:rPr lang="zh-CN" altLang="en-US" dirty="0">
                <a:latin typeface="Garamond" panose="02020404030301010803" pitchFamily="18" charset="0"/>
              </a:rPr>
              <a:t>算法进行哈希计算。</a:t>
            </a:r>
            <a:endParaRPr lang="en-US" altLang="zh-CN" dirty="0">
              <a:latin typeface="Garamond" panose="02020404030301010803" pitchFamily="18" charset="0"/>
            </a:endParaRPr>
          </a:p>
          <a:p>
            <a:pPr lvl="1">
              <a:lnSpc>
                <a:spcPct val="130000"/>
              </a:lnSpc>
            </a:pP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对上述结果再进行一次</a:t>
            </a:r>
            <a:r>
              <a:rPr lang="en-US" altLang="zh-CN" dirty="0">
                <a:latin typeface="Garamond" panose="02020404030301010803" pitchFamily="18" charset="0"/>
              </a:rPr>
              <a:t>RIPEMD160 </a:t>
            </a:r>
            <a:r>
              <a:rPr lang="zh-CN" altLang="en-US" dirty="0">
                <a:latin typeface="Garamond" panose="02020404030301010803" pitchFamily="18" charset="0"/>
              </a:rPr>
              <a:t>的哈希计算。</a:t>
            </a:r>
            <a:endParaRPr lang="en-US" altLang="zh-CN" dirty="0">
              <a:latin typeface="Garamond" panose="02020404030301010803" pitchFamily="18" charset="0"/>
            </a:endParaRPr>
          </a:p>
          <a:p>
            <a:pPr lvl="1">
              <a:lnSpc>
                <a:spcPct val="130000"/>
              </a:lnSpc>
            </a:pP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计算</a:t>
            </a:r>
            <a:r>
              <a:rPr lang="en-US" altLang="zh-CN" dirty="0">
                <a:latin typeface="Garamond" panose="02020404030301010803" pitchFamily="18" charset="0"/>
              </a:rPr>
              <a:t>32 </a:t>
            </a:r>
            <a:r>
              <a:rPr lang="zh-CN" altLang="en-US" dirty="0">
                <a:latin typeface="Garamond" panose="02020404030301010803" pitchFamily="18" charset="0"/>
              </a:rPr>
              <a:t>位校验和，对上面的哈希结果再进行两次</a:t>
            </a:r>
            <a:r>
              <a:rPr lang="en-US" altLang="zh-CN" dirty="0">
                <a:latin typeface="Garamond" panose="02020404030301010803" pitchFamily="18" charset="0"/>
              </a:rPr>
              <a:t>SHA256</a:t>
            </a:r>
            <a:r>
              <a:rPr lang="zh-CN" altLang="en-US" dirty="0">
                <a:latin typeface="Garamond" panose="02020404030301010803" pitchFamily="18" charset="0"/>
              </a:rPr>
              <a:t>。</a:t>
            </a:r>
            <a:endParaRPr lang="en-US" altLang="zh-CN" dirty="0">
              <a:latin typeface="Garamond" panose="02020404030301010803" pitchFamily="18" charset="0"/>
            </a:endParaRPr>
          </a:p>
          <a:p>
            <a:pPr marL="0" indent="0">
              <a:lnSpc>
                <a:spcPct val="130000"/>
              </a:lnSpc>
              <a:buNone/>
            </a:pPr>
            <a:endParaRPr lang="en-US" altLang="zh-CN" dirty="0">
              <a:solidFill>
                <a:srgbClr val="C00000"/>
              </a:solidFill>
              <a:latin typeface="Garamond" panose="02020404030301010803" pitchFamily="18" charset="0"/>
            </a:endParaRPr>
          </a:p>
          <a:p>
            <a:pPr lvl="1">
              <a:lnSpc>
                <a:spcPct val="130000"/>
              </a:lnSpc>
            </a:pP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94"/>
          <p:cNvSpPr txBox="1">
            <a:spLocks noChangeArrowheads="1"/>
          </p:cNvSpPr>
          <p:nvPr/>
        </p:nvSpPr>
        <p:spPr bwMode="auto">
          <a:xfrm>
            <a:off x="1464860" y="2714323"/>
            <a:ext cx="4772025" cy="430887"/>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53E8E074EA414244B104A43DDA0D3DB7D7939EA767F2DE1D922DE9C26E96E5E9</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 name="Rectangle 4"/>
          <p:cNvSpPr>
            <a:spLocks noChangeArrowheads="1"/>
          </p:cNvSpPr>
          <p:nvPr/>
        </p:nvSpPr>
        <p:spPr bwMode="auto">
          <a:xfrm>
            <a:off x="0" y="876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95"/>
          <p:cNvSpPr txBox="1">
            <a:spLocks noChangeArrowheads="1"/>
          </p:cNvSpPr>
          <p:nvPr/>
        </p:nvSpPr>
        <p:spPr bwMode="auto">
          <a:xfrm>
            <a:off x="1464860" y="3933554"/>
            <a:ext cx="4772025" cy="260350"/>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itchFamily="2" charset="-122"/>
                <a:cs typeface="Courier New" panose="02070309020205020404" pitchFamily="49" charset="0"/>
              </a:rPr>
              <a:t>0CC2D07F3801D43FD444EB842645FE30C3044B30</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Rectangle 10"/>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97"/>
          <p:cNvSpPr txBox="1">
            <a:spLocks noChangeArrowheads="1"/>
          </p:cNvSpPr>
          <p:nvPr/>
        </p:nvSpPr>
        <p:spPr bwMode="auto">
          <a:xfrm>
            <a:off x="1464860" y="5060814"/>
            <a:ext cx="4772025" cy="428625"/>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1"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82B6D0CB</a:t>
            </a:r>
            <a:r>
              <a:rPr kumimoji="0" lang="en-US" altLang="zh-CN" sz="11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245031B7B199E32DDDFB45CD04812FC219F1549FE7F0D2DBB4414A99</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2"/>
          <p:cNvSpPr>
            <a:spLocks noChangeArrowheads="1"/>
          </p:cNvSpPr>
          <p:nvPr/>
        </p:nvSpPr>
        <p:spPr bwMode="auto">
          <a:xfrm>
            <a:off x="0" y="8858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extLst>
      <p:ext uri="{BB962C8B-B14F-4D97-AF65-F5344CB8AC3E}">
        <p14:creationId xmlns:p14="http://schemas.microsoft.com/office/powerpoint/2010/main" val="313366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11"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普通地址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实例</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取前</a:t>
            </a:r>
            <a:r>
              <a:rPr lang="en-US" altLang="zh-CN" dirty="0">
                <a:latin typeface="Garamond" panose="02020404030301010803" pitchFamily="18" charset="0"/>
              </a:rPr>
              <a:t>4 </a:t>
            </a:r>
            <a:r>
              <a:rPr lang="zh-CN" altLang="en-US" dirty="0">
                <a:latin typeface="Garamond" panose="02020404030301010803" pitchFamily="18" charset="0"/>
              </a:rPr>
              <a:t>个字节（也就是前八个十六进制数）作为校验码。</a:t>
            </a:r>
            <a:endParaRPr lang="en-US" altLang="zh-CN" dirty="0">
              <a:latin typeface="Garamond" panose="02020404030301010803" pitchFamily="18" charset="0"/>
            </a:endParaRPr>
          </a:p>
          <a:p>
            <a:pPr lvl="1">
              <a:lnSpc>
                <a:spcPct val="130000"/>
              </a:lnSpc>
            </a:pP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将主网前缀</a:t>
            </a:r>
            <a:r>
              <a:rPr lang="en-US" altLang="zh-CN" dirty="0">
                <a:latin typeface="Garamond" panose="02020404030301010803" pitchFamily="18" charset="0"/>
              </a:rPr>
              <a:t>00</a:t>
            </a:r>
            <a:r>
              <a:rPr lang="zh-CN" altLang="en-US" dirty="0">
                <a:latin typeface="Garamond" panose="02020404030301010803" pitchFamily="18" charset="0"/>
              </a:rPr>
              <a:t>、第</a:t>
            </a:r>
            <a:r>
              <a:rPr lang="en-US" altLang="zh-CN" dirty="0">
                <a:latin typeface="Garamond" panose="02020404030301010803" pitchFamily="18" charset="0"/>
              </a:rPr>
              <a:t>2 </a:t>
            </a:r>
            <a:r>
              <a:rPr lang="zh-CN" altLang="en-US" dirty="0">
                <a:latin typeface="Garamond" panose="02020404030301010803" pitchFamily="18" charset="0"/>
              </a:rPr>
              <a:t>步的</a:t>
            </a:r>
            <a:r>
              <a:rPr lang="en-US" altLang="zh-CN" dirty="0">
                <a:latin typeface="Garamond" panose="02020404030301010803" pitchFamily="18" charset="0"/>
              </a:rPr>
              <a:t>RIPEMD160 </a:t>
            </a:r>
            <a:r>
              <a:rPr lang="zh-CN" altLang="en-US" dirty="0">
                <a:latin typeface="Garamond" panose="02020404030301010803" pitchFamily="18" charset="0"/>
              </a:rPr>
              <a:t>的结果和校验和前</a:t>
            </a:r>
            <a:r>
              <a:rPr lang="en-US" altLang="zh-CN" dirty="0">
                <a:latin typeface="Garamond" panose="02020404030301010803" pitchFamily="18" charset="0"/>
              </a:rPr>
              <a:t>4 </a:t>
            </a:r>
            <a:r>
              <a:rPr lang="zh-CN" altLang="en-US" dirty="0">
                <a:latin typeface="Garamond" panose="02020404030301010803" pitchFamily="18" charset="0"/>
              </a:rPr>
              <a:t>个字节拼接起来得到地址的十六进制表示</a:t>
            </a:r>
            <a:endParaRPr lang="en-US" altLang="zh-CN" dirty="0">
              <a:latin typeface="Garamond" panose="02020404030301010803" pitchFamily="18" charset="0"/>
            </a:endParaRPr>
          </a:p>
          <a:p>
            <a:pPr lvl="1">
              <a:lnSpc>
                <a:spcPct val="130000"/>
              </a:lnSpc>
            </a:pP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末尾的</a:t>
            </a:r>
            <a:r>
              <a:rPr lang="en-US" altLang="zh-CN" dirty="0">
                <a:latin typeface="Garamond" panose="02020404030301010803" pitchFamily="18" charset="0"/>
              </a:rPr>
              <a:t>4 </a:t>
            </a:r>
            <a:r>
              <a:rPr lang="zh-CN" altLang="en-US" dirty="0">
                <a:latin typeface="Garamond" panose="02020404030301010803" pitchFamily="18" charset="0"/>
              </a:rPr>
              <a:t>个字节提供了公钥哈希的校验能力。</a:t>
            </a:r>
            <a:endParaRPr lang="en-US" altLang="zh-CN" dirty="0">
              <a:latin typeface="Garamond" panose="02020404030301010803" pitchFamily="18" charset="0"/>
            </a:endParaRPr>
          </a:p>
          <a:p>
            <a:pPr marL="0" indent="0">
              <a:lnSpc>
                <a:spcPct val="130000"/>
              </a:lnSpc>
              <a:buNone/>
            </a:pPr>
            <a:endParaRPr lang="en-US" altLang="zh-CN" dirty="0">
              <a:solidFill>
                <a:srgbClr val="C00000"/>
              </a:solidFill>
              <a:latin typeface="Garamond" panose="02020404030301010803" pitchFamily="18" charset="0"/>
            </a:endParaRPr>
          </a:p>
          <a:p>
            <a:pPr lvl="1">
              <a:lnSpc>
                <a:spcPct val="130000"/>
              </a:lnSpc>
            </a:pP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98"/>
          <p:cNvSpPr txBox="1">
            <a:spLocks noChangeArrowheads="1"/>
          </p:cNvSpPr>
          <p:nvPr/>
        </p:nvSpPr>
        <p:spPr bwMode="auto">
          <a:xfrm>
            <a:off x="1464860" y="2826249"/>
            <a:ext cx="4772025" cy="260350"/>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itchFamily="2" charset="-122"/>
                <a:cs typeface="Courier New" panose="02070309020205020404" pitchFamily="49" charset="0"/>
              </a:rPr>
              <a:t>82B6D0CB</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4"/>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99"/>
          <p:cNvSpPr txBox="1">
            <a:spLocks noChangeArrowheads="1"/>
          </p:cNvSpPr>
          <p:nvPr/>
        </p:nvSpPr>
        <p:spPr bwMode="auto">
          <a:xfrm>
            <a:off x="1464859" y="4440474"/>
            <a:ext cx="4772025" cy="254000"/>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000CC2D07F3801D43FD444EB842645FE30C3044B3082B6D0CB</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152400" y="863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extLst>
      <p:ext uri="{BB962C8B-B14F-4D97-AF65-F5344CB8AC3E}">
        <p14:creationId xmlns:p14="http://schemas.microsoft.com/office/powerpoint/2010/main" val="411753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latin typeface="Garamond" panose="02020404030301010803" pitchFamily="18" charset="0"/>
              </a:rPr>
              <a:t>Base58</a:t>
            </a:r>
            <a:r>
              <a:rPr kumimoji="1" lang="zh-CN" altLang="en-US" dirty="0">
                <a:solidFill>
                  <a:prstClr val="black"/>
                </a:solidFill>
                <a:latin typeface="Garamond" panose="02020404030301010803" pitchFamily="18" charset="0"/>
              </a:rPr>
              <a:t>编码</a:t>
            </a:r>
          </a:p>
        </p:txBody>
      </p:sp>
      <p:sp>
        <p:nvSpPr>
          <p:cNvPr id="3" name="内容占位符 2"/>
          <p:cNvSpPr>
            <a:spLocks noGrp="1"/>
          </p:cNvSpPr>
          <p:nvPr>
            <p:ph idx="1"/>
          </p:nvPr>
        </p:nvSpPr>
        <p:spPr>
          <a:xfrm>
            <a:off x="838200" y="1510758"/>
            <a:ext cx="4495800" cy="4845592"/>
          </a:xfrm>
        </p:spPr>
        <p:txBody>
          <a:bodyPr>
            <a:normAutofit/>
          </a:bodyPr>
          <a:lstStyle/>
          <a:p>
            <a:pPr fontAlgn="auto">
              <a:lnSpc>
                <a:spcPct val="130000"/>
              </a:lnSpc>
            </a:pPr>
            <a:r>
              <a:rPr lang="zh-CN" altLang="en-US" dirty="0">
                <a:latin typeface="Garamond" panose="02020404030301010803" pitchFamily="18" charset="0"/>
              </a:rPr>
              <a:t>定义</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十六进制可读性很差，为此比特币定义了</a:t>
            </a:r>
            <a:r>
              <a:rPr lang="en-US" altLang="zh-CN" dirty="0">
                <a:latin typeface="Garamond" panose="02020404030301010803" pitchFamily="18" charset="0"/>
              </a:rPr>
              <a:t>Base 58 </a:t>
            </a:r>
            <a:r>
              <a:rPr lang="zh-CN" altLang="en-US" dirty="0">
                <a:latin typeface="Garamond" panose="02020404030301010803" pitchFamily="18" charset="0"/>
              </a:rPr>
              <a:t>编码系统来对公私密钥进行编码。</a:t>
            </a:r>
            <a:endParaRPr lang="en-US" altLang="zh-CN" dirty="0">
              <a:solidFill>
                <a:srgbClr val="C00000"/>
              </a:solidFill>
              <a:latin typeface="Garamond" panose="02020404030301010803" pitchFamily="18" charset="0"/>
            </a:endParaRPr>
          </a:p>
          <a:p>
            <a:pPr lvl="1">
              <a:lnSpc>
                <a:spcPct val="130000"/>
              </a:lnSpc>
            </a:pP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152400" y="863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4" name="图片 13"/>
          <p:cNvPicPr>
            <a:picLocks noChangeAspect="1"/>
          </p:cNvPicPr>
          <p:nvPr/>
        </p:nvPicPr>
        <p:blipFill>
          <a:blip r:embed="rId3"/>
          <a:stretch>
            <a:fillRect/>
          </a:stretch>
        </p:blipFill>
        <p:spPr>
          <a:xfrm>
            <a:off x="5417913" y="1579555"/>
            <a:ext cx="6388011" cy="4560893"/>
          </a:xfrm>
          <a:prstGeom prst="rect">
            <a:avLst/>
          </a:prstGeom>
        </p:spPr>
      </p:pic>
      <p:sp>
        <p:nvSpPr>
          <p:cNvPr id="8" name="文本框 7">
            <a:extLst>
              <a:ext uri="{FF2B5EF4-FFF2-40B4-BE49-F238E27FC236}">
                <a16:creationId xmlns:a16="http://schemas.microsoft.com/office/drawing/2014/main" id="{424E1535-D239-432E-99D5-6D77C202DAA3}"/>
              </a:ext>
            </a:extLst>
          </p:cNvPr>
          <p:cNvSpPr txBox="1"/>
          <p:nvPr/>
        </p:nvSpPr>
        <p:spPr>
          <a:xfrm>
            <a:off x="252775" y="5085632"/>
            <a:ext cx="4852610" cy="523220"/>
          </a:xfrm>
          <a:prstGeom prst="rect">
            <a:avLst/>
          </a:prstGeom>
          <a:noFill/>
        </p:spPr>
        <p:txBody>
          <a:bodyPr wrap="none" rtlCol="0">
            <a:spAutoFit/>
          </a:bodyPr>
          <a:lstStyle/>
          <a:p>
            <a:r>
              <a:rPr lang="zh-CN" altLang="en-US" sz="2800" b="1" dirty="0">
                <a:solidFill>
                  <a:srgbClr val="A40A57"/>
                </a:solidFill>
              </a:rPr>
              <a:t>比特币账户地址：公钥的哈希</a:t>
            </a:r>
          </a:p>
        </p:txBody>
      </p:sp>
    </p:spTree>
    <p:extLst>
      <p:ext uri="{BB962C8B-B14F-4D97-AF65-F5344CB8AC3E}">
        <p14:creationId xmlns:p14="http://schemas.microsoft.com/office/powerpoint/2010/main" val="51578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其他地址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利用前缀来对各种地址进行区分，避免因为转账地址的混淆带来的错误交易</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152400" y="863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表格 7"/>
          <p:cNvGraphicFramePr>
            <a:graphicFrameLocks noGrp="1"/>
          </p:cNvGraphicFramePr>
          <p:nvPr>
            <p:extLst>
              <p:ext uri="{D42A27DB-BD31-4B8C-83A1-F6EECF244321}">
                <p14:modId xmlns:p14="http://schemas.microsoft.com/office/powerpoint/2010/main" val="1303686025"/>
              </p:ext>
            </p:extLst>
          </p:nvPr>
        </p:nvGraphicFramePr>
        <p:xfrm>
          <a:off x="1307508" y="2611119"/>
          <a:ext cx="9665292" cy="4062185"/>
        </p:xfrm>
        <a:graphic>
          <a:graphicData uri="http://schemas.openxmlformats.org/drawingml/2006/table">
            <a:tbl>
              <a:tblPr firstRow="1" firstCol="1" bandRow="1">
                <a:tableStyleId>{5C22544A-7EE6-4342-B048-85BDC9FD1C3A}</a:tableStyleId>
              </a:tblPr>
              <a:tblGrid>
                <a:gridCol w="2466823">
                  <a:extLst>
                    <a:ext uri="{9D8B030D-6E8A-4147-A177-3AD203B41FA5}">
                      <a16:colId xmlns:a16="http://schemas.microsoft.com/office/drawing/2014/main" val="20000"/>
                    </a:ext>
                  </a:extLst>
                </a:gridCol>
                <a:gridCol w="3047410">
                  <a:extLst>
                    <a:ext uri="{9D8B030D-6E8A-4147-A177-3AD203B41FA5}">
                      <a16:colId xmlns:a16="http://schemas.microsoft.com/office/drawing/2014/main" val="20001"/>
                    </a:ext>
                  </a:extLst>
                </a:gridCol>
                <a:gridCol w="4151059">
                  <a:extLst>
                    <a:ext uri="{9D8B030D-6E8A-4147-A177-3AD203B41FA5}">
                      <a16:colId xmlns:a16="http://schemas.microsoft.com/office/drawing/2014/main" val="20002"/>
                    </a:ext>
                  </a:extLst>
                </a:gridCol>
              </a:tblGrid>
              <a:tr h="393113">
                <a:tc gridSpan="3">
                  <a:txBody>
                    <a:bodyPr/>
                    <a:lstStyle/>
                    <a:p>
                      <a:pPr algn="ctr">
                        <a:spcAft>
                          <a:spcPts val="0"/>
                        </a:spcAft>
                      </a:pPr>
                      <a:r>
                        <a:rPr lang="zh-CN" sz="1800" b="1" kern="100" baseline="0" dirty="0">
                          <a:solidFill>
                            <a:srgbClr val="5B307E"/>
                          </a:solidFill>
                          <a:effectLst/>
                          <a:latin typeface="Garamond" panose="02020404030301010803" pitchFamily="18" charset="0"/>
                        </a:rPr>
                        <a:t>比特币地址类别及对应前缀</a:t>
                      </a:r>
                      <a:endParaRPr lang="zh-CN" sz="1800" b="1" kern="100" baseline="0" dirty="0">
                        <a:solidFill>
                          <a:srgbClr val="5B307E"/>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58634">
                <a:tc>
                  <a:txBody>
                    <a:bodyPr/>
                    <a:lstStyle/>
                    <a:p>
                      <a:pPr algn="ctr">
                        <a:spcAft>
                          <a:spcPts val="0"/>
                        </a:spcAft>
                      </a:pPr>
                      <a:r>
                        <a:rPr lang="zh-CN" sz="1400" kern="100" baseline="0" dirty="0">
                          <a:solidFill>
                            <a:schemeClr val="tx1"/>
                          </a:solidFill>
                          <a:effectLst/>
                          <a:latin typeface="Garamond" panose="02020404030301010803" pitchFamily="18" charset="0"/>
                        </a:rPr>
                        <a:t>十六进制前缀</a:t>
                      </a:r>
                      <a:endParaRPr lang="zh-CN" sz="1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baseline="0">
                          <a:effectLst/>
                          <a:latin typeface="Garamond" panose="02020404030301010803" pitchFamily="18" charset="0"/>
                        </a:rPr>
                        <a:t>Base58</a:t>
                      </a:r>
                      <a:r>
                        <a:rPr lang="zh-CN" sz="1400" kern="100" baseline="0">
                          <a:effectLst/>
                          <a:latin typeface="Garamond" panose="02020404030301010803" pitchFamily="18" charset="0"/>
                        </a:rPr>
                        <a:t>格式前缀</a:t>
                      </a:r>
                      <a:endParaRPr lang="zh-CN" sz="14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a:effectLst/>
                          <a:latin typeface="Garamond" panose="02020404030301010803" pitchFamily="18" charset="0"/>
                        </a:rPr>
                        <a:t>类型</a:t>
                      </a:r>
                      <a:endParaRPr lang="zh-CN" sz="14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00</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1</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a:effectLst/>
                          <a:latin typeface="Garamond" panose="02020404030301010803" pitchFamily="18" charset="0"/>
                        </a:rPr>
                        <a:t>公钥哈希地址</a:t>
                      </a:r>
                      <a:endParaRPr lang="zh-CN" sz="14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05</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3</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dirty="0">
                          <a:effectLst/>
                          <a:latin typeface="Garamond" panose="02020404030301010803" pitchFamily="18" charset="0"/>
                        </a:rPr>
                        <a:t>脚本地址</a:t>
                      </a:r>
                      <a:endParaRPr lang="zh-CN" sz="14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80</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5</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dirty="0">
                          <a:effectLst/>
                          <a:latin typeface="Garamond" panose="02020404030301010803" pitchFamily="18" charset="0"/>
                        </a:rPr>
                        <a:t>私钥</a:t>
                      </a:r>
                      <a:r>
                        <a:rPr lang="en-US" sz="1400" kern="100" baseline="0" dirty="0">
                          <a:effectLst/>
                          <a:latin typeface="Garamond" panose="02020404030301010803" pitchFamily="18" charset="0"/>
                        </a:rPr>
                        <a:t> (</a:t>
                      </a:r>
                      <a:r>
                        <a:rPr lang="zh-CN" sz="1400" kern="100" baseline="0" dirty="0">
                          <a:effectLst/>
                          <a:latin typeface="Garamond" panose="02020404030301010803" pitchFamily="18" charset="0"/>
                        </a:rPr>
                        <a:t>未压缩公钥</a:t>
                      </a:r>
                      <a:r>
                        <a:rPr lang="en-US" sz="1400" kern="100" baseline="0" dirty="0">
                          <a:effectLst/>
                          <a:latin typeface="Garamond" panose="02020404030301010803" pitchFamily="18" charset="0"/>
                        </a:rPr>
                        <a:t>)</a:t>
                      </a:r>
                      <a:endParaRPr lang="zh-CN" sz="14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80</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K</a:t>
                      </a:r>
                      <a:r>
                        <a:rPr lang="zh-CN" sz="1800" kern="100" baseline="0" dirty="0">
                          <a:effectLst/>
                          <a:latin typeface="Garamond" panose="02020404030301010803" pitchFamily="18" charset="0"/>
                        </a:rPr>
                        <a:t>或者</a:t>
                      </a:r>
                      <a:r>
                        <a:rPr lang="en-US" sz="1800" kern="100" baseline="0" dirty="0">
                          <a:effectLst/>
                          <a:latin typeface="Garamond" panose="02020404030301010803" pitchFamily="18" charset="0"/>
                        </a:rPr>
                        <a:t>L</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dirty="0">
                          <a:effectLst/>
                          <a:latin typeface="Garamond" panose="02020404030301010803" pitchFamily="18" charset="0"/>
                        </a:rPr>
                        <a:t>私钥</a:t>
                      </a:r>
                      <a:r>
                        <a:rPr lang="en-US" sz="1400" kern="100" baseline="0" dirty="0">
                          <a:effectLst/>
                          <a:latin typeface="Garamond" panose="02020404030301010803" pitchFamily="18" charset="0"/>
                        </a:rPr>
                        <a:t> (</a:t>
                      </a:r>
                      <a:r>
                        <a:rPr lang="zh-CN" sz="1400" kern="100" baseline="0" dirty="0">
                          <a:effectLst/>
                          <a:latin typeface="Garamond" panose="02020404030301010803" pitchFamily="18" charset="0"/>
                        </a:rPr>
                        <a:t>压缩公钥</a:t>
                      </a:r>
                      <a:r>
                        <a:rPr lang="en-US" sz="1400" kern="100" baseline="0" dirty="0">
                          <a:effectLst/>
                          <a:latin typeface="Garamond" panose="02020404030301010803" pitchFamily="18" charset="0"/>
                        </a:rPr>
                        <a:t>)</a:t>
                      </a:r>
                      <a:endParaRPr lang="zh-CN" sz="14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6F</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m</a:t>
                      </a:r>
                      <a:r>
                        <a:rPr lang="zh-CN" sz="1800" kern="100" baseline="0" dirty="0">
                          <a:effectLst/>
                          <a:latin typeface="Garamond" panose="02020404030301010803" pitchFamily="18" charset="0"/>
                        </a:rPr>
                        <a:t>或者</a:t>
                      </a:r>
                      <a:r>
                        <a:rPr lang="en-US" sz="1800" kern="100" baseline="0" dirty="0">
                          <a:effectLst/>
                          <a:latin typeface="Garamond" panose="02020404030301010803" pitchFamily="18" charset="0"/>
                        </a:rPr>
                        <a:t>n</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dirty="0">
                          <a:effectLst/>
                          <a:latin typeface="Garamond" panose="02020404030301010803" pitchFamily="18" charset="0"/>
                        </a:rPr>
                        <a:t>测试网公钥哈希地址</a:t>
                      </a:r>
                      <a:endParaRPr lang="zh-CN" sz="14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C4</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2</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dirty="0">
                          <a:effectLst/>
                          <a:latin typeface="Garamond" panose="02020404030301010803" pitchFamily="18" charset="0"/>
                        </a:rPr>
                        <a:t>测试网脚本哈希地址</a:t>
                      </a:r>
                      <a:endParaRPr lang="zh-CN" sz="14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458634">
                <a:tc>
                  <a:txBody>
                    <a:bodyPr/>
                    <a:lstStyle/>
                    <a:p>
                      <a:pPr algn="ctr">
                        <a:spcAft>
                          <a:spcPts val="0"/>
                        </a:spcAft>
                      </a:pPr>
                      <a:r>
                        <a:rPr lang="en-US" sz="1800" kern="100" baseline="0" dirty="0">
                          <a:solidFill>
                            <a:schemeClr val="tx1"/>
                          </a:solidFill>
                          <a:effectLst/>
                          <a:latin typeface="Garamond" panose="02020404030301010803" pitchFamily="18" charset="0"/>
                        </a:rPr>
                        <a:t>EF</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baseline="0" dirty="0">
                          <a:effectLst/>
                          <a:latin typeface="Garamond" panose="02020404030301010803" pitchFamily="18" charset="0"/>
                        </a:rPr>
                        <a:t>9</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400" kern="100" baseline="0" dirty="0">
                          <a:effectLst/>
                          <a:latin typeface="Garamond" panose="02020404030301010803" pitchFamily="18" charset="0"/>
                        </a:rPr>
                        <a:t>测试网私钥</a:t>
                      </a:r>
                      <a:r>
                        <a:rPr lang="en-US" sz="1400" kern="100" baseline="0" dirty="0">
                          <a:effectLst/>
                          <a:latin typeface="Garamond" panose="02020404030301010803" pitchFamily="18" charset="0"/>
                        </a:rPr>
                        <a:t> (</a:t>
                      </a:r>
                      <a:r>
                        <a:rPr lang="zh-CN" sz="1400" kern="100" baseline="0" dirty="0">
                          <a:effectLst/>
                          <a:latin typeface="Garamond" panose="02020404030301010803" pitchFamily="18" charset="0"/>
                        </a:rPr>
                        <a:t>未压缩公钥</a:t>
                      </a:r>
                      <a:r>
                        <a:rPr lang="en-US" sz="1400" kern="100" baseline="0" dirty="0">
                          <a:effectLst/>
                          <a:latin typeface="Garamond" panose="02020404030301010803" pitchFamily="18" charset="0"/>
                        </a:rPr>
                        <a:t>)</a:t>
                      </a:r>
                      <a:endParaRPr lang="zh-CN" sz="14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4264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latin typeface="Garamond" panose="02020404030301010803" pitchFamily="18" charset="0"/>
              </a:rPr>
              <a:t>3.1 </a:t>
            </a:r>
            <a:r>
              <a:rPr kumimoji="1" lang="zh-CN" altLang="en-US" dirty="0">
                <a:latin typeface="Garamond" panose="02020404030301010803" pitchFamily="18" charset="0"/>
              </a:rPr>
              <a:t>比特币简介</a:t>
            </a:r>
            <a:endParaRPr kumimoji="1" lang="en-US" altLang="zh-CN" dirty="0">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3.2 </a:t>
            </a:r>
            <a:r>
              <a:rPr kumimoji="1" lang="zh-CN" altLang="en-US" dirty="0">
                <a:latin typeface="Garamond" panose="02020404030301010803" pitchFamily="18" charset="0"/>
              </a:rPr>
              <a:t>基础知识</a:t>
            </a:r>
            <a:r>
              <a:rPr kumimoji="1" lang="en-US" altLang="zh-CN" dirty="0">
                <a:latin typeface="Garamond" panose="02020404030301010803" pitchFamily="18" charset="0"/>
              </a:rPr>
              <a:t> </a:t>
            </a:r>
          </a:p>
          <a:p>
            <a:pPr marL="0" indent="0">
              <a:lnSpc>
                <a:spcPct val="130000"/>
              </a:lnSpc>
              <a:buNone/>
            </a:pPr>
            <a:r>
              <a:rPr kumimoji="1" lang="en-US" altLang="zh-CN" dirty="0">
                <a:latin typeface="Garamond" panose="02020404030301010803" pitchFamily="18" charset="0"/>
              </a:rPr>
              <a:t>3.3 </a:t>
            </a:r>
            <a:r>
              <a:rPr kumimoji="1" lang="zh-CN" altLang="en-US" dirty="0">
                <a:latin typeface="Garamond" panose="02020404030301010803" pitchFamily="18" charset="0"/>
              </a:rPr>
              <a:t>公私密钥与账户</a:t>
            </a:r>
            <a:endParaRPr kumimoji="1" lang="en-US" altLang="zh-CN" dirty="0">
              <a:latin typeface="Garamond" panose="02020404030301010803" pitchFamily="18" charset="0"/>
            </a:endParaRPr>
          </a:p>
          <a:p>
            <a:pPr marL="0" indent="0">
              <a:lnSpc>
                <a:spcPct val="130000"/>
              </a:lnSpc>
              <a:buNone/>
            </a:pPr>
            <a:r>
              <a:rPr kumimoji="1" lang="en-US" altLang="zh-CN" b="1" dirty="0">
                <a:solidFill>
                  <a:srgbClr val="B962FF"/>
                </a:solidFill>
                <a:latin typeface="Garamond" panose="02020404030301010803" pitchFamily="18" charset="0"/>
              </a:rPr>
              <a:t>3.4</a:t>
            </a:r>
            <a:r>
              <a:rPr kumimoji="1" lang="en-US" altLang="zh-CN" dirty="0">
                <a:latin typeface="Garamond" panose="02020404030301010803" pitchFamily="18" charset="0"/>
              </a:rPr>
              <a:t> </a:t>
            </a:r>
            <a:r>
              <a:rPr kumimoji="1" lang="zh-CN" altLang="en-US" b="1" dirty="0">
                <a:solidFill>
                  <a:srgbClr val="B962FF"/>
                </a:solidFill>
                <a:latin typeface="Garamond" panose="02020404030301010803" pitchFamily="18" charset="0"/>
              </a:rPr>
              <a:t>基本数据结构</a:t>
            </a:r>
            <a:endParaRPr kumimoji="1" lang="en-US" altLang="zh-CN" b="1" dirty="0">
              <a:solidFill>
                <a:srgbClr val="B962FF"/>
              </a:solidFill>
              <a:latin typeface="Garamond" panose="02020404030301010803" pitchFamily="18" charset="0"/>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
        <p:nvSpPr>
          <p:cNvPr id="6" name="矩形标注 6">
            <a:extLst>
              <a:ext uri="{FF2B5EF4-FFF2-40B4-BE49-F238E27FC236}">
                <a16:creationId xmlns:a16="http://schemas.microsoft.com/office/drawing/2014/main" id="{2DC4B563-8072-43EF-925D-0F79A57E6DE8}"/>
              </a:ext>
            </a:extLst>
          </p:cNvPr>
          <p:cNvSpPr/>
          <p:nvPr/>
        </p:nvSpPr>
        <p:spPr>
          <a:xfrm>
            <a:off x="6618882" y="2633168"/>
            <a:ext cx="2918530" cy="2728104"/>
          </a:xfrm>
          <a:prstGeom prst="wedgeRectCallout">
            <a:avLst>
              <a:gd name="adj1" fmla="val -129848"/>
              <a:gd name="adj2" fmla="val -1299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区块结构</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区块</a:t>
            </a:r>
            <a:r>
              <a:rPr kumimoji="1" lang="zh-CN" altLang="en-US" sz="2400" b="1" dirty="0">
                <a:solidFill>
                  <a:srgbClr val="B962FF"/>
                </a:solidFill>
                <a:latin typeface="Garamond" panose="02020404030301010803" pitchFamily="18" charset="0"/>
                <a:ea typeface="Microsoft YaHei" panose="020B0503020204020204" pitchFamily="34" charset="-122"/>
              </a:rPr>
              <a:t>链</a:t>
            </a:r>
            <a:r>
              <a:rPr kumimoji="1" lang="zh-CN" altLang="en-US" sz="2400" dirty="0">
                <a:solidFill>
                  <a:prstClr val="black"/>
                </a:solidFill>
                <a:latin typeface="Garamond" panose="02020404030301010803" pitchFamily="18" charset="0"/>
                <a:ea typeface="Microsoft YaHei" panose="020B0503020204020204" pitchFamily="34" charset="-122"/>
              </a:rPr>
              <a:t>结构</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默克尔树结构</a:t>
            </a:r>
            <a:endParaRPr kumimoji="1" lang="en-US" altLang="zh-CN" sz="2400" dirty="0">
              <a:solidFill>
                <a:prstClr val="black"/>
              </a:solidFill>
              <a:latin typeface="Garamond" panose="02020404030301010803" pitchFamily="18" charset="0"/>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Garamond" panose="02020404030301010803" pitchFamily="18" charset="0"/>
                <a:ea typeface="Microsoft YaHei" panose="020B0503020204020204" pitchFamily="34" charset="-122"/>
              </a:rPr>
              <a:t>交易结构</a:t>
            </a:r>
            <a:endParaRPr kumimoji="1" lang="en-US" altLang="zh-CN" sz="2400" dirty="0">
              <a:solidFill>
                <a:prstClr val="black"/>
              </a:solidFill>
              <a:latin typeface="Garamond" panose="02020404030301010803" pitchFamily="18" charset="0"/>
              <a:ea typeface="Microsoft YaHei" panose="020B0503020204020204" pitchFamily="34" charset="-122"/>
            </a:endParaRPr>
          </a:p>
        </p:txBody>
      </p:sp>
    </p:spTree>
    <p:extLst>
      <p:ext uri="{BB962C8B-B14F-4D97-AF65-F5344CB8AC3E}">
        <p14:creationId xmlns:p14="http://schemas.microsoft.com/office/powerpoint/2010/main" val="1843582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区块与链</a:t>
            </a:r>
          </a:p>
        </p:txBody>
      </p:sp>
      <p:sp>
        <p:nvSpPr>
          <p:cNvPr id="3" name="内容占位符 2"/>
          <p:cNvSpPr>
            <a:spLocks noGrp="1"/>
          </p:cNvSpPr>
          <p:nvPr>
            <p:ph idx="1"/>
          </p:nvPr>
        </p:nvSpPr>
        <p:spPr>
          <a:xfrm>
            <a:off x="838200" y="1454927"/>
            <a:ext cx="9888940" cy="1250371"/>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区块链本质是一个</a:t>
            </a:r>
            <a:r>
              <a:rPr lang="zh-CN" altLang="en-US" b="1" dirty="0">
                <a:solidFill>
                  <a:srgbClr val="B962FF"/>
                </a:solidFill>
              </a:rPr>
              <a:t>去中心化账本</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6" name="文本框 5">
            <a:extLst>
              <a:ext uri="{FF2B5EF4-FFF2-40B4-BE49-F238E27FC236}">
                <a16:creationId xmlns:a16="http://schemas.microsoft.com/office/drawing/2014/main" id="{4410AA69-2AF3-4CEB-A7D2-FC96F37491B1}"/>
              </a:ext>
            </a:extLst>
          </p:cNvPr>
          <p:cNvSpPr txBox="1"/>
          <p:nvPr/>
        </p:nvSpPr>
        <p:spPr>
          <a:xfrm>
            <a:off x="1184210" y="3986678"/>
            <a:ext cx="10036858" cy="525657"/>
          </a:xfrm>
          <a:prstGeom prst="rect">
            <a:avLst/>
          </a:prstGeom>
          <a:noFill/>
        </p:spPr>
        <p:txBody>
          <a:bodyPr wrap="square">
            <a:spAutoFit/>
          </a:bodyPr>
          <a:lstStyle/>
          <a:p>
            <a:pPr marL="431800" lvl="1" indent="-342900">
              <a:lnSpc>
                <a:spcPct val="130000"/>
              </a:lnSpc>
              <a:spcBef>
                <a:spcPts val="600"/>
              </a:spcBef>
              <a:buFont typeface="Arial" panose="020B0604020202020204" pitchFamily="34" charset="0"/>
              <a:buChar char="•"/>
            </a:pPr>
            <a:r>
              <a:rPr lang="zh-CN" altLang="en-US" sz="2400" b="1" dirty="0">
                <a:solidFill>
                  <a:srgbClr val="B962FF"/>
                </a:solidFill>
                <a:latin typeface="Microsoft YaHei" panose="020B0503020204020204" pitchFamily="34" charset="-122"/>
                <a:ea typeface="Microsoft YaHei" panose="020B0503020204020204" pitchFamily="34" charset="-122"/>
              </a:rPr>
              <a:t>比特币系统中采取了批量确认交易的方法，形成区块。</a:t>
            </a:r>
            <a:endParaRPr lang="en-US" altLang="zh-CN" sz="2400" b="1" dirty="0">
              <a:solidFill>
                <a:srgbClr val="B962FF"/>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0D085A5F-BD4F-4239-A3FD-D36889E84182}"/>
              </a:ext>
            </a:extLst>
          </p:cNvPr>
          <p:cNvSpPr txBox="1"/>
          <p:nvPr/>
        </p:nvSpPr>
        <p:spPr>
          <a:xfrm>
            <a:off x="1184210" y="2705298"/>
            <a:ext cx="9699812" cy="525657"/>
          </a:xfrm>
          <a:prstGeom prst="rect">
            <a:avLst/>
          </a:prstGeom>
          <a:noFill/>
        </p:spPr>
        <p:txBody>
          <a:bodyPr wrap="square">
            <a:spAutoFit/>
          </a:bodyPr>
          <a:lstStyle/>
          <a:p>
            <a:pPr marL="342900" lvl="1" indent="-254000">
              <a:lnSpc>
                <a:spcPct val="130000"/>
              </a:lnSpc>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交易需要得到验证和执行才能够正式被区块链系统确认。</a:t>
            </a:r>
            <a:endParaRPr lang="en-US" altLang="zh-CN" sz="2400" dirty="0">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694E45E1-0946-4E3C-AAB0-A23A12BB07B6}"/>
              </a:ext>
            </a:extLst>
          </p:cNvPr>
          <p:cNvSpPr txBox="1"/>
          <p:nvPr/>
        </p:nvSpPr>
        <p:spPr>
          <a:xfrm>
            <a:off x="1184210" y="3345988"/>
            <a:ext cx="9888940" cy="525657"/>
          </a:xfrm>
          <a:prstGeom prst="rect">
            <a:avLst/>
          </a:prstGeom>
          <a:noFill/>
        </p:spPr>
        <p:txBody>
          <a:bodyPr wrap="square">
            <a:spAutoFit/>
          </a:bodyPr>
          <a:lstStyle/>
          <a:p>
            <a:pPr marL="431800" lvl="1" indent="-342900">
              <a:lnSpc>
                <a:spcPct val="130000"/>
              </a:lnSpc>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如果每一个交易都要被单独确认的话，整个系统的开销将会非常巨大。</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641111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a:t>
            </a:r>
          </a:p>
        </p:txBody>
      </p:sp>
      <p:sp>
        <p:nvSpPr>
          <p:cNvPr id="3" name="内容占位符 2"/>
          <p:cNvSpPr>
            <a:spLocks noGrp="1"/>
          </p:cNvSpPr>
          <p:nvPr>
            <p:ph idx="1"/>
          </p:nvPr>
        </p:nvSpPr>
        <p:spPr>
          <a:xfrm>
            <a:off x="838200" y="1510758"/>
            <a:ext cx="9888940" cy="1752395"/>
          </a:xfrm>
        </p:spPr>
        <p:txBody>
          <a:bodyPr>
            <a:normAutofit/>
          </a:bodyPr>
          <a:lstStyle/>
          <a:p>
            <a:pPr fontAlgn="auto">
              <a:lnSpc>
                <a:spcPct val="130000"/>
              </a:lnSpc>
            </a:pPr>
            <a:r>
              <a:rPr lang="zh-CN" altLang="en-US" dirty="0">
                <a:latin typeface="Garamond" panose="02020404030301010803" pitchFamily="18" charset="0"/>
              </a:rPr>
              <a:t>定义</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区块链系统理解为一个数字账本，那么一个区块便是账本上的一页。</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记录了相对独立的一批交易记录，并在对这些交易进行一次确认。</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pic>
        <p:nvPicPr>
          <p:cNvPr id="5" name="图片 4"/>
          <p:cNvPicPr>
            <a:picLocks noChangeAspect="1"/>
          </p:cNvPicPr>
          <p:nvPr/>
        </p:nvPicPr>
        <p:blipFill>
          <a:blip r:embed="rId3"/>
          <a:stretch>
            <a:fillRect/>
          </a:stretch>
        </p:blipFill>
        <p:spPr>
          <a:xfrm>
            <a:off x="1758320" y="4862367"/>
            <a:ext cx="8675360" cy="1676545"/>
          </a:xfrm>
          <a:prstGeom prst="rect">
            <a:avLst/>
          </a:prstGeom>
        </p:spPr>
      </p:pic>
      <p:sp>
        <p:nvSpPr>
          <p:cNvPr id="8" name="文本框 7">
            <a:extLst>
              <a:ext uri="{FF2B5EF4-FFF2-40B4-BE49-F238E27FC236}">
                <a16:creationId xmlns:a16="http://schemas.microsoft.com/office/drawing/2014/main" id="{39748E9E-0E92-45C1-9E50-F13C78870186}"/>
              </a:ext>
            </a:extLst>
          </p:cNvPr>
          <p:cNvSpPr txBox="1"/>
          <p:nvPr/>
        </p:nvSpPr>
        <p:spPr>
          <a:xfrm>
            <a:off x="838200" y="3303084"/>
            <a:ext cx="9888940" cy="1498102"/>
          </a:xfrm>
          <a:prstGeom prst="rect">
            <a:avLst/>
          </a:prstGeom>
          <a:noFill/>
        </p:spPr>
        <p:txBody>
          <a:bodyPr wrap="square">
            <a:spAutoFit/>
          </a:bodyPr>
          <a:lstStyle/>
          <a:p>
            <a:pPr marL="800100" lvl="1" indent="-342900">
              <a:lnSpc>
                <a:spcPct val="130000"/>
              </a:lnSpc>
              <a:buFont typeface="Arial" panose="020B0604020202020204" pitchFamily="34" charset="0"/>
              <a:buChar char="•"/>
            </a:pPr>
            <a:r>
              <a:rPr lang="zh-CN" altLang="en-US" sz="2400" dirty="0">
                <a:latin typeface="Garamond" panose="02020404030301010803" pitchFamily="18" charset="0"/>
                <a:ea typeface="微软雅黑" panose="020B0503020204020204" pitchFamily="34" charset="-122"/>
              </a:rPr>
              <a:t>组成</a:t>
            </a:r>
            <a:endParaRPr lang="en-US" altLang="zh-CN" sz="2400" dirty="0">
              <a:latin typeface="Garamond" panose="02020404030301010803" pitchFamily="18" charset="0"/>
              <a:ea typeface="微软雅黑" panose="020B0503020204020204" pitchFamily="34" charset="-122"/>
            </a:endParaRPr>
          </a:p>
          <a:p>
            <a:pPr lvl="2">
              <a:lnSpc>
                <a:spcPct val="130000"/>
              </a:lnSpc>
            </a:pPr>
            <a:r>
              <a:rPr lang="zh-CN" altLang="en-US" sz="2400" b="1" dirty="0">
                <a:solidFill>
                  <a:srgbClr val="B962FF"/>
                </a:solidFill>
                <a:latin typeface="Garamond" panose="02020404030301010803" pitchFamily="18" charset="0"/>
                <a:ea typeface="微软雅黑" panose="020B0503020204020204" pitchFamily="34" charset="-122"/>
              </a:rPr>
              <a:t>区块头（</a:t>
            </a:r>
            <a:r>
              <a:rPr lang="en-US" altLang="zh-CN" sz="2400" b="1" dirty="0">
                <a:solidFill>
                  <a:srgbClr val="B962FF"/>
                </a:solidFill>
                <a:latin typeface="Garamond" panose="02020404030301010803" pitchFamily="18" charset="0"/>
                <a:ea typeface="微软雅黑" panose="020B0503020204020204" pitchFamily="34" charset="-122"/>
              </a:rPr>
              <a:t>Header</a:t>
            </a:r>
            <a:r>
              <a:rPr lang="zh-CN" altLang="en-US" sz="2400" b="1" dirty="0">
                <a:solidFill>
                  <a:srgbClr val="B962FF"/>
                </a:solidFill>
                <a:latin typeface="Garamond" panose="02020404030301010803" pitchFamily="18" charset="0"/>
                <a:ea typeface="微软雅黑" panose="020B0503020204020204" pitchFamily="34" charset="-122"/>
              </a:rPr>
              <a:t>）：</a:t>
            </a:r>
            <a:r>
              <a:rPr lang="zh-CN" altLang="en-US" sz="2400" dirty="0">
                <a:latin typeface="Garamond" panose="02020404030301010803" pitchFamily="18" charset="0"/>
                <a:ea typeface="微软雅黑" panose="020B0503020204020204" pitchFamily="34" charset="-122"/>
              </a:rPr>
              <a:t>包含了这个区块的所有信息</a:t>
            </a:r>
            <a:endParaRPr lang="en-US" altLang="zh-CN" sz="2400" dirty="0">
              <a:latin typeface="Garamond" panose="02020404030301010803" pitchFamily="18" charset="0"/>
              <a:ea typeface="微软雅黑" panose="020B0503020204020204" pitchFamily="34" charset="-122"/>
            </a:endParaRPr>
          </a:p>
          <a:p>
            <a:pPr lvl="2">
              <a:lnSpc>
                <a:spcPct val="130000"/>
              </a:lnSpc>
            </a:pPr>
            <a:r>
              <a:rPr lang="zh-CN" altLang="en-US" sz="2400" b="1" dirty="0">
                <a:solidFill>
                  <a:srgbClr val="B962FF"/>
                </a:solidFill>
                <a:latin typeface="Garamond" panose="02020404030301010803" pitchFamily="18" charset="0"/>
                <a:ea typeface="微软雅黑" panose="020B0503020204020204" pitchFamily="34" charset="-122"/>
              </a:rPr>
              <a:t>区块体（</a:t>
            </a:r>
            <a:r>
              <a:rPr lang="en-US" altLang="zh-CN" sz="2400" b="1" dirty="0">
                <a:solidFill>
                  <a:srgbClr val="B962FF"/>
                </a:solidFill>
                <a:latin typeface="Garamond" panose="02020404030301010803" pitchFamily="18" charset="0"/>
                <a:ea typeface="微软雅黑" panose="020B0503020204020204" pitchFamily="34" charset="-122"/>
              </a:rPr>
              <a:t>Body</a:t>
            </a:r>
            <a:r>
              <a:rPr lang="zh-CN" altLang="en-US" sz="2400" b="1" dirty="0">
                <a:solidFill>
                  <a:srgbClr val="B962FF"/>
                </a:solidFill>
                <a:latin typeface="Garamond" panose="02020404030301010803" pitchFamily="18" charset="0"/>
                <a:ea typeface="微软雅黑" panose="020B0503020204020204" pitchFamily="34" charset="-122"/>
              </a:rPr>
              <a:t>）：</a:t>
            </a:r>
            <a:r>
              <a:rPr lang="zh-CN" altLang="en-US" sz="2400" dirty="0">
                <a:latin typeface="Garamond" panose="02020404030301010803" pitchFamily="18" charset="0"/>
                <a:ea typeface="微软雅黑" panose="020B0503020204020204" pitchFamily="34" charset="-122"/>
              </a:rPr>
              <a:t>存放交易等详细数据</a:t>
            </a:r>
            <a:endParaRPr lang="en-US" altLang="zh-CN" sz="2400" dirty="0">
              <a:latin typeface="Garamond" panose="02020404030301010803" pitchFamily="18" charset="0"/>
              <a:ea typeface="微软雅黑" panose="020B0503020204020204" pitchFamily="34" charset="-122"/>
            </a:endParaRPr>
          </a:p>
        </p:txBody>
      </p:sp>
    </p:spTree>
    <p:extLst>
      <p:ext uri="{BB962C8B-B14F-4D97-AF65-F5344CB8AC3E}">
        <p14:creationId xmlns:p14="http://schemas.microsoft.com/office/powerpoint/2010/main" val="3205639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区块头</a:t>
            </a:r>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dirty="0">
                <a:latin typeface="Garamond" panose="02020404030301010803" pitchFamily="18" charset="0"/>
              </a:rPr>
              <a:t>定义与作用</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存放区块信息。</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作为区块的摘要在网络间进行传输。</a:t>
            </a:r>
            <a:endParaRPr lang="en-US" altLang="zh-CN" dirty="0">
              <a:latin typeface="Garamond" panose="02020404030301010803" pitchFamily="18" charset="0"/>
            </a:endParaRPr>
          </a:p>
          <a:p>
            <a:pPr>
              <a:lnSpc>
                <a:spcPct val="130000"/>
              </a:lnSpc>
            </a:pPr>
            <a:r>
              <a:rPr lang="zh-CN" altLang="en-US" dirty="0">
                <a:latin typeface="Garamond" panose="02020404030301010803" pitchFamily="18" charset="0"/>
              </a:rPr>
              <a:t>组成</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区块版本。</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前一个区块的哈希。</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交易哈希：交易列表的哈希值。</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产生的时间。</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难度信息：区块产生的门槛难度。</a:t>
            </a:r>
            <a:endParaRPr lang="en-US" altLang="zh-CN" dirty="0">
              <a:latin typeface="Garamond" panose="02020404030301010803" pitchFamily="18" charset="0"/>
            </a:endParaRPr>
          </a:p>
          <a:p>
            <a:pPr lvl="1">
              <a:lnSpc>
                <a:spcPct val="130000"/>
              </a:lnSpc>
            </a:pPr>
            <a:r>
              <a:rPr lang="en-US" altLang="zh-CN" dirty="0">
                <a:latin typeface="Garamond" panose="02020404030301010803" pitchFamily="18" charset="0"/>
              </a:rPr>
              <a:t>Nonce</a:t>
            </a:r>
            <a:r>
              <a:rPr lang="zh-CN" altLang="en-US" dirty="0">
                <a:latin typeface="Garamond" panose="02020404030301010803" pitchFamily="18" charset="0"/>
              </a:rPr>
              <a:t>值：用于动态调整以产生满足门槛条件的合法区块。</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extLst>
      <p:ext uri="{BB962C8B-B14F-4D97-AF65-F5344CB8AC3E}">
        <p14:creationId xmlns:p14="http://schemas.microsoft.com/office/powerpoint/2010/main" val="364251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区块头</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graphicFrame>
        <p:nvGraphicFramePr>
          <p:cNvPr id="6" name="表格 5">
            <a:extLst>
              <a:ext uri="{FF2B5EF4-FFF2-40B4-BE49-F238E27FC236}">
                <a16:creationId xmlns:a16="http://schemas.microsoft.com/office/drawing/2014/main" id="{69BC03DF-C054-4833-BC6A-7105345005DA}"/>
              </a:ext>
            </a:extLst>
          </p:cNvPr>
          <p:cNvGraphicFramePr>
            <a:graphicFrameLocks noGrp="1"/>
          </p:cNvGraphicFramePr>
          <p:nvPr>
            <p:extLst>
              <p:ext uri="{D42A27DB-BD31-4B8C-83A1-F6EECF244321}">
                <p14:modId xmlns:p14="http://schemas.microsoft.com/office/powerpoint/2010/main" val="1511506915"/>
              </p:ext>
            </p:extLst>
          </p:nvPr>
        </p:nvGraphicFramePr>
        <p:xfrm>
          <a:off x="635000" y="1442762"/>
          <a:ext cx="10713721" cy="5050114"/>
        </p:xfrm>
        <a:graphic>
          <a:graphicData uri="http://schemas.openxmlformats.org/drawingml/2006/table">
            <a:tbl>
              <a:tblPr firstRow="1" firstCol="1" bandRow="1">
                <a:tableStyleId>{5C22544A-7EE6-4342-B048-85BDC9FD1C3A}</a:tableStyleId>
              </a:tblPr>
              <a:tblGrid>
                <a:gridCol w="3416091">
                  <a:extLst>
                    <a:ext uri="{9D8B030D-6E8A-4147-A177-3AD203B41FA5}">
                      <a16:colId xmlns:a16="http://schemas.microsoft.com/office/drawing/2014/main" val="20000"/>
                    </a:ext>
                  </a:extLst>
                </a:gridCol>
                <a:gridCol w="2180483">
                  <a:extLst>
                    <a:ext uri="{9D8B030D-6E8A-4147-A177-3AD203B41FA5}">
                      <a16:colId xmlns:a16="http://schemas.microsoft.com/office/drawing/2014/main" val="20001"/>
                    </a:ext>
                  </a:extLst>
                </a:gridCol>
                <a:gridCol w="5117147">
                  <a:extLst>
                    <a:ext uri="{9D8B030D-6E8A-4147-A177-3AD203B41FA5}">
                      <a16:colId xmlns:a16="http://schemas.microsoft.com/office/drawing/2014/main" val="20002"/>
                    </a:ext>
                  </a:extLst>
                </a:gridCol>
              </a:tblGrid>
              <a:tr h="559607">
                <a:tc gridSpan="3">
                  <a:txBody>
                    <a:bodyPr/>
                    <a:lstStyle/>
                    <a:p>
                      <a:pPr algn="ctr">
                        <a:spcAft>
                          <a:spcPts val="0"/>
                        </a:spcAft>
                      </a:pPr>
                      <a:r>
                        <a:rPr lang="zh-CN" sz="1800" kern="100" baseline="0" dirty="0">
                          <a:solidFill>
                            <a:schemeClr val="tx1"/>
                          </a:solidFill>
                          <a:effectLst/>
                          <a:latin typeface="Garamond" panose="02020404030301010803" pitchFamily="18" charset="0"/>
                        </a:rPr>
                        <a:t>比特币的区块头数据结构</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641501">
                <a:tc>
                  <a:txBody>
                    <a:bodyPr/>
                    <a:lstStyle/>
                    <a:p>
                      <a:pPr indent="-12065" algn="ctr">
                        <a:spcAft>
                          <a:spcPts val="0"/>
                        </a:spcAft>
                      </a:pPr>
                      <a:r>
                        <a:rPr lang="zh-CN" sz="1800" kern="1050" baseline="0" dirty="0">
                          <a:solidFill>
                            <a:schemeClr val="tx1"/>
                          </a:solidFill>
                          <a:effectLst/>
                          <a:latin typeface="Garamond" panose="02020404030301010803" pitchFamily="18" charset="0"/>
                        </a:rPr>
                        <a:t>源码中的命名</a:t>
                      </a:r>
                      <a:endParaRPr lang="zh-CN" sz="18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a:effectLst/>
                          <a:latin typeface="Garamond" panose="02020404030301010803" pitchFamily="18" charset="0"/>
                        </a:rPr>
                        <a:t>大小（字节）</a:t>
                      </a:r>
                      <a:endParaRPr lang="zh-CN" sz="18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b="1" kern="1050" baseline="0" dirty="0">
                          <a:solidFill>
                            <a:srgbClr val="B962FF"/>
                          </a:solidFill>
                          <a:effectLst/>
                          <a:latin typeface="Garamond" panose="02020404030301010803" pitchFamily="18" charset="0"/>
                        </a:rPr>
                        <a:t>说明</a:t>
                      </a:r>
                      <a:endParaRPr lang="zh-CN" sz="1800" b="1" kern="100" baseline="0" dirty="0">
                        <a:solidFill>
                          <a:srgbClr val="B962FF"/>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641501">
                <a:tc>
                  <a:txBody>
                    <a:bodyPr/>
                    <a:lstStyle/>
                    <a:p>
                      <a:pPr indent="-12065" algn="ctr">
                        <a:spcAft>
                          <a:spcPts val="0"/>
                        </a:spcAft>
                      </a:pPr>
                      <a:r>
                        <a:rPr lang="en-US" sz="2400" kern="1050" baseline="0" dirty="0" err="1">
                          <a:solidFill>
                            <a:schemeClr val="tx1"/>
                          </a:solidFill>
                          <a:effectLst/>
                          <a:latin typeface="Garamond" panose="02020404030301010803" pitchFamily="18" charset="0"/>
                        </a:rPr>
                        <a:t>nVersion</a:t>
                      </a:r>
                      <a:endParaRPr lang="zh-CN" sz="2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2400" kern="1050" baseline="0">
                          <a:effectLst/>
                          <a:latin typeface="Garamond" panose="02020404030301010803" pitchFamily="18" charset="0"/>
                        </a:rPr>
                        <a:t>4</a:t>
                      </a:r>
                      <a:endParaRPr lang="zh-CN" sz="24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a:effectLst/>
                          <a:latin typeface="Garamond" panose="02020404030301010803" pitchFamily="18" charset="0"/>
                        </a:rPr>
                        <a:t>区块遵守的版本</a:t>
                      </a:r>
                      <a:endParaRPr lang="zh-CN" sz="18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641501">
                <a:tc>
                  <a:txBody>
                    <a:bodyPr/>
                    <a:lstStyle/>
                    <a:p>
                      <a:pPr indent="-12065" algn="ctr">
                        <a:spcAft>
                          <a:spcPts val="0"/>
                        </a:spcAft>
                      </a:pPr>
                      <a:r>
                        <a:rPr lang="en-US" sz="2400" kern="1050" baseline="0" dirty="0" err="1">
                          <a:solidFill>
                            <a:schemeClr val="tx1"/>
                          </a:solidFill>
                          <a:effectLst/>
                          <a:latin typeface="Garamond" panose="02020404030301010803" pitchFamily="18" charset="0"/>
                        </a:rPr>
                        <a:t>hashPrevBlock</a:t>
                      </a:r>
                      <a:endParaRPr lang="zh-CN" sz="2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2400" kern="1050" baseline="0" dirty="0">
                          <a:effectLst/>
                          <a:latin typeface="Garamond" panose="02020404030301010803" pitchFamily="18" charset="0"/>
                        </a:rPr>
                        <a:t>32</a:t>
                      </a:r>
                      <a:endParaRPr lang="zh-CN" sz="2400" kern="100" baseline="0" dirty="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a:effectLst/>
                          <a:latin typeface="Garamond" panose="02020404030301010803" pitchFamily="18" charset="0"/>
                        </a:rPr>
                        <a:t>前一区块的哈希值</a:t>
                      </a:r>
                      <a:endParaRPr lang="zh-CN" sz="18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r h="641501">
                <a:tc>
                  <a:txBody>
                    <a:bodyPr/>
                    <a:lstStyle/>
                    <a:p>
                      <a:pPr indent="-12065" algn="ctr">
                        <a:spcAft>
                          <a:spcPts val="0"/>
                        </a:spcAft>
                      </a:pPr>
                      <a:r>
                        <a:rPr lang="en-US" sz="2400" kern="1050" baseline="0" dirty="0" err="1">
                          <a:solidFill>
                            <a:schemeClr val="tx1"/>
                          </a:solidFill>
                          <a:effectLst/>
                          <a:latin typeface="Garamond" panose="02020404030301010803" pitchFamily="18" charset="0"/>
                        </a:rPr>
                        <a:t>hashMerkleRoot</a:t>
                      </a:r>
                      <a:endParaRPr lang="zh-CN" sz="2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2400" kern="1050" baseline="0">
                          <a:effectLst/>
                          <a:latin typeface="Garamond" panose="02020404030301010803" pitchFamily="18" charset="0"/>
                        </a:rPr>
                        <a:t>32</a:t>
                      </a:r>
                      <a:endParaRPr lang="zh-CN" sz="24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a:effectLst/>
                          <a:latin typeface="Garamond" panose="02020404030301010803" pitchFamily="18" charset="0"/>
                        </a:rPr>
                        <a:t>区块中交易列表的哈希值</a:t>
                      </a:r>
                      <a:endParaRPr lang="zh-CN" sz="18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4"/>
                  </a:ext>
                </a:extLst>
              </a:tr>
              <a:tr h="641501">
                <a:tc>
                  <a:txBody>
                    <a:bodyPr/>
                    <a:lstStyle/>
                    <a:p>
                      <a:pPr indent="-12065" algn="ctr">
                        <a:spcAft>
                          <a:spcPts val="0"/>
                        </a:spcAft>
                      </a:pPr>
                      <a:r>
                        <a:rPr lang="en-US" sz="2400" kern="1050" baseline="0" dirty="0" err="1">
                          <a:solidFill>
                            <a:schemeClr val="tx1"/>
                          </a:solidFill>
                          <a:effectLst/>
                          <a:latin typeface="Garamond" panose="02020404030301010803" pitchFamily="18" charset="0"/>
                        </a:rPr>
                        <a:t>nTime</a:t>
                      </a:r>
                      <a:endParaRPr lang="zh-CN" sz="2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2400" kern="1050" baseline="0" dirty="0">
                          <a:effectLst/>
                          <a:latin typeface="Garamond" panose="02020404030301010803" pitchFamily="18" charset="0"/>
                        </a:rPr>
                        <a:t>4</a:t>
                      </a:r>
                      <a:endParaRPr lang="zh-CN" sz="2400" kern="100" baseline="0" dirty="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a:effectLst/>
                          <a:latin typeface="Garamond" panose="02020404030301010803" pitchFamily="18" charset="0"/>
                        </a:rPr>
                        <a:t>产生区块的时间</a:t>
                      </a:r>
                      <a:endParaRPr lang="zh-CN" sz="18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5"/>
                  </a:ext>
                </a:extLst>
              </a:tr>
              <a:tr h="641501">
                <a:tc>
                  <a:txBody>
                    <a:bodyPr/>
                    <a:lstStyle/>
                    <a:p>
                      <a:pPr indent="-12065" algn="ctr">
                        <a:spcAft>
                          <a:spcPts val="0"/>
                        </a:spcAft>
                      </a:pPr>
                      <a:r>
                        <a:rPr lang="en-US" sz="2400" kern="1050" baseline="0" dirty="0" err="1">
                          <a:solidFill>
                            <a:schemeClr val="tx1"/>
                          </a:solidFill>
                          <a:effectLst/>
                          <a:latin typeface="Garamond" panose="02020404030301010803" pitchFamily="18" charset="0"/>
                        </a:rPr>
                        <a:t>nBits</a:t>
                      </a:r>
                      <a:endParaRPr lang="zh-CN" sz="2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2400" kern="1050" baseline="0" dirty="0">
                          <a:effectLst/>
                          <a:latin typeface="Garamond" panose="02020404030301010803" pitchFamily="18" charset="0"/>
                        </a:rPr>
                        <a:t>4</a:t>
                      </a:r>
                      <a:endParaRPr lang="zh-CN" sz="2400" kern="100" baseline="0" dirty="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a:effectLst/>
                          <a:latin typeface="Garamond" panose="02020404030301010803" pitchFamily="18" charset="0"/>
                        </a:rPr>
                        <a:t>区块产生的难度目标</a:t>
                      </a:r>
                      <a:endParaRPr lang="zh-CN" sz="1800" kern="100" baseline="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6"/>
                  </a:ext>
                </a:extLst>
              </a:tr>
              <a:tr h="641501">
                <a:tc>
                  <a:txBody>
                    <a:bodyPr/>
                    <a:lstStyle/>
                    <a:p>
                      <a:pPr indent="-12065" algn="ctr">
                        <a:spcAft>
                          <a:spcPts val="0"/>
                        </a:spcAft>
                      </a:pPr>
                      <a:r>
                        <a:rPr lang="en-US" sz="2400" kern="1050" baseline="0" dirty="0" err="1">
                          <a:solidFill>
                            <a:schemeClr val="tx1"/>
                          </a:solidFill>
                          <a:effectLst/>
                          <a:latin typeface="Garamond" panose="02020404030301010803" pitchFamily="18" charset="0"/>
                        </a:rPr>
                        <a:t>nNonce</a:t>
                      </a:r>
                      <a:endParaRPr lang="zh-CN" sz="2400" kern="100" baseline="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2400" kern="1050" baseline="0" dirty="0">
                          <a:effectLst/>
                          <a:latin typeface="Garamond" panose="02020404030301010803" pitchFamily="18" charset="0"/>
                        </a:rPr>
                        <a:t>4</a:t>
                      </a:r>
                      <a:endParaRPr lang="zh-CN" sz="2400" kern="100" baseline="0" dirty="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baseline="0" dirty="0">
                          <a:effectLst/>
                          <a:latin typeface="Garamond" panose="02020404030301010803" pitchFamily="18" charset="0"/>
                        </a:rPr>
                        <a:t>凑齐难度目标的一个随机数</a:t>
                      </a:r>
                      <a:endParaRPr lang="zh-CN" sz="1800" kern="100" baseline="0" dirty="0">
                        <a:effectLst/>
                        <a:latin typeface="Garamond" panose="02020404030301010803" pitchFamily="18"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33553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区块链</a:t>
            </a:r>
          </a:p>
        </p:txBody>
      </p:sp>
      <p:sp>
        <p:nvSpPr>
          <p:cNvPr id="3" name="内容占位符 2"/>
          <p:cNvSpPr>
            <a:spLocks noGrp="1"/>
          </p:cNvSpPr>
          <p:nvPr>
            <p:ph idx="1"/>
          </p:nvPr>
        </p:nvSpPr>
        <p:spPr>
          <a:xfrm>
            <a:off x="838200" y="1510758"/>
            <a:ext cx="11102788" cy="4845592"/>
          </a:xfrm>
        </p:spPr>
        <p:txBody>
          <a:bodyPr>
            <a:normAutofit/>
          </a:bodyPr>
          <a:lstStyle/>
          <a:p>
            <a:pPr>
              <a:lnSpc>
                <a:spcPct val="130000"/>
              </a:lnSpc>
            </a:pPr>
            <a:r>
              <a:rPr lang="zh-CN" altLang="en-US" dirty="0">
                <a:latin typeface="Garamond" panose="02020404030301010803" pitchFamily="18" charset="0"/>
              </a:rPr>
              <a:t>背景</a:t>
            </a:r>
            <a:endParaRPr lang="en-US" altLang="zh-CN" dirty="0">
              <a:latin typeface="Garamond" panose="02020404030301010803" pitchFamily="18" charset="0"/>
            </a:endParaRPr>
          </a:p>
          <a:p>
            <a:pPr lvl="1"/>
            <a:r>
              <a:rPr lang="zh-CN" altLang="en-US" dirty="0">
                <a:latin typeface="Garamond" panose="02020404030301010803" pitchFamily="18" charset="0"/>
              </a:rPr>
              <a:t>区块头中，包含一个特定的哈希值，用来指向上一个区块。（哈希指针）</a:t>
            </a:r>
            <a:endParaRPr lang="en-US" altLang="zh-CN" dirty="0">
              <a:latin typeface="Garamond" panose="02020404030301010803" pitchFamily="18" charset="0"/>
            </a:endParaRPr>
          </a:p>
          <a:p>
            <a:pPr lvl="1"/>
            <a:r>
              <a:rPr lang="zh-CN" altLang="en-US" dirty="0">
                <a:latin typeface="Garamond" panose="02020404030301010803" pitchFamily="18" charset="0"/>
              </a:rPr>
              <a:t>第一个区块被称为创世区块（</a:t>
            </a:r>
            <a:r>
              <a:rPr lang="en-US" altLang="zh-CN" dirty="0">
                <a:latin typeface="Garamond" panose="02020404030301010803" pitchFamily="18" charset="0"/>
              </a:rPr>
              <a:t>Genesis</a:t>
            </a:r>
            <a:r>
              <a:rPr lang="zh-CN" altLang="en-US" dirty="0">
                <a:latin typeface="Garamond" panose="02020404030301010803" pitchFamily="18" charset="0"/>
              </a:rPr>
              <a:t>）。</a:t>
            </a:r>
            <a:endParaRPr lang="en-US" altLang="zh-CN" dirty="0">
              <a:latin typeface="Garamond" panose="02020404030301010803" pitchFamily="18" charset="0"/>
            </a:endParaRPr>
          </a:p>
          <a:p>
            <a:pPr lvl="1"/>
            <a:r>
              <a:rPr lang="zh-CN" altLang="en-US" dirty="0">
                <a:latin typeface="Garamond" panose="02020404030301010803" pitchFamily="18" charset="0"/>
              </a:rPr>
              <a:t>当前区块的高度</a:t>
            </a:r>
            <a:endParaRPr lang="en-US" altLang="zh-CN" dirty="0">
              <a:latin typeface="Garamond" panose="02020404030301010803" pitchFamily="18" charset="0"/>
            </a:endParaRPr>
          </a:p>
          <a:p>
            <a:pPr lvl="2"/>
            <a:r>
              <a:rPr lang="zh-CN" altLang="en-US" dirty="0">
                <a:latin typeface="Garamond" panose="02020404030301010803" pitchFamily="18" charset="0"/>
              </a:rPr>
              <a:t>创世区块开始到当前区块包含的区块数量</a:t>
            </a:r>
            <a:endParaRPr lang="en-US" altLang="zh-CN" dirty="0">
              <a:latin typeface="Garamond" panose="02020404030301010803" pitchFamily="18" charset="0"/>
            </a:endParaRPr>
          </a:p>
          <a:p>
            <a:pPr lvl="1"/>
            <a:r>
              <a:rPr lang="zh-CN" altLang="en-US" dirty="0">
                <a:latin typeface="Garamond" panose="02020404030301010803" pitchFamily="18" charset="0"/>
              </a:rPr>
              <a:t>当区块链的中间一个区块受到恶意篡改时，就必须修改后面一个区块的内容。</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pic>
        <p:nvPicPr>
          <p:cNvPr id="6" name="图片 5"/>
          <p:cNvPicPr>
            <a:picLocks noChangeAspect="1"/>
          </p:cNvPicPr>
          <p:nvPr/>
        </p:nvPicPr>
        <p:blipFill>
          <a:blip r:embed="rId3"/>
          <a:stretch>
            <a:fillRect/>
          </a:stretch>
        </p:blipFill>
        <p:spPr>
          <a:xfrm>
            <a:off x="2815589" y="4548875"/>
            <a:ext cx="6560822" cy="2172600"/>
          </a:xfrm>
          <a:prstGeom prst="rect">
            <a:avLst/>
          </a:prstGeom>
        </p:spPr>
      </p:pic>
    </p:spTree>
    <p:extLst>
      <p:ext uri="{BB962C8B-B14F-4D97-AF65-F5344CB8AC3E}">
        <p14:creationId xmlns:p14="http://schemas.microsoft.com/office/powerpoint/2010/main" val="72046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D0B43-7148-4ABB-B4A7-056EC6EDA973}"/>
              </a:ext>
            </a:extLst>
          </p:cNvPr>
          <p:cNvSpPr>
            <a:spLocks noGrp="1"/>
          </p:cNvSpPr>
          <p:nvPr>
            <p:ph type="title"/>
          </p:nvPr>
        </p:nvSpPr>
        <p:spPr/>
        <p:txBody>
          <a:bodyPr/>
          <a:lstStyle/>
          <a:p>
            <a:r>
              <a:rPr lang="zh-CN" altLang="en-US" dirty="0"/>
              <a:t>区块链</a:t>
            </a:r>
          </a:p>
        </p:txBody>
      </p:sp>
      <p:sp>
        <p:nvSpPr>
          <p:cNvPr id="4" name="灯片编号占位符 3">
            <a:extLst>
              <a:ext uri="{FF2B5EF4-FFF2-40B4-BE49-F238E27FC236}">
                <a16:creationId xmlns:a16="http://schemas.microsoft.com/office/drawing/2014/main" id="{5B1BDA0C-A1F8-4DE0-97E7-19DB5807E25A}"/>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5" name="文本占位符 3">
            <a:extLst>
              <a:ext uri="{FF2B5EF4-FFF2-40B4-BE49-F238E27FC236}">
                <a16:creationId xmlns:a16="http://schemas.microsoft.com/office/drawing/2014/main" id="{B0F78D0E-0854-4C0A-9189-20D25BF1C2ED}"/>
              </a:ext>
            </a:extLst>
          </p:cNvPr>
          <p:cNvSpPr txBox="1">
            <a:spLocks/>
          </p:cNvSpPr>
          <p:nvPr/>
        </p:nvSpPr>
        <p:spPr>
          <a:xfrm>
            <a:off x="92598" y="1318903"/>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区块数据结构</a:t>
            </a:r>
          </a:p>
        </p:txBody>
      </p:sp>
      <p:sp>
        <p:nvSpPr>
          <p:cNvPr id="6" name="矩形 5">
            <a:extLst>
              <a:ext uri="{FF2B5EF4-FFF2-40B4-BE49-F238E27FC236}">
                <a16:creationId xmlns:a16="http://schemas.microsoft.com/office/drawing/2014/main" id="{7ACB1476-B77A-4E9F-AF43-C23ABA75B4CF}"/>
              </a:ext>
            </a:extLst>
          </p:cNvPr>
          <p:cNvSpPr/>
          <p:nvPr/>
        </p:nvSpPr>
        <p:spPr>
          <a:xfrm>
            <a:off x="834734" y="2679131"/>
            <a:ext cx="432262" cy="4239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7" name="矩形 6">
            <a:extLst>
              <a:ext uri="{FF2B5EF4-FFF2-40B4-BE49-F238E27FC236}">
                <a16:creationId xmlns:a16="http://schemas.microsoft.com/office/drawing/2014/main" id="{4BF51A46-6C4F-412E-8879-0E384242B4CD}"/>
              </a:ext>
            </a:extLst>
          </p:cNvPr>
          <p:cNvSpPr/>
          <p:nvPr/>
        </p:nvSpPr>
        <p:spPr>
          <a:xfrm>
            <a:off x="1609896" y="2679131"/>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8" name="矩形 7">
            <a:extLst>
              <a:ext uri="{FF2B5EF4-FFF2-40B4-BE49-F238E27FC236}">
                <a16:creationId xmlns:a16="http://schemas.microsoft.com/office/drawing/2014/main" id="{9CB64A61-FB62-445C-94BA-13C3105BDA80}"/>
              </a:ext>
            </a:extLst>
          </p:cNvPr>
          <p:cNvSpPr/>
          <p:nvPr/>
        </p:nvSpPr>
        <p:spPr>
          <a:xfrm>
            <a:off x="2385058" y="2679131"/>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9" name="矩形 8">
            <a:extLst>
              <a:ext uri="{FF2B5EF4-FFF2-40B4-BE49-F238E27FC236}">
                <a16:creationId xmlns:a16="http://schemas.microsoft.com/office/drawing/2014/main" id="{7BA56025-F1AB-45EF-A2E7-A41D04CA225F}"/>
              </a:ext>
            </a:extLst>
          </p:cNvPr>
          <p:cNvSpPr/>
          <p:nvPr/>
        </p:nvSpPr>
        <p:spPr>
          <a:xfrm>
            <a:off x="3160220" y="2679131"/>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0" name="矩形 9">
            <a:extLst>
              <a:ext uri="{FF2B5EF4-FFF2-40B4-BE49-F238E27FC236}">
                <a16:creationId xmlns:a16="http://schemas.microsoft.com/office/drawing/2014/main" id="{F6DC50AE-8AED-48E5-B047-B44690A9AEF8}"/>
              </a:ext>
            </a:extLst>
          </p:cNvPr>
          <p:cNvSpPr/>
          <p:nvPr/>
        </p:nvSpPr>
        <p:spPr>
          <a:xfrm>
            <a:off x="3935382" y="2679131"/>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1" name="直线箭头连接符 10">
            <a:extLst>
              <a:ext uri="{FF2B5EF4-FFF2-40B4-BE49-F238E27FC236}">
                <a16:creationId xmlns:a16="http://schemas.microsoft.com/office/drawing/2014/main" id="{26A57FDC-617F-4C08-8D49-04C02D8314FD}"/>
              </a:ext>
            </a:extLst>
          </p:cNvPr>
          <p:cNvCxnSpPr>
            <a:cxnSpLocks/>
          </p:cNvCxnSpPr>
          <p:nvPr/>
        </p:nvCxnSpPr>
        <p:spPr>
          <a:xfrm flipH="1">
            <a:off x="1266996" y="2891105"/>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4E95C1F9-16C3-499D-9290-15487A0C1549}"/>
              </a:ext>
            </a:extLst>
          </p:cNvPr>
          <p:cNvCxnSpPr>
            <a:cxnSpLocks/>
          </p:cNvCxnSpPr>
          <p:nvPr/>
        </p:nvCxnSpPr>
        <p:spPr>
          <a:xfrm flipH="1">
            <a:off x="2042158" y="2891105"/>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9F57C974-46BB-42AB-83D7-8E498606213C}"/>
              </a:ext>
            </a:extLst>
          </p:cNvPr>
          <p:cNvCxnSpPr>
            <a:cxnSpLocks/>
          </p:cNvCxnSpPr>
          <p:nvPr/>
        </p:nvCxnSpPr>
        <p:spPr>
          <a:xfrm flipH="1">
            <a:off x="2817320" y="2891105"/>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0A55FFFD-18EF-4D44-B040-5C3582229C64}"/>
              </a:ext>
            </a:extLst>
          </p:cNvPr>
          <p:cNvCxnSpPr>
            <a:cxnSpLocks/>
          </p:cNvCxnSpPr>
          <p:nvPr/>
        </p:nvCxnSpPr>
        <p:spPr>
          <a:xfrm flipH="1">
            <a:off x="3592482" y="2891105"/>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FE6B0161-A0EF-4CC2-A17D-47E68DB5C5F3}"/>
              </a:ext>
            </a:extLst>
          </p:cNvPr>
          <p:cNvCxnSpPr>
            <a:cxnSpLocks/>
          </p:cNvCxnSpPr>
          <p:nvPr/>
        </p:nvCxnSpPr>
        <p:spPr>
          <a:xfrm flipH="1">
            <a:off x="4367644" y="2891105"/>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C802BA5-7D92-4019-AED6-3ACA8C755338}"/>
              </a:ext>
            </a:extLst>
          </p:cNvPr>
          <p:cNvSpPr txBox="1"/>
          <p:nvPr/>
        </p:nvSpPr>
        <p:spPr>
          <a:xfrm>
            <a:off x="420256" y="3307327"/>
            <a:ext cx="3217026"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创世区块（</a:t>
            </a:r>
            <a:r>
              <a:rPr kumimoji="1" lang="en-US" altLang="zh-CN" dirty="0">
                <a:latin typeface="Times New Roman" panose="02020603050405020304" pitchFamily="18" charset="0"/>
                <a:ea typeface="微软雅黑" panose="020B0503020204020204" pitchFamily="34" charset="-122"/>
              </a:rPr>
              <a:t>Genesis Block</a:t>
            </a:r>
            <a:r>
              <a:rPr kumimoji="1" lang="zh-CN" altLang="en-US" dirty="0">
                <a:latin typeface="Times New Roman" panose="02020603050405020304" pitchFamily="18" charset="0"/>
                <a:ea typeface="微软雅黑" panose="020B0503020204020204" pitchFamily="34" charset="-122"/>
              </a:rPr>
              <a:t>）</a:t>
            </a:r>
          </a:p>
        </p:txBody>
      </p:sp>
      <p:cxnSp>
        <p:nvCxnSpPr>
          <p:cNvPr id="17" name="直线箭头连接符 16">
            <a:extLst>
              <a:ext uri="{FF2B5EF4-FFF2-40B4-BE49-F238E27FC236}">
                <a16:creationId xmlns:a16="http://schemas.microsoft.com/office/drawing/2014/main" id="{0B49210B-042D-40E6-BB7B-478763F32342}"/>
              </a:ext>
            </a:extLst>
          </p:cNvPr>
          <p:cNvCxnSpPr>
            <a:stCxn id="6" idx="2"/>
          </p:cNvCxnSpPr>
          <p:nvPr/>
        </p:nvCxnSpPr>
        <p:spPr>
          <a:xfrm>
            <a:off x="1050865" y="3103080"/>
            <a:ext cx="0" cy="290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BB3E18A-B5B3-457B-83E2-60DAD89E2FFF}"/>
              </a:ext>
            </a:extLst>
          </p:cNvPr>
          <p:cNvSpPr txBox="1"/>
          <p:nvPr/>
        </p:nvSpPr>
        <p:spPr>
          <a:xfrm>
            <a:off x="4367644" y="2309799"/>
            <a:ext cx="1107671"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最新区块</a:t>
            </a:r>
          </a:p>
        </p:txBody>
      </p:sp>
      <p:sp>
        <p:nvSpPr>
          <p:cNvPr id="19" name="矩形 18">
            <a:extLst>
              <a:ext uri="{FF2B5EF4-FFF2-40B4-BE49-F238E27FC236}">
                <a16:creationId xmlns:a16="http://schemas.microsoft.com/office/drawing/2014/main" id="{2D9910B1-F99C-464C-870F-7A9FBD39D642}"/>
              </a:ext>
            </a:extLst>
          </p:cNvPr>
          <p:cNvSpPr/>
          <p:nvPr/>
        </p:nvSpPr>
        <p:spPr>
          <a:xfrm>
            <a:off x="4710544" y="2679131"/>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20" name="文本框 19">
            <a:extLst>
              <a:ext uri="{FF2B5EF4-FFF2-40B4-BE49-F238E27FC236}">
                <a16:creationId xmlns:a16="http://schemas.microsoft.com/office/drawing/2014/main" id="{605E46A5-95E7-434D-A920-D8A53156C235}"/>
              </a:ext>
            </a:extLst>
          </p:cNvPr>
          <p:cNvSpPr txBox="1"/>
          <p:nvPr/>
        </p:nvSpPr>
        <p:spPr>
          <a:xfrm>
            <a:off x="884610" y="2125133"/>
            <a:ext cx="1107671"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哈希指针</a:t>
            </a:r>
          </a:p>
        </p:txBody>
      </p:sp>
      <p:cxnSp>
        <p:nvCxnSpPr>
          <p:cNvPr id="21" name="直线箭头连接符 20">
            <a:extLst>
              <a:ext uri="{FF2B5EF4-FFF2-40B4-BE49-F238E27FC236}">
                <a16:creationId xmlns:a16="http://schemas.microsoft.com/office/drawing/2014/main" id="{08407E6E-3609-46E7-BCD3-CAD4E393B5ED}"/>
              </a:ext>
            </a:extLst>
          </p:cNvPr>
          <p:cNvCxnSpPr>
            <a:stCxn id="20" idx="2"/>
          </p:cNvCxnSpPr>
          <p:nvPr/>
        </p:nvCxnSpPr>
        <p:spPr>
          <a:xfrm flipH="1">
            <a:off x="1438445" y="2494465"/>
            <a:ext cx="1" cy="39664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736A91D-498D-4FAB-8C72-3FFDF19E26E2}"/>
              </a:ext>
            </a:extLst>
          </p:cNvPr>
          <p:cNvSpPr txBox="1"/>
          <p:nvPr/>
        </p:nvSpPr>
        <p:spPr>
          <a:xfrm>
            <a:off x="-45255" y="4221391"/>
            <a:ext cx="1385109" cy="369332"/>
          </a:xfrm>
          <a:prstGeom prst="rect">
            <a:avLst/>
          </a:prstGeom>
          <a:noFill/>
        </p:spPr>
        <p:txBody>
          <a:bodyPr wrap="square" rtlCol="0">
            <a:spAutoFit/>
          </a:bodyPr>
          <a:lstStyle/>
          <a:p>
            <a:r>
              <a:rPr kumimoji="1" lang="zh-CN" altLang="en-US" b="1" dirty="0">
                <a:latin typeface="Times New Roman" panose="02020603050405020304" pitchFamily="18" charset="0"/>
                <a:ea typeface="微软雅黑" panose="020B0503020204020204" pitchFamily="34" charset="-122"/>
              </a:rPr>
              <a:t>哈希指针：</a:t>
            </a:r>
          </a:p>
        </p:txBody>
      </p:sp>
      <p:sp>
        <p:nvSpPr>
          <p:cNvPr id="23" name="矩形 22">
            <a:extLst>
              <a:ext uri="{FF2B5EF4-FFF2-40B4-BE49-F238E27FC236}">
                <a16:creationId xmlns:a16="http://schemas.microsoft.com/office/drawing/2014/main" id="{D0D00B70-38C9-4D61-A6C7-B2C655B2A87D}"/>
              </a:ext>
            </a:extLst>
          </p:cNvPr>
          <p:cNvSpPr/>
          <p:nvPr/>
        </p:nvSpPr>
        <p:spPr>
          <a:xfrm>
            <a:off x="6232029" y="2705600"/>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08BE6A1F-E9AD-4B68-8AF1-09C4D539A5C2}"/>
              </a:ext>
            </a:extLst>
          </p:cNvPr>
          <p:cNvSpPr/>
          <p:nvPr/>
        </p:nvSpPr>
        <p:spPr>
          <a:xfrm>
            <a:off x="8190811" y="1753797"/>
            <a:ext cx="2144684" cy="270381"/>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Hash</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C1CDEB59-8DCD-485F-BA3A-915CEDBD05F9}"/>
              </a:ext>
            </a:extLst>
          </p:cNvPr>
          <p:cNvSpPr/>
          <p:nvPr/>
        </p:nvSpPr>
        <p:spPr>
          <a:xfrm>
            <a:off x="8190811" y="2035840"/>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Version</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id="{9DE7C86A-EEA7-4028-BD17-E4585BAA204B}"/>
              </a:ext>
            </a:extLst>
          </p:cNvPr>
          <p:cNvSpPr/>
          <p:nvPr/>
        </p:nvSpPr>
        <p:spPr>
          <a:xfrm>
            <a:off x="8190811" y="2317883"/>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Previous Block Hash</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矩形 26">
            <a:extLst>
              <a:ext uri="{FF2B5EF4-FFF2-40B4-BE49-F238E27FC236}">
                <a16:creationId xmlns:a16="http://schemas.microsoft.com/office/drawing/2014/main" id="{FEA72E7C-2895-4D7A-BE05-86A5B55FD1D0}"/>
              </a:ext>
            </a:extLst>
          </p:cNvPr>
          <p:cNvSpPr/>
          <p:nvPr/>
        </p:nvSpPr>
        <p:spPr>
          <a:xfrm>
            <a:off x="8190811" y="2599926"/>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Merkle Tree Root</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2A955B00-C9BA-4DA7-99A6-1621EB227692}"/>
              </a:ext>
            </a:extLst>
          </p:cNvPr>
          <p:cNvSpPr/>
          <p:nvPr/>
        </p:nvSpPr>
        <p:spPr>
          <a:xfrm>
            <a:off x="8190811" y="2881969"/>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Timestamp</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矩形 28">
            <a:extLst>
              <a:ext uri="{FF2B5EF4-FFF2-40B4-BE49-F238E27FC236}">
                <a16:creationId xmlns:a16="http://schemas.microsoft.com/office/drawing/2014/main" id="{7A2162EA-6D4C-4A78-B448-093733F71A2A}"/>
              </a:ext>
            </a:extLst>
          </p:cNvPr>
          <p:cNvSpPr/>
          <p:nvPr/>
        </p:nvSpPr>
        <p:spPr>
          <a:xfrm>
            <a:off x="8190811" y="3164012"/>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Difficulty</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矩形 29">
            <a:extLst>
              <a:ext uri="{FF2B5EF4-FFF2-40B4-BE49-F238E27FC236}">
                <a16:creationId xmlns:a16="http://schemas.microsoft.com/office/drawing/2014/main" id="{A773D479-2A38-4BDB-8524-4A25420FEAF7}"/>
              </a:ext>
            </a:extLst>
          </p:cNvPr>
          <p:cNvSpPr/>
          <p:nvPr/>
        </p:nvSpPr>
        <p:spPr>
          <a:xfrm>
            <a:off x="8190811" y="3446054"/>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Nonce</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3DE2C319-C245-4BA7-8C6F-C3706EBAE287}"/>
              </a:ext>
            </a:extLst>
          </p:cNvPr>
          <p:cNvSpPr txBox="1"/>
          <p:nvPr/>
        </p:nvSpPr>
        <p:spPr>
          <a:xfrm>
            <a:off x="6139472" y="2246272"/>
            <a:ext cx="643195"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a:t>
            </a:r>
          </a:p>
        </p:txBody>
      </p:sp>
      <p:sp>
        <p:nvSpPr>
          <p:cNvPr id="32" name="矩形 31">
            <a:extLst>
              <a:ext uri="{FF2B5EF4-FFF2-40B4-BE49-F238E27FC236}">
                <a16:creationId xmlns:a16="http://schemas.microsoft.com/office/drawing/2014/main" id="{D2473654-EFFE-42C5-96D4-A34942E9D171}"/>
              </a:ext>
            </a:extLst>
          </p:cNvPr>
          <p:cNvSpPr/>
          <p:nvPr/>
        </p:nvSpPr>
        <p:spPr>
          <a:xfrm>
            <a:off x="7408720" y="2453074"/>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657FD74B-2DFD-4F47-9989-0C4E4D11108B}"/>
              </a:ext>
            </a:extLst>
          </p:cNvPr>
          <p:cNvSpPr/>
          <p:nvPr/>
        </p:nvSpPr>
        <p:spPr>
          <a:xfrm>
            <a:off x="7408720" y="3054375"/>
            <a:ext cx="432262" cy="270380"/>
          </a:xfrm>
          <a:prstGeom prst="rect">
            <a:avLst/>
          </a:prstGeom>
          <a:solidFill>
            <a:schemeClr val="accent2">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34" name="直线箭头连接符 33">
            <a:extLst>
              <a:ext uri="{FF2B5EF4-FFF2-40B4-BE49-F238E27FC236}">
                <a16:creationId xmlns:a16="http://schemas.microsoft.com/office/drawing/2014/main" id="{4B143C8E-5209-477B-8C7A-4AE33F0D4F33}"/>
              </a:ext>
            </a:extLst>
          </p:cNvPr>
          <p:cNvCxnSpPr>
            <a:stCxn id="23" idx="3"/>
            <a:endCxn id="32" idx="1"/>
          </p:cNvCxnSpPr>
          <p:nvPr/>
        </p:nvCxnSpPr>
        <p:spPr>
          <a:xfrm flipV="1">
            <a:off x="6664291" y="2534339"/>
            <a:ext cx="744429" cy="3832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781CB217-A64B-4EDB-B8E1-1DBA05293A54}"/>
              </a:ext>
            </a:extLst>
          </p:cNvPr>
          <p:cNvCxnSpPr>
            <a:stCxn id="23" idx="3"/>
            <a:endCxn id="33" idx="1"/>
          </p:cNvCxnSpPr>
          <p:nvPr/>
        </p:nvCxnSpPr>
        <p:spPr>
          <a:xfrm>
            <a:off x="6664291" y="2917575"/>
            <a:ext cx="744429" cy="27199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左大括号 35">
            <a:extLst>
              <a:ext uri="{FF2B5EF4-FFF2-40B4-BE49-F238E27FC236}">
                <a16:creationId xmlns:a16="http://schemas.microsoft.com/office/drawing/2014/main" id="{EB901E50-6978-4EC6-9EE3-3FA749F8D8DD}"/>
              </a:ext>
            </a:extLst>
          </p:cNvPr>
          <p:cNvSpPr/>
          <p:nvPr/>
        </p:nvSpPr>
        <p:spPr>
          <a:xfrm>
            <a:off x="7972518" y="2203037"/>
            <a:ext cx="152735" cy="1513398"/>
          </a:xfrm>
          <a:prstGeom prst="leftBrace">
            <a:avLst>
              <a:gd name="adj1" fmla="val 176612"/>
              <a:gd name="adj2" fmla="val 2186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37" name="文本框 36">
            <a:extLst>
              <a:ext uri="{FF2B5EF4-FFF2-40B4-BE49-F238E27FC236}">
                <a16:creationId xmlns:a16="http://schemas.microsoft.com/office/drawing/2014/main" id="{59EB5F9C-8C20-4197-B251-2A3FDFD0A727}"/>
              </a:ext>
            </a:extLst>
          </p:cNvPr>
          <p:cNvSpPr txBox="1"/>
          <p:nvPr/>
        </p:nvSpPr>
        <p:spPr>
          <a:xfrm>
            <a:off x="7190426" y="2115598"/>
            <a:ext cx="868849"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区块头</a:t>
            </a:r>
          </a:p>
        </p:txBody>
      </p:sp>
      <p:sp>
        <p:nvSpPr>
          <p:cNvPr id="38" name="文本框 37">
            <a:extLst>
              <a:ext uri="{FF2B5EF4-FFF2-40B4-BE49-F238E27FC236}">
                <a16:creationId xmlns:a16="http://schemas.microsoft.com/office/drawing/2014/main" id="{5BEA1DE1-3280-40CE-A4C9-B9DA7081FAC1}"/>
              </a:ext>
            </a:extLst>
          </p:cNvPr>
          <p:cNvSpPr txBox="1"/>
          <p:nvPr/>
        </p:nvSpPr>
        <p:spPr>
          <a:xfrm>
            <a:off x="7190425" y="3309438"/>
            <a:ext cx="868849"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区块体</a:t>
            </a:r>
          </a:p>
        </p:txBody>
      </p:sp>
      <p:sp>
        <p:nvSpPr>
          <p:cNvPr id="39" name="文本框 38">
            <a:extLst>
              <a:ext uri="{FF2B5EF4-FFF2-40B4-BE49-F238E27FC236}">
                <a16:creationId xmlns:a16="http://schemas.microsoft.com/office/drawing/2014/main" id="{62D18FF7-3876-4C3F-997C-74DB44F8FCDF}"/>
              </a:ext>
            </a:extLst>
          </p:cNvPr>
          <p:cNvSpPr txBox="1"/>
          <p:nvPr/>
        </p:nvSpPr>
        <p:spPr>
          <a:xfrm>
            <a:off x="10335495" y="1705511"/>
            <a:ext cx="1701959"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本区块哈希值</a:t>
            </a:r>
          </a:p>
        </p:txBody>
      </p:sp>
      <p:sp>
        <p:nvSpPr>
          <p:cNvPr id="40" name="文本框 39">
            <a:extLst>
              <a:ext uri="{FF2B5EF4-FFF2-40B4-BE49-F238E27FC236}">
                <a16:creationId xmlns:a16="http://schemas.microsoft.com/office/drawing/2014/main" id="{EE52B067-C74A-44CF-BB96-EBCB0BB56D9C}"/>
              </a:ext>
            </a:extLst>
          </p:cNvPr>
          <p:cNvSpPr txBox="1"/>
          <p:nvPr/>
        </p:nvSpPr>
        <p:spPr>
          <a:xfrm>
            <a:off x="10335494" y="1987131"/>
            <a:ext cx="2087276"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比特币软件版本号</a:t>
            </a:r>
          </a:p>
        </p:txBody>
      </p:sp>
      <p:sp>
        <p:nvSpPr>
          <p:cNvPr id="41" name="文本框 40">
            <a:extLst>
              <a:ext uri="{FF2B5EF4-FFF2-40B4-BE49-F238E27FC236}">
                <a16:creationId xmlns:a16="http://schemas.microsoft.com/office/drawing/2014/main" id="{9167EC96-2D3F-4550-A8E3-7ADCFA0AC88B}"/>
              </a:ext>
            </a:extLst>
          </p:cNvPr>
          <p:cNvSpPr txBox="1"/>
          <p:nvPr/>
        </p:nvSpPr>
        <p:spPr>
          <a:xfrm>
            <a:off x="10335494" y="2268751"/>
            <a:ext cx="2087276"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前一区块的哈希值</a:t>
            </a:r>
          </a:p>
        </p:txBody>
      </p:sp>
      <p:sp>
        <p:nvSpPr>
          <p:cNvPr id="42" name="文本框 41">
            <a:extLst>
              <a:ext uri="{FF2B5EF4-FFF2-40B4-BE49-F238E27FC236}">
                <a16:creationId xmlns:a16="http://schemas.microsoft.com/office/drawing/2014/main" id="{9CDC07E9-A175-486A-B891-622C134E0070}"/>
              </a:ext>
            </a:extLst>
          </p:cNvPr>
          <p:cNvSpPr txBox="1"/>
          <p:nvPr/>
        </p:nvSpPr>
        <p:spPr>
          <a:xfrm>
            <a:off x="10327788" y="2550371"/>
            <a:ext cx="2087276"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默克尔树根</a:t>
            </a:r>
          </a:p>
        </p:txBody>
      </p:sp>
      <p:sp>
        <p:nvSpPr>
          <p:cNvPr id="43" name="文本框 42">
            <a:extLst>
              <a:ext uri="{FF2B5EF4-FFF2-40B4-BE49-F238E27FC236}">
                <a16:creationId xmlns:a16="http://schemas.microsoft.com/office/drawing/2014/main" id="{E705693B-A4EF-47A2-994C-D2F1C5BB6845}"/>
              </a:ext>
            </a:extLst>
          </p:cNvPr>
          <p:cNvSpPr txBox="1"/>
          <p:nvPr/>
        </p:nvSpPr>
        <p:spPr>
          <a:xfrm>
            <a:off x="10310552" y="2831991"/>
            <a:ext cx="2087276"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时间戳</a:t>
            </a:r>
          </a:p>
        </p:txBody>
      </p:sp>
      <p:sp>
        <p:nvSpPr>
          <p:cNvPr id="44" name="文本框 43">
            <a:extLst>
              <a:ext uri="{FF2B5EF4-FFF2-40B4-BE49-F238E27FC236}">
                <a16:creationId xmlns:a16="http://schemas.microsoft.com/office/drawing/2014/main" id="{62A49DA9-F9A1-4DBE-AA3F-485CA4E2390C}"/>
              </a:ext>
            </a:extLst>
          </p:cNvPr>
          <p:cNvSpPr txBox="1"/>
          <p:nvPr/>
        </p:nvSpPr>
        <p:spPr>
          <a:xfrm>
            <a:off x="10299694" y="3113611"/>
            <a:ext cx="2087276"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挖矿难度</a:t>
            </a:r>
          </a:p>
        </p:txBody>
      </p:sp>
      <p:sp>
        <p:nvSpPr>
          <p:cNvPr id="45" name="文本框 44">
            <a:extLst>
              <a:ext uri="{FF2B5EF4-FFF2-40B4-BE49-F238E27FC236}">
                <a16:creationId xmlns:a16="http://schemas.microsoft.com/office/drawing/2014/main" id="{C10C655C-C611-4AE7-85CF-7FB87A42302F}"/>
              </a:ext>
            </a:extLst>
          </p:cNvPr>
          <p:cNvSpPr txBox="1"/>
          <p:nvPr/>
        </p:nvSpPr>
        <p:spPr>
          <a:xfrm>
            <a:off x="10317595" y="3395231"/>
            <a:ext cx="2087276" cy="338554"/>
          </a:xfrm>
          <a:prstGeom prst="rect">
            <a:avLst/>
          </a:prstGeom>
          <a:noFill/>
        </p:spPr>
        <p:txBody>
          <a:bodyPr wrap="square" rtlCol="0">
            <a:spAutoFit/>
          </a:bodyPr>
          <a:lstStyle/>
          <a:p>
            <a:r>
              <a:rPr kumimoji="1" lang="zh-CN" altLang="en-US" sz="1600" dirty="0">
                <a:latin typeface="Times New Roman" panose="02020603050405020304" pitchFamily="18" charset="0"/>
                <a:ea typeface="微软雅黑" panose="020B0503020204020204" pitchFamily="34" charset="-122"/>
              </a:rPr>
              <a:t>随机数</a:t>
            </a:r>
          </a:p>
        </p:txBody>
      </p:sp>
      <p:sp>
        <p:nvSpPr>
          <p:cNvPr id="46" name="矩形 45">
            <a:extLst>
              <a:ext uri="{FF2B5EF4-FFF2-40B4-BE49-F238E27FC236}">
                <a16:creationId xmlns:a16="http://schemas.microsoft.com/office/drawing/2014/main" id="{EFA181F0-2BBB-47F8-BBF1-297C609E8E3F}"/>
              </a:ext>
            </a:extLst>
          </p:cNvPr>
          <p:cNvSpPr/>
          <p:nvPr/>
        </p:nvSpPr>
        <p:spPr>
          <a:xfrm>
            <a:off x="949596" y="4556446"/>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sz="1000" i="1" dirty="0">
              <a:latin typeface="Times New Roman" panose="02020603050405020304" pitchFamily="18" charset="0"/>
              <a:ea typeface="微软雅黑" panose="020B0503020204020204" pitchFamily="34" charset="-122"/>
            </a:endParaRPr>
          </a:p>
        </p:txBody>
      </p:sp>
      <p:cxnSp>
        <p:nvCxnSpPr>
          <p:cNvPr id="47" name="直线箭头连接符 46">
            <a:extLst>
              <a:ext uri="{FF2B5EF4-FFF2-40B4-BE49-F238E27FC236}">
                <a16:creationId xmlns:a16="http://schemas.microsoft.com/office/drawing/2014/main" id="{16600B36-7063-4967-8D45-A724CC08EF7E}"/>
              </a:ext>
            </a:extLst>
          </p:cNvPr>
          <p:cNvCxnSpPr>
            <a:cxnSpLocks/>
            <a:stCxn id="48" idx="1"/>
            <a:endCxn id="46" idx="3"/>
          </p:cNvCxnSpPr>
          <p:nvPr/>
        </p:nvCxnSpPr>
        <p:spPr>
          <a:xfrm flipH="1">
            <a:off x="1381858" y="4768421"/>
            <a:ext cx="149550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D5A46ED5-0F96-42DF-A141-AA92BA36DCC1}"/>
              </a:ext>
            </a:extLst>
          </p:cNvPr>
          <p:cNvSpPr/>
          <p:nvPr/>
        </p:nvSpPr>
        <p:spPr>
          <a:xfrm>
            <a:off x="2877362" y="4556446"/>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sz="1000" dirty="0">
              <a:latin typeface="Times New Roman" panose="02020603050405020304" pitchFamily="18" charset="0"/>
              <a:ea typeface="微软雅黑" panose="020B0503020204020204" pitchFamily="34" charset="-122"/>
            </a:endParaRPr>
          </a:p>
        </p:txBody>
      </p:sp>
      <p:sp>
        <p:nvSpPr>
          <p:cNvPr id="49" name="矩形 48">
            <a:extLst>
              <a:ext uri="{FF2B5EF4-FFF2-40B4-BE49-F238E27FC236}">
                <a16:creationId xmlns:a16="http://schemas.microsoft.com/office/drawing/2014/main" id="{92614B27-0A7C-4AC5-89E4-041830E10D94}"/>
              </a:ext>
            </a:extLst>
          </p:cNvPr>
          <p:cNvSpPr/>
          <p:nvPr/>
        </p:nvSpPr>
        <p:spPr>
          <a:xfrm>
            <a:off x="359821" y="5075428"/>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Hash</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矩形 49">
            <a:extLst>
              <a:ext uri="{FF2B5EF4-FFF2-40B4-BE49-F238E27FC236}">
                <a16:creationId xmlns:a16="http://schemas.microsoft.com/office/drawing/2014/main" id="{5EDEFD25-3019-4392-9915-56CC82A33312}"/>
              </a:ext>
            </a:extLst>
          </p:cNvPr>
          <p:cNvSpPr/>
          <p:nvPr/>
        </p:nvSpPr>
        <p:spPr>
          <a:xfrm>
            <a:off x="359820" y="5260943"/>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Version</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矩形 50">
            <a:extLst>
              <a:ext uri="{FF2B5EF4-FFF2-40B4-BE49-F238E27FC236}">
                <a16:creationId xmlns:a16="http://schemas.microsoft.com/office/drawing/2014/main" id="{E6DC5FC1-F876-4C7E-B708-01F3A31F2D3A}"/>
              </a:ext>
            </a:extLst>
          </p:cNvPr>
          <p:cNvSpPr/>
          <p:nvPr/>
        </p:nvSpPr>
        <p:spPr>
          <a:xfrm>
            <a:off x="359819" y="5446458"/>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Previous Block Hash</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矩形 51">
            <a:extLst>
              <a:ext uri="{FF2B5EF4-FFF2-40B4-BE49-F238E27FC236}">
                <a16:creationId xmlns:a16="http://schemas.microsoft.com/office/drawing/2014/main" id="{7B819BA1-A574-497C-B14D-FFD17A97E516}"/>
              </a:ext>
            </a:extLst>
          </p:cNvPr>
          <p:cNvSpPr/>
          <p:nvPr/>
        </p:nvSpPr>
        <p:spPr>
          <a:xfrm>
            <a:off x="359817" y="5631973"/>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Merkle Tree Root</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3" name="矩形 52">
            <a:extLst>
              <a:ext uri="{FF2B5EF4-FFF2-40B4-BE49-F238E27FC236}">
                <a16:creationId xmlns:a16="http://schemas.microsoft.com/office/drawing/2014/main" id="{C30AB885-D0B0-44AD-94E5-94AFB8FFF25F}"/>
              </a:ext>
            </a:extLst>
          </p:cNvPr>
          <p:cNvSpPr/>
          <p:nvPr/>
        </p:nvSpPr>
        <p:spPr>
          <a:xfrm>
            <a:off x="359817" y="5817488"/>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Timestamp</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矩形 53">
            <a:extLst>
              <a:ext uri="{FF2B5EF4-FFF2-40B4-BE49-F238E27FC236}">
                <a16:creationId xmlns:a16="http://schemas.microsoft.com/office/drawing/2014/main" id="{65DDF49F-01F1-49C1-B6C2-566B6D6563B8}"/>
              </a:ext>
            </a:extLst>
          </p:cNvPr>
          <p:cNvSpPr/>
          <p:nvPr/>
        </p:nvSpPr>
        <p:spPr>
          <a:xfrm>
            <a:off x="359816" y="6003003"/>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Difficulty</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5" name="矩形 54">
            <a:extLst>
              <a:ext uri="{FF2B5EF4-FFF2-40B4-BE49-F238E27FC236}">
                <a16:creationId xmlns:a16="http://schemas.microsoft.com/office/drawing/2014/main" id="{178DBE39-7E64-41A4-B24B-0558D2A68F28}"/>
              </a:ext>
            </a:extLst>
          </p:cNvPr>
          <p:cNvSpPr/>
          <p:nvPr/>
        </p:nvSpPr>
        <p:spPr>
          <a:xfrm>
            <a:off x="359815" y="6188520"/>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Nonce</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6" name="矩形 55">
            <a:extLst>
              <a:ext uri="{FF2B5EF4-FFF2-40B4-BE49-F238E27FC236}">
                <a16:creationId xmlns:a16="http://schemas.microsoft.com/office/drawing/2014/main" id="{05E802C7-1904-4503-821A-7542DB2A3DC4}"/>
              </a:ext>
            </a:extLst>
          </p:cNvPr>
          <p:cNvSpPr/>
          <p:nvPr/>
        </p:nvSpPr>
        <p:spPr>
          <a:xfrm>
            <a:off x="2314553" y="5069675"/>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Hash</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7" name="矩形 56">
            <a:extLst>
              <a:ext uri="{FF2B5EF4-FFF2-40B4-BE49-F238E27FC236}">
                <a16:creationId xmlns:a16="http://schemas.microsoft.com/office/drawing/2014/main" id="{7A5898B7-77DA-481C-8052-BC947AD0F892}"/>
              </a:ext>
            </a:extLst>
          </p:cNvPr>
          <p:cNvSpPr/>
          <p:nvPr/>
        </p:nvSpPr>
        <p:spPr>
          <a:xfrm>
            <a:off x="2314552" y="5255190"/>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Version</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 name="矩形 57">
            <a:extLst>
              <a:ext uri="{FF2B5EF4-FFF2-40B4-BE49-F238E27FC236}">
                <a16:creationId xmlns:a16="http://schemas.microsoft.com/office/drawing/2014/main" id="{EDFCAE3B-693F-40E5-9A45-5E7DD668FF7D}"/>
              </a:ext>
            </a:extLst>
          </p:cNvPr>
          <p:cNvSpPr/>
          <p:nvPr/>
        </p:nvSpPr>
        <p:spPr>
          <a:xfrm>
            <a:off x="2314551" y="5440705"/>
            <a:ext cx="1611825" cy="179764"/>
          </a:xfrm>
          <a:prstGeom prst="rect">
            <a:avLst/>
          </a:prstGeom>
          <a:solidFill>
            <a:srgbClr val="C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Previous Block Hash</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9" name="矩形 58">
            <a:extLst>
              <a:ext uri="{FF2B5EF4-FFF2-40B4-BE49-F238E27FC236}">
                <a16:creationId xmlns:a16="http://schemas.microsoft.com/office/drawing/2014/main" id="{A63E8F5A-2859-4753-AB27-57FC594D5F42}"/>
              </a:ext>
            </a:extLst>
          </p:cNvPr>
          <p:cNvSpPr/>
          <p:nvPr/>
        </p:nvSpPr>
        <p:spPr>
          <a:xfrm>
            <a:off x="2314549" y="5626220"/>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Merkle Tree Root</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0" name="矩形 59">
            <a:extLst>
              <a:ext uri="{FF2B5EF4-FFF2-40B4-BE49-F238E27FC236}">
                <a16:creationId xmlns:a16="http://schemas.microsoft.com/office/drawing/2014/main" id="{D05F2564-DBE5-4483-803C-75EF46052DD1}"/>
              </a:ext>
            </a:extLst>
          </p:cNvPr>
          <p:cNvSpPr/>
          <p:nvPr/>
        </p:nvSpPr>
        <p:spPr>
          <a:xfrm>
            <a:off x="2314549" y="5811735"/>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Timestamp</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1" name="矩形 60">
            <a:extLst>
              <a:ext uri="{FF2B5EF4-FFF2-40B4-BE49-F238E27FC236}">
                <a16:creationId xmlns:a16="http://schemas.microsoft.com/office/drawing/2014/main" id="{25F9B242-68C4-4ED7-BB35-BFD6D768753F}"/>
              </a:ext>
            </a:extLst>
          </p:cNvPr>
          <p:cNvSpPr/>
          <p:nvPr/>
        </p:nvSpPr>
        <p:spPr>
          <a:xfrm>
            <a:off x="2314548" y="5997250"/>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Difficulty</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2" name="矩形 61">
            <a:extLst>
              <a:ext uri="{FF2B5EF4-FFF2-40B4-BE49-F238E27FC236}">
                <a16:creationId xmlns:a16="http://schemas.microsoft.com/office/drawing/2014/main" id="{D3F94C0D-CF75-4033-A7AD-194242CF1681}"/>
              </a:ext>
            </a:extLst>
          </p:cNvPr>
          <p:cNvSpPr/>
          <p:nvPr/>
        </p:nvSpPr>
        <p:spPr>
          <a:xfrm>
            <a:off x="2314547" y="6182767"/>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ea typeface="微软雅黑" panose="020B0503020204020204" pitchFamily="34" charset="-122"/>
                <a:cs typeface="Times New Roman" panose="02020603050405020304" pitchFamily="18" charset="0"/>
              </a:rPr>
              <a:t>Nonce</a:t>
            </a:r>
            <a:endParaRPr kumimoji="1"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63" name="直线箭头连接符 65">
            <a:extLst>
              <a:ext uri="{FF2B5EF4-FFF2-40B4-BE49-F238E27FC236}">
                <a16:creationId xmlns:a16="http://schemas.microsoft.com/office/drawing/2014/main" id="{ED2782F6-DB5A-4D30-902B-83CABE1EF42B}"/>
              </a:ext>
            </a:extLst>
          </p:cNvPr>
          <p:cNvCxnSpPr>
            <a:stCxn id="58" idx="1"/>
            <a:endCxn id="49" idx="3"/>
          </p:cNvCxnSpPr>
          <p:nvPr/>
        </p:nvCxnSpPr>
        <p:spPr>
          <a:xfrm flipH="1" flipV="1">
            <a:off x="1971646" y="5165310"/>
            <a:ext cx="342905" cy="3652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线箭头连接符 68">
            <a:extLst>
              <a:ext uri="{FF2B5EF4-FFF2-40B4-BE49-F238E27FC236}">
                <a16:creationId xmlns:a16="http://schemas.microsoft.com/office/drawing/2014/main" id="{79BF908C-3965-4246-8350-2642AA0E730C}"/>
              </a:ext>
            </a:extLst>
          </p:cNvPr>
          <p:cNvCxnSpPr/>
          <p:nvPr/>
        </p:nvCxnSpPr>
        <p:spPr>
          <a:xfrm flipH="1" flipV="1">
            <a:off x="3910582" y="5156080"/>
            <a:ext cx="342905" cy="3652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线箭头连接符 69">
            <a:extLst>
              <a:ext uri="{FF2B5EF4-FFF2-40B4-BE49-F238E27FC236}">
                <a16:creationId xmlns:a16="http://schemas.microsoft.com/office/drawing/2014/main" id="{0544B458-C996-4586-BCFA-02EB6739F9B1}"/>
              </a:ext>
            </a:extLst>
          </p:cNvPr>
          <p:cNvCxnSpPr>
            <a:cxnSpLocks/>
          </p:cNvCxnSpPr>
          <p:nvPr/>
        </p:nvCxnSpPr>
        <p:spPr>
          <a:xfrm flipH="1">
            <a:off x="3309624" y="4768420"/>
            <a:ext cx="94386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0915F954-6E30-4E5A-A1D0-9C90B2981B74}"/>
              </a:ext>
            </a:extLst>
          </p:cNvPr>
          <p:cNvSpPr txBox="1"/>
          <p:nvPr/>
        </p:nvSpPr>
        <p:spPr>
          <a:xfrm>
            <a:off x="470131" y="6474530"/>
            <a:ext cx="3566557"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区块头包含前一区块的哈希值</a:t>
            </a:r>
          </a:p>
        </p:txBody>
      </p:sp>
      <p:sp>
        <p:nvSpPr>
          <p:cNvPr id="67" name="文本框 66">
            <a:extLst>
              <a:ext uri="{FF2B5EF4-FFF2-40B4-BE49-F238E27FC236}">
                <a16:creationId xmlns:a16="http://schemas.microsoft.com/office/drawing/2014/main" id="{29548CC5-C15F-462C-B7D6-DB5B49C5D7B6}"/>
              </a:ext>
            </a:extLst>
          </p:cNvPr>
          <p:cNvSpPr txBox="1"/>
          <p:nvPr/>
        </p:nvSpPr>
        <p:spPr>
          <a:xfrm>
            <a:off x="2752576" y="4611271"/>
            <a:ext cx="713317" cy="307777"/>
          </a:xfrm>
          <a:prstGeom prst="rect">
            <a:avLst/>
          </a:prstGeom>
          <a:noFill/>
        </p:spPr>
        <p:txBody>
          <a:bodyPr wrap="square">
            <a:spAutoFit/>
          </a:bodyPr>
          <a:lstStyle/>
          <a:p>
            <a:pPr algn="ctr"/>
            <a:r>
              <a:rPr kumimoji="1" lang="en-US" altLang="zh-CN" sz="1400" b="1" i="1" dirty="0">
                <a:solidFill>
                  <a:schemeClr val="bg1"/>
                </a:solidFill>
                <a:latin typeface="Times New Roman" panose="02020603050405020304" pitchFamily="18" charset="0"/>
                <a:ea typeface="微软雅黑" panose="020B0503020204020204" pitchFamily="34" charset="-122"/>
              </a:rPr>
              <a:t>n </a:t>
            </a:r>
            <a:r>
              <a:rPr kumimoji="1" lang="en-US" altLang="zh-CN" sz="1400" b="1" dirty="0">
                <a:solidFill>
                  <a:schemeClr val="bg1"/>
                </a:solidFill>
                <a:latin typeface="Times New Roman" panose="02020603050405020304" pitchFamily="18" charset="0"/>
                <a:ea typeface="微软雅黑" panose="020B0503020204020204" pitchFamily="34" charset="-122"/>
              </a:rPr>
              <a:t>+ 1</a:t>
            </a:r>
            <a:endParaRPr kumimoji="1" lang="zh-CN" altLang="en-US" sz="1400" b="1" dirty="0">
              <a:solidFill>
                <a:schemeClr val="bg1"/>
              </a:solidFill>
              <a:latin typeface="Times New Roman" panose="02020603050405020304" pitchFamily="18" charset="0"/>
              <a:ea typeface="微软雅黑" panose="020B0503020204020204" pitchFamily="34" charset="-122"/>
            </a:endParaRPr>
          </a:p>
        </p:txBody>
      </p:sp>
      <p:sp>
        <p:nvSpPr>
          <p:cNvPr id="68" name="文本框 67">
            <a:extLst>
              <a:ext uri="{FF2B5EF4-FFF2-40B4-BE49-F238E27FC236}">
                <a16:creationId xmlns:a16="http://schemas.microsoft.com/office/drawing/2014/main" id="{C92BC27B-641E-4470-9191-AA5D1530FD46}"/>
              </a:ext>
            </a:extLst>
          </p:cNvPr>
          <p:cNvSpPr txBox="1"/>
          <p:nvPr/>
        </p:nvSpPr>
        <p:spPr>
          <a:xfrm>
            <a:off x="970301" y="4611271"/>
            <a:ext cx="387581" cy="307777"/>
          </a:xfrm>
          <a:prstGeom prst="rect">
            <a:avLst/>
          </a:prstGeom>
          <a:noFill/>
        </p:spPr>
        <p:txBody>
          <a:bodyPr wrap="square">
            <a:spAutoFit/>
          </a:bodyPr>
          <a:lstStyle/>
          <a:p>
            <a:pPr algn="ctr"/>
            <a:r>
              <a:rPr kumimoji="1" lang="en-US" altLang="zh-CN" sz="1400" b="1" i="1" dirty="0">
                <a:solidFill>
                  <a:schemeClr val="bg1"/>
                </a:solidFill>
                <a:latin typeface="Times New Roman" panose="02020603050405020304" pitchFamily="18" charset="0"/>
                <a:ea typeface="微软雅黑" panose="020B0503020204020204" pitchFamily="34" charset="-122"/>
              </a:rPr>
              <a:t>n</a:t>
            </a:r>
            <a:endParaRPr kumimoji="1" lang="zh-CN" altLang="en-US" sz="1400" b="1" i="1" dirty="0">
              <a:solidFill>
                <a:schemeClr val="bg1"/>
              </a:solidFill>
              <a:latin typeface="Times New Roman" panose="02020603050405020304" pitchFamily="18" charset="0"/>
              <a:ea typeface="微软雅黑" panose="020B0503020204020204" pitchFamily="34" charset="-122"/>
            </a:endParaRPr>
          </a:p>
        </p:txBody>
      </p:sp>
      <p:sp>
        <p:nvSpPr>
          <p:cNvPr id="69" name="右箭头 76">
            <a:extLst>
              <a:ext uri="{FF2B5EF4-FFF2-40B4-BE49-F238E27FC236}">
                <a16:creationId xmlns:a16="http://schemas.microsoft.com/office/drawing/2014/main" id="{4836966B-83D3-4CB6-98E8-B56D8996A19D}"/>
              </a:ext>
            </a:extLst>
          </p:cNvPr>
          <p:cNvSpPr/>
          <p:nvPr/>
        </p:nvSpPr>
        <p:spPr>
          <a:xfrm>
            <a:off x="4478867" y="5434954"/>
            <a:ext cx="313266" cy="38253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70" name="矩形 69">
            <a:extLst>
              <a:ext uri="{FF2B5EF4-FFF2-40B4-BE49-F238E27FC236}">
                <a16:creationId xmlns:a16="http://schemas.microsoft.com/office/drawing/2014/main" id="{AF79C4E5-D8B6-42F3-A91B-59376B767766}"/>
              </a:ext>
            </a:extLst>
          </p:cNvPr>
          <p:cNvSpPr/>
          <p:nvPr/>
        </p:nvSpPr>
        <p:spPr>
          <a:xfrm>
            <a:off x="7340055" y="478113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71" name="矩形 70">
            <a:extLst>
              <a:ext uri="{FF2B5EF4-FFF2-40B4-BE49-F238E27FC236}">
                <a16:creationId xmlns:a16="http://schemas.microsoft.com/office/drawing/2014/main" id="{0DAC8143-A810-4AB6-B1B7-9CCA1B3AA7ED}"/>
              </a:ext>
            </a:extLst>
          </p:cNvPr>
          <p:cNvSpPr/>
          <p:nvPr/>
        </p:nvSpPr>
        <p:spPr>
          <a:xfrm>
            <a:off x="8115217" y="478113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72" name="矩形 71">
            <a:extLst>
              <a:ext uri="{FF2B5EF4-FFF2-40B4-BE49-F238E27FC236}">
                <a16:creationId xmlns:a16="http://schemas.microsoft.com/office/drawing/2014/main" id="{9D82D236-4112-49C5-B19C-91942E1B7938}"/>
              </a:ext>
            </a:extLst>
          </p:cNvPr>
          <p:cNvSpPr/>
          <p:nvPr/>
        </p:nvSpPr>
        <p:spPr>
          <a:xfrm>
            <a:off x="8890379" y="478113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73" name="直线箭头连接符 80">
            <a:extLst>
              <a:ext uri="{FF2B5EF4-FFF2-40B4-BE49-F238E27FC236}">
                <a16:creationId xmlns:a16="http://schemas.microsoft.com/office/drawing/2014/main" id="{29B56CBF-1A43-491F-993E-FC85EE379582}"/>
              </a:ext>
            </a:extLst>
          </p:cNvPr>
          <p:cNvCxnSpPr>
            <a:cxnSpLocks/>
          </p:cNvCxnSpPr>
          <p:nvPr/>
        </p:nvCxnSpPr>
        <p:spPr>
          <a:xfrm flipH="1">
            <a:off x="7772317" y="499311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线箭头连接符 81">
            <a:extLst>
              <a:ext uri="{FF2B5EF4-FFF2-40B4-BE49-F238E27FC236}">
                <a16:creationId xmlns:a16="http://schemas.microsoft.com/office/drawing/2014/main" id="{121BCF96-76C4-4FD0-B73E-54165E3831EA}"/>
              </a:ext>
            </a:extLst>
          </p:cNvPr>
          <p:cNvCxnSpPr>
            <a:cxnSpLocks/>
          </p:cNvCxnSpPr>
          <p:nvPr/>
        </p:nvCxnSpPr>
        <p:spPr>
          <a:xfrm flipH="1">
            <a:off x="8547479" y="499311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线箭头连接符 82">
            <a:extLst>
              <a:ext uri="{FF2B5EF4-FFF2-40B4-BE49-F238E27FC236}">
                <a16:creationId xmlns:a16="http://schemas.microsoft.com/office/drawing/2014/main" id="{5A69ED64-0760-45DB-A36C-EFE14A11B71F}"/>
              </a:ext>
            </a:extLst>
          </p:cNvPr>
          <p:cNvCxnSpPr>
            <a:cxnSpLocks/>
          </p:cNvCxnSpPr>
          <p:nvPr/>
        </p:nvCxnSpPr>
        <p:spPr>
          <a:xfrm flipH="1">
            <a:off x="9322641" y="499311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616BD845-3658-4994-BC2D-83AD6DCDBAAA}"/>
              </a:ext>
            </a:extLst>
          </p:cNvPr>
          <p:cNvSpPr/>
          <p:nvPr/>
        </p:nvSpPr>
        <p:spPr>
          <a:xfrm>
            <a:off x="9665541" y="478113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77" name="直线箭头连接符 84">
            <a:extLst>
              <a:ext uri="{FF2B5EF4-FFF2-40B4-BE49-F238E27FC236}">
                <a16:creationId xmlns:a16="http://schemas.microsoft.com/office/drawing/2014/main" id="{A344AAF6-7BD9-4B5B-A0E6-235302EA1E65}"/>
              </a:ext>
            </a:extLst>
          </p:cNvPr>
          <p:cNvCxnSpPr>
            <a:cxnSpLocks/>
          </p:cNvCxnSpPr>
          <p:nvPr/>
        </p:nvCxnSpPr>
        <p:spPr>
          <a:xfrm flipH="1">
            <a:off x="10094418" y="499311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C40621A2-B48E-4390-B49A-DBC6BB9B5C01}"/>
              </a:ext>
            </a:extLst>
          </p:cNvPr>
          <p:cNvSpPr/>
          <p:nvPr/>
        </p:nvSpPr>
        <p:spPr>
          <a:xfrm>
            <a:off x="10437318" y="478113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79" name="直线箭头连接符 86">
            <a:extLst>
              <a:ext uri="{FF2B5EF4-FFF2-40B4-BE49-F238E27FC236}">
                <a16:creationId xmlns:a16="http://schemas.microsoft.com/office/drawing/2014/main" id="{260C4BD0-C384-4593-9F90-AD40BFF55E62}"/>
              </a:ext>
            </a:extLst>
          </p:cNvPr>
          <p:cNvCxnSpPr>
            <a:cxnSpLocks/>
          </p:cNvCxnSpPr>
          <p:nvPr/>
        </p:nvCxnSpPr>
        <p:spPr>
          <a:xfrm flipH="1">
            <a:off x="10867892" y="4993112"/>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04D893BB-5678-4F22-A24F-3F08354990CE}"/>
              </a:ext>
            </a:extLst>
          </p:cNvPr>
          <p:cNvSpPr/>
          <p:nvPr/>
        </p:nvSpPr>
        <p:spPr>
          <a:xfrm>
            <a:off x="11210792" y="4781138"/>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81" name="文本框 80">
            <a:extLst>
              <a:ext uri="{FF2B5EF4-FFF2-40B4-BE49-F238E27FC236}">
                <a16:creationId xmlns:a16="http://schemas.microsoft.com/office/drawing/2014/main" id="{79441815-FB56-45E3-83F6-F3C7DF62767E}"/>
              </a:ext>
            </a:extLst>
          </p:cNvPr>
          <p:cNvSpPr txBox="1"/>
          <p:nvPr/>
        </p:nvSpPr>
        <p:spPr>
          <a:xfrm>
            <a:off x="6214888" y="4808446"/>
            <a:ext cx="1107671"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区块链：</a:t>
            </a:r>
          </a:p>
        </p:txBody>
      </p:sp>
      <p:pic>
        <p:nvPicPr>
          <p:cNvPr id="82" name="图片 81">
            <a:extLst>
              <a:ext uri="{FF2B5EF4-FFF2-40B4-BE49-F238E27FC236}">
                <a16:creationId xmlns:a16="http://schemas.microsoft.com/office/drawing/2014/main" id="{650D22C6-6B95-49C2-B23F-303BBB2DF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8473" y="5430000"/>
            <a:ext cx="285750" cy="285750"/>
          </a:xfrm>
          <a:prstGeom prst="rect">
            <a:avLst/>
          </a:prstGeom>
        </p:spPr>
      </p:pic>
      <p:cxnSp>
        <p:nvCxnSpPr>
          <p:cNvPr id="83" name="直接箭头连接符 82">
            <a:extLst>
              <a:ext uri="{FF2B5EF4-FFF2-40B4-BE49-F238E27FC236}">
                <a16:creationId xmlns:a16="http://schemas.microsoft.com/office/drawing/2014/main" id="{E9F88121-FB7B-47DA-B840-717141E9F0E4}"/>
              </a:ext>
            </a:extLst>
          </p:cNvPr>
          <p:cNvCxnSpPr>
            <a:cxnSpLocks/>
            <a:stCxn id="82" idx="0"/>
            <a:endCxn id="84" idx="2"/>
          </p:cNvCxnSpPr>
          <p:nvPr/>
        </p:nvCxnSpPr>
        <p:spPr>
          <a:xfrm flipV="1">
            <a:off x="8331348" y="5105710"/>
            <a:ext cx="0" cy="32429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6428BAEB-0FE9-4484-BC96-9AD115FB5E9E}"/>
              </a:ext>
            </a:extLst>
          </p:cNvPr>
          <p:cNvSpPr/>
          <p:nvPr/>
        </p:nvSpPr>
        <p:spPr>
          <a:xfrm>
            <a:off x="8115217" y="5006051"/>
            <a:ext cx="432262" cy="99659"/>
          </a:xfrm>
          <a:prstGeom prst="rect">
            <a:avLst/>
          </a:prstGeom>
          <a:pattFill prst="wdUpDiag">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85" name="文本框 84">
            <a:extLst>
              <a:ext uri="{FF2B5EF4-FFF2-40B4-BE49-F238E27FC236}">
                <a16:creationId xmlns:a16="http://schemas.microsoft.com/office/drawing/2014/main" id="{6EBCFD71-9140-4BBC-BE9A-383AB2107C5A}"/>
              </a:ext>
            </a:extLst>
          </p:cNvPr>
          <p:cNvSpPr txBox="1"/>
          <p:nvPr/>
        </p:nvSpPr>
        <p:spPr>
          <a:xfrm>
            <a:off x="4821774" y="5439186"/>
            <a:ext cx="1611822" cy="369332"/>
          </a:xfrm>
          <a:prstGeom prst="rect">
            <a:avLst/>
          </a:prstGeom>
          <a:noFill/>
        </p:spPr>
        <p:txBody>
          <a:bodyPr wrap="square" rtlCol="0">
            <a:spAutoFit/>
          </a:bodyPr>
          <a:lstStyle/>
          <a:p>
            <a:r>
              <a:rPr kumimoji="1" lang="zh-CN" altLang="en-US" b="1" dirty="0">
                <a:latin typeface="Times New Roman" panose="02020603050405020304" pitchFamily="18" charset="0"/>
                <a:ea typeface="微软雅黑" panose="020B0503020204020204" pitchFamily="34" charset="-122"/>
              </a:rPr>
              <a:t>不可篡改性：</a:t>
            </a:r>
          </a:p>
        </p:txBody>
      </p:sp>
      <p:sp>
        <p:nvSpPr>
          <p:cNvPr id="86" name="矩形 85">
            <a:extLst>
              <a:ext uri="{FF2B5EF4-FFF2-40B4-BE49-F238E27FC236}">
                <a16:creationId xmlns:a16="http://schemas.microsoft.com/office/drawing/2014/main" id="{B16F1951-1C00-4DFA-A30C-BD4F373691CD}"/>
              </a:ext>
            </a:extLst>
          </p:cNvPr>
          <p:cNvSpPr/>
          <p:nvPr/>
        </p:nvSpPr>
        <p:spPr>
          <a:xfrm>
            <a:off x="8115217" y="4566103"/>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87" name="文本框 86">
            <a:extLst>
              <a:ext uri="{FF2B5EF4-FFF2-40B4-BE49-F238E27FC236}">
                <a16:creationId xmlns:a16="http://schemas.microsoft.com/office/drawing/2014/main" id="{06357B90-BDA1-4DAF-9256-2C317E7F4D68}"/>
              </a:ext>
            </a:extLst>
          </p:cNvPr>
          <p:cNvSpPr txBox="1"/>
          <p:nvPr/>
        </p:nvSpPr>
        <p:spPr>
          <a:xfrm>
            <a:off x="8045100" y="4284301"/>
            <a:ext cx="614271" cy="307777"/>
          </a:xfrm>
          <a:prstGeom prst="rect">
            <a:avLst/>
          </a:prstGeom>
          <a:noFill/>
        </p:spPr>
        <p:txBody>
          <a:bodyPr wrap="none" rtlCol="0">
            <a:spAutoFit/>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Hash’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88" name="直接箭头连接符 87">
            <a:extLst>
              <a:ext uri="{FF2B5EF4-FFF2-40B4-BE49-F238E27FC236}">
                <a16:creationId xmlns:a16="http://schemas.microsoft.com/office/drawing/2014/main" id="{6E27955C-103D-4F47-AB54-7712729F8C19}"/>
              </a:ext>
            </a:extLst>
          </p:cNvPr>
          <p:cNvCxnSpPr>
            <a:cxnSpLocks/>
            <a:stCxn id="84" idx="0"/>
            <a:endCxn id="86" idx="2"/>
          </p:cNvCxnSpPr>
          <p:nvPr/>
        </p:nvCxnSpPr>
        <p:spPr>
          <a:xfrm flipV="1">
            <a:off x="8331348" y="4665762"/>
            <a:ext cx="0" cy="340289"/>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9" name="矩形 88">
            <a:extLst>
              <a:ext uri="{FF2B5EF4-FFF2-40B4-BE49-F238E27FC236}">
                <a16:creationId xmlns:a16="http://schemas.microsoft.com/office/drawing/2014/main" id="{3F5A0B8D-7E63-45DC-BA52-3309B48AE1D0}"/>
              </a:ext>
            </a:extLst>
          </p:cNvPr>
          <p:cNvSpPr/>
          <p:nvPr/>
        </p:nvSpPr>
        <p:spPr>
          <a:xfrm>
            <a:off x="8892916" y="4873257"/>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90" name="直接箭头连接符 89">
            <a:extLst>
              <a:ext uri="{FF2B5EF4-FFF2-40B4-BE49-F238E27FC236}">
                <a16:creationId xmlns:a16="http://schemas.microsoft.com/office/drawing/2014/main" id="{320C6FC1-7E77-4F1F-B70F-997FA7E99144}"/>
              </a:ext>
            </a:extLst>
          </p:cNvPr>
          <p:cNvCxnSpPr>
            <a:cxnSpLocks/>
            <a:stCxn id="89" idx="1"/>
          </p:cNvCxnSpPr>
          <p:nvPr/>
        </p:nvCxnSpPr>
        <p:spPr>
          <a:xfrm flipH="1" flipV="1">
            <a:off x="8547480" y="4615933"/>
            <a:ext cx="345436" cy="307154"/>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91" name="矩形 90">
            <a:extLst>
              <a:ext uri="{FF2B5EF4-FFF2-40B4-BE49-F238E27FC236}">
                <a16:creationId xmlns:a16="http://schemas.microsoft.com/office/drawing/2014/main" id="{38E7950E-CE84-4AAB-A03D-E2B6697208D1}"/>
              </a:ext>
            </a:extLst>
          </p:cNvPr>
          <p:cNvSpPr/>
          <p:nvPr/>
        </p:nvSpPr>
        <p:spPr>
          <a:xfrm>
            <a:off x="8890379" y="4564657"/>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92" name="直接箭头连接符 91">
            <a:extLst>
              <a:ext uri="{FF2B5EF4-FFF2-40B4-BE49-F238E27FC236}">
                <a16:creationId xmlns:a16="http://schemas.microsoft.com/office/drawing/2014/main" id="{11B64503-23A3-49A8-9AF1-58052EA4D1A9}"/>
              </a:ext>
            </a:extLst>
          </p:cNvPr>
          <p:cNvCxnSpPr>
            <a:cxnSpLocks/>
            <a:stCxn id="89" idx="0"/>
            <a:endCxn id="91" idx="2"/>
          </p:cNvCxnSpPr>
          <p:nvPr/>
        </p:nvCxnSpPr>
        <p:spPr>
          <a:xfrm flipH="1" flipV="1">
            <a:off x="9106510" y="4664316"/>
            <a:ext cx="2537" cy="208941"/>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矩形 92">
            <a:extLst>
              <a:ext uri="{FF2B5EF4-FFF2-40B4-BE49-F238E27FC236}">
                <a16:creationId xmlns:a16="http://schemas.microsoft.com/office/drawing/2014/main" id="{99CF0D02-DD37-4F5F-B12C-003784F97032}"/>
              </a:ext>
            </a:extLst>
          </p:cNvPr>
          <p:cNvSpPr/>
          <p:nvPr/>
        </p:nvSpPr>
        <p:spPr>
          <a:xfrm>
            <a:off x="9668078" y="4873257"/>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94" name="直接箭头连接符 93">
            <a:extLst>
              <a:ext uri="{FF2B5EF4-FFF2-40B4-BE49-F238E27FC236}">
                <a16:creationId xmlns:a16="http://schemas.microsoft.com/office/drawing/2014/main" id="{0633246A-33F7-40B9-BAC1-C46DD59BF701}"/>
              </a:ext>
            </a:extLst>
          </p:cNvPr>
          <p:cNvCxnSpPr>
            <a:cxnSpLocks/>
          </p:cNvCxnSpPr>
          <p:nvPr/>
        </p:nvCxnSpPr>
        <p:spPr>
          <a:xfrm flipH="1" flipV="1">
            <a:off x="9314183" y="4606307"/>
            <a:ext cx="345436" cy="301986"/>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95" name="矩形 94">
            <a:extLst>
              <a:ext uri="{FF2B5EF4-FFF2-40B4-BE49-F238E27FC236}">
                <a16:creationId xmlns:a16="http://schemas.microsoft.com/office/drawing/2014/main" id="{F0263186-0FB8-4663-8C41-28882B420276}"/>
              </a:ext>
            </a:extLst>
          </p:cNvPr>
          <p:cNvSpPr/>
          <p:nvPr/>
        </p:nvSpPr>
        <p:spPr>
          <a:xfrm>
            <a:off x="10434781" y="4873257"/>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96" name="矩形 95">
            <a:extLst>
              <a:ext uri="{FF2B5EF4-FFF2-40B4-BE49-F238E27FC236}">
                <a16:creationId xmlns:a16="http://schemas.microsoft.com/office/drawing/2014/main" id="{18974B88-3C4B-4E26-A77F-2C881192A27D}"/>
              </a:ext>
            </a:extLst>
          </p:cNvPr>
          <p:cNvSpPr/>
          <p:nvPr/>
        </p:nvSpPr>
        <p:spPr>
          <a:xfrm>
            <a:off x="11214572" y="4873257"/>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97" name="矩形 96">
            <a:extLst>
              <a:ext uri="{FF2B5EF4-FFF2-40B4-BE49-F238E27FC236}">
                <a16:creationId xmlns:a16="http://schemas.microsoft.com/office/drawing/2014/main" id="{9ACEF941-4CEA-4D34-8F8E-BB1379137146}"/>
              </a:ext>
            </a:extLst>
          </p:cNvPr>
          <p:cNvSpPr/>
          <p:nvPr/>
        </p:nvSpPr>
        <p:spPr>
          <a:xfrm>
            <a:off x="9668078" y="4564656"/>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98" name="矩形 97">
            <a:extLst>
              <a:ext uri="{FF2B5EF4-FFF2-40B4-BE49-F238E27FC236}">
                <a16:creationId xmlns:a16="http://schemas.microsoft.com/office/drawing/2014/main" id="{17E422C9-6830-41AB-83D2-B88266941A93}"/>
              </a:ext>
            </a:extLst>
          </p:cNvPr>
          <p:cNvSpPr/>
          <p:nvPr/>
        </p:nvSpPr>
        <p:spPr>
          <a:xfrm>
            <a:off x="10434781" y="4564656"/>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99" name="矩形 98">
            <a:extLst>
              <a:ext uri="{FF2B5EF4-FFF2-40B4-BE49-F238E27FC236}">
                <a16:creationId xmlns:a16="http://schemas.microsoft.com/office/drawing/2014/main" id="{C4CE672D-A135-416D-B73B-4C8BED48B9C5}"/>
              </a:ext>
            </a:extLst>
          </p:cNvPr>
          <p:cNvSpPr/>
          <p:nvPr/>
        </p:nvSpPr>
        <p:spPr>
          <a:xfrm>
            <a:off x="11210792" y="4571320"/>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00" name="直接箭头连接符 99">
            <a:extLst>
              <a:ext uri="{FF2B5EF4-FFF2-40B4-BE49-F238E27FC236}">
                <a16:creationId xmlns:a16="http://schemas.microsoft.com/office/drawing/2014/main" id="{BD19E993-D05A-49A1-83CE-4E5944B1C9FF}"/>
              </a:ext>
            </a:extLst>
          </p:cNvPr>
          <p:cNvCxnSpPr>
            <a:cxnSpLocks/>
          </p:cNvCxnSpPr>
          <p:nvPr/>
        </p:nvCxnSpPr>
        <p:spPr>
          <a:xfrm flipH="1" flipV="1">
            <a:off x="10089769" y="4602267"/>
            <a:ext cx="345436" cy="301986"/>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00905E05-F766-4D54-AD52-D0E4C661AFF3}"/>
              </a:ext>
            </a:extLst>
          </p:cNvPr>
          <p:cNvCxnSpPr>
            <a:cxnSpLocks/>
          </p:cNvCxnSpPr>
          <p:nvPr/>
        </p:nvCxnSpPr>
        <p:spPr>
          <a:xfrm flipH="1" flipV="1">
            <a:off x="10856896" y="4616433"/>
            <a:ext cx="345436" cy="301986"/>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B6E3A591-2679-4DE3-BA47-A1A32D69718D}"/>
              </a:ext>
            </a:extLst>
          </p:cNvPr>
          <p:cNvCxnSpPr>
            <a:cxnSpLocks/>
          </p:cNvCxnSpPr>
          <p:nvPr/>
        </p:nvCxnSpPr>
        <p:spPr>
          <a:xfrm flipH="1" flipV="1">
            <a:off x="9883040" y="4669603"/>
            <a:ext cx="2537" cy="208941"/>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78ED4A84-BF3A-4659-819B-3717981F0D6C}"/>
              </a:ext>
            </a:extLst>
          </p:cNvPr>
          <p:cNvCxnSpPr>
            <a:cxnSpLocks/>
          </p:cNvCxnSpPr>
          <p:nvPr/>
        </p:nvCxnSpPr>
        <p:spPr>
          <a:xfrm flipH="1" flipV="1">
            <a:off x="10644570" y="4658315"/>
            <a:ext cx="2537" cy="208941"/>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2B94DFC3-807C-41B5-8EEB-55CF3F23787A}"/>
              </a:ext>
            </a:extLst>
          </p:cNvPr>
          <p:cNvCxnSpPr>
            <a:cxnSpLocks/>
          </p:cNvCxnSpPr>
          <p:nvPr/>
        </p:nvCxnSpPr>
        <p:spPr>
          <a:xfrm flipH="1" flipV="1">
            <a:off x="11426923" y="4672573"/>
            <a:ext cx="2537" cy="208941"/>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2D7BD819-DB3E-473B-81A7-40282A6409A2}"/>
              </a:ext>
            </a:extLst>
          </p:cNvPr>
          <p:cNvSpPr txBox="1"/>
          <p:nvPr/>
        </p:nvSpPr>
        <p:spPr>
          <a:xfrm>
            <a:off x="10460026" y="5205731"/>
            <a:ext cx="1702710" cy="307777"/>
          </a:xfrm>
          <a:prstGeom prst="rect">
            <a:avLst/>
          </a:prstGeom>
          <a:noFill/>
        </p:spPr>
        <p:txBody>
          <a:bodyPr wrap="none" rtlCol="0">
            <a:spAutoFit/>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Previous Block Hash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06" name="连接符: 肘形 105">
            <a:extLst>
              <a:ext uri="{FF2B5EF4-FFF2-40B4-BE49-F238E27FC236}">
                <a16:creationId xmlns:a16="http://schemas.microsoft.com/office/drawing/2014/main" id="{7243DE28-9135-4BFB-A09A-341B80231432}"/>
              </a:ext>
            </a:extLst>
          </p:cNvPr>
          <p:cNvCxnSpPr>
            <a:stCxn id="96" idx="3"/>
          </p:cNvCxnSpPr>
          <p:nvPr/>
        </p:nvCxnSpPr>
        <p:spPr>
          <a:xfrm>
            <a:off x="11646834" y="4923087"/>
            <a:ext cx="278466" cy="344768"/>
          </a:xfrm>
          <a:prstGeom prst="bentConnector2">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7" name="文本框 106">
            <a:extLst>
              <a:ext uri="{FF2B5EF4-FFF2-40B4-BE49-F238E27FC236}">
                <a16:creationId xmlns:a16="http://schemas.microsoft.com/office/drawing/2014/main" id="{406F4182-CFC4-4795-8B38-59EFC4623F04}"/>
              </a:ext>
            </a:extLst>
          </p:cNvPr>
          <p:cNvSpPr txBox="1"/>
          <p:nvPr/>
        </p:nvSpPr>
        <p:spPr>
          <a:xfrm>
            <a:off x="4982356" y="5812421"/>
            <a:ext cx="6447736" cy="369332"/>
          </a:xfrm>
          <a:prstGeom prst="rect">
            <a:avLst/>
          </a:prstGeom>
          <a:solidFill>
            <a:schemeClr val="accent4">
              <a:lumMod val="60000"/>
              <a:lumOff val="40000"/>
            </a:schemeClr>
          </a:solidFill>
          <a:ln w="19050">
            <a:solidFill>
              <a:srgbClr val="002060"/>
            </a:solidFill>
            <a:prstDash val="dash"/>
          </a:ln>
        </p:spPr>
        <p:txBody>
          <a:bodyPr wrap="square" rtlCol="0">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对某个区块任意位置的修改都将导致后面所有区块发生变化</a:t>
            </a:r>
          </a:p>
        </p:txBody>
      </p:sp>
      <p:sp>
        <p:nvSpPr>
          <p:cNvPr id="108" name="文本框 107">
            <a:extLst>
              <a:ext uri="{FF2B5EF4-FFF2-40B4-BE49-F238E27FC236}">
                <a16:creationId xmlns:a16="http://schemas.microsoft.com/office/drawing/2014/main" id="{2A800AC7-700B-4D5D-9378-B6F2012B06D3}"/>
              </a:ext>
            </a:extLst>
          </p:cNvPr>
          <p:cNvSpPr txBox="1"/>
          <p:nvPr/>
        </p:nvSpPr>
        <p:spPr>
          <a:xfrm>
            <a:off x="4982356" y="6385259"/>
            <a:ext cx="7034965" cy="369332"/>
          </a:xfrm>
          <a:prstGeom prst="rect">
            <a:avLst/>
          </a:prstGeom>
          <a:solidFill>
            <a:schemeClr val="accent3">
              <a:lumMod val="20000"/>
              <a:lumOff val="80000"/>
            </a:schemeClr>
          </a:solidFill>
          <a:ln w="19050">
            <a:solidFill>
              <a:srgbClr val="002060"/>
            </a:solidFill>
            <a:prstDash val="dash"/>
          </a:ln>
        </p:spPr>
        <p:txBody>
          <a:bodyPr wrap="square" rtlCol="0">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修改区块体也会变化吗？所有区块都变化了为什么还说不可篡改？</a:t>
            </a:r>
          </a:p>
        </p:txBody>
      </p:sp>
      <p:sp>
        <p:nvSpPr>
          <p:cNvPr id="109" name="文本框 108">
            <a:extLst>
              <a:ext uri="{FF2B5EF4-FFF2-40B4-BE49-F238E27FC236}">
                <a16:creationId xmlns:a16="http://schemas.microsoft.com/office/drawing/2014/main" id="{666DC27A-7280-4E3F-ADAF-2C37C22222D1}"/>
              </a:ext>
            </a:extLst>
          </p:cNvPr>
          <p:cNvSpPr txBox="1"/>
          <p:nvPr/>
        </p:nvSpPr>
        <p:spPr>
          <a:xfrm>
            <a:off x="8419399" y="5386889"/>
            <a:ext cx="902811" cy="307777"/>
          </a:xfrm>
          <a:prstGeom prst="rect">
            <a:avLst/>
          </a:prstGeom>
          <a:noFill/>
        </p:spPr>
        <p:txBody>
          <a:bodyPr wrap="none" rtlCol="0">
            <a:spAutoFit/>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恶意节点</a:t>
            </a:r>
          </a:p>
        </p:txBody>
      </p:sp>
      <p:sp>
        <p:nvSpPr>
          <p:cNvPr id="110" name="右箭头 76">
            <a:extLst>
              <a:ext uri="{FF2B5EF4-FFF2-40B4-BE49-F238E27FC236}">
                <a16:creationId xmlns:a16="http://schemas.microsoft.com/office/drawing/2014/main" id="{13F1E00C-8508-4DC1-B126-28A5D17952F6}"/>
              </a:ext>
            </a:extLst>
          </p:cNvPr>
          <p:cNvSpPr/>
          <p:nvPr/>
        </p:nvSpPr>
        <p:spPr>
          <a:xfrm>
            <a:off x="5500330" y="2719648"/>
            <a:ext cx="313266" cy="38253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11" name="文本框 110">
            <a:extLst>
              <a:ext uri="{FF2B5EF4-FFF2-40B4-BE49-F238E27FC236}">
                <a16:creationId xmlns:a16="http://schemas.microsoft.com/office/drawing/2014/main" id="{0E3BD8A5-3446-4A86-BE24-3B44C37E36B6}"/>
              </a:ext>
            </a:extLst>
          </p:cNvPr>
          <p:cNvSpPr txBox="1"/>
          <p:nvPr/>
        </p:nvSpPr>
        <p:spPr>
          <a:xfrm>
            <a:off x="4982356" y="4385253"/>
            <a:ext cx="2394302" cy="307777"/>
          </a:xfrm>
          <a:prstGeom prst="rect">
            <a:avLst/>
          </a:prstGeom>
          <a:solidFill>
            <a:schemeClr val="accent3">
              <a:lumMod val="20000"/>
              <a:lumOff val="80000"/>
            </a:schemeClr>
          </a:solidFill>
          <a:ln w="19050">
            <a:solidFill>
              <a:schemeClr val="tx1"/>
            </a:solidFill>
            <a:prstDash val="dash"/>
          </a:ln>
        </p:spPr>
        <p:txBody>
          <a:bodyPr wrap="square" rtlCol="0">
            <a:spAutoFit/>
          </a:bodyPr>
          <a:lstStyle/>
          <a:p>
            <a:r>
              <a:rPr kumimoji="1" lang="zh-CN" altLang="en-US" sz="1400" dirty="0">
                <a:solidFill>
                  <a:srgbClr val="002060"/>
                </a:solidFill>
                <a:latin typeface="Times New Roman" panose="02020603050405020304" pitchFamily="18" charset="0"/>
                <a:ea typeface="微软雅黑" panose="020B0503020204020204" pitchFamily="34" charset="-122"/>
              </a:rPr>
              <a:t>属于哈希运算的什么性质？</a:t>
            </a:r>
          </a:p>
        </p:txBody>
      </p:sp>
      <p:pic>
        <p:nvPicPr>
          <p:cNvPr id="112" name="图片 111">
            <a:extLst>
              <a:ext uri="{FF2B5EF4-FFF2-40B4-BE49-F238E27FC236}">
                <a16:creationId xmlns:a16="http://schemas.microsoft.com/office/drawing/2014/main" id="{05E67407-4138-4FA9-B15A-BA610799E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0693" y="4238310"/>
            <a:ext cx="601662" cy="601662"/>
          </a:xfrm>
          <a:prstGeom prst="rect">
            <a:avLst/>
          </a:prstGeom>
        </p:spPr>
      </p:pic>
      <p:cxnSp>
        <p:nvCxnSpPr>
          <p:cNvPr id="113" name="直接箭头连接符 112">
            <a:extLst>
              <a:ext uri="{FF2B5EF4-FFF2-40B4-BE49-F238E27FC236}">
                <a16:creationId xmlns:a16="http://schemas.microsoft.com/office/drawing/2014/main" id="{40FA2909-6F1A-4E4D-99D2-0E5B72A4EBF9}"/>
              </a:ext>
            </a:extLst>
          </p:cNvPr>
          <p:cNvCxnSpPr>
            <a:stCxn id="71" idx="0"/>
            <a:endCxn id="111" idx="3"/>
          </p:cNvCxnSpPr>
          <p:nvPr/>
        </p:nvCxnSpPr>
        <p:spPr>
          <a:xfrm flipH="1" flipV="1">
            <a:off x="7376658" y="4539142"/>
            <a:ext cx="954690" cy="241997"/>
          </a:xfrm>
          <a:prstGeom prst="straightConnector1">
            <a:avLst/>
          </a:prstGeom>
          <a:ln w="127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850A611E-03A7-4288-A56F-822DD8916524}"/>
                  </a:ext>
                </a:extLst>
              </p:cNvPr>
              <p:cNvSpPr txBox="1"/>
              <p:nvPr/>
            </p:nvSpPr>
            <p:spPr>
              <a:xfrm>
                <a:off x="6538341" y="3829131"/>
                <a:ext cx="471757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Hash</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𝐻</m:t>
                      </m:r>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version</m:t>
                      </m:r>
                      <m:r>
                        <a:rPr lang="en-US" altLang="zh-CN" sz="2000" b="0" i="0" smtClean="0">
                          <a:latin typeface="Cambria Math" panose="02040503050406030204" pitchFamily="18" charset="0"/>
                        </a:rPr>
                        <m:t>,</m:t>
                      </m:r>
                      <m:r>
                        <m:rPr>
                          <m:sty m:val="p"/>
                        </m:rPr>
                        <a:rPr lang="en-US" altLang="zh-CN" sz="2000" b="0" i="0" smtClean="0">
                          <a:latin typeface="Cambria Math" panose="02040503050406030204" pitchFamily="18" charset="0"/>
                        </a:rPr>
                        <m:t>pbh</m:t>
                      </m:r>
                      <m:r>
                        <a:rPr lang="en-US" altLang="zh-CN" sz="2000" b="0" i="0" smtClean="0">
                          <a:latin typeface="Cambria Math" panose="02040503050406030204" pitchFamily="18" charset="0"/>
                        </a:rPr>
                        <m:t>,</m:t>
                      </m:r>
                      <m:r>
                        <m:rPr>
                          <m:sty m:val="p"/>
                        </m:rPr>
                        <a:rPr lang="en-US" altLang="zh-CN" sz="2000" b="0" i="0" smtClean="0">
                          <a:latin typeface="Cambria Math" panose="02040503050406030204" pitchFamily="18" charset="0"/>
                        </a:rPr>
                        <m:t>mtr</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ts</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diff</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nonce</m:t>
                      </m:r>
                      <m:r>
                        <a:rPr lang="en-US" altLang="zh-CN" sz="2000" b="0" i="0" smtClean="0">
                          <a:latin typeface="Cambria Math" panose="02040503050406030204" pitchFamily="18" charset="0"/>
                        </a:rPr>
                        <m:t>)</m:t>
                      </m:r>
                    </m:oMath>
                  </m:oMathPara>
                </a14:m>
                <a:endParaRPr lang="zh-CN" altLang="en-US" sz="2000" dirty="0"/>
              </a:p>
            </p:txBody>
          </p:sp>
        </mc:Choice>
        <mc:Fallback xmlns="">
          <p:sp>
            <p:nvSpPr>
              <p:cNvPr id="114" name="文本框 113">
                <a:extLst>
                  <a:ext uri="{FF2B5EF4-FFF2-40B4-BE49-F238E27FC236}">
                    <a16:creationId xmlns:a16="http://schemas.microsoft.com/office/drawing/2014/main" id="{850A611E-03A7-4288-A56F-822DD8916524}"/>
                  </a:ext>
                </a:extLst>
              </p:cNvPr>
              <p:cNvSpPr txBox="1">
                <a:spLocks noRot="1" noChangeAspect="1" noMove="1" noResize="1" noEditPoints="1" noAdjustHandles="1" noChangeArrowheads="1" noChangeShapeType="1" noTextEdit="1"/>
              </p:cNvSpPr>
              <p:nvPr/>
            </p:nvSpPr>
            <p:spPr>
              <a:xfrm>
                <a:off x="6538341" y="3829131"/>
                <a:ext cx="4717574" cy="307777"/>
              </a:xfrm>
              <a:prstGeom prst="rect">
                <a:avLst/>
              </a:prstGeom>
              <a:blipFill>
                <a:blip r:embed="rId4"/>
                <a:stretch>
                  <a:fillRect l="-776" t="-1961" r="-1423" b="-33333"/>
                </a:stretch>
              </a:blipFill>
            </p:spPr>
            <p:txBody>
              <a:bodyPr/>
              <a:lstStyle/>
              <a:p>
                <a:r>
                  <a:rPr lang="zh-CN" altLang="en-US">
                    <a:noFill/>
                  </a:rPr>
                  <a:t> </a:t>
                </a:r>
              </a:p>
            </p:txBody>
          </p:sp>
        </mc:Fallback>
      </mc:AlternateContent>
      <p:pic>
        <p:nvPicPr>
          <p:cNvPr id="115" name="图片 114">
            <a:extLst>
              <a:ext uri="{FF2B5EF4-FFF2-40B4-BE49-F238E27FC236}">
                <a16:creationId xmlns:a16="http://schemas.microsoft.com/office/drawing/2014/main" id="{FE0AAD27-7EC9-4F61-94DC-14B8CF7667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5609" y="6203117"/>
            <a:ext cx="601662" cy="601662"/>
          </a:xfrm>
          <a:prstGeom prst="rect">
            <a:avLst/>
          </a:prstGeom>
        </p:spPr>
      </p:pic>
    </p:spTree>
    <p:extLst>
      <p:ext uri="{BB962C8B-B14F-4D97-AF65-F5344CB8AC3E}">
        <p14:creationId xmlns:p14="http://schemas.microsoft.com/office/powerpoint/2010/main" val="281459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1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2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3"/>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5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4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48"/>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6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5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5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5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6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6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6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6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64"/>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6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69"/>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8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0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81"/>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70"/>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73"/>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71"/>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7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7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76"/>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77"/>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78"/>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80"/>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nodeType="clickEffect">
                                  <p:stCondLst>
                                    <p:cond delay="0"/>
                                  </p:stCondLst>
                                  <p:childTnLst>
                                    <p:set>
                                      <p:cBhvr>
                                        <p:cTn id="224" dur="1" fill="hold">
                                          <p:stCondLst>
                                            <p:cond delay="0"/>
                                          </p:stCondLst>
                                        </p:cTn>
                                        <p:tgtEl>
                                          <p:spTgt spid="82"/>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09"/>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83"/>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84"/>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13"/>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86"/>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87"/>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90"/>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89"/>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92"/>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91"/>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9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93"/>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02"/>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97"/>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0"/>
                                          </p:stCondLst>
                                        </p:cTn>
                                        <p:tgtEl>
                                          <p:spTgt spid="100"/>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95"/>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0"/>
                                          </p:stCondLst>
                                        </p:cTn>
                                        <p:tgtEl>
                                          <p:spTgt spid="103"/>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98"/>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0"/>
                                          </p:stCondLst>
                                        </p:cTn>
                                        <p:tgtEl>
                                          <p:spTgt spid="101"/>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96"/>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0"/>
                                          </p:stCondLst>
                                        </p:cTn>
                                        <p:tgtEl>
                                          <p:spTgt spid="104"/>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99"/>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nodeType="clickEffect">
                                  <p:stCondLst>
                                    <p:cond delay="0"/>
                                  </p:stCondLst>
                                  <p:childTnLst>
                                    <p:set>
                                      <p:cBhvr>
                                        <p:cTn id="276" dur="1" fill="hold">
                                          <p:stCondLst>
                                            <p:cond delay="0"/>
                                          </p:stCondLst>
                                        </p:cTn>
                                        <p:tgtEl>
                                          <p:spTgt spid="106"/>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05"/>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11"/>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0"/>
                                          </p:stCondLst>
                                        </p:cTn>
                                        <p:tgtEl>
                                          <p:spTgt spid="112"/>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15"/>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08"/>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presetSubtype="0" fill="hold" nodeType="clickEffect">
                                  <p:stCondLst>
                                    <p:cond delay="0"/>
                                  </p:stCondLst>
                                  <p:childTnLst>
                                    <p:set>
                                      <p:cBhvr>
                                        <p:cTn id="29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animBg="1"/>
      <p:bldP spid="16" grpId="0"/>
      <p:bldP spid="18" grpId="0"/>
      <p:bldP spid="19" grpId="0" animBg="1"/>
      <p:bldP spid="20" grpId="0"/>
      <p:bldP spid="22" grpId="0"/>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3" grpId="0" animBg="1"/>
      <p:bldP spid="36" grpId="0" animBg="1"/>
      <p:bldP spid="37" grpId="0"/>
      <p:bldP spid="38" grpId="0"/>
      <p:bldP spid="39" grpId="0"/>
      <p:bldP spid="40" grpId="0"/>
      <p:bldP spid="41" grpId="0"/>
      <p:bldP spid="42" grpId="0"/>
      <p:bldP spid="43" grpId="0"/>
      <p:bldP spid="44" grpId="0"/>
      <p:bldP spid="45" grpId="0"/>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6" grpId="0"/>
      <p:bldP spid="68" grpId="0"/>
      <p:bldP spid="69" grpId="0" animBg="1"/>
      <p:bldP spid="70" grpId="0" animBg="1"/>
      <p:bldP spid="71" grpId="0" animBg="1"/>
      <p:bldP spid="72" grpId="0" animBg="1"/>
      <p:bldP spid="76" grpId="0" animBg="1"/>
      <p:bldP spid="78" grpId="0" animBg="1"/>
      <p:bldP spid="80" grpId="0" animBg="1"/>
      <p:bldP spid="81" grpId="0"/>
      <p:bldP spid="84" grpId="0" animBg="1"/>
      <p:bldP spid="85" grpId="0"/>
      <p:bldP spid="86" grpId="0" animBg="1"/>
      <p:bldP spid="87" grpId="0"/>
      <p:bldP spid="89" grpId="0" animBg="1"/>
      <p:bldP spid="91" grpId="0" animBg="1"/>
      <p:bldP spid="93" grpId="0" animBg="1"/>
      <p:bldP spid="95" grpId="0" animBg="1"/>
      <p:bldP spid="96" grpId="0" animBg="1"/>
      <p:bldP spid="97" grpId="0" animBg="1"/>
      <p:bldP spid="98" grpId="0" animBg="1"/>
      <p:bldP spid="99" grpId="0" animBg="1"/>
      <p:bldP spid="105" grpId="0"/>
      <p:bldP spid="107" grpId="0" animBg="1"/>
      <p:bldP spid="108" grpId="0" animBg="1"/>
      <p:bldP spid="109" grpId="0"/>
      <p:bldP spid="110" grpId="0" animBg="1"/>
      <p:bldP spid="111" grpId="0" animBg="1"/>
      <p:bldP spid="1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D0B43-7148-4ABB-B4A7-056EC6EDA973}"/>
              </a:ext>
            </a:extLst>
          </p:cNvPr>
          <p:cNvSpPr>
            <a:spLocks noGrp="1"/>
          </p:cNvSpPr>
          <p:nvPr>
            <p:ph type="title"/>
          </p:nvPr>
        </p:nvSpPr>
        <p:spPr/>
        <p:txBody>
          <a:bodyPr/>
          <a:lstStyle/>
          <a:p>
            <a:r>
              <a:rPr lang="zh-CN" altLang="en-US" dirty="0"/>
              <a:t>区块链</a:t>
            </a:r>
          </a:p>
        </p:txBody>
      </p:sp>
      <p:sp>
        <p:nvSpPr>
          <p:cNvPr id="5" name="文本占位符 3">
            <a:extLst>
              <a:ext uri="{FF2B5EF4-FFF2-40B4-BE49-F238E27FC236}">
                <a16:creationId xmlns:a16="http://schemas.microsoft.com/office/drawing/2014/main" id="{B0F78D0E-0854-4C0A-9189-20D25BF1C2ED}"/>
              </a:ext>
            </a:extLst>
          </p:cNvPr>
          <p:cNvSpPr txBox="1">
            <a:spLocks/>
          </p:cNvSpPr>
          <p:nvPr/>
        </p:nvSpPr>
        <p:spPr>
          <a:xfrm>
            <a:off x="92598" y="1318903"/>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轻量节点和全量节点</a:t>
            </a:r>
          </a:p>
        </p:txBody>
      </p:sp>
      <p:sp>
        <p:nvSpPr>
          <p:cNvPr id="23" name="矩形 22">
            <a:extLst>
              <a:ext uri="{FF2B5EF4-FFF2-40B4-BE49-F238E27FC236}">
                <a16:creationId xmlns:a16="http://schemas.microsoft.com/office/drawing/2014/main" id="{D0D00B70-38C9-4D61-A6C7-B2C655B2A87D}"/>
              </a:ext>
            </a:extLst>
          </p:cNvPr>
          <p:cNvSpPr/>
          <p:nvPr/>
        </p:nvSpPr>
        <p:spPr>
          <a:xfrm>
            <a:off x="452378" y="2960303"/>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08BE6A1F-E9AD-4B68-8AF1-09C4D539A5C2}"/>
              </a:ext>
            </a:extLst>
          </p:cNvPr>
          <p:cNvSpPr/>
          <p:nvPr/>
        </p:nvSpPr>
        <p:spPr>
          <a:xfrm>
            <a:off x="2411160" y="2008500"/>
            <a:ext cx="2144684" cy="270381"/>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Hash</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C1CDEB59-8DCD-485F-BA3A-915CEDBD05F9}"/>
              </a:ext>
            </a:extLst>
          </p:cNvPr>
          <p:cNvSpPr/>
          <p:nvPr/>
        </p:nvSpPr>
        <p:spPr>
          <a:xfrm>
            <a:off x="2411160" y="2290543"/>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Version</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id="{9DE7C86A-EEA7-4028-BD17-E4585BAA204B}"/>
              </a:ext>
            </a:extLst>
          </p:cNvPr>
          <p:cNvSpPr/>
          <p:nvPr/>
        </p:nvSpPr>
        <p:spPr>
          <a:xfrm>
            <a:off x="2411160" y="2572586"/>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Previous Block Hash</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矩形 26">
            <a:extLst>
              <a:ext uri="{FF2B5EF4-FFF2-40B4-BE49-F238E27FC236}">
                <a16:creationId xmlns:a16="http://schemas.microsoft.com/office/drawing/2014/main" id="{FEA72E7C-2895-4D7A-BE05-86A5B55FD1D0}"/>
              </a:ext>
            </a:extLst>
          </p:cNvPr>
          <p:cNvSpPr/>
          <p:nvPr/>
        </p:nvSpPr>
        <p:spPr>
          <a:xfrm>
            <a:off x="2411160" y="2854629"/>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Merkle Tree Root</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2A955B00-C9BA-4DA7-99A6-1621EB227692}"/>
              </a:ext>
            </a:extLst>
          </p:cNvPr>
          <p:cNvSpPr/>
          <p:nvPr/>
        </p:nvSpPr>
        <p:spPr>
          <a:xfrm>
            <a:off x="2411160" y="3136672"/>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Timestamp</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矩形 28">
            <a:extLst>
              <a:ext uri="{FF2B5EF4-FFF2-40B4-BE49-F238E27FC236}">
                <a16:creationId xmlns:a16="http://schemas.microsoft.com/office/drawing/2014/main" id="{7A2162EA-6D4C-4A78-B448-093733F71A2A}"/>
              </a:ext>
            </a:extLst>
          </p:cNvPr>
          <p:cNvSpPr/>
          <p:nvPr/>
        </p:nvSpPr>
        <p:spPr>
          <a:xfrm>
            <a:off x="2411160" y="3418715"/>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Difficulty</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矩形 29">
            <a:extLst>
              <a:ext uri="{FF2B5EF4-FFF2-40B4-BE49-F238E27FC236}">
                <a16:creationId xmlns:a16="http://schemas.microsoft.com/office/drawing/2014/main" id="{A773D479-2A38-4BDB-8524-4A25420FEAF7}"/>
              </a:ext>
            </a:extLst>
          </p:cNvPr>
          <p:cNvSpPr/>
          <p:nvPr/>
        </p:nvSpPr>
        <p:spPr>
          <a:xfrm>
            <a:off x="2411160" y="3700757"/>
            <a:ext cx="2144684" cy="27038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Nonce</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3DE2C319-C245-4BA7-8C6F-C3706EBAE287}"/>
              </a:ext>
            </a:extLst>
          </p:cNvPr>
          <p:cNvSpPr txBox="1"/>
          <p:nvPr/>
        </p:nvSpPr>
        <p:spPr>
          <a:xfrm>
            <a:off x="359821" y="2500975"/>
            <a:ext cx="643195"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a:t>
            </a:r>
          </a:p>
        </p:txBody>
      </p:sp>
      <p:sp>
        <p:nvSpPr>
          <p:cNvPr id="32" name="矩形 31">
            <a:extLst>
              <a:ext uri="{FF2B5EF4-FFF2-40B4-BE49-F238E27FC236}">
                <a16:creationId xmlns:a16="http://schemas.microsoft.com/office/drawing/2014/main" id="{D2473654-EFFE-42C5-96D4-A34942E9D171}"/>
              </a:ext>
            </a:extLst>
          </p:cNvPr>
          <p:cNvSpPr/>
          <p:nvPr/>
        </p:nvSpPr>
        <p:spPr>
          <a:xfrm>
            <a:off x="1629069" y="2707777"/>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657FD74B-2DFD-4F47-9989-0C4E4D11108B}"/>
              </a:ext>
            </a:extLst>
          </p:cNvPr>
          <p:cNvSpPr/>
          <p:nvPr/>
        </p:nvSpPr>
        <p:spPr>
          <a:xfrm>
            <a:off x="1629067" y="5046438"/>
            <a:ext cx="432262" cy="270380"/>
          </a:xfrm>
          <a:prstGeom prst="rect">
            <a:avLst/>
          </a:prstGeom>
          <a:solidFill>
            <a:schemeClr val="accent2">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34" name="直线箭头连接符 33">
            <a:extLst>
              <a:ext uri="{FF2B5EF4-FFF2-40B4-BE49-F238E27FC236}">
                <a16:creationId xmlns:a16="http://schemas.microsoft.com/office/drawing/2014/main" id="{4B143C8E-5209-477B-8C7A-4AE33F0D4F33}"/>
              </a:ext>
            </a:extLst>
          </p:cNvPr>
          <p:cNvCxnSpPr>
            <a:stCxn id="23" idx="3"/>
            <a:endCxn id="32" idx="1"/>
          </p:cNvCxnSpPr>
          <p:nvPr/>
        </p:nvCxnSpPr>
        <p:spPr>
          <a:xfrm flipV="1">
            <a:off x="884640" y="2789042"/>
            <a:ext cx="744429" cy="3832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781CB217-A64B-4EDB-B8E1-1DBA05293A54}"/>
              </a:ext>
            </a:extLst>
          </p:cNvPr>
          <p:cNvCxnSpPr>
            <a:stCxn id="23" idx="3"/>
            <a:endCxn id="33" idx="1"/>
          </p:cNvCxnSpPr>
          <p:nvPr/>
        </p:nvCxnSpPr>
        <p:spPr>
          <a:xfrm>
            <a:off x="884640" y="3172278"/>
            <a:ext cx="744427" cy="20093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左大括号 35">
            <a:extLst>
              <a:ext uri="{FF2B5EF4-FFF2-40B4-BE49-F238E27FC236}">
                <a16:creationId xmlns:a16="http://schemas.microsoft.com/office/drawing/2014/main" id="{EB901E50-6978-4EC6-9EE3-3FA749F8D8DD}"/>
              </a:ext>
            </a:extLst>
          </p:cNvPr>
          <p:cNvSpPr/>
          <p:nvPr/>
        </p:nvSpPr>
        <p:spPr>
          <a:xfrm>
            <a:off x="2192867" y="2457740"/>
            <a:ext cx="152735" cy="1513398"/>
          </a:xfrm>
          <a:prstGeom prst="leftBrace">
            <a:avLst>
              <a:gd name="adj1" fmla="val 176612"/>
              <a:gd name="adj2" fmla="val 2186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37" name="文本框 36">
            <a:extLst>
              <a:ext uri="{FF2B5EF4-FFF2-40B4-BE49-F238E27FC236}">
                <a16:creationId xmlns:a16="http://schemas.microsoft.com/office/drawing/2014/main" id="{59EB5F9C-8C20-4197-B251-2A3FDFD0A727}"/>
              </a:ext>
            </a:extLst>
          </p:cNvPr>
          <p:cNvSpPr txBox="1"/>
          <p:nvPr/>
        </p:nvSpPr>
        <p:spPr>
          <a:xfrm>
            <a:off x="1410775" y="2370301"/>
            <a:ext cx="868849"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区块头</a:t>
            </a:r>
          </a:p>
        </p:txBody>
      </p:sp>
      <p:sp>
        <p:nvSpPr>
          <p:cNvPr id="38" name="文本框 37">
            <a:extLst>
              <a:ext uri="{FF2B5EF4-FFF2-40B4-BE49-F238E27FC236}">
                <a16:creationId xmlns:a16="http://schemas.microsoft.com/office/drawing/2014/main" id="{5BEA1DE1-3280-40CE-A4C9-B9DA7081FAC1}"/>
              </a:ext>
            </a:extLst>
          </p:cNvPr>
          <p:cNvSpPr txBox="1"/>
          <p:nvPr/>
        </p:nvSpPr>
        <p:spPr>
          <a:xfrm>
            <a:off x="607694" y="4996962"/>
            <a:ext cx="868849" cy="369332"/>
          </a:xfrm>
          <a:prstGeom prst="rect">
            <a:avLst/>
          </a:prstGeom>
          <a:noFill/>
        </p:spPr>
        <p:txBody>
          <a:bodyPr wrap="square" rtlCol="0">
            <a:spAutoFit/>
          </a:bodyPr>
          <a:lstStyle/>
          <a:p>
            <a:r>
              <a:rPr kumimoji="1" lang="zh-CN" altLang="en-US" dirty="0">
                <a:latin typeface="Times New Roman" panose="02020603050405020304" pitchFamily="18" charset="0"/>
                <a:ea typeface="微软雅黑" panose="020B0503020204020204" pitchFamily="34" charset="-122"/>
              </a:rPr>
              <a:t>区块体</a:t>
            </a:r>
          </a:p>
        </p:txBody>
      </p:sp>
      <p:sp>
        <p:nvSpPr>
          <p:cNvPr id="115" name="灯片编号占位符 6">
            <a:extLst>
              <a:ext uri="{FF2B5EF4-FFF2-40B4-BE49-F238E27FC236}">
                <a16:creationId xmlns:a16="http://schemas.microsoft.com/office/drawing/2014/main" id="{0DE4596E-FCCB-44B0-A851-572D74972DC5}"/>
              </a:ext>
            </a:extLst>
          </p:cNvPr>
          <p:cNvSpPr>
            <a:spLocks noGrp="1"/>
          </p:cNvSpPr>
          <p:nvPr>
            <p:ph type="sldNum" sz="quarter" idx="12"/>
          </p:nvPr>
        </p:nvSpPr>
        <p:spPr>
          <a:xfrm>
            <a:off x="9053945" y="6356350"/>
            <a:ext cx="2743200" cy="365125"/>
          </a:xfrm>
        </p:spPr>
        <p:txBody>
          <a:bodyPr/>
          <a:lstStyle/>
          <a:p>
            <a:fld id="{8D4D1E41-7A09-AB4A-A4E1-09765ADA2698}" type="slidenum">
              <a:rPr kumimoji="1" lang="zh-CN" altLang="en-US" smtClean="0"/>
              <a:t>20</a:t>
            </a:fld>
            <a:endParaRPr kumimoji="1" lang="zh-CN" altLang="en-US" dirty="0"/>
          </a:p>
        </p:txBody>
      </p:sp>
      <p:sp>
        <p:nvSpPr>
          <p:cNvPr id="116" name="文本框 115">
            <a:extLst>
              <a:ext uri="{FF2B5EF4-FFF2-40B4-BE49-F238E27FC236}">
                <a16:creationId xmlns:a16="http://schemas.microsoft.com/office/drawing/2014/main" id="{1962848F-9B12-45D1-A152-4F85C50B747A}"/>
              </a:ext>
            </a:extLst>
          </p:cNvPr>
          <p:cNvSpPr txBox="1"/>
          <p:nvPr/>
        </p:nvSpPr>
        <p:spPr>
          <a:xfrm>
            <a:off x="5265889" y="1936769"/>
            <a:ext cx="6013185" cy="461665"/>
          </a:xfrm>
          <a:prstGeom prst="rect">
            <a:avLst/>
          </a:prstGeom>
          <a:noFill/>
        </p:spPr>
        <p:txBody>
          <a:bodyPr wrap="none" rtlCol="0">
            <a:spAutoFit/>
          </a:bodyPr>
          <a:lstStyle/>
          <a:p>
            <a:pPr marL="285750" indent="-285750">
              <a:buFont typeface="Wingdings" panose="05000000000000000000" pitchFamily="2" charset="2"/>
              <a:buChar char="p"/>
            </a:pPr>
            <a:r>
              <a:rPr lang="zh-CN" altLang="en-US" sz="2400" b="1" dirty="0">
                <a:solidFill>
                  <a:srgbClr val="5B307E"/>
                </a:solidFill>
              </a:rPr>
              <a:t>轻量节点</a:t>
            </a:r>
            <a:r>
              <a:rPr lang="zh-CN" altLang="en-US" sz="2400" dirty="0"/>
              <a:t>：只存储区块头，不存储区块体</a:t>
            </a:r>
            <a:endParaRPr lang="en-US" altLang="zh-CN" sz="2400" dirty="0"/>
          </a:p>
        </p:txBody>
      </p:sp>
      <p:sp>
        <p:nvSpPr>
          <p:cNvPr id="121" name="矩形 120">
            <a:extLst>
              <a:ext uri="{FF2B5EF4-FFF2-40B4-BE49-F238E27FC236}">
                <a16:creationId xmlns:a16="http://schemas.microsoft.com/office/drawing/2014/main" id="{29A3C7B3-F4A8-4208-8B05-1487F5149AEB}"/>
              </a:ext>
            </a:extLst>
          </p:cNvPr>
          <p:cNvSpPr/>
          <p:nvPr/>
        </p:nvSpPr>
        <p:spPr>
          <a:xfrm>
            <a:off x="5396798" y="2738807"/>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22" name="矩形 121">
            <a:extLst>
              <a:ext uri="{FF2B5EF4-FFF2-40B4-BE49-F238E27FC236}">
                <a16:creationId xmlns:a16="http://schemas.microsoft.com/office/drawing/2014/main" id="{8257B54F-6707-4FE5-A4DB-9406EB8921D6}"/>
              </a:ext>
            </a:extLst>
          </p:cNvPr>
          <p:cNvSpPr/>
          <p:nvPr/>
        </p:nvSpPr>
        <p:spPr>
          <a:xfrm>
            <a:off x="6052119" y="2741341"/>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23" name="矩形 122">
            <a:extLst>
              <a:ext uri="{FF2B5EF4-FFF2-40B4-BE49-F238E27FC236}">
                <a16:creationId xmlns:a16="http://schemas.microsoft.com/office/drawing/2014/main" id="{880EEDC8-9E0D-411E-AFB2-DDB3623C1964}"/>
              </a:ext>
            </a:extLst>
          </p:cNvPr>
          <p:cNvSpPr/>
          <p:nvPr/>
        </p:nvSpPr>
        <p:spPr>
          <a:xfrm>
            <a:off x="6707440" y="2738807"/>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24" name="矩形 123">
            <a:extLst>
              <a:ext uri="{FF2B5EF4-FFF2-40B4-BE49-F238E27FC236}">
                <a16:creationId xmlns:a16="http://schemas.microsoft.com/office/drawing/2014/main" id="{78397AF2-4A2A-4377-919C-BDA45583CD5F}"/>
              </a:ext>
            </a:extLst>
          </p:cNvPr>
          <p:cNvSpPr/>
          <p:nvPr/>
        </p:nvSpPr>
        <p:spPr>
          <a:xfrm>
            <a:off x="7362761" y="2738807"/>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25" name="直线箭头连接符 81">
            <a:extLst>
              <a:ext uri="{FF2B5EF4-FFF2-40B4-BE49-F238E27FC236}">
                <a16:creationId xmlns:a16="http://schemas.microsoft.com/office/drawing/2014/main" id="{4AE84DD7-2D42-4AD6-B2AC-7AEDB1E848B5}"/>
              </a:ext>
            </a:extLst>
          </p:cNvPr>
          <p:cNvCxnSpPr>
            <a:cxnSpLocks/>
            <a:stCxn id="122" idx="1"/>
            <a:endCxn id="121" idx="3"/>
          </p:cNvCxnSpPr>
          <p:nvPr/>
        </p:nvCxnSpPr>
        <p:spPr>
          <a:xfrm flipH="1" flipV="1">
            <a:off x="5829060" y="2820072"/>
            <a:ext cx="223059" cy="25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线箭头连接符 81">
            <a:extLst>
              <a:ext uri="{FF2B5EF4-FFF2-40B4-BE49-F238E27FC236}">
                <a16:creationId xmlns:a16="http://schemas.microsoft.com/office/drawing/2014/main" id="{BB870BB6-BA7F-4622-9FBB-413FE1CE494B}"/>
              </a:ext>
            </a:extLst>
          </p:cNvPr>
          <p:cNvCxnSpPr>
            <a:cxnSpLocks/>
            <a:stCxn id="123" idx="1"/>
            <a:endCxn id="122" idx="3"/>
          </p:cNvCxnSpPr>
          <p:nvPr/>
        </p:nvCxnSpPr>
        <p:spPr>
          <a:xfrm flipH="1">
            <a:off x="6484381" y="2820072"/>
            <a:ext cx="223059" cy="25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线箭头连接符 81">
            <a:extLst>
              <a:ext uri="{FF2B5EF4-FFF2-40B4-BE49-F238E27FC236}">
                <a16:creationId xmlns:a16="http://schemas.microsoft.com/office/drawing/2014/main" id="{5893F7FD-B7A2-4D25-829F-C95B8FC686CC}"/>
              </a:ext>
            </a:extLst>
          </p:cNvPr>
          <p:cNvCxnSpPr>
            <a:cxnSpLocks/>
            <a:stCxn id="124" idx="1"/>
            <a:endCxn id="123" idx="3"/>
          </p:cNvCxnSpPr>
          <p:nvPr/>
        </p:nvCxnSpPr>
        <p:spPr>
          <a:xfrm flipH="1">
            <a:off x="7139702" y="2820072"/>
            <a:ext cx="22305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105B27A6-110D-464B-B2CC-7545D453D3F2}"/>
              </a:ext>
            </a:extLst>
          </p:cNvPr>
          <p:cNvSpPr/>
          <p:nvPr/>
        </p:nvSpPr>
        <p:spPr>
          <a:xfrm>
            <a:off x="5710564" y="3916737"/>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29" name="矩形 128">
            <a:extLst>
              <a:ext uri="{FF2B5EF4-FFF2-40B4-BE49-F238E27FC236}">
                <a16:creationId xmlns:a16="http://schemas.microsoft.com/office/drawing/2014/main" id="{AA0DFB1B-5B21-49E5-9744-729114F11402}"/>
              </a:ext>
            </a:extLst>
          </p:cNvPr>
          <p:cNvSpPr/>
          <p:nvPr/>
        </p:nvSpPr>
        <p:spPr>
          <a:xfrm>
            <a:off x="6485726" y="3916737"/>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30" name="矩形 129">
            <a:extLst>
              <a:ext uri="{FF2B5EF4-FFF2-40B4-BE49-F238E27FC236}">
                <a16:creationId xmlns:a16="http://schemas.microsoft.com/office/drawing/2014/main" id="{4059D77F-822D-4C82-A620-5DC260FD297E}"/>
              </a:ext>
            </a:extLst>
          </p:cNvPr>
          <p:cNvSpPr/>
          <p:nvPr/>
        </p:nvSpPr>
        <p:spPr>
          <a:xfrm>
            <a:off x="7260888" y="3916737"/>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31" name="直线箭头连接符 12">
            <a:extLst>
              <a:ext uri="{FF2B5EF4-FFF2-40B4-BE49-F238E27FC236}">
                <a16:creationId xmlns:a16="http://schemas.microsoft.com/office/drawing/2014/main" id="{6E86B091-2E03-47F2-AB4C-1EFE7BE174C9}"/>
              </a:ext>
            </a:extLst>
          </p:cNvPr>
          <p:cNvCxnSpPr>
            <a:cxnSpLocks/>
          </p:cNvCxnSpPr>
          <p:nvPr/>
        </p:nvCxnSpPr>
        <p:spPr>
          <a:xfrm flipH="1">
            <a:off x="6142826" y="4128711"/>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线箭头连接符 13">
            <a:extLst>
              <a:ext uri="{FF2B5EF4-FFF2-40B4-BE49-F238E27FC236}">
                <a16:creationId xmlns:a16="http://schemas.microsoft.com/office/drawing/2014/main" id="{1E1D54F4-C738-4A95-B3E6-7B01BC36F753}"/>
              </a:ext>
            </a:extLst>
          </p:cNvPr>
          <p:cNvCxnSpPr>
            <a:cxnSpLocks/>
          </p:cNvCxnSpPr>
          <p:nvPr/>
        </p:nvCxnSpPr>
        <p:spPr>
          <a:xfrm flipH="1">
            <a:off x="6917988" y="4128711"/>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矩形 137">
            <a:extLst>
              <a:ext uri="{FF2B5EF4-FFF2-40B4-BE49-F238E27FC236}">
                <a16:creationId xmlns:a16="http://schemas.microsoft.com/office/drawing/2014/main" id="{18223DE5-F2B4-49E5-BCF5-1F6B435C686C}"/>
              </a:ext>
            </a:extLst>
          </p:cNvPr>
          <p:cNvSpPr/>
          <p:nvPr/>
        </p:nvSpPr>
        <p:spPr>
          <a:xfrm>
            <a:off x="2061331" y="4643120"/>
            <a:ext cx="2774829" cy="10976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a:extLst>
              <a:ext uri="{FF2B5EF4-FFF2-40B4-BE49-F238E27FC236}">
                <a16:creationId xmlns:a16="http://schemas.microsoft.com/office/drawing/2014/main" id="{2D281162-8BC6-46D4-9127-0536B76E864F}"/>
              </a:ext>
            </a:extLst>
          </p:cNvPr>
          <p:cNvSpPr/>
          <p:nvPr/>
        </p:nvSpPr>
        <p:spPr>
          <a:xfrm>
            <a:off x="2177794"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a:extLst>
              <a:ext uri="{FF2B5EF4-FFF2-40B4-BE49-F238E27FC236}">
                <a16:creationId xmlns:a16="http://schemas.microsoft.com/office/drawing/2014/main" id="{E290E306-C3C5-4DCA-8766-80EA9ACBA3B5}"/>
              </a:ext>
            </a:extLst>
          </p:cNvPr>
          <p:cNvSpPr/>
          <p:nvPr/>
        </p:nvSpPr>
        <p:spPr>
          <a:xfrm>
            <a:off x="2561722"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a:extLst>
              <a:ext uri="{FF2B5EF4-FFF2-40B4-BE49-F238E27FC236}">
                <a16:creationId xmlns:a16="http://schemas.microsoft.com/office/drawing/2014/main" id="{CEAD627C-6BD5-40DB-9983-1F424965F812}"/>
              </a:ext>
            </a:extLst>
          </p:cNvPr>
          <p:cNvSpPr/>
          <p:nvPr/>
        </p:nvSpPr>
        <p:spPr>
          <a:xfrm>
            <a:off x="2945650"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a:extLst>
              <a:ext uri="{FF2B5EF4-FFF2-40B4-BE49-F238E27FC236}">
                <a16:creationId xmlns:a16="http://schemas.microsoft.com/office/drawing/2014/main" id="{E913AFEE-3193-4720-B469-1DC848BB794E}"/>
              </a:ext>
            </a:extLst>
          </p:cNvPr>
          <p:cNvSpPr/>
          <p:nvPr/>
        </p:nvSpPr>
        <p:spPr>
          <a:xfrm>
            <a:off x="3329578"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a:extLst>
              <a:ext uri="{FF2B5EF4-FFF2-40B4-BE49-F238E27FC236}">
                <a16:creationId xmlns:a16="http://schemas.microsoft.com/office/drawing/2014/main" id="{B0E7C8CA-CFE4-45C9-AEC1-0A92DD64A313}"/>
              </a:ext>
            </a:extLst>
          </p:cNvPr>
          <p:cNvSpPr/>
          <p:nvPr/>
        </p:nvSpPr>
        <p:spPr>
          <a:xfrm>
            <a:off x="3713506"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a:extLst>
              <a:ext uri="{FF2B5EF4-FFF2-40B4-BE49-F238E27FC236}">
                <a16:creationId xmlns:a16="http://schemas.microsoft.com/office/drawing/2014/main" id="{0B01A0DC-8C39-431B-B7DD-A519202968CD}"/>
              </a:ext>
            </a:extLst>
          </p:cNvPr>
          <p:cNvSpPr/>
          <p:nvPr/>
        </p:nvSpPr>
        <p:spPr>
          <a:xfrm>
            <a:off x="4097433"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a:extLst>
              <a:ext uri="{FF2B5EF4-FFF2-40B4-BE49-F238E27FC236}">
                <a16:creationId xmlns:a16="http://schemas.microsoft.com/office/drawing/2014/main" id="{816281C5-52CC-4ED1-AC89-AA0EB5BA1947}"/>
              </a:ext>
            </a:extLst>
          </p:cNvPr>
          <p:cNvSpPr/>
          <p:nvPr/>
        </p:nvSpPr>
        <p:spPr>
          <a:xfrm>
            <a:off x="4485137" y="4897303"/>
            <a:ext cx="266454" cy="589280"/>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文本框 145">
            <a:extLst>
              <a:ext uri="{FF2B5EF4-FFF2-40B4-BE49-F238E27FC236}">
                <a16:creationId xmlns:a16="http://schemas.microsoft.com/office/drawing/2014/main" id="{73F51B6C-1E44-4345-BA5C-52864AE5CFBD}"/>
              </a:ext>
            </a:extLst>
          </p:cNvPr>
          <p:cNvSpPr txBox="1"/>
          <p:nvPr/>
        </p:nvSpPr>
        <p:spPr>
          <a:xfrm>
            <a:off x="2095217" y="4996962"/>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47" name="文本框 146">
            <a:extLst>
              <a:ext uri="{FF2B5EF4-FFF2-40B4-BE49-F238E27FC236}">
                <a16:creationId xmlns:a16="http://schemas.microsoft.com/office/drawing/2014/main" id="{65DF4490-CAEC-4A09-8D63-26846C8416C8}"/>
              </a:ext>
            </a:extLst>
          </p:cNvPr>
          <p:cNvSpPr txBox="1"/>
          <p:nvPr/>
        </p:nvSpPr>
        <p:spPr>
          <a:xfrm>
            <a:off x="2483233" y="5007277"/>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48" name="文本框 147">
            <a:extLst>
              <a:ext uri="{FF2B5EF4-FFF2-40B4-BE49-F238E27FC236}">
                <a16:creationId xmlns:a16="http://schemas.microsoft.com/office/drawing/2014/main" id="{8DBB1E91-4933-4EF4-9BA7-8FFE195D5466}"/>
              </a:ext>
            </a:extLst>
          </p:cNvPr>
          <p:cNvSpPr txBox="1"/>
          <p:nvPr/>
        </p:nvSpPr>
        <p:spPr>
          <a:xfrm>
            <a:off x="2872651" y="5009091"/>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49" name="文本框 148">
            <a:extLst>
              <a:ext uri="{FF2B5EF4-FFF2-40B4-BE49-F238E27FC236}">
                <a16:creationId xmlns:a16="http://schemas.microsoft.com/office/drawing/2014/main" id="{E68865FC-6292-409A-899F-0CCA702AC469}"/>
              </a:ext>
            </a:extLst>
          </p:cNvPr>
          <p:cNvSpPr txBox="1"/>
          <p:nvPr/>
        </p:nvSpPr>
        <p:spPr>
          <a:xfrm>
            <a:off x="3266936" y="5005597"/>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50" name="文本框 149">
            <a:extLst>
              <a:ext uri="{FF2B5EF4-FFF2-40B4-BE49-F238E27FC236}">
                <a16:creationId xmlns:a16="http://schemas.microsoft.com/office/drawing/2014/main" id="{DE41E9F8-8B2C-41ED-AE60-6C395D644004}"/>
              </a:ext>
            </a:extLst>
          </p:cNvPr>
          <p:cNvSpPr txBox="1"/>
          <p:nvPr/>
        </p:nvSpPr>
        <p:spPr>
          <a:xfrm>
            <a:off x="3630167" y="5011569"/>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51" name="文本框 150">
            <a:extLst>
              <a:ext uri="{FF2B5EF4-FFF2-40B4-BE49-F238E27FC236}">
                <a16:creationId xmlns:a16="http://schemas.microsoft.com/office/drawing/2014/main" id="{1DE216BA-3299-439B-993D-A5BB2A516E11}"/>
              </a:ext>
            </a:extLst>
          </p:cNvPr>
          <p:cNvSpPr txBox="1"/>
          <p:nvPr/>
        </p:nvSpPr>
        <p:spPr>
          <a:xfrm>
            <a:off x="4028487" y="5011569"/>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52" name="文本框 151">
            <a:extLst>
              <a:ext uri="{FF2B5EF4-FFF2-40B4-BE49-F238E27FC236}">
                <a16:creationId xmlns:a16="http://schemas.microsoft.com/office/drawing/2014/main" id="{97F61B78-9BC2-42E9-8465-30D03ABB6BDF}"/>
              </a:ext>
            </a:extLst>
          </p:cNvPr>
          <p:cNvSpPr txBox="1"/>
          <p:nvPr/>
        </p:nvSpPr>
        <p:spPr>
          <a:xfrm>
            <a:off x="4398021" y="5011569"/>
            <a:ext cx="433132" cy="369332"/>
          </a:xfrm>
          <a:prstGeom prst="rect">
            <a:avLst/>
          </a:prstGeom>
          <a:noFill/>
        </p:spPr>
        <p:txBody>
          <a:bodyPr wrap="none" rtlCol="0">
            <a:spAutoFit/>
          </a:bodyPr>
          <a:lstStyle/>
          <a:p>
            <a:r>
              <a:rPr lang="en-US" altLang="zh-CN" dirty="0">
                <a:solidFill>
                  <a:schemeClr val="bg1"/>
                </a:solidFill>
                <a:latin typeface="Garamond" panose="02020404030301010803" pitchFamily="18" charset="0"/>
              </a:rPr>
              <a:t>Tx</a:t>
            </a:r>
            <a:endParaRPr lang="zh-CN" altLang="en-US" dirty="0">
              <a:solidFill>
                <a:schemeClr val="bg1"/>
              </a:solidFill>
              <a:latin typeface="Garamond" panose="02020404030301010803" pitchFamily="18" charset="0"/>
            </a:endParaRPr>
          </a:p>
        </p:txBody>
      </p:sp>
      <p:sp>
        <p:nvSpPr>
          <p:cNvPr id="154" name="文本框 153">
            <a:extLst>
              <a:ext uri="{FF2B5EF4-FFF2-40B4-BE49-F238E27FC236}">
                <a16:creationId xmlns:a16="http://schemas.microsoft.com/office/drawing/2014/main" id="{B7BA3111-7A1E-4A60-8E25-B74D30819600}"/>
              </a:ext>
            </a:extLst>
          </p:cNvPr>
          <p:cNvSpPr txBox="1"/>
          <p:nvPr/>
        </p:nvSpPr>
        <p:spPr>
          <a:xfrm>
            <a:off x="5271840" y="3234237"/>
            <a:ext cx="6106160" cy="461665"/>
          </a:xfrm>
          <a:prstGeom prst="rect">
            <a:avLst/>
          </a:prstGeom>
          <a:noFill/>
        </p:spPr>
        <p:txBody>
          <a:bodyPr wrap="square">
            <a:spAutoFit/>
          </a:bodyPr>
          <a:lstStyle/>
          <a:p>
            <a:pPr marL="285750" indent="-285750">
              <a:buFont typeface="Wingdings" panose="05000000000000000000" pitchFamily="2" charset="2"/>
              <a:buChar char="p"/>
            </a:pPr>
            <a:r>
              <a:rPr lang="zh-CN" altLang="en-US" sz="2400" b="1" dirty="0">
                <a:solidFill>
                  <a:srgbClr val="5B307E"/>
                </a:solidFill>
              </a:rPr>
              <a:t>全量节点</a:t>
            </a:r>
            <a:r>
              <a:rPr lang="zh-CN" altLang="en-US" sz="2400" dirty="0"/>
              <a:t>：存储区块头和</a:t>
            </a:r>
            <a:r>
              <a:rPr lang="zh-CN" altLang="en-US" sz="2400" b="1" dirty="0">
                <a:solidFill>
                  <a:srgbClr val="5B307E"/>
                </a:solidFill>
              </a:rPr>
              <a:t>区块体</a:t>
            </a:r>
          </a:p>
        </p:txBody>
      </p:sp>
      <p:sp>
        <p:nvSpPr>
          <p:cNvPr id="155" name="文本框 154">
            <a:extLst>
              <a:ext uri="{FF2B5EF4-FFF2-40B4-BE49-F238E27FC236}">
                <a16:creationId xmlns:a16="http://schemas.microsoft.com/office/drawing/2014/main" id="{FAA12259-FE71-473D-A295-4855590FEDC9}"/>
              </a:ext>
            </a:extLst>
          </p:cNvPr>
          <p:cNvSpPr txBox="1"/>
          <p:nvPr/>
        </p:nvSpPr>
        <p:spPr>
          <a:xfrm>
            <a:off x="6474638" y="4751105"/>
            <a:ext cx="3053682" cy="307777"/>
          </a:xfrm>
          <a:prstGeom prst="rect">
            <a:avLst/>
          </a:prstGeom>
          <a:solidFill>
            <a:schemeClr val="accent3">
              <a:lumMod val="20000"/>
              <a:lumOff val="80000"/>
            </a:schemeClr>
          </a:solidFill>
          <a:ln w="19050">
            <a:solidFill>
              <a:schemeClr val="tx1"/>
            </a:solidFill>
            <a:prstDash val="dash"/>
          </a:ln>
        </p:spPr>
        <p:txBody>
          <a:bodyPr wrap="square" rtlCol="0">
            <a:spAutoFit/>
          </a:bodyPr>
          <a:lstStyle/>
          <a:p>
            <a:r>
              <a:rPr kumimoji="1" lang="zh-CN" altLang="en-US" sz="1400" dirty="0">
                <a:solidFill>
                  <a:srgbClr val="002060"/>
                </a:solidFill>
                <a:latin typeface="Times New Roman" panose="02020603050405020304" pitchFamily="18" charset="0"/>
                <a:ea typeface="微软雅黑" panose="020B0503020204020204" pitchFamily="34" charset="-122"/>
              </a:rPr>
              <a:t>轻量节点能否发现区块头被篡改？</a:t>
            </a:r>
          </a:p>
        </p:txBody>
      </p:sp>
      <p:pic>
        <p:nvPicPr>
          <p:cNvPr id="156" name="图片 155">
            <a:extLst>
              <a:ext uri="{FF2B5EF4-FFF2-40B4-BE49-F238E27FC236}">
                <a16:creationId xmlns:a16="http://schemas.microsoft.com/office/drawing/2014/main" id="{38A037D6-B4AC-44FE-B2B4-6A76E5555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2975" y="4604162"/>
            <a:ext cx="601662" cy="601662"/>
          </a:xfrm>
          <a:prstGeom prst="rect">
            <a:avLst/>
          </a:prstGeom>
        </p:spPr>
      </p:pic>
      <p:sp>
        <p:nvSpPr>
          <p:cNvPr id="157" name="文本框 156">
            <a:extLst>
              <a:ext uri="{FF2B5EF4-FFF2-40B4-BE49-F238E27FC236}">
                <a16:creationId xmlns:a16="http://schemas.microsoft.com/office/drawing/2014/main" id="{E7EB69AC-B6B2-43A4-A5CA-DF89943099D5}"/>
              </a:ext>
            </a:extLst>
          </p:cNvPr>
          <p:cNvSpPr txBox="1"/>
          <p:nvPr/>
        </p:nvSpPr>
        <p:spPr>
          <a:xfrm>
            <a:off x="6474638" y="5560549"/>
            <a:ext cx="3053682" cy="307777"/>
          </a:xfrm>
          <a:prstGeom prst="rect">
            <a:avLst/>
          </a:prstGeom>
          <a:solidFill>
            <a:schemeClr val="accent3">
              <a:lumMod val="20000"/>
              <a:lumOff val="80000"/>
            </a:schemeClr>
          </a:solidFill>
          <a:ln w="19050">
            <a:solidFill>
              <a:schemeClr val="tx1"/>
            </a:solidFill>
            <a:prstDash val="dash"/>
          </a:ln>
        </p:spPr>
        <p:txBody>
          <a:bodyPr wrap="square" rtlCol="0">
            <a:spAutoFit/>
          </a:bodyPr>
          <a:lstStyle/>
          <a:p>
            <a:r>
              <a:rPr kumimoji="1" lang="zh-CN" altLang="en-US" sz="1400" dirty="0">
                <a:solidFill>
                  <a:srgbClr val="002060"/>
                </a:solidFill>
                <a:latin typeface="Times New Roman" panose="02020603050405020304" pitchFamily="18" charset="0"/>
                <a:ea typeface="微软雅黑" panose="020B0503020204020204" pitchFamily="34" charset="-122"/>
              </a:rPr>
              <a:t>轻量节点能否发现交易被篡改？</a:t>
            </a:r>
          </a:p>
        </p:txBody>
      </p:sp>
      <p:pic>
        <p:nvPicPr>
          <p:cNvPr id="158" name="图片 157">
            <a:extLst>
              <a:ext uri="{FF2B5EF4-FFF2-40B4-BE49-F238E27FC236}">
                <a16:creationId xmlns:a16="http://schemas.microsoft.com/office/drawing/2014/main" id="{F082DFF3-3D7B-4546-8B0D-73DC3C9B28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2975" y="5413606"/>
            <a:ext cx="601662" cy="601662"/>
          </a:xfrm>
          <a:prstGeom prst="rect">
            <a:avLst/>
          </a:prstGeom>
        </p:spPr>
      </p:pic>
      <p:sp>
        <p:nvSpPr>
          <p:cNvPr id="159" name="文本框 158">
            <a:extLst>
              <a:ext uri="{FF2B5EF4-FFF2-40B4-BE49-F238E27FC236}">
                <a16:creationId xmlns:a16="http://schemas.microsoft.com/office/drawing/2014/main" id="{842FD714-603A-470C-89F0-312B4C602017}"/>
              </a:ext>
            </a:extLst>
          </p:cNvPr>
          <p:cNvSpPr txBox="1"/>
          <p:nvPr/>
        </p:nvSpPr>
        <p:spPr>
          <a:xfrm>
            <a:off x="7937803" y="2620893"/>
            <a:ext cx="3942169" cy="369332"/>
          </a:xfrm>
          <a:prstGeom prst="rect">
            <a:avLst/>
          </a:prstGeom>
          <a:noFill/>
        </p:spPr>
        <p:txBody>
          <a:bodyPr wrap="none" rtlCol="0">
            <a:spAutoFit/>
          </a:bodyPr>
          <a:lstStyle/>
          <a:p>
            <a:r>
              <a:rPr lang="en-US" altLang="zh-CN" b="1" dirty="0">
                <a:solidFill>
                  <a:srgbClr val="5B307E"/>
                </a:solidFill>
                <a:latin typeface="Garamond" panose="02020404030301010803" pitchFamily="18" charset="0"/>
              </a:rPr>
              <a:t>SPV</a:t>
            </a:r>
            <a:r>
              <a:rPr lang="zh-CN" altLang="en-US" b="1" dirty="0">
                <a:solidFill>
                  <a:srgbClr val="5B307E"/>
                </a:solidFill>
                <a:latin typeface="Garamond" panose="02020404030301010803" pitchFamily="18" charset="0"/>
              </a:rPr>
              <a:t>：</a:t>
            </a:r>
            <a:r>
              <a:rPr lang="en-US" altLang="zh-CN" b="1" dirty="0">
                <a:solidFill>
                  <a:srgbClr val="5B307E"/>
                </a:solidFill>
                <a:latin typeface="Garamond" panose="02020404030301010803" pitchFamily="18" charset="0"/>
              </a:rPr>
              <a:t>Simplified Payment Verification</a:t>
            </a:r>
            <a:endParaRPr lang="zh-CN" altLang="en-US" b="1" dirty="0">
              <a:solidFill>
                <a:srgbClr val="5B307E"/>
              </a:solidFill>
              <a:latin typeface="Garamond" panose="02020404030301010803" pitchFamily="18" charset="0"/>
            </a:endParaRPr>
          </a:p>
        </p:txBody>
      </p:sp>
    </p:spTree>
    <p:extLst>
      <p:ext uri="{BB962C8B-B14F-4D97-AF65-F5344CB8AC3E}">
        <p14:creationId xmlns:p14="http://schemas.microsoft.com/office/powerpoint/2010/main" val="418214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2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2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2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2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2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2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5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5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2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3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3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3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5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5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5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3" grpId="0" animBg="1"/>
      <p:bldP spid="36" grpId="0" animBg="1"/>
      <p:bldP spid="37" grpId="0"/>
      <p:bldP spid="38" grpId="0"/>
      <p:bldP spid="116" grpId="0"/>
      <p:bldP spid="121" grpId="0" animBg="1"/>
      <p:bldP spid="122" grpId="0" animBg="1"/>
      <p:bldP spid="123" grpId="0" animBg="1"/>
      <p:bldP spid="124" grpId="0" animBg="1"/>
      <p:bldP spid="128" grpId="0" animBg="1"/>
      <p:bldP spid="129" grpId="0" animBg="1"/>
      <p:bldP spid="130" grpId="0" animBg="1"/>
      <p:bldP spid="138" grpId="0" animBg="1"/>
      <p:bldP spid="139" grpId="0" animBg="1"/>
      <p:bldP spid="140" grpId="0" animBg="1"/>
      <p:bldP spid="141" grpId="0" animBg="1"/>
      <p:bldP spid="142" grpId="0" animBg="1"/>
      <p:bldP spid="143" grpId="0" animBg="1"/>
      <p:bldP spid="144" grpId="0" animBg="1"/>
      <p:bldP spid="145" grpId="0" animBg="1"/>
      <p:bldP spid="146" grpId="0"/>
      <p:bldP spid="147" grpId="0"/>
      <p:bldP spid="148" grpId="0"/>
      <p:bldP spid="149" grpId="0"/>
      <p:bldP spid="150" grpId="0"/>
      <p:bldP spid="151" grpId="0"/>
      <p:bldP spid="152" grpId="0"/>
      <p:bldP spid="154" grpId="0"/>
      <p:bldP spid="155" grpId="0" animBg="1"/>
      <p:bldP spid="157" grpId="0" animBg="1"/>
      <p:bldP spid="15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latin typeface="Garamond" panose="02020404030301010803" pitchFamily="18" charset="0"/>
              </a:rPr>
              <a:t>Merkle</a:t>
            </a:r>
            <a:r>
              <a:rPr kumimoji="1" lang="zh-CN" altLang="en-US" dirty="0">
                <a:solidFill>
                  <a:prstClr val="black"/>
                </a:solidFill>
                <a:latin typeface="Garamond" panose="02020404030301010803" pitchFamily="18" charset="0"/>
              </a:rPr>
              <a:t>树</a:t>
            </a:r>
          </a:p>
        </p:txBody>
      </p:sp>
      <p:sp>
        <p:nvSpPr>
          <p:cNvPr id="3" name="内容占位符 2"/>
          <p:cNvSpPr>
            <a:spLocks noGrp="1"/>
          </p:cNvSpPr>
          <p:nvPr>
            <p:ph idx="1"/>
          </p:nvPr>
        </p:nvSpPr>
        <p:spPr>
          <a:xfrm>
            <a:off x="838200" y="1510758"/>
            <a:ext cx="9888940" cy="1806183"/>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在区块头中，保存了区块中</a:t>
            </a:r>
            <a:r>
              <a:rPr lang="zh-CN" altLang="en-US" b="1" dirty="0">
                <a:solidFill>
                  <a:srgbClr val="5B307E"/>
                </a:solidFill>
              </a:rPr>
              <a:t>交易列表的哈希值</a:t>
            </a:r>
            <a:r>
              <a:rPr lang="zh-CN" altLang="en-US" dirty="0"/>
              <a:t>。</a:t>
            </a:r>
            <a:endParaRPr lang="en-US" altLang="zh-CN" dirty="0"/>
          </a:p>
          <a:p>
            <a:pPr lvl="1">
              <a:lnSpc>
                <a:spcPct val="130000"/>
              </a:lnSpc>
            </a:pPr>
            <a:r>
              <a:rPr lang="zh-CN" altLang="en-US" dirty="0"/>
              <a:t>当交易被篡改，则会得到完全不同的哈希值。</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pic>
        <p:nvPicPr>
          <p:cNvPr id="6" name="图片 5"/>
          <p:cNvPicPr>
            <a:picLocks noChangeAspect="1"/>
          </p:cNvPicPr>
          <p:nvPr/>
        </p:nvPicPr>
        <p:blipFill>
          <a:blip r:embed="rId3"/>
          <a:stretch>
            <a:fillRect/>
          </a:stretch>
        </p:blipFill>
        <p:spPr>
          <a:xfrm>
            <a:off x="7653658" y="3119098"/>
            <a:ext cx="4143487" cy="1249815"/>
          </a:xfrm>
          <a:prstGeom prst="rect">
            <a:avLst/>
          </a:prstGeom>
        </p:spPr>
      </p:pic>
      <p:sp>
        <p:nvSpPr>
          <p:cNvPr id="8" name="文本框 7">
            <a:extLst>
              <a:ext uri="{FF2B5EF4-FFF2-40B4-BE49-F238E27FC236}">
                <a16:creationId xmlns:a16="http://schemas.microsoft.com/office/drawing/2014/main" id="{D5B5B000-6D65-4637-B8EE-3C875D370422}"/>
              </a:ext>
            </a:extLst>
          </p:cNvPr>
          <p:cNvSpPr txBox="1"/>
          <p:nvPr/>
        </p:nvSpPr>
        <p:spPr>
          <a:xfrm>
            <a:off x="838200" y="3429000"/>
            <a:ext cx="8449235" cy="1975028"/>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zh-CN" altLang="en-US" sz="2400" dirty="0">
                <a:latin typeface="Garamond" panose="02020404030301010803" pitchFamily="18" charset="0"/>
                <a:ea typeface="微软雅黑" panose="020B0503020204020204" pitchFamily="34" charset="-122"/>
              </a:rPr>
              <a:t>对整个交易列表进行哈希？</a:t>
            </a:r>
            <a:endParaRPr lang="en-US" altLang="zh-CN" sz="2400" dirty="0">
              <a:latin typeface="Garamond" panose="02020404030301010803" pitchFamily="18" charset="0"/>
              <a:ea typeface="微软雅黑" panose="020B0503020204020204" pitchFamily="34" charset="-122"/>
            </a:endParaRPr>
          </a:p>
          <a:p>
            <a:pPr lvl="1">
              <a:lnSpc>
                <a:spcPct val="130000"/>
              </a:lnSpc>
            </a:pPr>
            <a:r>
              <a:rPr lang="zh-CN" altLang="en-US" sz="2400" dirty="0">
                <a:latin typeface="Garamond" panose="02020404030301010803" pitchFamily="18" charset="0"/>
                <a:ea typeface="微软雅黑" panose="020B0503020204020204" pitchFamily="34" charset="-122"/>
              </a:rPr>
              <a:t>不能够定位到具体出错的交易。</a:t>
            </a:r>
            <a:endParaRPr lang="en-US" altLang="zh-CN" sz="2400" dirty="0">
              <a:latin typeface="Garamond" panose="02020404030301010803" pitchFamily="18" charset="0"/>
              <a:ea typeface="微软雅黑" panose="020B0503020204020204" pitchFamily="34" charset="-122"/>
            </a:endParaRPr>
          </a:p>
          <a:p>
            <a:pPr lvl="1">
              <a:lnSpc>
                <a:spcPct val="130000"/>
              </a:lnSpc>
            </a:pPr>
            <a:r>
              <a:rPr lang="zh-CN" altLang="en-US" sz="2400" dirty="0">
                <a:latin typeface="Garamond" panose="02020404030301010803" pitchFamily="18" charset="0"/>
                <a:ea typeface="微软雅黑" panose="020B0503020204020204" pitchFamily="34" charset="-122"/>
              </a:rPr>
              <a:t>更换列表中的交易时，需要对所有的交易进行重新哈希。</a:t>
            </a:r>
            <a:endParaRPr lang="en-US" altLang="zh-CN" sz="2400" dirty="0">
              <a:latin typeface="Garamond" panose="02020404030301010803" pitchFamily="18" charset="0"/>
              <a:ea typeface="微软雅黑" panose="020B0503020204020204" pitchFamily="34" charset="-122"/>
            </a:endParaRPr>
          </a:p>
          <a:p>
            <a:pPr lvl="1">
              <a:lnSpc>
                <a:spcPct val="130000"/>
              </a:lnSpc>
            </a:pPr>
            <a:r>
              <a:rPr lang="zh-CN" altLang="en-US" sz="2400" dirty="0">
                <a:latin typeface="Garamond" panose="02020404030301010803" pitchFamily="18" charset="0"/>
                <a:ea typeface="微软雅黑" panose="020B0503020204020204" pitchFamily="34" charset="-122"/>
              </a:rPr>
              <a:t>必须掌握所有的交易才能够计算交易列表的哈希值。</a:t>
            </a:r>
            <a:endParaRPr lang="en-US" altLang="zh-CN" sz="2400" dirty="0">
              <a:latin typeface="Garamond" panose="02020404030301010803" pitchFamily="18" charset="0"/>
              <a:ea typeface="微软雅黑" panose="020B0503020204020204" pitchFamily="34" charset="-122"/>
            </a:endParaRPr>
          </a:p>
        </p:txBody>
      </p:sp>
    </p:spTree>
    <p:extLst>
      <p:ext uri="{BB962C8B-B14F-4D97-AF65-F5344CB8AC3E}">
        <p14:creationId xmlns:p14="http://schemas.microsoft.com/office/powerpoint/2010/main" val="2061517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latin typeface="Garamond" panose="02020404030301010803" pitchFamily="18" charset="0"/>
              </a:rPr>
              <a:t>Merkle</a:t>
            </a:r>
            <a:r>
              <a:rPr kumimoji="1" lang="zh-CN" altLang="en-US" dirty="0">
                <a:solidFill>
                  <a:prstClr val="black"/>
                </a:solidFill>
                <a:latin typeface="Garamond" panose="02020404030301010803" pitchFamily="18" charset="0"/>
              </a:rPr>
              <a:t>树</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利用</a:t>
            </a:r>
            <a:r>
              <a:rPr lang="en-US" altLang="zh-CN" dirty="0">
                <a:latin typeface="Garamond" panose="02020404030301010803" pitchFamily="18" charset="0"/>
              </a:rPr>
              <a:t>Merkle</a:t>
            </a:r>
            <a:r>
              <a:rPr lang="zh-CN" altLang="en-US" dirty="0">
                <a:latin typeface="Garamond" panose="02020404030301010803" pitchFamily="18" charset="0"/>
              </a:rPr>
              <a:t>树计算哈希值</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二叉树</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哈希指针</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对列表中的每一个交易计算哈希值。</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进行两两配对，计算两者的哈希值，形成上一层的哈希列表。</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逐层计算直到得到最后的交易列表哈希值。</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Tree>
    <p:extLst>
      <p:ext uri="{BB962C8B-B14F-4D97-AF65-F5344CB8AC3E}">
        <p14:creationId xmlns:p14="http://schemas.microsoft.com/office/powerpoint/2010/main" val="4215341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latin typeface="Garamond" panose="02020404030301010803" pitchFamily="18" charset="0"/>
              </a:rPr>
              <a:t>Merkle</a:t>
            </a:r>
            <a:r>
              <a:rPr kumimoji="1" lang="zh-CN" altLang="en-US" dirty="0">
                <a:solidFill>
                  <a:prstClr val="black"/>
                </a:solidFill>
              </a:rPr>
              <a:t>树</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交易哈希值校验</a:t>
            </a:r>
            <a:endParaRPr lang="en-US" altLang="zh-CN" dirty="0">
              <a:latin typeface="Garamond" panose="02020404030301010803" pitchFamily="18" charset="0"/>
            </a:endParaRPr>
          </a:p>
          <a:p>
            <a:pPr lvl="1">
              <a:lnSpc>
                <a:spcPct val="130000"/>
              </a:lnSpc>
            </a:pPr>
            <a:r>
              <a:rPr lang="en-US" altLang="zh-CN" dirty="0">
                <a:latin typeface="Garamond" panose="02020404030301010803" pitchFamily="18" charset="0"/>
              </a:rPr>
              <a:t>Merkle </a:t>
            </a:r>
            <a:r>
              <a:rPr lang="zh-CN" altLang="en-US" dirty="0">
                <a:latin typeface="Garamond" panose="02020404030301010803" pitchFamily="18" charset="0"/>
              </a:rPr>
              <a:t>树能够实现对交易列表的哈希值校验，确保列表中的元素不会被修改。</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pic>
        <p:nvPicPr>
          <p:cNvPr id="5" name="图片 4"/>
          <p:cNvPicPr>
            <a:picLocks noChangeAspect="1"/>
          </p:cNvPicPr>
          <p:nvPr/>
        </p:nvPicPr>
        <p:blipFill>
          <a:blip r:embed="rId3"/>
          <a:stretch>
            <a:fillRect/>
          </a:stretch>
        </p:blipFill>
        <p:spPr>
          <a:xfrm>
            <a:off x="3442849" y="3052714"/>
            <a:ext cx="7284291" cy="3304957"/>
          </a:xfrm>
          <a:prstGeom prst="rect">
            <a:avLst/>
          </a:prstGeom>
        </p:spPr>
      </p:pic>
    </p:spTree>
    <p:extLst>
      <p:ext uri="{BB962C8B-B14F-4D97-AF65-F5344CB8AC3E}">
        <p14:creationId xmlns:p14="http://schemas.microsoft.com/office/powerpoint/2010/main" val="3103132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C8F46-145C-4DD7-A7C8-207564269073}"/>
              </a:ext>
            </a:extLst>
          </p:cNvPr>
          <p:cNvSpPr>
            <a:spLocks noGrp="1"/>
          </p:cNvSpPr>
          <p:nvPr>
            <p:ph type="title"/>
          </p:nvPr>
        </p:nvSpPr>
        <p:spPr/>
        <p:txBody>
          <a:bodyPr/>
          <a:lstStyle/>
          <a:p>
            <a:r>
              <a:rPr lang="en-US" altLang="zh-CN" dirty="0">
                <a:latin typeface="Garamond" panose="02020404030301010803" pitchFamily="18" charset="0"/>
              </a:rPr>
              <a:t>Merkle</a:t>
            </a:r>
            <a:r>
              <a:rPr lang="zh-CN" altLang="en-US" dirty="0"/>
              <a:t>树</a:t>
            </a:r>
          </a:p>
        </p:txBody>
      </p:sp>
      <p:sp>
        <p:nvSpPr>
          <p:cNvPr id="4" name="灯片编号占位符 3">
            <a:extLst>
              <a:ext uri="{FF2B5EF4-FFF2-40B4-BE49-F238E27FC236}">
                <a16:creationId xmlns:a16="http://schemas.microsoft.com/office/drawing/2014/main" id="{EB0E6F71-FAF3-4297-8B23-4713750CCF9E}"/>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5" name="矩形 4">
            <a:extLst>
              <a:ext uri="{FF2B5EF4-FFF2-40B4-BE49-F238E27FC236}">
                <a16:creationId xmlns:a16="http://schemas.microsoft.com/office/drawing/2014/main" id="{86133A77-1304-4CB4-A6F1-B4B5B8590E77}"/>
              </a:ext>
            </a:extLst>
          </p:cNvPr>
          <p:cNvSpPr/>
          <p:nvPr/>
        </p:nvSpPr>
        <p:spPr>
          <a:xfrm>
            <a:off x="240838"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6" name="矩形 5">
            <a:extLst>
              <a:ext uri="{FF2B5EF4-FFF2-40B4-BE49-F238E27FC236}">
                <a16:creationId xmlns:a16="http://schemas.microsoft.com/office/drawing/2014/main" id="{D8CDBC5F-9542-4BCC-8730-F6F7211CD05F}"/>
              </a:ext>
            </a:extLst>
          </p:cNvPr>
          <p:cNvSpPr/>
          <p:nvPr/>
        </p:nvSpPr>
        <p:spPr>
          <a:xfrm>
            <a:off x="994767"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7" name="矩形 6">
            <a:extLst>
              <a:ext uri="{FF2B5EF4-FFF2-40B4-BE49-F238E27FC236}">
                <a16:creationId xmlns:a16="http://schemas.microsoft.com/office/drawing/2014/main" id="{3D4566FC-C6A0-4B79-9D67-0B9560B17E8F}"/>
              </a:ext>
            </a:extLst>
          </p:cNvPr>
          <p:cNvSpPr/>
          <p:nvPr/>
        </p:nvSpPr>
        <p:spPr>
          <a:xfrm>
            <a:off x="1748696"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8" name="矩形 7">
            <a:extLst>
              <a:ext uri="{FF2B5EF4-FFF2-40B4-BE49-F238E27FC236}">
                <a16:creationId xmlns:a16="http://schemas.microsoft.com/office/drawing/2014/main" id="{72DABF88-34DB-4B3E-9B39-2D43423EBD04}"/>
              </a:ext>
            </a:extLst>
          </p:cNvPr>
          <p:cNvSpPr/>
          <p:nvPr/>
        </p:nvSpPr>
        <p:spPr>
          <a:xfrm>
            <a:off x="2502625"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 name="矩形 8">
            <a:extLst>
              <a:ext uri="{FF2B5EF4-FFF2-40B4-BE49-F238E27FC236}">
                <a16:creationId xmlns:a16="http://schemas.microsoft.com/office/drawing/2014/main" id="{D45816AD-34ED-47A7-B25A-54A9A7D90FBD}"/>
              </a:ext>
            </a:extLst>
          </p:cNvPr>
          <p:cNvSpPr/>
          <p:nvPr/>
        </p:nvSpPr>
        <p:spPr>
          <a:xfrm>
            <a:off x="3256554"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0" name="矩形 9">
            <a:extLst>
              <a:ext uri="{FF2B5EF4-FFF2-40B4-BE49-F238E27FC236}">
                <a16:creationId xmlns:a16="http://schemas.microsoft.com/office/drawing/2014/main" id="{EEC61E2E-547F-4541-A5E1-6D059EAEDFE2}"/>
              </a:ext>
            </a:extLst>
          </p:cNvPr>
          <p:cNvSpPr/>
          <p:nvPr/>
        </p:nvSpPr>
        <p:spPr>
          <a:xfrm>
            <a:off x="4010483"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1" name="矩形 10">
            <a:extLst>
              <a:ext uri="{FF2B5EF4-FFF2-40B4-BE49-F238E27FC236}">
                <a16:creationId xmlns:a16="http://schemas.microsoft.com/office/drawing/2014/main" id="{EE46E664-B81A-41D8-9214-6F8B05EB4465}"/>
              </a:ext>
            </a:extLst>
          </p:cNvPr>
          <p:cNvSpPr/>
          <p:nvPr/>
        </p:nvSpPr>
        <p:spPr>
          <a:xfrm>
            <a:off x="4764412" y="6041038"/>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2" name="矩形 11">
            <a:extLst>
              <a:ext uri="{FF2B5EF4-FFF2-40B4-BE49-F238E27FC236}">
                <a16:creationId xmlns:a16="http://schemas.microsoft.com/office/drawing/2014/main" id="{57613F05-470E-4BA3-A83C-3F6EDEA1AF14}"/>
              </a:ext>
            </a:extLst>
          </p:cNvPr>
          <p:cNvSpPr/>
          <p:nvPr/>
        </p:nvSpPr>
        <p:spPr>
          <a:xfrm>
            <a:off x="5518339" y="6041037"/>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3" name="文本占位符 3">
            <a:extLst>
              <a:ext uri="{FF2B5EF4-FFF2-40B4-BE49-F238E27FC236}">
                <a16:creationId xmlns:a16="http://schemas.microsoft.com/office/drawing/2014/main" id="{E17EDE5E-8320-4887-BAF8-54C7F96778FD}"/>
              </a:ext>
            </a:extLst>
          </p:cNvPr>
          <p:cNvSpPr txBox="1">
            <a:spLocks/>
          </p:cNvSpPr>
          <p:nvPr/>
        </p:nvSpPr>
        <p:spPr>
          <a:xfrm>
            <a:off x="92598" y="1400916"/>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不可篡改性</a:t>
            </a:r>
          </a:p>
        </p:txBody>
      </p:sp>
      <p:sp>
        <p:nvSpPr>
          <p:cNvPr id="14" name="文本框 13">
            <a:extLst>
              <a:ext uri="{FF2B5EF4-FFF2-40B4-BE49-F238E27FC236}">
                <a16:creationId xmlns:a16="http://schemas.microsoft.com/office/drawing/2014/main" id="{4BDB7698-44E1-4C72-9937-50AC8232288F}"/>
              </a:ext>
            </a:extLst>
          </p:cNvPr>
          <p:cNvSpPr txBox="1"/>
          <p:nvPr/>
        </p:nvSpPr>
        <p:spPr>
          <a:xfrm>
            <a:off x="198736" y="606834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 name="文本框 14">
            <a:extLst>
              <a:ext uri="{FF2B5EF4-FFF2-40B4-BE49-F238E27FC236}">
                <a16:creationId xmlns:a16="http://schemas.microsoft.com/office/drawing/2014/main" id="{7869E5F8-F31F-40D5-BB81-E20784925DA2}"/>
              </a:ext>
            </a:extLst>
          </p:cNvPr>
          <p:cNvSpPr txBox="1"/>
          <p:nvPr/>
        </p:nvSpPr>
        <p:spPr>
          <a:xfrm>
            <a:off x="994765" y="606834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6" name="文本框 15">
            <a:extLst>
              <a:ext uri="{FF2B5EF4-FFF2-40B4-BE49-F238E27FC236}">
                <a16:creationId xmlns:a16="http://schemas.microsoft.com/office/drawing/2014/main" id="{28287721-8C58-4CA5-8BB0-CC7CC2D06543}"/>
              </a:ext>
            </a:extLst>
          </p:cNvPr>
          <p:cNvSpPr txBox="1"/>
          <p:nvPr/>
        </p:nvSpPr>
        <p:spPr>
          <a:xfrm>
            <a:off x="1706592" y="606834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7" name="文本框 16">
            <a:extLst>
              <a:ext uri="{FF2B5EF4-FFF2-40B4-BE49-F238E27FC236}">
                <a16:creationId xmlns:a16="http://schemas.microsoft.com/office/drawing/2014/main" id="{24D835BA-A590-4229-BA3B-597CA5F6493B}"/>
              </a:ext>
            </a:extLst>
          </p:cNvPr>
          <p:cNvSpPr txBox="1"/>
          <p:nvPr/>
        </p:nvSpPr>
        <p:spPr>
          <a:xfrm>
            <a:off x="2465382" y="6061647"/>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8" name="文本框 17">
            <a:extLst>
              <a:ext uri="{FF2B5EF4-FFF2-40B4-BE49-F238E27FC236}">
                <a16:creationId xmlns:a16="http://schemas.microsoft.com/office/drawing/2014/main" id="{CCBC6E05-F886-424A-B5B0-85C1B9D3ECE3}"/>
              </a:ext>
            </a:extLst>
          </p:cNvPr>
          <p:cNvSpPr txBox="1"/>
          <p:nvPr/>
        </p:nvSpPr>
        <p:spPr>
          <a:xfrm>
            <a:off x="3253045" y="6061647"/>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9" name="文本框 18">
            <a:extLst>
              <a:ext uri="{FF2B5EF4-FFF2-40B4-BE49-F238E27FC236}">
                <a16:creationId xmlns:a16="http://schemas.microsoft.com/office/drawing/2014/main" id="{C665ACFD-7A7C-4111-812C-2B747200F8EC}"/>
              </a:ext>
            </a:extLst>
          </p:cNvPr>
          <p:cNvSpPr txBox="1"/>
          <p:nvPr/>
        </p:nvSpPr>
        <p:spPr>
          <a:xfrm>
            <a:off x="4010481" y="6069433"/>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20" name="文本框 19">
            <a:extLst>
              <a:ext uri="{FF2B5EF4-FFF2-40B4-BE49-F238E27FC236}">
                <a16:creationId xmlns:a16="http://schemas.microsoft.com/office/drawing/2014/main" id="{26C0E499-3E0A-4FC1-AF70-147963DCFF6A}"/>
              </a:ext>
            </a:extLst>
          </p:cNvPr>
          <p:cNvSpPr txBox="1"/>
          <p:nvPr/>
        </p:nvSpPr>
        <p:spPr>
          <a:xfrm>
            <a:off x="4764410" y="6061647"/>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21" name="文本框 20">
            <a:extLst>
              <a:ext uri="{FF2B5EF4-FFF2-40B4-BE49-F238E27FC236}">
                <a16:creationId xmlns:a16="http://schemas.microsoft.com/office/drawing/2014/main" id="{DA324953-F514-4274-AF6D-FAEB2CF150B1}"/>
              </a:ext>
            </a:extLst>
          </p:cNvPr>
          <p:cNvSpPr txBox="1"/>
          <p:nvPr/>
        </p:nvSpPr>
        <p:spPr>
          <a:xfrm>
            <a:off x="5501637" y="606834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22" name="矩形 21">
            <a:extLst>
              <a:ext uri="{FF2B5EF4-FFF2-40B4-BE49-F238E27FC236}">
                <a16:creationId xmlns:a16="http://schemas.microsoft.com/office/drawing/2014/main" id="{6096951D-E536-4789-8FB8-C44E9D87494E}"/>
              </a:ext>
            </a:extLst>
          </p:cNvPr>
          <p:cNvSpPr/>
          <p:nvPr/>
        </p:nvSpPr>
        <p:spPr>
          <a:xfrm>
            <a:off x="240838"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3" name="矩形 22">
            <a:extLst>
              <a:ext uri="{FF2B5EF4-FFF2-40B4-BE49-F238E27FC236}">
                <a16:creationId xmlns:a16="http://schemas.microsoft.com/office/drawing/2014/main" id="{DA91E031-B06A-4DAE-8BA0-3DD09DC42134}"/>
              </a:ext>
            </a:extLst>
          </p:cNvPr>
          <p:cNvSpPr/>
          <p:nvPr/>
        </p:nvSpPr>
        <p:spPr>
          <a:xfrm>
            <a:off x="994767"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4" name="矩形 23">
            <a:extLst>
              <a:ext uri="{FF2B5EF4-FFF2-40B4-BE49-F238E27FC236}">
                <a16:creationId xmlns:a16="http://schemas.microsoft.com/office/drawing/2014/main" id="{85F5B5F5-280C-4981-91BC-66BCCA7B8665}"/>
              </a:ext>
            </a:extLst>
          </p:cNvPr>
          <p:cNvSpPr/>
          <p:nvPr/>
        </p:nvSpPr>
        <p:spPr>
          <a:xfrm>
            <a:off x="1748696"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5" name="矩形 24">
            <a:extLst>
              <a:ext uri="{FF2B5EF4-FFF2-40B4-BE49-F238E27FC236}">
                <a16:creationId xmlns:a16="http://schemas.microsoft.com/office/drawing/2014/main" id="{ACC4BDD5-EC28-4581-83DF-F8A7F0B3E559}"/>
              </a:ext>
            </a:extLst>
          </p:cNvPr>
          <p:cNvSpPr/>
          <p:nvPr/>
        </p:nvSpPr>
        <p:spPr>
          <a:xfrm>
            <a:off x="2502625"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6" name="矩形 25">
            <a:extLst>
              <a:ext uri="{FF2B5EF4-FFF2-40B4-BE49-F238E27FC236}">
                <a16:creationId xmlns:a16="http://schemas.microsoft.com/office/drawing/2014/main" id="{696B9812-F1ED-41DE-8150-CBF4A602AB6B}"/>
              </a:ext>
            </a:extLst>
          </p:cNvPr>
          <p:cNvSpPr/>
          <p:nvPr/>
        </p:nvSpPr>
        <p:spPr>
          <a:xfrm>
            <a:off x="3256554"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7" name="矩形 26">
            <a:extLst>
              <a:ext uri="{FF2B5EF4-FFF2-40B4-BE49-F238E27FC236}">
                <a16:creationId xmlns:a16="http://schemas.microsoft.com/office/drawing/2014/main" id="{91DF6A0D-4EB9-4046-8BF8-FFC5D990D72B}"/>
              </a:ext>
            </a:extLst>
          </p:cNvPr>
          <p:cNvSpPr/>
          <p:nvPr/>
        </p:nvSpPr>
        <p:spPr>
          <a:xfrm>
            <a:off x="4010483"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8" name="矩形 27">
            <a:extLst>
              <a:ext uri="{FF2B5EF4-FFF2-40B4-BE49-F238E27FC236}">
                <a16:creationId xmlns:a16="http://schemas.microsoft.com/office/drawing/2014/main" id="{9AEB06C9-46D5-4B6B-A472-6FAD1991DB07}"/>
              </a:ext>
            </a:extLst>
          </p:cNvPr>
          <p:cNvSpPr/>
          <p:nvPr/>
        </p:nvSpPr>
        <p:spPr>
          <a:xfrm>
            <a:off x="4764412" y="5309161"/>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9" name="矩形 28">
            <a:extLst>
              <a:ext uri="{FF2B5EF4-FFF2-40B4-BE49-F238E27FC236}">
                <a16:creationId xmlns:a16="http://schemas.microsoft.com/office/drawing/2014/main" id="{FFFB61D2-7D32-4670-8E43-E48E93E86419}"/>
              </a:ext>
            </a:extLst>
          </p:cNvPr>
          <p:cNvSpPr/>
          <p:nvPr/>
        </p:nvSpPr>
        <p:spPr>
          <a:xfrm>
            <a:off x="5518339" y="5309160"/>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30" name="文本框 29">
            <a:extLst>
              <a:ext uri="{FF2B5EF4-FFF2-40B4-BE49-F238E27FC236}">
                <a16:creationId xmlns:a16="http://schemas.microsoft.com/office/drawing/2014/main" id="{C4331E94-95C0-48CF-B25C-13C7306A84F5}"/>
              </a:ext>
            </a:extLst>
          </p:cNvPr>
          <p:cNvSpPr txBox="1"/>
          <p:nvPr/>
        </p:nvSpPr>
        <p:spPr>
          <a:xfrm>
            <a:off x="198736" y="5336468"/>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1" name="文本框 30">
            <a:extLst>
              <a:ext uri="{FF2B5EF4-FFF2-40B4-BE49-F238E27FC236}">
                <a16:creationId xmlns:a16="http://schemas.microsoft.com/office/drawing/2014/main" id="{0C878841-2A58-4C83-AAE3-DBC4A386527E}"/>
              </a:ext>
            </a:extLst>
          </p:cNvPr>
          <p:cNvSpPr txBox="1"/>
          <p:nvPr/>
        </p:nvSpPr>
        <p:spPr>
          <a:xfrm>
            <a:off x="952661" y="5336468"/>
            <a:ext cx="533172"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2" name="文本框 31">
            <a:extLst>
              <a:ext uri="{FF2B5EF4-FFF2-40B4-BE49-F238E27FC236}">
                <a16:creationId xmlns:a16="http://schemas.microsoft.com/office/drawing/2014/main" id="{7B953289-2E43-4D71-8DF3-4CD89CEA636E}"/>
              </a:ext>
            </a:extLst>
          </p:cNvPr>
          <p:cNvSpPr txBox="1"/>
          <p:nvPr/>
        </p:nvSpPr>
        <p:spPr>
          <a:xfrm>
            <a:off x="1706592" y="5336468"/>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3" name="文本框 32">
            <a:extLst>
              <a:ext uri="{FF2B5EF4-FFF2-40B4-BE49-F238E27FC236}">
                <a16:creationId xmlns:a16="http://schemas.microsoft.com/office/drawing/2014/main" id="{F07F9D73-8637-4467-A824-AA5935B99352}"/>
              </a:ext>
            </a:extLst>
          </p:cNvPr>
          <p:cNvSpPr txBox="1"/>
          <p:nvPr/>
        </p:nvSpPr>
        <p:spPr>
          <a:xfrm>
            <a:off x="2465382" y="532977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4" name="文本框 33">
            <a:extLst>
              <a:ext uri="{FF2B5EF4-FFF2-40B4-BE49-F238E27FC236}">
                <a16:creationId xmlns:a16="http://schemas.microsoft.com/office/drawing/2014/main" id="{A913F243-9040-402B-BD1B-1706A3755E28}"/>
              </a:ext>
            </a:extLst>
          </p:cNvPr>
          <p:cNvSpPr txBox="1"/>
          <p:nvPr/>
        </p:nvSpPr>
        <p:spPr>
          <a:xfrm>
            <a:off x="3253045" y="532977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5" name="文本框 34">
            <a:extLst>
              <a:ext uri="{FF2B5EF4-FFF2-40B4-BE49-F238E27FC236}">
                <a16:creationId xmlns:a16="http://schemas.microsoft.com/office/drawing/2014/main" id="{2CE1CD38-98CD-47B3-814B-37802AACDE64}"/>
              </a:ext>
            </a:extLst>
          </p:cNvPr>
          <p:cNvSpPr txBox="1"/>
          <p:nvPr/>
        </p:nvSpPr>
        <p:spPr>
          <a:xfrm>
            <a:off x="4010481" y="5337556"/>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6" name="文本框 35">
            <a:extLst>
              <a:ext uri="{FF2B5EF4-FFF2-40B4-BE49-F238E27FC236}">
                <a16:creationId xmlns:a16="http://schemas.microsoft.com/office/drawing/2014/main" id="{8F0DAC3D-5E0B-4672-96AA-2EE9EC505462}"/>
              </a:ext>
            </a:extLst>
          </p:cNvPr>
          <p:cNvSpPr txBox="1"/>
          <p:nvPr/>
        </p:nvSpPr>
        <p:spPr>
          <a:xfrm>
            <a:off x="4755943" y="532977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7" name="文本框 36">
            <a:extLst>
              <a:ext uri="{FF2B5EF4-FFF2-40B4-BE49-F238E27FC236}">
                <a16:creationId xmlns:a16="http://schemas.microsoft.com/office/drawing/2014/main" id="{5819AC5D-38E1-4AFC-85EA-FF51836F0411}"/>
              </a:ext>
            </a:extLst>
          </p:cNvPr>
          <p:cNvSpPr txBox="1"/>
          <p:nvPr/>
        </p:nvSpPr>
        <p:spPr>
          <a:xfrm>
            <a:off x="5501637" y="5336468"/>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8" name="矩形 37">
            <a:extLst>
              <a:ext uri="{FF2B5EF4-FFF2-40B4-BE49-F238E27FC236}">
                <a16:creationId xmlns:a16="http://schemas.microsoft.com/office/drawing/2014/main" id="{F6B2A396-845F-4A8A-ACA6-E261930997C4}"/>
              </a:ext>
            </a:extLst>
          </p:cNvPr>
          <p:cNvSpPr/>
          <p:nvPr/>
        </p:nvSpPr>
        <p:spPr>
          <a:xfrm>
            <a:off x="240838" y="4688654"/>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39" name="矩形 38">
            <a:extLst>
              <a:ext uri="{FF2B5EF4-FFF2-40B4-BE49-F238E27FC236}">
                <a16:creationId xmlns:a16="http://schemas.microsoft.com/office/drawing/2014/main" id="{270293C3-F8AB-47EF-A931-A5D8492D9E6F}"/>
              </a:ext>
            </a:extLst>
          </p:cNvPr>
          <p:cNvSpPr/>
          <p:nvPr/>
        </p:nvSpPr>
        <p:spPr>
          <a:xfrm>
            <a:off x="1744857" y="4688654"/>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40" name="矩形 39">
            <a:extLst>
              <a:ext uri="{FF2B5EF4-FFF2-40B4-BE49-F238E27FC236}">
                <a16:creationId xmlns:a16="http://schemas.microsoft.com/office/drawing/2014/main" id="{73350A12-7526-4DBF-9570-D1FCE0314889}"/>
              </a:ext>
            </a:extLst>
          </p:cNvPr>
          <p:cNvSpPr/>
          <p:nvPr/>
        </p:nvSpPr>
        <p:spPr>
          <a:xfrm>
            <a:off x="3245367" y="4688654"/>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41" name="矩形 40">
            <a:extLst>
              <a:ext uri="{FF2B5EF4-FFF2-40B4-BE49-F238E27FC236}">
                <a16:creationId xmlns:a16="http://schemas.microsoft.com/office/drawing/2014/main" id="{093606ED-B6C9-4F9B-9CBF-B1B16A33C44C}"/>
              </a:ext>
            </a:extLst>
          </p:cNvPr>
          <p:cNvSpPr/>
          <p:nvPr/>
        </p:nvSpPr>
        <p:spPr>
          <a:xfrm>
            <a:off x="4745877" y="4688654"/>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42" name="矩形 41">
            <a:extLst>
              <a:ext uri="{FF2B5EF4-FFF2-40B4-BE49-F238E27FC236}">
                <a16:creationId xmlns:a16="http://schemas.microsoft.com/office/drawing/2014/main" id="{B1241462-C991-43B3-92F8-6F0117A72CC8}"/>
              </a:ext>
            </a:extLst>
          </p:cNvPr>
          <p:cNvSpPr/>
          <p:nvPr/>
        </p:nvSpPr>
        <p:spPr>
          <a:xfrm>
            <a:off x="829734" y="4067375"/>
            <a:ext cx="1507066"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43" name="矩形 42">
            <a:extLst>
              <a:ext uri="{FF2B5EF4-FFF2-40B4-BE49-F238E27FC236}">
                <a16:creationId xmlns:a16="http://schemas.microsoft.com/office/drawing/2014/main" id="{70C64AC6-C50B-4441-8F77-F7E9BB3FDEF2}"/>
              </a:ext>
            </a:extLst>
          </p:cNvPr>
          <p:cNvSpPr/>
          <p:nvPr/>
        </p:nvSpPr>
        <p:spPr>
          <a:xfrm>
            <a:off x="3835400" y="4067375"/>
            <a:ext cx="1507066"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44" name="矩形 43">
            <a:extLst>
              <a:ext uri="{FF2B5EF4-FFF2-40B4-BE49-F238E27FC236}">
                <a16:creationId xmlns:a16="http://schemas.microsoft.com/office/drawing/2014/main" id="{E9A99A8D-E5CC-4CCE-9B11-8019E8DA5E1D}"/>
              </a:ext>
            </a:extLst>
          </p:cNvPr>
          <p:cNvSpPr/>
          <p:nvPr/>
        </p:nvSpPr>
        <p:spPr>
          <a:xfrm>
            <a:off x="2328334" y="3442786"/>
            <a:ext cx="1507066"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cxnSp>
        <p:nvCxnSpPr>
          <p:cNvPr id="45" name="直线箭头连接符 86">
            <a:extLst>
              <a:ext uri="{FF2B5EF4-FFF2-40B4-BE49-F238E27FC236}">
                <a16:creationId xmlns:a16="http://schemas.microsoft.com/office/drawing/2014/main" id="{BD663194-BD2B-4836-97CD-CB9CD05DF80B}"/>
              </a:ext>
            </a:extLst>
          </p:cNvPr>
          <p:cNvCxnSpPr>
            <a:cxnSpLocks/>
            <a:stCxn id="5" idx="0"/>
            <a:endCxn id="22" idx="2"/>
          </p:cNvCxnSpPr>
          <p:nvPr/>
        </p:nvCxnSpPr>
        <p:spPr>
          <a:xfrm flipV="1">
            <a:off x="456969" y="5733110"/>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箭头连接符 90">
            <a:extLst>
              <a:ext uri="{FF2B5EF4-FFF2-40B4-BE49-F238E27FC236}">
                <a16:creationId xmlns:a16="http://schemas.microsoft.com/office/drawing/2014/main" id="{744B6C10-215A-45A8-922E-2AE626BDF1A0}"/>
              </a:ext>
            </a:extLst>
          </p:cNvPr>
          <p:cNvCxnSpPr>
            <a:cxnSpLocks/>
          </p:cNvCxnSpPr>
          <p:nvPr/>
        </p:nvCxnSpPr>
        <p:spPr>
          <a:xfrm flipV="1">
            <a:off x="1218969"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91">
            <a:extLst>
              <a:ext uri="{FF2B5EF4-FFF2-40B4-BE49-F238E27FC236}">
                <a16:creationId xmlns:a16="http://schemas.microsoft.com/office/drawing/2014/main" id="{775510A3-7146-47A1-9D00-E5F10D291FD2}"/>
              </a:ext>
            </a:extLst>
          </p:cNvPr>
          <p:cNvCxnSpPr>
            <a:cxnSpLocks/>
          </p:cNvCxnSpPr>
          <p:nvPr/>
        </p:nvCxnSpPr>
        <p:spPr>
          <a:xfrm flipV="1">
            <a:off x="1964036"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92">
            <a:extLst>
              <a:ext uri="{FF2B5EF4-FFF2-40B4-BE49-F238E27FC236}">
                <a16:creationId xmlns:a16="http://schemas.microsoft.com/office/drawing/2014/main" id="{00C198BD-31B9-4662-ACE1-50D4BEF31AE0}"/>
              </a:ext>
            </a:extLst>
          </p:cNvPr>
          <p:cNvCxnSpPr>
            <a:cxnSpLocks/>
          </p:cNvCxnSpPr>
          <p:nvPr/>
        </p:nvCxnSpPr>
        <p:spPr>
          <a:xfrm flipV="1">
            <a:off x="2717569"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93">
            <a:extLst>
              <a:ext uri="{FF2B5EF4-FFF2-40B4-BE49-F238E27FC236}">
                <a16:creationId xmlns:a16="http://schemas.microsoft.com/office/drawing/2014/main" id="{A21EB224-1EA0-4030-87EC-F7098C8652B0}"/>
              </a:ext>
            </a:extLst>
          </p:cNvPr>
          <p:cNvCxnSpPr>
            <a:cxnSpLocks/>
          </p:cNvCxnSpPr>
          <p:nvPr/>
        </p:nvCxnSpPr>
        <p:spPr>
          <a:xfrm flipV="1">
            <a:off x="3462636"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94">
            <a:extLst>
              <a:ext uri="{FF2B5EF4-FFF2-40B4-BE49-F238E27FC236}">
                <a16:creationId xmlns:a16="http://schemas.microsoft.com/office/drawing/2014/main" id="{85FDE1E4-6595-4F01-B0AA-5D0FEC1BE1EC}"/>
              </a:ext>
            </a:extLst>
          </p:cNvPr>
          <p:cNvCxnSpPr>
            <a:cxnSpLocks/>
          </p:cNvCxnSpPr>
          <p:nvPr/>
        </p:nvCxnSpPr>
        <p:spPr>
          <a:xfrm flipV="1">
            <a:off x="4233103"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95">
            <a:extLst>
              <a:ext uri="{FF2B5EF4-FFF2-40B4-BE49-F238E27FC236}">
                <a16:creationId xmlns:a16="http://schemas.microsoft.com/office/drawing/2014/main" id="{20C85A66-E4BF-43FA-BE3E-0D818FB54887}"/>
              </a:ext>
            </a:extLst>
          </p:cNvPr>
          <p:cNvCxnSpPr>
            <a:cxnSpLocks/>
          </p:cNvCxnSpPr>
          <p:nvPr/>
        </p:nvCxnSpPr>
        <p:spPr>
          <a:xfrm flipV="1">
            <a:off x="4978170"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线箭头连接符 96">
            <a:extLst>
              <a:ext uri="{FF2B5EF4-FFF2-40B4-BE49-F238E27FC236}">
                <a16:creationId xmlns:a16="http://schemas.microsoft.com/office/drawing/2014/main" id="{35C10936-5777-4F79-BBA9-D72E6400B99E}"/>
              </a:ext>
            </a:extLst>
          </p:cNvPr>
          <p:cNvCxnSpPr>
            <a:cxnSpLocks/>
          </p:cNvCxnSpPr>
          <p:nvPr/>
        </p:nvCxnSpPr>
        <p:spPr>
          <a:xfrm flipV="1">
            <a:off x="5731704" y="5733109"/>
            <a:ext cx="0" cy="30792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线箭头连接符 97">
            <a:extLst>
              <a:ext uri="{FF2B5EF4-FFF2-40B4-BE49-F238E27FC236}">
                <a16:creationId xmlns:a16="http://schemas.microsoft.com/office/drawing/2014/main" id="{A2F2D6FA-7B6E-4CCF-AD72-68F76805FBFC}"/>
              </a:ext>
            </a:extLst>
          </p:cNvPr>
          <p:cNvCxnSpPr>
            <a:cxnSpLocks/>
            <a:endCxn id="38" idx="2"/>
          </p:cNvCxnSpPr>
          <p:nvPr/>
        </p:nvCxnSpPr>
        <p:spPr>
          <a:xfrm flipV="1">
            <a:off x="456969" y="5057986"/>
            <a:ext cx="376965" cy="25117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99">
            <a:extLst>
              <a:ext uri="{FF2B5EF4-FFF2-40B4-BE49-F238E27FC236}">
                <a16:creationId xmlns:a16="http://schemas.microsoft.com/office/drawing/2014/main" id="{1FB4C7D0-6616-43A9-8850-84AA8302F61F}"/>
              </a:ext>
            </a:extLst>
          </p:cNvPr>
          <p:cNvCxnSpPr>
            <a:cxnSpLocks/>
            <a:stCxn id="23" idx="0"/>
            <a:endCxn id="38" idx="2"/>
          </p:cNvCxnSpPr>
          <p:nvPr/>
        </p:nvCxnSpPr>
        <p:spPr>
          <a:xfrm flipH="1" flipV="1">
            <a:off x="833934" y="5057986"/>
            <a:ext cx="376964" cy="251175"/>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102">
            <a:extLst>
              <a:ext uri="{FF2B5EF4-FFF2-40B4-BE49-F238E27FC236}">
                <a16:creationId xmlns:a16="http://schemas.microsoft.com/office/drawing/2014/main" id="{29C55BE9-C5E3-4C92-A121-EE7C82DBCA02}"/>
              </a:ext>
            </a:extLst>
          </p:cNvPr>
          <p:cNvCxnSpPr>
            <a:cxnSpLocks/>
          </p:cNvCxnSpPr>
          <p:nvPr/>
        </p:nvCxnSpPr>
        <p:spPr>
          <a:xfrm flipV="1">
            <a:off x="1951369" y="5054091"/>
            <a:ext cx="376965" cy="25117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线箭头连接符 103">
            <a:extLst>
              <a:ext uri="{FF2B5EF4-FFF2-40B4-BE49-F238E27FC236}">
                <a16:creationId xmlns:a16="http://schemas.microsoft.com/office/drawing/2014/main" id="{0A797872-7199-4D8D-BD92-56C361FAF44B}"/>
              </a:ext>
            </a:extLst>
          </p:cNvPr>
          <p:cNvCxnSpPr>
            <a:cxnSpLocks/>
          </p:cNvCxnSpPr>
          <p:nvPr/>
        </p:nvCxnSpPr>
        <p:spPr>
          <a:xfrm flipH="1" flipV="1">
            <a:off x="2328303" y="5055837"/>
            <a:ext cx="376964" cy="251175"/>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104">
            <a:extLst>
              <a:ext uri="{FF2B5EF4-FFF2-40B4-BE49-F238E27FC236}">
                <a16:creationId xmlns:a16="http://schemas.microsoft.com/office/drawing/2014/main" id="{50804DD6-EFCF-4BAD-B339-A26C31A554F6}"/>
              </a:ext>
            </a:extLst>
          </p:cNvPr>
          <p:cNvCxnSpPr>
            <a:cxnSpLocks/>
          </p:cNvCxnSpPr>
          <p:nvPr/>
        </p:nvCxnSpPr>
        <p:spPr>
          <a:xfrm flipH="1" flipV="1">
            <a:off x="3833883" y="5054091"/>
            <a:ext cx="376964" cy="251175"/>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105">
            <a:extLst>
              <a:ext uri="{FF2B5EF4-FFF2-40B4-BE49-F238E27FC236}">
                <a16:creationId xmlns:a16="http://schemas.microsoft.com/office/drawing/2014/main" id="{3DB7A57B-5341-4C8F-9F79-23A881E9D6EB}"/>
              </a:ext>
            </a:extLst>
          </p:cNvPr>
          <p:cNvCxnSpPr>
            <a:cxnSpLocks/>
          </p:cNvCxnSpPr>
          <p:nvPr/>
        </p:nvCxnSpPr>
        <p:spPr>
          <a:xfrm flipH="1" flipV="1">
            <a:off x="5337902" y="5049224"/>
            <a:ext cx="376964" cy="251175"/>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106">
            <a:extLst>
              <a:ext uri="{FF2B5EF4-FFF2-40B4-BE49-F238E27FC236}">
                <a16:creationId xmlns:a16="http://schemas.microsoft.com/office/drawing/2014/main" id="{9DA9B159-DE9B-4595-9910-E1ABCA5B7C02}"/>
              </a:ext>
            </a:extLst>
          </p:cNvPr>
          <p:cNvCxnSpPr>
            <a:cxnSpLocks/>
            <a:stCxn id="41" idx="0"/>
          </p:cNvCxnSpPr>
          <p:nvPr/>
        </p:nvCxnSpPr>
        <p:spPr>
          <a:xfrm flipH="1" flipV="1">
            <a:off x="4588933" y="4430570"/>
            <a:ext cx="750040" cy="25808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108">
            <a:extLst>
              <a:ext uri="{FF2B5EF4-FFF2-40B4-BE49-F238E27FC236}">
                <a16:creationId xmlns:a16="http://schemas.microsoft.com/office/drawing/2014/main" id="{A0DA1098-6284-4243-B808-B6BE73AD60C0}"/>
              </a:ext>
            </a:extLst>
          </p:cNvPr>
          <p:cNvCxnSpPr>
            <a:cxnSpLocks/>
            <a:stCxn id="43" idx="0"/>
          </p:cNvCxnSpPr>
          <p:nvPr/>
        </p:nvCxnSpPr>
        <p:spPr>
          <a:xfrm flipH="1" flipV="1">
            <a:off x="3081867" y="3812457"/>
            <a:ext cx="1507066" cy="25491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线箭头连接符 110">
            <a:extLst>
              <a:ext uri="{FF2B5EF4-FFF2-40B4-BE49-F238E27FC236}">
                <a16:creationId xmlns:a16="http://schemas.microsoft.com/office/drawing/2014/main" id="{7F50C7EA-6344-4E89-A0D7-2A87ACD055A9}"/>
              </a:ext>
            </a:extLst>
          </p:cNvPr>
          <p:cNvCxnSpPr>
            <a:cxnSpLocks/>
          </p:cNvCxnSpPr>
          <p:nvPr/>
        </p:nvCxnSpPr>
        <p:spPr>
          <a:xfrm flipV="1">
            <a:off x="3474732" y="5054091"/>
            <a:ext cx="376965" cy="25117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线箭头连接符 111">
            <a:extLst>
              <a:ext uri="{FF2B5EF4-FFF2-40B4-BE49-F238E27FC236}">
                <a16:creationId xmlns:a16="http://schemas.microsoft.com/office/drawing/2014/main" id="{9DFE1B19-B6C4-4702-A190-D5D2DFD74575}"/>
              </a:ext>
            </a:extLst>
          </p:cNvPr>
          <p:cNvCxnSpPr>
            <a:cxnSpLocks/>
          </p:cNvCxnSpPr>
          <p:nvPr/>
        </p:nvCxnSpPr>
        <p:spPr>
          <a:xfrm flipV="1">
            <a:off x="4980541" y="5054091"/>
            <a:ext cx="376965" cy="25117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线箭头连接符 112">
            <a:extLst>
              <a:ext uri="{FF2B5EF4-FFF2-40B4-BE49-F238E27FC236}">
                <a16:creationId xmlns:a16="http://schemas.microsoft.com/office/drawing/2014/main" id="{68136DDD-2B52-435C-86BD-63038A9C01CA}"/>
              </a:ext>
            </a:extLst>
          </p:cNvPr>
          <p:cNvCxnSpPr>
            <a:cxnSpLocks/>
            <a:stCxn id="38" idx="0"/>
          </p:cNvCxnSpPr>
          <p:nvPr/>
        </p:nvCxnSpPr>
        <p:spPr>
          <a:xfrm flipV="1">
            <a:off x="833934" y="4446410"/>
            <a:ext cx="727266" cy="24224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线箭头连接符 114">
            <a:extLst>
              <a:ext uri="{FF2B5EF4-FFF2-40B4-BE49-F238E27FC236}">
                <a16:creationId xmlns:a16="http://schemas.microsoft.com/office/drawing/2014/main" id="{C409F42A-B62A-489B-A954-8854309BC4F9}"/>
              </a:ext>
            </a:extLst>
          </p:cNvPr>
          <p:cNvCxnSpPr>
            <a:cxnSpLocks/>
          </p:cNvCxnSpPr>
          <p:nvPr/>
        </p:nvCxnSpPr>
        <p:spPr>
          <a:xfrm flipV="1">
            <a:off x="3858174" y="4428640"/>
            <a:ext cx="727266" cy="24224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线箭头连接符 115">
            <a:extLst>
              <a:ext uri="{FF2B5EF4-FFF2-40B4-BE49-F238E27FC236}">
                <a16:creationId xmlns:a16="http://schemas.microsoft.com/office/drawing/2014/main" id="{5C5DB9E1-A01D-4662-A319-B4F1D0D8AD9F}"/>
              </a:ext>
            </a:extLst>
          </p:cNvPr>
          <p:cNvCxnSpPr>
            <a:cxnSpLocks/>
          </p:cNvCxnSpPr>
          <p:nvPr/>
        </p:nvCxnSpPr>
        <p:spPr>
          <a:xfrm flipH="1" flipV="1">
            <a:off x="1541825" y="4438490"/>
            <a:ext cx="750040" cy="25808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线箭头连接符 116">
            <a:extLst>
              <a:ext uri="{FF2B5EF4-FFF2-40B4-BE49-F238E27FC236}">
                <a16:creationId xmlns:a16="http://schemas.microsoft.com/office/drawing/2014/main" id="{63EEC86B-2B8A-4463-BCB0-2118F69FBCC3}"/>
              </a:ext>
            </a:extLst>
          </p:cNvPr>
          <p:cNvCxnSpPr>
            <a:cxnSpLocks/>
            <a:stCxn id="42" idx="0"/>
          </p:cNvCxnSpPr>
          <p:nvPr/>
        </p:nvCxnSpPr>
        <p:spPr>
          <a:xfrm flipV="1">
            <a:off x="1583267" y="3801707"/>
            <a:ext cx="1501933" cy="26566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CD20CF95-417C-4C94-BA6C-0F18C90F3C14}"/>
              </a:ext>
            </a:extLst>
          </p:cNvPr>
          <p:cNvSpPr txBox="1"/>
          <p:nvPr/>
        </p:nvSpPr>
        <p:spPr>
          <a:xfrm>
            <a:off x="2328303" y="3061202"/>
            <a:ext cx="1501933" cy="369332"/>
          </a:xfrm>
          <a:prstGeom prst="rect">
            <a:avLst/>
          </a:prstGeom>
          <a:noFill/>
        </p:spPr>
        <p:txBody>
          <a:bodyPr wrap="square">
            <a:spAutoFit/>
          </a:bodyPr>
          <a:lstStyle/>
          <a:p>
            <a:pPr algn="ctr"/>
            <a:r>
              <a:rPr kumimoji="1" lang="zh-CN" altLang="en-US" dirty="0">
                <a:latin typeface="Times New Roman" panose="02020603050405020304" pitchFamily="18" charset="0"/>
              </a:rPr>
              <a:t>默克尔树根</a:t>
            </a:r>
          </a:p>
        </p:txBody>
      </p:sp>
      <p:sp>
        <p:nvSpPr>
          <p:cNvPr id="68" name="十字形 67">
            <a:extLst>
              <a:ext uri="{FF2B5EF4-FFF2-40B4-BE49-F238E27FC236}">
                <a16:creationId xmlns:a16="http://schemas.microsoft.com/office/drawing/2014/main" id="{185CEF98-5F74-492F-B887-403AEF349444}"/>
              </a:ext>
            </a:extLst>
          </p:cNvPr>
          <p:cNvSpPr/>
          <p:nvPr/>
        </p:nvSpPr>
        <p:spPr>
          <a:xfrm>
            <a:off x="736568" y="5126570"/>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9" name="十字形 68">
            <a:extLst>
              <a:ext uri="{FF2B5EF4-FFF2-40B4-BE49-F238E27FC236}">
                <a16:creationId xmlns:a16="http://schemas.microsoft.com/office/drawing/2014/main" id="{ED23826F-A079-449B-B80D-3AA5278DF77F}"/>
              </a:ext>
            </a:extLst>
          </p:cNvPr>
          <p:cNvSpPr/>
          <p:nvPr/>
        </p:nvSpPr>
        <p:spPr>
          <a:xfrm>
            <a:off x="2237356" y="5113444"/>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70" name="十字形 69">
            <a:extLst>
              <a:ext uri="{FF2B5EF4-FFF2-40B4-BE49-F238E27FC236}">
                <a16:creationId xmlns:a16="http://schemas.microsoft.com/office/drawing/2014/main" id="{8A3215DC-C05C-4768-ABF2-96FF10ABAC2B}"/>
              </a:ext>
            </a:extLst>
          </p:cNvPr>
          <p:cNvSpPr/>
          <p:nvPr/>
        </p:nvSpPr>
        <p:spPr>
          <a:xfrm>
            <a:off x="3742848" y="5103812"/>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71" name="十字形 70">
            <a:extLst>
              <a:ext uri="{FF2B5EF4-FFF2-40B4-BE49-F238E27FC236}">
                <a16:creationId xmlns:a16="http://schemas.microsoft.com/office/drawing/2014/main" id="{77466F27-AAD2-47B9-B4A5-87750519FD1B}"/>
              </a:ext>
            </a:extLst>
          </p:cNvPr>
          <p:cNvSpPr/>
          <p:nvPr/>
        </p:nvSpPr>
        <p:spPr>
          <a:xfrm>
            <a:off x="5237890" y="5121704"/>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72" name="十字形 71">
            <a:extLst>
              <a:ext uri="{FF2B5EF4-FFF2-40B4-BE49-F238E27FC236}">
                <a16:creationId xmlns:a16="http://schemas.microsoft.com/office/drawing/2014/main" id="{D81B5D16-DFF7-450C-BE14-E0FFB3CC9CAA}"/>
              </a:ext>
            </a:extLst>
          </p:cNvPr>
          <p:cNvSpPr/>
          <p:nvPr/>
        </p:nvSpPr>
        <p:spPr>
          <a:xfrm>
            <a:off x="1461347" y="4473699"/>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73" name="十字形 72">
            <a:extLst>
              <a:ext uri="{FF2B5EF4-FFF2-40B4-BE49-F238E27FC236}">
                <a16:creationId xmlns:a16="http://schemas.microsoft.com/office/drawing/2014/main" id="{1B69AF0E-7768-4CA2-8C8F-D662CAEB7B90}"/>
              </a:ext>
            </a:extLst>
          </p:cNvPr>
          <p:cNvSpPr/>
          <p:nvPr/>
        </p:nvSpPr>
        <p:spPr>
          <a:xfrm>
            <a:off x="4481963" y="4473699"/>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74" name="十字形 73">
            <a:extLst>
              <a:ext uri="{FF2B5EF4-FFF2-40B4-BE49-F238E27FC236}">
                <a16:creationId xmlns:a16="http://schemas.microsoft.com/office/drawing/2014/main" id="{52853244-54DD-4D47-8050-14DA05A15D67}"/>
              </a:ext>
            </a:extLst>
          </p:cNvPr>
          <p:cNvSpPr/>
          <p:nvPr/>
        </p:nvSpPr>
        <p:spPr>
          <a:xfrm>
            <a:off x="2982046" y="3838786"/>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cxnSp>
        <p:nvCxnSpPr>
          <p:cNvPr id="75" name="直线连接符 128">
            <a:extLst>
              <a:ext uri="{FF2B5EF4-FFF2-40B4-BE49-F238E27FC236}">
                <a16:creationId xmlns:a16="http://schemas.microsoft.com/office/drawing/2014/main" id="{B0AA8632-43D6-497B-B5B1-03EBAA039C6A}"/>
              </a:ext>
            </a:extLst>
          </p:cNvPr>
          <p:cNvCxnSpPr>
            <a:cxnSpLocks/>
          </p:cNvCxnSpPr>
          <p:nvPr/>
        </p:nvCxnSpPr>
        <p:spPr>
          <a:xfrm>
            <a:off x="6096000" y="1341120"/>
            <a:ext cx="0" cy="4597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28D7D149-F201-46CB-B376-49EB9B96905F}"/>
              </a:ext>
            </a:extLst>
          </p:cNvPr>
          <p:cNvSpPr/>
          <p:nvPr/>
        </p:nvSpPr>
        <p:spPr>
          <a:xfrm>
            <a:off x="92598" y="5938520"/>
            <a:ext cx="5925507" cy="601133"/>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文本框 76">
            <a:extLst>
              <a:ext uri="{FF2B5EF4-FFF2-40B4-BE49-F238E27FC236}">
                <a16:creationId xmlns:a16="http://schemas.microsoft.com/office/drawing/2014/main" id="{8221C918-C03F-4563-BA7D-A5738A03AE83}"/>
              </a:ext>
            </a:extLst>
          </p:cNvPr>
          <p:cNvSpPr txBox="1"/>
          <p:nvPr/>
        </p:nvSpPr>
        <p:spPr>
          <a:xfrm>
            <a:off x="6272266" y="6054420"/>
            <a:ext cx="904578" cy="369332"/>
          </a:xfrm>
          <a:prstGeom prst="rect">
            <a:avLst/>
          </a:prstGeom>
          <a:noFill/>
        </p:spPr>
        <p:txBody>
          <a:bodyPr wrap="square">
            <a:spAutoFit/>
          </a:bodyPr>
          <a:lstStyle/>
          <a:p>
            <a:pPr algn="ctr"/>
            <a:r>
              <a:rPr kumimoji="1" lang="zh-CN" altLang="en-US" dirty="0">
                <a:latin typeface="Times New Roman" panose="02020603050405020304" pitchFamily="18" charset="0"/>
              </a:rPr>
              <a:t>区块体</a:t>
            </a:r>
          </a:p>
        </p:txBody>
      </p:sp>
      <p:cxnSp>
        <p:nvCxnSpPr>
          <p:cNvPr id="78" name="直线箭头连接符 132">
            <a:extLst>
              <a:ext uri="{FF2B5EF4-FFF2-40B4-BE49-F238E27FC236}">
                <a16:creationId xmlns:a16="http://schemas.microsoft.com/office/drawing/2014/main" id="{76CFCBC8-B6AD-4AA3-B6E4-72D34DAB1434}"/>
              </a:ext>
            </a:extLst>
          </p:cNvPr>
          <p:cNvCxnSpPr>
            <a:stCxn id="76" idx="3"/>
            <a:endCxn id="77" idx="1"/>
          </p:cNvCxnSpPr>
          <p:nvPr/>
        </p:nvCxnSpPr>
        <p:spPr>
          <a:xfrm flipV="1">
            <a:off x="6018105" y="6239086"/>
            <a:ext cx="25416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矩形 78">
            <a:extLst>
              <a:ext uri="{FF2B5EF4-FFF2-40B4-BE49-F238E27FC236}">
                <a16:creationId xmlns:a16="http://schemas.microsoft.com/office/drawing/2014/main" id="{519072EC-AA6C-4DB3-BC91-4E45D01AEF0A}"/>
              </a:ext>
            </a:extLst>
          </p:cNvPr>
          <p:cNvSpPr/>
          <p:nvPr/>
        </p:nvSpPr>
        <p:spPr>
          <a:xfrm>
            <a:off x="191370" y="2319005"/>
            <a:ext cx="432262" cy="162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0" name="文本框 79">
            <a:extLst>
              <a:ext uri="{FF2B5EF4-FFF2-40B4-BE49-F238E27FC236}">
                <a16:creationId xmlns:a16="http://schemas.microsoft.com/office/drawing/2014/main" id="{1F23BD39-6C00-4D93-9A03-440F37776DEE}"/>
              </a:ext>
            </a:extLst>
          </p:cNvPr>
          <p:cNvSpPr txBox="1"/>
          <p:nvPr/>
        </p:nvSpPr>
        <p:spPr>
          <a:xfrm>
            <a:off x="-22092" y="1949673"/>
            <a:ext cx="868849" cy="369332"/>
          </a:xfrm>
          <a:prstGeom prst="rect">
            <a:avLst/>
          </a:prstGeom>
          <a:noFill/>
        </p:spPr>
        <p:txBody>
          <a:bodyPr wrap="square" rtlCol="0">
            <a:spAutoFit/>
          </a:bodyPr>
          <a:lstStyle/>
          <a:p>
            <a:r>
              <a:rPr kumimoji="1" lang="zh-CN" altLang="en-US" b="1" dirty="0"/>
              <a:t>区块头</a:t>
            </a:r>
          </a:p>
        </p:txBody>
      </p:sp>
      <p:sp>
        <p:nvSpPr>
          <p:cNvPr id="82" name="矩形 81">
            <a:extLst>
              <a:ext uri="{FF2B5EF4-FFF2-40B4-BE49-F238E27FC236}">
                <a16:creationId xmlns:a16="http://schemas.microsoft.com/office/drawing/2014/main" id="{DAEA5ADE-950E-4E0D-8D57-49D088B51A36}"/>
              </a:ext>
            </a:extLst>
          </p:cNvPr>
          <p:cNvSpPr/>
          <p:nvPr/>
        </p:nvSpPr>
        <p:spPr>
          <a:xfrm>
            <a:off x="731440" y="2275532"/>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cs typeface="Times New Roman" panose="02020603050405020304" pitchFamily="18" charset="0"/>
              </a:rPr>
              <a:t>Version</a:t>
            </a:r>
            <a:endParaRPr kumimoji="1" lang="zh-CN" altLang="en-US" sz="1200" dirty="0">
              <a:latin typeface="Times New Roman" panose="02020603050405020304" pitchFamily="18" charset="0"/>
              <a:cs typeface="Times New Roman" panose="02020603050405020304" pitchFamily="18" charset="0"/>
            </a:endParaRPr>
          </a:p>
        </p:txBody>
      </p:sp>
      <p:sp>
        <p:nvSpPr>
          <p:cNvPr id="83" name="矩形 82">
            <a:extLst>
              <a:ext uri="{FF2B5EF4-FFF2-40B4-BE49-F238E27FC236}">
                <a16:creationId xmlns:a16="http://schemas.microsoft.com/office/drawing/2014/main" id="{9BF1B0F1-265A-4E70-BC59-F37998715E5C}"/>
              </a:ext>
            </a:extLst>
          </p:cNvPr>
          <p:cNvSpPr/>
          <p:nvPr/>
        </p:nvSpPr>
        <p:spPr>
          <a:xfrm>
            <a:off x="731439" y="2461047"/>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cs typeface="Times New Roman" panose="02020603050405020304" pitchFamily="18" charset="0"/>
              </a:rPr>
              <a:t>Previous Block Hash</a:t>
            </a:r>
            <a:endParaRPr kumimoji="1" lang="zh-CN" altLang="en-US" sz="1200" dirty="0">
              <a:latin typeface="Times New Roman" panose="02020603050405020304" pitchFamily="18" charset="0"/>
              <a:cs typeface="Times New Roman" panose="02020603050405020304" pitchFamily="18" charset="0"/>
            </a:endParaRPr>
          </a:p>
        </p:txBody>
      </p:sp>
      <p:sp>
        <p:nvSpPr>
          <p:cNvPr id="84" name="矩形 83">
            <a:extLst>
              <a:ext uri="{FF2B5EF4-FFF2-40B4-BE49-F238E27FC236}">
                <a16:creationId xmlns:a16="http://schemas.microsoft.com/office/drawing/2014/main" id="{6DF34F6C-B93C-4FE7-9594-AAC5CD06363B}"/>
              </a:ext>
            </a:extLst>
          </p:cNvPr>
          <p:cNvSpPr/>
          <p:nvPr/>
        </p:nvSpPr>
        <p:spPr>
          <a:xfrm>
            <a:off x="731437" y="2646562"/>
            <a:ext cx="1611825" cy="17976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cs typeface="Times New Roman" panose="02020603050405020304" pitchFamily="18" charset="0"/>
              </a:rPr>
              <a:t>Merkle Tree Root</a:t>
            </a:r>
            <a:endParaRPr kumimoji="1" lang="zh-CN" altLang="en-US" sz="1200" dirty="0">
              <a:latin typeface="Times New Roman" panose="02020603050405020304" pitchFamily="18" charset="0"/>
              <a:cs typeface="Times New Roman" panose="02020603050405020304" pitchFamily="18" charset="0"/>
            </a:endParaRPr>
          </a:p>
        </p:txBody>
      </p:sp>
      <p:sp>
        <p:nvSpPr>
          <p:cNvPr id="85" name="矩形 84">
            <a:extLst>
              <a:ext uri="{FF2B5EF4-FFF2-40B4-BE49-F238E27FC236}">
                <a16:creationId xmlns:a16="http://schemas.microsoft.com/office/drawing/2014/main" id="{7E95E9A8-AB4C-4D62-A739-16035D23EC7E}"/>
              </a:ext>
            </a:extLst>
          </p:cNvPr>
          <p:cNvSpPr/>
          <p:nvPr/>
        </p:nvSpPr>
        <p:spPr>
          <a:xfrm>
            <a:off x="731437" y="2832077"/>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cs typeface="Times New Roman" panose="02020603050405020304" pitchFamily="18" charset="0"/>
              </a:rPr>
              <a:t>Timestamp</a:t>
            </a:r>
            <a:endParaRPr kumimoji="1" lang="zh-CN" altLang="en-US" sz="1200" dirty="0">
              <a:latin typeface="Times New Roman" panose="02020603050405020304" pitchFamily="18" charset="0"/>
              <a:cs typeface="Times New Roman" panose="02020603050405020304" pitchFamily="18" charset="0"/>
            </a:endParaRPr>
          </a:p>
        </p:txBody>
      </p:sp>
      <p:sp>
        <p:nvSpPr>
          <p:cNvPr id="86" name="矩形 85">
            <a:extLst>
              <a:ext uri="{FF2B5EF4-FFF2-40B4-BE49-F238E27FC236}">
                <a16:creationId xmlns:a16="http://schemas.microsoft.com/office/drawing/2014/main" id="{D3FCA2A8-18F0-4149-8F6E-DDCB0EA27590}"/>
              </a:ext>
            </a:extLst>
          </p:cNvPr>
          <p:cNvSpPr/>
          <p:nvPr/>
        </p:nvSpPr>
        <p:spPr>
          <a:xfrm>
            <a:off x="731436" y="3017592"/>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cs typeface="Times New Roman" panose="02020603050405020304" pitchFamily="18" charset="0"/>
              </a:rPr>
              <a:t>Difficulty</a:t>
            </a:r>
            <a:endParaRPr kumimoji="1" lang="zh-CN" altLang="en-US" sz="1200" dirty="0">
              <a:latin typeface="Times New Roman" panose="02020603050405020304" pitchFamily="18" charset="0"/>
              <a:cs typeface="Times New Roman" panose="02020603050405020304" pitchFamily="18" charset="0"/>
            </a:endParaRPr>
          </a:p>
        </p:txBody>
      </p:sp>
      <p:sp>
        <p:nvSpPr>
          <p:cNvPr id="87" name="矩形 86">
            <a:extLst>
              <a:ext uri="{FF2B5EF4-FFF2-40B4-BE49-F238E27FC236}">
                <a16:creationId xmlns:a16="http://schemas.microsoft.com/office/drawing/2014/main" id="{9B0EB10D-CEBF-4755-A0C4-1E7FE6D9AD36}"/>
              </a:ext>
            </a:extLst>
          </p:cNvPr>
          <p:cNvSpPr/>
          <p:nvPr/>
        </p:nvSpPr>
        <p:spPr>
          <a:xfrm>
            <a:off x="731435" y="3203109"/>
            <a:ext cx="1611825" cy="179764"/>
          </a:xfrm>
          <a:prstGeom prst="rect">
            <a:avLst/>
          </a:prstGeom>
          <a:solidFill>
            <a:srgbClr val="5B3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pitchFamily="18" charset="0"/>
                <a:cs typeface="Times New Roman" panose="02020603050405020304" pitchFamily="18" charset="0"/>
              </a:rPr>
              <a:t>Nonce</a:t>
            </a:r>
            <a:endParaRPr kumimoji="1" lang="zh-CN" altLang="en-US" sz="1200" dirty="0">
              <a:latin typeface="Times New Roman" panose="02020603050405020304" pitchFamily="18" charset="0"/>
              <a:cs typeface="Times New Roman" panose="02020603050405020304" pitchFamily="18" charset="0"/>
            </a:endParaRPr>
          </a:p>
        </p:txBody>
      </p:sp>
      <p:cxnSp>
        <p:nvCxnSpPr>
          <p:cNvPr id="88" name="肘形连接符 146">
            <a:extLst>
              <a:ext uri="{FF2B5EF4-FFF2-40B4-BE49-F238E27FC236}">
                <a16:creationId xmlns:a16="http://schemas.microsoft.com/office/drawing/2014/main" id="{25C382E2-D402-4892-A499-5CF29F9896CB}"/>
              </a:ext>
            </a:extLst>
          </p:cNvPr>
          <p:cNvCxnSpPr>
            <a:stCxn id="67" idx="0"/>
            <a:endCxn id="84" idx="3"/>
          </p:cNvCxnSpPr>
          <p:nvPr/>
        </p:nvCxnSpPr>
        <p:spPr>
          <a:xfrm rot="16200000" flipV="1">
            <a:off x="2548887" y="2530819"/>
            <a:ext cx="324758" cy="736008"/>
          </a:xfrm>
          <a:prstGeom prst="bentConnector2">
            <a:avLst/>
          </a:prstGeom>
          <a:ln w="19050">
            <a:solidFill>
              <a:srgbClr val="5B307E"/>
            </a:solidFill>
            <a:tailEnd type="arrow"/>
          </a:ln>
        </p:spPr>
        <p:style>
          <a:lnRef idx="1">
            <a:schemeClr val="accent1"/>
          </a:lnRef>
          <a:fillRef idx="0">
            <a:schemeClr val="accent1"/>
          </a:fillRef>
          <a:effectRef idx="0">
            <a:schemeClr val="accent1"/>
          </a:effectRef>
          <a:fontRef idx="minor">
            <a:schemeClr val="tx1"/>
          </a:fontRef>
        </p:style>
      </p:cxnSp>
      <p:sp>
        <p:nvSpPr>
          <p:cNvPr id="89" name="矩形 88">
            <a:extLst>
              <a:ext uri="{FF2B5EF4-FFF2-40B4-BE49-F238E27FC236}">
                <a16:creationId xmlns:a16="http://schemas.microsoft.com/office/drawing/2014/main" id="{87E906A8-C6A4-44A0-9BDF-869C9D6101E1}"/>
              </a:ext>
            </a:extLst>
          </p:cNvPr>
          <p:cNvSpPr/>
          <p:nvPr/>
        </p:nvSpPr>
        <p:spPr>
          <a:xfrm>
            <a:off x="6282358" y="5221753"/>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0" name="矩形 89">
            <a:extLst>
              <a:ext uri="{FF2B5EF4-FFF2-40B4-BE49-F238E27FC236}">
                <a16:creationId xmlns:a16="http://schemas.microsoft.com/office/drawing/2014/main" id="{40085C49-C1EA-4BAF-B451-EB7A914A16F6}"/>
              </a:ext>
            </a:extLst>
          </p:cNvPr>
          <p:cNvSpPr/>
          <p:nvPr/>
        </p:nvSpPr>
        <p:spPr>
          <a:xfrm>
            <a:off x="7036287" y="5221753"/>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1" name="矩形 90">
            <a:extLst>
              <a:ext uri="{FF2B5EF4-FFF2-40B4-BE49-F238E27FC236}">
                <a16:creationId xmlns:a16="http://schemas.microsoft.com/office/drawing/2014/main" id="{B0897362-5FDE-471E-A50B-FB89729D7D06}"/>
              </a:ext>
            </a:extLst>
          </p:cNvPr>
          <p:cNvSpPr/>
          <p:nvPr/>
        </p:nvSpPr>
        <p:spPr>
          <a:xfrm>
            <a:off x="7790216" y="5221753"/>
            <a:ext cx="432262" cy="423949"/>
          </a:xfrm>
          <a:prstGeom prst="rect">
            <a:avLst/>
          </a:prstGeom>
          <a:pattFill prst="wdUpDiag">
            <a:fgClr>
              <a:srgbClr val="EE1A1A"/>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2" name="矩形 91">
            <a:extLst>
              <a:ext uri="{FF2B5EF4-FFF2-40B4-BE49-F238E27FC236}">
                <a16:creationId xmlns:a16="http://schemas.microsoft.com/office/drawing/2014/main" id="{C9EB16D2-D681-4B5C-8897-E8F4A0EBAC72}"/>
              </a:ext>
            </a:extLst>
          </p:cNvPr>
          <p:cNvSpPr/>
          <p:nvPr/>
        </p:nvSpPr>
        <p:spPr>
          <a:xfrm>
            <a:off x="8544145" y="5221753"/>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3" name="矩形 92">
            <a:extLst>
              <a:ext uri="{FF2B5EF4-FFF2-40B4-BE49-F238E27FC236}">
                <a16:creationId xmlns:a16="http://schemas.microsoft.com/office/drawing/2014/main" id="{A6E99869-AF22-442A-89DF-E525F79C9C9D}"/>
              </a:ext>
            </a:extLst>
          </p:cNvPr>
          <p:cNvSpPr/>
          <p:nvPr/>
        </p:nvSpPr>
        <p:spPr>
          <a:xfrm>
            <a:off x="9298074" y="5221753"/>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4" name="矩形 93">
            <a:extLst>
              <a:ext uri="{FF2B5EF4-FFF2-40B4-BE49-F238E27FC236}">
                <a16:creationId xmlns:a16="http://schemas.microsoft.com/office/drawing/2014/main" id="{38F09205-968C-4872-85A1-B329D6D83E50}"/>
              </a:ext>
            </a:extLst>
          </p:cNvPr>
          <p:cNvSpPr/>
          <p:nvPr/>
        </p:nvSpPr>
        <p:spPr>
          <a:xfrm>
            <a:off x="10052003" y="5221753"/>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5" name="矩形 94">
            <a:extLst>
              <a:ext uri="{FF2B5EF4-FFF2-40B4-BE49-F238E27FC236}">
                <a16:creationId xmlns:a16="http://schemas.microsoft.com/office/drawing/2014/main" id="{6AC1140C-424B-4F80-A8FF-2B0F7B87273C}"/>
              </a:ext>
            </a:extLst>
          </p:cNvPr>
          <p:cNvSpPr/>
          <p:nvPr/>
        </p:nvSpPr>
        <p:spPr>
          <a:xfrm>
            <a:off x="10805932" y="5221753"/>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6" name="矩形 95">
            <a:extLst>
              <a:ext uri="{FF2B5EF4-FFF2-40B4-BE49-F238E27FC236}">
                <a16:creationId xmlns:a16="http://schemas.microsoft.com/office/drawing/2014/main" id="{24DCD437-8573-4780-9233-2DBF10B12E94}"/>
              </a:ext>
            </a:extLst>
          </p:cNvPr>
          <p:cNvSpPr/>
          <p:nvPr/>
        </p:nvSpPr>
        <p:spPr>
          <a:xfrm>
            <a:off x="11559859" y="5221752"/>
            <a:ext cx="432262" cy="423949"/>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97" name="文本框 96">
            <a:extLst>
              <a:ext uri="{FF2B5EF4-FFF2-40B4-BE49-F238E27FC236}">
                <a16:creationId xmlns:a16="http://schemas.microsoft.com/office/drawing/2014/main" id="{94073EDB-D480-4FD8-83F3-BF191642CB2D}"/>
              </a:ext>
            </a:extLst>
          </p:cNvPr>
          <p:cNvSpPr txBox="1"/>
          <p:nvPr/>
        </p:nvSpPr>
        <p:spPr>
          <a:xfrm>
            <a:off x="6240256" y="524906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98" name="文本框 97">
            <a:extLst>
              <a:ext uri="{FF2B5EF4-FFF2-40B4-BE49-F238E27FC236}">
                <a16:creationId xmlns:a16="http://schemas.microsoft.com/office/drawing/2014/main" id="{C4C657DB-302B-4E42-836A-3CE173640FAA}"/>
              </a:ext>
            </a:extLst>
          </p:cNvPr>
          <p:cNvSpPr txBox="1"/>
          <p:nvPr/>
        </p:nvSpPr>
        <p:spPr>
          <a:xfrm>
            <a:off x="7036285" y="524906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99" name="文本框 98">
            <a:extLst>
              <a:ext uri="{FF2B5EF4-FFF2-40B4-BE49-F238E27FC236}">
                <a16:creationId xmlns:a16="http://schemas.microsoft.com/office/drawing/2014/main" id="{DB956764-6619-4814-BE0A-185C8B856004}"/>
              </a:ext>
            </a:extLst>
          </p:cNvPr>
          <p:cNvSpPr txBox="1"/>
          <p:nvPr/>
        </p:nvSpPr>
        <p:spPr>
          <a:xfrm>
            <a:off x="7748112" y="524906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00" name="文本框 99">
            <a:extLst>
              <a:ext uri="{FF2B5EF4-FFF2-40B4-BE49-F238E27FC236}">
                <a16:creationId xmlns:a16="http://schemas.microsoft.com/office/drawing/2014/main" id="{ECDD4642-CB8D-44CD-B0EE-4957F9032D48}"/>
              </a:ext>
            </a:extLst>
          </p:cNvPr>
          <p:cNvSpPr txBox="1"/>
          <p:nvPr/>
        </p:nvSpPr>
        <p:spPr>
          <a:xfrm>
            <a:off x="8506902" y="5242362"/>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01" name="文本框 100">
            <a:extLst>
              <a:ext uri="{FF2B5EF4-FFF2-40B4-BE49-F238E27FC236}">
                <a16:creationId xmlns:a16="http://schemas.microsoft.com/office/drawing/2014/main" id="{DE993195-B292-453C-87A3-4EA747D74E31}"/>
              </a:ext>
            </a:extLst>
          </p:cNvPr>
          <p:cNvSpPr txBox="1"/>
          <p:nvPr/>
        </p:nvSpPr>
        <p:spPr>
          <a:xfrm>
            <a:off x="9294565" y="5242362"/>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02" name="文本框 101">
            <a:extLst>
              <a:ext uri="{FF2B5EF4-FFF2-40B4-BE49-F238E27FC236}">
                <a16:creationId xmlns:a16="http://schemas.microsoft.com/office/drawing/2014/main" id="{D2537458-E269-4CCB-A60D-3E8B86027722}"/>
              </a:ext>
            </a:extLst>
          </p:cNvPr>
          <p:cNvSpPr txBox="1"/>
          <p:nvPr/>
        </p:nvSpPr>
        <p:spPr>
          <a:xfrm>
            <a:off x="10052001" y="5250148"/>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03" name="文本框 102">
            <a:extLst>
              <a:ext uri="{FF2B5EF4-FFF2-40B4-BE49-F238E27FC236}">
                <a16:creationId xmlns:a16="http://schemas.microsoft.com/office/drawing/2014/main" id="{14452CE0-3AA0-4B74-970F-B597980FB28D}"/>
              </a:ext>
            </a:extLst>
          </p:cNvPr>
          <p:cNvSpPr txBox="1"/>
          <p:nvPr/>
        </p:nvSpPr>
        <p:spPr>
          <a:xfrm>
            <a:off x="10805930" y="5242362"/>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04" name="文本框 103">
            <a:extLst>
              <a:ext uri="{FF2B5EF4-FFF2-40B4-BE49-F238E27FC236}">
                <a16:creationId xmlns:a16="http://schemas.microsoft.com/office/drawing/2014/main" id="{D7010F18-AAE4-4F81-8821-9909A599300B}"/>
              </a:ext>
            </a:extLst>
          </p:cNvPr>
          <p:cNvSpPr txBox="1"/>
          <p:nvPr/>
        </p:nvSpPr>
        <p:spPr>
          <a:xfrm>
            <a:off x="11543157" y="5249060"/>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05" name="矩形 104">
            <a:extLst>
              <a:ext uri="{FF2B5EF4-FFF2-40B4-BE49-F238E27FC236}">
                <a16:creationId xmlns:a16="http://schemas.microsoft.com/office/drawing/2014/main" id="{B42B6427-8212-4D5D-85C0-5D2F17C1A6B5}"/>
              </a:ext>
            </a:extLst>
          </p:cNvPr>
          <p:cNvSpPr/>
          <p:nvPr/>
        </p:nvSpPr>
        <p:spPr>
          <a:xfrm>
            <a:off x="6282358" y="4489876"/>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06" name="矩形 105">
            <a:extLst>
              <a:ext uri="{FF2B5EF4-FFF2-40B4-BE49-F238E27FC236}">
                <a16:creationId xmlns:a16="http://schemas.microsoft.com/office/drawing/2014/main" id="{207E15AB-CDD7-47EF-A2D1-DEB9EA3DBD56}"/>
              </a:ext>
            </a:extLst>
          </p:cNvPr>
          <p:cNvSpPr/>
          <p:nvPr/>
        </p:nvSpPr>
        <p:spPr>
          <a:xfrm>
            <a:off x="7036287" y="4489876"/>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07" name="矩形 106">
            <a:extLst>
              <a:ext uri="{FF2B5EF4-FFF2-40B4-BE49-F238E27FC236}">
                <a16:creationId xmlns:a16="http://schemas.microsoft.com/office/drawing/2014/main" id="{FE6AD1DC-882F-4FC9-B3A6-FA4866B82E53}"/>
              </a:ext>
            </a:extLst>
          </p:cNvPr>
          <p:cNvSpPr/>
          <p:nvPr/>
        </p:nvSpPr>
        <p:spPr>
          <a:xfrm>
            <a:off x="7790216" y="4489876"/>
            <a:ext cx="432262" cy="423949"/>
          </a:xfrm>
          <a:prstGeom prst="rect">
            <a:avLst/>
          </a:prstGeom>
          <a:pattFill prst="wdUpDiag">
            <a:fgClr>
              <a:srgbClr val="EE1A1A"/>
            </a:fgClr>
            <a:bgClr>
              <a:schemeClr val="bg1"/>
            </a:bgClr>
          </a:patt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08" name="矩形 107">
            <a:extLst>
              <a:ext uri="{FF2B5EF4-FFF2-40B4-BE49-F238E27FC236}">
                <a16:creationId xmlns:a16="http://schemas.microsoft.com/office/drawing/2014/main" id="{51112AA7-8FCA-4C7C-8F90-3A56C61D9FA7}"/>
              </a:ext>
            </a:extLst>
          </p:cNvPr>
          <p:cNvSpPr/>
          <p:nvPr/>
        </p:nvSpPr>
        <p:spPr>
          <a:xfrm>
            <a:off x="8544145" y="4489876"/>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09" name="矩形 108">
            <a:extLst>
              <a:ext uri="{FF2B5EF4-FFF2-40B4-BE49-F238E27FC236}">
                <a16:creationId xmlns:a16="http://schemas.microsoft.com/office/drawing/2014/main" id="{621AE98D-5485-4AB1-BCAF-D9DB31351C32}"/>
              </a:ext>
            </a:extLst>
          </p:cNvPr>
          <p:cNvSpPr/>
          <p:nvPr/>
        </p:nvSpPr>
        <p:spPr>
          <a:xfrm>
            <a:off x="9298074" y="4489876"/>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10" name="矩形 109">
            <a:extLst>
              <a:ext uri="{FF2B5EF4-FFF2-40B4-BE49-F238E27FC236}">
                <a16:creationId xmlns:a16="http://schemas.microsoft.com/office/drawing/2014/main" id="{A8FE3AAC-D9CC-46AA-A105-1BA23E14ABE5}"/>
              </a:ext>
            </a:extLst>
          </p:cNvPr>
          <p:cNvSpPr/>
          <p:nvPr/>
        </p:nvSpPr>
        <p:spPr>
          <a:xfrm>
            <a:off x="10052003" y="4489876"/>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11" name="矩形 110">
            <a:extLst>
              <a:ext uri="{FF2B5EF4-FFF2-40B4-BE49-F238E27FC236}">
                <a16:creationId xmlns:a16="http://schemas.microsoft.com/office/drawing/2014/main" id="{56B05C9B-0B4F-426F-BD58-51554C61FC6D}"/>
              </a:ext>
            </a:extLst>
          </p:cNvPr>
          <p:cNvSpPr/>
          <p:nvPr/>
        </p:nvSpPr>
        <p:spPr>
          <a:xfrm>
            <a:off x="10805932" y="4489876"/>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12" name="矩形 111">
            <a:extLst>
              <a:ext uri="{FF2B5EF4-FFF2-40B4-BE49-F238E27FC236}">
                <a16:creationId xmlns:a16="http://schemas.microsoft.com/office/drawing/2014/main" id="{3C509819-B959-4350-95FA-6E77F627305A}"/>
              </a:ext>
            </a:extLst>
          </p:cNvPr>
          <p:cNvSpPr/>
          <p:nvPr/>
        </p:nvSpPr>
        <p:spPr>
          <a:xfrm>
            <a:off x="11559859" y="4489875"/>
            <a:ext cx="432262" cy="423949"/>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13" name="文本框 112">
            <a:extLst>
              <a:ext uri="{FF2B5EF4-FFF2-40B4-BE49-F238E27FC236}">
                <a16:creationId xmlns:a16="http://schemas.microsoft.com/office/drawing/2014/main" id="{7EF5E629-9589-4043-91AC-897BA5354CE8}"/>
              </a:ext>
            </a:extLst>
          </p:cNvPr>
          <p:cNvSpPr txBox="1"/>
          <p:nvPr/>
        </p:nvSpPr>
        <p:spPr>
          <a:xfrm>
            <a:off x="6240256" y="4517183"/>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14" name="文本框 113">
            <a:extLst>
              <a:ext uri="{FF2B5EF4-FFF2-40B4-BE49-F238E27FC236}">
                <a16:creationId xmlns:a16="http://schemas.microsoft.com/office/drawing/2014/main" id="{9E8DDED5-6EA4-4DC5-A408-4A9EC4F36853}"/>
              </a:ext>
            </a:extLst>
          </p:cNvPr>
          <p:cNvSpPr txBox="1"/>
          <p:nvPr/>
        </p:nvSpPr>
        <p:spPr>
          <a:xfrm>
            <a:off x="6994181" y="4517183"/>
            <a:ext cx="533172"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15" name="文本框 114">
            <a:extLst>
              <a:ext uri="{FF2B5EF4-FFF2-40B4-BE49-F238E27FC236}">
                <a16:creationId xmlns:a16="http://schemas.microsoft.com/office/drawing/2014/main" id="{43B26262-A49F-4B33-ACC0-683AC1973CF4}"/>
              </a:ext>
            </a:extLst>
          </p:cNvPr>
          <p:cNvSpPr txBox="1"/>
          <p:nvPr/>
        </p:nvSpPr>
        <p:spPr>
          <a:xfrm>
            <a:off x="7748112" y="4517183"/>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16" name="文本框 115">
            <a:extLst>
              <a:ext uri="{FF2B5EF4-FFF2-40B4-BE49-F238E27FC236}">
                <a16:creationId xmlns:a16="http://schemas.microsoft.com/office/drawing/2014/main" id="{9D02F008-50AF-4A9A-86B8-36B640B76E00}"/>
              </a:ext>
            </a:extLst>
          </p:cNvPr>
          <p:cNvSpPr txBox="1"/>
          <p:nvPr/>
        </p:nvSpPr>
        <p:spPr>
          <a:xfrm>
            <a:off x="8506902" y="451048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17" name="文本框 116">
            <a:extLst>
              <a:ext uri="{FF2B5EF4-FFF2-40B4-BE49-F238E27FC236}">
                <a16:creationId xmlns:a16="http://schemas.microsoft.com/office/drawing/2014/main" id="{C796C197-3D46-4F55-9B12-42A9D2170E6D}"/>
              </a:ext>
            </a:extLst>
          </p:cNvPr>
          <p:cNvSpPr txBox="1"/>
          <p:nvPr/>
        </p:nvSpPr>
        <p:spPr>
          <a:xfrm>
            <a:off x="9294565" y="451048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18" name="文本框 117">
            <a:extLst>
              <a:ext uri="{FF2B5EF4-FFF2-40B4-BE49-F238E27FC236}">
                <a16:creationId xmlns:a16="http://schemas.microsoft.com/office/drawing/2014/main" id="{F1B13FA8-C501-42A1-B47C-1E214200FF6C}"/>
              </a:ext>
            </a:extLst>
          </p:cNvPr>
          <p:cNvSpPr txBox="1"/>
          <p:nvPr/>
        </p:nvSpPr>
        <p:spPr>
          <a:xfrm>
            <a:off x="10052001" y="4518271"/>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19" name="文本框 118">
            <a:extLst>
              <a:ext uri="{FF2B5EF4-FFF2-40B4-BE49-F238E27FC236}">
                <a16:creationId xmlns:a16="http://schemas.microsoft.com/office/drawing/2014/main" id="{C0366650-4E10-44A3-81B8-26130ECA3FA2}"/>
              </a:ext>
            </a:extLst>
          </p:cNvPr>
          <p:cNvSpPr txBox="1"/>
          <p:nvPr/>
        </p:nvSpPr>
        <p:spPr>
          <a:xfrm>
            <a:off x="10797463" y="4510485"/>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20" name="文本框 119">
            <a:extLst>
              <a:ext uri="{FF2B5EF4-FFF2-40B4-BE49-F238E27FC236}">
                <a16:creationId xmlns:a16="http://schemas.microsoft.com/office/drawing/2014/main" id="{ED4E7CD8-84CD-4BEA-A3DD-976C07136A65}"/>
              </a:ext>
            </a:extLst>
          </p:cNvPr>
          <p:cNvSpPr txBox="1"/>
          <p:nvPr/>
        </p:nvSpPr>
        <p:spPr>
          <a:xfrm>
            <a:off x="11543157" y="4517183"/>
            <a:ext cx="516468"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121" name="矩形 120">
            <a:extLst>
              <a:ext uri="{FF2B5EF4-FFF2-40B4-BE49-F238E27FC236}">
                <a16:creationId xmlns:a16="http://schemas.microsoft.com/office/drawing/2014/main" id="{11039B91-ABFD-49EC-AB13-A5552315CCD0}"/>
              </a:ext>
            </a:extLst>
          </p:cNvPr>
          <p:cNvSpPr/>
          <p:nvPr/>
        </p:nvSpPr>
        <p:spPr>
          <a:xfrm>
            <a:off x="6282358" y="3869369"/>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122" name="矩形 121">
            <a:extLst>
              <a:ext uri="{FF2B5EF4-FFF2-40B4-BE49-F238E27FC236}">
                <a16:creationId xmlns:a16="http://schemas.microsoft.com/office/drawing/2014/main" id="{BCC37E13-73F2-4751-9723-536E4386918A}"/>
              </a:ext>
            </a:extLst>
          </p:cNvPr>
          <p:cNvSpPr/>
          <p:nvPr/>
        </p:nvSpPr>
        <p:spPr>
          <a:xfrm>
            <a:off x="7786377" y="3869369"/>
            <a:ext cx="1186191" cy="369332"/>
          </a:xfrm>
          <a:prstGeom prst="rect">
            <a:avLst/>
          </a:prstGeom>
          <a:pattFill prst="wdUpDiag">
            <a:fgClr>
              <a:srgbClr val="EE1A1A"/>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123" name="矩形 122">
            <a:extLst>
              <a:ext uri="{FF2B5EF4-FFF2-40B4-BE49-F238E27FC236}">
                <a16:creationId xmlns:a16="http://schemas.microsoft.com/office/drawing/2014/main" id="{640AD20C-97CA-49FD-87D9-A1E11C7758D6}"/>
              </a:ext>
            </a:extLst>
          </p:cNvPr>
          <p:cNvSpPr/>
          <p:nvPr/>
        </p:nvSpPr>
        <p:spPr>
          <a:xfrm>
            <a:off x="9286887" y="3869369"/>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124" name="矩形 123">
            <a:extLst>
              <a:ext uri="{FF2B5EF4-FFF2-40B4-BE49-F238E27FC236}">
                <a16:creationId xmlns:a16="http://schemas.microsoft.com/office/drawing/2014/main" id="{E142ED1E-06D2-4944-B9EB-EDEC514A9FFE}"/>
              </a:ext>
            </a:extLst>
          </p:cNvPr>
          <p:cNvSpPr/>
          <p:nvPr/>
        </p:nvSpPr>
        <p:spPr>
          <a:xfrm>
            <a:off x="10787397" y="3869369"/>
            <a:ext cx="1186191"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125" name="矩形 124">
            <a:extLst>
              <a:ext uri="{FF2B5EF4-FFF2-40B4-BE49-F238E27FC236}">
                <a16:creationId xmlns:a16="http://schemas.microsoft.com/office/drawing/2014/main" id="{11BCBC17-CA7C-4CF1-931E-30EC47DE2D35}"/>
              </a:ext>
            </a:extLst>
          </p:cNvPr>
          <p:cNvSpPr/>
          <p:nvPr/>
        </p:nvSpPr>
        <p:spPr>
          <a:xfrm>
            <a:off x="6871254" y="3248090"/>
            <a:ext cx="1507066" cy="369332"/>
          </a:xfrm>
          <a:prstGeom prst="rect">
            <a:avLst/>
          </a:prstGeom>
          <a:pattFill prst="wdUpDiag">
            <a:fgClr>
              <a:srgbClr val="EE1A1A"/>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126" name="矩形 125">
            <a:extLst>
              <a:ext uri="{FF2B5EF4-FFF2-40B4-BE49-F238E27FC236}">
                <a16:creationId xmlns:a16="http://schemas.microsoft.com/office/drawing/2014/main" id="{6E7D322F-16FA-450A-95C3-E115F84ABB99}"/>
              </a:ext>
            </a:extLst>
          </p:cNvPr>
          <p:cNvSpPr/>
          <p:nvPr/>
        </p:nvSpPr>
        <p:spPr>
          <a:xfrm>
            <a:off x="9876920" y="3248090"/>
            <a:ext cx="1507066" cy="36933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127" name="矩形 126">
            <a:extLst>
              <a:ext uri="{FF2B5EF4-FFF2-40B4-BE49-F238E27FC236}">
                <a16:creationId xmlns:a16="http://schemas.microsoft.com/office/drawing/2014/main" id="{015ED637-E56A-484F-8984-476EBA4C2C93}"/>
              </a:ext>
            </a:extLst>
          </p:cNvPr>
          <p:cNvSpPr/>
          <p:nvPr/>
        </p:nvSpPr>
        <p:spPr>
          <a:xfrm>
            <a:off x="8369854" y="2623501"/>
            <a:ext cx="1507066" cy="369332"/>
          </a:xfrm>
          <a:prstGeom prst="rect">
            <a:avLst/>
          </a:prstGeom>
          <a:pattFill prst="wdUpDiag">
            <a:fgClr>
              <a:srgbClr val="EE1A1A"/>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cxnSp>
        <p:nvCxnSpPr>
          <p:cNvPr id="128" name="直线箭头连接符 187">
            <a:extLst>
              <a:ext uri="{FF2B5EF4-FFF2-40B4-BE49-F238E27FC236}">
                <a16:creationId xmlns:a16="http://schemas.microsoft.com/office/drawing/2014/main" id="{2AC36E48-E3F2-47CB-9DF4-1C769706F283}"/>
              </a:ext>
            </a:extLst>
          </p:cNvPr>
          <p:cNvCxnSpPr>
            <a:cxnSpLocks/>
            <a:stCxn id="89" idx="0"/>
            <a:endCxn id="105" idx="2"/>
          </p:cNvCxnSpPr>
          <p:nvPr/>
        </p:nvCxnSpPr>
        <p:spPr>
          <a:xfrm flipV="1">
            <a:off x="6498489" y="4913825"/>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线箭头连接符 188">
            <a:extLst>
              <a:ext uri="{FF2B5EF4-FFF2-40B4-BE49-F238E27FC236}">
                <a16:creationId xmlns:a16="http://schemas.microsoft.com/office/drawing/2014/main" id="{7CBF62A9-D386-4676-9135-5925C4159CA1}"/>
              </a:ext>
            </a:extLst>
          </p:cNvPr>
          <p:cNvCxnSpPr>
            <a:cxnSpLocks/>
          </p:cNvCxnSpPr>
          <p:nvPr/>
        </p:nvCxnSpPr>
        <p:spPr>
          <a:xfrm flipV="1">
            <a:off x="7260489" y="4913824"/>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线箭头连接符 189">
            <a:extLst>
              <a:ext uri="{FF2B5EF4-FFF2-40B4-BE49-F238E27FC236}">
                <a16:creationId xmlns:a16="http://schemas.microsoft.com/office/drawing/2014/main" id="{50FCEFE6-FF68-4BFE-B1C1-DCB9C3CE12AA}"/>
              </a:ext>
            </a:extLst>
          </p:cNvPr>
          <p:cNvCxnSpPr>
            <a:cxnSpLocks/>
          </p:cNvCxnSpPr>
          <p:nvPr/>
        </p:nvCxnSpPr>
        <p:spPr>
          <a:xfrm flipV="1">
            <a:off x="8005556" y="4913824"/>
            <a:ext cx="0" cy="307928"/>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线箭头连接符 190">
            <a:extLst>
              <a:ext uri="{FF2B5EF4-FFF2-40B4-BE49-F238E27FC236}">
                <a16:creationId xmlns:a16="http://schemas.microsoft.com/office/drawing/2014/main" id="{4349D0B6-90CB-4509-A197-0E2EAC3E84B4}"/>
              </a:ext>
            </a:extLst>
          </p:cNvPr>
          <p:cNvCxnSpPr>
            <a:cxnSpLocks/>
          </p:cNvCxnSpPr>
          <p:nvPr/>
        </p:nvCxnSpPr>
        <p:spPr>
          <a:xfrm flipV="1">
            <a:off x="8759089" y="4913824"/>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线箭头连接符 191">
            <a:extLst>
              <a:ext uri="{FF2B5EF4-FFF2-40B4-BE49-F238E27FC236}">
                <a16:creationId xmlns:a16="http://schemas.microsoft.com/office/drawing/2014/main" id="{AFC62D81-735B-4C82-B968-1B24A441A3D3}"/>
              </a:ext>
            </a:extLst>
          </p:cNvPr>
          <p:cNvCxnSpPr>
            <a:cxnSpLocks/>
          </p:cNvCxnSpPr>
          <p:nvPr/>
        </p:nvCxnSpPr>
        <p:spPr>
          <a:xfrm flipV="1">
            <a:off x="9504156" y="4913824"/>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线箭头连接符 192">
            <a:extLst>
              <a:ext uri="{FF2B5EF4-FFF2-40B4-BE49-F238E27FC236}">
                <a16:creationId xmlns:a16="http://schemas.microsoft.com/office/drawing/2014/main" id="{2F538420-5CFA-49F9-8931-8DA5CF1F7D11}"/>
              </a:ext>
            </a:extLst>
          </p:cNvPr>
          <p:cNvCxnSpPr>
            <a:cxnSpLocks/>
          </p:cNvCxnSpPr>
          <p:nvPr/>
        </p:nvCxnSpPr>
        <p:spPr>
          <a:xfrm flipV="1">
            <a:off x="10274623" y="4913824"/>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线箭头连接符 193">
            <a:extLst>
              <a:ext uri="{FF2B5EF4-FFF2-40B4-BE49-F238E27FC236}">
                <a16:creationId xmlns:a16="http://schemas.microsoft.com/office/drawing/2014/main" id="{DA536FFC-2081-48EC-9415-F36DE3175302}"/>
              </a:ext>
            </a:extLst>
          </p:cNvPr>
          <p:cNvCxnSpPr>
            <a:cxnSpLocks/>
          </p:cNvCxnSpPr>
          <p:nvPr/>
        </p:nvCxnSpPr>
        <p:spPr>
          <a:xfrm flipV="1">
            <a:off x="11019690" y="4913824"/>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线箭头连接符 194">
            <a:extLst>
              <a:ext uri="{FF2B5EF4-FFF2-40B4-BE49-F238E27FC236}">
                <a16:creationId xmlns:a16="http://schemas.microsoft.com/office/drawing/2014/main" id="{D3340258-8785-48AB-B29F-A4EFE15E9032}"/>
              </a:ext>
            </a:extLst>
          </p:cNvPr>
          <p:cNvCxnSpPr>
            <a:cxnSpLocks/>
          </p:cNvCxnSpPr>
          <p:nvPr/>
        </p:nvCxnSpPr>
        <p:spPr>
          <a:xfrm flipV="1">
            <a:off x="11773224" y="4913824"/>
            <a:ext cx="0" cy="30792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线箭头连接符 195">
            <a:extLst>
              <a:ext uri="{FF2B5EF4-FFF2-40B4-BE49-F238E27FC236}">
                <a16:creationId xmlns:a16="http://schemas.microsoft.com/office/drawing/2014/main" id="{934236A8-F688-4079-A79A-F9BC35102639}"/>
              </a:ext>
            </a:extLst>
          </p:cNvPr>
          <p:cNvCxnSpPr>
            <a:cxnSpLocks/>
            <a:endCxn id="121" idx="2"/>
          </p:cNvCxnSpPr>
          <p:nvPr/>
        </p:nvCxnSpPr>
        <p:spPr>
          <a:xfrm flipV="1">
            <a:off x="6498489" y="4238701"/>
            <a:ext cx="376965" cy="251174"/>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线箭头连接符 196">
            <a:extLst>
              <a:ext uri="{FF2B5EF4-FFF2-40B4-BE49-F238E27FC236}">
                <a16:creationId xmlns:a16="http://schemas.microsoft.com/office/drawing/2014/main" id="{FDDD690B-58A5-4814-A47C-C9DB6646179F}"/>
              </a:ext>
            </a:extLst>
          </p:cNvPr>
          <p:cNvCxnSpPr>
            <a:cxnSpLocks/>
            <a:stCxn id="106" idx="0"/>
            <a:endCxn id="121" idx="2"/>
          </p:cNvCxnSpPr>
          <p:nvPr/>
        </p:nvCxnSpPr>
        <p:spPr>
          <a:xfrm flipH="1" flipV="1">
            <a:off x="6875454" y="4238701"/>
            <a:ext cx="376964" cy="251175"/>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线箭头连接符 197">
            <a:extLst>
              <a:ext uri="{FF2B5EF4-FFF2-40B4-BE49-F238E27FC236}">
                <a16:creationId xmlns:a16="http://schemas.microsoft.com/office/drawing/2014/main" id="{EAA6861E-6215-4CFA-AF8A-777515D1F984}"/>
              </a:ext>
            </a:extLst>
          </p:cNvPr>
          <p:cNvCxnSpPr>
            <a:cxnSpLocks/>
          </p:cNvCxnSpPr>
          <p:nvPr/>
        </p:nvCxnSpPr>
        <p:spPr>
          <a:xfrm flipV="1">
            <a:off x="7992889" y="4234806"/>
            <a:ext cx="376965" cy="251174"/>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线箭头连接符 198">
            <a:extLst>
              <a:ext uri="{FF2B5EF4-FFF2-40B4-BE49-F238E27FC236}">
                <a16:creationId xmlns:a16="http://schemas.microsoft.com/office/drawing/2014/main" id="{06A4B3CA-C40A-4F57-937C-674C072722EC}"/>
              </a:ext>
            </a:extLst>
          </p:cNvPr>
          <p:cNvCxnSpPr>
            <a:cxnSpLocks/>
          </p:cNvCxnSpPr>
          <p:nvPr/>
        </p:nvCxnSpPr>
        <p:spPr>
          <a:xfrm flipH="1" flipV="1">
            <a:off x="8369823" y="4236552"/>
            <a:ext cx="376964" cy="251175"/>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线箭头连接符 199">
            <a:extLst>
              <a:ext uri="{FF2B5EF4-FFF2-40B4-BE49-F238E27FC236}">
                <a16:creationId xmlns:a16="http://schemas.microsoft.com/office/drawing/2014/main" id="{155A3FD3-BBF8-4964-84E4-204E06D084C5}"/>
              </a:ext>
            </a:extLst>
          </p:cNvPr>
          <p:cNvCxnSpPr>
            <a:cxnSpLocks/>
          </p:cNvCxnSpPr>
          <p:nvPr/>
        </p:nvCxnSpPr>
        <p:spPr>
          <a:xfrm flipH="1" flipV="1">
            <a:off x="9875403" y="4234806"/>
            <a:ext cx="376964" cy="251175"/>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线箭头连接符 200">
            <a:extLst>
              <a:ext uri="{FF2B5EF4-FFF2-40B4-BE49-F238E27FC236}">
                <a16:creationId xmlns:a16="http://schemas.microsoft.com/office/drawing/2014/main" id="{686145B9-4C70-4A8B-B0C0-1C65FEEE5B16}"/>
              </a:ext>
            </a:extLst>
          </p:cNvPr>
          <p:cNvCxnSpPr>
            <a:cxnSpLocks/>
          </p:cNvCxnSpPr>
          <p:nvPr/>
        </p:nvCxnSpPr>
        <p:spPr>
          <a:xfrm flipH="1" flipV="1">
            <a:off x="11379422" y="4229939"/>
            <a:ext cx="376964" cy="251175"/>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线箭头连接符 201">
            <a:extLst>
              <a:ext uri="{FF2B5EF4-FFF2-40B4-BE49-F238E27FC236}">
                <a16:creationId xmlns:a16="http://schemas.microsoft.com/office/drawing/2014/main" id="{1832235A-729C-42D4-B408-D77C8BDD0961}"/>
              </a:ext>
            </a:extLst>
          </p:cNvPr>
          <p:cNvCxnSpPr>
            <a:cxnSpLocks/>
            <a:stCxn id="124" idx="0"/>
          </p:cNvCxnSpPr>
          <p:nvPr/>
        </p:nvCxnSpPr>
        <p:spPr>
          <a:xfrm flipH="1" flipV="1">
            <a:off x="10630453" y="3611285"/>
            <a:ext cx="750040" cy="258084"/>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线箭头连接符 202">
            <a:extLst>
              <a:ext uri="{FF2B5EF4-FFF2-40B4-BE49-F238E27FC236}">
                <a16:creationId xmlns:a16="http://schemas.microsoft.com/office/drawing/2014/main" id="{40857161-FF3E-46E4-A794-729481A11B67}"/>
              </a:ext>
            </a:extLst>
          </p:cNvPr>
          <p:cNvCxnSpPr>
            <a:cxnSpLocks/>
            <a:stCxn id="126" idx="0"/>
          </p:cNvCxnSpPr>
          <p:nvPr/>
        </p:nvCxnSpPr>
        <p:spPr>
          <a:xfrm flipH="1" flipV="1">
            <a:off x="9123387" y="2993172"/>
            <a:ext cx="1507066" cy="254918"/>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线箭头连接符 203">
            <a:extLst>
              <a:ext uri="{FF2B5EF4-FFF2-40B4-BE49-F238E27FC236}">
                <a16:creationId xmlns:a16="http://schemas.microsoft.com/office/drawing/2014/main" id="{CB8EC2A0-4C47-49CC-96AF-54596239D59A}"/>
              </a:ext>
            </a:extLst>
          </p:cNvPr>
          <p:cNvCxnSpPr>
            <a:cxnSpLocks/>
          </p:cNvCxnSpPr>
          <p:nvPr/>
        </p:nvCxnSpPr>
        <p:spPr>
          <a:xfrm flipV="1">
            <a:off x="9516252" y="4234806"/>
            <a:ext cx="376965" cy="251174"/>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线箭头连接符 204">
            <a:extLst>
              <a:ext uri="{FF2B5EF4-FFF2-40B4-BE49-F238E27FC236}">
                <a16:creationId xmlns:a16="http://schemas.microsoft.com/office/drawing/2014/main" id="{0668D2D0-BC6A-482B-ACAF-1FFCC00C1D65}"/>
              </a:ext>
            </a:extLst>
          </p:cNvPr>
          <p:cNvCxnSpPr>
            <a:cxnSpLocks/>
          </p:cNvCxnSpPr>
          <p:nvPr/>
        </p:nvCxnSpPr>
        <p:spPr>
          <a:xfrm flipV="1">
            <a:off x="11022061" y="4234806"/>
            <a:ext cx="376965" cy="251174"/>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线箭头连接符 205">
            <a:extLst>
              <a:ext uri="{FF2B5EF4-FFF2-40B4-BE49-F238E27FC236}">
                <a16:creationId xmlns:a16="http://schemas.microsoft.com/office/drawing/2014/main" id="{BADAEBDD-9631-44F5-9539-7D2BBAFC4050}"/>
              </a:ext>
            </a:extLst>
          </p:cNvPr>
          <p:cNvCxnSpPr>
            <a:cxnSpLocks/>
            <a:stCxn id="121" idx="0"/>
          </p:cNvCxnSpPr>
          <p:nvPr/>
        </p:nvCxnSpPr>
        <p:spPr>
          <a:xfrm flipV="1">
            <a:off x="6875454" y="3627125"/>
            <a:ext cx="727266" cy="242244"/>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线箭头连接符 206">
            <a:extLst>
              <a:ext uri="{FF2B5EF4-FFF2-40B4-BE49-F238E27FC236}">
                <a16:creationId xmlns:a16="http://schemas.microsoft.com/office/drawing/2014/main" id="{FF75FFE3-4304-4601-AEDB-EA582C512C5E}"/>
              </a:ext>
            </a:extLst>
          </p:cNvPr>
          <p:cNvCxnSpPr>
            <a:cxnSpLocks/>
          </p:cNvCxnSpPr>
          <p:nvPr/>
        </p:nvCxnSpPr>
        <p:spPr>
          <a:xfrm flipV="1">
            <a:off x="9899694" y="3609355"/>
            <a:ext cx="727266" cy="242244"/>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线箭头连接符 207">
            <a:extLst>
              <a:ext uri="{FF2B5EF4-FFF2-40B4-BE49-F238E27FC236}">
                <a16:creationId xmlns:a16="http://schemas.microsoft.com/office/drawing/2014/main" id="{5205C223-5375-4A02-BF6C-1E0629914DA7}"/>
              </a:ext>
            </a:extLst>
          </p:cNvPr>
          <p:cNvCxnSpPr>
            <a:cxnSpLocks/>
          </p:cNvCxnSpPr>
          <p:nvPr/>
        </p:nvCxnSpPr>
        <p:spPr>
          <a:xfrm flipH="1" flipV="1">
            <a:off x="7583345" y="3619205"/>
            <a:ext cx="750040" cy="258084"/>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线箭头连接符 208">
            <a:extLst>
              <a:ext uri="{FF2B5EF4-FFF2-40B4-BE49-F238E27FC236}">
                <a16:creationId xmlns:a16="http://schemas.microsoft.com/office/drawing/2014/main" id="{952A07B5-B986-4B73-ADBA-47222EFC08D7}"/>
              </a:ext>
            </a:extLst>
          </p:cNvPr>
          <p:cNvCxnSpPr>
            <a:cxnSpLocks/>
            <a:stCxn id="125" idx="0"/>
          </p:cNvCxnSpPr>
          <p:nvPr/>
        </p:nvCxnSpPr>
        <p:spPr>
          <a:xfrm flipV="1">
            <a:off x="7624787" y="2982422"/>
            <a:ext cx="1501933" cy="265668"/>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150" name="十字形 149">
            <a:extLst>
              <a:ext uri="{FF2B5EF4-FFF2-40B4-BE49-F238E27FC236}">
                <a16:creationId xmlns:a16="http://schemas.microsoft.com/office/drawing/2014/main" id="{7F8711F9-BAD0-4576-A200-C2CFF4DC5E2E}"/>
              </a:ext>
            </a:extLst>
          </p:cNvPr>
          <p:cNvSpPr/>
          <p:nvPr/>
        </p:nvSpPr>
        <p:spPr>
          <a:xfrm>
            <a:off x="6778088" y="4307285"/>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51" name="十字形 150">
            <a:extLst>
              <a:ext uri="{FF2B5EF4-FFF2-40B4-BE49-F238E27FC236}">
                <a16:creationId xmlns:a16="http://schemas.microsoft.com/office/drawing/2014/main" id="{C1880D2B-C940-4ECD-8357-9D13916AB1C3}"/>
              </a:ext>
            </a:extLst>
          </p:cNvPr>
          <p:cNvSpPr/>
          <p:nvPr/>
        </p:nvSpPr>
        <p:spPr>
          <a:xfrm>
            <a:off x="8278876" y="4294159"/>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52" name="十字形 151">
            <a:extLst>
              <a:ext uri="{FF2B5EF4-FFF2-40B4-BE49-F238E27FC236}">
                <a16:creationId xmlns:a16="http://schemas.microsoft.com/office/drawing/2014/main" id="{CCB8CC07-48EA-4436-A862-85F5FD8C3C3A}"/>
              </a:ext>
            </a:extLst>
          </p:cNvPr>
          <p:cNvSpPr/>
          <p:nvPr/>
        </p:nvSpPr>
        <p:spPr>
          <a:xfrm>
            <a:off x="9784368" y="4284527"/>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53" name="十字形 152">
            <a:extLst>
              <a:ext uri="{FF2B5EF4-FFF2-40B4-BE49-F238E27FC236}">
                <a16:creationId xmlns:a16="http://schemas.microsoft.com/office/drawing/2014/main" id="{A2A3CCD7-D7B7-409A-B162-061D07360994}"/>
              </a:ext>
            </a:extLst>
          </p:cNvPr>
          <p:cNvSpPr/>
          <p:nvPr/>
        </p:nvSpPr>
        <p:spPr>
          <a:xfrm>
            <a:off x="11279410" y="4302419"/>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54" name="十字形 153">
            <a:extLst>
              <a:ext uri="{FF2B5EF4-FFF2-40B4-BE49-F238E27FC236}">
                <a16:creationId xmlns:a16="http://schemas.microsoft.com/office/drawing/2014/main" id="{9D9FFF31-5901-4AAF-9BC4-A2AA98F83151}"/>
              </a:ext>
            </a:extLst>
          </p:cNvPr>
          <p:cNvSpPr/>
          <p:nvPr/>
        </p:nvSpPr>
        <p:spPr>
          <a:xfrm>
            <a:off x="7502867" y="3654414"/>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55" name="十字形 154">
            <a:extLst>
              <a:ext uri="{FF2B5EF4-FFF2-40B4-BE49-F238E27FC236}">
                <a16:creationId xmlns:a16="http://schemas.microsoft.com/office/drawing/2014/main" id="{EE632DFA-E779-4DF5-8C65-95938A6FAE68}"/>
              </a:ext>
            </a:extLst>
          </p:cNvPr>
          <p:cNvSpPr/>
          <p:nvPr/>
        </p:nvSpPr>
        <p:spPr>
          <a:xfrm>
            <a:off x="10523483" y="3654414"/>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56" name="十字形 155">
            <a:extLst>
              <a:ext uri="{FF2B5EF4-FFF2-40B4-BE49-F238E27FC236}">
                <a16:creationId xmlns:a16="http://schemas.microsoft.com/office/drawing/2014/main" id="{5E67DB91-42D4-4BD2-B313-291CE620A0A2}"/>
              </a:ext>
            </a:extLst>
          </p:cNvPr>
          <p:cNvSpPr/>
          <p:nvPr/>
        </p:nvSpPr>
        <p:spPr>
          <a:xfrm>
            <a:off x="9023566" y="3019501"/>
            <a:ext cx="203200" cy="203200"/>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cxnSp>
        <p:nvCxnSpPr>
          <p:cNvPr id="157" name="直线箭头连接符 219">
            <a:extLst>
              <a:ext uri="{FF2B5EF4-FFF2-40B4-BE49-F238E27FC236}">
                <a16:creationId xmlns:a16="http://schemas.microsoft.com/office/drawing/2014/main" id="{2473401E-42E1-45B9-8941-904D6A840D40}"/>
              </a:ext>
            </a:extLst>
          </p:cNvPr>
          <p:cNvCxnSpPr>
            <a:cxnSpLocks/>
          </p:cNvCxnSpPr>
          <p:nvPr/>
        </p:nvCxnSpPr>
        <p:spPr>
          <a:xfrm flipV="1">
            <a:off x="8015428" y="5655105"/>
            <a:ext cx="0" cy="3058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矩形 157">
            <a:extLst>
              <a:ext uri="{FF2B5EF4-FFF2-40B4-BE49-F238E27FC236}">
                <a16:creationId xmlns:a16="http://schemas.microsoft.com/office/drawing/2014/main" id="{C10F1EF8-E905-4D76-BCC5-6035C5A2028A}"/>
              </a:ext>
            </a:extLst>
          </p:cNvPr>
          <p:cNvSpPr/>
          <p:nvPr/>
        </p:nvSpPr>
        <p:spPr>
          <a:xfrm>
            <a:off x="3459755" y="2282328"/>
            <a:ext cx="2587496" cy="646331"/>
          </a:xfrm>
          <a:prstGeom prst="rect">
            <a:avLst/>
          </a:prstGeom>
          <a:solidFill>
            <a:schemeClr val="accent3">
              <a:lumMod val="20000"/>
              <a:lumOff val="80000"/>
            </a:schemeClr>
          </a:solidFill>
          <a:ln w="19050">
            <a:solidFill>
              <a:srgbClr val="002060"/>
            </a:solidFill>
            <a:prstDash val="dash"/>
          </a:ln>
        </p:spPr>
        <p:txBody>
          <a:bodyPr wrap="square">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修改区块体，后面的区块也会变化吗？</a:t>
            </a:r>
            <a:endParaRPr lang="zh-CN" altLang="en-US" dirty="0"/>
          </a:p>
        </p:txBody>
      </p:sp>
      <p:pic>
        <p:nvPicPr>
          <p:cNvPr id="159" name="图片 158">
            <a:extLst>
              <a:ext uri="{FF2B5EF4-FFF2-40B4-BE49-F238E27FC236}">
                <a16:creationId xmlns:a16="http://schemas.microsoft.com/office/drawing/2014/main" id="{864003DB-259B-4505-B9AF-4A6185C897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672" y="1619101"/>
            <a:ext cx="601662" cy="601662"/>
          </a:xfrm>
          <a:prstGeom prst="rect">
            <a:avLst/>
          </a:prstGeom>
        </p:spPr>
      </p:pic>
      <p:pic>
        <p:nvPicPr>
          <p:cNvPr id="160" name="图片 159">
            <a:extLst>
              <a:ext uri="{FF2B5EF4-FFF2-40B4-BE49-F238E27FC236}">
                <a16:creationId xmlns:a16="http://schemas.microsoft.com/office/drawing/2014/main" id="{B103B5C6-A483-47A6-A416-373BB935B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7896" y="6021390"/>
            <a:ext cx="285750" cy="285750"/>
          </a:xfrm>
          <a:prstGeom prst="rect">
            <a:avLst/>
          </a:prstGeom>
        </p:spPr>
      </p:pic>
      <p:sp>
        <p:nvSpPr>
          <p:cNvPr id="161" name="文本框 160">
            <a:extLst>
              <a:ext uri="{FF2B5EF4-FFF2-40B4-BE49-F238E27FC236}">
                <a16:creationId xmlns:a16="http://schemas.microsoft.com/office/drawing/2014/main" id="{30B89DA2-6D94-4A43-A00A-D9A30F0F8D50}"/>
              </a:ext>
            </a:extLst>
          </p:cNvPr>
          <p:cNvSpPr txBox="1"/>
          <p:nvPr/>
        </p:nvSpPr>
        <p:spPr>
          <a:xfrm>
            <a:off x="8086952" y="6026026"/>
            <a:ext cx="902811" cy="307777"/>
          </a:xfrm>
          <a:prstGeom prst="rect">
            <a:avLst/>
          </a:prstGeom>
          <a:noFill/>
        </p:spPr>
        <p:txBody>
          <a:bodyPr wrap="none" rtlCol="0">
            <a:spAutoFit/>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恶意节点</a:t>
            </a:r>
          </a:p>
        </p:txBody>
      </p:sp>
      <p:sp>
        <p:nvSpPr>
          <p:cNvPr id="162" name="矩形 161">
            <a:extLst>
              <a:ext uri="{FF2B5EF4-FFF2-40B4-BE49-F238E27FC236}">
                <a16:creationId xmlns:a16="http://schemas.microsoft.com/office/drawing/2014/main" id="{73684204-3515-4F88-9F6E-EEA63C5421D9}"/>
              </a:ext>
            </a:extLst>
          </p:cNvPr>
          <p:cNvSpPr/>
          <p:nvPr/>
        </p:nvSpPr>
        <p:spPr>
          <a:xfrm>
            <a:off x="8295594" y="173154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63" name="矩形 162">
            <a:extLst>
              <a:ext uri="{FF2B5EF4-FFF2-40B4-BE49-F238E27FC236}">
                <a16:creationId xmlns:a16="http://schemas.microsoft.com/office/drawing/2014/main" id="{FB5C0CBC-5EE2-41C5-8277-EA6C2F9B2012}"/>
              </a:ext>
            </a:extLst>
          </p:cNvPr>
          <p:cNvSpPr/>
          <p:nvPr/>
        </p:nvSpPr>
        <p:spPr>
          <a:xfrm>
            <a:off x="8295077" y="1835995"/>
            <a:ext cx="432262" cy="5713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4" name="矩形 163">
            <a:extLst>
              <a:ext uri="{FF2B5EF4-FFF2-40B4-BE49-F238E27FC236}">
                <a16:creationId xmlns:a16="http://schemas.microsoft.com/office/drawing/2014/main" id="{43AC8E32-3F8C-4F42-ACD0-E0B2653538C6}"/>
              </a:ext>
            </a:extLst>
          </p:cNvPr>
          <p:cNvSpPr/>
          <p:nvPr/>
        </p:nvSpPr>
        <p:spPr>
          <a:xfrm>
            <a:off x="6839254" y="1679597"/>
            <a:ext cx="1462323" cy="307777"/>
          </a:xfrm>
          <a:prstGeom prst="rect">
            <a:avLst/>
          </a:prstGeom>
        </p:spPr>
        <p:txBody>
          <a:bodyPr wrap="none">
            <a:spAutoFit/>
          </a:bodyPr>
          <a:lstStyle/>
          <a:p>
            <a:pPr algn="ctr"/>
            <a:r>
              <a:rPr kumimoji="1" lang="en-US" altLang="zh-CN" sz="1400" dirty="0">
                <a:latin typeface="Times New Roman" panose="02020603050405020304" pitchFamily="18" charset="0"/>
                <a:cs typeface="Times New Roman" panose="02020603050405020304" pitchFamily="18" charset="0"/>
              </a:rPr>
              <a:t>Merkle Tree Root</a:t>
            </a:r>
            <a:endParaRPr kumimoji="1" lang="zh-CN" altLang="en-US" sz="1400" dirty="0">
              <a:latin typeface="Times New Roman" panose="02020603050405020304" pitchFamily="18" charset="0"/>
              <a:cs typeface="Times New Roman" panose="02020603050405020304" pitchFamily="18" charset="0"/>
            </a:endParaRPr>
          </a:p>
        </p:txBody>
      </p:sp>
      <p:sp>
        <p:nvSpPr>
          <p:cNvPr id="165" name="矩形 164">
            <a:extLst>
              <a:ext uri="{FF2B5EF4-FFF2-40B4-BE49-F238E27FC236}">
                <a16:creationId xmlns:a16="http://schemas.microsoft.com/office/drawing/2014/main" id="{E1550407-AB74-4EEC-ACFD-26D53925A344}"/>
              </a:ext>
            </a:extLst>
          </p:cNvPr>
          <p:cNvSpPr/>
          <p:nvPr/>
        </p:nvSpPr>
        <p:spPr>
          <a:xfrm>
            <a:off x="9070756" y="1730116"/>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66" name="矩形 165">
            <a:extLst>
              <a:ext uri="{FF2B5EF4-FFF2-40B4-BE49-F238E27FC236}">
                <a16:creationId xmlns:a16="http://schemas.microsoft.com/office/drawing/2014/main" id="{2C776B7E-34BD-4E37-B354-31E87BAB96F6}"/>
              </a:ext>
            </a:extLst>
          </p:cNvPr>
          <p:cNvSpPr/>
          <p:nvPr/>
        </p:nvSpPr>
        <p:spPr>
          <a:xfrm>
            <a:off x="9845918" y="1730116"/>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67" name="直线箭头连接符 81">
            <a:extLst>
              <a:ext uri="{FF2B5EF4-FFF2-40B4-BE49-F238E27FC236}">
                <a16:creationId xmlns:a16="http://schemas.microsoft.com/office/drawing/2014/main" id="{1BE16C76-7ECC-4A2A-810A-D03486BB3349}"/>
              </a:ext>
            </a:extLst>
          </p:cNvPr>
          <p:cNvCxnSpPr>
            <a:cxnSpLocks/>
          </p:cNvCxnSpPr>
          <p:nvPr/>
        </p:nvCxnSpPr>
        <p:spPr>
          <a:xfrm flipH="1">
            <a:off x="9503018" y="1942090"/>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线箭头连接符 82">
            <a:extLst>
              <a:ext uri="{FF2B5EF4-FFF2-40B4-BE49-F238E27FC236}">
                <a16:creationId xmlns:a16="http://schemas.microsoft.com/office/drawing/2014/main" id="{A47BC43F-9F99-41AA-BAA8-9679CB42145A}"/>
              </a:ext>
            </a:extLst>
          </p:cNvPr>
          <p:cNvCxnSpPr>
            <a:cxnSpLocks/>
          </p:cNvCxnSpPr>
          <p:nvPr/>
        </p:nvCxnSpPr>
        <p:spPr>
          <a:xfrm flipH="1">
            <a:off x="10278180" y="1942090"/>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9" name="矩形 168">
            <a:extLst>
              <a:ext uri="{FF2B5EF4-FFF2-40B4-BE49-F238E27FC236}">
                <a16:creationId xmlns:a16="http://schemas.microsoft.com/office/drawing/2014/main" id="{0935BD74-E380-4819-AB36-2485687D6944}"/>
              </a:ext>
            </a:extLst>
          </p:cNvPr>
          <p:cNvSpPr/>
          <p:nvPr/>
        </p:nvSpPr>
        <p:spPr>
          <a:xfrm>
            <a:off x="10621080" y="1730116"/>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70" name="矩形 169">
            <a:extLst>
              <a:ext uri="{FF2B5EF4-FFF2-40B4-BE49-F238E27FC236}">
                <a16:creationId xmlns:a16="http://schemas.microsoft.com/office/drawing/2014/main" id="{C128179E-E39F-4065-9E18-AA228A280876}"/>
              </a:ext>
            </a:extLst>
          </p:cNvPr>
          <p:cNvSpPr/>
          <p:nvPr/>
        </p:nvSpPr>
        <p:spPr>
          <a:xfrm>
            <a:off x="9070756" y="1515080"/>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71" name="直接箭头连接符 170">
            <a:extLst>
              <a:ext uri="{FF2B5EF4-FFF2-40B4-BE49-F238E27FC236}">
                <a16:creationId xmlns:a16="http://schemas.microsoft.com/office/drawing/2014/main" id="{885BEEDC-DEE7-4923-8905-DB2AFE2BF7DA}"/>
              </a:ext>
            </a:extLst>
          </p:cNvPr>
          <p:cNvCxnSpPr>
            <a:cxnSpLocks/>
            <a:stCxn id="182" idx="0"/>
            <a:endCxn id="170" idx="2"/>
          </p:cNvCxnSpPr>
          <p:nvPr/>
        </p:nvCxnSpPr>
        <p:spPr>
          <a:xfrm flipH="1" flipV="1">
            <a:off x="9286887" y="1614739"/>
            <a:ext cx="194" cy="207495"/>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2" name="矩形 171">
            <a:extLst>
              <a:ext uri="{FF2B5EF4-FFF2-40B4-BE49-F238E27FC236}">
                <a16:creationId xmlns:a16="http://schemas.microsoft.com/office/drawing/2014/main" id="{FBB46122-8319-49A7-BF8F-3779E00B90B4}"/>
              </a:ext>
            </a:extLst>
          </p:cNvPr>
          <p:cNvSpPr/>
          <p:nvPr/>
        </p:nvSpPr>
        <p:spPr>
          <a:xfrm>
            <a:off x="9848455" y="1822234"/>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73" name="直接箭头连接符 172">
            <a:extLst>
              <a:ext uri="{FF2B5EF4-FFF2-40B4-BE49-F238E27FC236}">
                <a16:creationId xmlns:a16="http://schemas.microsoft.com/office/drawing/2014/main" id="{E7E5B9DF-E5DE-4959-89DD-987A10E27EEB}"/>
              </a:ext>
            </a:extLst>
          </p:cNvPr>
          <p:cNvCxnSpPr>
            <a:cxnSpLocks/>
            <a:stCxn id="172" idx="1"/>
          </p:cNvCxnSpPr>
          <p:nvPr/>
        </p:nvCxnSpPr>
        <p:spPr>
          <a:xfrm flipH="1" flipV="1">
            <a:off x="9503019" y="1564910"/>
            <a:ext cx="345436" cy="307154"/>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174" name="矩形 173">
            <a:extLst>
              <a:ext uri="{FF2B5EF4-FFF2-40B4-BE49-F238E27FC236}">
                <a16:creationId xmlns:a16="http://schemas.microsoft.com/office/drawing/2014/main" id="{9319D178-9AFE-48D2-B3C1-8E3423630806}"/>
              </a:ext>
            </a:extLst>
          </p:cNvPr>
          <p:cNvSpPr/>
          <p:nvPr/>
        </p:nvSpPr>
        <p:spPr>
          <a:xfrm>
            <a:off x="9845918" y="1513634"/>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75" name="直接箭头连接符 174">
            <a:extLst>
              <a:ext uri="{FF2B5EF4-FFF2-40B4-BE49-F238E27FC236}">
                <a16:creationId xmlns:a16="http://schemas.microsoft.com/office/drawing/2014/main" id="{DED7A596-B1BE-47D4-845D-C74E9EC596D2}"/>
              </a:ext>
            </a:extLst>
          </p:cNvPr>
          <p:cNvCxnSpPr>
            <a:cxnSpLocks/>
            <a:stCxn id="172" idx="0"/>
            <a:endCxn id="174" idx="2"/>
          </p:cNvCxnSpPr>
          <p:nvPr/>
        </p:nvCxnSpPr>
        <p:spPr>
          <a:xfrm flipH="1" flipV="1">
            <a:off x="10062049" y="1613293"/>
            <a:ext cx="2537" cy="208941"/>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6" name="矩形 175">
            <a:extLst>
              <a:ext uri="{FF2B5EF4-FFF2-40B4-BE49-F238E27FC236}">
                <a16:creationId xmlns:a16="http://schemas.microsoft.com/office/drawing/2014/main" id="{B6E2D00C-1B25-4DB7-9AF2-5515220E87B0}"/>
              </a:ext>
            </a:extLst>
          </p:cNvPr>
          <p:cNvSpPr/>
          <p:nvPr/>
        </p:nvSpPr>
        <p:spPr>
          <a:xfrm>
            <a:off x="10623617" y="1822234"/>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77" name="直接箭头连接符 176">
            <a:extLst>
              <a:ext uri="{FF2B5EF4-FFF2-40B4-BE49-F238E27FC236}">
                <a16:creationId xmlns:a16="http://schemas.microsoft.com/office/drawing/2014/main" id="{E30F9E10-CB37-4DEF-80E7-FD7A0E6F74FE}"/>
              </a:ext>
            </a:extLst>
          </p:cNvPr>
          <p:cNvCxnSpPr>
            <a:cxnSpLocks/>
          </p:cNvCxnSpPr>
          <p:nvPr/>
        </p:nvCxnSpPr>
        <p:spPr>
          <a:xfrm flipH="1" flipV="1">
            <a:off x="10269722" y="1555284"/>
            <a:ext cx="345436" cy="301986"/>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178" name="矩形 177">
            <a:extLst>
              <a:ext uri="{FF2B5EF4-FFF2-40B4-BE49-F238E27FC236}">
                <a16:creationId xmlns:a16="http://schemas.microsoft.com/office/drawing/2014/main" id="{75271B3F-C6C6-4DD9-A878-5C12AB66A1BF}"/>
              </a:ext>
            </a:extLst>
          </p:cNvPr>
          <p:cNvSpPr/>
          <p:nvPr/>
        </p:nvSpPr>
        <p:spPr>
          <a:xfrm>
            <a:off x="10623617" y="1513633"/>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79" name="直接箭头连接符 178">
            <a:extLst>
              <a:ext uri="{FF2B5EF4-FFF2-40B4-BE49-F238E27FC236}">
                <a16:creationId xmlns:a16="http://schemas.microsoft.com/office/drawing/2014/main" id="{C5E9110A-11A1-4A32-90A7-B554EBEC0309}"/>
              </a:ext>
            </a:extLst>
          </p:cNvPr>
          <p:cNvCxnSpPr>
            <a:cxnSpLocks/>
          </p:cNvCxnSpPr>
          <p:nvPr/>
        </p:nvCxnSpPr>
        <p:spPr>
          <a:xfrm flipH="1" flipV="1">
            <a:off x="10838579" y="1618580"/>
            <a:ext cx="2537" cy="208941"/>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0" name="矩形 179">
            <a:extLst>
              <a:ext uri="{FF2B5EF4-FFF2-40B4-BE49-F238E27FC236}">
                <a16:creationId xmlns:a16="http://schemas.microsoft.com/office/drawing/2014/main" id="{0F0B6359-CBB6-474B-9E11-759CBC31F933}"/>
              </a:ext>
            </a:extLst>
          </p:cNvPr>
          <p:cNvSpPr/>
          <p:nvPr/>
        </p:nvSpPr>
        <p:spPr>
          <a:xfrm>
            <a:off x="8293275" y="1515896"/>
            <a:ext cx="432262" cy="99659"/>
          </a:xfrm>
          <a:prstGeom prst="rect">
            <a:avLst/>
          </a:prstGeom>
          <a:pattFill prst="dkVert">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81" name="直接箭头连接符 180">
            <a:extLst>
              <a:ext uri="{FF2B5EF4-FFF2-40B4-BE49-F238E27FC236}">
                <a16:creationId xmlns:a16="http://schemas.microsoft.com/office/drawing/2014/main" id="{0948A91D-2AAE-469A-9D36-55CF216572F5}"/>
              </a:ext>
            </a:extLst>
          </p:cNvPr>
          <p:cNvCxnSpPr>
            <a:cxnSpLocks/>
            <a:stCxn id="163" idx="0"/>
          </p:cNvCxnSpPr>
          <p:nvPr/>
        </p:nvCxnSpPr>
        <p:spPr>
          <a:xfrm flipH="1" flipV="1">
            <a:off x="8506902" y="1614741"/>
            <a:ext cx="4306" cy="221254"/>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2" name="矩形 181">
            <a:extLst>
              <a:ext uri="{FF2B5EF4-FFF2-40B4-BE49-F238E27FC236}">
                <a16:creationId xmlns:a16="http://schemas.microsoft.com/office/drawing/2014/main" id="{04D3E621-AA7E-4FEE-BED2-8004AC5BAE1E}"/>
              </a:ext>
            </a:extLst>
          </p:cNvPr>
          <p:cNvSpPr/>
          <p:nvPr/>
        </p:nvSpPr>
        <p:spPr>
          <a:xfrm>
            <a:off x="9070950" y="1822234"/>
            <a:ext cx="432262" cy="99659"/>
          </a:xfrm>
          <a:prstGeom prst="rect">
            <a:avLst/>
          </a:prstGeom>
          <a:pattFill prst="horzBrick">
            <a:fgClr>
              <a:srgbClr val="C00000"/>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83" name="直接箭头连接符 182">
            <a:extLst>
              <a:ext uri="{FF2B5EF4-FFF2-40B4-BE49-F238E27FC236}">
                <a16:creationId xmlns:a16="http://schemas.microsoft.com/office/drawing/2014/main" id="{D22C38E2-E233-4233-8E03-CCCEDF79C5A5}"/>
              </a:ext>
            </a:extLst>
          </p:cNvPr>
          <p:cNvCxnSpPr>
            <a:cxnSpLocks/>
          </p:cNvCxnSpPr>
          <p:nvPr/>
        </p:nvCxnSpPr>
        <p:spPr>
          <a:xfrm flipH="1" flipV="1">
            <a:off x="8732579" y="1572943"/>
            <a:ext cx="345436" cy="307154"/>
          </a:xfrm>
          <a:prstGeom prst="straightConnector1">
            <a:avLst/>
          </a:prstGeom>
          <a:ln w="127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连接符: 肘形 183">
            <a:extLst>
              <a:ext uri="{FF2B5EF4-FFF2-40B4-BE49-F238E27FC236}">
                <a16:creationId xmlns:a16="http://schemas.microsoft.com/office/drawing/2014/main" id="{CC838733-B9FE-4000-834A-FF2849B988CE}"/>
              </a:ext>
            </a:extLst>
          </p:cNvPr>
          <p:cNvCxnSpPr>
            <a:stCxn id="127" idx="0"/>
            <a:endCxn id="163" idx="2"/>
          </p:cNvCxnSpPr>
          <p:nvPr/>
        </p:nvCxnSpPr>
        <p:spPr>
          <a:xfrm rot="16200000" flipV="1">
            <a:off x="8452112" y="1952225"/>
            <a:ext cx="730373" cy="612179"/>
          </a:xfrm>
          <a:prstGeom prst="bentConnector3">
            <a:avLst/>
          </a:prstGeom>
          <a:ln w="1905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5" name="直线箭头连接符 81">
            <a:extLst>
              <a:ext uri="{FF2B5EF4-FFF2-40B4-BE49-F238E27FC236}">
                <a16:creationId xmlns:a16="http://schemas.microsoft.com/office/drawing/2014/main" id="{A2FC0F57-979B-4A3B-AD48-18D23FEB19AF}"/>
              </a:ext>
            </a:extLst>
          </p:cNvPr>
          <p:cNvCxnSpPr>
            <a:cxnSpLocks/>
          </p:cNvCxnSpPr>
          <p:nvPr/>
        </p:nvCxnSpPr>
        <p:spPr>
          <a:xfrm flipH="1">
            <a:off x="8725537" y="1942090"/>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91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6"/>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2"/>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8"/>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9"/>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0"/>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4"/>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7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4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4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60"/>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6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67"/>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88"/>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82"/>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83"/>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4"/>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85"/>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86"/>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87"/>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79"/>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80"/>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58"/>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59"/>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89"/>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90"/>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91"/>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92"/>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93"/>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94"/>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95"/>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97"/>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96"/>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98"/>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99"/>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00"/>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01"/>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02"/>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03"/>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04"/>
                                        </p:tgtEl>
                                        <p:attrNameLst>
                                          <p:attrName>style.visibility</p:attrName>
                                        </p:attrNameLst>
                                      </p:cBhvr>
                                      <p:to>
                                        <p:strVal val="visible"/>
                                      </p:to>
                                    </p:set>
                                  </p:childTnLst>
                                </p:cTn>
                              </p:par>
                              <p:par>
                                <p:cTn id="233" presetID="1" presetClass="entr" presetSubtype="0" fill="hold" nodeType="withEffect">
                                  <p:stCondLst>
                                    <p:cond delay="0"/>
                                  </p:stCondLst>
                                  <p:childTnLst>
                                    <p:set>
                                      <p:cBhvr>
                                        <p:cTn id="234" dur="1" fill="hold">
                                          <p:stCondLst>
                                            <p:cond delay="0"/>
                                          </p:stCondLst>
                                        </p:cTn>
                                        <p:tgtEl>
                                          <p:spTgt spid="128"/>
                                        </p:tgtEl>
                                        <p:attrNameLst>
                                          <p:attrName>style.visibility</p:attrName>
                                        </p:attrNameLst>
                                      </p:cBhvr>
                                      <p:to>
                                        <p:strVal val="visible"/>
                                      </p:to>
                                    </p:set>
                                  </p:childTnLst>
                                </p:cTn>
                              </p:par>
                              <p:par>
                                <p:cTn id="235" presetID="1" presetClass="entr" presetSubtype="0" fill="hold" nodeType="withEffect">
                                  <p:stCondLst>
                                    <p:cond delay="0"/>
                                  </p:stCondLst>
                                  <p:childTnLst>
                                    <p:set>
                                      <p:cBhvr>
                                        <p:cTn id="236" dur="1" fill="hold">
                                          <p:stCondLst>
                                            <p:cond delay="0"/>
                                          </p:stCondLst>
                                        </p:cTn>
                                        <p:tgtEl>
                                          <p:spTgt spid="129"/>
                                        </p:tgtEl>
                                        <p:attrNameLst>
                                          <p:attrName>style.visibility</p:attrName>
                                        </p:attrNameLst>
                                      </p:cBhvr>
                                      <p:to>
                                        <p:strVal val="visible"/>
                                      </p:to>
                                    </p:set>
                                  </p:childTnLst>
                                </p:cTn>
                              </p:par>
                              <p:par>
                                <p:cTn id="237" presetID="1" presetClass="entr" presetSubtype="0" fill="hold" nodeType="withEffect">
                                  <p:stCondLst>
                                    <p:cond delay="0"/>
                                  </p:stCondLst>
                                  <p:childTnLst>
                                    <p:set>
                                      <p:cBhvr>
                                        <p:cTn id="238" dur="1" fill="hold">
                                          <p:stCondLst>
                                            <p:cond delay="0"/>
                                          </p:stCondLst>
                                        </p:cTn>
                                        <p:tgtEl>
                                          <p:spTgt spid="130"/>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31"/>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32"/>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33"/>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134"/>
                                        </p:tgtEl>
                                        <p:attrNameLst>
                                          <p:attrName>style.visibility</p:attrName>
                                        </p:attrNameLst>
                                      </p:cBhvr>
                                      <p:to>
                                        <p:strVal val="visible"/>
                                      </p:to>
                                    </p:set>
                                  </p:childTnLst>
                                </p:cTn>
                              </p:par>
                              <p:par>
                                <p:cTn id="247" presetID="1" presetClass="entr" presetSubtype="0" fill="hold" nodeType="withEffect">
                                  <p:stCondLst>
                                    <p:cond delay="0"/>
                                  </p:stCondLst>
                                  <p:childTnLst>
                                    <p:set>
                                      <p:cBhvr>
                                        <p:cTn id="248" dur="1" fill="hold">
                                          <p:stCondLst>
                                            <p:cond delay="0"/>
                                          </p:stCondLst>
                                        </p:cTn>
                                        <p:tgtEl>
                                          <p:spTgt spid="135"/>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157"/>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60"/>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161"/>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05"/>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06"/>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07"/>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08"/>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109"/>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110"/>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111"/>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112"/>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113"/>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114"/>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15"/>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16"/>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117"/>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118"/>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119"/>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20"/>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presetSubtype="0" fill="hold" nodeType="clickEffect">
                                  <p:stCondLst>
                                    <p:cond delay="0"/>
                                  </p:stCondLst>
                                  <p:childTnLst>
                                    <p:set>
                                      <p:cBhvr>
                                        <p:cTn id="292" dur="1" fill="hold">
                                          <p:stCondLst>
                                            <p:cond delay="0"/>
                                          </p:stCondLst>
                                        </p:cTn>
                                        <p:tgtEl>
                                          <p:spTgt spid="136"/>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0"/>
                                          </p:stCondLst>
                                        </p:cTn>
                                        <p:tgtEl>
                                          <p:spTgt spid="137"/>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0"/>
                                          </p:stCondLst>
                                        </p:cTn>
                                        <p:tgtEl>
                                          <p:spTgt spid="138"/>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139"/>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0"/>
                                          </p:stCondLst>
                                        </p:cTn>
                                        <p:tgtEl>
                                          <p:spTgt spid="140"/>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0"/>
                                          </p:stCondLst>
                                        </p:cTn>
                                        <p:tgtEl>
                                          <p:spTgt spid="141"/>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144"/>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0"/>
                                          </p:stCondLst>
                                        </p:cTn>
                                        <p:tgtEl>
                                          <p:spTgt spid="145"/>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150"/>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151"/>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52"/>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53"/>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grpId="0" nodeType="clickEffect">
                                  <p:stCondLst>
                                    <p:cond delay="0"/>
                                  </p:stCondLst>
                                  <p:childTnLst>
                                    <p:set>
                                      <p:cBhvr>
                                        <p:cTn id="318" dur="1" fill="hold">
                                          <p:stCondLst>
                                            <p:cond delay="0"/>
                                          </p:stCondLst>
                                        </p:cTn>
                                        <p:tgtEl>
                                          <p:spTgt spid="121"/>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122"/>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123"/>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124"/>
                                        </p:tgtEl>
                                        <p:attrNameLst>
                                          <p:attrName>style.visibility</p:attrName>
                                        </p:attrNameLst>
                                      </p:cBhvr>
                                      <p:to>
                                        <p:strVal val="visible"/>
                                      </p:to>
                                    </p:set>
                                  </p:childTnLst>
                                </p:cTn>
                              </p:par>
                            </p:childTnLst>
                          </p:cTn>
                        </p:par>
                      </p:childTnLst>
                    </p:cTn>
                  </p:par>
                  <p:par>
                    <p:cTn id="325" fill="hold">
                      <p:stCondLst>
                        <p:cond delay="indefinite"/>
                      </p:stCondLst>
                      <p:childTnLst>
                        <p:par>
                          <p:cTn id="326" fill="hold">
                            <p:stCondLst>
                              <p:cond delay="0"/>
                            </p:stCondLst>
                            <p:childTnLst>
                              <p:par>
                                <p:cTn id="327" presetID="1" presetClass="entr" presetSubtype="0" fill="hold" nodeType="clickEffect">
                                  <p:stCondLst>
                                    <p:cond delay="0"/>
                                  </p:stCondLst>
                                  <p:childTnLst>
                                    <p:set>
                                      <p:cBhvr>
                                        <p:cTn id="328" dur="1" fill="hold">
                                          <p:stCondLst>
                                            <p:cond delay="0"/>
                                          </p:stCondLst>
                                        </p:cTn>
                                        <p:tgtEl>
                                          <p:spTgt spid="142"/>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0"/>
                                          </p:stCondLst>
                                        </p:cTn>
                                        <p:tgtEl>
                                          <p:spTgt spid="146"/>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0"/>
                                          </p:stCondLst>
                                        </p:cTn>
                                        <p:tgtEl>
                                          <p:spTgt spid="147"/>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0"/>
                                          </p:stCondLst>
                                        </p:cTn>
                                        <p:tgtEl>
                                          <p:spTgt spid="148"/>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154"/>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155"/>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grpId="0" nodeType="clickEffect">
                                  <p:stCondLst>
                                    <p:cond delay="0"/>
                                  </p:stCondLst>
                                  <p:childTnLst>
                                    <p:set>
                                      <p:cBhvr>
                                        <p:cTn id="342" dur="1" fill="hold">
                                          <p:stCondLst>
                                            <p:cond delay="0"/>
                                          </p:stCondLst>
                                        </p:cTn>
                                        <p:tgtEl>
                                          <p:spTgt spid="125"/>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126"/>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presetID="1" presetClass="entr" presetSubtype="0" fill="hold" nodeType="clickEffect">
                                  <p:stCondLst>
                                    <p:cond delay="0"/>
                                  </p:stCondLst>
                                  <p:childTnLst>
                                    <p:set>
                                      <p:cBhvr>
                                        <p:cTn id="348" dur="1" fill="hold">
                                          <p:stCondLst>
                                            <p:cond delay="0"/>
                                          </p:stCondLst>
                                        </p:cTn>
                                        <p:tgtEl>
                                          <p:spTgt spid="143"/>
                                        </p:tgtEl>
                                        <p:attrNameLst>
                                          <p:attrName>style.visibility</p:attrName>
                                        </p:attrNameLst>
                                      </p:cBhvr>
                                      <p:to>
                                        <p:strVal val="visible"/>
                                      </p:to>
                                    </p:set>
                                  </p:childTnLst>
                                </p:cTn>
                              </p:par>
                              <p:par>
                                <p:cTn id="349" presetID="1" presetClass="entr" presetSubtype="0" fill="hold" nodeType="withEffect">
                                  <p:stCondLst>
                                    <p:cond delay="0"/>
                                  </p:stCondLst>
                                  <p:childTnLst>
                                    <p:set>
                                      <p:cBhvr>
                                        <p:cTn id="350" dur="1" fill="hold">
                                          <p:stCondLst>
                                            <p:cond delay="0"/>
                                          </p:stCondLst>
                                        </p:cTn>
                                        <p:tgtEl>
                                          <p:spTgt spid="149"/>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156"/>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presetID="1" presetClass="entr" presetSubtype="0" fill="hold" grpId="0" nodeType="clickEffect">
                                  <p:stCondLst>
                                    <p:cond delay="0"/>
                                  </p:stCondLst>
                                  <p:childTnLst>
                                    <p:set>
                                      <p:cBhvr>
                                        <p:cTn id="356" dur="1" fill="hold">
                                          <p:stCondLst>
                                            <p:cond delay="0"/>
                                          </p:stCondLst>
                                        </p:cTn>
                                        <p:tgtEl>
                                          <p:spTgt spid="127"/>
                                        </p:tgtEl>
                                        <p:attrNameLst>
                                          <p:attrName>style.visibility</p:attrName>
                                        </p:attrNameLst>
                                      </p:cBhvr>
                                      <p:to>
                                        <p:strVal val="visible"/>
                                      </p:to>
                                    </p:set>
                                  </p:childTnLst>
                                </p:cTn>
                              </p:par>
                            </p:childTnLst>
                          </p:cTn>
                        </p:par>
                      </p:childTnLst>
                    </p:cTn>
                  </p:par>
                  <p:par>
                    <p:cTn id="357" fill="hold">
                      <p:stCondLst>
                        <p:cond delay="indefinite"/>
                      </p:stCondLst>
                      <p:childTnLst>
                        <p:par>
                          <p:cTn id="358" fill="hold">
                            <p:stCondLst>
                              <p:cond delay="0"/>
                            </p:stCondLst>
                            <p:childTnLst>
                              <p:par>
                                <p:cTn id="359" presetID="1" presetClass="entr" presetSubtype="0" fill="hold" nodeType="clickEffect">
                                  <p:stCondLst>
                                    <p:cond delay="0"/>
                                  </p:stCondLst>
                                  <p:childTnLst>
                                    <p:set>
                                      <p:cBhvr>
                                        <p:cTn id="360" dur="1" fill="hold">
                                          <p:stCondLst>
                                            <p:cond delay="0"/>
                                          </p:stCondLst>
                                        </p:cTn>
                                        <p:tgtEl>
                                          <p:spTgt spid="184"/>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162"/>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163"/>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164"/>
                                        </p:tgtEl>
                                        <p:attrNameLst>
                                          <p:attrName>style.visibility</p:attrName>
                                        </p:attrNameLst>
                                      </p:cBhvr>
                                      <p:to>
                                        <p:strVal val="visible"/>
                                      </p:to>
                                    </p:set>
                                  </p:childTnLst>
                                </p:cTn>
                              </p:par>
                              <p:par>
                                <p:cTn id="367" presetID="1" presetClass="entr" presetSubtype="0" fill="hold" nodeType="withEffect">
                                  <p:stCondLst>
                                    <p:cond delay="0"/>
                                  </p:stCondLst>
                                  <p:childTnLst>
                                    <p:set>
                                      <p:cBhvr>
                                        <p:cTn id="368" dur="1" fill="hold">
                                          <p:stCondLst>
                                            <p:cond delay="0"/>
                                          </p:stCondLst>
                                        </p:cTn>
                                        <p:tgtEl>
                                          <p:spTgt spid="181"/>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180"/>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grpId="0" nodeType="clickEffect">
                                  <p:stCondLst>
                                    <p:cond delay="0"/>
                                  </p:stCondLst>
                                  <p:childTnLst>
                                    <p:set>
                                      <p:cBhvr>
                                        <p:cTn id="374" dur="1" fill="hold">
                                          <p:stCondLst>
                                            <p:cond delay="0"/>
                                          </p:stCondLst>
                                        </p:cTn>
                                        <p:tgtEl>
                                          <p:spTgt spid="165"/>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166"/>
                                        </p:tgtEl>
                                        <p:attrNameLst>
                                          <p:attrName>style.visibility</p:attrName>
                                        </p:attrNameLst>
                                      </p:cBhvr>
                                      <p:to>
                                        <p:strVal val="visible"/>
                                      </p:to>
                                    </p:set>
                                  </p:childTnLst>
                                </p:cTn>
                              </p:par>
                              <p:par>
                                <p:cTn id="377" presetID="1" presetClass="entr" presetSubtype="0" fill="hold" nodeType="withEffect">
                                  <p:stCondLst>
                                    <p:cond delay="0"/>
                                  </p:stCondLst>
                                  <p:childTnLst>
                                    <p:set>
                                      <p:cBhvr>
                                        <p:cTn id="378" dur="1" fill="hold">
                                          <p:stCondLst>
                                            <p:cond delay="0"/>
                                          </p:stCondLst>
                                        </p:cTn>
                                        <p:tgtEl>
                                          <p:spTgt spid="167"/>
                                        </p:tgtEl>
                                        <p:attrNameLst>
                                          <p:attrName>style.visibility</p:attrName>
                                        </p:attrNameLst>
                                      </p:cBhvr>
                                      <p:to>
                                        <p:strVal val="visible"/>
                                      </p:to>
                                    </p:set>
                                  </p:childTnLst>
                                </p:cTn>
                              </p:par>
                              <p:par>
                                <p:cTn id="379" presetID="1" presetClass="entr" presetSubtype="0" fill="hold" nodeType="withEffect">
                                  <p:stCondLst>
                                    <p:cond delay="0"/>
                                  </p:stCondLst>
                                  <p:childTnLst>
                                    <p:set>
                                      <p:cBhvr>
                                        <p:cTn id="380" dur="1" fill="hold">
                                          <p:stCondLst>
                                            <p:cond delay="0"/>
                                          </p:stCondLst>
                                        </p:cTn>
                                        <p:tgtEl>
                                          <p:spTgt spid="168"/>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169"/>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170"/>
                                        </p:tgtEl>
                                        <p:attrNameLst>
                                          <p:attrName>style.visibility</p:attrName>
                                        </p:attrNameLst>
                                      </p:cBhvr>
                                      <p:to>
                                        <p:strVal val="visible"/>
                                      </p:to>
                                    </p:set>
                                  </p:childTnLst>
                                </p:cTn>
                              </p:par>
                              <p:par>
                                <p:cTn id="385" presetID="1" presetClass="entr" presetSubtype="0" fill="hold" nodeType="withEffect">
                                  <p:stCondLst>
                                    <p:cond delay="0"/>
                                  </p:stCondLst>
                                  <p:childTnLst>
                                    <p:set>
                                      <p:cBhvr>
                                        <p:cTn id="386" dur="1" fill="hold">
                                          <p:stCondLst>
                                            <p:cond delay="0"/>
                                          </p:stCondLst>
                                        </p:cTn>
                                        <p:tgtEl>
                                          <p:spTgt spid="171"/>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172"/>
                                        </p:tgtEl>
                                        <p:attrNameLst>
                                          <p:attrName>style.visibility</p:attrName>
                                        </p:attrNameLst>
                                      </p:cBhvr>
                                      <p:to>
                                        <p:strVal val="visible"/>
                                      </p:to>
                                    </p:set>
                                  </p:childTnLst>
                                </p:cTn>
                              </p:par>
                              <p:par>
                                <p:cTn id="389" presetID="1" presetClass="entr" presetSubtype="0" fill="hold" nodeType="withEffect">
                                  <p:stCondLst>
                                    <p:cond delay="0"/>
                                  </p:stCondLst>
                                  <p:childTnLst>
                                    <p:set>
                                      <p:cBhvr>
                                        <p:cTn id="390" dur="1" fill="hold">
                                          <p:stCondLst>
                                            <p:cond delay="0"/>
                                          </p:stCondLst>
                                        </p:cTn>
                                        <p:tgtEl>
                                          <p:spTgt spid="173"/>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174"/>
                                        </p:tgtEl>
                                        <p:attrNameLst>
                                          <p:attrName>style.visibility</p:attrName>
                                        </p:attrNameLst>
                                      </p:cBhvr>
                                      <p:to>
                                        <p:strVal val="visible"/>
                                      </p:to>
                                    </p:set>
                                  </p:childTnLst>
                                </p:cTn>
                              </p:par>
                              <p:par>
                                <p:cTn id="393" presetID="1" presetClass="entr" presetSubtype="0" fill="hold" nodeType="withEffect">
                                  <p:stCondLst>
                                    <p:cond delay="0"/>
                                  </p:stCondLst>
                                  <p:childTnLst>
                                    <p:set>
                                      <p:cBhvr>
                                        <p:cTn id="394" dur="1" fill="hold">
                                          <p:stCondLst>
                                            <p:cond delay="0"/>
                                          </p:stCondLst>
                                        </p:cTn>
                                        <p:tgtEl>
                                          <p:spTgt spid="175"/>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176"/>
                                        </p:tgtEl>
                                        <p:attrNameLst>
                                          <p:attrName>style.visibility</p:attrName>
                                        </p:attrNameLst>
                                      </p:cBhvr>
                                      <p:to>
                                        <p:strVal val="visible"/>
                                      </p:to>
                                    </p:set>
                                  </p:childTnLst>
                                </p:cTn>
                              </p:par>
                              <p:par>
                                <p:cTn id="397" presetID="1" presetClass="entr" presetSubtype="0" fill="hold" nodeType="withEffect">
                                  <p:stCondLst>
                                    <p:cond delay="0"/>
                                  </p:stCondLst>
                                  <p:childTnLst>
                                    <p:set>
                                      <p:cBhvr>
                                        <p:cTn id="398" dur="1" fill="hold">
                                          <p:stCondLst>
                                            <p:cond delay="0"/>
                                          </p:stCondLst>
                                        </p:cTn>
                                        <p:tgtEl>
                                          <p:spTgt spid="177"/>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178"/>
                                        </p:tgtEl>
                                        <p:attrNameLst>
                                          <p:attrName>style.visibility</p:attrName>
                                        </p:attrNameLst>
                                      </p:cBhvr>
                                      <p:to>
                                        <p:strVal val="visible"/>
                                      </p:to>
                                    </p:set>
                                  </p:childTnLst>
                                </p:cTn>
                              </p:par>
                              <p:par>
                                <p:cTn id="401" presetID="1" presetClass="entr" presetSubtype="0" fill="hold" nodeType="withEffect">
                                  <p:stCondLst>
                                    <p:cond delay="0"/>
                                  </p:stCondLst>
                                  <p:childTnLst>
                                    <p:set>
                                      <p:cBhvr>
                                        <p:cTn id="402" dur="1" fill="hold">
                                          <p:stCondLst>
                                            <p:cond delay="0"/>
                                          </p:stCondLst>
                                        </p:cTn>
                                        <p:tgtEl>
                                          <p:spTgt spid="179"/>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182"/>
                                        </p:tgtEl>
                                        <p:attrNameLst>
                                          <p:attrName>style.visibility</p:attrName>
                                        </p:attrNameLst>
                                      </p:cBhvr>
                                      <p:to>
                                        <p:strVal val="visible"/>
                                      </p:to>
                                    </p:set>
                                  </p:childTnLst>
                                </p:cTn>
                              </p:par>
                              <p:par>
                                <p:cTn id="405" presetID="1" presetClass="entr" presetSubtype="0" fill="hold" nodeType="withEffect">
                                  <p:stCondLst>
                                    <p:cond delay="0"/>
                                  </p:stCondLst>
                                  <p:childTnLst>
                                    <p:set>
                                      <p:cBhvr>
                                        <p:cTn id="406" dur="1" fill="hold">
                                          <p:stCondLst>
                                            <p:cond delay="0"/>
                                          </p:stCondLst>
                                        </p:cTn>
                                        <p:tgtEl>
                                          <p:spTgt spid="183"/>
                                        </p:tgtEl>
                                        <p:attrNameLst>
                                          <p:attrName>style.visibility</p:attrName>
                                        </p:attrNameLst>
                                      </p:cBhvr>
                                      <p:to>
                                        <p:strVal val="visible"/>
                                      </p:to>
                                    </p:set>
                                  </p:childTnLst>
                                </p:cTn>
                              </p:par>
                              <p:par>
                                <p:cTn id="407" presetID="1" presetClass="entr" presetSubtype="0" fill="hold" nodeType="withEffect">
                                  <p:stCondLst>
                                    <p:cond delay="0"/>
                                  </p:stCondLst>
                                  <p:childTnLst>
                                    <p:set>
                                      <p:cBhvr>
                                        <p:cTn id="408"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p:bldP spid="20" grpId="0"/>
      <p:bldP spid="21" grpId="0"/>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P spid="36" grpId="0"/>
      <p:bldP spid="37" grpId="0"/>
      <p:bldP spid="38" grpId="0" animBg="1"/>
      <p:bldP spid="39" grpId="0" animBg="1"/>
      <p:bldP spid="40" grpId="0" animBg="1"/>
      <p:bldP spid="41" grpId="0" animBg="1"/>
      <p:bldP spid="42" grpId="0" animBg="1"/>
      <p:bldP spid="43" grpId="0" animBg="1"/>
      <p:bldP spid="44" grpId="0" animBg="1"/>
      <p:bldP spid="67" grpId="0"/>
      <p:bldP spid="68" grpId="0" animBg="1"/>
      <p:bldP spid="69" grpId="0" animBg="1"/>
      <p:bldP spid="70" grpId="0" animBg="1"/>
      <p:bldP spid="71" grpId="0" animBg="1"/>
      <p:bldP spid="72" grpId="0" animBg="1"/>
      <p:bldP spid="73" grpId="0" animBg="1"/>
      <p:bldP spid="74" grpId="0" animBg="1"/>
      <p:bldP spid="76" grpId="0" animBg="1"/>
      <p:bldP spid="77" grpId="0"/>
      <p:bldP spid="79" grpId="0" animBg="1"/>
      <p:bldP spid="80" grpId="0"/>
      <p:bldP spid="82" grpId="0" animBg="1"/>
      <p:bldP spid="83" grpId="0" animBg="1"/>
      <p:bldP spid="84" grpId="0" animBg="1"/>
      <p:bldP spid="85" grpId="0" animBg="1"/>
      <p:bldP spid="86" grpId="0" animBg="1"/>
      <p:bldP spid="87" grpId="0" animBg="1"/>
      <p:bldP spid="89" grpId="0" animBg="1"/>
      <p:bldP spid="90" grpId="0" animBg="1"/>
      <p:bldP spid="91" grpId="0" animBg="1"/>
      <p:bldP spid="92" grpId="0" animBg="1"/>
      <p:bldP spid="93" grpId="0" animBg="1"/>
      <p:bldP spid="94" grpId="0" animBg="1"/>
      <p:bldP spid="95" grpId="0" animBg="1"/>
      <p:bldP spid="96" grpId="0" animBg="1"/>
      <p:bldP spid="97" grpId="0"/>
      <p:bldP spid="98" grpId="0"/>
      <p:bldP spid="99" grpId="0"/>
      <p:bldP spid="100" grpId="0"/>
      <p:bldP spid="101" grpId="0"/>
      <p:bldP spid="102" grpId="0"/>
      <p:bldP spid="103" grpId="0"/>
      <p:bldP spid="104" grpId="0"/>
      <p:bldP spid="105" grpId="0" animBg="1"/>
      <p:bldP spid="106" grpId="0" animBg="1"/>
      <p:bldP spid="107" grpId="0" animBg="1"/>
      <p:bldP spid="108" grpId="0" animBg="1"/>
      <p:bldP spid="109" grpId="0" animBg="1"/>
      <p:bldP spid="110" grpId="0" animBg="1"/>
      <p:bldP spid="111" grpId="0" animBg="1"/>
      <p:bldP spid="112" grpId="0" animBg="1"/>
      <p:bldP spid="113" grpId="0"/>
      <p:bldP spid="114" grpId="0"/>
      <p:bldP spid="115" grpId="0"/>
      <p:bldP spid="116" grpId="0"/>
      <p:bldP spid="117" grpId="0"/>
      <p:bldP spid="118" grpId="0"/>
      <p:bldP spid="119" grpId="0"/>
      <p:bldP spid="120" grpId="0"/>
      <p:bldP spid="121" grpId="0" animBg="1"/>
      <p:bldP spid="122" grpId="0" animBg="1"/>
      <p:bldP spid="123" grpId="0" animBg="1"/>
      <p:bldP spid="124" grpId="0" animBg="1"/>
      <p:bldP spid="125" grpId="0" animBg="1"/>
      <p:bldP spid="126" grpId="0" animBg="1"/>
      <p:bldP spid="127" grpId="0" animBg="1"/>
      <p:bldP spid="150" grpId="0" animBg="1"/>
      <p:bldP spid="151" grpId="0" animBg="1"/>
      <p:bldP spid="152" grpId="0" animBg="1"/>
      <p:bldP spid="153" grpId="0" animBg="1"/>
      <p:bldP spid="154" grpId="0" animBg="1"/>
      <p:bldP spid="155" grpId="0" animBg="1"/>
      <p:bldP spid="156" grpId="0" animBg="1"/>
      <p:bldP spid="158" grpId="0" animBg="1"/>
      <p:bldP spid="161" grpId="0"/>
      <p:bldP spid="162" grpId="0" animBg="1"/>
      <p:bldP spid="163" grpId="0" animBg="1"/>
      <p:bldP spid="164" grpId="0"/>
      <p:bldP spid="165" grpId="0" animBg="1"/>
      <p:bldP spid="166" grpId="0" animBg="1"/>
      <p:bldP spid="169" grpId="0" animBg="1"/>
      <p:bldP spid="170" grpId="0" animBg="1"/>
      <p:bldP spid="172" grpId="0" animBg="1"/>
      <p:bldP spid="174" grpId="0" animBg="1"/>
      <p:bldP spid="176" grpId="0" animBg="1"/>
      <p:bldP spid="178" grpId="0" animBg="1"/>
      <p:bldP spid="180" grpId="0" animBg="1"/>
      <p:bldP spid="18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latin typeface="Garamond" panose="02020404030301010803" pitchFamily="18" charset="0"/>
              </a:rPr>
              <a:t>Merkle</a:t>
            </a:r>
            <a:r>
              <a:rPr kumimoji="1" lang="zh-CN" altLang="en-US" dirty="0">
                <a:solidFill>
                  <a:prstClr val="black"/>
                </a:solidFill>
              </a:rPr>
              <a:t>树</a:t>
            </a:r>
          </a:p>
        </p:txBody>
      </p:sp>
      <p:sp>
        <p:nvSpPr>
          <p:cNvPr id="3" name="内容占位符 2"/>
          <p:cNvSpPr>
            <a:spLocks noGrp="1"/>
          </p:cNvSpPr>
          <p:nvPr>
            <p:ph idx="1"/>
          </p:nvPr>
        </p:nvSpPr>
        <p:spPr>
          <a:xfrm>
            <a:off x="838200" y="1510758"/>
            <a:ext cx="9888940" cy="2442677"/>
          </a:xfrm>
        </p:spPr>
        <p:txBody>
          <a:bodyPr>
            <a:normAutofit/>
          </a:bodyPr>
          <a:lstStyle/>
          <a:p>
            <a:pPr fontAlgn="auto">
              <a:lnSpc>
                <a:spcPct val="130000"/>
              </a:lnSpc>
            </a:pPr>
            <a:r>
              <a:rPr lang="zh-CN" altLang="en-US" dirty="0">
                <a:latin typeface="Garamond" panose="02020404030301010803" pitchFamily="18" charset="0"/>
              </a:rPr>
              <a:t>快速重新计算</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利用前一次计算得到的哈希值，只对被修改的树节点进行哈希重计算。</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得到一个新的根哈希用来代表整棵树的状态。</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6" name="文本框 5">
            <a:extLst>
              <a:ext uri="{FF2B5EF4-FFF2-40B4-BE49-F238E27FC236}">
                <a16:creationId xmlns:a16="http://schemas.microsoft.com/office/drawing/2014/main" id="{AE082731-3277-48F2-8F86-FC53CDE0B59F}"/>
              </a:ext>
            </a:extLst>
          </p:cNvPr>
          <p:cNvSpPr txBox="1"/>
          <p:nvPr/>
        </p:nvSpPr>
        <p:spPr>
          <a:xfrm>
            <a:off x="838200" y="3656862"/>
            <a:ext cx="10515600" cy="1699248"/>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altLang="zh-CN" sz="2400" dirty="0">
                <a:latin typeface="Garamond" panose="02020404030301010803" pitchFamily="18" charset="0"/>
                <a:ea typeface="Microsoft YaHei" panose="020B0503020204020204" pitchFamily="34" charset="-122"/>
              </a:rPr>
              <a:t>Merkle </a:t>
            </a:r>
            <a:r>
              <a:rPr lang="zh-CN" altLang="en-US" sz="2400" dirty="0">
                <a:latin typeface="Garamond" panose="02020404030301010803" pitchFamily="18" charset="0"/>
                <a:ea typeface="Microsoft YaHei" panose="020B0503020204020204" pitchFamily="34" charset="-122"/>
              </a:rPr>
              <a:t>树分支和轻节点验证</a:t>
            </a:r>
            <a:endParaRPr lang="en-US" altLang="zh-CN" sz="2400" dirty="0">
              <a:latin typeface="Garamond" panose="02020404030301010803" pitchFamily="18" charset="0"/>
              <a:ea typeface="Microsoft YaHei" panose="020B0503020204020204" pitchFamily="34" charset="-122"/>
            </a:endParaRPr>
          </a:p>
          <a:p>
            <a:pPr lvl="1">
              <a:lnSpc>
                <a:spcPct val="150000"/>
              </a:lnSpc>
            </a:pPr>
            <a:r>
              <a:rPr lang="zh-CN" altLang="en-US" sz="2400" dirty="0">
                <a:latin typeface="Garamond" panose="02020404030301010803" pitchFamily="18" charset="0"/>
                <a:ea typeface="Microsoft YaHei" panose="020B0503020204020204" pitchFamily="34" charset="-122"/>
              </a:rPr>
              <a:t>通过提供特定的叶子节点来完成对列表中任意一个元素的哈希证明。</a:t>
            </a:r>
            <a:endParaRPr lang="en-US" altLang="zh-CN" sz="2400" dirty="0">
              <a:latin typeface="Garamond" panose="02020404030301010803" pitchFamily="18" charset="0"/>
              <a:ea typeface="Microsoft YaHei" panose="020B0503020204020204" pitchFamily="34" charset="-122"/>
            </a:endParaRPr>
          </a:p>
          <a:p>
            <a:pPr lvl="1">
              <a:lnSpc>
                <a:spcPct val="150000"/>
              </a:lnSpc>
            </a:pPr>
            <a:r>
              <a:rPr lang="zh-CN" altLang="en-US" sz="2400" dirty="0">
                <a:latin typeface="Garamond" panose="02020404030301010803" pitchFamily="18" charset="0"/>
                <a:ea typeface="Microsoft YaHei" panose="020B0503020204020204" pitchFamily="34" charset="-122"/>
              </a:rPr>
              <a:t>从而避免对列表全部元素的访问。</a:t>
            </a:r>
            <a:endParaRPr lang="en-US" altLang="zh-CN" sz="2400" dirty="0">
              <a:latin typeface="Garamond" panose="02020404030301010803" pitchFamily="18" charset="0"/>
              <a:ea typeface="Microsoft YaHei" panose="020B0503020204020204" pitchFamily="34" charset="-122"/>
            </a:endParaRPr>
          </a:p>
        </p:txBody>
      </p:sp>
    </p:spTree>
    <p:extLst>
      <p:ext uri="{BB962C8B-B14F-4D97-AF65-F5344CB8AC3E}">
        <p14:creationId xmlns:p14="http://schemas.microsoft.com/office/powerpoint/2010/main" val="3886491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latin typeface="Garamond" panose="02020404030301010803" pitchFamily="18" charset="0"/>
              </a:rPr>
              <a:t>Merkle</a:t>
            </a:r>
            <a:r>
              <a:rPr kumimoji="1" lang="zh-CN" altLang="en-US" dirty="0">
                <a:solidFill>
                  <a:prstClr val="black"/>
                </a:solidFill>
                <a:latin typeface="Garamond" panose="02020404030301010803" pitchFamily="18" charset="0"/>
              </a:rPr>
              <a:t>树</a:t>
            </a:r>
          </a:p>
        </p:txBody>
      </p:sp>
      <p:sp>
        <p:nvSpPr>
          <p:cNvPr id="3" name="内容占位符 2"/>
          <p:cNvSpPr>
            <a:spLocks noGrp="1"/>
          </p:cNvSpPr>
          <p:nvPr>
            <p:ph idx="1"/>
          </p:nvPr>
        </p:nvSpPr>
        <p:spPr>
          <a:xfrm>
            <a:off x="838200" y="1510758"/>
            <a:ext cx="9888940" cy="4845592"/>
          </a:xfrm>
        </p:spPr>
        <p:txBody>
          <a:bodyPr>
            <a:normAutofit/>
          </a:bodyPr>
          <a:lstStyle/>
          <a:p>
            <a:pPr>
              <a:lnSpc>
                <a:spcPct val="130000"/>
              </a:lnSpc>
            </a:pPr>
            <a:r>
              <a:rPr lang="en-US" altLang="zh-CN" dirty="0">
                <a:latin typeface="Garamond" panose="02020404030301010803" pitchFamily="18" charset="0"/>
              </a:rPr>
              <a:t>Merkle </a:t>
            </a:r>
            <a:r>
              <a:rPr lang="zh-CN" altLang="en-US" dirty="0">
                <a:latin typeface="Garamond" panose="02020404030301010803" pitchFamily="18" charset="0"/>
              </a:rPr>
              <a:t>树分支和轻节点验证</a:t>
            </a:r>
            <a:endParaRPr lang="en-US" altLang="zh-CN" dirty="0">
              <a:latin typeface="Garamond" panose="02020404030301010803" pitchFamily="18" charset="0"/>
            </a:endParaRPr>
          </a:p>
          <a:p>
            <a:pPr lvl="1"/>
            <a:r>
              <a:rPr lang="zh-CN" altLang="en-US" dirty="0">
                <a:latin typeface="Garamond" panose="02020404030301010803" pitchFamily="18" charset="0"/>
              </a:rPr>
              <a:t>假设我们需要验证交易</a:t>
            </a:r>
            <a:r>
              <a:rPr lang="en-US" altLang="zh-CN" dirty="0">
                <a:latin typeface="Garamond" panose="02020404030301010803" pitchFamily="18" charset="0"/>
              </a:rPr>
              <a:t>2 </a:t>
            </a:r>
            <a:r>
              <a:rPr lang="zh-CN" altLang="en-US" dirty="0">
                <a:latin typeface="Garamond" panose="02020404030301010803" pitchFamily="18" charset="0"/>
              </a:rPr>
              <a:t>是否合法，只需要提供</a:t>
            </a:r>
            <a:r>
              <a:rPr lang="en-US" altLang="zh-CN" dirty="0">
                <a:latin typeface="Garamond" panose="02020404030301010803" pitchFamily="18" charset="0"/>
              </a:rPr>
              <a:t>Hash</a:t>
            </a:r>
            <a:r>
              <a:rPr lang="en-US" altLang="zh-CN" baseline="-25000" dirty="0">
                <a:latin typeface="Garamond" panose="02020404030301010803" pitchFamily="18" charset="0"/>
              </a:rPr>
              <a:t>1</a:t>
            </a:r>
            <a:r>
              <a:rPr lang="zh-CN" altLang="en-US" dirty="0">
                <a:latin typeface="Garamond" panose="02020404030301010803" pitchFamily="18" charset="0"/>
              </a:rPr>
              <a:t>和</a:t>
            </a:r>
            <a:r>
              <a:rPr lang="en-US" altLang="zh-CN" dirty="0">
                <a:latin typeface="Garamond" panose="02020404030301010803" pitchFamily="18" charset="0"/>
              </a:rPr>
              <a:t>Hash</a:t>
            </a:r>
            <a:r>
              <a:rPr lang="en-US" altLang="zh-CN" baseline="-25000" dirty="0">
                <a:latin typeface="Garamond" panose="02020404030301010803" pitchFamily="18" charset="0"/>
              </a:rPr>
              <a:t>34</a:t>
            </a:r>
            <a:r>
              <a:rPr lang="zh-CN" altLang="en-US" dirty="0">
                <a:latin typeface="Garamond" panose="02020404030301010803" pitchFamily="18" charset="0"/>
              </a:rPr>
              <a:t>即可完成。</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pic>
        <p:nvPicPr>
          <p:cNvPr id="5" name="图片 4"/>
          <p:cNvPicPr>
            <a:picLocks noChangeAspect="1"/>
          </p:cNvPicPr>
          <p:nvPr/>
        </p:nvPicPr>
        <p:blipFill>
          <a:blip r:embed="rId3"/>
          <a:stretch>
            <a:fillRect/>
          </a:stretch>
        </p:blipFill>
        <p:spPr>
          <a:xfrm>
            <a:off x="3771305" y="2932353"/>
            <a:ext cx="4022729" cy="3423997"/>
          </a:xfrm>
          <a:prstGeom prst="rect">
            <a:avLst/>
          </a:prstGeom>
        </p:spPr>
      </p:pic>
    </p:spTree>
    <p:extLst>
      <p:ext uri="{BB962C8B-B14F-4D97-AF65-F5344CB8AC3E}">
        <p14:creationId xmlns:p14="http://schemas.microsoft.com/office/powerpoint/2010/main" val="390910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E461D-E68F-4787-8F4F-A1878A6E578B}"/>
              </a:ext>
            </a:extLst>
          </p:cNvPr>
          <p:cNvSpPr>
            <a:spLocks noGrp="1"/>
          </p:cNvSpPr>
          <p:nvPr>
            <p:ph type="title"/>
          </p:nvPr>
        </p:nvSpPr>
        <p:spPr/>
        <p:txBody>
          <a:bodyPr/>
          <a:lstStyle/>
          <a:p>
            <a:r>
              <a:rPr lang="en-US" altLang="zh-CN" dirty="0">
                <a:latin typeface="Garamond" panose="02020404030301010803" pitchFamily="18" charset="0"/>
              </a:rPr>
              <a:t>Merkle</a:t>
            </a:r>
            <a:r>
              <a:rPr lang="zh-CN" altLang="en-US" dirty="0">
                <a:latin typeface="Garamond" panose="02020404030301010803" pitchFamily="18" charset="0"/>
              </a:rPr>
              <a:t>树</a:t>
            </a:r>
          </a:p>
        </p:txBody>
      </p:sp>
      <p:sp>
        <p:nvSpPr>
          <p:cNvPr id="4" name="灯片编号占位符 3">
            <a:extLst>
              <a:ext uri="{FF2B5EF4-FFF2-40B4-BE49-F238E27FC236}">
                <a16:creationId xmlns:a16="http://schemas.microsoft.com/office/drawing/2014/main" id="{0927FF7E-86D8-48F3-8EF1-80ACFAA2EECD}"/>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5" name="文本占位符 3">
            <a:extLst>
              <a:ext uri="{FF2B5EF4-FFF2-40B4-BE49-F238E27FC236}">
                <a16:creationId xmlns:a16="http://schemas.microsoft.com/office/drawing/2014/main" id="{B986A4B8-74DD-47E3-809B-980DB9F50C0C}"/>
              </a:ext>
            </a:extLst>
          </p:cNvPr>
          <p:cNvSpPr txBox="1">
            <a:spLocks/>
          </p:cNvSpPr>
          <p:nvPr/>
        </p:nvSpPr>
        <p:spPr>
          <a:xfrm>
            <a:off x="92598" y="1299316"/>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默克尔证明</a:t>
            </a:r>
            <a:r>
              <a:rPr lang="zh-CN" altLang="en-US" dirty="0">
                <a:latin typeface="Garamond" panose="02020404030301010803" pitchFamily="18" charset="0"/>
              </a:rPr>
              <a:t>（</a:t>
            </a:r>
            <a:r>
              <a:rPr lang="en-US" altLang="zh-CN" dirty="0">
                <a:latin typeface="Garamond" panose="02020404030301010803" pitchFamily="18" charset="0"/>
              </a:rPr>
              <a:t>Merkle Proof</a:t>
            </a:r>
            <a:r>
              <a:rPr lang="zh-CN" altLang="en-US" dirty="0">
                <a:latin typeface="Garamond" panose="02020404030301010803" pitchFamily="18" charset="0"/>
              </a:rPr>
              <a:t>）</a:t>
            </a:r>
          </a:p>
        </p:txBody>
      </p:sp>
      <p:sp>
        <p:nvSpPr>
          <p:cNvPr id="14" name="矩形 13">
            <a:extLst>
              <a:ext uri="{FF2B5EF4-FFF2-40B4-BE49-F238E27FC236}">
                <a16:creationId xmlns:a16="http://schemas.microsoft.com/office/drawing/2014/main" id="{BB3FC0DF-1D74-4B19-B55F-FB94007F8F9D}"/>
              </a:ext>
            </a:extLst>
          </p:cNvPr>
          <p:cNvSpPr/>
          <p:nvPr/>
        </p:nvSpPr>
        <p:spPr>
          <a:xfrm>
            <a:off x="243467" y="5413680"/>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5" name="矩形 14">
            <a:extLst>
              <a:ext uri="{FF2B5EF4-FFF2-40B4-BE49-F238E27FC236}">
                <a16:creationId xmlns:a16="http://schemas.microsoft.com/office/drawing/2014/main" id="{9387EDC4-C595-42F2-AA7E-03629D0D996D}"/>
              </a:ext>
            </a:extLst>
          </p:cNvPr>
          <p:cNvSpPr/>
          <p:nvPr/>
        </p:nvSpPr>
        <p:spPr>
          <a:xfrm>
            <a:off x="997396" y="5413680"/>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6" name="矩形 15">
            <a:extLst>
              <a:ext uri="{FF2B5EF4-FFF2-40B4-BE49-F238E27FC236}">
                <a16:creationId xmlns:a16="http://schemas.microsoft.com/office/drawing/2014/main" id="{CBA4F857-D614-486C-9E01-2E7F295405A9}"/>
              </a:ext>
            </a:extLst>
          </p:cNvPr>
          <p:cNvSpPr/>
          <p:nvPr/>
        </p:nvSpPr>
        <p:spPr>
          <a:xfrm>
            <a:off x="1751325" y="5413680"/>
            <a:ext cx="452281" cy="443583"/>
          </a:xfrm>
          <a:prstGeom prst="rect">
            <a:avLst/>
          </a:prstGeom>
          <a:solidFill>
            <a:srgbClr val="00206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7" name="矩形 16">
            <a:extLst>
              <a:ext uri="{FF2B5EF4-FFF2-40B4-BE49-F238E27FC236}">
                <a16:creationId xmlns:a16="http://schemas.microsoft.com/office/drawing/2014/main" id="{7BB42614-C80C-43F8-A9F9-51B0C5FA271C}"/>
              </a:ext>
            </a:extLst>
          </p:cNvPr>
          <p:cNvSpPr/>
          <p:nvPr/>
        </p:nvSpPr>
        <p:spPr>
          <a:xfrm>
            <a:off x="2505254" y="5413680"/>
            <a:ext cx="452281" cy="443583"/>
          </a:xfrm>
          <a:prstGeom prst="rect">
            <a:avLst/>
          </a:prstGeom>
          <a:solidFill>
            <a:srgbClr val="EE1A1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8" name="矩形 17">
            <a:extLst>
              <a:ext uri="{FF2B5EF4-FFF2-40B4-BE49-F238E27FC236}">
                <a16:creationId xmlns:a16="http://schemas.microsoft.com/office/drawing/2014/main" id="{78BF7F7F-E5DD-4297-A361-C0C227BF3690}"/>
              </a:ext>
            </a:extLst>
          </p:cNvPr>
          <p:cNvSpPr/>
          <p:nvPr/>
        </p:nvSpPr>
        <p:spPr>
          <a:xfrm>
            <a:off x="3259183" y="5413680"/>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9" name="矩形 18">
            <a:extLst>
              <a:ext uri="{FF2B5EF4-FFF2-40B4-BE49-F238E27FC236}">
                <a16:creationId xmlns:a16="http://schemas.microsoft.com/office/drawing/2014/main" id="{31F27C67-1B07-4CE3-B176-26E3B4C7C184}"/>
              </a:ext>
            </a:extLst>
          </p:cNvPr>
          <p:cNvSpPr/>
          <p:nvPr/>
        </p:nvSpPr>
        <p:spPr>
          <a:xfrm>
            <a:off x="4013112" y="5413680"/>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0" name="矩形 19">
            <a:extLst>
              <a:ext uri="{FF2B5EF4-FFF2-40B4-BE49-F238E27FC236}">
                <a16:creationId xmlns:a16="http://schemas.microsoft.com/office/drawing/2014/main" id="{61398DC0-3084-49B1-B869-C83ED0FD662E}"/>
              </a:ext>
            </a:extLst>
          </p:cNvPr>
          <p:cNvSpPr/>
          <p:nvPr/>
        </p:nvSpPr>
        <p:spPr>
          <a:xfrm>
            <a:off x="4767041" y="5413680"/>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1" name="矩形 20">
            <a:extLst>
              <a:ext uri="{FF2B5EF4-FFF2-40B4-BE49-F238E27FC236}">
                <a16:creationId xmlns:a16="http://schemas.microsoft.com/office/drawing/2014/main" id="{507D84A7-066E-44F1-9D8C-B1494C43A2F7}"/>
              </a:ext>
            </a:extLst>
          </p:cNvPr>
          <p:cNvSpPr/>
          <p:nvPr/>
        </p:nvSpPr>
        <p:spPr>
          <a:xfrm>
            <a:off x="5520968" y="5413679"/>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2" name="文本框 21">
            <a:extLst>
              <a:ext uri="{FF2B5EF4-FFF2-40B4-BE49-F238E27FC236}">
                <a16:creationId xmlns:a16="http://schemas.microsoft.com/office/drawing/2014/main" id="{750B367D-E258-4CEB-916A-5ED2C5A9961A}"/>
              </a:ext>
            </a:extLst>
          </p:cNvPr>
          <p:cNvSpPr txBox="1"/>
          <p:nvPr/>
        </p:nvSpPr>
        <p:spPr>
          <a:xfrm>
            <a:off x="201365" y="5440986"/>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3" name="文本框 22">
            <a:extLst>
              <a:ext uri="{FF2B5EF4-FFF2-40B4-BE49-F238E27FC236}">
                <a16:creationId xmlns:a16="http://schemas.microsoft.com/office/drawing/2014/main" id="{10532503-1710-48C6-AF7E-39511EC2D43D}"/>
              </a:ext>
            </a:extLst>
          </p:cNvPr>
          <p:cNvSpPr txBox="1"/>
          <p:nvPr/>
        </p:nvSpPr>
        <p:spPr>
          <a:xfrm>
            <a:off x="955290" y="5440986"/>
            <a:ext cx="557865"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4" name="文本框 23">
            <a:extLst>
              <a:ext uri="{FF2B5EF4-FFF2-40B4-BE49-F238E27FC236}">
                <a16:creationId xmlns:a16="http://schemas.microsoft.com/office/drawing/2014/main" id="{D63733BE-1C41-4800-9704-5CFA4A8C7233}"/>
              </a:ext>
            </a:extLst>
          </p:cNvPr>
          <p:cNvSpPr txBox="1"/>
          <p:nvPr/>
        </p:nvSpPr>
        <p:spPr>
          <a:xfrm>
            <a:off x="1709221" y="5440986"/>
            <a:ext cx="540387" cy="338554"/>
          </a:xfrm>
          <a:prstGeom prst="rect">
            <a:avLst/>
          </a:prstGeom>
          <a:noFill/>
        </p:spPr>
        <p:txBody>
          <a:bodyPr wrap="square" rtlCol="0">
            <a:spAutoFit/>
          </a:bodyPr>
          <a:lstStyle/>
          <a:p>
            <a:r>
              <a:rPr kumimoji="1" lang="en-US" altLang="zh-CN" sz="1600" dirty="0">
                <a:solidFill>
                  <a:schemeClr val="bg1"/>
                </a:solidFill>
                <a:latin typeface="Times New Roman" panose="02020603050405020304" pitchFamily="18" charset="0"/>
              </a:rPr>
              <a:t>H</a:t>
            </a:r>
            <a:r>
              <a:rPr kumimoji="1" lang="en-US" altLang="zh-CN" sz="1600" baseline="-25000" dirty="0">
                <a:solidFill>
                  <a:schemeClr val="bg1"/>
                </a:solidFill>
                <a:latin typeface="Times New Roman" panose="02020603050405020304" pitchFamily="18" charset="0"/>
              </a:rPr>
              <a:t>3</a:t>
            </a:r>
            <a:r>
              <a:rPr kumimoji="1" lang="en-US" altLang="zh-CN" sz="1600" dirty="0">
                <a:solidFill>
                  <a:schemeClr val="bg1"/>
                </a:solidFill>
                <a:latin typeface="Times New Roman" panose="02020603050405020304" pitchFamily="18" charset="0"/>
              </a:rPr>
              <a:t>()</a:t>
            </a:r>
            <a:endParaRPr kumimoji="1" lang="zh-CN" altLang="en-US" sz="1600" dirty="0">
              <a:solidFill>
                <a:schemeClr val="bg1"/>
              </a:solidFill>
              <a:latin typeface="Times New Roman" panose="02020603050405020304" pitchFamily="18" charset="0"/>
            </a:endParaRPr>
          </a:p>
        </p:txBody>
      </p:sp>
      <p:sp>
        <p:nvSpPr>
          <p:cNvPr id="25" name="文本框 24">
            <a:extLst>
              <a:ext uri="{FF2B5EF4-FFF2-40B4-BE49-F238E27FC236}">
                <a16:creationId xmlns:a16="http://schemas.microsoft.com/office/drawing/2014/main" id="{D5F4B184-230D-4BF7-838C-A5E1E8A9A61D}"/>
              </a:ext>
            </a:extLst>
          </p:cNvPr>
          <p:cNvSpPr txBox="1"/>
          <p:nvPr/>
        </p:nvSpPr>
        <p:spPr>
          <a:xfrm>
            <a:off x="2468011" y="5434288"/>
            <a:ext cx="540387" cy="338554"/>
          </a:xfrm>
          <a:prstGeom prst="rect">
            <a:avLst/>
          </a:prstGeom>
          <a:noFill/>
        </p:spPr>
        <p:txBody>
          <a:bodyPr wrap="square" rtlCol="0">
            <a:spAutoFit/>
          </a:bodyPr>
          <a:lstStyle/>
          <a:p>
            <a:r>
              <a:rPr kumimoji="1" lang="en-US" altLang="zh-CN" sz="1600" dirty="0">
                <a:solidFill>
                  <a:schemeClr val="bg1"/>
                </a:solidFill>
                <a:latin typeface="Times New Roman" panose="02020603050405020304" pitchFamily="18" charset="0"/>
              </a:rPr>
              <a:t>H</a:t>
            </a:r>
            <a:r>
              <a:rPr kumimoji="1" lang="en-US" altLang="zh-CN" sz="1600" baseline="-25000" dirty="0">
                <a:solidFill>
                  <a:schemeClr val="bg1"/>
                </a:solidFill>
                <a:latin typeface="Times New Roman" panose="02020603050405020304" pitchFamily="18" charset="0"/>
              </a:rPr>
              <a:t>4</a:t>
            </a:r>
            <a:r>
              <a:rPr kumimoji="1" lang="en-US" altLang="zh-CN" sz="1600" dirty="0">
                <a:solidFill>
                  <a:schemeClr val="bg1"/>
                </a:solidFill>
                <a:latin typeface="Times New Roman" panose="02020603050405020304" pitchFamily="18" charset="0"/>
              </a:rPr>
              <a:t>()</a:t>
            </a:r>
            <a:endParaRPr kumimoji="1" lang="zh-CN" altLang="en-US" sz="1600" dirty="0">
              <a:solidFill>
                <a:schemeClr val="bg1"/>
              </a:solidFill>
              <a:latin typeface="Times New Roman" panose="02020603050405020304" pitchFamily="18" charset="0"/>
            </a:endParaRPr>
          </a:p>
        </p:txBody>
      </p:sp>
      <p:sp>
        <p:nvSpPr>
          <p:cNvPr id="26" name="文本框 25">
            <a:extLst>
              <a:ext uri="{FF2B5EF4-FFF2-40B4-BE49-F238E27FC236}">
                <a16:creationId xmlns:a16="http://schemas.microsoft.com/office/drawing/2014/main" id="{87A50399-E2BF-4624-9592-B9D02E7D5C6F}"/>
              </a:ext>
            </a:extLst>
          </p:cNvPr>
          <p:cNvSpPr txBox="1"/>
          <p:nvPr/>
        </p:nvSpPr>
        <p:spPr>
          <a:xfrm>
            <a:off x="3255674" y="5434288"/>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7" name="文本框 26">
            <a:extLst>
              <a:ext uri="{FF2B5EF4-FFF2-40B4-BE49-F238E27FC236}">
                <a16:creationId xmlns:a16="http://schemas.microsoft.com/office/drawing/2014/main" id="{16779E56-9953-4151-8D98-19A2F992D48C}"/>
              </a:ext>
            </a:extLst>
          </p:cNvPr>
          <p:cNvSpPr txBox="1"/>
          <p:nvPr/>
        </p:nvSpPr>
        <p:spPr>
          <a:xfrm>
            <a:off x="4013110" y="5442074"/>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8" name="文本框 27">
            <a:extLst>
              <a:ext uri="{FF2B5EF4-FFF2-40B4-BE49-F238E27FC236}">
                <a16:creationId xmlns:a16="http://schemas.microsoft.com/office/drawing/2014/main" id="{F0A8DF6E-CCF8-4DBF-B323-2050DEF25482}"/>
              </a:ext>
            </a:extLst>
          </p:cNvPr>
          <p:cNvSpPr txBox="1"/>
          <p:nvPr/>
        </p:nvSpPr>
        <p:spPr>
          <a:xfrm>
            <a:off x="4758572" y="5434288"/>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9" name="文本框 28">
            <a:extLst>
              <a:ext uri="{FF2B5EF4-FFF2-40B4-BE49-F238E27FC236}">
                <a16:creationId xmlns:a16="http://schemas.microsoft.com/office/drawing/2014/main" id="{00CEB676-C313-4CF7-AA42-CE51DE3D583B}"/>
              </a:ext>
            </a:extLst>
          </p:cNvPr>
          <p:cNvSpPr txBox="1"/>
          <p:nvPr/>
        </p:nvSpPr>
        <p:spPr>
          <a:xfrm>
            <a:off x="5504266" y="5440986"/>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0" name="矩形 29">
            <a:extLst>
              <a:ext uri="{FF2B5EF4-FFF2-40B4-BE49-F238E27FC236}">
                <a16:creationId xmlns:a16="http://schemas.microsoft.com/office/drawing/2014/main" id="{5B34E75D-081F-4D93-9A0F-742F7944A6CD}"/>
              </a:ext>
            </a:extLst>
          </p:cNvPr>
          <p:cNvSpPr/>
          <p:nvPr/>
        </p:nvSpPr>
        <p:spPr>
          <a:xfrm>
            <a:off x="243468" y="4793172"/>
            <a:ext cx="1241127" cy="386437"/>
          </a:xfrm>
          <a:prstGeom prst="rect">
            <a:avLst/>
          </a:prstGeom>
          <a:solidFill>
            <a:srgbClr val="EE1A1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bg1"/>
                </a:solidFill>
                <a:latin typeface="Times New Roman" panose="02020603050405020304" pitchFamily="18" charset="0"/>
              </a:rPr>
              <a:t>H</a:t>
            </a:r>
            <a:r>
              <a:rPr kumimoji="1" lang="en-US" altLang="zh-CN" baseline="-25000" dirty="0">
                <a:solidFill>
                  <a:schemeClr val="bg1"/>
                </a:solidFill>
                <a:latin typeface="Times New Roman" panose="02020603050405020304" pitchFamily="18" charset="0"/>
              </a:rPr>
              <a:t>12</a:t>
            </a:r>
            <a:r>
              <a:rPr kumimoji="1" lang="en-US" altLang="zh-CN" dirty="0">
                <a:solidFill>
                  <a:schemeClr val="bg1"/>
                </a:solidFill>
                <a:latin typeface="Times New Roman" panose="02020603050405020304" pitchFamily="18" charset="0"/>
              </a:rPr>
              <a:t>()</a:t>
            </a:r>
            <a:endParaRPr kumimoji="1" lang="zh-CN" altLang="en-US" dirty="0">
              <a:solidFill>
                <a:schemeClr val="bg1"/>
              </a:solidFill>
              <a:latin typeface="Times New Roman" panose="02020603050405020304" pitchFamily="18" charset="0"/>
            </a:endParaRPr>
          </a:p>
        </p:txBody>
      </p:sp>
      <p:sp>
        <p:nvSpPr>
          <p:cNvPr id="31" name="矩形 30">
            <a:extLst>
              <a:ext uri="{FF2B5EF4-FFF2-40B4-BE49-F238E27FC236}">
                <a16:creationId xmlns:a16="http://schemas.microsoft.com/office/drawing/2014/main" id="{C02F6872-B96D-4960-93F1-C03CF3A95E9C}"/>
              </a:ext>
            </a:extLst>
          </p:cNvPr>
          <p:cNvSpPr/>
          <p:nvPr/>
        </p:nvSpPr>
        <p:spPr>
          <a:xfrm>
            <a:off x="1747487" y="4793172"/>
            <a:ext cx="1241127" cy="386437"/>
          </a:xfrm>
          <a:prstGeom prst="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bg1"/>
                </a:solidFill>
                <a:latin typeface="Times New Roman" panose="02020603050405020304" pitchFamily="18" charset="0"/>
              </a:rPr>
              <a:t>H</a:t>
            </a:r>
            <a:r>
              <a:rPr kumimoji="1" lang="en-US" altLang="zh-CN" baseline="-25000" dirty="0">
                <a:solidFill>
                  <a:schemeClr val="bg1"/>
                </a:solidFill>
                <a:latin typeface="Times New Roman" panose="02020603050405020304" pitchFamily="18" charset="0"/>
              </a:rPr>
              <a:t>34</a:t>
            </a:r>
            <a:r>
              <a:rPr kumimoji="1" lang="en-US" altLang="zh-CN" dirty="0">
                <a:solidFill>
                  <a:schemeClr val="bg1"/>
                </a:solidFill>
                <a:latin typeface="Times New Roman" panose="02020603050405020304" pitchFamily="18" charset="0"/>
              </a:rPr>
              <a:t>()</a:t>
            </a:r>
            <a:endParaRPr kumimoji="1" lang="zh-CN" altLang="en-US" dirty="0">
              <a:solidFill>
                <a:schemeClr val="bg1"/>
              </a:solidFill>
              <a:latin typeface="Times New Roman" panose="02020603050405020304" pitchFamily="18" charset="0"/>
            </a:endParaRPr>
          </a:p>
        </p:txBody>
      </p:sp>
      <p:sp>
        <p:nvSpPr>
          <p:cNvPr id="32" name="矩形 31">
            <a:extLst>
              <a:ext uri="{FF2B5EF4-FFF2-40B4-BE49-F238E27FC236}">
                <a16:creationId xmlns:a16="http://schemas.microsoft.com/office/drawing/2014/main" id="{E4A6362B-2532-4F09-9F04-8D88A20833E1}"/>
              </a:ext>
            </a:extLst>
          </p:cNvPr>
          <p:cNvSpPr/>
          <p:nvPr/>
        </p:nvSpPr>
        <p:spPr>
          <a:xfrm>
            <a:off x="3247997" y="4793172"/>
            <a:ext cx="1241127" cy="386437"/>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33" name="矩形 32">
            <a:extLst>
              <a:ext uri="{FF2B5EF4-FFF2-40B4-BE49-F238E27FC236}">
                <a16:creationId xmlns:a16="http://schemas.microsoft.com/office/drawing/2014/main" id="{16225F04-8BDF-4BFD-8F3B-5048AB676E44}"/>
              </a:ext>
            </a:extLst>
          </p:cNvPr>
          <p:cNvSpPr/>
          <p:nvPr/>
        </p:nvSpPr>
        <p:spPr>
          <a:xfrm>
            <a:off x="4748507" y="4793172"/>
            <a:ext cx="1241127" cy="386437"/>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34" name="矩形 33">
            <a:extLst>
              <a:ext uri="{FF2B5EF4-FFF2-40B4-BE49-F238E27FC236}">
                <a16:creationId xmlns:a16="http://schemas.microsoft.com/office/drawing/2014/main" id="{FB14E8DE-CA62-477E-8A7B-2516482DC0D3}"/>
              </a:ext>
            </a:extLst>
          </p:cNvPr>
          <p:cNvSpPr/>
          <p:nvPr/>
        </p:nvSpPr>
        <p:spPr>
          <a:xfrm>
            <a:off x="832363" y="4171893"/>
            <a:ext cx="1576863" cy="386437"/>
          </a:xfrm>
          <a:prstGeom prst="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bg1"/>
                </a:solidFill>
                <a:latin typeface="Times New Roman" panose="02020603050405020304" pitchFamily="18" charset="0"/>
              </a:rPr>
              <a:t>H</a:t>
            </a:r>
            <a:r>
              <a:rPr kumimoji="1" lang="en-US" altLang="zh-CN" baseline="-25000" dirty="0">
                <a:solidFill>
                  <a:schemeClr val="bg1"/>
                </a:solidFill>
                <a:latin typeface="Times New Roman" panose="02020603050405020304" pitchFamily="18" charset="0"/>
              </a:rPr>
              <a:t>1234</a:t>
            </a:r>
            <a:r>
              <a:rPr kumimoji="1" lang="en-US" altLang="zh-CN" dirty="0">
                <a:solidFill>
                  <a:schemeClr val="bg1"/>
                </a:solidFill>
                <a:latin typeface="Times New Roman" panose="02020603050405020304" pitchFamily="18" charset="0"/>
              </a:rPr>
              <a:t>()</a:t>
            </a:r>
            <a:endParaRPr kumimoji="1" lang="zh-CN" altLang="en-US" dirty="0">
              <a:solidFill>
                <a:schemeClr val="bg1"/>
              </a:solidFill>
              <a:latin typeface="Times New Roman" panose="02020603050405020304" pitchFamily="18" charset="0"/>
            </a:endParaRPr>
          </a:p>
        </p:txBody>
      </p:sp>
      <p:sp>
        <p:nvSpPr>
          <p:cNvPr id="35" name="矩形 34">
            <a:extLst>
              <a:ext uri="{FF2B5EF4-FFF2-40B4-BE49-F238E27FC236}">
                <a16:creationId xmlns:a16="http://schemas.microsoft.com/office/drawing/2014/main" id="{C1C9E940-1FDA-4D08-BF33-B2880FB6ED1E}"/>
              </a:ext>
            </a:extLst>
          </p:cNvPr>
          <p:cNvSpPr/>
          <p:nvPr/>
        </p:nvSpPr>
        <p:spPr>
          <a:xfrm>
            <a:off x="3838029" y="4171893"/>
            <a:ext cx="1576863" cy="386437"/>
          </a:xfrm>
          <a:prstGeom prst="rect">
            <a:avLst/>
          </a:prstGeom>
          <a:solidFill>
            <a:srgbClr val="EE1A1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bg1"/>
                </a:solidFill>
                <a:latin typeface="Times New Roman" panose="02020603050405020304" pitchFamily="18" charset="0"/>
              </a:rPr>
              <a:t>H</a:t>
            </a:r>
            <a:r>
              <a:rPr kumimoji="1" lang="en-US" altLang="zh-CN" baseline="-25000" dirty="0">
                <a:solidFill>
                  <a:schemeClr val="bg1"/>
                </a:solidFill>
                <a:latin typeface="Times New Roman" panose="02020603050405020304" pitchFamily="18" charset="0"/>
              </a:rPr>
              <a:t>5678</a:t>
            </a:r>
            <a:r>
              <a:rPr kumimoji="1" lang="en-US" altLang="zh-CN" dirty="0">
                <a:solidFill>
                  <a:schemeClr val="bg1"/>
                </a:solidFill>
                <a:latin typeface="Times New Roman" panose="02020603050405020304" pitchFamily="18" charset="0"/>
              </a:rPr>
              <a:t>()</a:t>
            </a:r>
            <a:endParaRPr kumimoji="1" lang="zh-CN" altLang="en-US" dirty="0">
              <a:solidFill>
                <a:schemeClr val="bg1"/>
              </a:solidFill>
              <a:latin typeface="Times New Roman" panose="02020603050405020304" pitchFamily="18" charset="0"/>
            </a:endParaRPr>
          </a:p>
        </p:txBody>
      </p:sp>
      <p:sp>
        <p:nvSpPr>
          <p:cNvPr id="36" name="矩形 35">
            <a:extLst>
              <a:ext uri="{FF2B5EF4-FFF2-40B4-BE49-F238E27FC236}">
                <a16:creationId xmlns:a16="http://schemas.microsoft.com/office/drawing/2014/main" id="{C19D6170-9BFA-4683-A20E-A09F3BAC9E61}"/>
              </a:ext>
            </a:extLst>
          </p:cNvPr>
          <p:cNvSpPr/>
          <p:nvPr/>
        </p:nvSpPr>
        <p:spPr>
          <a:xfrm>
            <a:off x="2330963" y="3547304"/>
            <a:ext cx="1576863" cy="386437"/>
          </a:xfrm>
          <a:prstGeom prst="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bg1"/>
                </a:solidFill>
                <a:latin typeface="Times New Roman" panose="02020603050405020304" pitchFamily="18" charset="0"/>
              </a:rPr>
              <a:t>H</a:t>
            </a:r>
            <a:r>
              <a:rPr kumimoji="1" lang="en-US" altLang="zh-CN" baseline="-25000" dirty="0">
                <a:solidFill>
                  <a:schemeClr val="bg1"/>
                </a:solidFill>
                <a:latin typeface="Times New Roman" panose="02020603050405020304" pitchFamily="18" charset="0"/>
              </a:rPr>
              <a:t>12345678</a:t>
            </a:r>
            <a:r>
              <a:rPr kumimoji="1" lang="en-US" altLang="zh-CN" dirty="0">
                <a:solidFill>
                  <a:schemeClr val="bg1"/>
                </a:solidFill>
                <a:latin typeface="Times New Roman" panose="02020603050405020304" pitchFamily="18" charset="0"/>
              </a:rPr>
              <a:t>()</a:t>
            </a:r>
            <a:endParaRPr kumimoji="1" lang="zh-CN" altLang="en-US" dirty="0">
              <a:solidFill>
                <a:schemeClr val="bg1"/>
              </a:solidFill>
              <a:latin typeface="Times New Roman" panose="02020603050405020304" pitchFamily="18" charset="0"/>
            </a:endParaRPr>
          </a:p>
        </p:txBody>
      </p:sp>
      <p:cxnSp>
        <p:nvCxnSpPr>
          <p:cNvPr id="37" name="直线箭头连接符 86">
            <a:extLst>
              <a:ext uri="{FF2B5EF4-FFF2-40B4-BE49-F238E27FC236}">
                <a16:creationId xmlns:a16="http://schemas.microsoft.com/office/drawing/2014/main" id="{16A046B4-5693-4A73-8BD1-A38E1D79B396}"/>
              </a:ext>
            </a:extLst>
          </p:cNvPr>
          <p:cNvCxnSpPr>
            <a:cxnSpLocks/>
            <a:endCxn id="14" idx="2"/>
          </p:cNvCxnSpPr>
          <p:nvPr/>
        </p:nvCxnSpPr>
        <p:spPr>
          <a:xfrm flipV="1">
            <a:off x="469608"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90">
            <a:extLst>
              <a:ext uri="{FF2B5EF4-FFF2-40B4-BE49-F238E27FC236}">
                <a16:creationId xmlns:a16="http://schemas.microsoft.com/office/drawing/2014/main" id="{7B63A1FE-9DA4-47EC-A589-D67A39BE1B90}"/>
              </a:ext>
            </a:extLst>
          </p:cNvPr>
          <p:cNvCxnSpPr>
            <a:cxnSpLocks/>
            <a:endCxn id="15" idx="2"/>
          </p:cNvCxnSpPr>
          <p:nvPr/>
        </p:nvCxnSpPr>
        <p:spPr>
          <a:xfrm flipV="1">
            <a:off x="1223537"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箭头连接符 91">
            <a:extLst>
              <a:ext uri="{FF2B5EF4-FFF2-40B4-BE49-F238E27FC236}">
                <a16:creationId xmlns:a16="http://schemas.microsoft.com/office/drawing/2014/main" id="{C33492E3-6627-4162-86AC-51E913598D00}"/>
              </a:ext>
            </a:extLst>
          </p:cNvPr>
          <p:cNvCxnSpPr>
            <a:cxnSpLocks/>
            <a:endCxn id="16" idx="2"/>
          </p:cNvCxnSpPr>
          <p:nvPr/>
        </p:nvCxnSpPr>
        <p:spPr>
          <a:xfrm flipV="1">
            <a:off x="1977466"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92">
            <a:extLst>
              <a:ext uri="{FF2B5EF4-FFF2-40B4-BE49-F238E27FC236}">
                <a16:creationId xmlns:a16="http://schemas.microsoft.com/office/drawing/2014/main" id="{F32A7052-9AC8-4216-B1CB-13A6DAD09E52}"/>
              </a:ext>
            </a:extLst>
          </p:cNvPr>
          <p:cNvCxnSpPr>
            <a:cxnSpLocks/>
            <a:endCxn id="17" idx="2"/>
          </p:cNvCxnSpPr>
          <p:nvPr/>
        </p:nvCxnSpPr>
        <p:spPr>
          <a:xfrm flipV="1">
            <a:off x="2731395"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93">
            <a:extLst>
              <a:ext uri="{FF2B5EF4-FFF2-40B4-BE49-F238E27FC236}">
                <a16:creationId xmlns:a16="http://schemas.microsoft.com/office/drawing/2014/main" id="{79D0EF6D-E432-4F0D-80BD-1BB10F2485CA}"/>
              </a:ext>
            </a:extLst>
          </p:cNvPr>
          <p:cNvCxnSpPr>
            <a:cxnSpLocks/>
            <a:endCxn id="18" idx="2"/>
          </p:cNvCxnSpPr>
          <p:nvPr/>
        </p:nvCxnSpPr>
        <p:spPr>
          <a:xfrm flipV="1">
            <a:off x="3485324"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94">
            <a:extLst>
              <a:ext uri="{FF2B5EF4-FFF2-40B4-BE49-F238E27FC236}">
                <a16:creationId xmlns:a16="http://schemas.microsoft.com/office/drawing/2014/main" id="{12DCC748-E0A9-4287-9B00-C03D8FE9F913}"/>
              </a:ext>
            </a:extLst>
          </p:cNvPr>
          <p:cNvCxnSpPr>
            <a:cxnSpLocks/>
            <a:endCxn id="19" idx="2"/>
          </p:cNvCxnSpPr>
          <p:nvPr/>
        </p:nvCxnSpPr>
        <p:spPr>
          <a:xfrm flipV="1">
            <a:off x="4239253"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95">
            <a:extLst>
              <a:ext uri="{FF2B5EF4-FFF2-40B4-BE49-F238E27FC236}">
                <a16:creationId xmlns:a16="http://schemas.microsoft.com/office/drawing/2014/main" id="{0BD57754-872B-42E5-AB5D-4209B2C71499}"/>
              </a:ext>
            </a:extLst>
          </p:cNvPr>
          <p:cNvCxnSpPr>
            <a:cxnSpLocks/>
            <a:endCxn id="20" idx="2"/>
          </p:cNvCxnSpPr>
          <p:nvPr/>
        </p:nvCxnSpPr>
        <p:spPr>
          <a:xfrm flipV="1">
            <a:off x="4993182" y="5857263"/>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线箭头连接符 96">
            <a:extLst>
              <a:ext uri="{FF2B5EF4-FFF2-40B4-BE49-F238E27FC236}">
                <a16:creationId xmlns:a16="http://schemas.microsoft.com/office/drawing/2014/main" id="{D646C5BF-3C95-4D15-B0F8-B92A1A26D739}"/>
              </a:ext>
            </a:extLst>
          </p:cNvPr>
          <p:cNvCxnSpPr>
            <a:cxnSpLocks/>
            <a:endCxn id="21" idx="2"/>
          </p:cNvCxnSpPr>
          <p:nvPr/>
        </p:nvCxnSpPr>
        <p:spPr>
          <a:xfrm flipV="1">
            <a:off x="5747109" y="5857262"/>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97">
            <a:extLst>
              <a:ext uri="{FF2B5EF4-FFF2-40B4-BE49-F238E27FC236}">
                <a16:creationId xmlns:a16="http://schemas.microsoft.com/office/drawing/2014/main" id="{C0E99D72-5A2F-49DD-81E5-796466C1EEA2}"/>
              </a:ext>
            </a:extLst>
          </p:cNvPr>
          <p:cNvCxnSpPr>
            <a:cxnSpLocks/>
            <a:endCxn id="30" idx="2"/>
          </p:cNvCxnSpPr>
          <p:nvPr/>
        </p:nvCxnSpPr>
        <p:spPr>
          <a:xfrm flipV="1">
            <a:off x="459599" y="5179609"/>
            <a:ext cx="404433" cy="23407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箭头连接符 99">
            <a:extLst>
              <a:ext uri="{FF2B5EF4-FFF2-40B4-BE49-F238E27FC236}">
                <a16:creationId xmlns:a16="http://schemas.microsoft.com/office/drawing/2014/main" id="{1AD577E3-7250-4376-8F0B-BBC7F5105B84}"/>
              </a:ext>
            </a:extLst>
          </p:cNvPr>
          <p:cNvCxnSpPr>
            <a:cxnSpLocks/>
            <a:stCxn id="15" idx="0"/>
            <a:endCxn id="30" idx="2"/>
          </p:cNvCxnSpPr>
          <p:nvPr/>
        </p:nvCxnSpPr>
        <p:spPr>
          <a:xfrm flipH="1" flipV="1">
            <a:off x="864032" y="5179609"/>
            <a:ext cx="359505" cy="234071"/>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102">
            <a:extLst>
              <a:ext uri="{FF2B5EF4-FFF2-40B4-BE49-F238E27FC236}">
                <a16:creationId xmlns:a16="http://schemas.microsoft.com/office/drawing/2014/main" id="{1F9E1BC9-FAF2-45C1-9A20-4FF16C5BB9E5}"/>
              </a:ext>
            </a:extLst>
          </p:cNvPr>
          <p:cNvCxnSpPr>
            <a:cxnSpLocks/>
            <a:endCxn id="31" idx="2"/>
          </p:cNvCxnSpPr>
          <p:nvPr/>
        </p:nvCxnSpPr>
        <p:spPr>
          <a:xfrm flipV="1">
            <a:off x="1953999" y="5179609"/>
            <a:ext cx="414052" cy="23017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103">
            <a:extLst>
              <a:ext uri="{FF2B5EF4-FFF2-40B4-BE49-F238E27FC236}">
                <a16:creationId xmlns:a16="http://schemas.microsoft.com/office/drawing/2014/main" id="{7630EFC7-B9CD-4542-A2C4-119D03DC3734}"/>
              </a:ext>
            </a:extLst>
          </p:cNvPr>
          <p:cNvCxnSpPr>
            <a:cxnSpLocks/>
            <a:endCxn id="31" idx="2"/>
          </p:cNvCxnSpPr>
          <p:nvPr/>
        </p:nvCxnSpPr>
        <p:spPr>
          <a:xfrm flipH="1" flipV="1">
            <a:off x="2368051" y="5179609"/>
            <a:ext cx="339846" cy="23192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104">
            <a:extLst>
              <a:ext uri="{FF2B5EF4-FFF2-40B4-BE49-F238E27FC236}">
                <a16:creationId xmlns:a16="http://schemas.microsoft.com/office/drawing/2014/main" id="{992D4434-2407-41A1-8402-B953BCB31CA6}"/>
              </a:ext>
            </a:extLst>
          </p:cNvPr>
          <p:cNvCxnSpPr>
            <a:cxnSpLocks/>
            <a:endCxn id="32" idx="2"/>
          </p:cNvCxnSpPr>
          <p:nvPr/>
        </p:nvCxnSpPr>
        <p:spPr>
          <a:xfrm flipH="1" flipV="1">
            <a:off x="3868561" y="5179609"/>
            <a:ext cx="344916" cy="23017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105">
            <a:extLst>
              <a:ext uri="{FF2B5EF4-FFF2-40B4-BE49-F238E27FC236}">
                <a16:creationId xmlns:a16="http://schemas.microsoft.com/office/drawing/2014/main" id="{A70BB27F-3C8F-4B6E-BDD0-5CAF6C1750B9}"/>
              </a:ext>
            </a:extLst>
          </p:cNvPr>
          <p:cNvCxnSpPr>
            <a:cxnSpLocks/>
            <a:endCxn id="33" idx="2"/>
          </p:cNvCxnSpPr>
          <p:nvPr/>
        </p:nvCxnSpPr>
        <p:spPr>
          <a:xfrm flipH="1" flipV="1">
            <a:off x="5369071" y="5179609"/>
            <a:ext cx="348426" cy="22531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106">
            <a:extLst>
              <a:ext uri="{FF2B5EF4-FFF2-40B4-BE49-F238E27FC236}">
                <a16:creationId xmlns:a16="http://schemas.microsoft.com/office/drawing/2014/main" id="{06AB23A9-E5A8-4249-AEA1-7A71C4765EAA}"/>
              </a:ext>
            </a:extLst>
          </p:cNvPr>
          <p:cNvCxnSpPr>
            <a:cxnSpLocks/>
            <a:stCxn id="33" idx="0"/>
            <a:endCxn id="64" idx="0"/>
          </p:cNvCxnSpPr>
          <p:nvPr/>
        </p:nvCxnSpPr>
        <p:spPr>
          <a:xfrm flipH="1" flipV="1">
            <a:off x="4590898" y="4578217"/>
            <a:ext cx="778173" cy="214955"/>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线箭头连接符 108">
            <a:extLst>
              <a:ext uri="{FF2B5EF4-FFF2-40B4-BE49-F238E27FC236}">
                <a16:creationId xmlns:a16="http://schemas.microsoft.com/office/drawing/2014/main" id="{740F4656-CED8-4986-A77A-64625779CDAC}"/>
              </a:ext>
            </a:extLst>
          </p:cNvPr>
          <p:cNvCxnSpPr>
            <a:cxnSpLocks/>
            <a:stCxn id="35" idx="0"/>
          </p:cNvCxnSpPr>
          <p:nvPr/>
        </p:nvCxnSpPr>
        <p:spPr>
          <a:xfrm flipH="1" flipV="1">
            <a:off x="3084497" y="3916976"/>
            <a:ext cx="1541964" cy="254917"/>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线箭头连接符 110">
            <a:extLst>
              <a:ext uri="{FF2B5EF4-FFF2-40B4-BE49-F238E27FC236}">
                <a16:creationId xmlns:a16="http://schemas.microsoft.com/office/drawing/2014/main" id="{3CD48AEA-10DE-4D05-BAC8-9618C4EAB87F}"/>
              </a:ext>
            </a:extLst>
          </p:cNvPr>
          <p:cNvCxnSpPr>
            <a:cxnSpLocks/>
            <a:endCxn id="32" idx="2"/>
          </p:cNvCxnSpPr>
          <p:nvPr/>
        </p:nvCxnSpPr>
        <p:spPr>
          <a:xfrm flipV="1">
            <a:off x="3477362" y="5179609"/>
            <a:ext cx="391199" cy="23017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111">
            <a:extLst>
              <a:ext uri="{FF2B5EF4-FFF2-40B4-BE49-F238E27FC236}">
                <a16:creationId xmlns:a16="http://schemas.microsoft.com/office/drawing/2014/main" id="{DBD95BA6-7AE9-473D-AAAC-7EBBB6A59551}"/>
              </a:ext>
            </a:extLst>
          </p:cNvPr>
          <p:cNvCxnSpPr>
            <a:cxnSpLocks/>
            <a:endCxn id="33" idx="2"/>
          </p:cNvCxnSpPr>
          <p:nvPr/>
        </p:nvCxnSpPr>
        <p:spPr>
          <a:xfrm flipV="1">
            <a:off x="4983171" y="5179609"/>
            <a:ext cx="385900" cy="23017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112">
            <a:extLst>
              <a:ext uri="{FF2B5EF4-FFF2-40B4-BE49-F238E27FC236}">
                <a16:creationId xmlns:a16="http://schemas.microsoft.com/office/drawing/2014/main" id="{DD92B270-95F3-4049-B26B-19F3E7634C7E}"/>
              </a:ext>
            </a:extLst>
          </p:cNvPr>
          <p:cNvCxnSpPr>
            <a:cxnSpLocks/>
            <a:stCxn id="30" idx="0"/>
          </p:cNvCxnSpPr>
          <p:nvPr/>
        </p:nvCxnSpPr>
        <p:spPr>
          <a:xfrm flipV="1">
            <a:off x="864032" y="4550929"/>
            <a:ext cx="699798" cy="242243"/>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线箭头连接符 114">
            <a:extLst>
              <a:ext uri="{FF2B5EF4-FFF2-40B4-BE49-F238E27FC236}">
                <a16:creationId xmlns:a16="http://schemas.microsoft.com/office/drawing/2014/main" id="{C0621BCE-1E1D-409C-8AC3-8CC4EE7A8C85}"/>
              </a:ext>
            </a:extLst>
          </p:cNvPr>
          <p:cNvCxnSpPr>
            <a:cxnSpLocks/>
            <a:endCxn id="64" idx="0"/>
          </p:cNvCxnSpPr>
          <p:nvPr/>
        </p:nvCxnSpPr>
        <p:spPr>
          <a:xfrm flipV="1">
            <a:off x="3860804" y="4578217"/>
            <a:ext cx="730094" cy="19718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115">
            <a:extLst>
              <a:ext uri="{FF2B5EF4-FFF2-40B4-BE49-F238E27FC236}">
                <a16:creationId xmlns:a16="http://schemas.microsoft.com/office/drawing/2014/main" id="{A37F7C50-E1C0-4225-9E47-5FAC825003F1}"/>
              </a:ext>
            </a:extLst>
          </p:cNvPr>
          <p:cNvCxnSpPr>
            <a:cxnSpLocks/>
            <a:endCxn id="34" idx="2"/>
          </p:cNvCxnSpPr>
          <p:nvPr/>
        </p:nvCxnSpPr>
        <p:spPr>
          <a:xfrm flipH="1" flipV="1">
            <a:off x="1620795" y="4558330"/>
            <a:ext cx="673700" cy="24276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116">
            <a:extLst>
              <a:ext uri="{FF2B5EF4-FFF2-40B4-BE49-F238E27FC236}">
                <a16:creationId xmlns:a16="http://schemas.microsoft.com/office/drawing/2014/main" id="{4E09F76A-FC8A-4243-AD19-6A0DC004E66D}"/>
              </a:ext>
            </a:extLst>
          </p:cNvPr>
          <p:cNvCxnSpPr>
            <a:cxnSpLocks/>
            <a:stCxn id="34" idx="0"/>
          </p:cNvCxnSpPr>
          <p:nvPr/>
        </p:nvCxnSpPr>
        <p:spPr>
          <a:xfrm flipV="1">
            <a:off x="1620795" y="3906226"/>
            <a:ext cx="1467035" cy="265667"/>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59" name="十字形 58">
            <a:extLst>
              <a:ext uri="{FF2B5EF4-FFF2-40B4-BE49-F238E27FC236}">
                <a16:creationId xmlns:a16="http://schemas.microsoft.com/office/drawing/2014/main" id="{D664EA8B-E666-436C-9FD5-75870DD80C50}"/>
              </a:ext>
            </a:extLst>
          </p:cNvPr>
          <p:cNvSpPr/>
          <p:nvPr/>
        </p:nvSpPr>
        <p:spPr>
          <a:xfrm>
            <a:off x="739197" y="5231088"/>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0" name="十字形 59">
            <a:extLst>
              <a:ext uri="{FF2B5EF4-FFF2-40B4-BE49-F238E27FC236}">
                <a16:creationId xmlns:a16="http://schemas.microsoft.com/office/drawing/2014/main" id="{83A51958-3031-4554-89B2-F715B48F55C8}"/>
              </a:ext>
            </a:extLst>
          </p:cNvPr>
          <p:cNvSpPr/>
          <p:nvPr/>
        </p:nvSpPr>
        <p:spPr>
          <a:xfrm>
            <a:off x="2239985" y="5217962"/>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1" name="十字形 60">
            <a:extLst>
              <a:ext uri="{FF2B5EF4-FFF2-40B4-BE49-F238E27FC236}">
                <a16:creationId xmlns:a16="http://schemas.microsoft.com/office/drawing/2014/main" id="{85FB537B-B829-439C-8E16-E02EB2E390D3}"/>
              </a:ext>
            </a:extLst>
          </p:cNvPr>
          <p:cNvSpPr/>
          <p:nvPr/>
        </p:nvSpPr>
        <p:spPr>
          <a:xfrm>
            <a:off x="3745477" y="5208330"/>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2" name="十字形 61">
            <a:extLst>
              <a:ext uri="{FF2B5EF4-FFF2-40B4-BE49-F238E27FC236}">
                <a16:creationId xmlns:a16="http://schemas.microsoft.com/office/drawing/2014/main" id="{9993D18E-91A1-49BF-ABAB-12BE3D7C759A}"/>
              </a:ext>
            </a:extLst>
          </p:cNvPr>
          <p:cNvSpPr/>
          <p:nvPr/>
        </p:nvSpPr>
        <p:spPr>
          <a:xfrm>
            <a:off x="5240519" y="5226222"/>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3" name="十字形 62">
            <a:extLst>
              <a:ext uri="{FF2B5EF4-FFF2-40B4-BE49-F238E27FC236}">
                <a16:creationId xmlns:a16="http://schemas.microsoft.com/office/drawing/2014/main" id="{4BCFE5A0-607A-4B16-89C4-F0D32683D9BE}"/>
              </a:ext>
            </a:extLst>
          </p:cNvPr>
          <p:cNvSpPr/>
          <p:nvPr/>
        </p:nvSpPr>
        <p:spPr>
          <a:xfrm>
            <a:off x="1463976" y="4578217"/>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4" name="十字形 63">
            <a:extLst>
              <a:ext uri="{FF2B5EF4-FFF2-40B4-BE49-F238E27FC236}">
                <a16:creationId xmlns:a16="http://schemas.microsoft.com/office/drawing/2014/main" id="{0B47A941-89D0-46DE-870A-63FAF303DB25}"/>
              </a:ext>
            </a:extLst>
          </p:cNvPr>
          <p:cNvSpPr/>
          <p:nvPr/>
        </p:nvSpPr>
        <p:spPr>
          <a:xfrm>
            <a:off x="4484592" y="4578217"/>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5" name="十字形 64">
            <a:extLst>
              <a:ext uri="{FF2B5EF4-FFF2-40B4-BE49-F238E27FC236}">
                <a16:creationId xmlns:a16="http://schemas.microsoft.com/office/drawing/2014/main" id="{48CC28C6-2A1C-44AA-9F4F-2F09A2A6BCF8}"/>
              </a:ext>
            </a:extLst>
          </p:cNvPr>
          <p:cNvSpPr/>
          <p:nvPr/>
        </p:nvSpPr>
        <p:spPr>
          <a:xfrm>
            <a:off x="2984675" y="3943304"/>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88" name="文本框 87">
            <a:extLst>
              <a:ext uri="{FF2B5EF4-FFF2-40B4-BE49-F238E27FC236}">
                <a16:creationId xmlns:a16="http://schemas.microsoft.com/office/drawing/2014/main" id="{7142D481-1FFB-4C2A-BD23-5866F155263B}"/>
              </a:ext>
            </a:extLst>
          </p:cNvPr>
          <p:cNvSpPr txBox="1"/>
          <p:nvPr/>
        </p:nvSpPr>
        <p:spPr>
          <a:xfrm>
            <a:off x="6238251" y="1299316"/>
            <a:ext cx="4269117" cy="646331"/>
          </a:xfrm>
          <a:prstGeom prst="rect">
            <a:avLst/>
          </a:prstGeom>
          <a:noFill/>
        </p:spPr>
        <p:txBody>
          <a:bodyPr wrap="none" rtlCol="0">
            <a:spAutoFit/>
          </a:bodyPr>
          <a:lstStyle/>
          <a:p>
            <a:pPr marL="285750" indent="-28575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全节点返回的内容</a:t>
            </a:r>
            <a:r>
              <a:rPr lang="zh-CN" altLang="en-US" dirty="0">
                <a:solidFill>
                  <a:srgbClr val="002060"/>
                </a:solidFill>
                <a:latin typeface="Times New Roman" panose="02020603050405020304" pitchFamily="18" charset="0"/>
                <a:ea typeface="微软雅黑" panose="020B0503020204020204" pitchFamily="34" charset="-122"/>
              </a:rPr>
              <a:t>：</a:t>
            </a:r>
            <a:r>
              <a:rPr kumimoji="1" lang="en-US" altLang="zh-CN" dirty="0">
                <a:solidFill>
                  <a:srgbClr val="002060"/>
                </a:solidFill>
                <a:latin typeface="Times New Roman" panose="02020603050405020304" pitchFamily="18" charset="0"/>
                <a:ea typeface="微软雅黑" panose="020B0503020204020204" pitchFamily="34" charset="-122"/>
              </a:rPr>
              <a:t>Tx</a:t>
            </a:r>
            <a:r>
              <a:rPr kumimoji="1" lang="en-US" altLang="zh-CN" baseline="-25000" dirty="0">
                <a:solidFill>
                  <a:srgbClr val="002060"/>
                </a:solidFill>
                <a:latin typeface="Times New Roman" panose="02020603050405020304" pitchFamily="18" charset="0"/>
                <a:ea typeface="微软雅黑" panose="020B0503020204020204" pitchFamily="34" charset="-122"/>
              </a:rPr>
              <a:t>3</a:t>
            </a:r>
            <a:r>
              <a:rPr kumimoji="1" lang="en-US" altLang="zh-CN" dirty="0">
                <a:solidFill>
                  <a:srgbClr val="002060"/>
                </a:solidFill>
                <a:latin typeface="Times New Roman" panose="02020603050405020304" pitchFamily="18" charset="0"/>
                <a:ea typeface="微软雅黑" panose="020B0503020204020204" pitchFamily="34" charset="-122"/>
              </a:rPr>
              <a:t>, H</a:t>
            </a:r>
            <a:r>
              <a:rPr kumimoji="1" lang="en-US" altLang="zh-CN" baseline="-25000" dirty="0">
                <a:solidFill>
                  <a:srgbClr val="002060"/>
                </a:solidFill>
                <a:latin typeface="Times New Roman" panose="02020603050405020304" pitchFamily="18" charset="0"/>
                <a:ea typeface="微软雅黑" panose="020B0503020204020204" pitchFamily="34" charset="-122"/>
              </a:rPr>
              <a:t>4</a:t>
            </a:r>
            <a:r>
              <a:rPr kumimoji="1" lang="en-US" altLang="zh-CN" dirty="0">
                <a:solidFill>
                  <a:srgbClr val="002060"/>
                </a:solidFill>
                <a:latin typeface="Times New Roman" panose="02020603050405020304" pitchFamily="18" charset="0"/>
                <a:ea typeface="微软雅黑" panose="020B0503020204020204" pitchFamily="34" charset="-122"/>
              </a:rPr>
              <a:t>, H</a:t>
            </a:r>
            <a:r>
              <a:rPr kumimoji="1" lang="en-US" altLang="zh-CN" baseline="-25000" dirty="0">
                <a:solidFill>
                  <a:srgbClr val="002060"/>
                </a:solidFill>
                <a:latin typeface="Times New Roman" panose="02020603050405020304" pitchFamily="18" charset="0"/>
                <a:ea typeface="微软雅黑" panose="020B0503020204020204" pitchFamily="34" charset="-122"/>
              </a:rPr>
              <a:t>12</a:t>
            </a:r>
            <a:r>
              <a:rPr kumimoji="1" lang="en-US" altLang="zh-CN" dirty="0">
                <a:solidFill>
                  <a:srgbClr val="002060"/>
                </a:solidFill>
                <a:latin typeface="Times New Roman" panose="02020603050405020304" pitchFamily="18" charset="0"/>
                <a:ea typeface="微软雅黑" panose="020B0503020204020204" pitchFamily="34" charset="-122"/>
              </a:rPr>
              <a:t>, H</a:t>
            </a:r>
            <a:r>
              <a:rPr kumimoji="1" lang="en-US" altLang="zh-CN" baseline="-25000" dirty="0">
                <a:solidFill>
                  <a:srgbClr val="002060"/>
                </a:solidFill>
                <a:latin typeface="Times New Roman" panose="02020603050405020304" pitchFamily="18" charset="0"/>
                <a:ea typeface="微软雅黑" panose="020B0503020204020204" pitchFamily="34" charset="-122"/>
              </a:rPr>
              <a:t>5678</a:t>
            </a:r>
            <a:endParaRPr kumimoji="1" lang="zh-CN" altLang="en-US" baseline="-25000" dirty="0">
              <a:solidFill>
                <a:srgbClr val="002060"/>
              </a:solidFill>
              <a:latin typeface="Times New Roman" panose="02020603050405020304" pitchFamily="18" charset="0"/>
              <a:ea typeface="微软雅黑" panose="020B0503020204020204" pitchFamily="34" charset="-122"/>
            </a:endParaRPr>
          </a:p>
          <a:p>
            <a:pPr marL="285750" indent="-285750">
              <a:buFont typeface="Wingdings" panose="05000000000000000000" pitchFamily="2" charset="2"/>
              <a:buChar char="p"/>
            </a:pPr>
            <a:r>
              <a:rPr lang="en-US" altLang="zh-CN" dirty="0">
                <a:latin typeface="Times New Roman" panose="02020603050405020304" pitchFamily="18" charset="0"/>
                <a:ea typeface="微软雅黑" panose="020B0503020204020204" pitchFamily="34" charset="-122"/>
              </a:rPr>
              <a:t>Merkle Proof</a:t>
            </a:r>
            <a:r>
              <a:rPr lang="zh-CN" altLang="en-US" dirty="0">
                <a:latin typeface="Times New Roman" panose="02020603050405020304" pitchFamily="18" charset="0"/>
                <a:ea typeface="微软雅黑" panose="020B0503020204020204" pitchFamily="34" charset="-122"/>
              </a:rPr>
              <a:t>：</a:t>
            </a:r>
            <a:endParaRPr lang="en-US" altLang="zh-CN" dirty="0">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156E8B16-82A2-4FA3-BE57-145E2714E2C2}"/>
                  </a:ext>
                </a:extLst>
              </p:cNvPr>
              <p:cNvSpPr txBox="1"/>
              <p:nvPr/>
            </p:nvSpPr>
            <p:spPr>
              <a:xfrm>
                <a:off x="6468359" y="1956942"/>
                <a:ext cx="395550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H</m:t>
                      </m:r>
                      <m:r>
                        <a:rPr lang="en-US" altLang="zh-CN" b="0" i="0" baseline="-25000" smtClean="0">
                          <a:latin typeface="Cambria Math" panose="02040503050406030204" pitchFamily="18" charset="0"/>
                        </a:rPr>
                        <m:t>3</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Tx</m:t>
                          </m:r>
                          <m:r>
                            <a:rPr lang="en-US" altLang="zh-CN" b="0" i="0" baseline="-25000" smtClean="0">
                              <a:latin typeface="Cambria Math" panose="02040503050406030204" pitchFamily="18" charset="0"/>
                            </a:rPr>
                            <m:t>3</m:t>
                          </m:r>
                        </m:e>
                      </m:d>
                      <m:r>
                        <a:rPr lang="en-US" altLang="zh-CN" b="0" i="1" smtClean="0">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rPr>
                        <m:t>H</m:t>
                      </m:r>
                      <m:r>
                        <a:rPr lang="en-US" altLang="zh-CN" baseline="-25000">
                          <a:latin typeface="Cambria Math" panose="02040503050406030204" pitchFamily="18" charset="0"/>
                        </a:rPr>
                        <m:t>3</m:t>
                      </m:r>
                      <m:r>
                        <a:rPr lang="en-US" altLang="zh-CN" b="0" i="0" baseline="-25000" smtClean="0">
                          <a:latin typeface="Cambria Math" panose="02040503050406030204" pitchFamily="18" charset="0"/>
                        </a:rPr>
                        <m:t>4</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H</m:t>
                          </m:r>
                          <m:r>
                            <a:rPr lang="en-US" altLang="zh-CN" baseline="-25000">
                              <a:latin typeface="Cambria Math" panose="02040503050406030204" pitchFamily="18" charset="0"/>
                            </a:rPr>
                            <m:t>3</m:t>
                          </m:r>
                          <m:r>
                            <m:rPr>
                              <m:sty m:val="p"/>
                            </m:rPr>
                            <a:rPr lang="en-US" altLang="zh-CN" b="0" i="0" smtClean="0">
                              <a:latin typeface="Cambria Math" panose="02040503050406030204" pitchFamily="18" charset="0"/>
                            </a:rPr>
                            <m:t>H</m:t>
                          </m:r>
                          <m:r>
                            <a:rPr lang="en-US" altLang="zh-CN" b="0" i="0" baseline="-25000" smtClean="0">
                              <a:latin typeface="Cambria Math" panose="02040503050406030204" pitchFamily="18" charset="0"/>
                            </a:rPr>
                            <m:t>4</m:t>
                          </m:r>
                        </m:e>
                      </m:d>
                      <m:r>
                        <a:rPr lang="en-US" altLang="zh-CN" i="1">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H</m:t>
                      </m:r>
                      <m:r>
                        <a:rPr lang="en-US" altLang="zh-CN" b="0" i="0" baseline="-25000" smtClean="0">
                          <a:latin typeface="Cambria Math" panose="02040503050406030204" pitchFamily="18" charset="0"/>
                          <a:ea typeface="Cambria Math" panose="02040503050406030204" pitchFamily="18" charset="0"/>
                        </a:rPr>
                        <m:t>1234</m:t>
                      </m:r>
                      <m:d>
                        <m:dPr>
                          <m:ctrlPr>
                            <a:rPr lang="en-US" altLang="zh-CN" b="0" i="1" smtClean="0">
                              <a:latin typeface="Cambria Math" panose="02040503050406030204" pitchFamily="18" charset="0"/>
                              <a:ea typeface="Cambria Math" panose="02040503050406030204" pitchFamily="18" charset="0"/>
                            </a:rPr>
                          </m:ctrlPr>
                        </m:dPr>
                        <m:e>
                          <m:r>
                            <m:rPr>
                              <m:sty m:val="p"/>
                            </m:rPr>
                            <a:rPr lang="en-US" altLang="zh-CN" b="0" i="0" smtClean="0">
                              <a:latin typeface="Cambria Math" panose="02040503050406030204" pitchFamily="18" charset="0"/>
                              <a:ea typeface="Cambria Math" panose="02040503050406030204" pitchFamily="18" charset="0"/>
                            </a:rPr>
                            <m:t>H</m:t>
                          </m:r>
                          <m:r>
                            <a:rPr lang="en-US" altLang="zh-CN" b="0" i="0" baseline="-25000" smtClean="0">
                              <a:latin typeface="Cambria Math" panose="02040503050406030204" pitchFamily="18" charset="0"/>
                              <a:ea typeface="Cambria Math" panose="02040503050406030204" pitchFamily="18" charset="0"/>
                            </a:rPr>
                            <m:t>12</m:t>
                          </m:r>
                          <m:r>
                            <m:rPr>
                              <m:sty m:val="p"/>
                            </m:rPr>
                            <a:rPr lang="en-US" altLang="zh-CN" b="0" i="0" smtClean="0">
                              <a:latin typeface="Cambria Math" panose="02040503050406030204" pitchFamily="18" charset="0"/>
                              <a:ea typeface="Cambria Math" panose="02040503050406030204" pitchFamily="18" charset="0"/>
                            </a:rPr>
                            <m:t>H</m:t>
                          </m:r>
                          <m:r>
                            <a:rPr lang="en-US" altLang="zh-CN" b="0" i="0" baseline="-25000" smtClean="0">
                              <a:latin typeface="Cambria Math" panose="02040503050406030204" pitchFamily="18" charset="0"/>
                              <a:ea typeface="Cambria Math" panose="02040503050406030204" pitchFamily="18" charset="0"/>
                            </a:rPr>
                            <m:t>34</m:t>
                          </m:r>
                        </m:e>
                      </m:d>
                    </m:oMath>
                  </m:oMathPara>
                </a14:m>
                <a:endParaRPr lang="en-US" altLang="zh-CN" b="0" i="0" dirty="0">
                  <a:latin typeface="Times New Roman" panose="02020603050405020304" pitchFamily="18" charset="0"/>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H</m:t>
                      </m:r>
                      <m:r>
                        <a:rPr lang="en-US" altLang="zh-CN" b="0" i="0" baseline="-25000" smtClean="0">
                          <a:latin typeface="Cambria Math" panose="02040503050406030204" pitchFamily="18" charset="0"/>
                          <a:ea typeface="Cambria Math" panose="02040503050406030204" pitchFamily="18" charset="0"/>
                        </a:rPr>
                        <m:t>12345678</m:t>
                      </m:r>
                      <m:r>
                        <a:rPr lang="en-US" altLang="zh-CN" b="0" i="0"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H</m:t>
                      </m:r>
                      <m:r>
                        <a:rPr lang="en-US" altLang="zh-CN" b="0" i="0" baseline="-25000" smtClean="0">
                          <a:latin typeface="Cambria Math" panose="02040503050406030204" pitchFamily="18" charset="0"/>
                          <a:ea typeface="Cambria Math" panose="02040503050406030204" pitchFamily="18" charset="0"/>
                        </a:rPr>
                        <m:t>1234</m:t>
                      </m:r>
                      <m:r>
                        <m:rPr>
                          <m:sty m:val="p"/>
                        </m:rPr>
                        <a:rPr lang="en-US" altLang="zh-CN" b="0" i="0" smtClean="0">
                          <a:latin typeface="Cambria Math" panose="02040503050406030204" pitchFamily="18" charset="0"/>
                          <a:ea typeface="Cambria Math" panose="02040503050406030204" pitchFamily="18" charset="0"/>
                        </a:rPr>
                        <m:t>H</m:t>
                      </m:r>
                      <m:r>
                        <a:rPr lang="en-US" altLang="zh-CN" b="0" i="0" baseline="-25000" smtClean="0">
                          <a:latin typeface="Cambria Math" panose="02040503050406030204" pitchFamily="18" charset="0"/>
                          <a:ea typeface="Cambria Math" panose="02040503050406030204" pitchFamily="18" charset="0"/>
                        </a:rPr>
                        <m:t>5678</m:t>
                      </m:r>
                      <m:r>
                        <a:rPr lang="en-US" altLang="zh-CN" b="0" i="0" smtClean="0">
                          <a:latin typeface="Cambria Math" panose="02040503050406030204" pitchFamily="18" charset="0"/>
                          <a:ea typeface="Cambria Math" panose="02040503050406030204" pitchFamily="18" charset="0"/>
                        </a:rPr>
                        <m:t>)</m:t>
                      </m:r>
                    </m:oMath>
                  </m:oMathPara>
                </a14:m>
                <a:endParaRPr lang="zh-CN" altLang="en-US" dirty="0">
                  <a:latin typeface="Times New Roman" panose="02020603050405020304" pitchFamily="18" charset="0"/>
                  <a:ea typeface="微软雅黑" panose="020B0503020204020204" pitchFamily="34" charset="-122"/>
                </a:endParaRPr>
              </a:p>
            </p:txBody>
          </p:sp>
        </mc:Choice>
        <mc:Fallback xmlns="">
          <p:sp>
            <p:nvSpPr>
              <p:cNvPr id="89" name="文本框 88">
                <a:extLst>
                  <a:ext uri="{FF2B5EF4-FFF2-40B4-BE49-F238E27FC236}">
                    <a16:creationId xmlns:a16="http://schemas.microsoft.com/office/drawing/2014/main" id="{156E8B16-82A2-4FA3-BE57-145E2714E2C2}"/>
                  </a:ext>
                </a:extLst>
              </p:cNvPr>
              <p:cNvSpPr txBox="1">
                <a:spLocks noRot="1" noChangeAspect="1" noMove="1" noResize="1" noEditPoints="1" noAdjustHandles="1" noChangeArrowheads="1" noChangeShapeType="1" noTextEdit="1"/>
              </p:cNvSpPr>
              <p:nvPr/>
            </p:nvSpPr>
            <p:spPr>
              <a:xfrm>
                <a:off x="6468359" y="1956942"/>
                <a:ext cx="3955505" cy="553998"/>
              </a:xfrm>
              <a:prstGeom prst="rect">
                <a:avLst/>
              </a:prstGeom>
              <a:blipFill>
                <a:blip r:embed="rId4"/>
                <a:stretch>
                  <a:fillRect b="-17582"/>
                </a:stretch>
              </a:blipFill>
            </p:spPr>
            <p:txBody>
              <a:bodyPr/>
              <a:lstStyle/>
              <a:p>
                <a:r>
                  <a:rPr lang="zh-CN" altLang="en-US">
                    <a:noFill/>
                  </a:rPr>
                  <a:t> </a:t>
                </a:r>
              </a:p>
            </p:txBody>
          </p:sp>
        </mc:Fallback>
      </mc:AlternateContent>
      <p:sp>
        <p:nvSpPr>
          <p:cNvPr id="90" name="文本框 89">
            <a:extLst>
              <a:ext uri="{FF2B5EF4-FFF2-40B4-BE49-F238E27FC236}">
                <a16:creationId xmlns:a16="http://schemas.microsoft.com/office/drawing/2014/main" id="{35E084A5-893B-42B4-AB40-133D27D10609}"/>
              </a:ext>
            </a:extLst>
          </p:cNvPr>
          <p:cNvSpPr txBox="1"/>
          <p:nvPr/>
        </p:nvSpPr>
        <p:spPr>
          <a:xfrm>
            <a:off x="9667593" y="2282565"/>
            <a:ext cx="1702710" cy="338554"/>
          </a:xfrm>
          <a:prstGeom prst="rect">
            <a:avLst/>
          </a:prstGeom>
          <a:solidFill>
            <a:srgbClr val="FFC000"/>
          </a:solidFill>
          <a:ln w="19050">
            <a:solidFill>
              <a:srgbClr val="002060"/>
            </a:solidFill>
            <a:prstDash val="dash"/>
          </a:ln>
        </p:spPr>
        <p:txBody>
          <a:bodyPr wrap="none" rtlCol="0">
            <a:spAutoFit/>
          </a:bodyPr>
          <a:lstStyle/>
          <a:p>
            <a:r>
              <a:rPr lang="en-US" altLang="zh-CN" sz="1600" dirty="0">
                <a:latin typeface="Times New Roman" panose="02020603050405020304" pitchFamily="18" charset="0"/>
                <a:ea typeface="微软雅黑" panose="020B0503020204020204" pitchFamily="34" charset="-122"/>
              </a:rPr>
              <a:t>Merkle Root Hash</a:t>
            </a:r>
            <a:endParaRPr lang="zh-CN" altLang="en-US" sz="1600" dirty="0">
              <a:latin typeface="Times New Roman" panose="02020603050405020304" pitchFamily="18" charset="0"/>
              <a:ea typeface="微软雅黑" panose="020B0503020204020204" pitchFamily="34" charset="-122"/>
            </a:endParaRPr>
          </a:p>
        </p:txBody>
      </p:sp>
      <p:pic>
        <p:nvPicPr>
          <p:cNvPr id="91" name="图片 90">
            <a:extLst>
              <a:ext uri="{FF2B5EF4-FFF2-40B4-BE49-F238E27FC236}">
                <a16:creationId xmlns:a16="http://schemas.microsoft.com/office/drawing/2014/main" id="{D3B77FAD-1A68-4CBA-AE5B-AEB3401AB9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8251" y="2480820"/>
            <a:ext cx="457200" cy="457200"/>
          </a:xfrm>
          <a:prstGeom prst="rect">
            <a:avLst/>
          </a:prstGeom>
        </p:spPr>
      </p:pic>
      <p:sp>
        <p:nvSpPr>
          <p:cNvPr id="92" name="文本框 91">
            <a:extLst>
              <a:ext uri="{FF2B5EF4-FFF2-40B4-BE49-F238E27FC236}">
                <a16:creationId xmlns:a16="http://schemas.microsoft.com/office/drawing/2014/main" id="{54100EE4-3238-47EB-8D4B-99A6D500C5DC}"/>
              </a:ext>
            </a:extLst>
          </p:cNvPr>
          <p:cNvSpPr txBox="1"/>
          <p:nvPr/>
        </p:nvSpPr>
        <p:spPr>
          <a:xfrm>
            <a:off x="6550085" y="2557020"/>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例：</a:t>
            </a:r>
          </a:p>
        </p:txBody>
      </p:sp>
      <p:sp>
        <p:nvSpPr>
          <p:cNvPr id="93" name="文本框 92">
            <a:extLst>
              <a:ext uri="{FF2B5EF4-FFF2-40B4-BE49-F238E27FC236}">
                <a16:creationId xmlns:a16="http://schemas.microsoft.com/office/drawing/2014/main" id="{9E04E2BC-1D90-44D5-BB7D-5703DFCD2EC0}"/>
              </a:ext>
            </a:extLst>
          </p:cNvPr>
          <p:cNvSpPr txBox="1"/>
          <p:nvPr/>
        </p:nvSpPr>
        <p:spPr>
          <a:xfrm>
            <a:off x="6952995" y="2570831"/>
            <a:ext cx="2133918"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四笔交易的原始</a:t>
            </a:r>
            <a:r>
              <a:rPr lang="en-US" altLang="zh-CN" dirty="0">
                <a:latin typeface="Times New Roman" panose="02020603050405020304" pitchFamily="18" charset="0"/>
                <a:ea typeface="微软雅黑" panose="020B0503020204020204" pitchFamily="34" charset="-122"/>
              </a:rPr>
              <a:t>MT</a:t>
            </a:r>
            <a:endParaRPr lang="zh-CN" altLang="en-US" dirty="0">
              <a:latin typeface="Times New Roman" panose="02020603050405020304" pitchFamily="18" charset="0"/>
              <a:ea typeface="微软雅黑" panose="020B0503020204020204" pitchFamily="34" charset="-122"/>
            </a:endParaRPr>
          </a:p>
        </p:txBody>
      </p:sp>
      <p:sp>
        <p:nvSpPr>
          <p:cNvPr id="94" name="文本框 93">
            <a:extLst>
              <a:ext uri="{FF2B5EF4-FFF2-40B4-BE49-F238E27FC236}">
                <a16:creationId xmlns:a16="http://schemas.microsoft.com/office/drawing/2014/main" id="{E1F29162-7913-4417-9100-BF349D6415E7}"/>
              </a:ext>
            </a:extLst>
          </p:cNvPr>
          <p:cNvSpPr txBox="1"/>
          <p:nvPr/>
        </p:nvSpPr>
        <p:spPr>
          <a:xfrm>
            <a:off x="6208776" y="4658946"/>
            <a:ext cx="1569660"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修改一笔交易</a:t>
            </a:r>
          </a:p>
        </p:txBody>
      </p:sp>
      <p:sp>
        <p:nvSpPr>
          <p:cNvPr id="95" name="矩形: 圆角 94">
            <a:extLst>
              <a:ext uri="{FF2B5EF4-FFF2-40B4-BE49-F238E27FC236}">
                <a16:creationId xmlns:a16="http://schemas.microsoft.com/office/drawing/2014/main" id="{EF625AA9-3694-4735-955D-AAB479A8429A}"/>
              </a:ext>
            </a:extLst>
          </p:cNvPr>
          <p:cNvSpPr/>
          <p:nvPr/>
        </p:nvSpPr>
        <p:spPr>
          <a:xfrm>
            <a:off x="6305581" y="6278379"/>
            <a:ext cx="1344920"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A → B 10</a:t>
            </a:r>
          </a:p>
        </p:txBody>
      </p:sp>
      <p:sp>
        <p:nvSpPr>
          <p:cNvPr id="96" name="矩形: 圆角 95">
            <a:extLst>
              <a:ext uri="{FF2B5EF4-FFF2-40B4-BE49-F238E27FC236}">
                <a16:creationId xmlns:a16="http://schemas.microsoft.com/office/drawing/2014/main" id="{E461AA1E-2B81-43E3-82D3-FB1F457EBD71}"/>
              </a:ext>
            </a:extLst>
          </p:cNvPr>
          <p:cNvSpPr/>
          <p:nvPr/>
        </p:nvSpPr>
        <p:spPr>
          <a:xfrm>
            <a:off x="9215685" y="6278379"/>
            <a:ext cx="1344920"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a:solidFill>
                  <a:schemeClr val="tx1"/>
                </a:solidFill>
                <a:latin typeface="Times New Roman" panose="02020603050405020304" pitchFamily="18" charset="0"/>
                <a:ea typeface="微软雅黑" panose="020B0503020204020204" pitchFamily="34" charset="-122"/>
              </a:rPr>
              <a:t>C → A 40</a:t>
            </a:r>
          </a:p>
        </p:txBody>
      </p:sp>
      <p:sp>
        <p:nvSpPr>
          <p:cNvPr id="97" name="矩形: 圆角 96">
            <a:extLst>
              <a:ext uri="{FF2B5EF4-FFF2-40B4-BE49-F238E27FC236}">
                <a16:creationId xmlns:a16="http://schemas.microsoft.com/office/drawing/2014/main" id="{1A853BC0-CF60-4D50-B3E8-296F17D48166}"/>
              </a:ext>
            </a:extLst>
          </p:cNvPr>
          <p:cNvSpPr/>
          <p:nvPr/>
        </p:nvSpPr>
        <p:spPr>
          <a:xfrm>
            <a:off x="7760633" y="6278379"/>
            <a:ext cx="1344920" cy="224238"/>
          </a:xfrm>
          <a:prstGeom prst="roundRect">
            <a:avLst/>
          </a:prstGeom>
          <a:noFill/>
          <a:ln w="3175">
            <a:solidFill>
              <a:schemeClr val="tx1"/>
            </a:solidFill>
            <a:prstDash val="dash"/>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B → C 2</a:t>
            </a:r>
            <a:r>
              <a:rPr lang="zh-CN" altLang="en-US" dirty="0">
                <a:solidFill>
                  <a:srgbClr val="EE1A1A"/>
                </a:solidFill>
                <a:latin typeface="Times New Roman" panose="02020603050405020304" pitchFamily="18" charset="0"/>
                <a:ea typeface="微软雅黑" panose="020B0503020204020204" pitchFamily="34" charset="-122"/>
              </a:rPr>
              <a:t>1</a:t>
            </a:r>
          </a:p>
        </p:txBody>
      </p:sp>
      <p:sp>
        <p:nvSpPr>
          <p:cNvPr id="98" name="矩形: 圆角 97">
            <a:extLst>
              <a:ext uri="{FF2B5EF4-FFF2-40B4-BE49-F238E27FC236}">
                <a16:creationId xmlns:a16="http://schemas.microsoft.com/office/drawing/2014/main" id="{99429117-959A-4793-9910-C72E5DBDA7F4}"/>
              </a:ext>
            </a:extLst>
          </p:cNvPr>
          <p:cNvSpPr/>
          <p:nvPr/>
        </p:nvSpPr>
        <p:spPr>
          <a:xfrm>
            <a:off x="10670601" y="6278379"/>
            <a:ext cx="1344920"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a:solidFill>
                  <a:schemeClr val="tx1"/>
                </a:solidFill>
                <a:latin typeface="Times New Roman" panose="02020603050405020304" pitchFamily="18" charset="0"/>
                <a:ea typeface="微软雅黑" panose="020B0503020204020204" pitchFamily="34" charset="-122"/>
              </a:rPr>
              <a:t>D → A 50</a:t>
            </a:r>
          </a:p>
        </p:txBody>
      </p:sp>
      <p:sp>
        <p:nvSpPr>
          <p:cNvPr id="99" name="矩形: 圆角 98">
            <a:extLst>
              <a:ext uri="{FF2B5EF4-FFF2-40B4-BE49-F238E27FC236}">
                <a16:creationId xmlns:a16="http://schemas.microsoft.com/office/drawing/2014/main" id="{4BABE86D-51A5-4BAE-8B98-749AA7E67C00}"/>
              </a:ext>
            </a:extLst>
          </p:cNvPr>
          <p:cNvSpPr/>
          <p:nvPr/>
        </p:nvSpPr>
        <p:spPr>
          <a:xfrm>
            <a:off x="6299487" y="4303897"/>
            <a:ext cx="1344920"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A → B 10</a:t>
            </a:r>
          </a:p>
        </p:txBody>
      </p:sp>
      <p:sp>
        <p:nvSpPr>
          <p:cNvPr id="100" name="矩形: 圆角 99">
            <a:extLst>
              <a:ext uri="{FF2B5EF4-FFF2-40B4-BE49-F238E27FC236}">
                <a16:creationId xmlns:a16="http://schemas.microsoft.com/office/drawing/2014/main" id="{368157F7-1ED0-4127-8588-021CFBBD9015}"/>
              </a:ext>
            </a:extLst>
          </p:cNvPr>
          <p:cNvSpPr/>
          <p:nvPr/>
        </p:nvSpPr>
        <p:spPr>
          <a:xfrm>
            <a:off x="9209591" y="4303897"/>
            <a:ext cx="1344920"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a:solidFill>
                  <a:schemeClr val="tx1"/>
                </a:solidFill>
                <a:latin typeface="Times New Roman" panose="02020603050405020304" pitchFamily="18" charset="0"/>
                <a:ea typeface="微软雅黑" panose="020B0503020204020204" pitchFamily="34" charset="-122"/>
              </a:rPr>
              <a:t>C → A 40</a:t>
            </a:r>
          </a:p>
        </p:txBody>
      </p:sp>
      <p:sp>
        <p:nvSpPr>
          <p:cNvPr id="101" name="矩形: 圆角 100">
            <a:extLst>
              <a:ext uri="{FF2B5EF4-FFF2-40B4-BE49-F238E27FC236}">
                <a16:creationId xmlns:a16="http://schemas.microsoft.com/office/drawing/2014/main" id="{8AFB2393-5B62-4328-8651-7D0C32F698A8}"/>
              </a:ext>
            </a:extLst>
          </p:cNvPr>
          <p:cNvSpPr/>
          <p:nvPr/>
        </p:nvSpPr>
        <p:spPr>
          <a:xfrm>
            <a:off x="7754539" y="4303897"/>
            <a:ext cx="1344920"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B → C 2</a:t>
            </a:r>
            <a:r>
              <a:rPr lang="en-US" altLang="zh-CN" dirty="0">
                <a:solidFill>
                  <a:schemeClr val="tx1"/>
                </a:solidFill>
                <a:latin typeface="Times New Roman" panose="02020603050405020304" pitchFamily="18" charset="0"/>
                <a:ea typeface="微软雅黑" panose="020B0503020204020204" pitchFamily="34" charset="-122"/>
              </a:rPr>
              <a:t>0</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02" name="矩形: 圆角 101">
            <a:extLst>
              <a:ext uri="{FF2B5EF4-FFF2-40B4-BE49-F238E27FC236}">
                <a16:creationId xmlns:a16="http://schemas.microsoft.com/office/drawing/2014/main" id="{3A30AE4B-5097-4950-B4A6-729789925DD2}"/>
              </a:ext>
            </a:extLst>
          </p:cNvPr>
          <p:cNvSpPr/>
          <p:nvPr/>
        </p:nvSpPr>
        <p:spPr>
          <a:xfrm>
            <a:off x="10664507" y="4303897"/>
            <a:ext cx="1344920"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a:solidFill>
                  <a:schemeClr val="tx1"/>
                </a:solidFill>
                <a:latin typeface="Times New Roman" panose="02020603050405020304" pitchFamily="18" charset="0"/>
                <a:ea typeface="微软雅黑" panose="020B0503020204020204" pitchFamily="34" charset="-122"/>
              </a:rPr>
              <a:t>D → A 50</a:t>
            </a:r>
          </a:p>
        </p:txBody>
      </p:sp>
      <p:sp>
        <p:nvSpPr>
          <p:cNvPr id="103" name="矩形: 圆角 102">
            <a:extLst>
              <a:ext uri="{FF2B5EF4-FFF2-40B4-BE49-F238E27FC236}">
                <a16:creationId xmlns:a16="http://schemas.microsoft.com/office/drawing/2014/main" id="{33F5E8C8-252D-40F9-BE64-DCF2566D9690}"/>
              </a:ext>
            </a:extLst>
          </p:cNvPr>
          <p:cNvSpPr/>
          <p:nvPr/>
        </p:nvSpPr>
        <p:spPr>
          <a:xfrm>
            <a:off x="6449098" y="5784493"/>
            <a:ext cx="1057885"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8ed5</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04" name="矩形: 圆角 103">
            <a:extLst>
              <a:ext uri="{FF2B5EF4-FFF2-40B4-BE49-F238E27FC236}">
                <a16:creationId xmlns:a16="http://schemas.microsoft.com/office/drawing/2014/main" id="{35A9ABFE-4EB1-452C-ACFC-E12A47022C0F}"/>
              </a:ext>
            </a:extLst>
          </p:cNvPr>
          <p:cNvSpPr/>
          <p:nvPr/>
        </p:nvSpPr>
        <p:spPr>
          <a:xfrm>
            <a:off x="9356912" y="5784493"/>
            <a:ext cx="1057885"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11fd</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05" name="矩形: 圆角 104">
            <a:extLst>
              <a:ext uri="{FF2B5EF4-FFF2-40B4-BE49-F238E27FC236}">
                <a16:creationId xmlns:a16="http://schemas.microsoft.com/office/drawing/2014/main" id="{3AB645A8-02DA-4254-9480-3708CA088241}"/>
              </a:ext>
            </a:extLst>
          </p:cNvPr>
          <p:cNvSpPr/>
          <p:nvPr/>
        </p:nvSpPr>
        <p:spPr>
          <a:xfrm>
            <a:off x="7903005" y="5796582"/>
            <a:ext cx="1057885" cy="224238"/>
          </a:xfrm>
          <a:prstGeom prst="roundRect">
            <a:avLst/>
          </a:prstGeom>
          <a:noFill/>
          <a:ln w="3175">
            <a:solidFill>
              <a:schemeClr val="tx1"/>
            </a:solidFill>
            <a:prstDash val="dash"/>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rgbClr val="EE1A1A"/>
                </a:solidFill>
                <a:latin typeface="Times New Roman" panose="02020603050405020304" pitchFamily="18" charset="0"/>
                <a:ea typeface="微软雅黑" panose="020B0503020204020204" pitchFamily="34" charset="-122"/>
              </a:rPr>
              <a:t>eefa</a:t>
            </a:r>
            <a:r>
              <a:rPr lang="en-US" altLang="zh-CN" dirty="0">
                <a:solidFill>
                  <a:srgbClr val="EE1A1A"/>
                </a:solidFill>
                <a:latin typeface="Times New Roman" panose="02020603050405020304" pitchFamily="18" charset="0"/>
                <a:ea typeface="微软雅黑" panose="020B0503020204020204" pitchFamily="34" charset="-122"/>
              </a:rPr>
              <a:t>…</a:t>
            </a:r>
            <a:endParaRPr lang="zh-CN" altLang="en-US" dirty="0">
              <a:solidFill>
                <a:srgbClr val="EE1A1A"/>
              </a:solidFill>
              <a:latin typeface="Times New Roman" panose="02020603050405020304" pitchFamily="18" charset="0"/>
              <a:ea typeface="微软雅黑" panose="020B0503020204020204" pitchFamily="34" charset="-122"/>
            </a:endParaRPr>
          </a:p>
        </p:txBody>
      </p:sp>
      <p:sp>
        <p:nvSpPr>
          <p:cNvPr id="106" name="矩形: 圆角 105">
            <a:extLst>
              <a:ext uri="{FF2B5EF4-FFF2-40B4-BE49-F238E27FC236}">
                <a16:creationId xmlns:a16="http://schemas.microsoft.com/office/drawing/2014/main" id="{E9F0C238-4814-44AA-B373-F3F91CF71E9F}"/>
              </a:ext>
            </a:extLst>
          </p:cNvPr>
          <p:cNvSpPr/>
          <p:nvPr/>
        </p:nvSpPr>
        <p:spPr>
          <a:xfrm>
            <a:off x="10808024" y="5784493"/>
            <a:ext cx="1057885"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784f</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07" name="矩形: 圆角 106">
            <a:extLst>
              <a:ext uri="{FF2B5EF4-FFF2-40B4-BE49-F238E27FC236}">
                <a16:creationId xmlns:a16="http://schemas.microsoft.com/office/drawing/2014/main" id="{09277B28-CF77-47F5-8876-376337C94A42}"/>
              </a:ext>
            </a:extLst>
          </p:cNvPr>
          <p:cNvSpPr/>
          <p:nvPr/>
        </p:nvSpPr>
        <p:spPr>
          <a:xfrm>
            <a:off x="10079255" y="5274990"/>
            <a:ext cx="1057885" cy="224238"/>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a:solidFill>
                  <a:schemeClr val="tx1"/>
                </a:solidFill>
                <a:latin typeface="Times New Roman" panose="02020603050405020304" pitchFamily="18" charset="0"/>
                <a:ea typeface="微软雅黑" panose="020B0503020204020204" pitchFamily="34" charset="-122"/>
              </a:rPr>
              <a:t>bcbd</a:t>
            </a:r>
            <a:r>
              <a:rPr lang="en-US" altLang="zh-CN">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08" name="矩形: 圆角 107">
            <a:extLst>
              <a:ext uri="{FF2B5EF4-FFF2-40B4-BE49-F238E27FC236}">
                <a16:creationId xmlns:a16="http://schemas.microsoft.com/office/drawing/2014/main" id="{A08CC571-8528-4BC2-9625-B7852FF9316E}"/>
              </a:ext>
            </a:extLst>
          </p:cNvPr>
          <p:cNvSpPr/>
          <p:nvPr/>
        </p:nvSpPr>
        <p:spPr>
          <a:xfrm>
            <a:off x="7268165" y="5301403"/>
            <a:ext cx="1057885" cy="224238"/>
          </a:xfrm>
          <a:prstGeom prst="roundRect">
            <a:avLst/>
          </a:prstGeom>
          <a:noFill/>
          <a:ln w="3175">
            <a:solidFill>
              <a:schemeClr val="tx1"/>
            </a:solidFill>
            <a:prstDash val="dash"/>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solidFill>
                  <a:srgbClr val="EE1A1A"/>
                </a:solidFill>
                <a:latin typeface="Times New Roman" panose="02020603050405020304" pitchFamily="18" charset="0"/>
                <a:ea typeface="微软雅黑" panose="020B0503020204020204" pitchFamily="34" charset="-122"/>
              </a:rPr>
              <a:t>e</a:t>
            </a:r>
            <a:r>
              <a:rPr lang="zh-CN" altLang="en-US" dirty="0">
                <a:solidFill>
                  <a:srgbClr val="EE1A1A"/>
                </a:solidFill>
                <a:latin typeface="Times New Roman" panose="02020603050405020304" pitchFamily="18" charset="0"/>
                <a:ea typeface="微软雅黑" panose="020B0503020204020204" pitchFamily="34" charset="-122"/>
              </a:rPr>
              <a:t>901</a:t>
            </a:r>
            <a:r>
              <a:rPr lang="en-US" altLang="zh-CN" dirty="0">
                <a:solidFill>
                  <a:srgbClr val="EE1A1A"/>
                </a:solidFill>
                <a:latin typeface="Times New Roman" panose="02020603050405020304" pitchFamily="18" charset="0"/>
                <a:ea typeface="微软雅黑" panose="020B0503020204020204" pitchFamily="34" charset="-122"/>
              </a:rPr>
              <a:t>…,</a:t>
            </a:r>
            <a:endParaRPr lang="zh-CN" altLang="en-US" dirty="0">
              <a:solidFill>
                <a:srgbClr val="EE1A1A"/>
              </a:solidFill>
              <a:latin typeface="Times New Roman" panose="02020603050405020304" pitchFamily="18" charset="0"/>
              <a:ea typeface="微软雅黑" panose="020B0503020204020204" pitchFamily="34" charset="-122"/>
            </a:endParaRPr>
          </a:p>
        </p:txBody>
      </p:sp>
      <p:sp>
        <p:nvSpPr>
          <p:cNvPr id="109" name="矩形: 圆角 108">
            <a:extLst>
              <a:ext uri="{FF2B5EF4-FFF2-40B4-BE49-F238E27FC236}">
                <a16:creationId xmlns:a16="http://schemas.microsoft.com/office/drawing/2014/main" id="{8ADBFA8C-8119-43C5-B09D-5E27D4FA18C5}"/>
              </a:ext>
            </a:extLst>
          </p:cNvPr>
          <p:cNvSpPr/>
          <p:nvPr/>
        </p:nvSpPr>
        <p:spPr>
          <a:xfrm>
            <a:off x="8660909" y="4793818"/>
            <a:ext cx="1057885" cy="224238"/>
          </a:xfrm>
          <a:prstGeom prst="roundRect">
            <a:avLst/>
          </a:prstGeom>
          <a:noFill/>
          <a:ln w="3175">
            <a:solidFill>
              <a:schemeClr val="tx1"/>
            </a:solidFill>
            <a:prstDash val="dash"/>
          </a:ln>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dirty="0">
                <a:solidFill>
                  <a:srgbClr val="EE1A1A"/>
                </a:solidFill>
                <a:latin typeface="Times New Roman" panose="02020603050405020304" pitchFamily="18" charset="0"/>
                <a:ea typeface="微软雅黑" panose="020B0503020204020204" pitchFamily="34" charset="-122"/>
              </a:rPr>
              <a:t>46e4</a:t>
            </a:r>
            <a:r>
              <a:rPr lang="en-US" altLang="zh-CN" dirty="0">
                <a:solidFill>
                  <a:srgbClr val="EE1A1A"/>
                </a:solidFill>
                <a:latin typeface="Times New Roman" panose="02020603050405020304" pitchFamily="18" charset="0"/>
                <a:ea typeface="微软雅黑" panose="020B0503020204020204" pitchFamily="34" charset="-122"/>
              </a:rPr>
              <a:t>…</a:t>
            </a:r>
            <a:endParaRPr lang="zh-CN" altLang="en-US" dirty="0">
              <a:solidFill>
                <a:srgbClr val="EE1A1A"/>
              </a:solidFill>
              <a:latin typeface="Times New Roman" panose="02020603050405020304" pitchFamily="18" charset="0"/>
              <a:ea typeface="微软雅黑" panose="020B0503020204020204" pitchFamily="34" charset="-122"/>
            </a:endParaRPr>
          </a:p>
        </p:txBody>
      </p:sp>
      <p:sp>
        <p:nvSpPr>
          <p:cNvPr id="110" name="矩形: 圆角 109">
            <a:extLst>
              <a:ext uri="{FF2B5EF4-FFF2-40B4-BE49-F238E27FC236}">
                <a16:creationId xmlns:a16="http://schemas.microsoft.com/office/drawing/2014/main" id="{2DED45C4-77D3-41E8-8440-99471267B0C4}"/>
              </a:ext>
            </a:extLst>
          </p:cNvPr>
          <p:cNvSpPr/>
          <p:nvPr/>
        </p:nvSpPr>
        <p:spPr>
          <a:xfrm>
            <a:off x="6440163" y="3871960"/>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8ed5</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11" name="矩形: 圆角 110">
            <a:extLst>
              <a:ext uri="{FF2B5EF4-FFF2-40B4-BE49-F238E27FC236}">
                <a16:creationId xmlns:a16="http://schemas.microsoft.com/office/drawing/2014/main" id="{256D0B35-1E44-40BF-90DB-B3AFF3EED9A1}"/>
              </a:ext>
            </a:extLst>
          </p:cNvPr>
          <p:cNvSpPr/>
          <p:nvPr/>
        </p:nvSpPr>
        <p:spPr>
          <a:xfrm>
            <a:off x="9346045" y="3871960"/>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11fd</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12" name="矩形: 圆角 111">
            <a:extLst>
              <a:ext uri="{FF2B5EF4-FFF2-40B4-BE49-F238E27FC236}">
                <a16:creationId xmlns:a16="http://schemas.microsoft.com/office/drawing/2014/main" id="{B48AC687-031E-47BA-973B-49B05CBE594F}"/>
              </a:ext>
            </a:extLst>
          </p:cNvPr>
          <p:cNvSpPr/>
          <p:nvPr/>
        </p:nvSpPr>
        <p:spPr>
          <a:xfrm>
            <a:off x="7890666" y="3884631"/>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862d</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13" name="矩形: 圆角 112">
            <a:extLst>
              <a:ext uri="{FF2B5EF4-FFF2-40B4-BE49-F238E27FC236}">
                <a16:creationId xmlns:a16="http://schemas.microsoft.com/office/drawing/2014/main" id="{EB3237C7-E305-4B78-9C56-1F4D3B55510D}"/>
              </a:ext>
            </a:extLst>
          </p:cNvPr>
          <p:cNvSpPr/>
          <p:nvPr/>
        </p:nvSpPr>
        <p:spPr>
          <a:xfrm>
            <a:off x="10801097" y="3884631"/>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784f</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14" name="矩形: 圆角 113">
            <a:extLst>
              <a:ext uri="{FF2B5EF4-FFF2-40B4-BE49-F238E27FC236}">
                <a16:creationId xmlns:a16="http://schemas.microsoft.com/office/drawing/2014/main" id="{E511BACD-CDD6-4915-8B86-91F618437D37}"/>
              </a:ext>
            </a:extLst>
          </p:cNvPr>
          <p:cNvSpPr/>
          <p:nvPr/>
        </p:nvSpPr>
        <p:spPr>
          <a:xfrm>
            <a:off x="10007506" y="3438046"/>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a:solidFill>
                  <a:schemeClr val="tx1"/>
                </a:solidFill>
                <a:latin typeface="Times New Roman" panose="02020603050405020304" pitchFamily="18" charset="0"/>
                <a:ea typeface="微软雅黑" panose="020B0503020204020204" pitchFamily="34" charset="-122"/>
              </a:rPr>
              <a:t>bcbd</a:t>
            </a:r>
            <a:r>
              <a:rPr lang="en-US" altLang="zh-CN">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15" name="矩形: 圆角 114">
            <a:extLst>
              <a:ext uri="{FF2B5EF4-FFF2-40B4-BE49-F238E27FC236}">
                <a16:creationId xmlns:a16="http://schemas.microsoft.com/office/drawing/2014/main" id="{8B9CAE0F-1216-4660-9E5D-AE529C23BC7F}"/>
              </a:ext>
            </a:extLst>
          </p:cNvPr>
          <p:cNvSpPr/>
          <p:nvPr/>
        </p:nvSpPr>
        <p:spPr>
          <a:xfrm>
            <a:off x="7196416" y="3464459"/>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微软雅黑" panose="020B0503020204020204" pitchFamily="34" charset="-122"/>
              </a:rPr>
              <a:t>2882</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116" name="矩形: 圆角 115">
            <a:extLst>
              <a:ext uri="{FF2B5EF4-FFF2-40B4-BE49-F238E27FC236}">
                <a16:creationId xmlns:a16="http://schemas.microsoft.com/office/drawing/2014/main" id="{85E1FEF3-934D-4417-8C10-69A9F5B1135B}"/>
              </a:ext>
            </a:extLst>
          </p:cNvPr>
          <p:cNvSpPr/>
          <p:nvPr/>
        </p:nvSpPr>
        <p:spPr>
          <a:xfrm>
            <a:off x="8610600" y="3009410"/>
            <a:ext cx="1057885" cy="230811"/>
          </a:xfrm>
          <a:prstGeom prst="roundRect">
            <a:avLst/>
          </a:prstGeom>
          <a:noFill/>
          <a:ln w="3175">
            <a:solidFill>
              <a:schemeClr val="tx1"/>
            </a:solidFill>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dirty="0">
                <a:solidFill>
                  <a:schemeClr val="tx1"/>
                </a:solidFill>
                <a:latin typeface="Times New Roman" panose="02020603050405020304" pitchFamily="18" charset="0"/>
                <a:ea typeface="微软雅黑" panose="020B0503020204020204" pitchFamily="34" charset="-122"/>
              </a:rPr>
              <a:t>2149</a:t>
            </a:r>
            <a:r>
              <a:rPr lang="en-US" altLang="zh-CN" dirty="0">
                <a:solidFill>
                  <a:schemeClr val="tx1"/>
                </a:solidFill>
                <a:latin typeface="Times New Roman" panose="02020603050405020304" pitchFamily="18" charset="0"/>
                <a:ea typeface="微软雅黑" panose="020B0503020204020204" pitchFamily="34" charset="-122"/>
              </a:rPr>
              <a:t>…</a:t>
            </a:r>
            <a:endParaRPr lang="zh-CN" altLang="en-US" dirty="0">
              <a:solidFill>
                <a:schemeClr val="tx1"/>
              </a:solidFill>
              <a:latin typeface="Times New Roman" panose="02020603050405020304" pitchFamily="18" charset="0"/>
              <a:ea typeface="微软雅黑" panose="020B0503020204020204" pitchFamily="34" charset="-122"/>
            </a:endParaRPr>
          </a:p>
        </p:txBody>
      </p:sp>
      <p:cxnSp>
        <p:nvCxnSpPr>
          <p:cNvPr id="117" name="直接箭头连接符 116">
            <a:extLst>
              <a:ext uri="{FF2B5EF4-FFF2-40B4-BE49-F238E27FC236}">
                <a16:creationId xmlns:a16="http://schemas.microsoft.com/office/drawing/2014/main" id="{1AA1FA09-BC92-4213-9F01-B4DDF554A353}"/>
              </a:ext>
            </a:extLst>
          </p:cNvPr>
          <p:cNvCxnSpPr>
            <a:stCxn id="95" idx="0"/>
            <a:endCxn id="103" idx="2"/>
          </p:cNvCxnSpPr>
          <p:nvPr/>
        </p:nvCxnSpPr>
        <p:spPr>
          <a:xfrm flipV="1">
            <a:off x="6978041" y="6008731"/>
            <a:ext cx="0" cy="26964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A87499CC-CDD2-42C1-99B3-4BEB8FB539D0}"/>
              </a:ext>
            </a:extLst>
          </p:cNvPr>
          <p:cNvCxnSpPr>
            <a:cxnSpLocks/>
            <a:stCxn id="97" idx="0"/>
            <a:endCxn id="105" idx="2"/>
          </p:cNvCxnSpPr>
          <p:nvPr/>
        </p:nvCxnSpPr>
        <p:spPr>
          <a:xfrm flipH="1" flipV="1">
            <a:off x="8431948" y="6020820"/>
            <a:ext cx="1145" cy="25755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9E2F1701-ED36-450D-8B4A-0BF778ECFF0D}"/>
              </a:ext>
            </a:extLst>
          </p:cNvPr>
          <p:cNvCxnSpPr>
            <a:cxnSpLocks/>
            <a:stCxn id="96" idx="0"/>
            <a:endCxn id="104" idx="2"/>
          </p:cNvCxnSpPr>
          <p:nvPr/>
        </p:nvCxnSpPr>
        <p:spPr>
          <a:xfrm flipH="1" flipV="1">
            <a:off x="9885855" y="6008731"/>
            <a:ext cx="2290" cy="269648"/>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C203F940-F0F9-46B2-B068-D5C79A17199A}"/>
              </a:ext>
            </a:extLst>
          </p:cNvPr>
          <p:cNvCxnSpPr>
            <a:cxnSpLocks/>
            <a:stCxn id="98" idx="0"/>
            <a:endCxn id="106" idx="2"/>
          </p:cNvCxnSpPr>
          <p:nvPr/>
        </p:nvCxnSpPr>
        <p:spPr>
          <a:xfrm flipH="1" flipV="1">
            <a:off x="11336967" y="6008731"/>
            <a:ext cx="6094" cy="269648"/>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1" name="直接箭头连接符 120">
            <a:extLst>
              <a:ext uri="{FF2B5EF4-FFF2-40B4-BE49-F238E27FC236}">
                <a16:creationId xmlns:a16="http://schemas.microsoft.com/office/drawing/2014/main" id="{B2E1981C-D77B-40CD-B250-DC86CFAC865F}"/>
              </a:ext>
            </a:extLst>
          </p:cNvPr>
          <p:cNvCxnSpPr>
            <a:cxnSpLocks/>
            <a:stCxn id="103" idx="0"/>
            <a:endCxn id="108" idx="2"/>
          </p:cNvCxnSpPr>
          <p:nvPr/>
        </p:nvCxnSpPr>
        <p:spPr>
          <a:xfrm flipV="1">
            <a:off x="6978041" y="5525641"/>
            <a:ext cx="819067" cy="25885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a:extLst>
              <a:ext uri="{FF2B5EF4-FFF2-40B4-BE49-F238E27FC236}">
                <a16:creationId xmlns:a16="http://schemas.microsoft.com/office/drawing/2014/main" id="{4D7E2B9A-3B9A-4088-AE09-20C1126A44FF}"/>
              </a:ext>
            </a:extLst>
          </p:cNvPr>
          <p:cNvCxnSpPr>
            <a:cxnSpLocks/>
            <a:stCxn id="105" idx="0"/>
            <a:endCxn id="108" idx="2"/>
          </p:cNvCxnSpPr>
          <p:nvPr/>
        </p:nvCxnSpPr>
        <p:spPr>
          <a:xfrm flipH="1" flipV="1">
            <a:off x="7797108" y="5525641"/>
            <a:ext cx="634840" cy="27094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a:extLst>
              <a:ext uri="{FF2B5EF4-FFF2-40B4-BE49-F238E27FC236}">
                <a16:creationId xmlns:a16="http://schemas.microsoft.com/office/drawing/2014/main" id="{F8F0ED72-40A3-446C-BB53-F523B6B671B9}"/>
              </a:ext>
            </a:extLst>
          </p:cNvPr>
          <p:cNvCxnSpPr>
            <a:cxnSpLocks/>
            <a:stCxn id="104" idx="0"/>
            <a:endCxn id="107" idx="2"/>
          </p:cNvCxnSpPr>
          <p:nvPr/>
        </p:nvCxnSpPr>
        <p:spPr>
          <a:xfrm flipV="1">
            <a:off x="9885855" y="5499228"/>
            <a:ext cx="722343" cy="28526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D99ABC07-3BBE-41A8-9F1D-8F333A1B3EC2}"/>
              </a:ext>
            </a:extLst>
          </p:cNvPr>
          <p:cNvCxnSpPr>
            <a:cxnSpLocks/>
            <a:stCxn id="106" idx="0"/>
            <a:endCxn id="107" idx="2"/>
          </p:cNvCxnSpPr>
          <p:nvPr/>
        </p:nvCxnSpPr>
        <p:spPr>
          <a:xfrm flipH="1" flipV="1">
            <a:off x="10608198" y="5499228"/>
            <a:ext cx="728769" cy="28526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a:extLst>
              <a:ext uri="{FF2B5EF4-FFF2-40B4-BE49-F238E27FC236}">
                <a16:creationId xmlns:a16="http://schemas.microsoft.com/office/drawing/2014/main" id="{037CCFAF-8977-4EDD-B141-063EA49B3810}"/>
              </a:ext>
            </a:extLst>
          </p:cNvPr>
          <p:cNvCxnSpPr>
            <a:cxnSpLocks/>
            <a:stCxn id="107" idx="0"/>
            <a:endCxn id="109" idx="2"/>
          </p:cNvCxnSpPr>
          <p:nvPr/>
        </p:nvCxnSpPr>
        <p:spPr>
          <a:xfrm flipH="1" flipV="1">
            <a:off x="9189852" y="5018056"/>
            <a:ext cx="1418346" cy="25693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a:extLst>
              <a:ext uri="{FF2B5EF4-FFF2-40B4-BE49-F238E27FC236}">
                <a16:creationId xmlns:a16="http://schemas.microsoft.com/office/drawing/2014/main" id="{FED74528-8E43-4B24-A42A-FAF1FA58F2EC}"/>
              </a:ext>
            </a:extLst>
          </p:cNvPr>
          <p:cNvCxnSpPr>
            <a:cxnSpLocks/>
            <a:stCxn id="108" idx="0"/>
            <a:endCxn id="109" idx="2"/>
          </p:cNvCxnSpPr>
          <p:nvPr/>
        </p:nvCxnSpPr>
        <p:spPr>
          <a:xfrm flipV="1">
            <a:off x="7797108" y="5018056"/>
            <a:ext cx="1392744" cy="28334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a:extLst>
              <a:ext uri="{FF2B5EF4-FFF2-40B4-BE49-F238E27FC236}">
                <a16:creationId xmlns:a16="http://schemas.microsoft.com/office/drawing/2014/main" id="{0403CA93-0832-4146-8F0E-D68801206054}"/>
              </a:ext>
            </a:extLst>
          </p:cNvPr>
          <p:cNvCxnSpPr>
            <a:cxnSpLocks/>
            <a:stCxn id="99" idx="0"/>
            <a:endCxn id="110" idx="2"/>
          </p:cNvCxnSpPr>
          <p:nvPr/>
        </p:nvCxnSpPr>
        <p:spPr>
          <a:xfrm flipH="1" flipV="1">
            <a:off x="6969106" y="4102771"/>
            <a:ext cx="2841" cy="201126"/>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a:extLst>
              <a:ext uri="{FF2B5EF4-FFF2-40B4-BE49-F238E27FC236}">
                <a16:creationId xmlns:a16="http://schemas.microsoft.com/office/drawing/2014/main" id="{8EF43A1E-F991-43D9-97DB-408180043367}"/>
              </a:ext>
            </a:extLst>
          </p:cNvPr>
          <p:cNvCxnSpPr>
            <a:cxnSpLocks/>
            <a:stCxn id="101" idx="0"/>
            <a:endCxn id="112" idx="2"/>
          </p:cNvCxnSpPr>
          <p:nvPr/>
        </p:nvCxnSpPr>
        <p:spPr>
          <a:xfrm flipH="1" flipV="1">
            <a:off x="8419609" y="4115442"/>
            <a:ext cx="7390" cy="18845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128">
            <a:extLst>
              <a:ext uri="{FF2B5EF4-FFF2-40B4-BE49-F238E27FC236}">
                <a16:creationId xmlns:a16="http://schemas.microsoft.com/office/drawing/2014/main" id="{8EDA8EE8-83F1-4679-BA2F-7D9BC188C4C2}"/>
              </a:ext>
            </a:extLst>
          </p:cNvPr>
          <p:cNvCxnSpPr>
            <a:cxnSpLocks/>
            <a:stCxn id="100" idx="0"/>
            <a:endCxn id="111" idx="2"/>
          </p:cNvCxnSpPr>
          <p:nvPr/>
        </p:nvCxnSpPr>
        <p:spPr>
          <a:xfrm flipH="1" flipV="1">
            <a:off x="9874988" y="4102771"/>
            <a:ext cx="7063" cy="201126"/>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a:extLst>
              <a:ext uri="{FF2B5EF4-FFF2-40B4-BE49-F238E27FC236}">
                <a16:creationId xmlns:a16="http://schemas.microsoft.com/office/drawing/2014/main" id="{ACDE6252-EB6C-4427-90CA-1A8663AB2844}"/>
              </a:ext>
            </a:extLst>
          </p:cNvPr>
          <p:cNvCxnSpPr>
            <a:cxnSpLocks/>
            <a:stCxn id="102" idx="0"/>
            <a:endCxn id="113" idx="2"/>
          </p:cNvCxnSpPr>
          <p:nvPr/>
        </p:nvCxnSpPr>
        <p:spPr>
          <a:xfrm flipH="1" flipV="1">
            <a:off x="11330040" y="4115442"/>
            <a:ext cx="6927" cy="18845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a:extLst>
              <a:ext uri="{FF2B5EF4-FFF2-40B4-BE49-F238E27FC236}">
                <a16:creationId xmlns:a16="http://schemas.microsoft.com/office/drawing/2014/main" id="{285C10C8-02AD-4CA7-8286-C387C61FDAFA}"/>
              </a:ext>
            </a:extLst>
          </p:cNvPr>
          <p:cNvCxnSpPr>
            <a:cxnSpLocks/>
            <a:stCxn id="110" idx="0"/>
            <a:endCxn id="115" idx="2"/>
          </p:cNvCxnSpPr>
          <p:nvPr/>
        </p:nvCxnSpPr>
        <p:spPr>
          <a:xfrm flipV="1">
            <a:off x="6969106" y="3695270"/>
            <a:ext cx="756253" cy="176690"/>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6BF751EF-C56F-43AB-B2BE-A91F98A7AE35}"/>
              </a:ext>
            </a:extLst>
          </p:cNvPr>
          <p:cNvCxnSpPr>
            <a:cxnSpLocks/>
            <a:stCxn id="112" idx="0"/>
            <a:endCxn id="115" idx="2"/>
          </p:cNvCxnSpPr>
          <p:nvPr/>
        </p:nvCxnSpPr>
        <p:spPr>
          <a:xfrm flipH="1" flipV="1">
            <a:off x="7725359" y="3695270"/>
            <a:ext cx="694250" cy="189361"/>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9A79763C-2585-43EA-BA98-44398E505731}"/>
              </a:ext>
            </a:extLst>
          </p:cNvPr>
          <p:cNvCxnSpPr>
            <a:cxnSpLocks/>
            <a:stCxn id="111" idx="0"/>
            <a:endCxn id="114" idx="2"/>
          </p:cNvCxnSpPr>
          <p:nvPr/>
        </p:nvCxnSpPr>
        <p:spPr>
          <a:xfrm flipV="1">
            <a:off x="9874988" y="3668857"/>
            <a:ext cx="661461" cy="203103"/>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5073AA16-4495-4EB2-ADE8-971396943702}"/>
              </a:ext>
            </a:extLst>
          </p:cNvPr>
          <p:cNvCxnSpPr>
            <a:cxnSpLocks/>
            <a:stCxn id="113" idx="0"/>
            <a:endCxn id="114" idx="2"/>
          </p:cNvCxnSpPr>
          <p:nvPr/>
        </p:nvCxnSpPr>
        <p:spPr>
          <a:xfrm flipH="1" flipV="1">
            <a:off x="10536449" y="3668857"/>
            <a:ext cx="793591" cy="215774"/>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1D934B64-FBB6-4875-9F4B-5060FEDD9A72}"/>
              </a:ext>
            </a:extLst>
          </p:cNvPr>
          <p:cNvCxnSpPr>
            <a:cxnSpLocks/>
            <a:stCxn id="114" idx="0"/>
            <a:endCxn id="116" idx="2"/>
          </p:cNvCxnSpPr>
          <p:nvPr/>
        </p:nvCxnSpPr>
        <p:spPr>
          <a:xfrm flipH="1" flipV="1">
            <a:off x="9139543" y="3240221"/>
            <a:ext cx="1396906" cy="19782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796B926A-9024-4F0F-99FD-8A654740BB4E}"/>
              </a:ext>
            </a:extLst>
          </p:cNvPr>
          <p:cNvCxnSpPr>
            <a:cxnSpLocks/>
            <a:stCxn id="115" idx="0"/>
            <a:endCxn id="116" idx="2"/>
          </p:cNvCxnSpPr>
          <p:nvPr/>
        </p:nvCxnSpPr>
        <p:spPr>
          <a:xfrm flipV="1">
            <a:off x="7725359" y="3240221"/>
            <a:ext cx="1414184" cy="224238"/>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994F7253-D977-4FE4-AF28-DD507EF7852A}"/>
              </a:ext>
            </a:extLst>
          </p:cNvPr>
          <p:cNvCxnSpPr/>
          <p:nvPr/>
        </p:nvCxnSpPr>
        <p:spPr>
          <a:xfrm>
            <a:off x="6096000" y="1299316"/>
            <a:ext cx="0" cy="5242879"/>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0" name="矩形 139">
            <a:extLst>
              <a:ext uri="{FF2B5EF4-FFF2-40B4-BE49-F238E27FC236}">
                <a16:creationId xmlns:a16="http://schemas.microsoft.com/office/drawing/2014/main" id="{4F70F91B-5F18-481C-BF77-5B2EACEF5DCC}"/>
              </a:ext>
            </a:extLst>
          </p:cNvPr>
          <p:cNvSpPr/>
          <p:nvPr/>
        </p:nvSpPr>
        <p:spPr>
          <a:xfrm>
            <a:off x="243467" y="6176037"/>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1" name="矩形 140">
            <a:extLst>
              <a:ext uri="{FF2B5EF4-FFF2-40B4-BE49-F238E27FC236}">
                <a16:creationId xmlns:a16="http://schemas.microsoft.com/office/drawing/2014/main" id="{D5BD927B-C89E-4327-9F21-1B8A996ACDE8}"/>
              </a:ext>
            </a:extLst>
          </p:cNvPr>
          <p:cNvSpPr/>
          <p:nvPr/>
        </p:nvSpPr>
        <p:spPr>
          <a:xfrm>
            <a:off x="997396" y="6176037"/>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2" name="矩形 141">
            <a:extLst>
              <a:ext uri="{FF2B5EF4-FFF2-40B4-BE49-F238E27FC236}">
                <a16:creationId xmlns:a16="http://schemas.microsoft.com/office/drawing/2014/main" id="{6B2B9E16-551D-4EC0-AEE7-74D62F0F95AF}"/>
              </a:ext>
            </a:extLst>
          </p:cNvPr>
          <p:cNvSpPr/>
          <p:nvPr/>
        </p:nvSpPr>
        <p:spPr>
          <a:xfrm>
            <a:off x="1751325" y="6176037"/>
            <a:ext cx="452281" cy="443583"/>
          </a:xfrm>
          <a:prstGeom prst="rect">
            <a:avLst/>
          </a:prstGeom>
          <a:solidFill>
            <a:srgbClr val="EE1A1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3" name="矩形 142">
            <a:extLst>
              <a:ext uri="{FF2B5EF4-FFF2-40B4-BE49-F238E27FC236}">
                <a16:creationId xmlns:a16="http://schemas.microsoft.com/office/drawing/2014/main" id="{175C2071-A3ED-487D-AF82-2FB723040455}"/>
              </a:ext>
            </a:extLst>
          </p:cNvPr>
          <p:cNvSpPr/>
          <p:nvPr/>
        </p:nvSpPr>
        <p:spPr>
          <a:xfrm>
            <a:off x="2505254" y="6176037"/>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4" name="矩形 143">
            <a:extLst>
              <a:ext uri="{FF2B5EF4-FFF2-40B4-BE49-F238E27FC236}">
                <a16:creationId xmlns:a16="http://schemas.microsoft.com/office/drawing/2014/main" id="{94278C23-A299-4A5E-9D6D-8D0D28CA5322}"/>
              </a:ext>
            </a:extLst>
          </p:cNvPr>
          <p:cNvSpPr/>
          <p:nvPr/>
        </p:nvSpPr>
        <p:spPr>
          <a:xfrm>
            <a:off x="3259183" y="6176037"/>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5" name="矩形 144">
            <a:extLst>
              <a:ext uri="{FF2B5EF4-FFF2-40B4-BE49-F238E27FC236}">
                <a16:creationId xmlns:a16="http://schemas.microsoft.com/office/drawing/2014/main" id="{D8BCAE29-2591-4E85-AD5E-2FF4218C7603}"/>
              </a:ext>
            </a:extLst>
          </p:cNvPr>
          <p:cNvSpPr/>
          <p:nvPr/>
        </p:nvSpPr>
        <p:spPr>
          <a:xfrm>
            <a:off x="4013112" y="6176037"/>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6" name="矩形 145">
            <a:extLst>
              <a:ext uri="{FF2B5EF4-FFF2-40B4-BE49-F238E27FC236}">
                <a16:creationId xmlns:a16="http://schemas.microsoft.com/office/drawing/2014/main" id="{96697D32-D8F8-4812-A69E-01775CA9E2C1}"/>
              </a:ext>
            </a:extLst>
          </p:cNvPr>
          <p:cNvSpPr/>
          <p:nvPr/>
        </p:nvSpPr>
        <p:spPr>
          <a:xfrm>
            <a:off x="4767041" y="6176037"/>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7" name="矩形 146">
            <a:extLst>
              <a:ext uri="{FF2B5EF4-FFF2-40B4-BE49-F238E27FC236}">
                <a16:creationId xmlns:a16="http://schemas.microsoft.com/office/drawing/2014/main" id="{98AAC304-1205-4551-AF6F-BD85749C8A06}"/>
              </a:ext>
            </a:extLst>
          </p:cNvPr>
          <p:cNvSpPr/>
          <p:nvPr/>
        </p:nvSpPr>
        <p:spPr>
          <a:xfrm>
            <a:off x="5520968" y="6176036"/>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8" name="文本框 147">
            <a:extLst>
              <a:ext uri="{FF2B5EF4-FFF2-40B4-BE49-F238E27FC236}">
                <a16:creationId xmlns:a16="http://schemas.microsoft.com/office/drawing/2014/main" id="{792205A2-D4E0-4C0E-93E6-4C579A6454FF}"/>
              </a:ext>
            </a:extLst>
          </p:cNvPr>
          <p:cNvSpPr txBox="1"/>
          <p:nvPr/>
        </p:nvSpPr>
        <p:spPr>
          <a:xfrm>
            <a:off x="201365" y="6203343"/>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49" name="文本框 148">
            <a:extLst>
              <a:ext uri="{FF2B5EF4-FFF2-40B4-BE49-F238E27FC236}">
                <a16:creationId xmlns:a16="http://schemas.microsoft.com/office/drawing/2014/main" id="{6263681C-1B2B-4984-9E21-0C939EDEF99C}"/>
              </a:ext>
            </a:extLst>
          </p:cNvPr>
          <p:cNvSpPr txBox="1"/>
          <p:nvPr/>
        </p:nvSpPr>
        <p:spPr>
          <a:xfrm>
            <a:off x="997394" y="6203343"/>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0" name="文本框 149">
            <a:extLst>
              <a:ext uri="{FF2B5EF4-FFF2-40B4-BE49-F238E27FC236}">
                <a16:creationId xmlns:a16="http://schemas.microsoft.com/office/drawing/2014/main" id="{4538D6E7-F4A4-4F6C-AFD9-C3BB982D8ECC}"/>
              </a:ext>
            </a:extLst>
          </p:cNvPr>
          <p:cNvSpPr txBox="1"/>
          <p:nvPr/>
        </p:nvSpPr>
        <p:spPr>
          <a:xfrm>
            <a:off x="1727875" y="6231600"/>
            <a:ext cx="540387" cy="338554"/>
          </a:xfrm>
          <a:prstGeom prst="rect">
            <a:avLst/>
          </a:prstGeom>
          <a:noFill/>
        </p:spPr>
        <p:txBody>
          <a:bodyPr wrap="square" rtlCol="0">
            <a:spAutoFit/>
          </a:bodyPr>
          <a:lstStyle/>
          <a:p>
            <a:r>
              <a:rPr kumimoji="1" lang="en-US" altLang="zh-CN" sz="1600" dirty="0">
                <a:solidFill>
                  <a:schemeClr val="bg1"/>
                </a:solidFill>
                <a:latin typeface="Times New Roman" panose="02020603050405020304" pitchFamily="18" charset="0"/>
              </a:rPr>
              <a:t>Tx</a:t>
            </a:r>
            <a:r>
              <a:rPr kumimoji="1" lang="en-US" altLang="zh-CN" sz="1600" baseline="-25000" dirty="0">
                <a:solidFill>
                  <a:schemeClr val="bg1"/>
                </a:solidFill>
                <a:latin typeface="Times New Roman" panose="02020603050405020304" pitchFamily="18" charset="0"/>
              </a:rPr>
              <a:t>3</a:t>
            </a:r>
            <a:endParaRPr kumimoji="1" lang="zh-CN" altLang="en-US" sz="1600" baseline="-25000" dirty="0">
              <a:solidFill>
                <a:schemeClr val="bg1"/>
              </a:solidFill>
              <a:latin typeface="Times New Roman" panose="02020603050405020304" pitchFamily="18" charset="0"/>
            </a:endParaRPr>
          </a:p>
        </p:txBody>
      </p:sp>
      <p:sp>
        <p:nvSpPr>
          <p:cNvPr id="151" name="文本框 150">
            <a:extLst>
              <a:ext uri="{FF2B5EF4-FFF2-40B4-BE49-F238E27FC236}">
                <a16:creationId xmlns:a16="http://schemas.microsoft.com/office/drawing/2014/main" id="{2C778FF9-5791-4CB7-942B-24B4F575ECCC}"/>
              </a:ext>
            </a:extLst>
          </p:cNvPr>
          <p:cNvSpPr txBox="1"/>
          <p:nvPr/>
        </p:nvSpPr>
        <p:spPr>
          <a:xfrm>
            <a:off x="2485308" y="6245136"/>
            <a:ext cx="540387" cy="338554"/>
          </a:xfrm>
          <a:prstGeom prst="rect">
            <a:avLst/>
          </a:prstGeom>
          <a:noFill/>
        </p:spPr>
        <p:txBody>
          <a:bodyPr wrap="square" rtlCol="0">
            <a:spAutoFit/>
          </a:bodyPr>
          <a:lstStyle/>
          <a:p>
            <a:r>
              <a:rPr kumimoji="1" lang="en-US" altLang="zh-CN" sz="1600" dirty="0">
                <a:latin typeface="Times New Roman" panose="02020603050405020304" pitchFamily="18" charset="0"/>
              </a:rPr>
              <a:t>Tx</a:t>
            </a:r>
            <a:r>
              <a:rPr kumimoji="1" lang="en-US" altLang="zh-CN" sz="1600" baseline="-25000" dirty="0">
                <a:latin typeface="Times New Roman" panose="02020603050405020304" pitchFamily="18" charset="0"/>
              </a:rPr>
              <a:t>4</a:t>
            </a:r>
            <a:endParaRPr kumimoji="1" lang="zh-CN" altLang="en-US" sz="1600" baseline="-25000" dirty="0">
              <a:latin typeface="Times New Roman" panose="02020603050405020304" pitchFamily="18" charset="0"/>
            </a:endParaRPr>
          </a:p>
        </p:txBody>
      </p:sp>
      <p:sp>
        <p:nvSpPr>
          <p:cNvPr id="152" name="文本框 151">
            <a:extLst>
              <a:ext uri="{FF2B5EF4-FFF2-40B4-BE49-F238E27FC236}">
                <a16:creationId xmlns:a16="http://schemas.microsoft.com/office/drawing/2014/main" id="{BC028466-B2A2-441E-8E49-1F3F986C7135}"/>
              </a:ext>
            </a:extLst>
          </p:cNvPr>
          <p:cNvSpPr txBox="1"/>
          <p:nvPr/>
        </p:nvSpPr>
        <p:spPr>
          <a:xfrm>
            <a:off x="3255674" y="6196645"/>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3" name="文本框 152">
            <a:extLst>
              <a:ext uri="{FF2B5EF4-FFF2-40B4-BE49-F238E27FC236}">
                <a16:creationId xmlns:a16="http://schemas.microsoft.com/office/drawing/2014/main" id="{4A45EB32-8B58-43F7-8F86-13A7BD92A87B}"/>
              </a:ext>
            </a:extLst>
          </p:cNvPr>
          <p:cNvSpPr txBox="1"/>
          <p:nvPr/>
        </p:nvSpPr>
        <p:spPr>
          <a:xfrm>
            <a:off x="4013110" y="6204431"/>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4" name="文本框 153">
            <a:extLst>
              <a:ext uri="{FF2B5EF4-FFF2-40B4-BE49-F238E27FC236}">
                <a16:creationId xmlns:a16="http://schemas.microsoft.com/office/drawing/2014/main" id="{D2E86797-F704-47A4-A44C-B3CE2B014646}"/>
              </a:ext>
            </a:extLst>
          </p:cNvPr>
          <p:cNvSpPr txBox="1"/>
          <p:nvPr/>
        </p:nvSpPr>
        <p:spPr>
          <a:xfrm>
            <a:off x="4767039" y="6196645"/>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5" name="文本框 154">
            <a:extLst>
              <a:ext uri="{FF2B5EF4-FFF2-40B4-BE49-F238E27FC236}">
                <a16:creationId xmlns:a16="http://schemas.microsoft.com/office/drawing/2014/main" id="{2E199962-C0A2-4EBB-BEC3-F3AC5F621BAA}"/>
              </a:ext>
            </a:extLst>
          </p:cNvPr>
          <p:cNvSpPr txBox="1"/>
          <p:nvPr/>
        </p:nvSpPr>
        <p:spPr>
          <a:xfrm>
            <a:off x="5504266" y="6203343"/>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6" name="文本框 155">
            <a:extLst>
              <a:ext uri="{FF2B5EF4-FFF2-40B4-BE49-F238E27FC236}">
                <a16:creationId xmlns:a16="http://schemas.microsoft.com/office/drawing/2014/main" id="{CB6983AB-B774-4B70-B1C7-1E3F7334BA0E}"/>
              </a:ext>
            </a:extLst>
          </p:cNvPr>
          <p:cNvSpPr txBox="1"/>
          <p:nvPr/>
        </p:nvSpPr>
        <p:spPr>
          <a:xfrm>
            <a:off x="4546444" y="2717076"/>
            <a:ext cx="1300798" cy="646331"/>
          </a:xfrm>
          <a:prstGeom prst="rect">
            <a:avLst/>
          </a:prstGeom>
          <a:solidFill>
            <a:srgbClr val="FFC000"/>
          </a:solidFill>
          <a:ln w="19050">
            <a:solidFill>
              <a:srgbClr val="002060"/>
            </a:solidFill>
            <a:prstDash val="dash"/>
          </a:ln>
        </p:spPr>
        <p:txBody>
          <a:bodyPr wrap="square" rtlCol="0">
            <a:spAutoFit/>
          </a:bodyPr>
          <a:lstStyle/>
          <a:p>
            <a:pPr algn="ctr"/>
            <a:r>
              <a:rPr lang="zh-CN" altLang="en-US" dirty="0"/>
              <a:t>全节点可能有</a:t>
            </a:r>
            <a:r>
              <a:rPr lang="zh-CN" altLang="en-US" b="1" dirty="0">
                <a:solidFill>
                  <a:srgbClr val="002060"/>
                </a:solidFill>
              </a:rPr>
              <a:t>恶意</a:t>
            </a:r>
          </a:p>
        </p:txBody>
      </p:sp>
      <p:sp>
        <p:nvSpPr>
          <p:cNvPr id="157" name="文本框 156">
            <a:extLst>
              <a:ext uri="{FF2B5EF4-FFF2-40B4-BE49-F238E27FC236}">
                <a16:creationId xmlns:a16="http://schemas.microsoft.com/office/drawing/2014/main" id="{D3DC5D24-47D8-41D6-8EC4-FE1959317754}"/>
              </a:ext>
            </a:extLst>
          </p:cNvPr>
          <p:cNvSpPr txBox="1"/>
          <p:nvPr/>
        </p:nvSpPr>
        <p:spPr>
          <a:xfrm>
            <a:off x="16554" y="1808581"/>
            <a:ext cx="5983687" cy="646331"/>
          </a:xfrm>
          <a:prstGeom prst="rect">
            <a:avLst/>
          </a:prstGeom>
          <a:noFill/>
        </p:spPr>
        <p:txBody>
          <a:bodyPr wrap="square">
            <a:spAutoFit/>
          </a:bodyPr>
          <a:lstStyle/>
          <a:p>
            <a:pPr marL="92075" lvl="1"/>
            <a:r>
              <a:rPr lang="zh-CN" altLang="en-US" dirty="0"/>
              <a:t>通过</a:t>
            </a:r>
            <a:r>
              <a:rPr lang="zh-CN" altLang="en-US" b="1" dirty="0">
                <a:solidFill>
                  <a:srgbClr val="B962FF"/>
                </a:solidFill>
              </a:rPr>
              <a:t>全量节点</a:t>
            </a:r>
            <a:r>
              <a:rPr lang="zh-CN" altLang="en-US" dirty="0"/>
              <a:t>提供特定的</a:t>
            </a:r>
            <a:r>
              <a:rPr lang="zh-CN" altLang="en-US" b="1" dirty="0">
                <a:solidFill>
                  <a:srgbClr val="B962FF"/>
                </a:solidFill>
              </a:rPr>
              <a:t>叶子节点</a:t>
            </a:r>
            <a:r>
              <a:rPr lang="zh-CN" altLang="en-US" dirty="0"/>
              <a:t>来完成对列表中任意一个元素的哈希证明。</a:t>
            </a:r>
            <a:endParaRPr lang="en-US" altLang="zh-CN" dirty="0"/>
          </a:p>
        </p:txBody>
      </p:sp>
      <p:pic>
        <p:nvPicPr>
          <p:cNvPr id="158" name="图片 157">
            <a:extLst>
              <a:ext uri="{FF2B5EF4-FFF2-40B4-BE49-F238E27FC236}">
                <a16:creationId xmlns:a16="http://schemas.microsoft.com/office/drawing/2014/main" id="{C10263CA-88CA-4C21-ADB4-5F44987631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29725" y="2604699"/>
            <a:ext cx="577474" cy="577474"/>
          </a:xfrm>
          <a:prstGeom prst="rect">
            <a:avLst/>
          </a:prstGeom>
        </p:spPr>
      </p:pic>
      <p:pic>
        <p:nvPicPr>
          <p:cNvPr id="159" name="图片 158">
            <a:extLst>
              <a:ext uri="{FF2B5EF4-FFF2-40B4-BE49-F238E27FC236}">
                <a16:creationId xmlns:a16="http://schemas.microsoft.com/office/drawing/2014/main" id="{E77AC662-611C-41C2-8153-FE45ACC8589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9920" y="2604699"/>
            <a:ext cx="577474" cy="577474"/>
          </a:xfrm>
          <a:prstGeom prst="rect">
            <a:avLst/>
          </a:prstGeom>
        </p:spPr>
      </p:pic>
      <p:sp>
        <p:nvSpPr>
          <p:cNvPr id="160" name="文本框 159">
            <a:extLst>
              <a:ext uri="{FF2B5EF4-FFF2-40B4-BE49-F238E27FC236}">
                <a16:creationId xmlns:a16="http://schemas.microsoft.com/office/drawing/2014/main" id="{4B9C9452-8804-4FFC-A9DA-93D175682CF0}"/>
              </a:ext>
            </a:extLst>
          </p:cNvPr>
          <p:cNvSpPr txBox="1"/>
          <p:nvPr/>
        </p:nvSpPr>
        <p:spPr>
          <a:xfrm>
            <a:off x="241740" y="3088031"/>
            <a:ext cx="877163" cy="369332"/>
          </a:xfrm>
          <a:prstGeom prst="rect">
            <a:avLst/>
          </a:prstGeom>
          <a:noFill/>
        </p:spPr>
        <p:txBody>
          <a:bodyPr wrap="none" rtlCol="0">
            <a:spAutoFit/>
          </a:bodyPr>
          <a:lstStyle/>
          <a:p>
            <a:r>
              <a:rPr lang="zh-CN" altLang="en-US" dirty="0"/>
              <a:t>轻节点</a:t>
            </a:r>
          </a:p>
        </p:txBody>
      </p:sp>
      <p:sp>
        <p:nvSpPr>
          <p:cNvPr id="161" name="文本框 160">
            <a:extLst>
              <a:ext uri="{FF2B5EF4-FFF2-40B4-BE49-F238E27FC236}">
                <a16:creationId xmlns:a16="http://schemas.microsoft.com/office/drawing/2014/main" id="{092B2EAD-0B83-4E60-BA44-BD5F94DA17C1}"/>
              </a:ext>
            </a:extLst>
          </p:cNvPr>
          <p:cNvSpPr txBox="1"/>
          <p:nvPr/>
        </p:nvSpPr>
        <p:spPr>
          <a:xfrm>
            <a:off x="3482127" y="3088031"/>
            <a:ext cx="877163" cy="369332"/>
          </a:xfrm>
          <a:prstGeom prst="rect">
            <a:avLst/>
          </a:prstGeom>
          <a:noFill/>
        </p:spPr>
        <p:txBody>
          <a:bodyPr wrap="none" rtlCol="0">
            <a:spAutoFit/>
          </a:bodyPr>
          <a:lstStyle/>
          <a:p>
            <a:r>
              <a:rPr lang="zh-CN" altLang="en-US" dirty="0"/>
              <a:t>全节点</a:t>
            </a:r>
          </a:p>
        </p:txBody>
      </p:sp>
      <p:cxnSp>
        <p:nvCxnSpPr>
          <p:cNvPr id="162" name="直接箭头连接符 161">
            <a:extLst>
              <a:ext uri="{FF2B5EF4-FFF2-40B4-BE49-F238E27FC236}">
                <a16:creationId xmlns:a16="http://schemas.microsoft.com/office/drawing/2014/main" id="{3F31E724-99D2-4ACE-8923-017B5C37BB73}"/>
              </a:ext>
            </a:extLst>
          </p:cNvPr>
          <p:cNvCxnSpPr>
            <a:stCxn id="159" idx="3"/>
            <a:endCxn id="158" idx="1"/>
          </p:cNvCxnSpPr>
          <p:nvPr/>
        </p:nvCxnSpPr>
        <p:spPr>
          <a:xfrm>
            <a:off x="997394" y="2893436"/>
            <a:ext cx="2632331"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3" name="文本框 162">
            <a:extLst>
              <a:ext uri="{FF2B5EF4-FFF2-40B4-BE49-F238E27FC236}">
                <a16:creationId xmlns:a16="http://schemas.microsoft.com/office/drawing/2014/main" id="{9969A848-BFD7-4354-9DD3-64E9758E6E1D}"/>
              </a:ext>
            </a:extLst>
          </p:cNvPr>
          <p:cNvSpPr txBox="1"/>
          <p:nvPr/>
        </p:nvSpPr>
        <p:spPr>
          <a:xfrm>
            <a:off x="1588292" y="2580520"/>
            <a:ext cx="1338828" cy="369332"/>
          </a:xfrm>
          <a:prstGeom prst="rect">
            <a:avLst/>
          </a:prstGeom>
          <a:noFill/>
        </p:spPr>
        <p:txBody>
          <a:bodyPr wrap="none" rtlCol="0">
            <a:spAutoFit/>
          </a:bodyPr>
          <a:lstStyle/>
          <a:p>
            <a:r>
              <a:rPr lang="zh-CN" altLang="en-US" dirty="0"/>
              <a:t>查询某交易</a:t>
            </a:r>
          </a:p>
        </p:txBody>
      </p:sp>
      <p:cxnSp>
        <p:nvCxnSpPr>
          <p:cNvPr id="164" name="直接箭头连接符 163">
            <a:extLst>
              <a:ext uri="{FF2B5EF4-FFF2-40B4-BE49-F238E27FC236}">
                <a16:creationId xmlns:a16="http://schemas.microsoft.com/office/drawing/2014/main" id="{3B64CEEC-4B7A-4BB0-A5AE-C6E2FC36B11F}"/>
              </a:ext>
            </a:extLst>
          </p:cNvPr>
          <p:cNvCxnSpPr/>
          <p:nvPr/>
        </p:nvCxnSpPr>
        <p:spPr>
          <a:xfrm>
            <a:off x="997394" y="3038743"/>
            <a:ext cx="2632331" cy="0"/>
          </a:xfrm>
          <a:prstGeom prst="straightConnector1">
            <a:avLst/>
          </a:prstGeom>
          <a:ln w="19050">
            <a:solidFill>
              <a:srgbClr val="EE1A1A"/>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5" name="文本框 164">
            <a:extLst>
              <a:ext uri="{FF2B5EF4-FFF2-40B4-BE49-F238E27FC236}">
                <a16:creationId xmlns:a16="http://schemas.microsoft.com/office/drawing/2014/main" id="{49BF0A07-6D75-48A4-B0D0-8025F243D728}"/>
              </a:ext>
            </a:extLst>
          </p:cNvPr>
          <p:cNvSpPr txBox="1"/>
          <p:nvPr/>
        </p:nvSpPr>
        <p:spPr>
          <a:xfrm>
            <a:off x="1226013" y="3052396"/>
            <a:ext cx="2063385" cy="369332"/>
          </a:xfrm>
          <a:prstGeom prst="rect">
            <a:avLst/>
          </a:prstGeom>
          <a:noFill/>
        </p:spPr>
        <p:txBody>
          <a:bodyPr wrap="none" rtlCol="0">
            <a:spAutoFit/>
          </a:bodyPr>
          <a:lstStyle/>
          <a:p>
            <a:r>
              <a:rPr lang="zh-CN" altLang="en-US" dirty="0"/>
              <a:t>交易 </a:t>
            </a:r>
            <a:r>
              <a:rPr lang="en-US" altLang="zh-CN" dirty="0"/>
              <a:t>+ </a:t>
            </a:r>
            <a:r>
              <a:rPr lang="zh-CN" altLang="en-US" dirty="0"/>
              <a:t>默克尔证明</a:t>
            </a:r>
          </a:p>
        </p:txBody>
      </p:sp>
    </p:spTree>
    <p:extLst>
      <p:ext uri="{BB962C8B-B14F-4D97-AF65-F5344CB8AC3E}">
        <p14:creationId xmlns:p14="http://schemas.microsoft.com/office/powerpoint/2010/main" val="342351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55"/>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6"/>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5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9"/>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0"/>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1"/>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5"/>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4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4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4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45"/>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4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4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4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4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5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5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5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5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5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5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8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8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9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91"/>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92"/>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99"/>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00"/>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01"/>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02"/>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10"/>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11"/>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1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1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1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1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16"/>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27"/>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28"/>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29"/>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30"/>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131"/>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32"/>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33"/>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34"/>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35"/>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136"/>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94"/>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95"/>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96"/>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97"/>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98"/>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03"/>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04"/>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05"/>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106"/>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107"/>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108"/>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109"/>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0"/>
                                          </p:stCondLst>
                                        </p:cTn>
                                        <p:tgtEl>
                                          <p:spTgt spid="117"/>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0"/>
                                          </p:stCondLst>
                                        </p:cTn>
                                        <p:tgtEl>
                                          <p:spTgt spid="118"/>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0"/>
                                          </p:stCondLst>
                                        </p:cTn>
                                        <p:tgtEl>
                                          <p:spTgt spid="119"/>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0"/>
                                          </p:stCondLst>
                                        </p:cTn>
                                        <p:tgtEl>
                                          <p:spTgt spid="120"/>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0"/>
                                          </p:stCondLst>
                                        </p:cTn>
                                        <p:tgtEl>
                                          <p:spTgt spid="121"/>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0"/>
                                          </p:stCondLst>
                                        </p:cTn>
                                        <p:tgtEl>
                                          <p:spTgt spid="122"/>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0"/>
                                          </p:stCondLst>
                                        </p:cTn>
                                        <p:tgtEl>
                                          <p:spTgt spid="123"/>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0"/>
                                          </p:stCondLst>
                                        </p:cTn>
                                        <p:tgtEl>
                                          <p:spTgt spid="124"/>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0"/>
                                          </p:stCondLst>
                                        </p:cTn>
                                        <p:tgtEl>
                                          <p:spTgt spid="125"/>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animBg="1"/>
      <p:bldP spid="17" grpId="0" animBg="1"/>
      <p:bldP spid="18" grpId="0" animBg="1"/>
      <p:bldP spid="19" grpId="0" animBg="1"/>
      <p:bldP spid="20" grpId="0" animBg="1"/>
      <p:bldP spid="21" grpId="0" animBg="1"/>
      <p:bldP spid="22" grpId="0"/>
      <p:bldP spid="23" grpId="0"/>
      <p:bldP spid="24" grpId="0"/>
      <p:bldP spid="25" grpId="0"/>
      <p:bldP spid="26" grpId="0"/>
      <p:bldP spid="27" grpId="0"/>
      <p:bldP spid="28" grpId="0"/>
      <p:bldP spid="29" grpId="0"/>
      <p:bldP spid="30" grpId="0" animBg="1"/>
      <p:bldP spid="31" grpId="0" animBg="1"/>
      <p:bldP spid="32" grpId="0" animBg="1"/>
      <p:bldP spid="33" grpId="0" animBg="1"/>
      <p:bldP spid="34" grpId="0" animBg="1"/>
      <p:bldP spid="35" grpId="0" animBg="1"/>
      <p:bldP spid="36" grpId="0" animBg="1"/>
      <p:bldP spid="59" grpId="0" animBg="1"/>
      <p:bldP spid="60" grpId="0" animBg="1"/>
      <p:bldP spid="61" grpId="0" animBg="1"/>
      <p:bldP spid="62" grpId="0" animBg="1"/>
      <p:bldP spid="63" grpId="0" animBg="1"/>
      <p:bldP spid="64" grpId="0" animBg="1"/>
      <p:bldP spid="65" grpId="0" animBg="1"/>
      <p:bldP spid="88" grpId="0"/>
      <p:bldP spid="89" grpId="0"/>
      <p:bldP spid="90" grpId="0" animBg="1"/>
      <p:bldP spid="92" grpId="0"/>
      <p:bldP spid="93" grpId="0"/>
      <p:bldP spid="94" grpId="0"/>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40" grpId="0" animBg="1"/>
      <p:bldP spid="141" grpId="0" animBg="1"/>
      <p:bldP spid="142" grpId="0" animBg="1"/>
      <p:bldP spid="143" grpId="0" animBg="1"/>
      <p:bldP spid="144" grpId="0" animBg="1"/>
      <p:bldP spid="145" grpId="0" animBg="1"/>
      <p:bldP spid="146" grpId="0" animBg="1"/>
      <p:bldP spid="147" grpId="0" animBg="1"/>
      <p:bldP spid="148" grpId="0"/>
      <p:bldP spid="149" grpId="0"/>
      <p:bldP spid="150" grpId="0"/>
      <p:bldP spid="151" grpId="0"/>
      <p:bldP spid="152" grpId="0"/>
      <p:bldP spid="153" grpId="0"/>
      <p:bldP spid="154" grpId="0"/>
      <p:bldP spid="155" grpId="0"/>
      <p:bldP spid="156" grpId="0" animBg="1"/>
      <p:bldP spid="157" grpId="0"/>
      <p:bldP spid="160" grpId="0"/>
      <p:bldP spid="161" grpId="0"/>
      <p:bldP spid="163" grpId="0"/>
      <p:bldP spid="16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E461D-E68F-4787-8F4F-A1878A6E578B}"/>
              </a:ext>
            </a:extLst>
          </p:cNvPr>
          <p:cNvSpPr>
            <a:spLocks noGrp="1"/>
          </p:cNvSpPr>
          <p:nvPr>
            <p:ph type="title"/>
          </p:nvPr>
        </p:nvSpPr>
        <p:spPr/>
        <p:txBody>
          <a:bodyPr/>
          <a:lstStyle/>
          <a:p>
            <a:r>
              <a:rPr lang="en-US" altLang="zh-CN" dirty="0">
                <a:latin typeface="Garamond" panose="02020404030301010803" pitchFamily="18" charset="0"/>
              </a:rPr>
              <a:t>Merkle</a:t>
            </a:r>
            <a:r>
              <a:rPr lang="zh-CN" altLang="en-US" dirty="0">
                <a:latin typeface="Garamond" panose="02020404030301010803" pitchFamily="18" charset="0"/>
              </a:rPr>
              <a:t>树</a:t>
            </a:r>
          </a:p>
        </p:txBody>
      </p:sp>
      <p:sp>
        <p:nvSpPr>
          <p:cNvPr id="4" name="灯片编号占位符 3">
            <a:extLst>
              <a:ext uri="{FF2B5EF4-FFF2-40B4-BE49-F238E27FC236}">
                <a16:creationId xmlns:a16="http://schemas.microsoft.com/office/drawing/2014/main" id="{0927FF7E-86D8-48F3-8EF1-80ACFAA2EECD}"/>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14" name="矩形 13">
            <a:extLst>
              <a:ext uri="{FF2B5EF4-FFF2-40B4-BE49-F238E27FC236}">
                <a16:creationId xmlns:a16="http://schemas.microsoft.com/office/drawing/2014/main" id="{BB3FC0DF-1D74-4B19-B55F-FB94007F8F9D}"/>
              </a:ext>
            </a:extLst>
          </p:cNvPr>
          <p:cNvSpPr/>
          <p:nvPr/>
        </p:nvSpPr>
        <p:spPr>
          <a:xfrm>
            <a:off x="294814" y="4037333"/>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5" name="矩形 14">
            <a:extLst>
              <a:ext uri="{FF2B5EF4-FFF2-40B4-BE49-F238E27FC236}">
                <a16:creationId xmlns:a16="http://schemas.microsoft.com/office/drawing/2014/main" id="{9387EDC4-C595-42F2-AA7E-03629D0D996D}"/>
              </a:ext>
            </a:extLst>
          </p:cNvPr>
          <p:cNvSpPr/>
          <p:nvPr/>
        </p:nvSpPr>
        <p:spPr>
          <a:xfrm>
            <a:off x="1048743" y="4037333"/>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6" name="矩形 15">
            <a:extLst>
              <a:ext uri="{FF2B5EF4-FFF2-40B4-BE49-F238E27FC236}">
                <a16:creationId xmlns:a16="http://schemas.microsoft.com/office/drawing/2014/main" id="{CBA4F857-D614-486C-9E01-2E7F295405A9}"/>
              </a:ext>
            </a:extLst>
          </p:cNvPr>
          <p:cNvSpPr/>
          <p:nvPr/>
        </p:nvSpPr>
        <p:spPr>
          <a:xfrm>
            <a:off x="1802672" y="4037333"/>
            <a:ext cx="452281" cy="443583"/>
          </a:xfrm>
          <a:prstGeom prst="rect">
            <a:avLst/>
          </a:prstGeom>
          <a:solidFill>
            <a:schemeClr val="bg2">
              <a:lumMod val="9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7" name="矩形 16">
            <a:extLst>
              <a:ext uri="{FF2B5EF4-FFF2-40B4-BE49-F238E27FC236}">
                <a16:creationId xmlns:a16="http://schemas.microsoft.com/office/drawing/2014/main" id="{7BB42614-C80C-43F8-A9F9-51B0C5FA271C}"/>
              </a:ext>
            </a:extLst>
          </p:cNvPr>
          <p:cNvSpPr/>
          <p:nvPr/>
        </p:nvSpPr>
        <p:spPr>
          <a:xfrm>
            <a:off x="2556601" y="4037333"/>
            <a:ext cx="452281" cy="443583"/>
          </a:xfrm>
          <a:prstGeom prst="rect">
            <a:avLst/>
          </a:prstGeom>
          <a:solidFill>
            <a:schemeClr val="bg2">
              <a:lumMod val="9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8" name="矩形 17">
            <a:extLst>
              <a:ext uri="{FF2B5EF4-FFF2-40B4-BE49-F238E27FC236}">
                <a16:creationId xmlns:a16="http://schemas.microsoft.com/office/drawing/2014/main" id="{78BF7F7F-E5DD-4297-A361-C0C227BF3690}"/>
              </a:ext>
            </a:extLst>
          </p:cNvPr>
          <p:cNvSpPr/>
          <p:nvPr/>
        </p:nvSpPr>
        <p:spPr>
          <a:xfrm>
            <a:off x="3310530" y="4037333"/>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9" name="矩形 18">
            <a:extLst>
              <a:ext uri="{FF2B5EF4-FFF2-40B4-BE49-F238E27FC236}">
                <a16:creationId xmlns:a16="http://schemas.microsoft.com/office/drawing/2014/main" id="{31F27C67-1B07-4CE3-B176-26E3B4C7C184}"/>
              </a:ext>
            </a:extLst>
          </p:cNvPr>
          <p:cNvSpPr/>
          <p:nvPr/>
        </p:nvSpPr>
        <p:spPr>
          <a:xfrm>
            <a:off x="4064459" y="4037333"/>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0" name="矩形 19">
            <a:extLst>
              <a:ext uri="{FF2B5EF4-FFF2-40B4-BE49-F238E27FC236}">
                <a16:creationId xmlns:a16="http://schemas.microsoft.com/office/drawing/2014/main" id="{61398DC0-3084-49B1-B869-C83ED0FD662E}"/>
              </a:ext>
            </a:extLst>
          </p:cNvPr>
          <p:cNvSpPr/>
          <p:nvPr/>
        </p:nvSpPr>
        <p:spPr>
          <a:xfrm>
            <a:off x="4818388" y="4037333"/>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1" name="矩形 20">
            <a:extLst>
              <a:ext uri="{FF2B5EF4-FFF2-40B4-BE49-F238E27FC236}">
                <a16:creationId xmlns:a16="http://schemas.microsoft.com/office/drawing/2014/main" id="{507D84A7-066E-44F1-9D8C-B1494C43A2F7}"/>
              </a:ext>
            </a:extLst>
          </p:cNvPr>
          <p:cNvSpPr/>
          <p:nvPr/>
        </p:nvSpPr>
        <p:spPr>
          <a:xfrm>
            <a:off x="5572315" y="4037332"/>
            <a:ext cx="452281" cy="443583"/>
          </a:xfrm>
          <a:prstGeom prst="rect">
            <a:avLst/>
          </a:prstGeom>
          <a:solidFill>
            <a:schemeClr val="accent5">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22" name="文本框 21">
            <a:extLst>
              <a:ext uri="{FF2B5EF4-FFF2-40B4-BE49-F238E27FC236}">
                <a16:creationId xmlns:a16="http://schemas.microsoft.com/office/drawing/2014/main" id="{750B367D-E258-4CEB-916A-5ED2C5A9961A}"/>
              </a:ext>
            </a:extLst>
          </p:cNvPr>
          <p:cNvSpPr txBox="1"/>
          <p:nvPr/>
        </p:nvSpPr>
        <p:spPr>
          <a:xfrm>
            <a:off x="252712" y="4064639"/>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3" name="文本框 22">
            <a:extLst>
              <a:ext uri="{FF2B5EF4-FFF2-40B4-BE49-F238E27FC236}">
                <a16:creationId xmlns:a16="http://schemas.microsoft.com/office/drawing/2014/main" id="{10532503-1710-48C6-AF7E-39511EC2D43D}"/>
              </a:ext>
            </a:extLst>
          </p:cNvPr>
          <p:cNvSpPr txBox="1"/>
          <p:nvPr/>
        </p:nvSpPr>
        <p:spPr>
          <a:xfrm>
            <a:off x="1006637" y="4064639"/>
            <a:ext cx="557865"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4" name="文本框 23">
            <a:extLst>
              <a:ext uri="{FF2B5EF4-FFF2-40B4-BE49-F238E27FC236}">
                <a16:creationId xmlns:a16="http://schemas.microsoft.com/office/drawing/2014/main" id="{D63733BE-1C41-4800-9704-5CFA4A8C7233}"/>
              </a:ext>
            </a:extLst>
          </p:cNvPr>
          <p:cNvSpPr txBox="1"/>
          <p:nvPr/>
        </p:nvSpPr>
        <p:spPr>
          <a:xfrm>
            <a:off x="1760568" y="4064639"/>
            <a:ext cx="540387" cy="338554"/>
          </a:xfrm>
          <a:prstGeom prst="rect">
            <a:avLst/>
          </a:prstGeom>
          <a:noFill/>
        </p:spPr>
        <p:txBody>
          <a:bodyPr wrap="square" rtlCol="0">
            <a:spAutoFit/>
          </a:bodyPr>
          <a:lstStyle/>
          <a:p>
            <a:r>
              <a:rPr kumimoji="1" lang="en-US" altLang="zh-CN" sz="1600" dirty="0">
                <a:latin typeface="Times New Roman" panose="02020603050405020304" pitchFamily="18" charset="0"/>
              </a:rPr>
              <a:t>H</a:t>
            </a:r>
            <a:r>
              <a:rPr kumimoji="1" lang="en-US" altLang="zh-CN" sz="1600" baseline="-25000" dirty="0">
                <a:latin typeface="Times New Roman" panose="02020603050405020304" pitchFamily="18" charset="0"/>
              </a:rPr>
              <a:t>3</a:t>
            </a:r>
            <a:r>
              <a:rPr kumimoji="1" lang="en-US" altLang="zh-CN" sz="1600" dirty="0">
                <a:latin typeface="Times New Roman" panose="02020603050405020304" pitchFamily="18" charset="0"/>
              </a:rPr>
              <a:t>()</a:t>
            </a:r>
            <a:endParaRPr kumimoji="1" lang="zh-CN" altLang="en-US" sz="1600" dirty="0">
              <a:latin typeface="Times New Roman" panose="02020603050405020304" pitchFamily="18" charset="0"/>
            </a:endParaRPr>
          </a:p>
        </p:txBody>
      </p:sp>
      <p:sp>
        <p:nvSpPr>
          <p:cNvPr id="25" name="文本框 24">
            <a:extLst>
              <a:ext uri="{FF2B5EF4-FFF2-40B4-BE49-F238E27FC236}">
                <a16:creationId xmlns:a16="http://schemas.microsoft.com/office/drawing/2014/main" id="{D5F4B184-230D-4BF7-838C-A5E1E8A9A61D}"/>
              </a:ext>
            </a:extLst>
          </p:cNvPr>
          <p:cNvSpPr txBox="1"/>
          <p:nvPr/>
        </p:nvSpPr>
        <p:spPr>
          <a:xfrm>
            <a:off x="2519358" y="4057941"/>
            <a:ext cx="540387" cy="338554"/>
          </a:xfrm>
          <a:prstGeom prst="rect">
            <a:avLst/>
          </a:prstGeom>
          <a:noFill/>
        </p:spPr>
        <p:txBody>
          <a:bodyPr wrap="square" rtlCol="0">
            <a:spAutoFit/>
          </a:bodyPr>
          <a:lstStyle/>
          <a:p>
            <a:r>
              <a:rPr kumimoji="1" lang="en-US" altLang="zh-CN" sz="1600" dirty="0">
                <a:latin typeface="Times New Roman" panose="02020603050405020304" pitchFamily="18" charset="0"/>
              </a:rPr>
              <a:t>H</a:t>
            </a:r>
            <a:r>
              <a:rPr kumimoji="1" lang="en-US" altLang="zh-CN" sz="1600" baseline="-25000" dirty="0">
                <a:latin typeface="Times New Roman" panose="02020603050405020304" pitchFamily="18" charset="0"/>
              </a:rPr>
              <a:t>4</a:t>
            </a:r>
            <a:r>
              <a:rPr kumimoji="1" lang="en-US" altLang="zh-CN" sz="1600" dirty="0">
                <a:latin typeface="Times New Roman" panose="02020603050405020304" pitchFamily="18" charset="0"/>
              </a:rPr>
              <a:t>()</a:t>
            </a:r>
            <a:endParaRPr kumimoji="1" lang="zh-CN" altLang="en-US" sz="1600" dirty="0">
              <a:latin typeface="Times New Roman" panose="02020603050405020304" pitchFamily="18" charset="0"/>
            </a:endParaRPr>
          </a:p>
        </p:txBody>
      </p:sp>
      <p:sp>
        <p:nvSpPr>
          <p:cNvPr id="26" name="文本框 25">
            <a:extLst>
              <a:ext uri="{FF2B5EF4-FFF2-40B4-BE49-F238E27FC236}">
                <a16:creationId xmlns:a16="http://schemas.microsoft.com/office/drawing/2014/main" id="{87A50399-E2BF-4624-9592-B9D02E7D5C6F}"/>
              </a:ext>
            </a:extLst>
          </p:cNvPr>
          <p:cNvSpPr txBox="1"/>
          <p:nvPr/>
        </p:nvSpPr>
        <p:spPr>
          <a:xfrm>
            <a:off x="3307021" y="4057941"/>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7" name="文本框 26">
            <a:extLst>
              <a:ext uri="{FF2B5EF4-FFF2-40B4-BE49-F238E27FC236}">
                <a16:creationId xmlns:a16="http://schemas.microsoft.com/office/drawing/2014/main" id="{16779E56-9953-4151-8D98-19A2F992D48C}"/>
              </a:ext>
            </a:extLst>
          </p:cNvPr>
          <p:cNvSpPr txBox="1"/>
          <p:nvPr/>
        </p:nvSpPr>
        <p:spPr>
          <a:xfrm>
            <a:off x="4064457" y="4065727"/>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8" name="文本框 27">
            <a:extLst>
              <a:ext uri="{FF2B5EF4-FFF2-40B4-BE49-F238E27FC236}">
                <a16:creationId xmlns:a16="http://schemas.microsoft.com/office/drawing/2014/main" id="{F0A8DF6E-CCF8-4DBF-B323-2050DEF25482}"/>
              </a:ext>
            </a:extLst>
          </p:cNvPr>
          <p:cNvSpPr txBox="1"/>
          <p:nvPr/>
        </p:nvSpPr>
        <p:spPr>
          <a:xfrm>
            <a:off x="4809919" y="4057941"/>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29" name="文本框 28">
            <a:extLst>
              <a:ext uri="{FF2B5EF4-FFF2-40B4-BE49-F238E27FC236}">
                <a16:creationId xmlns:a16="http://schemas.microsoft.com/office/drawing/2014/main" id="{00CEB676-C313-4CF7-AA42-CE51DE3D583B}"/>
              </a:ext>
            </a:extLst>
          </p:cNvPr>
          <p:cNvSpPr txBox="1"/>
          <p:nvPr/>
        </p:nvSpPr>
        <p:spPr>
          <a:xfrm>
            <a:off x="5555613" y="4064639"/>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H()</a:t>
            </a:r>
            <a:endParaRPr kumimoji="1" lang="zh-CN" altLang="en-US" dirty="0">
              <a:latin typeface="Times New Roman" panose="02020603050405020304" pitchFamily="18" charset="0"/>
            </a:endParaRPr>
          </a:p>
        </p:txBody>
      </p:sp>
      <p:sp>
        <p:nvSpPr>
          <p:cNvPr id="30" name="矩形 29">
            <a:extLst>
              <a:ext uri="{FF2B5EF4-FFF2-40B4-BE49-F238E27FC236}">
                <a16:creationId xmlns:a16="http://schemas.microsoft.com/office/drawing/2014/main" id="{5B34E75D-081F-4D93-9A0F-742F7944A6CD}"/>
              </a:ext>
            </a:extLst>
          </p:cNvPr>
          <p:cNvSpPr/>
          <p:nvPr/>
        </p:nvSpPr>
        <p:spPr>
          <a:xfrm>
            <a:off x="294815" y="3416825"/>
            <a:ext cx="1241127" cy="386437"/>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r>
              <a:rPr kumimoji="1" lang="en-US" altLang="zh-CN" baseline="-25000" dirty="0">
                <a:solidFill>
                  <a:schemeClr val="tx1"/>
                </a:solidFill>
                <a:latin typeface="Times New Roman" panose="02020603050405020304" pitchFamily="18" charset="0"/>
              </a:rPr>
              <a:t>12</a:t>
            </a:r>
            <a:r>
              <a:rPr kumimoji="1" lang="en-US" altLang="zh-CN" dirty="0">
                <a:solidFill>
                  <a:schemeClr val="tx1"/>
                </a:solidFill>
                <a:latin typeface="Times New Roman" panose="02020603050405020304" pitchFamily="18" charset="0"/>
              </a:rPr>
              <a:t>()</a:t>
            </a:r>
            <a:endParaRPr kumimoji="1" lang="zh-CN" altLang="en-US" dirty="0">
              <a:solidFill>
                <a:schemeClr val="tx1"/>
              </a:solidFill>
              <a:latin typeface="Times New Roman" panose="02020603050405020304" pitchFamily="18" charset="0"/>
            </a:endParaRPr>
          </a:p>
        </p:txBody>
      </p:sp>
      <p:sp>
        <p:nvSpPr>
          <p:cNvPr id="31" name="矩形 30">
            <a:extLst>
              <a:ext uri="{FF2B5EF4-FFF2-40B4-BE49-F238E27FC236}">
                <a16:creationId xmlns:a16="http://schemas.microsoft.com/office/drawing/2014/main" id="{C02F6872-B96D-4960-93F1-C03CF3A95E9C}"/>
              </a:ext>
            </a:extLst>
          </p:cNvPr>
          <p:cNvSpPr/>
          <p:nvPr/>
        </p:nvSpPr>
        <p:spPr>
          <a:xfrm>
            <a:off x="1798834" y="3416825"/>
            <a:ext cx="1241127" cy="386437"/>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r>
              <a:rPr kumimoji="1" lang="en-US" altLang="zh-CN" baseline="-25000" dirty="0">
                <a:solidFill>
                  <a:schemeClr val="tx1"/>
                </a:solidFill>
                <a:latin typeface="Times New Roman" panose="02020603050405020304" pitchFamily="18" charset="0"/>
              </a:rPr>
              <a:t>34</a:t>
            </a:r>
            <a:r>
              <a:rPr kumimoji="1" lang="en-US" altLang="zh-CN" dirty="0">
                <a:solidFill>
                  <a:schemeClr val="tx1"/>
                </a:solidFill>
                <a:latin typeface="Times New Roman" panose="02020603050405020304" pitchFamily="18" charset="0"/>
              </a:rPr>
              <a:t>()</a:t>
            </a:r>
            <a:endParaRPr kumimoji="1" lang="zh-CN" altLang="en-US" dirty="0">
              <a:solidFill>
                <a:schemeClr val="tx1"/>
              </a:solidFill>
              <a:latin typeface="Times New Roman" panose="02020603050405020304" pitchFamily="18" charset="0"/>
            </a:endParaRPr>
          </a:p>
        </p:txBody>
      </p:sp>
      <p:sp>
        <p:nvSpPr>
          <p:cNvPr id="32" name="矩形 31">
            <a:extLst>
              <a:ext uri="{FF2B5EF4-FFF2-40B4-BE49-F238E27FC236}">
                <a16:creationId xmlns:a16="http://schemas.microsoft.com/office/drawing/2014/main" id="{E4A6362B-2532-4F09-9F04-8D88A20833E1}"/>
              </a:ext>
            </a:extLst>
          </p:cNvPr>
          <p:cNvSpPr/>
          <p:nvPr/>
        </p:nvSpPr>
        <p:spPr>
          <a:xfrm>
            <a:off x="3299344" y="3416825"/>
            <a:ext cx="1241127" cy="386437"/>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33" name="矩形 32">
            <a:extLst>
              <a:ext uri="{FF2B5EF4-FFF2-40B4-BE49-F238E27FC236}">
                <a16:creationId xmlns:a16="http://schemas.microsoft.com/office/drawing/2014/main" id="{16225F04-8BDF-4BFD-8F3B-5048AB676E44}"/>
              </a:ext>
            </a:extLst>
          </p:cNvPr>
          <p:cNvSpPr/>
          <p:nvPr/>
        </p:nvSpPr>
        <p:spPr>
          <a:xfrm>
            <a:off x="4799854" y="3416825"/>
            <a:ext cx="1241127" cy="386437"/>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endParaRPr kumimoji="1" lang="zh-CN" altLang="en-US" dirty="0">
              <a:solidFill>
                <a:schemeClr val="tx1"/>
              </a:solidFill>
              <a:latin typeface="Times New Roman" panose="02020603050405020304" pitchFamily="18" charset="0"/>
            </a:endParaRPr>
          </a:p>
        </p:txBody>
      </p:sp>
      <p:sp>
        <p:nvSpPr>
          <p:cNvPr id="34" name="矩形 33">
            <a:extLst>
              <a:ext uri="{FF2B5EF4-FFF2-40B4-BE49-F238E27FC236}">
                <a16:creationId xmlns:a16="http://schemas.microsoft.com/office/drawing/2014/main" id="{FB14E8DE-CA62-477E-8A7B-2516482DC0D3}"/>
              </a:ext>
            </a:extLst>
          </p:cNvPr>
          <p:cNvSpPr/>
          <p:nvPr/>
        </p:nvSpPr>
        <p:spPr>
          <a:xfrm>
            <a:off x="883710" y="2795546"/>
            <a:ext cx="1576863" cy="386437"/>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r>
              <a:rPr kumimoji="1" lang="en-US" altLang="zh-CN" baseline="-25000" dirty="0">
                <a:solidFill>
                  <a:schemeClr val="tx1"/>
                </a:solidFill>
                <a:latin typeface="Times New Roman" panose="02020603050405020304" pitchFamily="18" charset="0"/>
              </a:rPr>
              <a:t>1234</a:t>
            </a:r>
            <a:r>
              <a:rPr kumimoji="1" lang="en-US" altLang="zh-CN" dirty="0">
                <a:solidFill>
                  <a:schemeClr val="tx1"/>
                </a:solidFill>
                <a:latin typeface="Times New Roman" panose="02020603050405020304" pitchFamily="18" charset="0"/>
              </a:rPr>
              <a:t>()</a:t>
            </a:r>
            <a:endParaRPr kumimoji="1" lang="zh-CN" altLang="en-US" dirty="0">
              <a:solidFill>
                <a:schemeClr val="tx1"/>
              </a:solidFill>
              <a:latin typeface="Times New Roman" panose="02020603050405020304" pitchFamily="18" charset="0"/>
            </a:endParaRPr>
          </a:p>
        </p:txBody>
      </p:sp>
      <p:sp>
        <p:nvSpPr>
          <p:cNvPr id="35" name="矩形 34">
            <a:extLst>
              <a:ext uri="{FF2B5EF4-FFF2-40B4-BE49-F238E27FC236}">
                <a16:creationId xmlns:a16="http://schemas.microsoft.com/office/drawing/2014/main" id="{C1C9E940-1FDA-4D08-BF33-B2880FB6ED1E}"/>
              </a:ext>
            </a:extLst>
          </p:cNvPr>
          <p:cNvSpPr/>
          <p:nvPr/>
        </p:nvSpPr>
        <p:spPr>
          <a:xfrm>
            <a:off x="3889376" y="2795546"/>
            <a:ext cx="1576863" cy="386437"/>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r>
              <a:rPr kumimoji="1" lang="en-US" altLang="zh-CN" baseline="-25000" dirty="0">
                <a:solidFill>
                  <a:schemeClr val="tx1"/>
                </a:solidFill>
                <a:latin typeface="Times New Roman" panose="02020603050405020304" pitchFamily="18" charset="0"/>
              </a:rPr>
              <a:t>5678</a:t>
            </a:r>
            <a:r>
              <a:rPr kumimoji="1" lang="en-US" altLang="zh-CN" dirty="0">
                <a:solidFill>
                  <a:schemeClr val="tx1"/>
                </a:solidFill>
                <a:latin typeface="Times New Roman" panose="02020603050405020304" pitchFamily="18" charset="0"/>
              </a:rPr>
              <a:t>()</a:t>
            </a:r>
            <a:endParaRPr kumimoji="1" lang="zh-CN" altLang="en-US" dirty="0">
              <a:solidFill>
                <a:schemeClr val="tx1"/>
              </a:solidFill>
              <a:latin typeface="Times New Roman" panose="02020603050405020304" pitchFamily="18" charset="0"/>
            </a:endParaRPr>
          </a:p>
        </p:txBody>
      </p:sp>
      <p:sp>
        <p:nvSpPr>
          <p:cNvPr id="36" name="矩形 35">
            <a:extLst>
              <a:ext uri="{FF2B5EF4-FFF2-40B4-BE49-F238E27FC236}">
                <a16:creationId xmlns:a16="http://schemas.microsoft.com/office/drawing/2014/main" id="{C19D6170-9BFA-4683-A20E-A09F3BAC9E61}"/>
              </a:ext>
            </a:extLst>
          </p:cNvPr>
          <p:cNvSpPr/>
          <p:nvPr/>
        </p:nvSpPr>
        <p:spPr>
          <a:xfrm>
            <a:off x="2382310" y="2170957"/>
            <a:ext cx="1576863" cy="386437"/>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rPr>
              <a:t>H</a:t>
            </a:r>
            <a:r>
              <a:rPr kumimoji="1" lang="en-US" altLang="zh-CN" baseline="-25000" dirty="0">
                <a:solidFill>
                  <a:schemeClr val="tx1"/>
                </a:solidFill>
                <a:latin typeface="Times New Roman" panose="02020603050405020304" pitchFamily="18" charset="0"/>
              </a:rPr>
              <a:t>12345678</a:t>
            </a:r>
            <a:r>
              <a:rPr kumimoji="1" lang="en-US" altLang="zh-CN" dirty="0">
                <a:solidFill>
                  <a:schemeClr val="tx1"/>
                </a:solidFill>
                <a:latin typeface="Times New Roman" panose="02020603050405020304" pitchFamily="18" charset="0"/>
              </a:rPr>
              <a:t>()</a:t>
            </a:r>
            <a:endParaRPr kumimoji="1" lang="zh-CN" altLang="en-US" dirty="0">
              <a:solidFill>
                <a:schemeClr val="tx1"/>
              </a:solidFill>
              <a:latin typeface="Times New Roman" panose="02020603050405020304" pitchFamily="18" charset="0"/>
            </a:endParaRPr>
          </a:p>
        </p:txBody>
      </p:sp>
      <p:cxnSp>
        <p:nvCxnSpPr>
          <p:cNvPr id="37" name="直线箭头连接符 86">
            <a:extLst>
              <a:ext uri="{FF2B5EF4-FFF2-40B4-BE49-F238E27FC236}">
                <a16:creationId xmlns:a16="http://schemas.microsoft.com/office/drawing/2014/main" id="{16A046B4-5693-4A73-8BD1-A38E1D79B396}"/>
              </a:ext>
            </a:extLst>
          </p:cNvPr>
          <p:cNvCxnSpPr>
            <a:cxnSpLocks/>
            <a:endCxn id="14" idx="2"/>
          </p:cNvCxnSpPr>
          <p:nvPr/>
        </p:nvCxnSpPr>
        <p:spPr>
          <a:xfrm flipV="1">
            <a:off x="520955"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90">
            <a:extLst>
              <a:ext uri="{FF2B5EF4-FFF2-40B4-BE49-F238E27FC236}">
                <a16:creationId xmlns:a16="http://schemas.microsoft.com/office/drawing/2014/main" id="{7B63A1FE-9DA4-47EC-A589-D67A39BE1B90}"/>
              </a:ext>
            </a:extLst>
          </p:cNvPr>
          <p:cNvCxnSpPr>
            <a:cxnSpLocks/>
            <a:endCxn id="15" idx="2"/>
          </p:cNvCxnSpPr>
          <p:nvPr/>
        </p:nvCxnSpPr>
        <p:spPr>
          <a:xfrm flipV="1">
            <a:off x="1274884"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箭头连接符 91">
            <a:extLst>
              <a:ext uri="{FF2B5EF4-FFF2-40B4-BE49-F238E27FC236}">
                <a16:creationId xmlns:a16="http://schemas.microsoft.com/office/drawing/2014/main" id="{C33492E3-6627-4162-86AC-51E913598D00}"/>
              </a:ext>
            </a:extLst>
          </p:cNvPr>
          <p:cNvCxnSpPr>
            <a:cxnSpLocks/>
            <a:endCxn id="16" idx="2"/>
          </p:cNvCxnSpPr>
          <p:nvPr/>
        </p:nvCxnSpPr>
        <p:spPr>
          <a:xfrm flipV="1">
            <a:off x="2028813"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92">
            <a:extLst>
              <a:ext uri="{FF2B5EF4-FFF2-40B4-BE49-F238E27FC236}">
                <a16:creationId xmlns:a16="http://schemas.microsoft.com/office/drawing/2014/main" id="{F32A7052-9AC8-4216-B1CB-13A6DAD09E52}"/>
              </a:ext>
            </a:extLst>
          </p:cNvPr>
          <p:cNvCxnSpPr>
            <a:cxnSpLocks/>
            <a:endCxn id="17" idx="2"/>
          </p:cNvCxnSpPr>
          <p:nvPr/>
        </p:nvCxnSpPr>
        <p:spPr>
          <a:xfrm flipV="1">
            <a:off x="2782742"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93">
            <a:extLst>
              <a:ext uri="{FF2B5EF4-FFF2-40B4-BE49-F238E27FC236}">
                <a16:creationId xmlns:a16="http://schemas.microsoft.com/office/drawing/2014/main" id="{79D0EF6D-E432-4F0D-80BD-1BB10F2485CA}"/>
              </a:ext>
            </a:extLst>
          </p:cNvPr>
          <p:cNvCxnSpPr>
            <a:cxnSpLocks/>
            <a:endCxn id="18" idx="2"/>
          </p:cNvCxnSpPr>
          <p:nvPr/>
        </p:nvCxnSpPr>
        <p:spPr>
          <a:xfrm flipV="1">
            <a:off x="3536671"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94">
            <a:extLst>
              <a:ext uri="{FF2B5EF4-FFF2-40B4-BE49-F238E27FC236}">
                <a16:creationId xmlns:a16="http://schemas.microsoft.com/office/drawing/2014/main" id="{12DCC748-E0A9-4287-9B00-C03D8FE9F913}"/>
              </a:ext>
            </a:extLst>
          </p:cNvPr>
          <p:cNvCxnSpPr>
            <a:cxnSpLocks/>
            <a:endCxn id="19" idx="2"/>
          </p:cNvCxnSpPr>
          <p:nvPr/>
        </p:nvCxnSpPr>
        <p:spPr>
          <a:xfrm flipV="1">
            <a:off x="4290600"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95">
            <a:extLst>
              <a:ext uri="{FF2B5EF4-FFF2-40B4-BE49-F238E27FC236}">
                <a16:creationId xmlns:a16="http://schemas.microsoft.com/office/drawing/2014/main" id="{0BD57754-872B-42E5-AB5D-4209B2C71499}"/>
              </a:ext>
            </a:extLst>
          </p:cNvPr>
          <p:cNvCxnSpPr>
            <a:cxnSpLocks/>
            <a:endCxn id="20" idx="2"/>
          </p:cNvCxnSpPr>
          <p:nvPr/>
        </p:nvCxnSpPr>
        <p:spPr>
          <a:xfrm flipV="1">
            <a:off x="5044529" y="4480916"/>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线箭头连接符 96">
            <a:extLst>
              <a:ext uri="{FF2B5EF4-FFF2-40B4-BE49-F238E27FC236}">
                <a16:creationId xmlns:a16="http://schemas.microsoft.com/office/drawing/2014/main" id="{D646C5BF-3C95-4D15-B0F8-B92A1A26D739}"/>
              </a:ext>
            </a:extLst>
          </p:cNvPr>
          <p:cNvCxnSpPr>
            <a:cxnSpLocks/>
            <a:endCxn id="21" idx="2"/>
          </p:cNvCxnSpPr>
          <p:nvPr/>
        </p:nvCxnSpPr>
        <p:spPr>
          <a:xfrm flipV="1">
            <a:off x="5798456" y="4480915"/>
            <a:ext cx="0" cy="28829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97">
            <a:extLst>
              <a:ext uri="{FF2B5EF4-FFF2-40B4-BE49-F238E27FC236}">
                <a16:creationId xmlns:a16="http://schemas.microsoft.com/office/drawing/2014/main" id="{C0E99D72-5A2F-49DD-81E5-796466C1EEA2}"/>
              </a:ext>
            </a:extLst>
          </p:cNvPr>
          <p:cNvCxnSpPr>
            <a:cxnSpLocks/>
            <a:endCxn id="30" idx="2"/>
          </p:cNvCxnSpPr>
          <p:nvPr/>
        </p:nvCxnSpPr>
        <p:spPr>
          <a:xfrm flipV="1">
            <a:off x="510946" y="3803262"/>
            <a:ext cx="404433" cy="23407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箭头连接符 99">
            <a:extLst>
              <a:ext uri="{FF2B5EF4-FFF2-40B4-BE49-F238E27FC236}">
                <a16:creationId xmlns:a16="http://schemas.microsoft.com/office/drawing/2014/main" id="{1AD577E3-7250-4376-8F0B-BBC7F5105B84}"/>
              </a:ext>
            </a:extLst>
          </p:cNvPr>
          <p:cNvCxnSpPr>
            <a:cxnSpLocks/>
            <a:stCxn id="15" idx="0"/>
            <a:endCxn id="30" idx="2"/>
          </p:cNvCxnSpPr>
          <p:nvPr/>
        </p:nvCxnSpPr>
        <p:spPr>
          <a:xfrm flipH="1" flipV="1">
            <a:off x="915379" y="3803262"/>
            <a:ext cx="359505" cy="234071"/>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102">
            <a:extLst>
              <a:ext uri="{FF2B5EF4-FFF2-40B4-BE49-F238E27FC236}">
                <a16:creationId xmlns:a16="http://schemas.microsoft.com/office/drawing/2014/main" id="{1F9E1BC9-FAF2-45C1-9A20-4FF16C5BB9E5}"/>
              </a:ext>
            </a:extLst>
          </p:cNvPr>
          <p:cNvCxnSpPr>
            <a:cxnSpLocks/>
            <a:endCxn id="31" idx="2"/>
          </p:cNvCxnSpPr>
          <p:nvPr/>
        </p:nvCxnSpPr>
        <p:spPr>
          <a:xfrm flipV="1">
            <a:off x="2005346" y="3803262"/>
            <a:ext cx="414052" cy="23017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103">
            <a:extLst>
              <a:ext uri="{FF2B5EF4-FFF2-40B4-BE49-F238E27FC236}">
                <a16:creationId xmlns:a16="http://schemas.microsoft.com/office/drawing/2014/main" id="{7630EFC7-B9CD-4542-A2C4-119D03DC3734}"/>
              </a:ext>
            </a:extLst>
          </p:cNvPr>
          <p:cNvCxnSpPr>
            <a:cxnSpLocks/>
            <a:endCxn id="31" idx="2"/>
          </p:cNvCxnSpPr>
          <p:nvPr/>
        </p:nvCxnSpPr>
        <p:spPr>
          <a:xfrm flipH="1" flipV="1">
            <a:off x="2419398" y="3803262"/>
            <a:ext cx="339846" cy="23192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104">
            <a:extLst>
              <a:ext uri="{FF2B5EF4-FFF2-40B4-BE49-F238E27FC236}">
                <a16:creationId xmlns:a16="http://schemas.microsoft.com/office/drawing/2014/main" id="{992D4434-2407-41A1-8402-B953BCB31CA6}"/>
              </a:ext>
            </a:extLst>
          </p:cNvPr>
          <p:cNvCxnSpPr>
            <a:cxnSpLocks/>
            <a:endCxn id="32" idx="2"/>
          </p:cNvCxnSpPr>
          <p:nvPr/>
        </p:nvCxnSpPr>
        <p:spPr>
          <a:xfrm flipH="1" flipV="1">
            <a:off x="3919908" y="3803262"/>
            <a:ext cx="344916" cy="23017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105">
            <a:extLst>
              <a:ext uri="{FF2B5EF4-FFF2-40B4-BE49-F238E27FC236}">
                <a16:creationId xmlns:a16="http://schemas.microsoft.com/office/drawing/2014/main" id="{A70BB27F-3C8F-4B6E-BDD0-5CAF6C1750B9}"/>
              </a:ext>
            </a:extLst>
          </p:cNvPr>
          <p:cNvCxnSpPr>
            <a:cxnSpLocks/>
            <a:endCxn id="33" idx="2"/>
          </p:cNvCxnSpPr>
          <p:nvPr/>
        </p:nvCxnSpPr>
        <p:spPr>
          <a:xfrm flipH="1" flipV="1">
            <a:off x="5420418" y="3803262"/>
            <a:ext cx="348426" cy="22531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106">
            <a:extLst>
              <a:ext uri="{FF2B5EF4-FFF2-40B4-BE49-F238E27FC236}">
                <a16:creationId xmlns:a16="http://schemas.microsoft.com/office/drawing/2014/main" id="{06AB23A9-E5A8-4249-AEA1-7A71C4765EAA}"/>
              </a:ext>
            </a:extLst>
          </p:cNvPr>
          <p:cNvCxnSpPr>
            <a:cxnSpLocks/>
            <a:stCxn id="33" idx="0"/>
            <a:endCxn id="64" idx="0"/>
          </p:cNvCxnSpPr>
          <p:nvPr/>
        </p:nvCxnSpPr>
        <p:spPr>
          <a:xfrm flipH="1" flipV="1">
            <a:off x="4642245" y="3201870"/>
            <a:ext cx="778173" cy="214955"/>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线箭头连接符 108">
            <a:extLst>
              <a:ext uri="{FF2B5EF4-FFF2-40B4-BE49-F238E27FC236}">
                <a16:creationId xmlns:a16="http://schemas.microsoft.com/office/drawing/2014/main" id="{740F4656-CED8-4986-A77A-64625779CDAC}"/>
              </a:ext>
            </a:extLst>
          </p:cNvPr>
          <p:cNvCxnSpPr>
            <a:cxnSpLocks/>
            <a:stCxn id="35" idx="0"/>
          </p:cNvCxnSpPr>
          <p:nvPr/>
        </p:nvCxnSpPr>
        <p:spPr>
          <a:xfrm flipH="1" flipV="1">
            <a:off x="3135844" y="2540629"/>
            <a:ext cx="1541964" cy="254917"/>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线箭头连接符 110">
            <a:extLst>
              <a:ext uri="{FF2B5EF4-FFF2-40B4-BE49-F238E27FC236}">
                <a16:creationId xmlns:a16="http://schemas.microsoft.com/office/drawing/2014/main" id="{3CD48AEA-10DE-4D05-BAC8-9618C4EAB87F}"/>
              </a:ext>
            </a:extLst>
          </p:cNvPr>
          <p:cNvCxnSpPr>
            <a:cxnSpLocks/>
            <a:endCxn id="32" idx="2"/>
          </p:cNvCxnSpPr>
          <p:nvPr/>
        </p:nvCxnSpPr>
        <p:spPr>
          <a:xfrm flipV="1">
            <a:off x="3528709" y="3803262"/>
            <a:ext cx="391199" cy="23017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111">
            <a:extLst>
              <a:ext uri="{FF2B5EF4-FFF2-40B4-BE49-F238E27FC236}">
                <a16:creationId xmlns:a16="http://schemas.microsoft.com/office/drawing/2014/main" id="{DBD95BA6-7AE9-473D-AAAC-7EBBB6A59551}"/>
              </a:ext>
            </a:extLst>
          </p:cNvPr>
          <p:cNvCxnSpPr>
            <a:cxnSpLocks/>
            <a:endCxn id="33" idx="2"/>
          </p:cNvCxnSpPr>
          <p:nvPr/>
        </p:nvCxnSpPr>
        <p:spPr>
          <a:xfrm flipV="1">
            <a:off x="5034518" y="3803262"/>
            <a:ext cx="385900" cy="23017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112">
            <a:extLst>
              <a:ext uri="{FF2B5EF4-FFF2-40B4-BE49-F238E27FC236}">
                <a16:creationId xmlns:a16="http://schemas.microsoft.com/office/drawing/2014/main" id="{DD92B270-95F3-4049-B26B-19F3E7634C7E}"/>
              </a:ext>
            </a:extLst>
          </p:cNvPr>
          <p:cNvCxnSpPr>
            <a:cxnSpLocks/>
            <a:stCxn id="30" idx="0"/>
          </p:cNvCxnSpPr>
          <p:nvPr/>
        </p:nvCxnSpPr>
        <p:spPr>
          <a:xfrm flipV="1">
            <a:off x="915379" y="3174582"/>
            <a:ext cx="699798" cy="242243"/>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线箭头连接符 114">
            <a:extLst>
              <a:ext uri="{FF2B5EF4-FFF2-40B4-BE49-F238E27FC236}">
                <a16:creationId xmlns:a16="http://schemas.microsoft.com/office/drawing/2014/main" id="{C0621BCE-1E1D-409C-8AC3-8CC4EE7A8C85}"/>
              </a:ext>
            </a:extLst>
          </p:cNvPr>
          <p:cNvCxnSpPr>
            <a:cxnSpLocks/>
            <a:endCxn id="64" idx="0"/>
          </p:cNvCxnSpPr>
          <p:nvPr/>
        </p:nvCxnSpPr>
        <p:spPr>
          <a:xfrm flipV="1">
            <a:off x="3912151" y="3201870"/>
            <a:ext cx="730094" cy="197186"/>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115">
            <a:extLst>
              <a:ext uri="{FF2B5EF4-FFF2-40B4-BE49-F238E27FC236}">
                <a16:creationId xmlns:a16="http://schemas.microsoft.com/office/drawing/2014/main" id="{A37F7C50-E1C0-4225-9E47-5FAC825003F1}"/>
              </a:ext>
            </a:extLst>
          </p:cNvPr>
          <p:cNvCxnSpPr>
            <a:cxnSpLocks/>
            <a:endCxn id="34" idx="2"/>
          </p:cNvCxnSpPr>
          <p:nvPr/>
        </p:nvCxnSpPr>
        <p:spPr>
          <a:xfrm flipH="1" flipV="1">
            <a:off x="1672142" y="3181983"/>
            <a:ext cx="673700" cy="242764"/>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116">
            <a:extLst>
              <a:ext uri="{FF2B5EF4-FFF2-40B4-BE49-F238E27FC236}">
                <a16:creationId xmlns:a16="http://schemas.microsoft.com/office/drawing/2014/main" id="{4E09F76A-FC8A-4243-AD19-6A0DC004E66D}"/>
              </a:ext>
            </a:extLst>
          </p:cNvPr>
          <p:cNvCxnSpPr>
            <a:cxnSpLocks/>
            <a:stCxn id="34" idx="0"/>
          </p:cNvCxnSpPr>
          <p:nvPr/>
        </p:nvCxnSpPr>
        <p:spPr>
          <a:xfrm flipV="1">
            <a:off x="1672142" y="2529879"/>
            <a:ext cx="1467035" cy="265667"/>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59" name="十字形 58">
            <a:extLst>
              <a:ext uri="{FF2B5EF4-FFF2-40B4-BE49-F238E27FC236}">
                <a16:creationId xmlns:a16="http://schemas.microsoft.com/office/drawing/2014/main" id="{D664EA8B-E666-436C-9FD5-75870DD80C50}"/>
              </a:ext>
            </a:extLst>
          </p:cNvPr>
          <p:cNvSpPr/>
          <p:nvPr/>
        </p:nvSpPr>
        <p:spPr>
          <a:xfrm>
            <a:off x="790544" y="3854741"/>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0" name="十字形 59">
            <a:extLst>
              <a:ext uri="{FF2B5EF4-FFF2-40B4-BE49-F238E27FC236}">
                <a16:creationId xmlns:a16="http://schemas.microsoft.com/office/drawing/2014/main" id="{83A51958-3031-4554-89B2-F715B48F55C8}"/>
              </a:ext>
            </a:extLst>
          </p:cNvPr>
          <p:cNvSpPr/>
          <p:nvPr/>
        </p:nvSpPr>
        <p:spPr>
          <a:xfrm>
            <a:off x="2291332" y="3841615"/>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1" name="十字形 60">
            <a:extLst>
              <a:ext uri="{FF2B5EF4-FFF2-40B4-BE49-F238E27FC236}">
                <a16:creationId xmlns:a16="http://schemas.microsoft.com/office/drawing/2014/main" id="{85FB537B-B829-439C-8E16-E02EB2E390D3}"/>
              </a:ext>
            </a:extLst>
          </p:cNvPr>
          <p:cNvSpPr/>
          <p:nvPr/>
        </p:nvSpPr>
        <p:spPr>
          <a:xfrm>
            <a:off x="3796824" y="3831983"/>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2" name="十字形 61">
            <a:extLst>
              <a:ext uri="{FF2B5EF4-FFF2-40B4-BE49-F238E27FC236}">
                <a16:creationId xmlns:a16="http://schemas.microsoft.com/office/drawing/2014/main" id="{9993D18E-91A1-49BF-ABAB-12BE3D7C759A}"/>
              </a:ext>
            </a:extLst>
          </p:cNvPr>
          <p:cNvSpPr/>
          <p:nvPr/>
        </p:nvSpPr>
        <p:spPr>
          <a:xfrm>
            <a:off x="5291866" y="3849875"/>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3" name="十字形 62">
            <a:extLst>
              <a:ext uri="{FF2B5EF4-FFF2-40B4-BE49-F238E27FC236}">
                <a16:creationId xmlns:a16="http://schemas.microsoft.com/office/drawing/2014/main" id="{4BCFE5A0-607A-4B16-89C4-F0D32683D9BE}"/>
              </a:ext>
            </a:extLst>
          </p:cNvPr>
          <p:cNvSpPr/>
          <p:nvPr/>
        </p:nvSpPr>
        <p:spPr>
          <a:xfrm>
            <a:off x="1515323" y="3201870"/>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4" name="十字形 63">
            <a:extLst>
              <a:ext uri="{FF2B5EF4-FFF2-40B4-BE49-F238E27FC236}">
                <a16:creationId xmlns:a16="http://schemas.microsoft.com/office/drawing/2014/main" id="{0B47A941-89D0-46DE-870A-63FAF303DB25}"/>
              </a:ext>
            </a:extLst>
          </p:cNvPr>
          <p:cNvSpPr/>
          <p:nvPr/>
        </p:nvSpPr>
        <p:spPr>
          <a:xfrm>
            <a:off x="4535939" y="3201870"/>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65" name="十字形 64">
            <a:extLst>
              <a:ext uri="{FF2B5EF4-FFF2-40B4-BE49-F238E27FC236}">
                <a16:creationId xmlns:a16="http://schemas.microsoft.com/office/drawing/2014/main" id="{48CC28C6-2A1C-44AA-9F4F-2F09A2A6BCF8}"/>
              </a:ext>
            </a:extLst>
          </p:cNvPr>
          <p:cNvSpPr/>
          <p:nvPr/>
        </p:nvSpPr>
        <p:spPr>
          <a:xfrm>
            <a:off x="3036022" y="2566957"/>
            <a:ext cx="212611" cy="212611"/>
          </a:xfrm>
          <a:prstGeom prst="plus">
            <a:avLst>
              <a:gd name="adj" fmla="val 4811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
        <p:nvSpPr>
          <p:cNvPr id="140" name="矩形 139">
            <a:extLst>
              <a:ext uri="{FF2B5EF4-FFF2-40B4-BE49-F238E27FC236}">
                <a16:creationId xmlns:a16="http://schemas.microsoft.com/office/drawing/2014/main" id="{4F70F91B-5F18-481C-BF77-5B2EACEF5DCC}"/>
              </a:ext>
            </a:extLst>
          </p:cNvPr>
          <p:cNvSpPr/>
          <p:nvPr/>
        </p:nvSpPr>
        <p:spPr>
          <a:xfrm>
            <a:off x="294814" y="4799690"/>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1" name="矩形 140">
            <a:extLst>
              <a:ext uri="{FF2B5EF4-FFF2-40B4-BE49-F238E27FC236}">
                <a16:creationId xmlns:a16="http://schemas.microsoft.com/office/drawing/2014/main" id="{D5BD927B-C89E-4327-9F21-1B8A996ACDE8}"/>
              </a:ext>
            </a:extLst>
          </p:cNvPr>
          <p:cNvSpPr/>
          <p:nvPr/>
        </p:nvSpPr>
        <p:spPr>
          <a:xfrm>
            <a:off x="1048743" y="4799690"/>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2" name="矩形 141">
            <a:extLst>
              <a:ext uri="{FF2B5EF4-FFF2-40B4-BE49-F238E27FC236}">
                <a16:creationId xmlns:a16="http://schemas.microsoft.com/office/drawing/2014/main" id="{6B2B9E16-551D-4EC0-AEE7-74D62F0F95AF}"/>
              </a:ext>
            </a:extLst>
          </p:cNvPr>
          <p:cNvSpPr/>
          <p:nvPr/>
        </p:nvSpPr>
        <p:spPr>
          <a:xfrm>
            <a:off x="1802672" y="4799690"/>
            <a:ext cx="452281" cy="443583"/>
          </a:xfrm>
          <a:prstGeom prst="rect">
            <a:avLst/>
          </a:prstGeom>
          <a:solidFill>
            <a:schemeClr val="bg2">
              <a:lumMod val="9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3" name="矩形 142">
            <a:extLst>
              <a:ext uri="{FF2B5EF4-FFF2-40B4-BE49-F238E27FC236}">
                <a16:creationId xmlns:a16="http://schemas.microsoft.com/office/drawing/2014/main" id="{175C2071-A3ED-487D-AF82-2FB723040455}"/>
              </a:ext>
            </a:extLst>
          </p:cNvPr>
          <p:cNvSpPr/>
          <p:nvPr/>
        </p:nvSpPr>
        <p:spPr>
          <a:xfrm>
            <a:off x="2556601" y="4799690"/>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4" name="矩形 143">
            <a:extLst>
              <a:ext uri="{FF2B5EF4-FFF2-40B4-BE49-F238E27FC236}">
                <a16:creationId xmlns:a16="http://schemas.microsoft.com/office/drawing/2014/main" id="{94278C23-A299-4A5E-9D6D-8D0D28CA5322}"/>
              </a:ext>
            </a:extLst>
          </p:cNvPr>
          <p:cNvSpPr/>
          <p:nvPr/>
        </p:nvSpPr>
        <p:spPr>
          <a:xfrm>
            <a:off x="3310530" y="4799690"/>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5" name="矩形 144">
            <a:extLst>
              <a:ext uri="{FF2B5EF4-FFF2-40B4-BE49-F238E27FC236}">
                <a16:creationId xmlns:a16="http://schemas.microsoft.com/office/drawing/2014/main" id="{D8BCAE29-2591-4E85-AD5E-2FF4218C7603}"/>
              </a:ext>
            </a:extLst>
          </p:cNvPr>
          <p:cNvSpPr/>
          <p:nvPr/>
        </p:nvSpPr>
        <p:spPr>
          <a:xfrm>
            <a:off x="4064459" y="4799690"/>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6" name="矩形 145">
            <a:extLst>
              <a:ext uri="{FF2B5EF4-FFF2-40B4-BE49-F238E27FC236}">
                <a16:creationId xmlns:a16="http://schemas.microsoft.com/office/drawing/2014/main" id="{96697D32-D8F8-4812-A69E-01775CA9E2C1}"/>
              </a:ext>
            </a:extLst>
          </p:cNvPr>
          <p:cNvSpPr/>
          <p:nvPr/>
        </p:nvSpPr>
        <p:spPr>
          <a:xfrm>
            <a:off x="4818388" y="4799690"/>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7" name="矩形 146">
            <a:extLst>
              <a:ext uri="{FF2B5EF4-FFF2-40B4-BE49-F238E27FC236}">
                <a16:creationId xmlns:a16="http://schemas.microsoft.com/office/drawing/2014/main" id="{98AAC304-1205-4551-AF6F-BD85749C8A06}"/>
              </a:ext>
            </a:extLst>
          </p:cNvPr>
          <p:cNvSpPr/>
          <p:nvPr/>
        </p:nvSpPr>
        <p:spPr>
          <a:xfrm>
            <a:off x="5572315" y="4799689"/>
            <a:ext cx="452281" cy="443583"/>
          </a:xfrm>
          <a:prstGeom prst="rect">
            <a:avLst/>
          </a:prstGeom>
          <a:solidFill>
            <a:schemeClr val="accent3">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solidFill>
                <a:schemeClr val="tx1"/>
              </a:solidFill>
              <a:latin typeface="Times New Roman" panose="02020603050405020304" pitchFamily="18" charset="0"/>
            </a:endParaRPr>
          </a:p>
        </p:txBody>
      </p:sp>
      <p:sp>
        <p:nvSpPr>
          <p:cNvPr id="148" name="文本框 147">
            <a:extLst>
              <a:ext uri="{FF2B5EF4-FFF2-40B4-BE49-F238E27FC236}">
                <a16:creationId xmlns:a16="http://schemas.microsoft.com/office/drawing/2014/main" id="{792205A2-D4E0-4C0E-93E6-4C579A6454FF}"/>
              </a:ext>
            </a:extLst>
          </p:cNvPr>
          <p:cNvSpPr txBox="1"/>
          <p:nvPr/>
        </p:nvSpPr>
        <p:spPr>
          <a:xfrm>
            <a:off x="252712" y="4826996"/>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49" name="文本框 148">
            <a:extLst>
              <a:ext uri="{FF2B5EF4-FFF2-40B4-BE49-F238E27FC236}">
                <a16:creationId xmlns:a16="http://schemas.microsoft.com/office/drawing/2014/main" id="{6263681C-1B2B-4984-9E21-0C939EDEF99C}"/>
              </a:ext>
            </a:extLst>
          </p:cNvPr>
          <p:cNvSpPr txBox="1"/>
          <p:nvPr/>
        </p:nvSpPr>
        <p:spPr>
          <a:xfrm>
            <a:off x="1048741" y="4826996"/>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0" name="文本框 149">
            <a:extLst>
              <a:ext uri="{FF2B5EF4-FFF2-40B4-BE49-F238E27FC236}">
                <a16:creationId xmlns:a16="http://schemas.microsoft.com/office/drawing/2014/main" id="{4538D6E7-F4A4-4F6C-AFD9-C3BB982D8ECC}"/>
              </a:ext>
            </a:extLst>
          </p:cNvPr>
          <p:cNvSpPr txBox="1"/>
          <p:nvPr/>
        </p:nvSpPr>
        <p:spPr>
          <a:xfrm>
            <a:off x="1779222" y="4855253"/>
            <a:ext cx="540387" cy="338554"/>
          </a:xfrm>
          <a:prstGeom prst="rect">
            <a:avLst/>
          </a:prstGeom>
          <a:noFill/>
        </p:spPr>
        <p:txBody>
          <a:bodyPr wrap="square" rtlCol="0">
            <a:spAutoFit/>
          </a:bodyPr>
          <a:lstStyle/>
          <a:p>
            <a:r>
              <a:rPr kumimoji="1" lang="en-US" altLang="zh-CN" sz="1600" dirty="0">
                <a:latin typeface="Times New Roman" panose="02020603050405020304" pitchFamily="18" charset="0"/>
              </a:rPr>
              <a:t>Tx</a:t>
            </a:r>
            <a:r>
              <a:rPr kumimoji="1" lang="en-US" altLang="zh-CN" sz="1600" baseline="-25000" dirty="0">
                <a:latin typeface="Times New Roman" panose="02020603050405020304" pitchFamily="18" charset="0"/>
              </a:rPr>
              <a:t>3</a:t>
            </a:r>
            <a:endParaRPr kumimoji="1" lang="zh-CN" altLang="en-US" sz="1600" baseline="-25000" dirty="0">
              <a:latin typeface="Times New Roman" panose="02020603050405020304" pitchFamily="18" charset="0"/>
            </a:endParaRPr>
          </a:p>
        </p:txBody>
      </p:sp>
      <p:sp>
        <p:nvSpPr>
          <p:cNvPr id="151" name="文本框 150">
            <a:extLst>
              <a:ext uri="{FF2B5EF4-FFF2-40B4-BE49-F238E27FC236}">
                <a16:creationId xmlns:a16="http://schemas.microsoft.com/office/drawing/2014/main" id="{2C778FF9-5791-4CB7-942B-24B4F575ECCC}"/>
              </a:ext>
            </a:extLst>
          </p:cNvPr>
          <p:cNvSpPr txBox="1"/>
          <p:nvPr/>
        </p:nvSpPr>
        <p:spPr>
          <a:xfrm>
            <a:off x="2536655" y="4868789"/>
            <a:ext cx="540387" cy="338554"/>
          </a:xfrm>
          <a:prstGeom prst="rect">
            <a:avLst/>
          </a:prstGeom>
          <a:noFill/>
        </p:spPr>
        <p:txBody>
          <a:bodyPr wrap="square" rtlCol="0">
            <a:spAutoFit/>
          </a:bodyPr>
          <a:lstStyle/>
          <a:p>
            <a:r>
              <a:rPr kumimoji="1" lang="en-US" altLang="zh-CN" sz="1600" dirty="0">
                <a:latin typeface="Times New Roman" panose="02020603050405020304" pitchFamily="18" charset="0"/>
              </a:rPr>
              <a:t>Tx</a:t>
            </a:r>
            <a:r>
              <a:rPr kumimoji="1" lang="en-US" altLang="zh-CN" sz="1600" baseline="-25000" dirty="0">
                <a:latin typeface="Times New Roman" panose="02020603050405020304" pitchFamily="18" charset="0"/>
              </a:rPr>
              <a:t>4</a:t>
            </a:r>
            <a:endParaRPr kumimoji="1" lang="zh-CN" altLang="en-US" sz="1600" baseline="-25000" dirty="0">
              <a:latin typeface="Times New Roman" panose="02020603050405020304" pitchFamily="18" charset="0"/>
            </a:endParaRPr>
          </a:p>
        </p:txBody>
      </p:sp>
      <p:sp>
        <p:nvSpPr>
          <p:cNvPr id="152" name="文本框 151">
            <a:extLst>
              <a:ext uri="{FF2B5EF4-FFF2-40B4-BE49-F238E27FC236}">
                <a16:creationId xmlns:a16="http://schemas.microsoft.com/office/drawing/2014/main" id="{BC028466-B2A2-441E-8E49-1F3F986C7135}"/>
              </a:ext>
            </a:extLst>
          </p:cNvPr>
          <p:cNvSpPr txBox="1"/>
          <p:nvPr/>
        </p:nvSpPr>
        <p:spPr>
          <a:xfrm>
            <a:off x="3307021" y="4820298"/>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3" name="文本框 152">
            <a:extLst>
              <a:ext uri="{FF2B5EF4-FFF2-40B4-BE49-F238E27FC236}">
                <a16:creationId xmlns:a16="http://schemas.microsoft.com/office/drawing/2014/main" id="{4A45EB32-8B58-43F7-8F86-13A7BD92A87B}"/>
              </a:ext>
            </a:extLst>
          </p:cNvPr>
          <p:cNvSpPr txBox="1"/>
          <p:nvPr/>
        </p:nvSpPr>
        <p:spPr>
          <a:xfrm>
            <a:off x="4064457" y="4828084"/>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4" name="文本框 153">
            <a:extLst>
              <a:ext uri="{FF2B5EF4-FFF2-40B4-BE49-F238E27FC236}">
                <a16:creationId xmlns:a16="http://schemas.microsoft.com/office/drawing/2014/main" id="{D2E86797-F704-47A4-A44C-B3CE2B014646}"/>
              </a:ext>
            </a:extLst>
          </p:cNvPr>
          <p:cNvSpPr txBox="1"/>
          <p:nvPr/>
        </p:nvSpPr>
        <p:spPr>
          <a:xfrm>
            <a:off x="4818386" y="4820298"/>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55" name="文本框 154">
            <a:extLst>
              <a:ext uri="{FF2B5EF4-FFF2-40B4-BE49-F238E27FC236}">
                <a16:creationId xmlns:a16="http://schemas.microsoft.com/office/drawing/2014/main" id="{2E199962-C0A2-4EBB-BEC3-F3AC5F621BAA}"/>
              </a:ext>
            </a:extLst>
          </p:cNvPr>
          <p:cNvSpPr txBox="1"/>
          <p:nvPr/>
        </p:nvSpPr>
        <p:spPr>
          <a:xfrm>
            <a:off x="5555613" y="4826996"/>
            <a:ext cx="540387" cy="369332"/>
          </a:xfrm>
          <a:prstGeom prst="rect">
            <a:avLst/>
          </a:prstGeom>
          <a:noFill/>
        </p:spPr>
        <p:txBody>
          <a:bodyPr wrap="square" rtlCol="0">
            <a:spAutoFit/>
          </a:bodyPr>
          <a:lstStyle/>
          <a:p>
            <a:r>
              <a:rPr kumimoji="1" lang="en-US" altLang="zh-CN" dirty="0">
                <a:latin typeface="Times New Roman" panose="02020603050405020304" pitchFamily="18" charset="0"/>
              </a:rPr>
              <a:t>Tx</a:t>
            </a:r>
            <a:endParaRPr kumimoji="1" lang="zh-CN" altLang="en-US" dirty="0">
              <a:latin typeface="Times New Roman" panose="02020603050405020304" pitchFamily="18" charset="0"/>
            </a:endParaRPr>
          </a:p>
        </p:txBody>
      </p:sp>
      <p:sp>
        <p:nvSpPr>
          <p:cNvPr id="138" name="文本框 137">
            <a:extLst>
              <a:ext uri="{FF2B5EF4-FFF2-40B4-BE49-F238E27FC236}">
                <a16:creationId xmlns:a16="http://schemas.microsoft.com/office/drawing/2014/main" id="{D5CD7871-15C6-421C-BF28-B4C10D2D1303}"/>
              </a:ext>
            </a:extLst>
          </p:cNvPr>
          <p:cNvSpPr txBox="1"/>
          <p:nvPr/>
        </p:nvSpPr>
        <p:spPr>
          <a:xfrm>
            <a:off x="7137668" y="1572020"/>
            <a:ext cx="4659477" cy="523220"/>
          </a:xfrm>
          <a:prstGeom prst="rect">
            <a:avLst/>
          </a:prstGeom>
          <a:noFill/>
        </p:spPr>
        <p:txBody>
          <a:bodyPr wrap="square">
            <a:spAutoFit/>
          </a:bodyPr>
          <a:lstStyle/>
          <a:p>
            <a:r>
              <a:rPr lang="zh-CN" altLang="en-US" sz="2800" b="1" dirty="0">
                <a:solidFill>
                  <a:srgbClr val="5B307E"/>
                </a:solidFill>
                <a:latin typeface="Garamond" panose="02020404030301010803" pitchFamily="18" charset="0"/>
              </a:rPr>
              <a:t>思考题：</a:t>
            </a:r>
            <a:endParaRPr lang="zh-CN" altLang="en-US" sz="2800" b="1" dirty="0">
              <a:solidFill>
                <a:srgbClr val="5B307E"/>
              </a:solidFill>
            </a:endParaRPr>
          </a:p>
        </p:txBody>
      </p:sp>
      <p:pic>
        <p:nvPicPr>
          <p:cNvPr id="139" name="图片 138">
            <a:extLst>
              <a:ext uri="{FF2B5EF4-FFF2-40B4-BE49-F238E27FC236}">
                <a16:creationId xmlns:a16="http://schemas.microsoft.com/office/drawing/2014/main" id="{92D0763D-49DC-46B6-94D1-8E91D3B6F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6006" y="1532799"/>
            <a:ext cx="601662" cy="601662"/>
          </a:xfrm>
          <a:prstGeom prst="rect">
            <a:avLst/>
          </a:prstGeom>
        </p:spPr>
      </p:pic>
      <p:sp>
        <p:nvSpPr>
          <p:cNvPr id="166" name="文本框 165">
            <a:extLst>
              <a:ext uri="{FF2B5EF4-FFF2-40B4-BE49-F238E27FC236}">
                <a16:creationId xmlns:a16="http://schemas.microsoft.com/office/drawing/2014/main" id="{62428B6F-181D-4215-8454-B26F7A8A13F4}"/>
              </a:ext>
            </a:extLst>
          </p:cNvPr>
          <p:cNvSpPr txBox="1"/>
          <p:nvPr/>
        </p:nvSpPr>
        <p:spPr>
          <a:xfrm>
            <a:off x="6536006" y="2508455"/>
            <a:ext cx="5145048" cy="400110"/>
          </a:xfrm>
          <a:prstGeom prst="rect">
            <a:avLst/>
          </a:prstGeom>
          <a:noFill/>
        </p:spPr>
        <p:txBody>
          <a:bodyPr wrap="square">
            <a:spAutoFit/>
          </a:bodyPr>
          <a:lstStyle/>
          <a:p>
            <a:r>
              <a:rPr lang="en-US" altLang="zh-CN" sz="2000" dirty="0">
                <a:latin typeface="Garamond" panose="02020404030301010803" pitchFamily="18" charset="0"/>
              </a:rPr>
              <a:t>1. </a:t>
            </a:r>
            <a:r>
              <a:rPr lang="zh-CN" altLang="en-US" sz="2000" dirty="0">
                <a:latin typeface="Garamond" panose="02020404030301010803" pitchFamily="18" charset="0"/>
              </a:rPr>
              <a:t>如何证明一个交易已经写入一个区块了？</a:t>
            </a:r>
            <a:endParaRPr lang="zh-CN" altLang="en-US" sz="2000" dirty="0"/>
          </a:p>
        </p:txBody>
      </p:sp>
      <p:sp>
        <p:nvSpPr>
          <p:cNvPr id="167" name="文本框 166">
            <a:extLst>
              <a:ext uri="{FF2B5EF4-FFF2-40B4-BE49-F238E27FC236}">
                <a16:creationId xmlns:a16="http://schemas.microsoft.com/office/drawing/2014/main" id="{494970A8-CB2C-4EB9-85BB-458046D9AC3C}"/>
              </a:ext>
            </a:extLst>
          </p:cNvPr>
          <p:cNvSpPr txBox="1"/>
          <p:nvPr/>
        </p:nvSpPr>
        <p:spPr>
          <a:xfrm>
            <a:off x="6536006" y="3127414"/>
            <a:ext cx="5145048" cy="400110"/>
          </a:xfrm>
          <a:prstGeom prst="rect">
            <a:avLst/>
          </a:prstGeom>
          <a:noFill/>
        </p:spPr>
        <p:txBody>
          <a:bodyPr wrap="square">
            <a:spAutoFit/>
          </a:bodyPr>
          <a:lstStyle/>
          <a:p>
            <a:r>
              <a:rPr lang="en-US" altLang="zh-CN" sz="2000" dirty="0">
                <a:latin typeface="Garamond" panose="02020404030301010803" pitchFamily="18" charset="0"/>
              </a:rPr>
              <a:t>2. </a:t>
            </a:r>
            <a:r>
              <a:rPr lang="zh-CN" altLang="en-US" sz="2000" dirty="0">
                <a:latin typeface="Garamond" panose="02020404030301010803" pitchFamily="18" charset="0"/>
              </a:rPr>
              <a:t>如何判断全节点是否返回了错误的哈希值？</a:t>
            </a:r>
            <a:endParaRPr lang="zh-CN" altLang="en-US" sz="2000" dirty="0"/>
          </a:p>
        </p:txBody>
      </p:sp>
      <p:sp>
        <p:nvSpPr>
          <p:cNvPr id="168" name="文本框 167">
            <a:extLst>
              <a:ext uri="{FF2B5EF4-FFF2-40B4-BE49-F238E27FC236}">
                <a16:creationId xmlns:a16="http://schemas.microsoft.com/office/drawing/2014/main" id="{0EB52F78-2837-4B16-B676-FF8AE575CD3C}"/>
              </a:ext>
            </a:extLst>
          </p:cNvPr>
          <p:cNvSpPr txBox="1"/>
          <p:nvPr/>
        </p:nvSpPr>
        <p:spPr>
          <a:xfrm>
            <a:off x="6536005" y="3746373"/>
            <a:ext cx="5145048" cy="400110"/>
          </a:xfrm>
          <a:prstGeom prst="rect">
            <a:avLst/>
          </a:prstGeom>
          <a:noFill/>
        </p:spPr>
        <p:txBody>
          <a:bodyPr wrap="square">
            <a:spAutoFit/>
          </a:bodyPr>
          <a:lstStyle/>
          <a:p>
            <a:r>
              <a:rPr lang="en-US" altLang="zh-CN" sz="2000" dirty="0">
                <a:latin typeface="Garamond" panose="02020404030301010803" pitchFamily="18" charset="0"/>
              </a:rPr>
              <a:t>3. </a:t>
            </a:r>
            <a:r>
              <a:rPr lang="zh-CN" altLang="en-US" sz="2000" dirty="0">
                <a:latin typeface="Garamond" panose="02020404030301010803" pitchFamily="18" charset="0"/>
              </a:rPr>
              <a:t>如何证明一个交易不存在一个区块里？</a:t>
            </a:r>
            <a:endParaRPr lang="zh-CN" altLang="en-US" sz="2000" dirty="0"/>
          </a:p>
        </p:txBody>
      </p:sp>
      <p:sp>
        <p:nvSpPr>
          <p:cNvPr id="169" name="文本框 168">
            <a:extLst>
              <a:ext uri="{FF2B5EF4-FFF2-40B4-BE49-F238E27FC236}">
                <a16:creationId xmlns:a16="http://schemas.microsoft.com/office/drawing/2014/main" id="{206C40C2-3EAC-4DFB-BAF3-77640F89E06E}"/>
              </a:ext>
            </a:extLst>
          </p:cNvPr>
          <p:cNvSpPr txBox="1"/>
          <p:nvPr/>
        </p:nvSpPr>
        <p:spPr>
          <a:xfrm>
            <a:off x="6536006" y="4397346"/>
            <a:ext cx="5145048" cy="707886"/>
          </a:xfrm>
          <a:prstGeom prst="rect">
            <a:avLst/>
          </a:prstGeom>
          <a:noFill/>
        </p:spPr>
        <p:txBody>
          <a:bodyPr wrap="square">
            <a:spAutoFit/>
          </a:bodyPr>
          <a:lstStyle/>
          <a:p>
            <a:r>
              <a:rPr lang="en-US" altLang="zh-CN" sz="2000" dirty="0">
                <a:latin typeface="Garamond" panose="02020404030301010803" pitchFamily="18" charset="0"/>
              </a:rPr>
              <a:t>4. </a:t>
            </a:r>
            <a:r>
              <a:rPr lang="zh-CN" altLang="en-US" sz="2000" dirty="0">
                <a:latin typeface="Garamond" panose="02020404030301010803" pitchFamily="18" charset="0"/>
              </a:rPr>
              <a:t>篡改一个交易后，能否调整</a:t>
            </a:r>
            <a:r>
              <a:rPr lang="en-US" altLang="zh-CN" sz="2000" dirty="0">
                <a:latin typeface="Garamond" panose="02020404030301010803" pitchFamily="18" charset="0"/>
              </a:rPr>
              <a:t>Merkle Proof</a:t>
            </a:r>
            <a:r>
              <a:rPr lang="zh-CN" altLang="en-US" sz="2000" dirty="0">
                <a:latin typeface="Garamond" panose="02020404030301010803" pitchFamily="18" charset="0"/>
              </a:rPr>
              <a:t>，使得根哈希值保持不变？</a:t>
            </a:r>
            <a:endParaRPr lang="zh-CN" altLang="en-US" sz="2000" dirty="0"/>
          </a:p>
        </p:txBody>
      </p:sp>
      <p:sp>
        <p:nvSpPr>
          <p:cNvPr id="170" name="文本框 169">
            <a:extLst>
              <a:ext uri="{FF2B5EF4-FFF2-40B4-BE49-F238E27FC236}">
                <a16:creationId xmlns:a16="http://schemas.microsoft.com/office/drawing/2014/main" id="{3DA9F499-8851-41BB-BE22-922A0C480B81}"/>
              </a:ext>
            </a:extLst>
          </p:cNvPr>
          <p:cNvSpPr txBox="1"/>
          <p:nvPr/>
        </p:nvSpPr>
        <p:spPr>
          <a:xfrm>
            <a:off x="6536006" y="5305267"/>
            <a:ext cx="5145048" cy="707886"/>
          </a:xfrm>
          <a:prstGeom prst="rect">
            <a:avLst/>
          </a:prstGeom>
          <a:noFill/>
        </p:spPr>
        <p:txBody>
          <a:bodyPr wrap="square">
            <a:spAutoFit/>
          </a:bodyPr>
          <a:lstStyle/>
          <a:p>
            <a:r>
              <a:rPr lang="en-US" altLang="zh-CN" sz="2000" dirty="0">
                <a:latin typeface="Garamond" panose="02020404030301010803" pitchFamily="18" charset="0"/>
              </a:rPr>
              <a:t>5. N</a:t>
            </a:r>
            <a:r>
              <a:rPr lang="zh-CN" altLang="en-US" sz="2000" dirty="0">
                <a:latin typeface="Garamond" panose="02020404030301010803" pitchFamily="18" charset="0"/>
              </a:rPr>
              <a:t>笔交易的</a:t>
            </a:r>
            <a:r>
              <a:rPr lang="en-US" altLang="zh-CN" sz="2000" dirty="0">
                <a:latin typeface="Garamond" panose="02020404030301010803" pitchFamily="18" charset="0"/>
              </a:rPr>
              <a:t>Merkle Tree</a:t>
            </a:r>
            <a:r>
              <a:rPr lang="zh-CN" altLang="en-US" sz="2000" dirty="0">
                <a:latin typeface="Garamond" panose="02020404030301010803" pitchFamily="18" charset="0"/>
              </a:rPr>
              <a:t>，一次</a:t>
            </a:r>
            <a:r>
              <a:rPr lang="en-US" altLang="zh-CN" sz="2000" dirty="0">
                <a:latin typeface="Garamond" panose="02020404030301010803" pitchFamily="18" charset="0"/>
              </a:rPr>
              <a:t>Proof</a:t>
            </a:r>
            <a:r>
              <a:rPr lang="zh-CN" altLang="en-US" sz="2000" dirty="0">
                <a:latin typeface="Garamond" panose="02020404030301010803" pitchFamily="18" charset="0"/>
              </a:rPr>
              <a:t>的时间复杂度？</a:t>
            </a:r>
            <a:endParaRPr lang="zh-CN" altLang="en-US" sz="2000" dirty="0"/>
          </a:p>
        </p:txBody>
      </p:sp>
    </p:spTree>
    <p:extLst>
      <p:ext uri="{BB962C8B-B14F-4D97-AF65-F5344CB8AC3E}">
        <p14:creationId xmlns:p14="http://schemas.microsoft.com/office/powerpoint/2010/main" val="416826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4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4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4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4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4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45"/>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4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47"/>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4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4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5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5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52"/>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5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54"/>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55"/>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38"/>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3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6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6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6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69"/>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p:bldP spid="23" grpId="0"/>
      <p:bldP spid="24" grpId="0"/>
      <p:bldP spid="25" grpId="0"/>
      <p:bldP spid="26" grpId="0"/>
      <p:bldP spid="27" grpId="0"/>
      <p:bldP spid="28" grpId="0"/>
      <p:bldP spid="29" grpId="0"/>
      <p:bldP spid="30" grpId="0" animBg="1"/>
      <p:bldP spid="31" grpId="0" animBg="1"/>
      <p:bldP spid="32" grpId="0" animBg="1"/>
      <p:bldP spid="33" grpId="0" animBg="1"/>
      <p:bldP spid="34" grpId="0" animBg="1"/>
      <p:bldP spid="35" grpId="0" animBg="1"/>
      <p:bldP spid="36" grpId="0" animBg="1"/>
      <p:bldP spid="59" grpId="0" animBg="1"/>
      <p:bldP spid="60" grpId="0" animBg="1"/>
      <p:bldP spid="61" grpId="0" animBg="1"/>
      <p:bldP spid="62" grpId="0" animBg="1"/>
      <p:bldP spid="63" grpId="0" animBg="1"/>
      <p:bldP spid="64" grpId="0" animBg="1"/>
      <p:bldP spid="65" grpId="0" animBg="1"/>
      <p:bldP spid="140" grpId="0" animBg="1"/>
      <p:bldP spid="141" grpId="0" animBg="1"/>
      <p:bldP spid="142" grpId="0" animBg="1"/>
      <p:bldP spid="143" grpId="0" animBg="1"/>
      <p:bldP spid="144" grpId="0" animBg="1"/>
      <p:bldP spid="145" grpId="0" animBg="1"/>
      <p:bldP spid="146" grpId="0" animBg="1"/>
      <p:bldP spid="147" grpId="0" animBg="1"/>
      <p:bldP spid="148" grpId="0"/>
      <p:bldP spid="149" grpId="0"/>
      <p:bldP spid="150" grpId="0"/>
      <p:bldP spid="151" grpId="0"/>
      <p:bldP spid="152" grpId="0"/>
      <p:bldP spid="153" grpId="0"/>
      <p:bldP spid="154" grpId="0"/>
      <p:bldP spid="155" grpId="0"/>
      <p:bldP spid="138" grpId="0"/>
      <p:bldP spid="166" grpId="0"/>
      <p:bldP spid="167" grpId="0"/>
      <p:bldP spid="168" grpId="0"/>
      <p:bldP spid="169" grpId="0"/>
      <p:bldP spid="17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区块链详细结构图</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pic>
        <p:nvPicPr>
          <p:cNvPr id="1026" name="Picture 2">
            <a:extLst>
              <a:ext uri="{FF2B5EF4-FFF2-40B4-BE49-F238E27FC236}">
                <a16:creationId xmlns:a16="http://schemas.microsoft.com/office/drawing/2014/main" id="{0144A426-4E2F-4115-B17F-DE6528072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70" y="1507173"/>
            <a:ext cx="11515656" cy="4670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953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账户与交易</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latin typeface="Garamond" panose="02020404030301010803" pitchFamily="18" charset="0"/>
              </a:rPr>
              <a:t>账户</a:t>
            </a:r>
          </a:p>
          <a:p>
            <a:pPr lvl="1">
              <a:lnSpc>
                <a:spcPct val="130000"/>
              </a:lnSpc>
            </a:pPr>
            <a:r>
              <a:rPr lang="zh-CN" altLang="en-US" dirty="0">
                <a:latin typeface="Garamond" panose="02020404030301010803" pitchFamily="18" charset="0"/>
              </a:rPr>
              <a:t>账户是区块链系统中数字货币的所有者，也称为地址。</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账户之间的货币转移通过交易来实现，称为转账。</a:t>
            </a:r>
            <a:endParaRPr lang="en-US" altLang="zh-CN" dirty="0">
              <a:latin typeface="Garamond" panose="02020404030301010803" pitchFamily="18" charset="0"/>
            </a:endParaRPr>
          </a:p>
          <a:p>
            <a:pPr lvl="0">
              <a:lnSpc>
                <a:spcPct val="130000"/>
              </a:lnSpc>
            </a:pPr>
            <a:r>
              <a:rPr lang="zh-CN" altLang="en-US" dirty="0">
                <a:solidFill>
                  <a:prstClr val="black"/>
                </a:solidFill>
                <a:latin typeface="Garamond" panose="02020404030301010803" pitchFamily="18" charset="0"/>
              </a:rPr>
              <a:t>账户系统的经典模型</a:t>
            </a:r>
            <a:endParaRPr lang="en-US" altLang="zh-CN" dirty="0">
              <a:solidFill>
                <a:prstClr val="black"/>
              </a:solidFill>
              <a:latin typeface="Garamond" panose="02020404030301010803" pitchFamily="18" charset="0"/>
            </a:endParaRPr>
          </a:p>
          <a:p>
            <a:pPr lvl="1">
              <a:lnSpc>
                <a:spcPct val="130000"/>
              </a:lnSpc>
            </a:pPr>
            <a:r>
              <a:rPr lang="en-US" altLang="zh-CN" b="1" dirty="0">
                <a:solidFill>
                  <a:srgbClr val="5B307E"/>
                </a:solidFill>
                <a:latin typeface="Garamond" panose="02020404030301010803" pitchFamily="18" charset="0"/>
              </a:rPr>
              <a:t>UTXO</a:t>
            </a:r>
            <a:r>
              <a:rPr lang="zh-CN" altLang="en-US" dirty="0">
                <a:solidFill>
                  <a:prstClr val="black"/>
                </a:solidFill>
                <a:latin typeface="Garamond" panose="02020404030301010803" pitchFamily="18" charset="0"/>
              </a:rPr>
              <a:t>，应用于比特币。</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账户状态转移，应用于以太坊。</a:t>
            </a:r>
            <a:endParaRPr lang="en-US" altLang="zh-CN" dirty="0">
              <a:solidFill>
                <a:prstClr val="black"/>
              </a:solidFill>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交易</a:t>
            </a:r>
            <a:endParaRPr lang="en-US" altLang="zh-CN" dirty="0"/>
          </a:p>
        </p:txBody>
      </p:sp>
      <p:sp>
        <p:nvSpPr>
          <p:cNvPr id="3" name="内容占位符 2"/>
          <p:cNvSpPr>
            <a:spLocks noGrp="1"/>
          </p:cNvSpPr>
          <p:nvPr>
            <p:ph idx="1"/>
          </p:nvPr>
        </p:nvSpPr>
        <p:spPr>
          <a:xfrm>
            <a:off x="838200" y="1510758"/>
            <a:ext cx="9888940" cy="3299781"/>
          </a:xfrm>
        </p:spPr>
        <p:txBody>
          <a:bodyPr>
            <a:normAutofit fontScale="85000" lnSpcReduction="20000"/>
          </a:bodyPr>
          <a:lstStyle/>
          <a:p>
            <a:pPr fontAlgn="auto">
              <a:lnSpc>
                <a:spcPct val="130000"/>
              </a:lnSpc>
            </a:pPr>
            <a:r>
              <a:rPr lang="zh-CN" altLang="en-US" dirty="0">
                <a:latin typeface="Garamond" panose="02020404030301010803" pitchFamily="18" charset="0"/>
              </a:rPr>
              <a:t>账户余额</a:t>
            </a:r>
          </a:p>
          <a:p>
            <a:pPr lvl="1">
              <a:lnSpc>
                <a:spcPct val="130000"/>
              </a:lnSpc>
            </a:pPr>
            <a:r>
              <a:rPr lang="zh-CN" altLang="en-US" dirty="0">
                <a:latin typeface="Garamond" panose="02020404030301010803" pitchFamily="18" charset="0"/>
              </a:rPr>
              <a:t>由</a:t>
            </a:r>
            <a:r>
              <a:rPr lang="en-US" altLang="zh-CN" dirty="0">
                <a:latin typeface="Garamond" panose="02020404030301010803" pitchFamily="18" charset="0"/>
              </a:rPr>
              <a:t>UTXO</a:t>
            </a:r>
            <a:r>
              <a:rPr lang="zh-CN" altLang="en-US" dirty="0">
                <a:latin typeface="Garamond" panose="02020404030301010803" pitchFamily="18" charset="0"/>
              </a:rPr>
              <a:t>表示（由之后的内容介绍）。</a:t>
            </a:r>
            <a:endParaRPr lang="en-US" altLang="zh-CN" dirty="0">
              <a:latin typeface="Garamond" panose="02020404030301010803" pitchFamily="18" charset="0"/>
            </a:endParaRPr>
          </a:p>
          <a:p>
            <a:pPr lvl="0">
              <a:lnSpc>
                <a:spcPct val="130000"/>
              </a:lnSpc>
            </a:pPr>
            <a:r>
              <a:rPr lang="zh-CN" altLang="en-US" dirty="0">
                <a:solidFill>
                  <a:prstClr val="black"/>
                </a:solidFill>
                <a:latin typeface="Garamond" panose="02020404030301010803" pitchFamily="18" charset="0"/>
              </a:rPr>
              <a:t>比特币的交易类似于借据交易</a:t>
            </a:r>
          </a:p>
          <a:p>
            <a:pPr lvl="1">
              <a:lnSpc>
                <a:spcPct val="130000"/>
              </a:lnSpc>
            </a:pPr>
            <a:r>
              <a:rPr lang="zh-CN" altLang="en-US" dirty="0">
                <a:solidFill>
                  <a:prstClr val="black"/>
                </a:solidFill>
                <a:latin typeface="Garamond" panose="02020404030301010803" pitchFamily="18" charset="0"/>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endParaRPr lang="en-US" altLang="zh-CN" dirty="0">
              <a:solidFill>
                <a:prstClr val="black"/>
              </a:solidFill>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pic>
        <p:nvPicPr>
          <p:cNvPr id="4" name="图片 3"/>
          <p:cNvPicPr>
            <a:picLocks noChangeAspect="1"/>
          </p:cNvPicPr>
          <p:nvPr/>
        </p:nvPicPr>
        <p:blipFill>
          <a:blip r:embed="rId3"/>
          <a:stretch>
            <a:fillRect/>
          </a:stretch>
        </p:blipFill>
        <p:spPr>
          <a:xfrm>
            <a:off x="3386111" y="4989492"/>
            <a:ext cx="4793117" cy="1366858"/>
          </a:xfrm>
          <a:prstGeom prst="rect">
            <a:avLst/>
          </a:prstGeom>
        </p:spPr>
      </p:pic>
      <p:sp>
        <p:nvSpPr>
          <p:cNvPr id="5" name="文本框 4"/>
          <p:cNvSpPr txBox="1"/>
          <p:nvPr/>
        </p:nvSpPr>
        <p:spPr>
          <a:xfrm>
            <a:off x="5228671" y="6358118"/>
            <a:ext cx="1107996" cy="369332"/>
          </a:xfrm>
          <a:prstGeom prst="rect">
            <a:avLst/>
          </a:prstGeom>
          <a:noFill/>
        </p:spPr>
        <p:txBody>
          <a:bodyPr wrap="none" rtlCol="0">
            <a:spAutoFit/>
          </a:bodyPr>
          <a:lstStyle/>
          <a:p>
            <a:r>
              <a:rPr kumimoji="1" lang="zh-CN" altLang="en-US" dirty="0"/>
              <a:t>借据转交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交易</a:t>
            </a:r>
            <a:endParaRPr lang="en-US" altLang="zh-CN" dirty="0"/>
          </a:p>
        </p:txBody>
      </p:sp>
      <p:sp>
        <p:nvSpPr>
          <p:cNvPr id="3" name="内容占位符 2"/>
          <p:cNvSpPr>
            <a:spLocks noGrp="1"/>
          </p:cNvSpPr>
          <p:nvPr>
            <p:ph idx="1"/>
          </p:nvPr>
        </p:nvSpPr>
        <p:spPr>
          <a:xfrm>
            <a:off x="838200" y="1510758"/>
            <a:ext cx="9888940" cy="3710171"/>
          </a:xfrm>
        </p:spPr>
        <p:txBody>
          <a:bodyPr>
            <a:normAutofit fontScale="92500"/>
          </a:bodyPr>
          <a:lstStyle/>
          <a:p>
            <a:pPr fontAlgn="auto">
              <a:lnSpc>
                <a:spcPct val="130000"/>
              </a:lnSpc>
            </a:pPr>
            <a:r>
              <a:rPr lang="zh-CN" altLang="en-US" dirty="0">
                <a:latin typeface="Garamond" panose="02020404030301010803" pitchFamily="18" charset="0"/>
              </a:rPr>
              <a:t>比特币的交易（转账）</a:t>
            </a:r>
          </a:p>
          <a:p>
            <a:pPr lvl="1">
              <a:lnSpc>
                <a:spcPct val="130000"/>
              </a:lnSpc>
            </a:pPr>
            <a:r>
              <a:rPr lang="zh-CN" altLang="en-US" dirty="0">
                <a:latin typeface="Garamond" panose="02020404030301010803" pitchFamily="18" charset="0"/>
              </a:rPr>
              <a:t>假设现在</a:t>
            </a:r>
            <a:r>
              <a:rPr lang="en-GB" altLang="zh-CN" dirty="0">
                <a:latin typeface="Garamond" panose="02020404030301010803" pitchFamily="18" charset="0"/>
              </a:rPr>
              <a:t>Alice</a:t>
            </a:r>
            <a:r>
              <a:rPr lang="zh-CN" altLang="en-US" dirty="0">
                <a:latin typeface="Garamond" panose="02020404030301010803" pitchFamily="18" charset="0"/>
              </a:rPr>
              <a:t>要向</a:t>
            </a:r>
            <a:r>
              <a:rPr lang="en-GB" altLang="zh-CN" dirty="0">
                <a:latin typeface="Garamond" panose="02020404030301010803" pitchFamily="18" charset="0"/>
              </a:rPr>
              <a:t>Bob</a:t>
            </a:r>
            <a:r>
              <a:rPr lang="zh-CN" altLang="en-US" dirty="0">
                <a:latin typeface="Garamond" panose="02020404030301010803" pitchFamily="18" charset="0"/>
              </a:rPr>
              <a:t>进行转账</a:t>
            </a:r>
            <a:r>
              <a:rPr lang="en-US" altLang="zh-CN" dirty="0">
                <a:latin typeface="Garamond" panose="02020404030301010803" pitchFamily="18" charset="0"/>
              </a:rPr>
              <a:t>1</a:t>
            </a:r>
            <a:r>
              <a:rPr lang="zh-CN" altLang="en-US" dirty="0">
                <a:latin typeface="Garamond" panose="02020404030301010803" pitchFamily="18" charset="0"/>
              </a:rPr>
              <a:t>个</a:t>
            </a:r>
            <a:r>
              <a:rPr lang="en-GB" altLang="zh-CN" dirty="0">
                <a:latin typeface="Garamond" panose="02020404030301010803" pitchFamily="18" charset="0"/>
              </a:rPr>
              <a:t>BTC</a:t>
            </a:r>
            <a:r>
              <a:rPr lang="zh-CN" altLang="en-GB" dirty="0">
                <a:latin typeface="Garamond" panose="02020404030301010803" pitchFamily="18" charset="0"/>
              </a:rPr>
              <a:t>，</a:t>
            </a:r>
            <a:r>
              <a:rPr lang="zh-CN" altLang="en-US" dirty="0">
                <a:latin typeface="Garamond" panose="02020404030301010803" pitchFamily="18" charset="0"/>
              </a:rPr>
              <a:t>那么她必须使用一个交易来完成这个转账的动作。首先，</a:t>
            </a:r>
            <a:r>
              <a:rPr lang="en-GB" altLang="zh-CN" dirty="0">
                <a:latin typeface="Garamond" panose="02020404030301010803" pitchFamily="18" charset="0"/>
              </a:rPr>
              <a:t>Alice</a:t>
            </a:r>
            <a:r>
              <a:rPr lang="zh-CN" altLang="en-US" dirty="0">
                <a:latin typeface="Garamond" panose="02020404030301010803" pitchFamily="18" charset="0"/>
              </a:rPr>
              <a:t>会将她所拥有的</a:t>
            </a:r>
            <a:r>
              <a:rPr lang="en-US" altLang="zh-CN" dirty="0">
                <a:latin typeface="Garamond" panose="02020404030301010803" pitchFamily="18" charset="0"/>
              </a:rPr>
              <a:t>1</a:t>
            </a:r>
            <a:r>
              <a:rPr lang="zh-CN" altLang="en-US" dirty="0">
                <a:latin typeface="Garamond" panose="02020404030301010803" pitchFamily="18" charset="0"/>
              </a:rPr>
              <a:t>个</a:t>
            </a:r>
            <a:r>
              <a:rPr lang="en-GB" altLang="zh-CN" dirty="0">
                <a:latin typeface="Garamond" panose="02020404030301010803" pitchFamily="18" charset="0"/>
              </a:rPr>
              <a:t>BTC</a:t>
            </a:r>
            <a:r>
              <a:rPr lang="zh-CN" altLang="en-US" dirty="0">
                <a:latin typeface="Garamond" panose="02020404030301010803" pitchFamily="18" charset="0"/>
              </a:rPr>
              <a:t>放入到交易的输入中，再将这个交易的输出标记为</a:t>
            </a:r>
            <a:r>
              <a:rPr lang="en-GB" altLang="zh-CN" dirty="0">
                <a:latin typeface="Garamond" panose="02020404030301010803" pitchFamily="18" charset="0"/>
              </a:rPr>
              <a:t>Bob</a:t>
            </a:r>
            <a:r>
              <a:rPr lang="zh-CN" altLang="en-US" dirty="0">
                <a:latin typeface="Garamond" panose="02020404030301010803" pitchFamily="18" charset="0"/>
              </a:rPr>
              <a:t>所有。那么，执行完这一交易之后，</a:t>
            </a:r>
            <a:r>
              <a:rPr lang="en-GB" altLang="zh-CN" dirty="0">
                <a:latin typeface="Garamond" panose="02020404030301010803" pitchFamily="18" charset="0"/>
              </a:rPr>
              <a:t>Alice</a:t>
            </a:r>
            <a:r>
              <a:rPr lang="zh-CN" altLang="en-US" dirty="0">
                <a:latin typeface="Garamond" panose="02020404030301010803" pitchFamily="18" charset="0"/>
              </a:rPr>
              <a:t>就失去了放入输入的这一个</a:t>
            </a:r>
            <a:r>
              <a:rPr lang="en-GB" altLang="zh-CN" dirty="0">
                <a:latin typeface="Garamond" panose="02020404030301010803" pitchFamily="18" charset="0"/>
              </a:rPr>
              <a:t>BTC</a:t>
            </a:r>
            <a:r>
              <a:rPr lang="zh-CN" altLang="en-US" dirty="0">
                <a:latin typeface="Garamond" panose="02020404030301010803" pitchFamily="18" charset="0"/>
              </a:rPr>
              <a:t>的所有权，而</a:t>
            </a:r>
            <a:r>
              <a:rPr lang="en-GB" altLang="zh-CN" dirty="0">
                <a:latin typeface="Garamond" panose="02020404030301010803" pitchFamily="18" charset="0"/>
              </a:rPr>
              <a:t>Bob</a:t>
            </a:r>
            <a:r>
              <a:rPr lang="zh-CN" altLang="en-US" dirty="0">
                <a:latin typeface="Garamond" panose="02020404030301010803" pitchFamily="18" charset="0"/>
              </a:rPr>
              <a:t>得到了这个交易输出的</a:t>
            </a:r>
            <a:r>
              <a:rPr lang="en-GB" altLang="zh-CN" dirty="0">
                <a:latin typeface="Garamond" panose="02020404030301010803" pitchFamily="18" charset="0"/>
              </a:rPr>
              <a:t>BTC</a:t>
            </a:r>
            <a:r>
              <a:rPr lang="zh-CN" altLang="en-US" dirty="0">
                <a:latin typeface="Garamond" panose="02020404030301010803" pitchFamily="18" charset="0"/>
              </a:rPr>
              <a:t>的所有权。在这个过程中，比特币系统中的所有参与者共同充当了公证人的角色，而密码学的原理充当了原本借据上具有法律效力的印章和签名。 </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5" name="文本框 4"/>
          <p:cNvSpPr txBox="1"/>
          <p:nvPr/>
        </p:nvSpPr>
        <p:spPr>
          <a:xfrm>
            <a:off x="4917688" y="6101217"/>
            <a:ext cx="1729961" cy="369332"/>
          </a:xfrm>
          <a:prstGeom prst="rect">
            <a:avLst/>
          </a:prstGeom>
          <a:noFill/>
        </p:spPr>
        <p:txBody>
          <a:bodyPr wrap="none" rtlCol="0">
            <a:spAutoFit/>
          </a:bodyPr>
          <a:lstStyle/>
          <a:p>
            <a:r>
              <a:rPr kumimoji="1" lang="en-US" altLang="zh-CN" dirty="0" err="1">
                <a:latin typeface="Garamond" panose="02020404030301010803" pitchFamily="18" charset="0"/>
              </a:rPr>
              <a:t>Alicc</a:t>
            </a:r>
            <a:r>
              <a:rPr kumimoji="1" lang="zh-CN" altLang="en-US" dirty="0">
                <a:latin typeface="Garamond" panose="02020404030301010803" pitchFamily="18" charset="0"/>
              </a:rPr>
              <a:t>向</a:t>
            </a:r>
            <a:r>
              <a:rPr kumimoji="1" lang="en-US" altLang="zh-CN" dirty="0">
                <a:latin typeface="Garamond" panose="02020404030301010803" pitchFamily="18" charset="0"/>
              </a:rPr>
              <a:t>Bob</a:t>
            </a:r>
            <a:r>
              <a:rPr kumimoji="1" lang="zh-CN" altLang="en-US" dirty="0">
                <a:latin typeface="Garamond" panose="02020404030301010803" pitchFamily="18" charset="0"/>
              </a:rPr>
              <a:t>转账</a:t>
            </a:r>
          </a:p>
        </p:txBody>
      </p:sp>
      <p:pic>
        <p:nvPicPr>
          <p:cNvPr id="6" name="图片 5"/>
          <p:cNvPicPr>
            <a:picLocks noChangeAspect="1"/>
          </p:cNvPicPr>
          <p:nvPr/>
        </p:nvPicPr>
        <p:blipFill>
          <a:blip r:embed="rId3"/>
          <a:stretch>
            <a:fillRect/>
          </a:stretch>
        </p:blipFill>
        <p:spPr>
          <a:xfrm>
            <a:off x="3522068" y="5460073"/>
            <a:ext cx="45212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A1850E-D5AB-48A3-AF15-2737C0D35174}"/>
              </a:ext>
            </a:extLst>
          </p:cNvPr>
          <p:cNvSpPr>
            <a:spLocks noGrp="1"/>
          </p:cNvSpPr>
          <p:nvPr>
            <p:ph type="title"/>
          </p:nvPr>
        </p:nvSpPr>
        <p:spPr/>
        <p:txBody>
          <a:bodyPr/>
          <a:lstStyle/>
          <a:p>
            <a:r>
              <a:rPr lang="zh-CN" altLang="en-US" dirty="0"/>
              <a:t>交易模型</a:t>
            </a:r>
          </a:p>
        </p:txBody>
      </p:sp>
      <p:sp>
        <p:nvSpPr>
          <p:cNvPr id="4" name="灯片编号占位符 3">
            <a:extLst>
              <a:ext uri="{FF2B5EF4-FFF2-40B4-BE49-F238E27FC236}">
                <a16:creationId xmlns:a16="http://schemas.microsoft.com/office/drawing/2014/main" id="{B1B2F9AB-886B-4A89-8951-CE19F07612F7}"/>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5" name="文本占位符 3">
            <a:extLst>
              <a:ext uri="{FF2B5EF4-FFF2-40B4-BE49-F238E27FC236}">
                <a16:creationId xmlns:a16="http://schemas.microsoft.com/office/drawing/2014/main" id="{6132F18C-FFE2-4042-9E98-5BCA7D1D7578}"/>
              </a:ext>
            </a:extLst>
          </p:cNvPr>
          <p:cNvSpPr txBox="1">
            <a:spLocks/>
          </p:cNvSpPr>
          <p:nvPr/>
        </p:nvSpPr>
        <p:spPr>
          <a:xfrm>
            <a:off x="92598" y="1421236"/>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创建一个“账户”</a:t>
            </a:r>
          </a:p>
        </p:txBody>
      </p:sp>
      <p:pic>
        <p:nvPicPr>
          <p:cNvPr id="6" name="图片 5">
            <a:extLst>
              <a:ext uri="{FF2B5EF4-FFF2-40B4-BE49-F238E27FC236}">
                <a16:creationId xmlns:a16="http://schemas.microsoft.com/office/drawing/2014/main" id="{3FC6E43E-B007-484B-ABE3-B4E31DDC0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249" y="2055707"/>
            <a:ext cx="444803" cy="444803"/>
          </a:xfrm>
          <a:prstGeom prst="rect">
            <a:avLst/>
          </a:prstGeom>
        </p:spPr>
      </p:pic>
      <p:sp>
        <p:nvSpPr>
          <p:cNvPr id="7" name="文本框 6">
            <a:extLst>
              <a:ext uri="{FF2B5EF4-FFF2-40B4-BE49-F238E27FC236}">
                <a16:creationId xmlns:a16="http://schemas.microsoft.com/office/drawing/2014/main" id="{6964C04A-6B11-47D3-A9E2-CCD708E5A3B7}"/>
              </a:ext>
            </a:extLst>
          </p:cNvPr>
          <p:cNvSpPr txBox="1"/>
          <p:nvPr/>
        </p:nvSpPr>
        <p:spPr>
          <a:xfrm>
            <a:off x="187700" y="3322620"/>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私钥</a:t>
            </a:r>
          </a:p>
        </p:txBody>
      </p:sp>
      <p:sp>
        <p:nvSpPr>
          <p:cNvPr id="8" name="文本框 7">
            <a:extLst>
              <a:ext uri="{FF2B5EF4-FFF2-40B4-BE49-F238E27FC236}">
                <a16:creationId xmlns:a16="http://schemas.microsoft.com/office/drawing/2014/main" id="{E24110B2-13B1-491B-94A0-C1A14BA54CEB}"/>
              </a:ext>
            </a:extLst>
          </p:cNvPr>
          <p:cNvSpPr txBox="1"/>
          <p:nvPr/>
        </p:nvSpPr>
        <p:spPr>
          <a:xfrm>
            <a:off x="1254789" y="3320416"/>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公钥</a:t>
            </a:r>
          </a:p>
        </p:txBody>
      </p:sp>
      <p:pic>
        <p:nvPicPr>
          <p:cNvPr id="9" name="图片 8">
            <a:extLst>
              <a:ext uri="{FF2B5EF4-FFF2-40B4-BE49-F238E27FC236}">
                <a16:creationId xmlns:a16="http://schemas.microsoft.com/office/drawing/2014/main" id="{5FD3B8C5-809F-4DE6-ADA9-83D380D0B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646" y="2870182"/>
            <a:ext cx="452438" cy="452438"/>
          </a:xfrm>
          <a:prstGeom prst="rect">
            <a:avLst/>
          </a:prstGeom>
        </p:spPr>
      </p:pic>
      <p:pic>
        <p:nvPicPr>
          <p:cNvPr id="10" name="图片 9">
            <a:extLst>
              <a:ext uri="{FF2B5EF4-FFF2-40B4-BE49-F238E27FC236}">
                <a16:creationId xmlns:a16="http://schemas.microsoft.com/office/drawing/2014/main" id="{7F603A5C-DB11-4578-B16B-464A3BF096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1735" y="2892746"/>
            <a:ext cx="452438" cy="452438"/>
          </a:xfrm>
          <a:prstGeom prst="rect">
            <a:avLst/>
          </a:prstGeom>
        </p:spPr>
      </p:pic>
      <p:cxnSp>
        <p:nvCxnSpPr>
          <p:cNvPr id="11" name="直接连接符 10">
            <a:extLst>
              <a:ext uri="{FF2B5EF4-FFF2-40B4-BE49-F238E27FC236}">
                <a16:creationId xmlns:a16="http://schemas.microsoft.com/office/drawing/2014/main" id="{FDD4B55B-E3E8-4AEA-AC01-3B4459E3F79A}"/>
              </a:ext>
            </a:extLst>
          </p:cNvPr>
          <p:cNvCxnSpPr>
            <a:stCxn id="6" idx="2"/>
            <a:endCxn id="9" idx="0"/>
          </p:cNvCxnSpPr>
          <p:nvPr/>
        </p:nvCxnSpPr>
        <p:spPr>
          <a:xfrm flipH="1">
            <a:off x="510865" y="2500510"/>
            <a:ext cx="537786" cy="369672"/>
          </a:xfrm>
          <a:prstGeom prst="line">
            <a:avLst/>
          </a:prstGeom>
          <a:ln w="19050">
            <a:solidFill>
              <a:srgbClr val="EE1A1A"/>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11ACD8D-2D64-46E6-AFDA-86B27D1E56C6}"/>
              </a:ext>
            </a:extLst>
          </p:cNvPr>
          <p:cNvCxnSpPr>
            <a:cxnSpLocks/>
            <a:stCxn id="6" idx="2"/>
            <a:endCxn id="10" idx="0"/>
          </p:cNvCxnSpPr>
          <p:nvPr/>
        </p:nvCxnSpPr>
        <p:spPr>
          <a:xfrm>
            <a:off x="1048651" y="2500510"/>
            <a:ext cx="529303" cy="392236"/>
          </a:xfrm>
          <a:prstGeom prst="line">
            <a:avLst/>
          </a:prstGeom>
          <a:ln w="19050">
            <a:solidFill>
              <a:srgbClr val="EE1A1A"/>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97CF75A0-4439-4B34-BA26-E804374B70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7454" y="3736418"/>
            <a:ext cx="381000" cy="381000"/>
          </a:xfrm>
          <a:prstGeom prst="rect">
            <a:avLst/>
          </a:prstGeom>
        </p:spPr>
      </p:pic>
      <p:sp>
        <p:nvSpPr>
          <p:cNvPr id="14" name="文本框 13">
            <a:extLst>
              <a:ext uri="{FF2B5EF4-FFF2-40B4-BE49-F238E27FC236}">
                <a16:creationId xmlns:a16="http://schemas.microsoft.com/office/drawing/2014/main" id="{036E1DEF-FD13-4C3C-81CD-5DF1728A0BD8}"/>
              </a:ext>
            </a:extLst>
          </p:cNvPr>
          <p:cNvSpPr txBox="1"/>
          <p:nvPr/>
        </p:nvSpPr>
        <p:spPr>
          <a:xfrm>
            <a:off x="1768454" y="3733787"/>
            <a:ext cx="505267"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H()</a:t>
            </a:r>
            <a:endParaRPr lang="zh-CN" altLang="en-US" dirty="0">
              <a:latin typeface="Times New Roman" panose="02020603050405020304" pitchFamily="18" charset="0"/>
              <a:ea typeface="微软雅黑" panose="020B0503020204020204" pitchFamily="34" charset="-122"/>
            </a:endParaRPr>
          </a:p>
        </p:txBody>
      </p:sp>
      <p:sp>
        <p:nvSpPr>
          <p:cNvPr id="15" name="文本框 14">
            <a:extLst>
              <a:ext uri="{FF2B5EF4-FFF2-40B4-BE49-F238E27FC236}">
                <a16:creationId xmlns:a16="http://schemas.microsoft.com/office/drawing/2014/main" id="{623BDF82-D719-464F-AAFE-375E00C176CB}"/>
              </a:ext>
            </a:extLst>
          </p:cNvPr>
          <p:cNvSpPr txBox="1"/>
          <p:nvPr/>
        </p:nvSpPr>
        <p:spPr>
          <a:xfrm>
            <a:off x="1021551" y="4068165"/>
            <a:ext cx="1112805"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公钥哈希</a:t>
            </a:r>
          </a:p>
        </p:txBody>
      </p:sp>
      <p:sp>
        <p:nvSpPr>
          <p:cNvPr id="16" name="文本框 15">
            <a:extLst>
              <a:ext uri="{FF2B5EF4-FFF2-40B4-BE49-F238E27FC236}">
                <a16:creationId xmlns:a16="http://schemas.microsoft.com/office/drawing/2014/main" id="{7EE1153D-99D9-4708-9878-DFEB256F91AC}"/>
              </a:ext>
            </a:extLst>
          </p:cNvPr>
          <p:cNvSpPr txBox="1"/>
          <p:nvPr/>
        </p:nvSpPr>
        <p:spPr>
          <a:xfrm>
            <a:off x="2515039" y="4037642"/>
            <a:ext cx="1107996"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账户地址</a:t>
            </a:r>
          </a:p>
        </p:txBody>
      </p:sp>
      <p:cxnSp>
        <p:nvCxnSpPr>
          <p:cNvPr id="17" name="直接箭头连接符 16">
            <a:extLst>
              <a:ext uri="{FF2B5EF4-FFF2-40B4-BE49-F238E27FC236}">
                <a16:creationId xmlns:a16="http://schemas.microsoft.com/office/drawing/2014/main" id="{CA857668-B62C-43BB-B85E-7F8A08ADA19E}"/>
              </a:ext>
            </a:extLst>
          </p:cNvPr>
          <p:cNvCxnSpPr>
            <a:cxnSpLocks/>
          </p:cNvCxnSpPr>
          <p:nvPr/>
        </p:nvCxnSpPr>
        <p:spPr>
          <a:xfrm>
            <a:off x="2056808" y="4224322"/>
            <a:ext cx="444292" cy="0"/>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B6E3051-D0CC-4521-A31D-D3910DB249AA}"/>
              </a:ext>
            </a:extLst>
          </p:cNvPr>
          <p:cNvSpPr txBox="1"/>
          <p:nvPr/>
        </p:nvSpPr>
        <p:spPr>
          <a:xfrm>
            <a:off x="1768454" y="2199745"/>
            <a:ext cx="4224233" cy="646331"/>
          </a:xfrm>
          <a:prstGeom prst="rect">
            <a:avLst/>
          </a:prstGeom>
          <a:noFill/>
        </p:spPr>
        <p:txBody>
          <a:bodyPr wrap="none" rtlCol="0">
            <a:spAutoFit/>
          </a:bodyPr>
          <a:lstStyle/>
          <a:p>
            <a:pPr marL="342900" indent="-342900">
              <a:buFont typeface="+mj-lt"/>
              <a:buAutoNum type="arabicPeriod"/>
            </a:pPr>
            <a:r>
              <a:rPr lang="zh-CN" altLang="en-US" dirty="0">
                <a:latin typeface="Times New Roman" panose="02020603050405020304" pitchFamily="18" charset="0"/>
                <a:ea typeface="微软雅黑" panose="020B0503020204020204" pitchFamily="34" charset="-122"/>
              </a:rPr>
              <a:t>产生一对公、私钥；</a:t>
            </a:r>
            <a:endParaRPr lang="en-US" altLang="zh-CN" dirty="0">
              <a:latin typeface="Times New Roman" panose="02020603050405020304" pitchFamily="18" charset="0"/>
              <a:ea typeface="微软雅黑" panose="020B0503020204020204" pitchFamily="34" charset="-122"/>
            </a:endParaRPr>
          </a:p>
          <a:p>
            <a:pPr marL="342900" indent="-342900">
              <a:buFont typeface="+mj-lt"/>
              <a:buAutoNum type="arabicPeriod"/>
            </a:pPr>
            <a:r>
              <a:rPr lang="zh-CN" altLang="en-US" dirty="0">
                <a:latin typeface="Times New Roman" panose="02020603050405020304" pitchFamily="18" charset="0"/>
                <a:ea typeface="微软雅黑" panose="020B0503020204020204" pitchFamily="34" charset="-122"/>
              </a:rPr>
              <a:t>公钥去哈希值，即为区块链中的地址</a:t>
            </a:r>
          </a:p>
        </p:txBody>
      </p:sp>
      <p:sp>
        <p:nvSpPr>
          <p:cNvPr id="19" name="文本占位符 3">
            <a:extLst>
              <a:ext uri="{FF2B5EF4-FFF2-40B4-BE49-F238E27FC236}">
                <a16:creationId xmlns:a16="http://schemas.microsoft.com/office/drawing/2014/main" id="{8C337D23-DB75-4315-A2FF-9A5E58655EF8}"/>
              </a:ext>
            </a:extLst>
          </p:cNvPr>
          <p:cNvSpPr txBox="1">
            <a:spLocks/>
          </p:cNvSpPr>
          <p:nvPr/>
        </p:nvSpPr>
        <p:spPr bwMode="auto">
          <a:xfrm>
            <a:off x="0" y="4636130"/>
            <a:ext cx="4817004"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7013" indent="-227013" algn="l" defTabSz="912813" rtl="0" eaLnBrk="0" fontAlgn="base" hangingPunct="0">
              <a:lnSpc>
                <a:spcPct val="90000"/>
              </a:lnSpc>
              <a:spcBef>
                <a:spcPts val="1000"/>
              </a:spcBef>
              <a:spcAft>
                <a:spcPct val="0"/>
              </a:spcAft>
              <a:buFont typeface="Wingdings" pitchFamily="2" charset="2"/>
              <a:buChar char="ü"/>
              <a:defRPr sz="2400" b="1" i="0" kern="1200">
                <a:solidFill>
                  <a:schemeClr val="tx1"/>
                </a:solidFill>
                <a:latin typeface="LXGW WenKai" pitchFamily="2" charset="-120"/>
                <a:ea typeface="LXGW WenKai" pitchFamily="2" charset="-120"/>
                <a:cs typeface="等线" panose="02010600030101010101" pitchFamily="2" charset="-122"/>
              </a:defRPr>
            </a:lvl1pPr>
            <a:lvl2pPr marL="457200" indent="0" algn="l" defTabSz="912813" rtl="0" eaLnBrk="0" fontAlgn="base" hangingPunct="0">
              <a:lnSpc>
                <a:spcPct val="90000"/>
              </a:lnSpc>
              <a:spcBef>
                <a:spcPts val="500"/>
              </a:spcBef>
              <a:spcAft>
                <a:spcPct val="0"/>
              </a:spcAft>
              <a:buFont typeface="Arial" panose="020B0604020202020204" pitchFamily="34" charset="0"/>
              <a:buNone/>
              <a:defRPr sz="2400" kern="1200">
                <a:solidFill>
                  <a:schemeClr val="tx1"/>
                </a:solidFill>
                <a:latin typeface="+mn-lt"/>
                <a:ea typeface="+mn-ea"/>
                <a:cs typeface="等线" panose="02010600030101010101" pitchFamily="2" charset="-122"/>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pitchFamily="2" charset="-122"/>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panose="02010600030101010101" pitchFamily="2" charset="-122"/>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panose="02010600030101010101" pitchFamily="2" charset="-122"/>
              </a:defRPr>
            </a:lvl5pPr>
            <a:lvl6pPr marL="2514516"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01"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85"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71"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altLang="zh-CN" sz="2800" dirty="0">
                <a:solidFill>
                  <a:srgbClr val="5B307E"/>
                </a:solidFill>
                <a:latin typeface="Microsoft YaHei" panose="020B0503020204020204" pitchFamily="34" charset="-122"/>
                <a:ea typeface="Microsoft YaHei" panose="020B0503020204020204" pitchFamily="34" charset="-122"/>
                <a:cs typeface="+mn-cs"/>
              </a:rPr>
              <a:t> </a:t>
            </a:r>
            <a:r>
              <a:rPr lang="zh-CN" altLang="en-US" sz="2800" dirty="0">
                <a:solidFill>
                  <a:srgbClr val="5B307E"/>
                </a:solidFill>
                <a:latin typeface="Microsoft YaHei" panose="020B0503020204020204" pitchFamily="34" charset="-122"/>
                <a:ea typeface="Microsoft YaHei" panose="020B0503020204020204" pitchFamily="34" charset="-122"/>
                <a:cs typeface="+mn-cs"/>
              </a:rPr>
              <a:t>交易结构</a:t>
            </a:r>
          </a:p>
        </p:txBody>
      </p:sp>
      <p:sp>
        <p:nvSpPr>
          <p:cNvPr id="20" name="矩形 19">
            <a:extLst>
              <a:ext uri="{FF2B5EF4-FFF2-40B4-BE49-F238E27FC236}">
                <a16:creationId xmlns:a16="http://schemas.microsoft.com/office/drawing/2014/main" id="{830190E8-AE08-4AD2-AADA-F6E4C0BB68D9}"/>
              </a:ext>
            </a:extLst>
          </p:cNvPr>
          <p:cNvSpPr/>
          <p:nvPr/>
        </p:nvSpPr>
        <p:spPr>
          <a:xfrm>
            <a:off x="6105496" y="4771390"/>
            <a:ext cx="1665841" cy="369332"/>
          </a:xfrm>
          <a:prstGeom prst="rect">
            <a:avLst/>
          </a:prstGeom>
        </p:spPr>
        <p:txBody>
          <a:bodyPr wrap="none">
            <a:spAutoFit/>
          </a:bodyPr>
          <a:lstStyle/>
          <a:p>
            <a:r>
              <a:rPr lang="en-US" altLang="zh-CN" dirty="0">
                <a:solidFill>
                  <a:srgbClr val="333333"/>
                </a:solidFill>
                <a:latin typeface="Times New Roman" panose="02020603050405020304" pitchFamily="18" charset="0"/>
                <a:ea typeface="微软雅黑" panose="020B0503020204020204" pitchFamily="34" charset="-122"/>
              </a:rPr>
              <a:t>Laszlo </a:t>
            </a:r>
            <a:r>
              <a:rPr lang="en-US" altLang="zh-CN" dirty="0" err="1">
                <a:solidFill>
                  <a:srgbClr val="333333"/>
                </a:solidFill>
                <a:latin typeface="Times New Roman" panose="02020603050405020304" pitchFamily="18" charset="0"/>
                <a:ea typeface="微软雅黑" panose="020B0503020204020204" pitchFamily="34" charset="-122"/>
              </a:rPr>
              <a:t>Hanyecz</a:t>
            </a:r>
            <a:endParaRPr lang="zh-CN" altLang="en-US" dirty="0">
              <a:latin typeface="Times New Roman" panose="02020603050405020304" pitchFamily="18" charset="0"/>
              <a:ea typeface="微软雅黑" panose="020B0503020204020204" pitchFamily="34" charset="-122"/>
            </a:endParaRPr>
          </a:p>
        </p:txBody>
      </p:sp>
      <p:pic>
        <p:nvPicPr>
          <p:cNvPr id="21" name="Picture 2" descr="https://gimg2.baidu.com/image_search/src=http%3A%2F%2Fyzcet.com%2FPublic%2Fkindeditor%2Fattached%2Fimage%2F20181020%2F20181020154443_17879.jpg&amp;refer=http%3A%2F%2Fyzcet.com&amp;app=2002&amp;size=f9999,10000&amp;q=a80&amp;n=0&amp;g=0n&amp;fmt=jpeg?sec=1639986997&amp;t=3cad0d6e95344c7503c9534e881379cb">
            <a:extLst>
              <a:ext uri="{FF2B5EF4-FFF2-40B4-BE49-F238E27FC236}">
                <a16:creationId xmlns:a16="http://schemas.microsoft.com/office/drawing/2014/main" id="{7462CEDD-9FC0-4D7C-8CFE-50F9177284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5262" y="5140722"/>
            <a:ext cx="2066920" cy="1238179"/>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6223B434-39F4-4A83-9BBB-FCB136ED218B}"/>
              </a:ext>
            </a:extLst>
          </p:cNvPr>
          <p:cNvSpPr txBox="1"/>
          <p:nvPr/>
        </p:nvSpPr>
        <p:spPr>
          <a:xfrm>
            <a:off x="6096000" y="6378901"/>
            <a:ext cx="1031051" cy="261610"/>
          </a:xfrm>
          <a:prstGeom prst="rect">
            <a:avLst/>
          </a:prstGeom>
          <a:noFill/>
        </p:spPr>
        <p:txBody>
          <a:bodyPr wrap="none" rtlCol="0">
            <a:spAutoFit/>
          </a:bodyPr>
          <a:lstStyle/>
          <a:p>
            <a:r>
              <a:rPr lang="zh-CN" altLang="en-US" sz="1100" dirty="0">
                <a:latin typeface="Times New Roman" panose="02020603050405020304" pitchFamily="18" charset="0"/>
                <a:ea typeface="微软雅黑" panose="020B0503020204020204" pitchFamily="34" charset="-122"/>
              </a:rPr>
              <a:t>图片来自网络</a:t>
            </a:r>
          </a:p>
        </p:txBody>
      </p:sp>
      <p:sp>
        <p:nvSpPr>
          <p:cNvPr id="23" name="文本框 22">
            <a:extLst>
              <a:ext uri="{FF2B5EF4-FFF2-40B4-BE49-F238E27FC236}">
                <a16:creationId xmlns:a16="http://schemas.microsoft.com/office/drawing/2014/main" id="{385DEA28-F90D-4C14-8FBF-D4C91EC7FEA1}"/>
              </a:ext>
            </a:extLst>
          </p:cNvPr>
          <p:cNvSpPr txBox="1"/>
          <p:nvPr/>
        </p:nvSpPr>
        <p:spPr>
          <a:xfrm>
            <a:off x="8248861" y="5140722"/>
            <a:ext cx="3943139" cy="1200329"/>
          </a:xfrm>
          <a:prstGeom prst="rect">
            <a:avLst/>
          </a:prstGeom>
          <a:noFill/>
        </p:spPr>
        <p:txBody>
          <a:bodyPr wrap="square" rtlCol="0">
            <a:spAutoFit/>
          </a:bodyPr>
          <a:lstStyle/>
          <a:p>
            <a:r>
              <a:rPr lang="en-US" altLang="zh-CN" b="1" dirty="0">
                <a:latin typeface="Times New Roman" panose="02020603050405020304" pitchFamily="18" charset="0"/>
                <a:ea typeface="微软雅黑" panose="020B0503020204020204" pitchFamily="34" charset="-122"/>
              </a:rPr>
              <a:t>2010</a:t>
            </a:r>
            <a:r>
              <a:rPr lang="zh-CN" altLang="en-US" b="1" dirty="0">
                <a:latin typeface="Times New Roman" panose="02020603050405020304" pitchFamily="18" charset="0"/>
                <a:ea typeface="微软雅黑" panose="020B0503020204020204" pitchFamily="34" charset="-122"/>
              </a:rPr>
              <a:t>年，</a:t>
            </a:r>
            <a:r>
              <a:rPr lang="zh-CN" altLang="en-US" dirty="0">
                <a:latin typeface="Times New Roman" panose="02020603050405020304" pitchFamily="18" charset="0"/>
                <a:ea typeface="微软雅黑" panose="020B0503020204020204" pitchFamily="34" charset="-122"/>
              </a:rPr>
              <a:t>程序员</a:t>
            </a:r>
            <a:r>
              <a:rPr lang="en-US" altLang="zh-CN" dirty="0">
                <a:solidFill>
                  <a:srgbClr val="333333"/>
                </a:solidFill>
                <a:latin typeface="Times New Roman" panose="02020603050405020304" pitchFamily="18" charset="0"/>
                <a:ea typeface="微软雅黑" panose="020B0503020204020204" pitchFamily="34" charset="-122"/>
              </a:rPr>
              <a:t>Laszlo </a:t>
            </a:r>
            <a:r>
              <a:rPr lang="en-US" altLang="zh-CN" dirty="0" err="1">
                <a:solidFill>
                  <a:srgbClr val="333333"/>
                </a:solidFill>
                <a:latin typeface="Times New Roman" panose="02020603050405020304" pitchFamily="18" charset="0"/>
                <a:ea typeface="微软雅黑" panose="020B0503020204020204" pitchFamily="34" charset="-122"/>
              </a:rPr>
              <a:t>Hanyecz</a:t>
            </a:r>
            <a:endParaRPr lang="zh-CN" altLang="en-US"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花费</a:t>
            </a:r>
            <a:r>
              <a:rPr lang="en-US" altLang="zh-CN" dirty="0">
                <a:latin typeface="Times New Roman" panose="02020603050405020304" pitchFamily="18" charset="0"/>
                <a:ea typeface="微软雅黑" panose="020B0503020204020204" pitchFamily="34" charset="-122"/>
              </a:rPr>
              <a:t>1</a:t>
            </a:r>
            <a:r>
              <a:rPr lang="zh-CN" altLang="en-US" dirty="0">
                <a:latin typeface="Times New Roman" panose="02020603050405020304" pitchFamily="18" charset="0"/>
                <a:ea typeface="微软雅黑" panose="020B0503020204020204" pitchFamily="34" charset="-122"/>
              </a:rPr>
              <a:t>万枚比特币（价值</a:t>
            </a:r>
            <a:r>
              <a:rPr lang="en-US" altLang="zh-CN" dirty="0">
                <a:latin typeface="Times New Roman" panose="02020603050405020304" pitchFamily="18" charset="0"/>
                <a:ea typeface="微软雅黑" panose="020B0503020204020204" pitchFamily="34" charset="-122"/>
              </a:rPr>
              <a:t>41</a:t>
            </a:r>
            <a:r>
              <a:rPr lang="zh-CN" altLang="en-US" dirty="0">
                <a:latin typeface="Times New Roman" panose="02020603050405020304" pitchFamily="18" charset="0"/>
                <a:ea typeface="微软雅黑" panose="020B0503020204020204" pitchFamily="34" charset="-122"/>
              </a:rPr>
              <a:t>美元），历时</a:t>
            </a:r>
            <a:r>
              <a:rPr lang="en-US" altLang="zh-CN" dirty="0">
                <a:latin typeface="Times New Roman" panose="02020603050405020304" pitchFamily="18" charset="0"/>
                <a:ea typeface="微软雅黑" panose="020B0503020204020204" pitchFamily="34" charset="-122"/>
              </a:rPr>
              <a:t>4</a:t>
            </a:r>
            <a:r>
              <a:rPr lang="zh-CN" altLang="en-US" dirty="0">
                <a:latin typeface="Times New Roman" panose="02020603050405020304" pitchFamily="18" charset="0"/>
                <a:ea typeface="微软雅黑" panose="020B0503020204020204" pitchFamily="34" charset="-122"/>
              </a:rPr>
              <a:t>天购买了两个披萨，成为比特币首次与实体世界发生关联的交易。</a:t>
            </a:r>
            <a:endParaRPr lang="zh-CN" altLang="en-US" b="1" dirty="0">
              <a:latin typeface="Times New Roman" panose="02020603050405020304" pitchFamily="18" charset="0"/>
              <a:ea typeface="微软雅黑" panose="020B0503020204020204" pitchFamily="34" charset="-122"/>
            </a:endParaRPr>
          </a:p>
        </p:txBody>
      </p:sp>
      <p:sp>
        <p:nvSpPr>
          <p:cNvPr id="24" name="文本框 23">
            <a:extLst>
              <a:ext uri="{FF2B5EF4-FFF2-40B4-BE49-F238E27FC236}">
                <a16:creationId xmlns:a16="http://schemas.microsoft.com/office/drawing/2014/main" id="{8EF612FC-1DBE-4FE9-9402-7D8383BC0133}"/>
              </a:ext>
            </a:extLst>
          </p:cNvPr>
          <p:cNvSpPr txBox="1"/>
          <p:nvPr/>
        </p:nvSpPr>
        <p:spPr>
          <a:xfrm>
            <a:off x="3486512" y="3546240"/>
            <a:ext cx="2781531" cy="1200329"/>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特点：</a:t>
            </a:r>
            <a:endParaRPr lang="en-US" altLang="zh-CN" dirty="0">
              <a:latin typeface="Times New Roman" panose="02020603050405020304" pitchFamily="18" charset="0"/>
              <a:ea typeface="微软雅黑" panose="020B0503020204020204" pitchFamily="34" charset="-122"/>
            </a:endParaRPr>
          </a:p>
          <a:p>
            <a:pPr marL="285750" indent="-28575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账户地址不会重复；</a:t>
            </a:r>
            <a:endParaRPr lang="en-US" altLang="zh-CN" dirty="0">
              <a:latin typeface="Times New Roman" panose="02020603050405020304" pitchFamily="18" charset="0"/>
              <a:ea typeface="微软雅黑" panose="020B0503020204020204" pitchFamily="34" charset="-122"/>
            </a:endParaRPr>
          </a:p>
          <a:p>
            <a:pPr marL="285750" indent="-28575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私钥签名，公钥验证；</a:t>
            </a:r>
            <a:endParaRPr lang="en-US" altLang="zh-CN" dirty="0">
              <a:latin typeface="Times New Roman" panose="02020603050405020304" pitchFamily="18" charset="0"/>
              <a:ea typeface="微软雅黑" panose="020B0503020204020204" pitchFamily="34" charset="-122"/>
            </a:endParaRPr>
          </a:p>
          <a:p>
            <a:pPr marL="285750" indent="-28575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生成没有任何限制。</a:t>
            </a:r>
          </a:p>
        </p:txBody>
      </p:sp>
      <p:pic>
        <p:nvPicPr>
          <p:cNvPr id="25" name="图片 24">
            <a:extLst>
              <a:ext uri="{FF2B5EF4-FFF2-40B4-BE49-F238E27FC236}">
                <a16:creationId xmlns:a16="http://schemas.microsoft.com/office/drawing/2014/main" id="{DEE24D48-0328-4817-9B8D-5B9084B702D0}"/>
              </a:ext>
            </a:extLst>
          </p:cNvPr>
          <p:cNvPicPr>
            <a:picLocks noChangeAspect="1"/>
          </p:cNvPicPr>
          <p:nvPr/>
        </p:nvPicPr>
        <p:blipFill rotWithShape="1">
          <a:blip r:embed="rId7">
            <a:extLst>
              <a:ext uri="{28A0092B-C50C-407E-A947-70E740481C1C}">
                <a14:useLocalDpi xmlns:a14="http://schemas.microsoft.com/office/drawing/2010/main" val="0"/>
              </a:ext>
            </a:extLst>
          </a:blip>
          <a:srcRect t="14007" b="15309"/>
          <a:stretch/>
        </p:blipFill>
        <p:spPr>
          <a:xfrm>
            <a:off x="2459747" y="5665545"/>
            <a:ext cx="444803" cy="314403"/>
          </a:xfrm>
          <a:prstGeom prst="rect">
            <a:avLst/>
          </a:prstGeom>
        </p:spPr>
      </p:pic>
      <p:sp>
        <p:nvSpPr>
          <p:cNvPr id="26" name="文本框 25">
            <a:extLst>
              <a:ext uri="{FF2B5EF4-FFF2-40B4-BE49-F238E27FC236}">
                <a16:creationId xmlns:a16="http://schemas.microsoft.com/office/drawing/2014/main" id="{E5FC2619-AA89-4744-BE20-2BD7E4BB7DCD}"/>
              </a:ext>
            </a:extLst>
          </p:cNvPr>
          <p:cNvSpPr txBox="1"/>
          <p:nvPr/>
        </p:nvSpPr>
        <p:spPr>
          <a:xfrm>
            <a:off x="318013" y="5653471"/>
            <a:ext cx="2031325"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银行卡转账交易：</a:t>
            </a:r>
          </a:p>
        </p:txBody>
      </p:sp>
      <p:sp>
        <p:nvSpPr>
          <p:cNvPr id="27" name="文本框 26">
            <a:extLst>
              <a:ext uri="{FF2B5EF4-FFF2-40B4-BE49-F238E27FC236}">
                <a16:creationId xmlns:a16="http://schemas.microsoft.com/office/drawing/2014/main" id="{F0FD577A-1A8B-4A4A-885E-5BA9594AF6FC}"/>
              </a:ext>
            </a:extLst>
          </p:cNvPr>
          <p:cNvSpPr txBox="1"/>
          <p:nvPr/>
        </p:nvSpPr>
        <p:spPr>
          <a:xfrm>
            <a:off x="2520703" y="6004769"/>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sp>
        <p:nvSpPr>
          <p:cNvPr id="28" name="文本框 27">
            <a:extLst>
              <a:ext uri="{FF2B5EF4-FFF2-40B4-BE49-F238E27FC236}">
                <a16:creationId xmlns:a16="http://schemas.microsoft.com/office/drawing/2014/main" id="{238072CD-07B9-473A-A7B8-0421AE38F690}"/>
              </a:ext>
            </a:extLst>
          </p:cNvPr>
          <p:cNvSpPr txBox="1"/>
          <p:nvPr/>
        </p:nvSpPr>
        <p:spPr>
          <a:xfrm>
            <a:off x="3209516" y="5237971"/>
            <a:ext cx="1191352" cy="1384995"/>
          </a:xfrm>
          <a:prstGeom prst="rect">
            <a:avLst/>
          </a:prstGeom>
          <a:noFill/>
          <a:ln w="19050">
            <a:solidFill>
              <a:schemeClr val="tx1"/>
            </a:solidFill>
            <a:prstDash val="dash"/>
          </a:ln>
        </p:spPr>
        <p:txBody>
          <a:bodyPr wrap="none" rtlCol="0">
            <a:spAutoFit/>
          </a:bodyPr>
          <a:lstStyle/>
          <a:p>
            <a:pPr marL="285750" indent="-285750">
              <a:buFont typeface="Arial" panose="020B0604020202020204" pitchFamily="34" charset="0"/>
              <a:buChar char="•"/>
            </a:pPr>
            <a:r>
              <a:rPr lang="zh-CN" altLang="en-US" sz="1400" dirty="0">
                <a:latin typeface="Times New Roman" panose="02020603050405020304" pitchFamily="18" charset="0"/>
                <a:ea typeface="微软雅黑" panose="020B0503020204020204" pitchFamily="34" charset="-122"/>
              </a:rPr>
              <a:t>交易编号</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微软雅黑" panose="020B0503020204020204" pitchFamily="34" charset="-122"/>
              </a:rPr>
              <a:t>A</a:t>
            </a:r>
            <a:r>
              <a:rPr lang="zh-CN" altLang="en-US" sz="1400" dirty="0">
                <a:latin typeface="Times New Roman" panose="02020603050405020304" pitchFamily="18" charset="0"/>
                <a:ea typeface="微软雅黑" panose="020B0503020204020204" pitchFamily="34" charset="-122"/>
              </a:rPr>
              <a:t>的卡号</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微软雅黑" panose="020B0503020204020204" pitchFamily="34" charset="-122"/>
              </a:rPr>
              <a:t>B</a:t>
            </a:r>
            <a:r>
              <a:rPr lang="zh-CN" altLang="en-US" sz="1400" dirty="0">
                <a:latin typeface="Times New Roman" panose="02020603050405020304" pitchFamily="18" charset="0"/>
                <a:ea typeface="微软雅黑" panose="020B0503020204020204" pitchFamily="34" charset="-122"/>
              </a:rPr>
              <a:t>的卡号</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zh-CN" altLang="en-US" sz="1400" dirty="0">
                <a:latin typeface="Times New Roman" panose="02020603050405020304" pitchFamily="18" charset="0"/>
                <a:ea typeface="微软雅黑" panose="020B0503020204020204" pitchFamily="34" charset="-122"/>
              </a:rPr>
              <a:t>转账金额</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zh-CN" altLang="en-US" sz="1400" dirty="0">
                <a:latin typeface="Times New Roman" panose="02020603050405020304" pitchFamily="18" charset="0"/>
                <a:ea typeface="微软雅黑" panose="020B0503020204020204" pitchFamily="34" charset="-122"/>
              </a:rPr>
              <a:t>转账时间</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微软雅黑" panose="020B0503020204020204" pitchFamily="34" charset="-122"/>
              </a:rPr>
              <a:t>A</a:t>
            </a:r>
            <a:r>
              <a:rPr lang="zh-CN" altLang="en-US" sz="1400" dirty="0">
                <a:latin typeface="Times New Roman" panose="02020603050405020304" pitchFamily="18" charset="0"/>
                <a:ea typeface="微软雅黑" panose="020B0503020204020204" pitchFamily="34" charset="-122"/>
              </a:rPr>
              <a:t>签名</a:t>
            </a:r>
          </a:p>
        </p:txBody>
      </p:sp>
      <p:pic>
        <p:nvPicPr>
          <p:cNvPr id="29" name="图片 28">
            <a:extLst>
              <a:ext uri="{FF2B5EF4-FFF2-40B4-BE49-F238E27FC236}">
                <a16:creationId xmlns:a16="http://schemas.microsoft.com/office/drawing/2014/main" id="{E4963BA8-16D3-4CBF-8BAB-DEDB48A0CAC0}"/>
              </a:ext>
            </a:extLst>
          </p:cNvPr>
          <p:cNvPicPr>
            <a:picLocks noChangeAspect="1"/>
          </p:cNvPicPr>
          <p:nvPr/>
        </p:nvPicPr>
        <p:blipFill rotWithShape="1">
          <a:blip r:embed="rId7">
            <a:extLst>
              <a:ext uri="{28A0092B-C50C-407E-A947-70E740481C1C}">
                <a14:useLocalDpi xmlns:a14="http://schemas.microsoft.com/office/drawing/2010/main" val="0"/>
              </a:ext>
            </a:extLst>
          </a:blip>
          <a:srcRect t="14007" b="15309"/>
          <a:stretch/>
        </p:blipFill>
        <p:spPr>
          <a:xfrm>
            <a:off x="4705834" y="5665545"/>
            <a:ext cx="444803" cy="314403"/>
          </a:xfrm>
          <a:prstGeom prst="rect">
            <a:avLst/>
          </a:prstGeom>
        </p:spPr>
      </p:pic>
      <p:sp>
        <p:nvSpPr>
          <p:cNvPr id="30" name="文本框 29">
            <a:extLst>
              <a:ext uri="{FF2B5EF4-FFF2-40B4-BE49-F238E27FC236}">
                <a16:creationId xmlns:a16="http://schemas.microsoft.com/office/drawing/2014/main" id="{CB96B79C-4840-4602-905C-4C8615C208D3}"/>
              </a:ext>
            </a:extLst>
          </p:cNvPr>
          <p:cNvSpPr txBox="1"/>
          <p:nvPr/>
        </p:nvSpPr>
        <p:spPr>
          <a:xfrm>
            <a:off x="4758958" y="6004769"/>
            <a:ext cx="338554"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cxnSp>
        <p:nvCxnSpPr>
          <p:cNvPr id="31" name="直接箭头连接符 30">
            <a:extLst>
              <a:ext uri="{FF2B5EF4-FFF2-40B4-BE49-F238E27FC236}">
                <a16:creationId xmlns:a16="http://schemas.microsoft.com/office/drawing/2014/main" id="{79373869-2C4E-4296-A128-6595D5316674}"/>
              </a:ext>
            </a:extLst>
          </p:cNvPr>
          <p:cNvCxnSpPr/>
          <p:nvPr/>
        </p:nvCxnSpPr>
        <p:spPr>
          <a:xfrm flipV="1">
            <a:off x="2904550" y="5822746"/>
            <a:ext cx="304966" cy="1"/>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2B7B9E1D-1D0B-4F0B-819B-FF2B9D36E950}"/>
              </a:ext>
            </a:extLst>
          </p:cNvPr>
          <p:cNvCxnSpPr>
            <a:cxnSpLocks/>
          </p:cNvCxnSpPr>
          <p:nvPr/>
        </p:nvCxnSpPr>
        <p:spPr>
          <a:xfrm>
            <a:off x="4400868" y="5822746"/>
            <a:ext cx="304966" cy="0"/>
          </a:xfrm>
          <a:prstGeom prst="straightConnector1">
            <a:avLst/>
          </a:prstGeom>
          <a:ln w="1905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E64EF38-0CFF-499F-91BA-0303D3549FBB}"/>
              </a:ext>
            </a:extLst>
          </p:cNvPr>
          <p:cNvSpPr txBox="1"/>
          <p:nvPr/>
        </p:nvSpPr>
        <p:spPr>
          <a:xfrm>
            <a:off x="3251194" y="4846628"/>
            <a:ext cx="1107996"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交易内容</a:t>
            </a:r>
          </a:p>
        </p:txBody>
      </p:sp>
      <p:sp>
        <p:nvSpPr>
          <p:cNvPr id="34" name="文本框 33">
            <a:extLst>
              <a:ext uri="{FF2B5EF4-FFF2-40B4-BE49-F238E27FC236}">
                <a16:creationId xmlns:a16="http://schemas.microsoft.com/office/drawing/2014/main" id="{5E9BF628-A9AB-42A6-8460-720949A56224}"/>
              </a:ext>
            </a:extLst>
          </p:cNvPr>
          <p:cNvSpPr txBox="1"/>
          <p:nvPr/>
        </p:nvSpPr>
        <p:spPr>
          <a:xfrm>
            <a:off x="6096000" y="1516425"/>
            <a:ext cx="2031325"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比特币转账交易：</a:t>
            </a:r>
          </a:p>
        </p:txBody>
      </p:sp>
      <p:pic>
        <p:nvPicPr>
          <p:cNvPr id="35" name="图片 34">
            <a:extLst>
              <a:ext uri="{FF2B5EF4-FFF2-40B4-BE49-F238E27FC236}">
                <a16:creationId xmlns:a16="http://schemas.microsoft.com/office/drawing/2014/main" id="{EF142306-D78B-4D3B-AA5D-E4DEE05AAC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83187" y="2734373"/>
            <a:ext cx="453662" cy="453662"/>
          </a:xfrm>
          <a:prstGeom prst="rect">
            <a:avLst/>
          </a:prstGeom>
        </p:spPr>
      </p:pic>
      <p:sp>
        <p:nvSpPr>
          <p:cNvPr id="36" name="文本框 35">
            <a:extLst>
              <a:ext uri="{FF2B5EF4-FFF2-40B4-BE49-F238E27FC236}">
                <a16:creationId xmlns:a16="http://schemas.microsoft.com/office/drawing/2014/main" id="{11CC1398-B792-4F54-94DF-29F8DE4F8C5F}"/>
              </a:ext>
            </a:extLst>
          </p:cNvPr>
          <p:cNvSpPr txBox="1"/>
          <p:nvPr/>
        </p:nvSpPr>
        <p:spPr>
          <a:xfrm>
            <a:off x="6227285" y="3135557"/>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cxnSp>
        <p:nvCxnSpPr>
          <p:cNvPr id="37" name="直接箭头连接符 36">
            <a:extLst>
              <a:ext uri="{FF2B5EF4-FFF2-40B4-BE49-F238E27FC236}">
                <a16:creationId xmlns:a16="http://schemas.microsoft.com/office/drawing/2014/main" id="{47D1DFC0-402C-4B0E-9454-7A98C5CDA70C}"/>
              </a:ext>
            </a:extLst>
          </p:cNvPr>
          <p:cNvCxnSpPr>
            <a:cxnSpLocks/>
          </p:cNvCxnSpPr>
          <p:nvPr/>
        </p:nvCxnSpPr>
        <p:spPr>
          <a:xfrm>
            <a:off x="6636849" y="2961204"/>
            <a:ext cx="534034" cy="1"/>
          </a:xfrm>
          <a:prstGeom prst="straightConnector1">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00F46B8F-319F-4694-B7C4-54BFAA9F79A1}"/>
              </a:ext>
            </a:extLst>
          </p:cNvPr>
          <p:cNvSpPr txBox="1"/>
          <p:nvPr/>
        </p:nvSpPr>
        <p:spPr>
          <a:xfrm>
            <a:off x="7179005" y="2358062"/>
            <a:ext cx="1370888" cy="1169551"/>
          </a:xfrm>
          <a:prstGeom prst="rect">
            <a:avLst/>
          </a:prstGeom>
          <a:noFill/>
          <a:ln w="19050">
            <a:solidFill>
              <a:schemeClr val="tx1"/>
            </a:solidFill>
            <a:prstDash val="dash"/>
          </a:ln>
        </p:spPr>
        <p:txBody>
          <a:bodyPr wrap="none" rtlCol="0">
            <a:spAutoFit/>
          </a:bodyPr>
          <a:lstStyle/>
          <a:p>
            <a:pPr marL="285750" indent="-285750">
              <a:buFont typeface="Arial" panose="020B0604020202020204" pitchFamily="34" charset="0"/>
              <a:buChar char="•"/>
            </a:pPr>
            <a:r>
              <a:rPr lang="zh-CN" altLang="en-US" sz="1400" dirty="0">
                <a:latin typeface="Times New Roman" panose="02020603050405020304" pitchFamily="18" charset="0"/>
                <a:ea typeface="微软雅黑" panose="020B0503020204020204" pitchFamily="34" charset="-122"/>
              </a:rPr>
              <a:t>交易编号</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微软雅黑" panose="020B0503020204020204" pitchFamily="34" charset="-122"/>
              </a:rPr>
              <a:t>B</a:t>
            </a:r>
            <a:r>
              <a:rPr lang="zh-CN" altLang="en-US" sz="1400" dirty="0">
                <a:latin typeface="Times New Roman" panose="02020603050405020304" pitchFamily="18" charset="0"/>
                <a:ea typeface="微软雅黑" panose="020B0503020204020204" pitchFamily="34" charset="-122"/>
              </a:rPr>
              <a:t>的公钥</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微软雅黑" panose="020B0503020204020204" pitchFamily="34" charset="-122"/>
              </a:rPr>
              <a:t>A</a:t>
            </a:r>
            <a:r>
              <a:rPr lang="zh-CN" altLang="en-US" sz="1400" dirty="0">
                <a:latin typeface="Times New Roman" panose="02020603050405020304" pitchFamily="18" charset="0"/>
                <a:ea typeface="微软雅黑" panose="020B0503020204020204" pitchFamily="34" charset="-122"/>
              </a:rPr>
              <a:t>的公钥</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zh-CN" altLang="en-US" sz="1400" dirty="0">
                <a:latin typeface="Times New Roman" panose="02020603050405020304" pitchFamily="18" charset="0"/>
                <a:ea typeface="微软雅黑" panose="020B0503020204020204" pitchFamily="34" charset="-122"/>
              </a:rPr>
              <a:t>比特币数量</a:t>
            </a:r>
            <a:endParaRPr lang="en-US" altLang="zh-CN" sz="1400"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微软雅黑" panose="020B0503020204020204" pitchFamily="34" charset="-122"/>
              </a:rPr>
              <a:t>A</a:t>
            </a:r>
            <a:r>
              <a:rPr lang="zh-CN" altLang="en-US" sz="1400" dirty="0">
                <a:latin typeface="Times New Roman" panose="02020603050405020304" pitchFamily="18" charset="0"/>
                <a:ea typeface="微软雅黑" panose="020B0503020204020204" pitchFamily="34" charset="-122"/>
              </a:rPr>
              <a:t>签名</a:t>
            </a:r>
          </a:p>
        </p:txBody>
      </p:sp>
      <p:pic>
        <p:nvPicPr>
          <p:cNvPr id="39" name="图片 38">
            <a:extLst>
              <a:ext uri="{FF2B5EF4-FFF2-40B4-BE49-F238E27FC236}">
                <a16:creationId xmlns:a16="http://schemas.microsoft.com/office/drawing/2014/main" id="{9EE3A635-2808-48AB-B8B6-D647A6E12C0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46815" y="2734373"/>
            <a:ext cx="453662" cy="453662"/>
          </a:xfrm>
          <a:prstGeom prst="rect">
            <a:avLst/>
          </a:prstGeom>
        </p:spPr>
      </p:pic>
      <p:cxnSp>
        <p:nvCxnSpPr>
          <p:cNvPr id="40" name="直接箭头连接符 39">
            <a:extLst>
              <a:ext uri="{FF2B5EF4-FFF2-40B4-BE49-F238E27FC236}">
                <a16:creationId xmlns:a16="http://schemas.microsoft.com/office/drawing/2014/main" id="{1BD01608-6D1B-40A1-BAC2-1016949669D8}"/>
              </a:ext>
            </a:extLst>
          </p:cNvPr>
          <p:cNvCxnSpPr>
            <a:cxnSpLocks/>
          </p:cNvCxnSpPr>
          <p:nvPr/>
        </p:nvCxnSpPr>
        <p:spPr>
          <a:xfrm flipV="1">
            <a:off x="8541771" y="2961204"/>
            <a:ext cx="605044" cy="1"/>
          </a:xfrm>
          <a:prstGeom prst="straightConnector1">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A194C684-723E-4F83-A9C8-61246F2748DE}"/>
              </a:ext>
            </a:extLst>
          </p:cNvPr>
          <p:cNvSpPr txBox="1"/>
          <p:nvPr/>
        </p:nvSpPr>
        <p:spPr>
          <a:xfrm>
            <a:off x="9204369" y="3138195"/>
            <a:ext cx="338554"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74A39B84-A88A-45C1-98AB-CA73D2D2F5BE}"/>
              </a:ext>
            </a:extLst>
          </p:cNvPr>
          <p:cNvSpPr/>
          <p:nvPr/>
        </p:nvSpPr>
        <p:spPr>
          <a:xfrm>
            <a:off x="9719968" y="1928574"/>
            <a:ext cx="1172037" cy="203211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矩形 42">
            <a:extLst>
              <a:ext uri="{FF2B5EF4-FFF2-40B4-BE49-F238E27FC236}">
                <a16:creationId xmlns:a16="http://schemas.microsoft.com/office/drawing/2014/main" id="{25BC92E5-07CE-4A4D-851E-992A8BAE0543}"/>
              </a:ext>
            </a:extLst>
          </p:cNvPr>
          <p:cNvSpPr/>
          <p:nvPr/>
        </p:nvSpPr>
        <p:spPr>
          <a:xfrm>
            <a:off x="9719968" y="1928574"/>
            <a:ext cx="1172037" cy="3693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Times New Roman" panose="02020603050405020304" pitchFamily="18" charset="0"/>
                <a:cs typeface="Times New Roman" panose="02020603050405020304" pitchFamily="18" charset="0"/>
              </a:rPr>
              <a:t>TxID</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1A062E9D-A933-4CC5-B5D8-D473C0390434}"/>
              </a:ext>
            </a:extLst>
          </p:cNvPr>
          <p:cNvSpPr/>
          <p:nvPr/>
        </p:nvSpPr>
        <p:spPr>
          <a:xfrm>
            <a:off x="9719967" y="2308703"/>
            <a:ext cx="1172037" cy="3693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Version</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矩形 44">
            <a:extLst>
              <a:ext uri="{FF2B5EF4-FFF2-40B4-BE49-F238E27FC236}">
                <a16:creationId xmlns:a16="http://schemas.microsoft.com/office/drawing/2014/main" id="{1A6FB4A3-F1E7-4FCD-BB7E-9D7F72C8BB96}"/>
              </a:ext>
            </a:extLst>
          </p:cNvPr>
          <p:cNvSpPr/>
          <p:nvPr/>
        </p:nvSpPr>
        <p:spPr>
          <a:xfrm>
            <a:off x="9719967" y="2663740"/>
            <a:ext cx="1172037" cy="64121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Inputs</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矩形 45">
            <a:extLst>
              <a:ext uri="{FF2B5EF4-FFF2-40B4-BE49-F238E27FC236}">
                <a16:creationId xmlns:a16="http://schemas.microsoft.com/office/drawing/2014/main" id="{0CF6A938-923F-4859-8C70-F151F8FF9CC0}"/>
              </a:ext>
            </a:extLst>
          </p:cNvPr>
          <p:cNvSpPr/>
          <p:nvPr/>
        </p:nvSpPr>
        <p:spPr>
          <a:xfrm>
            <a:off x="9719967" y="3319479"/>
            <a:ext cx="1172037" cy="641210"/>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Outputs</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矩形 48">
            <a:extLst>
              <a:ext uri="{FF2B5EF4-FFF2-40B4-BE49-F238E27FC236}">
                <a16:creationId xmlns:a16="http://schemas.microsoft.com/office/drawing/2014/main" id="{E9C5BC65-6C0A-4CF9-B30F-F5E33B244AFD}"/>
              </a:ext>
            </a:extLst>
          </p:cNvPr>
          <p:cNvSpPr/>
          <p:nvPr/>
        </p:nvSpPr>
        <p:spPr>
          <a:xfrm>
            <a:off x="6804914" y="4210472"/>
            <a:ext cx="2316851" cy="369332"/>
          </a:xfrm>
          <a:prstGeom prst="rect">
            <a:avLst/>
          </a:prstGeom>
          <a:solidFill>
            <a:schemeClr val="accent3">
              <a:lumMod val="20000"/>
              <a:lumOff val="80000"/>
            </a:schemeClr>
          </a:solidFill>
          <a:ln w="19050">
            <a:solidFill>
              <a:srgbClr val="002060"/>
            </a:solidFill>
            <a:prstDash val="dash"/>
          </a:ln>
        </p:spPr>
        <p:txBody>
          <a:bodyPr wrap="square">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怎么没有转账时间？</a:t>
            </a:r>
            <a:endParaRPr lang="zh-CN" altLang="en-US" dirty="0">
              <a:latin typeface="Times New Roman" panose="02020603050405020304" pitchFamily="18" charset="0"/>
              <a:ea typeface="微软雅黑" panose="020B0503020204020204" pitchFamily="34" charset="-122"/>
            </a:endParaRPr>
          </a:p>
        </p:txBody>
      </p:sp>
      <p:pic>
        <p:nvPicPr>
          <p:cNvPr id="50" name="图片 49">
            <a:extLst>
              <a:ext uri="{FF2B5EF4-FFF2-40B4-BE49-F238E27FC236}">
                <a16:creationId xmlns:a16="http://schemas.microsoft.com/office/drawing/2014/main" id="{2314C0D6-8800-4FEA-9404-AFE9552E36F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42994" y="4085629"/>
            <a:ext cx="601662" cy="601662"/>
          </a:xfrm>
          <a:prstGeom prst="rect">
            <a:avLst/>
          </a:prstGeom>
        </p:spPr>
      </p:pic>
      <p:sp>
        <p:nvSpPr>
          <p:cNvPr id="51" name="文本框 50">
            <a:extLst>
              <a:ext uri="{FF2B5EF4-FFF2-40B4-BE49-F238E27FC236}">
                <a16:creationId xmlns:a16="http://schemas.microsoft.com/office/drawing/2014/main" id="{E8B3C1C8-71DC-4D94-B12B-936F08ECF1D4}"/>
              </a:ext>
            </a:extLst>
          </p:cNvPr>
          <p:cNvSpPr txBox="1"/>
          <p:nvPr/>
        </p:nvSpPr>
        <p:spPr>
          <a:xfrm>
            <a:off x="9751987" y="1534138"/>
            <a:ext cx="1107996"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交易结构</a:t>
            </a:r>
          </a:p>
        </p:txBody>
      </p:sp>
      <p:sp>
        <p:nvSpPr>
          <p:cNvPr id="52" name="矩形 51">
            <a:extLst>
              <a:ext uri="{FF2B5EF4-FFF2-40B4-BE49-F238E27FC236}">
                <a16:creationId xmlns:a16="http://schemas.microsoft.com/office/drawing/2014/main" id="{80E35D56-5BC3-4D36-A2EA-37EF226838A2}"/>
              </a:ext>
            </a:extLst>
          </p:cNvPr>
          <p:cNvSpPr/>
          <p:nvPr/>
        </p:nvSpPr>
        <p:spPr>
          <a:xfrm>
            <a:off x="10822095" y="1938865"/>
            <a:ext cx="1338828" cy="369332"/>
          </a:xfrm>
          <a:prstGeom prst="rect">
            <a:avLst/>
          </a:prstGeom>
        </p:spPr>
        <p:txBody>
          <a:bodyPr wrap="none">
            <a:spAutoFit/>
          </a:bodyPr>
          <a:lstStyle/>
          <a:p>
            <a:r>
              <a:rPr lang="zh-CN" altLang="en-US" dirty="0">
                <a:latin typeface="Times New Roman" panose="02020603050405020304" pitchFamily="18" charset="0"/>
                <a:ea typeface="微软雅黑" panose="020B0503020204020204" pitchFamily="34" charset="-122"/>
              </a:rPr>
              <a:t>交易哈希值</a:t>
            </a:r>
            <a:endParaRPr lang="en-US" altLang="zh-CN"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7302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5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4" grpId="0"/>
      <p:bldP spid="15" grpId="0"/>
      <p:bldP spid="16" grpId="0"/>
      <p:bldP spid="18" grpId="0"/>
      <p:bldP spid="19" grpId="0"/>
      <p:bldP spid="20" grpId="0"/>
      <p:bldP spid="22" grpId="0"/>
      <p:bldP spid="23" grpId="0"/>
      <p:bldP spid="24" grpId="0"/>
      <p:bldP spid="26" grpId="0"/>
      <p:bldP spid="27" grpId="0"/>
      <p:bldP spid="28" grpId="0" animBg="1"/>
      <p:bldP spid="30" grpId="0"/>
      <p:bldP spid="33" grpId="0"/>
      <p:bldP spid="34" grpId="0"/>
      <p:bldP spid="36" grpId="0"/>
      <p:bldP spid="38" grpId="0" animBg="1"/>
      <p:bldP spid="41" grpId="0"/>
      <p:bldP spid="42" grpId="0" animBg="1"/>
      <p:bldP spid="43" grpId="0" animBg="1"/>
      <p:bldP spid="44" grpId="0" animBg="1"/>
      <p:bldP spid="45" grpId="0" animBg="1"/>
      <p:bldP spid="46" grpId="0" animBg="1"/>
      <p:bldP spid="49" grpId="0" animBg="1"/>
      <p:bldP spid="51" grpId="0"/>
      <p:bldP spid="5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交易模型模型</a:t>
            </a:r>
            <a:endParaRPr lang="en-US" altLang="zh-CN" dirty="0"/>
          </a:p>
        </p:txBody>
      </p:sp>
      <p:sp>
        <p:nvSpPr>
          <p:cNvPr id="3" name="内容占位符 2"/>
          <p:cNvSpPr>
            <a:spLocks noGrp="1"/>
          </p:cNvSpPr>
          <p:nvPr>
            <p:ph idx="1"/>
          </p:nvPr>
        </p:nvSpPr>
        <p:spPr>
          <a:xfrm>
            <a:off x="838200" y="1277153"/>
            <a:ext cx="9888940" cy="644011"/>
          </a:xfrm>
        </p:spPr>
        <p:txBody>
          <a:bodyPr>
            <a:normAutofit/>
          </a:bodyPr>
          <a:lstStyle/>
          <a:p>
            <a:pPr fontAlgn="auto">
              <a:lnSpc>
                <a:spcPct val="130000"/>
              </a:lnSpc>
            </a:pPr>
            <a:r>
              <a:rPr lang="zh-CN" altLang="en-US" dirty="0"/>
              <a:t>比特币的交易模型和结构</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812604077"/>
              </p:ext>
            </p:extLst>
          </p:nvPr>
        </p:nvGraphicFramePr>
        <p:xfrm>
          <a:off x="1307508" y="3151706"/>
          <a:ext cx="9419632" cy="3438560"/>
        </p:xfrm>
        <a:graphic>
          <a:graphicData uri="http://schemas.openxmlformats.org/drawingml/2006/table">
            <a:tbl>
              <a:tblPr firstRow="1" firstCol="1" bandRow="1">
                <a:tableStyleId>{7DF18680-E054-41AD-8BC1-D1AEF772440D}</a:tableStyleId>
              </a:tblPr>
              <a:tblGrid>
                <a:gridCol w="1630289">
                  <a:extLst>
                    <a:ext uri="{9D8B030D-6E8A-4147-A177-3AD203B41FA5}">
                      <a16:colId xmlns:a16="http://schemas.microsoft.com/office/drawing/2014/main" val="20000"/>
                    </a:ext>
                  </a:extLst>
                </a:gridCol>
                <a:gridCol w="2032136">
                  <a:extLst>
                    <a:ext uri="{9D8B030D-6E8A-4147-A177-3AD203B41FA5}">
                      <a16:colId xmlns:a16="http://schemas.microsoft.com/office/drawing/2014/main" val="20001"/>
                    </a:ext>
                  </a:extLst>
                </a:gridCol>
                <a:gridCol w="2167467">
                  <a:extLst>
                    <a:ext uri="{9D8B030D-6E8A-4147-A177-3AD203B41FA5}">
                      <a16:colId xmlns:a16="http://schemas.microsoft.com/office/drawing/2014/main" val="20002"/>
                    </a:ext>
                  </a:extLst>
                </a:gridCol>
                <a:gridCol w="3589740">
                  <a:extLst>
                    <a:ext uri="{9D8B030D-6E8A-4147-A177-3AD203B41FA5}">
                      <a16:colId xmlns:a16="http://schemas.microsoft.com/office/drawing/2014/main" val="20003"/>
                    </a:ext>
                  </a:extLst>
                </a:gridCol>
              </a:tblGrid>
              <a:tr h="306750">
                <a:tc gridSpan="4">
                  <a:txBody>
                    <a:bodyPr/>
                    <a:lstStyle/>
                    <a:p>
                      <a:pPr algn="ctr">
                        <a:spcAft>
                          <a:spcPts val="0"/>
                        </a:spcAft>
                      </a:pPr>
                      <a:r>
                        <a:rPr lang="zh-CN" sz="1800" kern="100" dirty="0">
                          <a:effectLst/>
                        </a:rPr>
                        <a:t>比特币交易数据结构</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58317">
                <a:tc>
                  <a:txBody>
                    <a:bodyPr/>
                    <a:lstStyle/>
                    <a:p>
                      <a:pPr algn="ctr">
                        <a:spcAft>
                          <a:spcPts val="0"/>
                        </a:spcAft>
                      </a:pPr>
                      <a:r>
                        <a:rPr lang="zh-CN" sz="1800" kern="100" dirty="0">
                          <a:effectLst/>
                        </a:rPr>
                        <a:t>数据项</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类型</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大小</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说明</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258317">
                <a:tc>
                  <a:txBody>
                    <a:bodyPr/>
                    <a:lstStyle/>
                    <a:p>
                      <a:pPr algn="ctr">
                        <a:spcAft>
                          <a:spcPts val="0"/>
                        </a:spcAft>
                      </a:pPr>
                      <a:r>
                        <a:rPr lang="en-US" sz="1800" kern="100" dirty="0" err="1">
                          <a:effectLst/>
                          <a:latin typeface="Garamond" panose="02020404030301010803" pitchFamily="18" charset="0"/>
                        </a:rPr>
                        <a:t>nVersion</a:t>
                      </a:r>
                      <a:endParaRPr lang="zh-CN" sz="1800" kern="10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整数</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4</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交易的版本号</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16634">
                <a:tc rowSpan="2">
                  <a:txBody>
                    <a:bodyPr/>
                    <a:lstStyle/>
                    <a:p>
                      <a:pPr algn="ctr">
                        <a:spcAft>
                          <a:spcPts val="0"/>
                        </a:spcAft>
                      </a:pPr>
                      <a:r>
                        <a:rPr lang="en-US" sz="1800" kern="100" dirty="0">
                          <a:effectLst/>
                          <a:latin typeface="Garamond" panose="02020404030301010803" pitchFamily="18" charset="0"/>
                        </a:rPr>
                        <a:t>vin</a:t>
                      </a:r>
                      <a:endParaRPr lang="zh-CN" sz="1800" kern="10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变长无符号整型</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1-9</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交易输入数量</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16634">
                <a:tc vMerge="1">
                  <a:txBody>
                    <a:bodyPr/>
                    <a:lstStyle/>
                    <a:p>
                      <a:endParaRPr lang="zh-CN"/>
                    </a:p>
                  </a:txBody>
                  <a:tcPr/>
                </a:tc>
                <a:tc>
                  <a:txBody>
                    <a:bodyPr/>
                    <a:lstStyle/>
                    <a:p>
                      <a:pPr algn="ctr">
                        <a:spcAft>
                          <a:spcPts val="0"/>
                        </a:spcAft>
                      </a:pPr>
                      <a:r>
                        <a:rPr lang="zh-CN" sz="1800" kern="100" dirty="0">
                          <a:effectLst/>
                        </a:rPr>
                        <a:t>数组</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不定</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交易的所有输入，按顺序排列</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16634">
                <a:tc rowSpan="2">
                  <a:txBody>
                    <a:bodyPr/>
                    <a:lstStyle/>
                    <a:p>
                      <a:pPr algn="ctr">
                        <a:spcAft>
                          <a:spcPts val="0"/>
                        </a:spcAft>
                      </a:pPr>
                      <a:r>
                        <a:rPr lang="en-US" sz="1800" kern="100" dirty="0" err="1">
                          <a:effectLst/>
                          <a:latin typeface="Garamond" panose="02020404030301010803" pitchFamily="18" charset="0"/>
                        </a:rPr>
                        <a:t>vout</a:t>
                      </a:r>
                      <a:endParaRPr lang="zh-CN" sz="1800" kern="10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变长无符号整型</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1-9</a:t>
                      </a:r>
                      <a:r>
                        <a:rPr lang="zh-CN" sz="1800" kern="100" dirty="0">
                          <a:effectLst/>
                        </a:rPr>
                        <a:t>字节</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交易输出数量</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516634">
                <a:tc vMerge="1">
                  <a:txBody>
                    <a:bodyPr/>
                    <a:lstStyle/>
                    <a:p>
                      <a:endParaRPr lang="zh-CN"/>
                    </a:p>
                  </a:txBody>
                  <a:tcPr/>
                </a:tc>
                <a:tc>
                  <a:txBody>
                    <a:bodyPr/>
                    <a:lstStyle/>
                    <a:p>
                      <a:pPr algn="ctr">
                        <a:spcAft>
                          <a:spcPts val="0"/>
                        </a:spcAft>
                      </a:pPr>
                      <a:r>
                        <a:rPr lang="zh-CN" sz="1800" kern="100">
                          <a:effectLst/>
                        </a:rPr>
                        <a:t>数组</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不定</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交易的所有输出，按顺序排列</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516634">
                <a:tc>
                  <a:txBody>
                    <a:bodyPr/>
                    <a:lstStyle/>
                    <a:p>
                      <a:pPr algn="ctr">
                        <a:spcAft>
                          <a:spcPts val="0"/>
                        </a:spcAft>
                      </a:pPr>
                      <a:r>
                        <a:rPr lang="en-US" sz="1800" kern="100" dirty="0" err="1">
                          <a:effectLst/>
                          <a:latin typeface="Garamond" panose="02020404030301010803" pitchFamily="18" charset="0"/>
                        </a:rPr>
                        <a:t>nLockTime</a:t>
                      </a:r>
                      <a:endParaRPr lang="zh-CN" sz="1800" kern="10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无符号整型</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4</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用于时间锁定脚本的时间戳</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bl>
          </a:graphicData>
        </a:graphic>
      </p:graphicFrame>
      <p:sp>
        <p:nvSpPr>
          <p:cNvPr id="8" name="文本框 7">
            <a:extLst>
              <a:ext uri="{FF2B5EF4-FFF2-40B4-BE49-F238E27FC236}">
                <a16:creationId xmlns:a16="http://schemas.microsoft.com/office/drawing/2014/main" id="{D536574E-2429-4D0D-AC7F-B8BCA13F2B4A}"/>
              </a:ext>
            </a:extLst>
          </p:cNvPr>
          <p:cNvSpPr txBox="1"/>
          <p:nvPr/>
        </p:nvSpPr>
        <p:spPr>
          <a:xfrm>
            <a:off x="1222402" y="1843286"/>
            <a:ext cx="9888941" cy="1144288"/>
          </a:xfrm>
          <a:prstGeom prst="rect">
            <a:avLst/>
          </a:prstGeom>
          <a:noFill/>
        </p:spPr>
        <p:txBody>
          <a:bodyPr wrap="square">
            <a:spAutoFit/>
          </a:bodyPr>
          <a:lstStyle/>
          <a:p>
            <a:pPr marL="285750" lvl="1" indent="-285750">
              <a:lnSpc>
                <a:spcPct val="130000"/>
              </a:lnSpc>
              <a:buFont typeface="Wingdings" panose="05000000000000000000" pitchFamily="2" charset="2"/>
              <a:buChar char="ü"/>
            </a:pPr>
            <a:r>
              <a:rPr lang="zh-CN" altLang="en-US" dirty="0">
                <a:solidFill>
                  <a:prstClr val="black"/>
                </a:solidFill>
              </a:rPr>
              <a:t>下表为交易数据结构细则，其中版本号可以实现在不修改原有交易的情况下实现对比特币交易的功能升级，而锁定时间则被用于定时锁定的比特币交易。这两个字段通常与比特币的一些复杂的脚本功能相关，这里不再继续展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en-US" altLang="zh-CN" dirty="0"/>
          </a:p>
        </p:txBody>
      </p:sp>
      <p:sp>
        <p:nvSpPr>
          <p:cNvPr id="3" name="内容占位符 2"/>
          <p:cNvSpPr>
            <a:spLocks noGrp="1"/>
          </p:cNvSpPr>
          <p:nvPr>
            <p:ph idx="1"/>
          </p:nvPr>
        </p:nvSpPr>
        <p:spPr>
          <a:xfrm>
            <a:off x="838200" y="1510758"/>
            <a:ext cx="9888940" cy="3299781"/>
          </a:xfrm>
        </p:spPr>
        <p:txBody>
          <a:bodyPr>
            <a:normAutofit fontScale="92500"/>
          </a:bodyPr>
          <a:lstStyle/>
          <a:p>
            <a:pPr fontAlgn="auto">
              <a:lnSpc>
                <a:spcPct val="130000"/>
              </a:lnSpc>
            </a:pPr>
            <a:r>
              <a:rPr lang="zh-CN" altLang="en-US" dirty="0">
                <a:latin typeface="Garamond" panose="02020404030301010803" pitchFamily="18" charset="0"/>
              </a:rPr>
              <a:t>交易的输出</a:t>
            </a:r>
          </a:p>
          <a:p>
            <a:pPr lvl="1">
              <a:lnSpc>
                <a:spcPct val="130000"/>
              </a:lnSpc>
            </a:pPr>
            <a:r>
              <a:rPr lang="zh-CN" altLang="en-US" dirty="0">
                <a:latin typeface="Garamond" panose="02020404030301010803" pitchFamily="18" charset="0"/>
              </a:rPr>
              <a:t>在交易过程中，输出用来表示这笔交易的比特币去向。</a:t>
            </a:r>
            <a:endParaRPr lang="en-US" altLang="zh-CN" dirty="0">
              <a:latin typeface="Garamond" panose="02020404030301010803" pitchFamily="18" charset="0"/>
            </a:endParaRPr>
          </a:p>
          <a:p>
            <a:pPr lvl="0">
              <a:lnSpc>
                <a:spcPct val="130000"/>
              </a:lnSpc>
            </a:pPr>
            <a:r>
              <a:rPr lang="zh-CN" altLang="en-US" dirty="0">
                <a:solidFill>
                  <a:prstClr val="black"/>
                </a:solidFill>
                <a:latin typeface="Garamond" panose="02020404030301010803" pitchFamily="18" charset="0"/>
              </a:rPr>
              <a:t>交易可以有多个输出</a:t>
            </a:r>
          </a:p>
          <a:p>
            <a:pPr lvl="1">
              <a:lnSpc>
                <a:spcPct val="130000"/>
              </a:lnSpc>
            </a:pPr>
            <a:r>
              <a:rPr lang="zh-CN" altLang="en-US" dirty="0">
                <a:solidFill>
                  <a:prstClr val="black"/>
                </a:solidFill>
                <a:latin typeface="Garamond" panose="02020404030301010803" pitchFamily="18" charset="0"/>
              </a:rPr>
              <a:t>在上面的</a:t>
            </a:r>
            <a:r>
              <a:rPr lang="en-GB" altLang="zh-CN" dirty="0">
                <a:solidFill>
                  <a:prstClr val="black"/>
                </a:solidFill>
                <a:latin typeface="Garamond" panose="02020404030301010803" pitchFamily="18" charset="0"/>
              </a:rPr>
              <a:t>Alice</a:t>
            </a:r>
            <a:r>
              <a:rPr lang="zh-CN" altLang="en-US" dirty="0">
                <a:solidFill>
                  <a:prstClr val="black"/>
                </a:solidFill>
                <a:latin typeface="Garamond" panose="02020404030301010803" pitchFamily="18" charset="0"/>
              </a:rPr>
              <a:t>向</a:t>
            </a:r>
            <a:r>
              <a:rPr lang="en-GB" altLang="zh-CN" dirty="0">
                <a:solidFill>
                  <a:prstClr val="black"/>
                </a:solidFill>
                <a:latin typeface="Garamond" panose="02020404030301010803" pitchFamily="18" charset="0"/>
              </a:rPr>
              <a:t>Bob</a:t>
            </a:r>
            <a:r>
              <a:rPr lang="zh-CN" altLang="en-US" dirty="0">
                <a:solidFill>
                  <a:prstClr val="black"/>
                </a:solidFill>
                <a:latin typeface="Garamond" panose="02020404030301010803" pitchFamily="18" charset="0"/>
              </a:rPr>
              <a:t>的转账中，交易的输出表明了交易中的</a:t>
            </a:r>
            <a:r>
              <a:rPr lang="en-US" altLang="zh-CN" dirty="0">
                <a:solidFill>
                  <a:prstClr val="black"/>
                </a:solidFill>
                <a:latin typeface="Garamond" panose="02020404030301010803" pitchFamily="18" charset="0"/>
              </a:rPr>
              <a:t>1</a:t>
            </a:r>
            <a:r>
              <a:rPr lang="zh-CN" altLang="en-US" dirty="0">
                <a:solidFill>
                  <a:prstClr val="black"/>
                </a:solidFill>
                <a:latin typeface="Garamond" panose="02020404030301010803" pitchFamily="18" charset="0"/>
              </a:rPr>
              <a:t>个</a:t>
            </a:r>
            <a:r>
              <a:rPr lang="en-GB" altLang="zh-CN" dirty="0">
                <a:solidFill>
                  <a:prstClr val="black"/>
                </a:solidFill>
                <a:latin typeface="Garamond" panose="02020404030301010803" pitchFamily="18" charset="0"/>
              </a:rPr>
              <a:t>BTC</a:t>
            </a:r>
            <a:r>
              <a:rPr lang="zh-CN" altLang="en-US" dirty="0">
                <a:solidFill>
                  <a:prstClr val="black"/>
                </a:solidFill>
                <a:latin typeface="Garamond" panose="02020404030301010803" pitchFamily="18" charset="0"/>
              </a:rPr>
              <a:t>最终由</a:t>
            </a:r>
            <a:r>
              <a:rPr lang="en-GB" altLang="zh-CN" dirty="0">
                <a:solidFill>
                  <a:prstClr val="black"/>
                </a:solidFill>
                <a:latin typeface="Garamond" panose="02020404030301010803" pitchFamily="18" charset="0"/>
              </a:rPr>
              <a:t>Bob</a:t>
            </a:r>
            <a:r>
              <a:rPr lang="zh-CN" altLang="en-US" dirty="0">
                <a:solidFill>
                  <a:prstClr val="black"/>
                </a:solidFill>
                <a:latin typeface="Garamond" panose="02020404030301010803" pitchFamily="18" charset="0"/>
              </a:rPr>
              <a:t>持有。在比特币的交易体系中，一个交易可以同时具备多个输出，如图，</a:t>
            </a:r>
            <a:r>
              <a:rPr lang="en-GB" altLang="zh-CN" dirty="0">
                <a:solidFill>
                  <a:prstClr val="black"/>
                </a:solidFill>
                <a:latin typeface="Garamond" panose="02020404030301010803" pitchFamily="18" charset="0"/>
              </a:rPr>
              <a:t>Alice</a:t>
            </a:r>
            <a:r>
              <a:rPr lang="zh-CN" altLang="en-US" dirty="0">
                <a:solidFill>
                  <a:prstClr val="black"/>
                </a:solidFill>
                <a:latin typeface="Garamond" panose="02020404030301010803" pitchFamily="18" charset="0"/>
              </a:rPr>
              <a:t>可以利用一个交易同时向</a:t>
            </a:r>
            <a:r>
              <a:rPr lang="en-GB" altLang="zh-CN" dirty="0">
                <a:solidFill>
                  <a:prstClr val="black"/>
                </a:solidFill>
                <a:latin typeface="Garamond" panose="02020404030301010803" pitchFamily="18" charset="0"/>
              </a:rPr>
              <a:t>Bob</a:t>
            </a:r>
            <a:r>
              <a:rPr lang="zh-CN" altLang="en-US" dirty="0">
                <a:solidFill>
                  <a:prstClr val="black"/>
                </a:solidFill>
                <a:latin typeface="Garamond" panose="02020404030301010803" pitchFamily="18" charset="0"/>
              </a:rPr>
              <a:t>和</a:t>
            </a:r>
            <a:r>
              <a:rPr lang="en-GB" altLang="zh-CN" dirty="0">
                <a:solidFill>
                  <a:prstClr val="black"/>
                </a:solidFill>
                <a:latin typeface="Garamond" panose="02020404030301010803" pitchFamily="18" charset="0"/>
              </a:rPr>
              <a:t>Cathy</a:t>
            </a:r>
            <a:r>
              <a:rPr lang="zh-CN" altLang="en-US" dirty="0">
                <a:solidFill>
                  <a:prstClr val="black"/>
                </a:solidFill>
                <a:latin typeface="Garamond" panose="02020404030301010803" pitchFamily="18" charset="0"/>
              </a:rPr>
              <a:t>分别发送</a:t>
            </a:r>
            <a:r>
              <a:rPr lang="en-US" altLang="zh-CN" dirty="0">
                <a:solidFill>
                  <a:prstClr val="black"/>
                </a:solidFill>
                <a:latin typeface="Garamond" panose="02020404030301010803" pitchFamily="18" charset="0"/>
              </a:rPr>
              <a:t>0.5</a:t>
            </a:r>
            <a:r>
              <a:rPr lang="zh-CN" altLang="en-US" dirty="0">
                <a:solidFill>
                  <a:prstClr val="black"/>
                </a:solidFill>
                <a:latin typeface="Garamond" panose="02020404030301010803" pitchFamily="18" charset="0"/>
              </a:rPr>
              <a:t>个</a:t>
            </a:r>
            <a:r>
              <a:rPr lang="en-GB" altLang="zh-CN" dirty="0">
                <a:solidFill>
                  <a:prstClr val="black"/>
                </a:solidFill>
                <a:latin typeface="Garamond" panose="02020404030301010803" pitchFamily="18" charset="0"/>
              </a:rPr>
              <a:t>BTC</a:t>
            </a:r>
            <a:r>
              <a:rPr lang="zh-CN" altLang="en-GB"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5" name="文本框 4"/>
          <p:cNvSpPr txBox="1"/>
          <p:nvPr/>
        </p:nvSpPr>
        <p:spPr>
          <a:xfrm>
            <a:off x="5228671" y="6358118"/>
            <a:ext cx="1800493" cy="369332"/>
          </a:xfrm>
          <a:prstGeom prst="rect">
            <a:avLst/>
          </a:prstGeom>
          <a:noFill/>
        </p:spPr>
        <p:txBody>
          <a:bodyPr wrap="none" rtlCol="0">
            <a:spAutoFit/>
          </a:bodyPr>
          <a:lstStyle/>
          <a:p>
            <a:r>
              <a:rPr kumimoji="1" lang="zh-CN" altLang="en-US" dirty="0"/>
              <a:t>多个输出的交易</a:t>
            </a:r>
          </a:p>
        </p:txBody>
      </p:sp>
      <p:pic>
        <p:nvPicPr>
          <p:cNvPr id="6" name="图片 5"/>
          <p:cNvPicPr>
            <a:picLocks noChangeAspect="1"/>
          </p:cNvPicPr>
          <p:nvPr/>
        </p:nvPicPr>
        <p:blipFill>
          <a:blip r:embed="rId3"/>
          <a:stretch>
            <a:fillRect/>
          </a:stretch>
        </p:blipFill>
        <p:spPr>
          <a:xfrm>
            <a:off x="3312519" y="4781550"/>
            <a:ext cx="4940300" cy="157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en-US" altLang="zh-CN" dirty="0"/>
          </a:p>
        </p:txBody>
      </p:sp>
      <p:sp>
        <p:nvSpPr>
          <p:cNvPr id="3" name="内容占位符 2"/>
          <p:cNvSpPr>
            <a:spLocks noGrp="1"/>
          </p:cNvSpPr>
          <p:nvPr>
            <p:ph idx="1"/>
          </p:nvPr>
        </p:nvSpPr>
        <p:spPr>
          <a:xfrm>
            <a:off x="838200" y="1510758"/>
            <a:ext cx="9888940" cy="3299781"/>
          </a:xfrm>
        </p:spPr>
        <p:txBody>
          <a:bodyPr>
            <a:normAutofit lnSpcReduction="10000"/>
          </a:bodyPr>
          <a:lstStyle/>
          <a:p>
            <a:pPr fontAlgn="auto">
              <a:lnSpc>
                <a:spcPct val="130000"/>
              </a:lnSpc>
            </a:pPr>
            <a:r>
              <a:rPr lang="zh-CN" altLang="en-US" dirty="0">
                <a:latin typeface="Garamond" panose="02020404030301010803" pitchFamily="18" charset="0"/>
              </a:rPr>
              <a:t>输出的结构</a:t>
            </a:r>
          </a:p>
          <a:p>
            <a:pPr lvl="1">
              <a:lnSpc>
                <a:spcPct val="130000"/>
              </a:lnSpc>
            </a:pPr>
            <a:r>
              <a:rPr lang="zh-CN" altLang="en-US" dirty="0">
                <a:latin typeface="Garamond" panose="02020404030301010803" pitchFamily="18" charset="0"/>
              </a:rPr>
              <a:t>为了证明转账后的结果，交易的一个输出包含了两个主要部分</a:t>
            </a:r>
            <a:r>
              <a:rPr lang="en-US" altLang="zh-CN" dirty="0">
                <a:latin typeface="Garamond" panose="02020404030301010803" pitchFamily="18" charset="0"/>
              </a:rPr>
              <a:t>——</a:t>
            </a:r>
            <a:r>
              <a:rPr lang="zh-CN" altLang="en-US" b="1" dirty="0">
                <a:solidFill>
                  <a:srgbClr val="5B307E"/>
                </a:solidFill>
                <a:latin typeface="Garamond" panose="02020404030301010803" pitchFamily="18" charset="0"/>
              </a:rPr>
              <a:t>输出的比特币数量</a:t>
            </a:r>
            <a:r>
              <a:rPr lang="zh-CN" altLang="en-US" dirty="0">
                <a:latin typeface="Garamond" panose="02020404030301010803" pitchFamily="18" charset="0"/>
              </a:rPr>
              <a:t>和</a:t>
            </a:r>
            <a:r>
              <a:rPr lang="zh-CN" altLang="en-US" b="1" dirty="0">
                <a:solidFill>
                  <a:srgbClr val="5B307E"/>
                </a:solidFill>
                <a:latin typeface="Garamond" panose="02020404030301010803" pitchFamily="18" charset="0"/>
              </a:rPr>
              <a:t>输出的比特币的所有者</a:t>
            </a:r>
            <a:r>
              <a:rPr lang="zh-CN" altLang="en-US" dirty="0">
                <a:latin typeface="Garamond" panose="02020404030301010803" pitchFamily="18" charset="0"/>
              </a:rPr>
              <a:t>。如图，前者在比特币中通过一个</a:t>
            </a:r>
            <a:r>
              <a:rPr lang="en-US" altLang="zh-CN" dirty="0">
                <a:latin typeface="Garamond" panose="02020404030301010803" pitchFamily="18" charset="0"/>
              </a:rPr>
              <a:t>64</a:t>
            </a:r>
            <a:r>
              <a:rPr lang="zh-CN" altLang="en-US" dirty="0">
                <a:latin typeface="Garamond" panose="02020404030301010803" pitchFamily="18" charset="0"/>
              </a:rPr>
              <a:t>位的整数来记录，单位是</a:t>
            </a:r>
            <a:r>
              <a:rPr lang="zh-CN" altLang="en-US" b="1" dirty="0">
                <a:solidFill>
                  <a:srgbClr val="5B307E"/>
                </a:solidFill>
                <a:latin typeface="Garamond" panose="02020404030301010803" pitchFamily="18" charset="0"/>
              </a:rPr>
              <a:t>比特币系统中的最小货币单位聪（</a:t>
            </a:r>
            <a:r>
              <a:rPr lang="en-GB" altLang="zh-CN" b="1" dirty="0">
                <a:solidFill>
                  <a:srgbClr val="5B307E"/>
                </a:solidFill>
                <a:latin typeface="Garamond" panose="02020404030301010803" pitchFamily="18" charset="0"/>
              </a:rPr>
              <a:t>Satoshi</a:t>
            </a:r>
            <a:r>
              <a:rPr lang="zh-CN" altLang="en-GB" b="1" dirty="0">
                <a:solidFill>
                  <a:srgbClr val="5B307E"/>
                </a:solidFill>
                <a:latin typeface="Garamond" panose="02020404030301010803" pitchFamily="18" charset="0"/>
              </a:rPr>
              <a:t>），</a:t>
            </a:r>
            <a:r>
              <a:rPr lang="zh-CN" altLang="en-US" dirty="0">
                <a:latin typeface="Garamond" panose="02020404030301010803" pitchFamily="18" charset="0"/>
              </a:rPr>
              <a:t>大小为一亿分之一个比特币。后者我们使用了比特币的脚本系统来实现，我们这里可以简单理解输出的脚本就是对这个输出的比特币进行上锁，只有收款者</a:t>
            </a:r>
            <a:r>
              <a:rPr lang="en-GB" altLang="zh-CN" dirty="0">
                <a:latin typeface="Garamond" panose="02020404030301010803" pitchFamily="18" charset="0"/>
              </a:rPr>
              <a:t>Bob</a:t>
            </a:r>
            <a:r>
              <a:rPr lang="zh-CN" altLang="en-US" dirty="0">
                <a:latin typeface="Garamond" panose="02020404030301010803" pitchFamily="18" charset="0"/>
              </a:rPr>
              <a:t>才有解开它的钥匙。 </a:t>
            </a:r>
            <a:endParaRPr lang="zh-CN" altLang="en-US" dirty="0">
              <a:solidFill>
                <a:prstClr val="black"/>
              </a:solidFill>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5" name="文本框 4"/>
          <p:cNvSpPr txBox="1"/>
          <p:nvPr/>
        </p:nvSpPr>
        <p:spPr>
          <a:xfrm>
            <a:off x="5113256" y="6356349"/>
            <a:ext cx="1338828" cy="369332"/>
          </a:xfrm>
          <a:prstGeom prst="rect">
            <a:avLst/>
          </a:prstGeom>
          <a:noFill/>
        </p:spPr>
        <p:txBody>
          <a:bodyPr wrap="none" rtlCol="0">
            <a:spAutoFit/>
          </a:bodyPr>
          <a:lstStyle/>
          <a:p>
            <a:r>
              <a:rPr kumimoji="1" lang="zh-CN" altLang="en-US" dirty="0"/>
              <a:t>输出的结构</a:t>
            </a:r>
          </a:p>
        </p:txBody>
      </p:sp>
      <p:pic>
        <p:nvPicPr>
          <p:cNvPr id="4" name="图片 3"/>
          <p:cNvPicPr>
            <a:picLocks noChangeAspect="1"/>
          </p:cNvPicPr>
          <p:nvPr/>
        </p:nvPicPr>
        <p:blipFill>
          <a:blip r:embed="rId3"/>
          <a:stretch>
            <a:fillRect/>
          </a:stretch>
        </p:blipFill>
        <p:spPr>
          <a:xfrm>
            <a:off x="3553820" y="4999244"/>
            <a:ext cx="4457700" cy="1168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en-US" altLang="zh-CN" dirty="0"/>
          </a:p>
        </p:txBody>
      </p:sp>
      <p:sp>
        <p:nvSpPr>
          <p:cNvPr id="3" name="内容占位符 2"/>
          <p:cNvSpPr>
            <a:spLocks noGrp="1"/>
          </p:cNvSpPr>
          <p:nvPr>
            <p:ph idx="1"/>
          </p:nvPr>
        </p:nvSpPr>
        <p:spPr>
          <a:xfrm>
            <a:off x="838200" y="1510759"/>
            <a:ext cx="9888940" cy="1778132"/>
          </a:xfrm>
        </p:spPr>
        <p:txBody>
          <a:bodyPr>
            <a:normAutofit/>
          </a:bodyPr>
          <a:lstStyle/>
          <a:p>
            <a:pPr fontAlgn="auto">
              <a:lnSpc>
                <a:spcPct val="130000"/>
              </a:lnSpc>
            </a:pPr>
            <a:r>
              <a:rPr lang="zh-CN" altLang="en-US" dirty="0">
                <a:latin typeface="Garamond" panose="02020404030301010803" pitchFamily="18" charset="0"/>
              </a:rPr>
              <a:t>输出的结构</a:t>
            </a:r>
          </a:p>
          <a:p>
            <a:pPr lvl="1">
              <a:lnSpc>
                <a:spcPct val="130000"/>
              </a:lnSpc>
            </a:pPr>
            <a:r>
              <a:rPr lang="zh-CN" altLang="en-US" dirty="0">
                <a:latin typeface="Garamond" panose="02020404030301010803" pitchFamily="18" charset="0"/>
              </a:rPr>
              <a:t>详细的输出结构格式可以参考下表，其中</a:t>
            </a:r>
            <a:r>
              <a:rPr lang="en-GB" altLang="zh-CN" dirty="0" err="1">
                <a:latin typeface="Garamond" panose="02020404030301010803" pitchFamily="18" charset="0"/>
              </a:rPr>
              <a:t>scriptPubKey</a:t>
            </a:r>
            <a:r>
              <a:rPr lang="zh-CN" altLang="en-US" dirty="0">
                <a:latin typeface="Garamond" panose="02020404030301010803" pitchFamily="18" charset="0"/>
              </a:rPr>
              <a:t>的有关细节将会在脚本系统中介绍。</a:t>
            </a:r>
            <a:endParaRPr lang="zh-CN" altLang="en-US" dirty="0">
              <a:solidFill>
                <a:prstClr val="black"/>
              </a:solidFill>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1366259041"/>
              </p:ext>
            </p:extLst>
          </p:nvPr>
        </p:nvGraphicFramePr>
        <p:xfrm>
          <a:off x="1307508" y="3255169"/>
          <a:ext cx="9419632" cy="2669654"/>
        </p:xfrm>
        <a:graphic>
          <a:graphicData uri="http://schemas.openxmlformats.org/drawingml/2006/table">
            <a:tbl>
              <a:tblPr firstRow="1" firstCol="1" bandRow="1">
                <a:tableStyleId>{7DF18680-E054-41AD-8BC1-D1AEF772440D}</a:tableStyleId>
              </a:tblPr>
              <a:tblGrid>
                <a:gridCol w="1699852">
                  <a:extLst>
                    <a:ext uri="{9D8B030D-6E8A-4147-A177-3AD203B41FA5}">
                      <a16:colId xmlns:a16="http://schemas.microsoft.com/office/drawing/2014/main" val="20000"/>
                    </a:ext>
                  </a:extLst>
                </a:gridCol>
                <a:gridCol w="1397980">
                  <a:extLst>
                    <a:ext uri="{9D8B030D-6E8A-4147-A177-3AD203B41FA5}">
                      <a16:colId xmlns:a16="http://schemas.microsoft.com/office/drawing/2014/main" val="20001"/>
                    </a:ext>
                  </a:extLst>
                </a:gridCol>
                <a:gridCol w="3160900">
                  <a:extLst>
                    <a:ext uri="{9D8B030D-6E8A-4147-A177-3AD203B41FA5}">
                      <a16:colId xmlns:a16="http://schemas.microsoft.com/office/drawing/2014/main" val="20002"/>
                    </a:ext>
                  </a:extLst>
                </a:gridCol>
                <a:gridCol w="3160900">
                  <a:extLst>
                    <a:ext uri="{9D8B030D-6E8A-4147-A177-3AD203B41FA5}">
                      <a16:colId xmlns:a16="http://schemas.microsoft.com/office/drawing/2014/main" val="20003"/>
                    </a:ext>
                  </a:extLst>
                </a:gridCol>
              </a:tblGrid>
              <a:tr h="294081">
                <a:tc gridSpan="4">
                  <a:txBody>
                    <a:bodyPr/>
                    <a:lstStyle/>
                    <a:p>
                      <a:pPr algn="ctr">
                        <a:spcAft>
                          <a:spcPts val="0"/>
                        </a:spcAft>
                      </a:pPr>
                      <a:r>
                        <a:rPr lang="zh-CN" sz="2000" kern="100" dirty="0">
                          <a:effectLst/>
                        </a:rPr>
                        <a:t>比特币交易输出结构</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43095">
                <a:tc>
                  <a:txBody>
                    <a:bodyPr/>
                    <a:lstStyle/>
                    <a:p>
                      <a:pPr indent="19685" algn="ctr">
                        <a:spcAft>
                          <a:spcPts val="0"/>
                        </a:spcAft>
                      </a:pPr>
                      <a:r>
                        <a:rPr lang="zh-CN" sz="2000" kern="100" dirty="0">
                          <a:effectLst/>
                        </a:rPr>
                        <a:t>数据项</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类型</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大小</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描述</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67785">
                <a:tc>
                  <a:txBody>
                    <a:bodyPr/>
                    <a:lstStyle/>
                    <a:p>
                      <a:pPr indent="19685" algn="ctr">
                        <a:spcAft>
                          <a:spcPts val="0"/>
                        </a:spcAft>
                      </a:pPr>
                      <a:r>
                        <a:rPr lang="en-US" sz="2000" kern="100" dirty="0" err="1">
                          <a:effectLst/>
                          <a:latin typeface="Garamond" panose="02020404030301010803" pitchFamily="18" charset="0"/>
                        </a:rPr>
                        <a:t>nValue</a:t>
                      </a:r>
                      <a:endParaRPr lang="zh-CN" sz="2000" kern="10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en-US" sz="2000" kern="100" dirty="0">
                          <a:effectLst/>
                        </a:rPr>
                        <a:t>64</a:t>
                      </a:r>
                      <a:r>
                        <a:rPr lang="zh-CN" sz="2000" kern="100" dirty="0">
                          <a:effectLst/>
                        </a:rPr>
                        <a:t>位无符号整型</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en-US" sz="2000" kern="100" dirty="0">
                          <a:effectLst/>
                        </a:rPr>
                        <a:t>8</a:t>
                      </a:r>
                      <a:r>
                        <a:rPr lang="zh-CN" sz="2000" kern="100" dirty="0">
                          <a:effectLst/>
                        </a:rPr>
                        <a:t>字节</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just">
                        <a:spcAft>
                          <a:spcPts val="0"/>
                        </a:spcAft>
                      </a:pPr>
                      <a:r>
                        <a:rPr lang="zh-CN" sz="2000" kern="100" dirty="0">
                          <a:effectLst/>
                        </a:rPr>
                        <a:t>输出中的比特币数量，单位：聪</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67785">
                <a:tc rowSpan="2">
                  <a:txBody>
                    <a:bodyPr/>
                    <a:lstStyle/>
                    <a:p>
                      <a:pPr indent="19685" algn="ctr">
                        <a:spcAft>
                          <a:spcPts val="0"/>
                        </a:spcAft>
                      </a:pPr>
                      <a:r>
                        <a:rPr lang="en-US" sz="2000" kern="100" dirty="0" err="1">
                          <a:effectLst/>
                          <a:latin typeface="Garamond" panose="02020404030301010803" pitchFamily="18" charset="0"/>
                        </a:rPr>
                        <a:t>scriptPubKey</a:t>
                      </a:r>
                      <a:endParaRPr lang="zh-CN" sz="2000" kern="100" dirty="0">
                        <a:solidFill>
                          <a:schemeClr val="tx1"/>
                        </a:solidFill>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变长无符号整型</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en-US" sz="2000" kern="100">
                          <a:effectLst/>
                        </a:rPr>
                        <a:t>1-9</a:t>
                      </a:r>
                      <a:r>
                        <a:rPr lang="zh-CN" sz="2000" kern="100">
                          <a:effectLst/>
                        </a:rPr>
                        <a:t>字节</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just">
                        <a:spcAft>
                          <a:spcPts val="0"/>
                        </a:spcAft>
                      </a:pPr>
                      <a:r>
                        <a:rPr lang="zh-CN" sz="2000" kern="100" dirty="0">
                          <a:effectLst/>
                        </a:rPr>
                        <a:t>解锁输出脚本长度</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86189">
                <a:tc vMerge="1">
                  <a:txBody>
                    <a:bodyPr/>
                    <a:lstStyle/>
                    <a:p>
                      <a:endParaRPr lang="zh-CN"/>
                    </a:p>
                  </a:txBody>
                  <a:tcPr/>
                </a:tc>
                <a:tc>
                  <a:txBody>
                    <a:bodyPr/>
                    <a:lstStyle/>
                    <a:p>
                      <a:pPr indent="19685" algn="ctr">
                        <a:spcAft>
                          <a:spcPts val="0"/>
                        </a:spcAft>
                      </a:pPr>
                      <a:r>
                        <a:rPr lang="zh-CN" sz="2000" kern="100">
                          <a:effectLst/>
                        </a:rPr>
                        <a:t>字节串</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dirty="0">
                          <a:effectLst/>
                        </a:rPr>
                        <a:t>不定</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just">
                        <a:spcAft>
                          <a:spcPts val="0"/>
                        </a:spcAft>
                      </a:pPr>
                      <a:r>
                        <a:rPr lang="zh-CN" sz="2000" b="1" kern="100" dirty="0">
                          <a:solidFill>
                            <a:srgbClr val="5B307E"/>
                          </a:solidFill>
                          <a:effectLst/>
                        </a:rPr>
                        <a:t>用于锁定的脚本，能够解锁脚本才使用这个输出</a:t>
                      </a:r>
                      <a:endParaRPr lang="zh-CN" sz="2000" b="1" kern="100" dirty="0">
                        <a:solidFill>
                          <a:srgbClr val="5B307E"/>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en-US" altLang="zh-CN" dirty="0"/>
          </a:p>
        </p:txBody>
      </p:sp>
      <p:sp>
        <p:nvSpPr>
          <p:cNvPr id="3" name="内容占位符 2"/>
          <p:cNvSpPr>
            <a:spLocks noGrp="1"/>
          </p:cNvSpPr>
          <p:nvPr>
            <p:ph idx="1"/>
          </p:nvPr>
        </p:nvSpPr>
        <p:spPr>
          <a:xfrm>
            <a:off x="838200" y="1230971"/>
            <a:ext cx="9888940" cy="576659"/>
          </a:xfrm>
        </p:spPr>
        <p:txBody>
          <a:bodyPr>
            <a:normAutofit/>
          </a:bodyPr>
          <a:lstStyle/>
          <a:p>
            <a:pPr fontAlgn="auto">
              <a:lnSpc>
                <a:spcPct val="130000"/>
              </a:lnSpc>
            </a:pPr>
            <a:r>
              <a:rPr lang="zh-CN" altLang="en-US" sz="2400" dirty="0">
                <a:latin typeface="Garamond" panose="02020404030301010803" pitchFamily="18" charset="0"/>
              </a:rPr>
              <a:t>交易的输入</a:t>
            </a:r>
            <a:endParaRPr lang="en-US" altLang="zh-CN" sz="2400"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5" name="文本框 4"/>
          <p:cNvSpPr txBox="1"/>
          <p:nvPr/>
        </p:nvSpPr>
        <p:spPr>
          <a:xfrm>
            <a:off x="4074509" y="6385016"/>
            <a:ext cx="3416320" cy="369332"/>
          </a:xfrm>
          <a:prstGeom prst="rect">
            <a:avLst/>
          </a:prstGeom>
          <a:noFill/>
        </p:spPr>
        <p:txBody>
          <a:bodyPr wrap="none" rtlCol="0">
            <a:spAutoFit/>
          </a:bodyPr>
          <a:lstStyle/>
          <a:p>
            <a:r>
              <a:rPr kumimoji="1" lang="zh-CN" altLang="en-US" dirty="0"/>
              <a:t>输入对前一个交易的输出的引用</a:t>
            </a:r>
          </a:p>
        </p:txBody>
      </p:sp>
      <p:pic>
        <p:nvPicPr>
          <p:cNvPr id="6" name="图片 5"/>
          <p:cNvPicPr>
            <a:picLocks noChangeAspect="1"/>
          </p:cNvPicPr>
          <p:nvPr/>
        </p:nvPicPr>
        <p:blipFill>
          <a:blip r:embed="rId3"/>
          <a:stretch>
            <a:fillRect/>
          </a:stretch>
        </p:blipFill>
        <p:spPr>
          <a:xfrm>
            <a:off x="2089772" y="4675943"/>
            <a:ext cx="7385793" cy="1694945"/>
          </a:xfrm>
          <a:prstGeom prst="rect">
            <a:avLst/>
          </a:prstGeom>
        </p:spPr>
      </p:pic>
      <p:sp>
        <p:nvSpPr>
          <p:cNvPr id="10" name="文本框 9">
            <a:extLst>
              <a:ext uri="{FF2B5EF4-FFF2-40B4-BE49-F238E27FC236}">
                <a16:creationId xmlns:a16="http://schemas.microsoft.com/office/drawing/2014/main" id="{A405A31B-7011-491B-ABA6-5960F635F56B}"/>
              </a:ext>
            </a:extLst>
          </p:cNvPr>
          <p:cNvSpPr txBox="1"/>
          <p:nvPr/>
        </p:nvSpPr>
        <p:spPr>
          <a:xfrm>
            <a:off x="1307508" y="2151272"/>
            <a:ext cx="9499037" cy="1146661"/>
          </a:xfrm>
          <a:prstGeom prst="rect">
            <a:avLst/>
          </a:prstGeom>
          <a:noFill/>
        </p:spPr>
        <p:txBody>
          <a:bodyPr wrap="square">
            <a:spAutoFit/>
          </a:bodyPr>
          <a:lstStyle/>
          <a:p>
            <a:pPr marL="285750" lvl="1" indent="-285750">
              <a:lnSpc>
                <a:spcPct val="130000"/>
              </a:lnSpc>
              <a:buFont typeface="Wingdings" panose="05000000000000000000" pitchFamily="2" charset="2"/>
              <a:buChar char="ü"/>
            </a:pPr>
            <a:r>
              <a:rPr lang="zh-CN" altLang="en-US" sz="1800" dirty="0">
                <a:solidFill>
                  <a:prstClr val="black"/>
                </a:solidFill>
                <a:latin typeface="Garamond" panose="02020404030301010803" pitchFamily="18" charset="0"/>
              </a:rPr>
              <a:t>如图所示，在交易</a:t>
            </a:r>
            <a:r>
              <a:rPr lang="en-GB" altLang="zh-CN" sz="1800" dirty="0">
                <a:solidFill>
                  <a:prstClr val="black"/>
                </a:solidFill>
                <a:latin typeface="Garamond" panose="02020404030301010803" pitchFamily="18" charset="0"/>
              </a:rPr>
              <a:t>A</a:t>
            </a:r>
            <a:r>
              <a:rPr lang="zh-CN" altLang="en-US" sz="1800" dirty="0">
                <a:solidFill>
                  <a:prstClr val="black"/>
                </a:solidFill>
                <a:latin typeface="Garamond" panose="02020404030301010803" pitchFamily="18" charset="0"/>
              </a:rPr>
              <a:t>中，</a:t>
            </a:r>
            <a:r>
              <a:rPr lang="en-GB" altLang="zh-CN" sz="1800" dirty="0">
                <a:solidFill>
                  <a:prstClr val="black"/>
                </a:solidFill>
                <a:latin typeface="Garamond" panose="02020404030301010803" pitchFamily="18" charset="0"/>
              </a:rPr>
              <a:t>Bob</a:t>
            </a:r>
            <a:r>
              <a:rPr lang="zh-CN" altLang="en-US" sz="1800" dirty="0">
                <a:solidFill>
                  <a:prstClr val="black"/>
                </a:solidFill>
                <a:latin typeface="Garamond" panose="02020404030301010803" pitchFamily="18" charset="0"/>
              </a:rPr>
              <a:t>获得</a:t>
            </a:r>
            <a:r>
              <a:rPr lang="en-GB" altLang="zh-CN" sz="1800" dirty="0">
                <a:solidFill>
                  <a:prstClr val="black"/>
                </a:solidFill>
                <a:latin typeface="Garamond" panose="02020404030301010803" pitchFamily="18" charset="0"/>
              </a:rPr>
              <a:t>Alice</a:t>
            </a:r>
            <a:r>
              <a:rPr lang="zh-CN" altLang="en-US" sz="1800" dirty="0">
                <a:solidFill>
                  <a:prstClr val="black"/>
                </a:solidFill>
                <a:latin typeface="Garamond" panose="02020404030301010803" pitchFamily="18" charset="0"/>
              </a:rPr>
              <a:t>转来的</a:t>
            </a:r>
            <a:r>
              <a:rPr lang="en-US" altLang="zh-CN" sz="1800" dirty="0">
                <a:solidFill>
                  <a:prstClr val="black"/>
                </a:solidFill>
                <a:latin typeface="Garamond" panose="02020404030301010803" pitchFamily="18" charset="0"/>
              </a:rPr>
              <a:t>1</a:t>
            </a:r>
            <a:r>
              <a:rPr lang="zh-CN" altLang="en-US" sz="1800" dirty="0">
                <a:solidFill>
                  <a:prstClr val="black"/>
                </a:solidFill>
                <a:latin typeface="Garamond" panose="02020404030301010803" pitchFamily="18" charset="0"/>
              </a:rPr>
              <a:t>个</a:t>
            </a:r>
            <a:r>
              <a:rPr lang="en-GB" altLang="zh-CN" sz="1800" dirty="0">
                <a:solidFill>
                  <a:prstClr val="black"/>
                </a:solidFill>
                <a:latin typeface="Garamond" panose="02020404030301010803" pitchFamily="18" charset="0"/>
              </a:rPr>
              <a:t>BTC</a:t>
            </a:r>
            <a:r>
              <a:rPr lang="zh-CN" altLang="en-GB" sz="1800" dirty="0">
                <a:solidFill>
                  <a:prstClr val="black"/>
                </a:solidFill>
                <a:latin typeface="Garamond" panose="02020404030301010803" pitchFamily="18" charset="0"/>
              </a:rPr>
              <a:t>；</a:t>
            </a:r>
            <a:r>
              <a:rPr lang="zh-CN" altLang="en-US" sz="1800" dirty="0">
                <a:solidFill>
                  <a:prstClr val="black"/>
                </a:solidFill>
                <a:latin typeface="Garamond" panose="02020404030301010803" pitchFamily="18" charset="0"/>
              </a:rPr>
              <a:t>而在交易</a:t>
            </a:r>
            <a:r>
              <a:rPr lang="en-GB" altLang="zh-CN" sz="1800" dirty="0">
                <a:solidFill>
                  <a:prstClr val="black"/>
                </a:solidFill>
                <a:latin typeface="Garamond" panose="02020404030301010803" pitchFamily="18" charset="0"/>
              </a:rPr>
              <a:t>B</a:t>
            </a:r>
            <a:r>
              <a:rPr lang="zh-CN" altLang="en-US" sz="1800" dirty="0">
                <a:solidFill>
                  <a:prstClr val="black"/>
                </a:solidFill>
                <a:latin typeface="Garamond" panose="02020404030301010803" pitchFamily="18" charset="0"/>
              </a:rPr>
              <a:t>中，</a:t>
            </a:r>
            <a:r>
              <a:rPr lang="en-GB" altLang="zh-CN" sz="1800" dirty="0">
                <a:solidFill>
                  <a:prstClr val="black"/>
                </a:solidFill>
                <a:latin typeface="Garamond" panose="02020404030301010803" pitchFamily="18" charset="0"/>
              </a:rPr>
              <a:t>Bob</a:t>
            </a:r>
            <a:r>
              <a:rPr lang="zh-CN" altLang="en-US" sz="1800" dirty="0">
                <a:solidFill>
                  <a:prstClr val="black"/>
                </a:solidFill>
                <a:latin typeface="Garamond" panose="02020404030301010803" pitchFamily="18" charset="0"/>
              </a:rPr>
              <a:t>想把这</a:t>
            </a:r>
            <a:r>
              <a:rPr lang="en-US" altLang="zh-CN" sz="1800" dirty="0">
                <a:solidFill>
                  <a:prstClr val="black"/>
                </a:solidFill>
                <a:latin typeface="Garamond" panose="02020404030301010803" pitchFamily="18" charset="0"/>
              </a:rPr>
              <a:t>1</a:t>
            </a:r>
            <a:r>
              <a:rPr lang="zh-CN" altLang="en-US" sz="1800" dirty="0">
                <a:solidFill>
                  <a:prstClr val="black"/>
                </a:solidFill>
                <a:latin typeface="Garamond" panose="02020404030301010803" pitchFamily="18" charset="0"/>
              </a:rPr>
              <a:t>个</a:t>
            </a:r>
            <a:r>
              <a:rPr lang="en-GB" altLang="zh-CN" sz="1800" dirty="0">
                <a:solidFill>
                  <a:prstClr val="black"/>
                </a:solidFill>
                <a:latin typeface="Garamond" panose="02020404030301010803" pitchFamily="18" charset="0"/>
              </a:rPr>
              <a:t>BTC</a:t>
            </a:r>
            <a:r>
              <a:rPr lang="zh-CN" altLang="en-US" sz="1800" dirty="0">
                <a:solidFill>
                  <a:prstClr val="black"/>
                </a:solidFill>
                <a:latin typeface="Garamond" panose="02020404030301010803" pitchFamily="18" charset="0"/>
              </a:rPr>
              <a:t>转给</a:t>
            </a:r>
            <a:r>
              <a:rPr lang="en-GB" altLang="zh-CN" sz="1800" dirty="0">
                <a:solidFill>
                  <a:prstClr val="black"/>
                </a:solidFill>
                <a:latin typeface="Garamond" panose="02020404030301010803" pitchFamily="18" charset="0"/>
              </a:rPr>
              <a:t>Cathy</a:t>
            </a:r>
            <a:r>
              <a:rPr lang="zh-CN" altLang="en-GB" sz="1800" dirty="0">
                <a:solidFill>
                  <a:prstClr val="black"/>
                </a:solidFill>
                <a:latin typeface="Garamond" panose="02020404030301010803" pitchFamily="18" charset="0"/>
              </a:rPr>
              <a:t>。</a:t>
            </a:r>
            <a:r>
              <a:rPr lang="zh-CN" altLang="en-US" sz="1800" dirty="0">
                <a:solidFill>
                  <a:prstClr val="black"/>
                </a:solidFill>
                <a:latin typeface="Garamond" panose="02020404030301010803" pitchFamily="18" charset="0"/>
              </a:rPr>
              <a:t>所以在交易</a:t>
            </a:r>
            <a:r>
              <a:rPr lang="en-GB" altLang="zh-CN" sz="1800" dirty="0">
                <a:solidFill>
                  <a:prstClr val="black"/>
                </a:solidFill>
                <a:latin typeface="Garamond" panose="02020404030301010803" pitchFamily="18" charset="0"/>
              </a:rPr>
              <a:t>B</a:t>
            </a:r>
            <a:r>
              <a:rPr lang="zh-CN" altLang="en-US" sz="1800" dirty="0">
                <a:solidFill>
                  <a:prstClr val="black"/>
                </a:solidFill>
                <a:latin typeface="Garamond" panose="02020404030301010803" pitchFamily="18" charset="0"/>
              </a:rPr>
              <a:t>中，他需要构造一个输入来引用交易</a:t>
            </a:r>
            <a:r>
              <a:rPr lang="en-GB" altLang="zh-CN" sz="1800" dirty="0">
                <a:solidFill>
                  <a:prstClr val="black"/>
                </a:solidFill>
                <a:latin typeface="Garamond" panose="02020404030301010803" pitchFamily="18" charset="0"/>
              </a:rPr>
              <a:t>B</a:t>
            </a:r>
            <a:r>
              <a:rPr lang="zh-CN" altLang="en-US" sz="1800" dirty="0">
                <a:solidFill>
                  <a:prstClr val="black"/>
                </a:solidFill>
                <a:latin typeface="Garamond" panose="02020404030301010803" pitchFamily="18" charset="0"/>
              </a:rPr>
              <a:t>的这个输出。相当于他把交易</a:t>
            </a:r>
            <a:r>
              <a:rPr lang="en-GB" altLang="zh-CN" sz="1800" dirty="0">
                <a:solidFill>
                  <a:prstClr val="black"/>
                </a:solidFill>
                <a:latin typeface="Garamond" panose="02020404030301010803" pitchFamily="18" charset="0"/>
              </a:rPr>
              <a:t>A</a:t>
            </a:r>
            <a:r>
              <a:rPr lang="zh-CN" altLang="en-US" sz="1800" dirty="0">
                <a:solidFill>
                  <a:prstClr val="black"/>
                </a:solidFill>
                <a:latin typeface="Garamond" panose="02020404030301010803" pitchFamily="18" charset="0"/>
              </a:rPr>
              <a:t>中的输出作为交易</a:t>
            </a:r>
            <a:r>
              <a:rPr lang="en-GB" altLang="zh-CN" sz="1800" dirty="0">
                <a:solidFill>
                  <a:prstClr val="black"/>
                </a:solidFill>
                <a:latin typeface="Garamond" panose="02020404030301010803" pitchFamily="18" charset="0"/>
              </a:rPr>
              <a:t>B</a:t>
            </a:r>
            <a:r>
              <a:rPr lang="zh-CN" altLang="en-US" sz="1800" dirty="0">
                <a:solidFill>
                  <a:prstClr val="black"/>
                </a:solidFill>
                <a:latin typeface="Garamond" panose="02020404030301010803" pitchFamily="18" charset="0"/>
              </a:rPr>
              <a:t>中的输入。</a:t>
            </a:r>
            <a:endParaRPr lang="en-US" altLang="zh-CN" sz="1800" dirty="0">
              <a:latin typeface="Garamond" panose="02020404030301010803" pitchFamily="18" charset="0"/>
            </a:endParaRPr>
          </a:p>
        </p:txBody>
      </p:sp>
      <p:sp>
        <p:nvSpPr>
          <p:cNvPr id="12" name="文本框 11">
            <a:extLst>
              <a:ext uri="{FF2B5EF4-FFF2-40B4-BE49-F238E27FC236}">
                <a16:creationId xmlns:a16="http://schemas.microsoft.com/office/drawing/2014/main" id="{1FCDFB2F-6FBA-4476-8E9D-5F356D49D42F}"/>
              </a:ext>
            </a:extLst>
          </p:cNvPr>
          <p:cNvSpPr txBox="1"/>
          <p:nvPr/>
        </p:nvSpPr>
        <p:spPr>
          <a:xfrm>
            <a:off x="1307508" y="1710681"/>
            <a:ext cx="9888940" cy="426463"/>
          </a:xfrm>
          <a:prstGeom prst="rect">
            <a:avLst/>
          </a:prstGeom>
          <a:noFill/>
        </p:spPr>
        <p:txBody>
          <a:bodyPr wrap="square">
            <a:spAutoFit/>
          </a:bodyPr>
          <a:lstStyle/>
          <a:p>
            <a:pPr marL="285750" lvl="1" indent="-285750">
              <a:lnSpc>
                <a:spcPct val="130000"/>
              </a:lnSpc>
              <a:buFont typeface="Wingdings" panose="05000000000000000000" pitchFamily="2" charset="2"/>
              <a:buChar char="ü"/>
            </a:pPr>
            <a:r>
              <a:rPr lang="zh-CN" altLang="en-US" sz="1800" dirty="0">
                <a:solidFill>
                  <a:prstClr val="black"/>
                </a:solidFill>
                <a:latin typeface="Garamond" panose="02020404030301010803" pitchFamily="18" charset="0"/>
              </a:rPr>
              <a:t>交易输入的比特币不能凭空产生，必须引用和解锁一个已完成的其他交易的一个输出。</a:t>
            </a:r>
          </a:p>
        </p:txBody>
      </p:sp>
      <p:sp>
        <p:nvSpPr>
          <p:cNvPr id="14" name="文本框 13">
            <a:extLst>
              <a:ext uri="{FF2B5EF4-FFF2-40B4-BE49-F238E27FC236}">
                <a16:creationId xmlns:a16="http://schemas.microsoft.com/office/drawing/2014/main" id="{79C12DFB-CAD2-4364-834C-289820DFD256}"/>
              </a:ext>
            </a:extLst>
          </p:cNvPr>
          <p:cNvSpPr txBox="1"/>
          <p:nvPr/>
        </p:nvSpPr>
        <p:spPr>
          <a:xfrm>
            <a:off x="1307509" y="3586985"/>
            <a:ext cx="9813074" cy="1146661"/>
          </a:xfrm>
          <a:prstGeom prst="rect">
            <a:avLst/>
          </a:prstGeom>
          <a:noFill/>
        </p:spPr>
        <p:txBody>
          <a:bodyPr wrap="square">
            <a:spAutoFit/>
          </a:bodyPr>
          <a:lstStyle/>
          <a:p>
            <a:pPr marL="285750" lvl="1" indent="-285750">
              <a:lnSpc>
                <a:spcPct val="130000"/>
              </a:lnSpc>
              <a:buFont typeface="Wingdings" panose="05000000000000000000" pitchFamily="2" charset="2"/>
              <a:buChar char="ü"/>
            </a:pPr>
            <a:r>
              <a:rPr lang="zh-CN" altLang="en-US" sz="1800" dirty="0">
                <a:solidFill>
                  <a:prstClr val="black"/>
                </a:solidFill>
                <a:latin typeface="Garamond" panose="02020404030301010803" pitchFamily="18" charset="0"/>
              </a:rPr>
              <a:t>交易输入由两个部分组成</a:t>
            </a:r>
            <a:r>
              <a:rPr lang="en-US" altLang="zh-CN" sz="1800" dirty="0">
                <a:solidFill>
                  <a:prstClr val="black"/>
                </a:solidFill>
                <a:latin typeface="Garamond" panose="02020404030301010803" pitchFamily="18" charset="0"/>
              </a:rPr>
              <a:t>——</a:t>
            </a:r>
            <a:r>
              <a:rPr lang="zh-CN" altLang="en-US" sz="1800" dirty="0">
                <a:solidFill>
                  <a:prstClr val="black"/>
                </a:solidFill>
                <a:latin typeface="Garamond" panose="02020404030301010803" pitchFamily="18" charset="0"/>
              </a:rPr>
              <a:t>使用到的前一个交易输出的引用和用于解锁这个输出的一个解锁脚本。其中对输出的引用通过交易的哈希值和输出在这个交易中的位置决定，而解锁脚本通常使用了用户的密钥生成，只有用户本人才能够生成解锁脚本。</a:t>
            </a:r>
          </a:p>
        </p:txBody>
      </p:sp>
      <p:sp>
        <p:nvSpPr>
          <p:cNvPr id="16" name="文本框 15">
            <a:extLst>
              <a:ext uri="{FF2B5EF4-FFF2-40B4-BE49-F238E27FC236}">
                <a16:creationId xmlns:a16="http://schemas.microsoft.com/office/drawing/2014/main" id="{A4D05AED-C295-48A3-A3EA-A6EACCDC0D7E}"/>
              </a:ext>
            </a:extLst>
          </p:cNvPr>
          <p:cNvSpPr txBox="1"/>
          <p:nvPr/>
        </p:nvSpPr>
        <p:spPr>
          <a:xfrm>
            <a:off x="838200" y="3100819"/>
            <a:ext cx="6119090" cy="537840"/>
          </a:xfrm>
          <a:prstGeom prst="rect">
            <a:avLst/>
          </a:prstGeom>
          <a:noFill/>
        </p:spPr>
        <p:txBody>
          <a:bodyPr wrap="square">
            <a:spAutoFit/>
          </a:bodyPr>
          <a:lstStyle/>
          <a:p>
            <a:pPr marL="360680" indent="-360680">
              <a:lnSpc>
                <a:spcPct val="130000"/>
              </a:lnSpc>
              <a:spcBef>
                <a:spcPts val="600"/>
              </a:spcBef>
              <a:buFont typeface="Wingdings" panose="05000000000000000000" pitchFamily="2" charset="2"/>
              <a:buChar char="Ø"/>
            </a:pPr>
            <a:r>
              <a:rPr lang="zh-CN" altLang="en-US" sz="2400" dirty="0">
                <a:latin typeface="Garamond" panose="02020404030301010803" pitchFamily="18" charset="0"/>
                <a:ea typeface="Microsoft YaHei" panose="020B0503020204020204" pitchFamily="34" charset="-122"/>
              </a:rPr>
              <a:t>交易的组成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10" grpId="0"/>
      <p:bldP spid="12" grpId="0"/>
      <p:bldP spid="14" grpId="0"/>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en-US" altLang="zh-CN" dirty="0"/>
          </a:p>
        </p:txBody>
      </p:sp>
      <p:sp>
        <p:nvSpPr>
          <p:cNvPr id="3" name="内容占位符 2"/>
          <p:cNvSpPr>
            <a:spLocks noGrp="1"/>
          </p:cNvSpPr>
          <p:nvPr>
            <p:ph idx="1"/>
          </p:nvPr>
        </p:nvSpPr>
        <p:spPr>
          <a:xfrm>
            <a:off x="838200" y="1333672"/>
            <a:ext cx="9888940" cy="715205"/>
          </a:xfrm>
        </p:spPr>
        <p:txBody>
          <a:bodyPr>
            <a:normAutofit/>
          </a:bodyPr>
          <a:lstStyle/>
          <a:p>
            <a:pPr fontAlgn="auto">
              <a:lnSpc>
                <a:spcPct val="130000"/>
              </a:lnSpc>
            </a:pPr>
            <a:r>
              <a:rPr lang="zh-CN" altLang="en-US" sz="2400" dirty="0">
                <a:latin typeface="Garamond" panose="02020404030301010803" pitchFamily="18" charset="0"/>
              </a:rPr>
              <a:t>多个输入的交易</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pic>
        <p:nvPicPr>
          <p:cNvPr id="4" name="图片 3"/>
          <p:cNvPicPr>
            <a:picLocks noChangeAspect="1"/>
          </p:cNvPicPr>
          <p:nvPr/>
        </p:nvPicPr>
        <p:blipFill>
          <a:blip r:embed="rId3"/>
          <a:stretch>
            <a:fillRect/>
          </a:stretch>
        </p:blipFill>
        <p:spPr>
          <a:xfrm>
            <a:off x="1984207" y="3651964"/>
            <a:ext cx="7596926" cy="2481599"/>
          </a:xfrm>
          <a:prstGeom prst="rect">
            <a:avLst/>
          </a:prstGeom>
        </p:spPr>
      </p:pic>
      <p:sp>
        <p:nvSpPr>
          <p:cNvPr id="8" name="文本框 7"/>
          <p:cNvSpPr txBox="1"/>
          <p:nvPr/>
        </p:nvSpPr>
        <p:spPr>
          <a:xfrm>
            <a:off x="4882423" y="6356350"/>
            <a:ext cx="1800493" cy="369332"/>
          </a:xfrm>
          <a:prstGeom prst="rect">
            <a:avLst/>
          </a:prstGeom>
          <a:noFill/>
        </p:spPr>
        <p:txBody>
          <a:bodyPr wrap="none" rtlCol="0">
            <a:spAutoFit/>
          </a:bodyPr>
          <a:lstStyle/>
          <a:p>
            <a:r>
              <a:rPr kumimoji="1" lang="zh-CN" altLang="en-US" dirty="0"/>
              <a:t>多个输入的交易</a:t>
            </a:r>
          </a:p>
        </p:txBody>
      </p:sp>
      <p:sp>
        <p:nvSpPr>
          <p:cNvPr id="9" name="文本框 8">
            <a:extLst>
              <a:ext uri="{FF2B5EF4-FFF2-40B4-BE49-F238E27FC236}">
                <a16:creationId xmlns:a16="http://schemas.microsoft.com/office/drawing/2014/main" id="{D6ED3859-F207-4DC1-8B54-ED6658ED5B51}"/>
              </a:ext>
            </a:extLst>
          </p:cNvPr>
          <p:cNvSpPr txBox="1"/>
          <p:nvPr/>
        </p:nvSpPr>
        <p:spPr>
          <a:xfrm>
            <a:off x="1307509" y="2138337"/>
            <a:ext cx="10046292" cy="786562"/>
          </a:xfrm>
          <a:prstGeom prst="rect">
            <a:avLst/>
          </a:prstGeom>
          <a:noFill/>
        </p:spPr>
        <p:txBody>
          <a:bodyPr wrap="square">
            <a:spAutoFit/>
          </a:bodyPr>
          <a:lstStyle/>
          <a:p>
            <a:pPr marL="285750" lvl="1" indent="-285750">
              <a:lnSpc>
                <a:spcPct val="130000"/>
              </a:lnSpc>
              <a:buFont typeface="Wingdings" panose="05000000000000000000" pitchFamily="2" charset="2"/>
              <a:buChar char="ü"/>
            </a:pPr>
            <a:r>
              <a:rPr lang="zh-CN" altLang="en-US" dirty="0">
                <a:solidFill>
                  <a:prstClr val="black"/>
                </a:solidFill>
                <a:latin typeface="Garamond" panose="02020404030301010803" pitchFamily="18" charset="0"/>
              </a:rPr>
              <a:t>同样地，交易的输入也可以有许多个。如图所示，当</a:t>
            </a:r>
            <a:r>
              <a:rPr lang="en-GB" altLang="zh-CN" dirty="0">
                <a:solidFill>
                  <a:prstClr val="black"/>
                </a:solidFill>
                <a:latin typeface="Garamond" panose="02020404030301010803" pitchFamily="18" charset="0"/>
              </a:rPr>
              <a:t>Bob</a:t>
            </a:r>
            <a:r>
              <a:rPr lang="zh-CN" altLang="en-US" dirty="0">
                <a:solidFill>
                  <a:prstClr val="black"/>
                </a:solidFill>
                <a:latin typeface="Garamond" panose="02020404030301010803" pitchFamily="18" charset="0"/>
              </a:rPr>
              <a:t>想要向</a:t>
            </a:r>
            <a:r>
              <a:rPr lang="en-GB" altLang="zh-CN" dirty="0">
                <a:solidFill>
                  <a:prstClr val="black"/>
                </a:solidFill>
                <a:latin typeface="Garamond" panose="02020404030301010803" pitchFamily="18" charset="0"/>
              </a:rPr>
              <a:t>Cathy</a:t>
            </a:r>
            <a:r>
              <a:rPr lang="zh-CN" altLang="en-US" dirty="0">
                <a:solidFill>
                  <a:prstClr val="black"/>
                </a:solidFill>
                <a:latin typeface="Garamond" panose="02020404030301010803" pitchFamily="18" charset="0"/>
              </a:rPr>
              <a:t>转账</a:t>
            </a:r>
            <a:r>
              <a:rPr lang="en-US" altLang="zh-CN" dirty="0">
                <a:solidFill>
                  <a:prstClr val="black"/>
                </a:solidFill>
                <a:latin typeface="Garamond" panose="02020404030301010803" pitchFamily="18" charset="0"/>
              </a:rPr>
              <a:t>2</a:t>
            </a:r>
            <a:r>
              <a:rPr lang="zh-CN" altLang="en-US" dirty="0">
                <a:solidFill>
                  <a:prstClr val="black"/>
                </a:solidFill>
                <a:latin typeface="Garamond" panose="02020404030301010803" pitchFamily="18" charset="0"/>
              </a:rPr>
              <a:t>个</a:t>
            </a:r>
            <a:r>
              <a:rPr lang="en-GB" altLang="zh-CN" dirty="0">
                <a:solidFill>
                  <a:prstClr val="black"/>
                </a:solidFill>
                <a:latin typeface="Garamond" panose="02020404030301010803" pitchFamily="18" charset="0"/>
              </a:rPr>
              <a:t>BTC</a:t>
            </a:r>
            <a:r>
              <a:rPr lang="zh-CN" altLang="en-US" dirty="0">
                <a:solidFill>
                  <a:prstClr val="black"/>
                </a:solidFill>
                <a:latin typeface="Garamond" panose="02020404030301010803" pitchFamily="18" charset="0"/>
              </a:rPr>
              <a:t>的时候，仅仅一个来自</a:t>
            </a:r>
            <a:r>
              <a:rPr lang="en-GB" altLang="zh-CN" dirty="0">
                <a:solidFill>
                  <a:prstClr val="black"/>
                </a:solidFill>
                <a:latin typeface="Garamond" panose="02020404030301010803" pitchFamily="18" charset="0"/>
              </a:rPr>
              <a:t>Alice</a:t>
            </a:r>
            <a:r>
              <a:rPr lang="zh-CN" altLang="en-US" dirty="0">
                <a:solidFill>
                  <a:prstClr val="black"/>
                </a:solidFill>
                <a:latin typeface="Garamond" panose="02020404030301010803" pitchFamily="18" charset="0"/>
              </a:rPr>
              <a:t>转账得来的输出是不够的，所以还得加上另一个属于</a:t>
            </a:r>
            <a:r>
              <a:rPr lang="en-GB" altLang="zh-CN" dirty="0">
                <a:solidFill>
                  <a:prstClr val="black"/>
                </a:solidFill>
                <a:latin typeface="Garamond" panose="02020404030301010803" pitchFamily="18" charset="0"/>
              </a:rPr>
              <a:t>Bob</a:t>
            </a:r>
            <a:r>
              <a:rPr lang="zh-CN" altLang="en-US" dirty="0">
                <a:solidFill>
                  <a:prstClr val="black"/>
                </a:solidFill>
                <a:latin typeface="Garamond" panose="02020404030301010803" pitchFamily="18" charset="0"/>
              </a:rPr>
              <a:t>的交易输出。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en-US" altLang="zh-CN" dirty="0"/>
          </a:p>
        </p:txBody>
      </p:sp>
      <p:sp>
        <p:nvSpPr>
          <p:cNvPr id="3" name="内容占位符 2"/>
          <p:cNvSpPr>
            <a:spLocks noGrp="1"/>
          </p:cNvSpPr>
          <p:nvPr>
            <p:ph idx="1"/>
          </p:nvPr>
        </p:nvSpPr>
        <p:spPr>
          <a:xfrm>
            <a:off x="838200" y="1510760"/>
            <a:ext cx="9888940" cy="804738"/>
          </a:xfrm>
        </p:spPr>
        <p:txBody>
          <a:bodyPr>
            <a:normAutofit/>
          </a:bodyPr>
          <a:lstStyle/>
          <a:p>
            <a:pPr fontAlgn="auto">
              <a:lnSpc>
                <a:spcPct val="130000"/>
              </a:lnSpc>
            </a:pPr>
            <a:r>
              <a:rPr lang="zh-CN" altLang="en-US" dirty="0"/>
              <a:t>交易输入结构</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112310091"/>
              </p:ext>
            </p:extLst>
          </p:nvPr>
        </p:nvGraphicFramePr>
        <p:xfrm>
          <a:off x="960954" y="2244436"/>
          <a:ext cx="10270091" cy="3831720"/>
        </p:xfrm>
        <a:graphic>
          <a:graphicData uri="http://schemas.openxmlformats.org/drawingml/2006/table">
            <a:tbl>
              <a:tblPr firstRow="1" firstCol="1" bandRow="1">
                <a:tableStyleId>{7DF18680-E054-41AD-8BC1-D1AEF772440D}</a:tableStyleId>
              </a:tblPr>
              <a:tblGrid>
                <a:gridCol w="1627518">
                  <a:extLst>
                    <a:ext uri="{9D8B030D-6E8A-4147-A177-3AD203B41FA5}">
                      <a16:colId xmlns:a16="http://schemas.microsoft.com/office/drawing/2014/main" val="20000"/>
                    </a:ext>
                  </a:extLst>
                </a:gridCol>
                <a:gridCol w="2008266">
                  <a:extLst>
                    <a:ext uri="{9D8B030D-6E8A-4147-A177-3AD203B41FA5}">
                      <a16:colId xmlns:a16="http://schemas.microsoft.com/office/drawing/2014/main" val="20001"/>
                    </a:ext>
                  </a:extLst>
                </a:gridCol>
                <a:gridCol w="2061853">
                  <a:extLst>
                    <a:ext uri="{9D8B030D-6E8A-4147-A177-3AD203B41FA5}">
                      <a16:colId xmlns:a16="http://schemas.microsoft.com/office/drawing/2014/main" val="20002"/>
                    </a:ext>
                  </a:extLst>
                </a:gridCol>
                <a:gridCol w="1126811">
                  <a:extLst>
                    <a:ext uri="{9D8B030D-6E8A-4147-A177-3AD203B41FA5}">
                      <a16:colId xmlns:a16="http://schemas.microsoft.com/office/drawing/2014/main" val="20003"/>
                    </a:ext>
                  </a:extLst>
                </a:gridCol>
                <a:gridCol w="3445643">
                  <a:extLst>
                    <a:ext uri="{9D8B030D-6E8A-4147-A177-3AD203B41FA5}">
                      <a16:colId xmlns:a16="http://schemas.microsoft.com/office/drawing/2014/main" val="20004"/>
                    </a:ext>
                  </a:extLst>
                </a:gridCol>
              </a:tblGrid>
              <a:tr h="599901">
                <a:tc gridSpan="5">
                  <a:txBody>
                    <a:bodyPr/>
                    <a:lstStyle/>
                    <a:p>
                      <a:pPr algn="ctr">
                        <a:spcAft>
                          <a:spcPts val="0"/>
                        </a:spcAft>
                      </a:pPr>
                      <a:r>
                        <a:rPr lang="zh-CN" sz="2000" kern="100" baseline="0" dirty="0">
                          <a:effectLst/>
                          <a:latin typeface="Garamond" panose="02020404030301010803" pitchFamily="18" charset="0"/>
                        </a:rPr>
                        <a:t>比特币交易输入结构</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59091">
                <a:tc>
                  <a:txBody>
                    <a:bodyPr/>
                    <a:lstStyle/>
                    <a:p>
                      <a:pPr algn="ctr">
                        <a:spcAft>
                          <a:spcPts val="0"/>
                        </a:spcAft>
                      </a:pPr>
                      <a:r>
                        <a:rPr lang="zh-CN" sz="2000" kern="100" baseline="0" dirty="0">
                          <a:effectLst/>
                          <a:latin typeface="Garamond" panose="02020404030301010803" pitchFamily="18" charset="0"/>
                        </a:rPr>
                        <a:t>数据项</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a:effectLst/>
                          <a:latin typeface="Garamond" panose="02020404030301010803" pitchFamily="18" charset="0"/>
                        </a:rPr>
                        <a:t>类型</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a:effectLst/>
                          <a:latin typeface="Garamond" panose="02020404030301010803" pitchFamily="18" charset="0"/>
                        </a:rPr>
                        <a:t>大小</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gridSpan="2">
                  <a:txBody>
                    <a:bodyPr/>
                    <a:lstStyle/>
                    <a:p>
                      <a:pPr algn="ctr">
                        <a:spcAft>
                          <a:spcPts val="0"/>
                        </a:spcAft>
                      </a:pPr>
                      <a:r>
                        <a:rPr lang="zh-CN" sz="2000" kern="100" baseline="0">
                          <a:effectLst/>
                          <a:latin typeface="Garamond" panose="02020404030301010803" pitchFamily="18" charset="0"/>
                        </a:rPr>
                        <a:t>描述</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extLst>
                  <a:ext uri="{0D108BD9-81ED-4DB2-BD59-A6C34878D82A}">
                    <a16:rowId xmlns:a16="http://schemas.microsoft.com/office/drawing/2014/main" val="10001"/>
                  </a:ext>
                </a:extLst>
              </a:tr>
              <a:tr h="359091">
                <a:tc rowSpan="2">
                  <a:txBody>
                    <a:bodyPr/>
                    <a:lstStyle/>
                    <a:p>
                      <a:pPr algn="ctr">
                        <a:spcAft>
                          <a:spcPts val="0"/>
                        </a:spcAft>
                      </a:pPr>
                      <a:r>
                        <a:rPr lang="en-US" sz="2000" kern="100" baseline="0" dirty="0" err="1">
                          <a:effectLst/>
                          <a:latin typeface="Garamond" panose="02020404030301010803" pitchFamily="18" charset="0"/>
                        </a:rPr>
                        <a:t>prevout</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a:effectLst/>
                          <a:latin typeface="Garamond" panose="02020404030301010803" pitchFamily="18" charset="0"/>
                        </a:rPr>
                        <a:t>哈希值</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2000" kern="100" baseline="0">
                          <a:effectLst/>
                          <a:latin typeface="Garamond" panose="02020404030301010803" pitchFamily="18" charset="0"/>
                        </a:rPr>
                        <a:t>32</a:t>
                      </a:r>
                      <a:r>
                        <a:rPr lang="zh-CN" sz="2000" kern="100" baseline="0">
                          <a:effectLst/>
                          <a:latin typeface="Garamond" panose="02020404030301010803" pitchFamily="18" charset="0"/>
                        </a:rPr>
                        <a:t>字节</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rowSpan="2">
                  <a:txBody>
                    <a:bodyPr/>
                    <a:lstStyle/>
                    <a:p>
                      <a:pPr algn="ctr">
                        <a:spcAft>
                          <a:spcPts val="0"/>
                        </a:spcAft>
                      </a:pPr>
                      <a:r>
                        <a:rPr lang="zh-CN" sz="2000" kern="100" baseline="0">
                          <a:effectLst/>
                          <a:latin typeface="Garamond" panose="02020404030301010803" pitchFamily="18" charset="0"/>
                        </a:rPr>
                        <a:t>引用上一个交易输出</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a:effectLst/>
                          <a:latin typeface="Garamond" panose="02020404030301010803" pitchFamily="18" charset="0"/>
                        </a:rPr>
                        <a:t>上一个交易的哈希</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718182">
                <a:tc vMerge="1">
                  <a:txBody>
                    <a:bodyPr/>
                    <a:lstStyle/>
                    <a:p>
                      <a:endParaRPr lang="zh-CN"/>
                    </a:p>
                  </a:txBody>
                  <a:tcPr/>
                </a:tc>
                <a:tc>
                  <a:txBody>
                    <a:bodyPr/>
                    <a:lstStyle/>
                    <a:p>
                      <a:pPr algn="ctr">
                        <a:spcAft>
                          <a:spcPts val="0"/>
                        </a:spcAft>
                      </a:pPr>
                      <a:r>
                        <a:rPr lang="zh-CN" sz="2000" kern="100" baseline="0" dirty="0">
                          <a:effectLst/>
                          <a:latin typeface="Garamond" panose="02020404030301010803" pitchFamily="18" charset="0"/>
                        </a:rPr>
                        <a:t>无符号整型</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2000" kern="100" baseline="0" dirty="0">
                          <a:effectLst/>
                          <a:latin typeface="Garamond" panose="02020404030301010803" pitchFamily="18" charset="0"/>
                        </a:rPr>
                        <a:t>4</a:t>
                      </a:r>
                      <a:r>
                        <a:rPr lang="zh-CN" sz="2000" kern="100" baseline="0" dirty="0">
                          <a:effectLst/>
                          <a:latin typeface="Garamond" panose="02020404030301010803" pitchFamily="18" charset="0"/>
                        </a:rPr>
                        <a:t>字节</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vMerge="1">
                  <a:txBody>
                    <a:bodyPr/>
                    <a:lstStyle/>
                    <a:p>
                      <a:endParaRPr lang="zh-CN"/>
                    </a:p>
                  </a:txBody>
                  <a:tcPr/>
                </a:tc>
                <a:tc>
                  <a:txBody>
                    <a:bodyPr/>
                    <a:lstStyle/>
                    <a:p>
                      <a:pPr algn="ctr">
                        <a:spcAft>
                          <a:spcPts val="0"/>
                        </a:spcAft>
                      </a:pPr>
                      <a:r>
                        <a:rPr lang="zh-CN" sz="2000" kern="100" baseline="0">
                          <a:effectLst/>
                          <a:latin typeface="Garamond" panose="02020404030301010803" pitchFamily="18" charset="0"/>
                        </a:rPr>
                        <a:t>输出在上一个交易的位置</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718182">
                <a:tc rowSpan="2">
                  <a:txBody>
                    <a:bodyPr/>
                    <a:lstStyle/>
                    <a:p>
                      <a:pPr algn="ctr">
                        <a:spcAft>
                          <a:spcPts val="0"/>
                        </a:spcAft>
                      </a:pPr>
                      <a:r>
                        <a:rPr lang="en-US" sz="2000" kern="100" baseline="0" dirty="0" err="1">
                          <a:effectLst/>
                          <a:latin typeface="Garamond" panose="02020404030301010803" pitchFamily="18" charset="0"/>
                        </a:rPr>
                        <a:t>scriptSig</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dirty="0">
                          <a:effectLst/>
                          <a:latin typeface="Garamond" panose="02020404030301010803" pitchFamily="18" charset="0"/>
                        </a:rPr>
                        <a:t>变长无符号整型</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2000" kern="100" baseline="0" dirty="0">
                          <a:effectLst/>
                          <a:latin typeface="Garamond" panose="02020404030301010803" pitchFamily="18" charset="0"/>
                        </a:rPr>
                        <a:t>1-9</a:t>
                      </a:r>
                      <a:r>
                        <a:rPr lang="zh-CN" sz="2000" kern="100" baseline="0" dirty="0">
                          <a:effectLst/>
                          <a:latin typeface="Garamond" panose="02020404030301010803" pitchFamily="18" charset="0"/>
                        </a:rPr>
                        <a:t>字节</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gridSpan="2">
                  <a:txBody>
                    <a:bodyPr/>
                    <a:lstStyle/>
                    <a:p>
                      <a:pPr algn="ctr">
                        <a:spcAft>
                          <a:spcPts val="0"/>
                        </a:spcAft>
                      </a:pPr>
                      <a:r>
                        <a:rPr lang="zh-CN" sz="2000" kern="100" baseline="0" dirty="0">
                          <a:effectLst/>
                          <a:latin typeface="Garamond" panose="02020404030301010803" pitchFamily="18" charset="0"/>
                        </a:rPr>
                        <a:t>解锁脚本长度</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extLst>
                  <a:ext uri="{0D108BD9-81ED-4DB2-BD59-A6C34878D82A}">
                    <a16:rowId xmlns:a16="http://schemas.microsoft.com/office/drawing/2014/main" val="10004"/>
                  </a:ext>
                </a:extLst>
              </a:tr>
              <a:tr h="359091">
                <a:tc vMerge="1">
                  <a:txBody>
                    <a:bodyPr/>
                    <a:lstStyle/>
                    <a:p>
                      <a:endParaRPr lang="zh-CN"/>
                    </a:p>
                  </a:txBody>
                  <a:tcPr/>
                </a:tc>
                <a:tc>
                  <a:txBody>
                    <a:bodyPr/>
                    <a:lstStyle/>
                    <a:p>
                      <a:pPr algn="ctr">
                        <a:spcAft>
                          <a:spcPts val="0"/>
                        </a:spcAft>
                      </a:pPr>
                      <a:r>
                        <a:rPr lang="zh-CN" sz="2000" kern="100" baseline="0">
                          <a:effectLst/>
                          <a:latin typeface="Garamond" panose="02020404030301010803" pitchFamily="18" charset="0"/>
                        </a:rPr>
                        <a:t>字节串</a:t>
                      </a:r>
                      <a:endParaRPr lang="zh-CN" sz="2000" kern="100" baseline="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dirty="0">
                          <a:effectLst/>
                          <a:latin typeface="Garamond" panose="02020404030301010803" pitchFamily="18" charset="0"/>
                        </a:rPr>
                        <a:t>不定</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gridSpan="2">
                  <a:txBody>
                    <a:bodyPr/>
                    <a:lstStyle/>
                    <a:p>
                      <a:pPr algn="ctr">
                        <a:spcAft>
                          <a:spcPts val="0"/>
                        </a:spcAft>
                      </a:pPr>
                      <a:r>
                        <a:rPr lang="zh-CN" sz="2000" kern="100" baseline="0" dirty="0">
                          <a:effectLst/>
                          <a:latin typeface="Garamond" panose="02020404030301010803" pitchFamily="18" charset="0"/>
                        </a:rPr>
                        <a:t>用于解锁上一个输出的脚本</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extLst>
                  <a:ext uri="{0D108BD9-81ED-4DB2-BD59-A6C34878D82A}">
                    <a16:rowId xmlns:a16="http://schemas.microsoft.com/office/drawing/2014/main" val="10005"/>
                  </a:ext>
                </a:extLst>
              </a:tr>
              <a:tr h="718182">
                <a:tc>
                  <a:txBody>
                    <a:bodyPr/>
                    <a:lstStyle/>
                    <a:p>
                      <a:pPr algn="ctr">
                        <a:spcAft>
                          <a:spcPts val="0"/>
                        </a:spcAft>
                      </a:pPr>
                      <a:r>
                        <a:rPr lang="en-US" sz="2000" kern="100" baseline="0" dirty="0" err="1">
                          <a:effectLst/>
                          <a:latin typeface="Garamond" panose="02020404030301010803" pitchFamily="18" charset="0"/>
                        </a:rPr>
                        <a:t>nSequence</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baseline="0" dirty="0">
                          <a:effectLst/>
                          <a:latin typeface="Garamond" panose="02020404030301010803" pitchFamily="18" charset="0"/>
                        </a:rPr>
                        <a:t>无符号整型</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en-US" sz="2000" kern="100" baseline="0" dirty="0">
                          <a:effectLst/>
                          <a:latin typeface="Garamond" panose="02020404030301010803" pitchFamily="18" charset="0"/>
                        </a:rPr>
                        <a:t>4</a:t>
                      </a:r>
                      <a:r>
                        <a:rPr lang="zh-CN" sz="2000" kern="100" baseline="0" dirty="0">
                          <a:effectLst/>
                          <a:latin typeface="Garamond" panose="02020404030301010803" pitchFamily="18" charset="0"/>
                        </a:rPr>
                        <a:t>字节</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gridSpan="2">
                  <a:txBody>
                    <a:bodyPr/>
                    <a:lstStyle/>
                    <a:p>
                      <a:pPr algn="ctr">
                        <a:spcAft>
                          <a:spcPts val="0"/>
                        </a:spcAft>
                      </a:pPr>
                      <a:r>
                        <a:rPr lang="zh-CN" sz="2000" kern="100" baseline="0" dirty="0">
                          <a:effectLst/>
                          <a:latin typeface="Garamond" panose="02020404030301010803" pitchFamily="18" charset="0"/>
                        </a:rPr>
                        <a:t>序列号，在一些解锁的功能中使用</a:t>
                      </a:r>
                      <a:endParaRPr lang="zh-CN" sz="2000" kern="100" baseline="0" dirty="0">
                        <a:effectLst/>
                        <a:latin typeface="Garamond" panose="02020404030301010803" pitchFamily="18" charset="0"/>
                        <a:ea typeface="宋体" pitchFamily="2" charset="-122"/>
                        <a:cs typeface="Times New Roman" panose="02020603050405020304" pitchFamily="18" charset="0"/>
                      </a:endParaRPr>
                    </a:p>
                  </a:txBody>
                  <a:tcPr marL="68580" marR="68580" marT="0" marB="0" anchor="ctr"/>
                </a:tc>
                <a:tc hMerge="1">
                  <a:txBody>
                    <a:bodyPr/>
                    <a:lstStyle/>
                    <a:p>
                      <a:endParaRPr lang="zh-CN"/>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9061D-EFF3-4E51-8CCB-93B03C32D7BF}"/>
              </a:ext>
            </a:extLst>
          </p:cNvPr>
          <p:cNvSpPr>
            <a:spLocks noGrp="1"/>
          </p:cNvSpPr>
          <p:nvPr>
            <p:ph type="title"/>
          </p:nvPr>
        </p:nvSpPr>
        <p:spPr/>
        <p:txBody>
          <a:bodyPr/>
          <a:lstStyle/>
          <a:p>
            <a:r>
              <a:rPr lang="zh-CN" altLang="en-US" dirty="0"/>
              <a:t>双花问题</a:t>
            </a:r>
          </a:p>
        </p:txBody>
      </p:sp>
      <p:sp>
        <p:nvSpPr>
          <p:cNvPr id="4" name="灯片编号占位符 3">
            <a:extLst>
              <a:ext uri="{FF2B5EF4-FFF2-40B4-BE49-F238E27FC236}">
                <a16:creationId xmlns:a16="http://schemas.microsoft.com/office/drawing/2014/main" id="{9841D6D7-1E27-403C-BCD0-A6932C4D0C7B}"/>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5" name="文本占位符 3">
            <a:extLst>
              <a:ext uri="{FF2B5EF4-FFF2-40B4-BE49-F238E27FC236}">
                <a16:creationId xmlns:a16="http://schemas.microsoft.com/office/drawing/2014/main" id="{CAB0C844-F7CD-428C-906B-30FCF6373C02}"/>
              </a:ext>
            </a:extLst>
          </p:cNvPr>
          <p:cNvSpPr txBox="1">
            <a:spLocks/>
          </p:cNvSpPr>
          <p:nvPr/>
        </p:nvSpPr>
        <p:spPr>
          <a:xfrm>
            <a:off x="92598" y="1441556"/>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数字货币的双花攻击</a:t>
            </a:r>
          </a:p>
        </p:txBody>
      </p:sp>
      <p:pic>
        <p:nvPicPr>
          <p:cNvPr id="6" name="图片 5">
            <a:extLst>
              <a:ext uri="{FF2B5EF4-FFF2-40B4-BE49-F238E27FC236}">
                <a16:creationId xmlns:a16="http://schemas.microsoft.com/office/drawing/2014/main" id="{C26C12D0-0EB0-43BA-AB94-2AEF703D3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9043" y="1941273"/>
            <a:ext cx="574676" cy="574676"/>
          </a:xfrm>
          <a:prstGeom prst="rect">
            <a:avLst/>
          </a:prstGeom>
        </p:spPr>
      </p:pic>
      <p:sp>
        <p:nvSpPr>
          <p:cNvPr id="7" name="文本框 6">
            <a:extLst>
              <a:ext uri="{FF2B5EF4-FFF2-40B4-BE49-F238E27FC236}">
                <a16:creationId xmlns:a16="http://schemas.microsoft.com/office/drawing/2014/main" id="{2760CA49-F900-4097-B6A5-F56920E7132D}"/>
              </a:ext>
            </a:extLst>
          </p:cNvPr>
          <p:cNvSpPr txBox="1"/>
          <p:nvPr/>
        </p:nvSpPr>
        <p:spPr>
          <a:xfrm>
            <a:off x="1263215" y="2428752"/>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央行</a:t>
            </a:r>
          </a:p>
        </p:txBody>
      </p:sp>
      <p:pic>
        <p:nvPicPr>
          <p:cNvPr id="8" name="图片 7">
            <a:extLst>
              <a:ext uri="{FF2B5EF4-FFF2-40B4-BE49-F238E27FC236}">
                <a16:creationId xmlns:a16="http://schemas.microsoft.com/office/drawing/2014/main" id="{3C861EE5-5E94-4921-B1D8-A6F7EA7ACF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7154" y="1942862"/>
            <a:ext cx="573087" cy="573087"/>
          </a:xfrm>
          <a:prstGeom prst="rect">
            <a:avLst/>
          </a:prstGeom>
        </p:spPr>
      </p:pic>
      <p:cxnSp>
        <p:nvCxnSpPr>
          <p:cNvPr id="9" name="直接箭头连接符 8">
            <a:extLst>
              <a:ext uri="{FF2B5EF4-FFF2-40B4-BE49-F238E27FC236}">
                <a16:creationId xmlns:a16="http://schemas.microsoft.com/office/drawing/2014/main" id="{0D1FB605-A8F9-4D9C-84A9-808D6CD7B06F}"/>
              </a:ext>
            </a:extLst>
          </p:cNvPr>
          <p:cNvCxnSpPr>
            <a:stCxn id="6" idx="3"/>
            <a:endCxn id="8" idx="1"/>
          </p:cNvCxnSpPr>
          <p:nvPr/>
        </p:nvCxnSpPr>
        <p:spPr>
          <a:xfrm>
            <a:off x="1873719" y="2228611"/>
            <a:ext cx="853435"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7E6208E-13AC-4ABB-B058-0DC245AB5A43}"/>
              </a:ext>
            </a:extLst>
          </p:cNvPr>
          <p:cNvSpPr txBox="1"/>
          <p:nvPr/>
        </p:nvSpPr>
        <p:spPr>
          <a:xfrm>
            <a:off x="2690531" y="2428752"/>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纸币</a:t>
            </a:r>
          </a:p>
        </p:txBody>
      </p:sp>
      <p:sp>
        <p:nvSpPr>
          <p:cNvPr id="11" name="文本框 10">
            <a:extLst>
              <a:ext uri="{FF2B5EF4-FFF2-40B4-BE49-F238E27FC236}">
                <a16:creationId xmlns:a16="http://schemas.microsoft.com/office/drawing/2014/main" id="{E33A5F12-435C-4C36-A025-35B647A76566}"/>
              </a:ext>
            </a:extLst>
          </p:cNvPr>
          <p:cNvSpPr txBox="1"/>
          <p:nvPr/>
        </p:nvSpPr>
        <p:spPr>
          <a:xfrm>
            <a:off x="1968776" y="1876249"/>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发行</a:t>
            </a:r>
          </a:p>
        </p:txBody>
      </p:sp>
      <p:pic>
        <p:nvPicPr>
          <p:cNvPr id="12" name="图片 11">
            <a:extLst>
              <a:ext uri="{FF2B5EF4-FFF2-40B4-BE49-F238E27FC236}">
                <a16:creationId xmlns:a16="http://schemas.microsoft.com/office/drawing/2014/main" id="{637931A2-FB82-4608-A1C7-CE3D9F9694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0056" y="1974536"/>
            <a:ext cx="508150" cy="508150"/>
          </a:xfrm>
          <a:prstGeom prst="rect">
            <a:avLst/>
          </a:prstGeom>
        </p:spPr>
      </p:pic>
      <p:pic>
        <p:nvPicPr>
          <p:cNvPr id="13" name="图片 12">
            <a:extLst>
              <a:ext uri="{FF2B5EF4-FFF2-40B4-BE49-F238E27FC236}">
                <a16:creationId xmlns:a16="http://schemas.microsoft.com/office/drawing/2014/main" id="{DCBAC830-2285-43AF-8293-A603C8E4BB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3095" y="2006209"/>
            <a:ext cx="444803" cy="444803"/>
          </a:xfrm>
          <a:prstGeom prst="rect">
            <a:avLst/>
          </a:prstGeom>
        </p:spPr>
      </p:pic>
      <p:cxnSp>
        <p:nvCxnSpPr>
          <p:cNvPr id="14" name="直接箭头连接符 13">
            <a:extLst>
              <a:ext uri="{FF2B5EF4-FFF2-40B4-BE49-F238E27FC236}">
                <a16:creationId xmlns:a16="http://schemas.microsoft.com/office/drawing/2014/main" id="{AEC087C1-4C25-49FF-91D0-AF6BDCF31728}"/>
              </a:ext>
            </a:extLst>
          </p:cNvPr>
          <p:cNvCxnSpPr>
            <a:cxnSpLocks/>
            <a:stCxn id="8" idx="3"/>
            <a:endCxn id="13" idx="1"/>
          </p:cNvCxnSpPr>
          <p:nvPr/>
        </p:nvCxnSpPr>
        <p:spPr>
          <a:xfrm flipV="1">
            <a:off x="3300241" y="2228611"/>
            <a:ext cx="712854"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04688A4A-6D8F-4873-801F-E0CD40897C37}"/>
              </a:ext>
            </a:extLst>
          </p:cNvPr>
          <p:cNvCxnSpPr>
            <a:cxnSpLocks/>
            <a:stCxn id="13" idx="3"/>
            <a:endCxn id="12" idx="1"/>
          </p:cNvCxnSpPr>
          <p:nvPr/>
        </p:nvCxnSpPr>
        <p:spPr>
          <a:xfrm>
            <a:off x="4457898" y="2228611"/>
            <a:ext cx="422158" cy="0"/>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2554D4B3-9BA1-4767-978E-E25BAC0335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80066" y="2544014"/>
            <a:ext cx="508140" cy="508140"/>
          </a:xfrm>
          <a:prstGeom prst="rect">
            <a:avLst/>
          </a:prstGeom>
        </p:spPr>
      </p:pic>
      <p:cxnSp>
        <p:nvCxnSpPr>
          <p:cNvPr id="17" name="直接箭头连接符 16">
            <a:extLst>
              <a:ext uri="{FF2B5EF4-FFF2-40B4-BE49-F238E27FC236}">
                <a16:creationId xmlns:a16="http://schemas.microsoft.com/office/drawing/2014/main" id="{D732226D-7D4C-46A7-B2EC-A4FA17356BB1}"/>
              </a:ext>
            </a:extLst>
          </p:cNvPr>
          <p:cNvCxnSpPr>
            <a:cxnSpLocks/>
            <a:stCxn id="13" idx="3"/>
            <a:endCxn id="16" idx="1"/>
          </p:cNvCxnSpPr>
          <p:nvPr/>
        </p:nvCxnSpPr>
        <p:spPr>
          <a:xfrm>
            <a:off x="4457898" y="2228611"/>
            <a:ext cx="422168" cy="569473"/>
          </a:xfrm>
          <a:prstGeom prst="straightConnector1">
            <a:avLst/>
          </a:prstGeom>
          <a:ln w="381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8698A72-70BB-49DA-8EE6-7C8F4EC9D3F9}"/>
              </a:ext>
            </a:extLst>
          </p:cNvPr>
          <p:cNvSpPr txBox="1"/>
          <p:nvPr/>
        </p:nvSpPr>
        <p:spPr>
          <a:xfrm>
            <a:off x="4066219" y="2359348"/>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sp>
        <p:nvSpPr>
          <p:cNvPr id="19" name="文本框 18">
            <a:extLst>
              <a:ext uri="{FF2B5EF4-FFF2-40B4-BE49-F238E27FC236}">
                <a16:creationId xmlns:a16="http://schemas.microsoft.com/office/drawing/2014/main" id="{AF24B23F-3BA1-4912-B02D-36B3B50C53E7}"/>
              </a:ext>
            </a:extLst>
          </p:cNvPr>
          <p:cNvSpPr txBox="1"/>
          <p:nvPr/>
        </p:nvSpPr>
        <p:spPr>
          <a:xfrm>
            <a:off x="4964854" y="1691583"/>
            <a:ext cx="338554"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20" name="文本框 19">
            <a:extLst>
              <a:ext uri="{FF2B5EF4-FFF2-40B4-BE49-F238E27FC236}">
                <a16:creationId xmlns:a16="http://schemas.microsoft.com/office/drawing/2014/main" id="{10ED1E4B-1BCA-4544-B6F4-7322F6BE1E77}"/>
              </a:ext>
            </a:extLst>
          </p:cNvPr>
          <p:cNvSpPr txBox="1"/>
          <p:nvPr/>
        </p:nvSpPr>
        <p:spPr>
          <a:xfrm>
            <a:off x="4959023" y="3024903"/>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C</a:t>
            </a:r>
            <a:endParaRPr lang="zh-CN" altLang="en-US" dirty="0">
              <a:latin typeface="Times New Roman" panose="02020603050405020304" pitchFamily="18" charset="0"/>
              <a:ea typeface="微软雅黑" panose="020B0503020204020204" pitchFamily="34" charset="-122"/>
            </a:endParaRPr>
          </a:p>
        </p:txBody>
      </p:sp>
      <p:sp>
        <p:nvSpPr>
          <p:cNvPr id="21" name="文本框 20">
            <a:extLst>
              <a:ext uri="{FF2B5EF4-FFF2-40B4-BE49-F238E27FC236}">
                <a16:creationId xmlns:a16="http://schemas.microsoft.com/office/drawing/2014/main" id="{61A83C99-FD5A-4D5D-A010-8677E462E5B2}"/>
              </a:ext>
            </a:extLst>
          </p:cNvPr>
          <p:cNvSpPr txBox="1"/>
          <p:nvPr/>
        </p:nvSpPr>
        <p:spPr>
          <a:xfrm>
            <a:off x="4345812" y="1838145"/>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支付</a:t>
            </a:r>
          </a:p>
        </p:txBody>
      </p:sp>
      <p:sp>
        <p:nvSpPr>
          <p:cNvPr id="22" name="文本框 21">
            <a:extLst>
              <a:ext uri="{FF2B5EF4-FFF2-40B4-BE49-F238E27FC236}">
                <a16:creationId xmlns:a16="http://schemas.microsoft.com/office/drawing/2014/main" id="{4EE47E53-B056-4A87-A914-B7CCB670143B}"/>
              </a:ext>
            </a:extLst>
          </p:cNvPr>
          <p:cNvSpPr txBox="1"/>
          <p:nvPr/>
        </p:nvSpPr>
        <p:spPr>
          <a:xfrm>
            <a:off x="128657" y="2098817"/>
            <a:ext cx="1107996" cy="369332"/>
          </a:xfrm>
          <a:prstGeom prst="rect">
            <a:avLst/>
          </a:prstGeom>
          <a:noFill/>
        </p:spPr>
        <p:txBody>
          <a:bodyPr wrap="none" rtlCol="0">
            <a:spAutoFit/>
          </a:bodyPr>
          <a:lstStyle/>
          <a:p>
            <a:r>
              <a:rPr lang="zh-CN" altLang="en-US" b="1" dirty="0">
                <a:latin typeface="Times New Roman" panose="02020603050405020304" pitchFamily="18" charset="0"/>
                <a:ea typeface="微软雅黑" panose="020B0503020204020204" pitchFamily="34" charset="-122"/>
              </a:rPr>
              <a:t>纸质货币</a:t>
            </a:r>
          </a:p>
        </p:txBody>
      </p:sp>
      <p:sp>
        <p:nvSpPr>
          <p:cNvPr id="23" name="文本框 22">
            <a:extLst>
              <a:ext uri="{FF2B5EF4-FFF2-40B4-BE49-F238E27FC236}">
                <a16:creationId xmlns:a16="http://schemas.microsoft.com/office/drawing/2014/main" id="{F317E7BD-0991-4952-B369-7C330907F091}"/>
              </a:ext>
            </a:extLst>
          </p:cNvPr>
          <p:cNvSpPr txBox="1"/>
          <p:nvPr/>
        </p:nvSpPr>
        <p:spPr>
          <a:xfrm>
            <a:off x="3389987" y="2740453"/>
            <a:ext cx="1338828" cy="369332"/>
          </a:xfrm>
          <a:prstGeom prst="rect">
            <a:avLst/>
          </a:prstGeom>
          <a:solidFill>
            <a:schemeClr val="accent4">
              <a:lumMod val="20000"/>
              <a:lumOff val="80000"/>
            </a:schemeClr>
          </a:solidFill>
          <a:ln w="19050">
            <a:solidFill>
              <a:srgbClr val="002060"/>
            </a:solidFill>
            <a:prstDash val="dash"/>
          </a:ln>
        </p:spPr>
        <p:txBody>
          <a:bodyPr wrap="none" rtlCol="0">
            <a:spAutoFit/>
          </a:bodyPr>
          <a:lstStyle/>
          <a:p>
            <a:r>
              <a:rPr lang="zh-CN" altLang="en-US" dirty="0">
                <a:solidFill>
                  <a:srgbClr val="002060"/>
                </a:solidFill>
                <a:latin typeface="Times New Roman" panose="02020603050405020304" pitchFamily="18" charset="0"/>
                <a:ea typeface="微软雅黑" panose="020B0503020204020204" pitchFamily="34" charset="-122"/>
              </a:rPr>
              <a:t>无法再支付</a:t>
            </a:r>
          </a:p>
        </p:txBody>
      </p:sp>
      <p:sp>
        <p:nvSpPr>
          <p:cNvPr id="24" name="文本框 23">
            <a:extLst>
              <a:ext uri="{FF2B5EF4-FFF2-40B4-BE49-F238E27FC236}">
                <a16:creationId xmlns:a16="http://schemas.microsoft.com/office/drawing/2014/main" id="{9D401EF1-8D13-4438-80E2-D3F475FE5501}"/>
              </a:ext>
            </a:extLst>
          </p:cNvPr>
          <p:cNvSpPr txBox="1"/>
          <p:nvPr/>
        </p:nvSpPr>
        <p:spPr>
          <a:xfrm>
            <a:off x="92598" y="3850479"/>
            <a:ext cx="1107996" cy="369332"/>
          </a:xfrm>
          <a:prstGeom prst="rect">
            <a:avLst/>
          </a:prstGeom>
          <a:noFill/>
        </p:spPr>
        <p:txBody>
          <a:bodyPr wrap="none" rtlCol="0">
            <a:spAutoFit/>
          </a:bodyPr>
          <a:lstStyle/>
          <a:p>
            <a:r>
              <a:rPr lang="zh-CN" altLang="en-US" b="1" dirty="0">
                <a:latin typeface="Times New Roman" panose="02020603050405020304" pitchFamily="18" charset="0"/>
                <a:ea typeface="微软雅黑" panose="020B0503020204020204" pitchFamily="34" charset="-122"/>
              </a:rPr>
              <a:t>数字货币</a:t>
            </a:r>
          </a:p>
        </p:txBody>
      </p:sp>
      <p:pic>
        <p:nvPicPr>
          <p:cNvPr id="25" name="图片 24">
            <a:extLst>
              <a:ext uri="{FF2B5EF4-FFF2-40B4-BE49-F238E27FC236}">
                <a16:creationId xmlns:a16="http://schemas.microsoft.com/office/drawing/2014/main" id="{E7E902FC-6EAF-4185-81A5-AACE9B73E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4236" y="3647144"/>
            <a:ext cx="574676" cy="574676"/>
          </a:xfrm>
          <a:prstGeom prst="rect">
            <a:avLst/>
          </a:prstGeom>
        </p:spPr>
      </p:pic>
      <p:sp>
        <p:nvSpPr>
          <p:cNvPr id="26" name="文本框 25">
            <a:extLst>
              <a:ext uri="{FF2B5EF4-FFF2-40B4-BE49-F238E27FC236}">
                <a16:creationId xmlns:a16="http://schemas.microsoft.com/office/drawing/2014/main" id="{E2BADF6E-7CE6-4A48-92BC-7511AD6B66A6}"/>
              </a:ext>
            </a:extLst>
          </p:cNvPr>
          <p:cNvSpPr txBox="1"/>
          <p:nvPr/>
        </p:nvSpPr>
        <p:spPr>
          <a:xfrm>
            <a:off x="1238408" y="4134623"/>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央行</a:t>
            </a:r>
          </a:p>
        </p:txBody>
      </p:sp>
      <p:pic>
        <p:nvPicPr>
          <p:cNvPr id="27" name="图片 26">
            <a:extLst>
              <a:ext uri="{FF2B5EF4-FFF2-40B4-BE49-F238E27FC236}">
                <a16:creationId xmlns:a16="http://schemas.microsoft.com/office/drawing/2014/main" id="{53D65EE0-869D-49CE-A778-6EC3EC7E57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7073" y="3697859"/>
            <a:ext cx="473246" cy="473246"/>
          </a:xfrm>
          <a:prstGeom prst="rect">
            <a:avLst/>
          </a:prstGeom>
        </p:spPr>
      </p:pic>
      <p:sp>
        <p:nvSpPr>
          <p:cNvPr id="28" name="文本框 27">
            <a:extLst>
              <a:ext uri="{FF2B5EF4-FFF2-40B4-BE49-F238E27FC236}">
                <a16:creationId xmlns:a16="http://schemas.microsoft.com/office/drawing/2014/main" id="{6E0746FD-7041-45C2-A270-9DDA727AA0C0}"/>
              </a:ext>
            </a:extLst>
          </p:cNvPr>
          <p:cNvSpPr txBox="1"/>
          <p:nvPr/>
        </p:nvSpPr>
        <p:spPr>
          <a:xfrm>
            <a:off x="2459698" y="4094023"/>
            <a:ext cx="1107996"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数字货币</a:t>
            </a:r>
          </a:p>
        </p:txBody>
      </p:sp>
      <p:cxnSp>
        <p:nvCxnSpPr>
          <p:cNvPr id="29" name="直接箭头连接符 28">
            <a:extLst>
              <a:ext uri="{FF2B5EF4-FFF2-40B4-BE49-F238E27FC236}">
                <a16:creationId xmlns:a16="http://schemas.microsoft.com/office/drawing/2014/main" id="{086FF134-8CB2-401B-B9B3-E1F9F6BCB346}"/>
              </a:ext>
            </a:extLst>
          </p:cNvPr>
          <p:cNvCxnSpPr/>
          <p:nvPr/>
        </p:nvCxnSpPr>
        <p:spPr>
          <a:xfrm>
            <a:off x="1873719" y="3959024"/>
            <a:ext cx="853435"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5A9EBC0E-ACCC-4D74-8B52-FF488CEDCD64}"/>
              </a:ext>
            </a:extLst>
          </p:cNvPr>
          <p:cNvSpPr txBox="1"/>
          <p:nvPr/>
        </p:nvSpPr>
        <p:spPr>
          <a:xfrm>
            <a:off x="1968776" y="3606662"/>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发行</a:t>
            </a:r>
          </a:p>
        </p:txBody>
      </p:sp>
      <p:pic>
        <p:nvPicPr>
          <p:cNvPr id="31" name="图片 30">
            <a:extLst>
              <a:ext uri="{FF2B5EF4-FFF2-40B4-BE49-F238E27FC236}">
                <a16:creationId xmlns:a16="http://schemas.microsoft.com/office/drawing/2014/main" id="{AA1264AD-99AF-43F2-8A62-2951A9870A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4893" y="3699671"/>
            <a:ext cx="444803" cy="444803"/>
          </a:xfrm>
          <a:prstGeom prst="rect">
            <a:avLst/>
          </a:prstGeom>
        </p:spPr>
      </p:pic>
      <p:cxnSp>
        <p:nvCxnSpPr>
          <p:cNvPr id="32" name="直接箭头连接符 31">
            <a:extLst>
              <a:ext uri="{FF2B5EF4-FFF2-40B4-BE49-F238E27FC236}">
                <a16:creationId xmlns:a16="http://schemas.microsoft.com/office/drawing/2014/main" id="{885D15DB-5F6C-4C4A-A882-F6AD49422242}"/>
              </a:ext>
            </a:extLst>
          </p:cNvPr>
          <p:cNvCxnSpPr>
            <a:cxnSpLocks/>
            <a:endCxn id="31" idx="1"/>
          </p:cNvCxnSpPr>
          <p:nvPr/>
        </p:nvCxnSpPr>
        <p:spPr>
          <a:xfrm flipV="1">
            <a:off x="3302039" y="3922073"/>
            <a:ext cx="712854"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E8BC194-7E74-4465-8802-BDEEAC3B1BA7}"/>
              </a:ext>
            </a:extLst>
          </p:cNvPr>
          <p:cNvSpPr txBox="1"/>
          <p:nvPr/>
        </p:nvSpPr>
        <p:spPr>
          <a:xfrm>
            <a:off x="4073502" y="3394235"/>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pic>
        <p:nvPicPr>
          <p:cNvPr id="34" name="图片 33">
            <a:extLst>
              <a:ext uri="{FF2B5EF4-FFF2-40B4-BE49-F238E27FC236}">
                <a16:creationId xmlns:a16="http://schemas.microsoft.com/office/drawing/2014/main" id="{64570D80-8B96-4850-AF2C-5CAE6E0270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4225" y="3677188"/>
            <a:ext cx="508150" cy="508150"/>
          </a:xfrm>
          <a:prstGeom prst="rect">
            <a:avLst/>
          </a:prstGeom>
        </p:spPr>
      </p:pic>
      <p:pic>
        <p:nvPicPr>
          <p:cNvPr id="35" name="图片 34">
            <a:extLst>
              <a:ext uri="{FF2B5EF4-FFF2-40B4-BE49-F238E27FC236}">
                <a16:creationId xmlns:a16="http://schemas.microsoft.com/office/drawing/2014/main" id="{02A2B5F5-EAB9-40B8-A782-4C8E1AE1B0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4235" y="4246666"/>
            <a:ext cx="508140" cy="508140"/>
          </a:xfrm>
          <a:prstGeom prst="rect">
            <a:avLst/>
          </a:prstGeom>
        </p:spPr>
      </p:pic>
      <p:sp>
        <p:nvSpPr>
          <p:cNvPr id="36" name="文本框 35">
            <a:extLst>
              <a:ext uri="{FF2B5EF4-FFF2-40B4-BE49-F238E27FC236}">
                <a16:creationId xmlns:a16="http://schemas.microsoft.com/office/drawing/2014/main" id="{700F6296-1344-4807-9BC3-4A555045C01B}"/>
              </a:ext>
            </a:extLst>
          </p:cNvPr>
          <p:cNvSpPr txBox="1"/>
          <p:nvPr/>
        </p:nvSpPr>
        <p:spPr>
          <a:xfrm>
            <a:off x="4959023" y="3394235"/>
            <a:ext cx="338554"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37" name="文本框 36">
            <a:extLst>
              <a:ext uri="{FF2B5EF4-FFF2-40B4-BE49-F238E27FC236}">
                <a16:creationId xmlns:a16="http://schemas.microsoft.com/office/drawing/2014/main" id="{B1A247AE-A374-4016-848A-50423622629D}"/>
              </a:ext>
            </a:extLst>
          </p:cNvPr>
          <p:cNvSpPr txBox="1"/>
          <p:nvPr/>
        </p:nvSpPr>
        <p:spPr>
          <a:xfrm>
            <a:off x="4953192" y="4727555"/>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C</a:t>
            </a:r>
            <a:endParaRPr lang="zh-CN" altLang="en-US" dirty="0">
              <a:latin typeface="Times New Roman" panose="02020603050405020304" pitchFamily="18" charset="0"/>
              <a:ea typeface="微软雅黑" panose="020B0503020204020204" pitchFamily="34" charset="-122"/>
            </a:endParaRPr>
          </a:p>
        </p:txBody>
      </p:sp>
      <p:cxnSp>
        <p:nvCxnSpPr>
          <p:cNvPr id="38" name="直接箭头连接符 37">
            <a:extLst>
              <a:ext uri="{FF2B5EF4-FFF2-40B4-BE49-F238E27FC236}">
                <a16:creationId xmlns:a16="http://schemas.microsoft.com/office/drawing/2014/main" id="{6B14D515-AB6E-4EE3-8934-A2437B36915D}"/>
              </a:ext>
            </a:extLst>
          </p:cNvPr>
          <p:cNvCxnSpPr>
            <a:cxnSpLocks/>
          </p:cNvCxnSpPr>
          <p:nvPr/>
        </p:nvCxnSpPr>
        <p:spPr>
          <a:xfrm>
            <a:off x="4489994" y="3913977"/>
            <a:ext cx="422158" cy="0"/>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1886A13A-080E-4CED-BD99-65C65A89B194}"/>
              </a:ext>
            </a:extLst>
          </p:cNvPr>
          <p:cNvCxnSpPr>
            <a:cxnSpLocks/>
          </p:cNvCxnSpPr>
          <p:nvPr/>
        </p:nvCxnSpPr>
        <p:spPr>
          <a:xfrm>
            <a:off x="4489994" y="3913977"/>
            <a:ext cx="422168" cy="569473"/>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57CA24EA-AD98-4CFA-9EFC-C632A1078488}"/>
              </a:ext>
            </a:extLst>
          </p:cNvPr>
          <p:cNvSpPr txBox="1"/>
          <p:nvPr/>
        </p:nvSpPr>
        <p:spPr>
          <a:xfrm>
            <a:off x="4377908" y="3546375"/>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支付</a:t>
            </a:r>
          </a:p>
        </p:txBody>
      </p:sp>
      <p:pic>
        <p:nvPicPr>
          <p:cNvPr id="41" name="图片 40">
            <a:extLst>
              <a:ext uri="{FF2B5EF4-FFF2-40B4-BE49-F238E27FC236}">
                <a16:creationId xmlns:a16="http://schemas.microsoft.com/office/drawing/2014/main" id="{30E37DEF-40F4-42BC-B759-2729150368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84995" y="4147496"/>
            <a:ext cx="473246" cy="473246"/>
          </a:xfrm>
          <a:prstGeom prst="rect">
            <a:avLst/>
          </a:prstGeom>
        </p:spPr>
      </p:pic>
      <p:pic>
        <p:nvPicPr>
          <p:cNvPr id="42" name="图片 41">
            <a:extLst>
              <a:ext uri="{FF2B5EF4-FFF2-40B4-BE49-F238E27FC236}">
                <a16:creationId xmlns:a16="http://schemas.microsoft.com/office/drawing/2014/main" id="{722E4178-950D-4F18-8619-0270FD868E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73502" y="4206822"/>
            <a:ext cx="473246" cy="473246"/>
          </a:xfrm>
          <a:prstGeom prst="rect">
            <a:avLst/>
          </a:prstGeom>
        </p:spPr>
      </p:pic>
      <p:sp>
        <p:nvSpPr>
          <p:cNvPr id="43" name="文本框 42">
            <a:extLst>
              <a:ext uri="{FF2B5EF4-FFF2-40B4-BE49-F238E27FC236}">
                <a16:creationId xmlns:a16="http://schemas.microsoft.com/office/drawing/2014/main" id="{E1321766-5E67-4FA7-9C3F-451E846F52CD}"/>
              </a:ext>
            </a:extLst>
          </p:cNvPr>
          <p:cNvSpPr txBox="1"/>
          <p:nvPr/>
        </p:nvSpPr>
        <p:spPr>
          <a:xfrm>
            <a:off x="3681479" y="4669819"/>
            <a:ext cx="1107996" cy="369332"/>
          </a:xfrm>
          <a:prstGeom prst="rect">
            <a:avLst/>
          </a:prstGeom>
          <a:solidFill>
            <a:schemeClr val="accent4">
              <a:lumMod val="20000"/>
              <a:lumOff val="80000"/>
            </a:schemeClr>
          </a:solidFill>
          <a:ln w="19050">
            <a:solidFill>
              <a:srgbClr val="002060"/>
            </a:solidFill>
            <a:prstDash val="dash"/>
          </a:ln>
        </p:spPr>
        <p:txBody>
          <a:bodyPr wrap="none" rtlCol="0">
            <a:spAutoFit/>
          </a:bodyPr>
          <a:lstStyle/>
          <a:p>
            <a:r>
              <a:rPr lang="zh-CN" altLang="en-US" dirty="0">
                <a:solidFill>
                  <a:srgbClr val="002060"/>
                </a:solidFill>
                <a:latin typeface="Times New Roman" panose="02020603050405020304" pitchFamily="18" charset="0"/>
                <a:ea typeface="微软雅黑" panose="020B0503020204020204" pitchFamily="34" charset="-122"/>
              </a:rPr>
              <a:t>复制多份</a:t>
            </a:r>
          </a:p>
        </p:txBody>
      </p:sp>
      <p:sp>
        <p:nvSpPr>
          <p:cNvPr id="44" name="文本框 43">
            <a:extLst>
              <a:ext uri="{FF2B5EF4-FFF2-40B4-BE49-F238E27FC236}">
                <a16:creationId xmlns:a16="http://schemas.microsoft.com/office/drawing/2014/main" id="{7758FA4A-066B-4FBD-B904-7A72C0DB16CB}"/>
              </a:ext>
            </a:extLst>
          </p:cNvPr>
          <p:cNvSpPr txBox="1"/>
          <p:nvPr/>
        </p:nvSpPr>
        <p:spPr>
          <a:xfrm>
            <a:off x="2291941" y="5373693"/>
            <a:ext cx="1300421" cy="369332"/>
          </a:xfrm>
          <a:prstGeom prst="rect">
            <a:avLst/>
          </a:prstGeom>
          <a:noFill/>
          <a:ln w="19050">
            <a:solidFill>
              <a:srgbClr val="002060"/>
            </a:solidFill>
            <a:prstDash val="dash"/>
          </a:ln>
        </p:spPr>
        <p:txBody>
          <a:bodyPr wrap="none" rtlCol="0">
            <a:spAutoFit/>
          </a:bodyPr>
          <a:lstStyle/>
          <a:p>
            <a:r>
              <a:rPr lang="zh-CN" altLang="en-US" dirty="0">
                <a:latin typeface="Times New Roman" panose="02020603050405020304" pitchFamily="18" charset="0"/>
                <a:ea typeface="微软雅黑" panose="020B0503020204020204" pitchFamily="34" charset="-122"/>
              </a:rPr>
              <a:t>货币</a:t>
            </a:r>
            <a:r>
              <a:rPr lang="en-US" altLang="zh-CN" dirty="0">
                <a:latin typeface="Times New Roman" panose="02020603050405020304" pitchFamily="18" charset="0"/>
                <a:ea typeface="微软雅黑" panose="020B0503020204020204" pitchFamily="34" charset="-122"/>
              </a:rPr>
              <a:t>001: A</a:t>
            </a:r>
            <a:endParaRPr lang="zh-CN" altLang="en-US" dirty="0">
              <a:latin typeface="Times New Roman" panose="02020603050405020304" pitchFamily="18" charset="0"/>
              <a:ea typeface="微软雅黑" panose="020B0503020204020204" pitchFamily="34" charset="-122"/>
            </a:endParaRPr>
          </a:p>
        </p:txBody>
      </p:sp>
      <p:pic>
        <p:nvPicPr>
          <p:cNvPr id="45" name="图片 44">
            <a:extLst>
              <a:ext uri="{FF2B5EF4-FFF2-40B4-BE49-F238E27FC236}">
                <a16:creationId xmlns:a16="http://schemas.microsoft.com/office/drawing/2014/main" id="{7D866A7D-CEEA-480B-8494-520EF572B5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409" y="5271021"/>
            <a:ext cx="574676" cy="574676"/>
          </a:xfrm>
          <a:prstGeom prst="rect">
            <a:avLst/>
          </a:prstGeom>
        </p:spPr>
      </p:pic>
      <p:sp>
        <p:nvSpPr>
          <p:cNvPr id="46" name="文本框 45">
            <a:extLst>
              <a:ext uri="{FF2B5EF4-FFF2-40B4-BE49-F238E27FC236}">
                <a16:creationId xmlns:a16="http://schemas.microsoft.com/office/drawing/2014/main" id="{F4BBDF57-FA0A-43DB-BCDB-F478A84B302F}"/>
              </a:ext>
            </a:extLst>
          </p:cNvPr>
          <p:cNvSpPr txBox="1"/>
          <p:nvPr/>
        </p:nvSpPr>
        <p:spPr>
          <a:xfrm>
            <a:off x="1202581" y="5758500"/>
            <a:ext cx="646331"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央行</a:t>
            </a:r>
          </a:p>
        </p:txBody>
      </p:sp>
      <p:sp>
        <p:nvSpPr>
          <p:cNvPr id="47" name="文本框 46">
            <a:extLst>
              <a:ext uri="{FF2B5EF4-FFF2-40B4-BE49-F238E27FC236}">
                <a16:creationId xmlns:a16="http://schemas.microsoft.com/office/drawing/2014/main" id="{F35FD59B-54A4-4D4D-943C-D59FE5F955C1}"/>
              </a:ext>
            </a:extLst>
          </p:cNvPr>
          <p:cNvSpPr txBox="1"/>
          <p:nvPr/>
        </p:nvSpPr>
        <p:spPr>
          <a:xfrm>
            <a:off x="76671" y="4916063"/>
            <a:ext cx="1107996" cy="1477328"/>
          </a:xfrm>
          <a:prstGeom prst="rect">
            <a:avLst/>
          </a:prstGeom>
          <a:solidFill>
            <a:schemeClr val="accent4">
              <a:lumMod val="20000"/>
              <a:lumOff val="80000"/>
            </a:schemeClr>
          </a:solidFill>
          <a:ln w="19050">
            <a:solidFill>
              <a:srgbClr val="002060"/>
            </a:solidFill>
            <a:prstDash val="dash"/>
          </a:ln>
        </p:spPr>
        <p:txBody>
          <a:bodyPr wrap="square" rtlCol="0">
            <a:spAutoFit/>
          </a:bodyPr>
          <a:lstStyle/>
          <a:p>
            <a:r>
              <a:rPr lang="zh-CN" altLang="en-US" dirty="0">
                <a:solidFill>
                  <a:srgbClr val="002060"/>
                </a:solidFill>
                <a:latin typeface="Times New Roman" panose="02020603050405020304" pitchFamily="18" charset="0"/>
                <a:ea typeface="微软雅黑" panose="020B0503020204020204" pitchFamily="34" charset="-122"/>
              </a:rPr>
              <a:t>央行需要维护一个数字货币与人的关系</a:t>
            </a:r>
          </a:p>
        </p:txBody>
      </p:sp>
      <p:cxnSp>
        <p:nvCxnSpPr>
          <p:cNvPr id="48" name="直接连接符 47">
            <a:extLst>
              <a:ext uri="{FF2B5EF4-FFF2-40B4-BE49-F238E27FC236}">
                <a16:creationId xmlns:a16="http://schemas.microsoft.com/office/drawing/2014/main" id="{CB3FD673-31A4-45B6-83CE-F447EE37AA33}"/>
              </a:ext>
            </a:extLst>
          </p:cNvPr>
          <p:cNvCxnSpPr>
            <a:stCxn id="45" idx="3"/>
            <a:endCxn id="44" idx="1"/>
          </p:cNvCxnSpPr>
          <p:nvPr/>
        </p:nvCxnSpPr>
        <p:spPr>
          <a:xfrm>
            <a:off x="1813085" y="5558359"/>
            <a:ext cx="47885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C07EE3E-9434-4437-916B-43D48CEEE998}"/>
              </a:ext>
            </a:extLst>
          </p:cNvPr>
          <p:cNvSpPr txBox="1"/>
          <p:nvPr/>
        </p:nvSpPr>
        <p:spPr>
          <a:xfrm>
            <a:off x="4302981" y="5373693"/>
            <a:ext cx="1313180" cy="369332"/>
          </a:xfrm>
          <a:prstGeom prst="rect">
            <a:avLst/>
          </a:prstGeom>
          <a:noFill/>
          <a:ln w="19050">
            <a:solidFill>
              <a:srgbClr val="002060"/>
            </a:solidFill>
            <a:prstDash val="dash"/>
          </a:ln>
        </p:spPr>
        <p:txBody>
          <a:bodyPr wrap="none" rtlCol="0">
            <a:spAutoFit/>
          </a:bodyPr>
          <a:lstStyle/>
          <a:p>
            <a:r>
              <a:rPr lang="zh-CN" altLang="en-US" dirty="0">
                <a:latin typeface="Times New Roman" panose="02020603050405020304" pitchFamily="18" charset="0"/>
                <a:ea typeface="微软雅黑" panose="020B0503020204020204" pitchFamily="34" charset="-122"/>
              </a:rPr>
              <a:t>货币</a:t>
            </a:r>
            <a:r>
              <a:rPr lang="en-US" altLang="zh-CN" dirty="0">
                <a:latin typeface="Times New Roman" panose="02020603050405020304" pitchFamily="18" charset="0"/>
                <a:ea typeface="微软雅黑" panose="020B0503020204020204" pitchFamily="34" charset="-122"/>
              </a:rPr>
              <a:t>001: B</a:t>
            </a:r>
            <a:endParaRPr lang="zh-CN" altLang="en-US" dirty="0">
              <a:latin typeface="Times New Roman" panose="02020603050405020304" pitchFamily="18" charset="0"/>
              <a:ea typeface="微软雅黑" panose="020B0503020204020204" pitchFamily="34" charset="-122"/>
            </a:endParaRPr>
          </a:p>
        </p:txBody>
      </p:sp>
      <p:cxnSp>
        <p:nvCxnSpPr>
          <p:cNvPr id="50" name="直接连接符 49">
            <a:extLst>
              <a:ext uri="{FF2B5EF4-FFF2-40B4-BE49-F238E27FC236}">
                <a16:creationId xmlns:a16="http://schemas.microsoft.com/office/drawing/2014/main" id="{F26331E2-D69B-4CDD-9203-4C6D0F7FD52A}"/>
              </a:ext>
            </a:extLst>
          </p:cNvPr>
          <p:cNvCxnSpPr>
            <a:cxnSpLocks/>
            <a:stCxn id="44" idx="3"/>
            <a:endCxn id="49" idx="1"/>
          </p:cNvCxnSpPr>
          <p:nvPr/>
        </p:nvCxnSpPr>
        <p:spPr>
          <a:xfrm>
            <a:off x="3592362" y="5558359"/>
            <a:ext cx="710619"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8E6C2366-9005-4986-9D37-6D152A3195F3}"/>
              </a:ext>
            </a:extLst>
          </p:cNvPr>
          <p:cNvCxnSpPr>
            <a:endCxn id="44" idx="0"/>
          </p:cNvCxnSpPr>
          <p:nvPr/>
        </p:nvCxnSpPr>
        <p:spPr>
          <a:xfrm flipH="1">
            <a:off x="2942152" y="3913977"/>
            <a:ext cx="714516" cy="1459716"/>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4A182F97-ABC5-4284-BDDC-325D7856406B}"/>
              </a:ext>
            </a:extLst>
          </p:cNvPr>
          <p:cNvCxnSpPr>
            <a:cxnSpLocks/>
            <a:stCxn id="40" idx="2"/>
            <a:endCxn id="49" idx="0"/>
          </p:cNvCxnSpPr>
          <p:nvPr/>
        </p:nvCxnSpPr>
        <p:spPr>
          <a:xfrm>
            <a:off x="4701074" y="3915707"/>
            <a:ext cx="258497" cy="1457986"/>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D0FBEE2D-6F6C-4E37-83FF-ED803FB12C37}"/>
              </a:ext>
            </a:extLst>
          </p:cNvPr>
          <p:cNvCxnSpPr>
            <a:stCxn id="35" idx="3"/>
            <a:endCxn id="49" idx="3"/>
          </p:cNvCxnSpPr>
          <p:nvPr/>
        </p:nvCxnSpPr>
        <p:spPr>
          <a:xfrm>
            <a:off x="5382375" y="4500736"/>
            <a:ext cx="233786" cy="1057623"/>
          </a:xfrm>
          <a:prstGeom prst="bentConnector3">
            <a:avLst>
              <a:gd name="adj1" fmla="val 197782"/>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9AB3E5A1-F2C6-44D7-BDD9-1DE2C0190042}"/>
              </a:ext>
            </a:extLst>
          </p:cNvPr>
          <p:cNvSpPr txBox="1"/>
          <p:nvPr/>
        </p:nvSpPr>
        <p:spPr>
          <a:xfrm>
            <a:off x="3656668" y="6017715"/>
            <a:ext cx="2294739" cy="646331"/>
          </a:xfrm>
          <a:prstGeom prst="rect">
            <a:avLst/>
          </a:prstGeom>
          <a:solidFill>
            <a:schemeClr val="accent4">
              <a:lumMod val="20000"/>
              <a:lumOff val="80000"/>
            </a:schemeClr>
          </a:solidFill>
          <a:ln w="19050">
            <a:solidFill>
              <a:srgbClr val="002060"/>
            </a:solidFill>
            <a:prstDash val="dash"/>
          </a:ln>
        </p:spPr>
        <p:txBody>
          <a:bodyPr wrap="square" rtlCol="0">
            <a:spAutoFit/>
          </a:bodyPr>
          <a:lstStyle/>
          <a:p>
            <a:r>
              <a:rPr lang="en-US" altLang="zh-CN" dirty="0">
                <a:solidFill>
                  <a:srgbClr val="002060"/>
                </a:solidFill>
                <a:latin typeface="Times New Roman" panose="02020603050405020304" pitchFamily="18" charset="0"/>
                <a:ea typeface="微软雅黑" panose="020B0503020204020204" pitchFamily="34" charset="-122"/>
              </a:rPr>
              <a:t>C</a:t>
            </a:r>
            <a:r>
              <a:rPr lang="zh-CN" altLang="en-US" dirty="0">
                <a:solidFill>
                  <a:srgbClr val="002060"/>
                </a:solidFill>
                <a:latin typeface="Times New Roman" panose="02020603050405020304" pitchFamily="18" charset="0"/>
                <a:ea typeface="微软雅黑" panose="020B0503020204020204" pitchFamily="34" charset="-122"/>
              </a:rPr>
              <a:t>查询货币</a:t>
            </a:r>
            <a:r>
              <a:rPr lang="en-US" altLang="zh-CN" dirty="0">
                <a:solidFill>
                  <a:srgbClr val="002060"/>
                </a:solidFill>
                <a:latin typeface="Times New Roman" panose="02020603050405020304" pitchFamily="18" charset="0"/>
                <a:ea typeface="微软雅黑" panose="020B0503020204020204" pitchFamily="34" charset="-122"/>
              </a:rPr>
              <a:t>001</a:t>
            </a:r>
            <a:r>
              <a:rPr lang="zh-CN" altLang="en-US" dirty="0">
                <a:solidFill>
                  <a:srgbClr val="002060"/>
                </a:solidFill>
                <a:latin typeface="Times New Roman" panose="02020603050405020304" pitchFamily="18" charset="0"/>
                <a:ea typeface="微软雅黑" panose="020B0503020204020204" pitchFamily="34" charset="-122"/>
              </a:rPr>
              <a:t>属于</a:t>
            </a:r>
            <a:r>
              <a:rPr lang="en-US" altLang="zh-CN" dirty="0">
                <a:solidFill>
                  <a:srgbClr val="002060"/>
                </a:solidFill>
                <a:latin typeface="Times New Roman" panose="02020603050405020304" pitchFamily="18" charset="0"/>
                <a:ea typeface="微软雅黑" panose="020B0503020204020204" pitchFamily="34" charset="-122"/>
              </a:rPr>
              <a:t>B</a:t>
            </a:r>
            <a:r>
              <a:rPr lang="zh-CN" altLang="en-US" dirty="0">
                <a:solidFill>
                  <a:srgbClr val="002060"/>
                </a:solidFill>
                <a:latin typeface="Times New Roman" panose="02020603050405020304" pitchFamily="18" charset="0"/>
                <a:ea typeface="微软雅黑" panose="020B0503020204020204" pitchFamily="34" charset="-122"/>
              </a:rPr>
              <a:t>，</a:t>
            </a:r>
            <a:r>
              <a:rPr lang="en-US" altLang="zh-CN" dirty="0">
                <a:solidFill>
                  <a:srgbClr val="002060"/>
                </a:solidFill>
                <a:latin typeface="Times New Roman" panose="02020603050405020304" pitchFamily="18" charset="0"/>
                <a:ea typeface="微软雅黑" panose="020B0503020204020204" pitchFamily="34" charset="-122"/>
              </a:rPr>
              <a:t>A</a:t>
            </a:r>
            <a:r>
              <a:rPr lang="zh-CN" altLang="en-US" dirty="0">
                <a:solidFill>
                  <a:srgbClr val="002060"/>
                </a:solidFill>
                <a:latin typeface="Times New Roman" panose="02020603050405020304" pitchFamily="18" charset="0"/>
                <a:ea typeface="微软雅黑" panose="020B0503020204020204" pitchFamily="34" charset="-122"/>
              </a:rPr>
              <a:t>再支付无效。</a:t>
            </a:r>
          </a:p>
        </p:txBody>
      </p:sp>
      <p:cxnSp>
        <p:nvCxnSpPr>
          <p:cNvPr id="55" name="直接连接符 54">
            <a:extLst>
              <a:ext uri="{FF2B5EF4-FFF2-40B4-BE49-F238E27FC236}">
                <a16:creationId xmlns:a16="http://schemas.microsoft.com/office/drawing/2014/main" id="{FA43D709-33A8-4DC8-8165-79E0F12C7827}"/>
              </a:ext>
            </a:extLst>
          </p:cNvPr>
          <p:cNvCxnSpPr>
            <a:stCxn id="49" idx="2"/>
            <a:endCxn id="54" idx="0"/>
          </p:cNvCxnSpPr>
          <p:nvPr/>
        </p:nvCxnSpPr>
        <p:spPr>
          <a:xfrm flipH="1">
            <a:off x="4804038" y="5743025"/>
            <a:ext cx="155533" cy="274690"/>
          </a:xfrm>
          <a:prstGeom prst="line">
            <a:avLst/>
          </a:prstGeom>
          <a:ln w="12700">
            <a:solidFill>
              <a:srgbClr val="EE1A1A"/>
            </a:solidFill>
          </a:ln>
        </p:spPr>
        <p:style>
          <a:lnRef idx="1">
            <a:schemeClr val="accent1"/>
          </a:lnRef>
          <a:fillRef idx="0">
            <a:schemeClr val="accent1"/>
          </a:fillRef>
          <a:effectRef idx="0">
            <a:schemeClr val="accent1"/>
          </a:effectRef>
          <a:fontRef idx="minor">
            <a:schemeClr val="tx1"/>
          </a:fontRef>
        </p:style>
      </p:cxnSp>
      <p:sp>
        <p:nvSpPr>
          <p:cNvPr id="56" name="箭头: 右 55">
            <a:extLst>
              <a:ext uri="{FF2B5EF4-FFF2-40B4-BE49-F238E27FC236}">
                <a16:creationId xmlns:a16="http://schemas.microsoft.com/office/drawing/2014/main" id="{550A954F-BC2F-4431-B954-B24469B9C7FE}"/>
              </a:ext>
            </a:extLst>
          </p:cNvPr>
          <p:cNvSpPr/>
          <p:nvPr/>
        </p:nvSpPr>
        <p:spPr>
          <a:xfrm>
            <a:off x="5919984" y="3763567"/>
            <a:ext cx="355125" cy="64633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endParaRPr>
          </a:p>
        </p:txBody>
      </p:sp>
      <p:sp>
        <p:nvSpPr>
          <p:cNvPr id="57" name="文本框 56">
            <a:extLst>
              <a:ext uri="{FF2B5EF4-FFF2-40B4-BE49-F238E27FC236}">
                <a16:creationId xmlns:a16="http://schemas.microsoft.com/office/drawing/2014/main" id="{A4C416D7-78E5-400E-9B17-F6CFBCF0F9DC}"/>
              </a:ext>
            </a:extLst>
          </p:cNvPr>
          <p:cNvSpPr txBox="1"/>
          <p:nvPr/>
        </p:nvSpPr>
        <p:spPr>
          <a:xfrm>
            <a:off x="6407084" y="1448299"/>
            <a:ext cx="5493812" cy="369332"/>
          </a:xfrm>
          <a:prstGeom prst="rect">
            <a:avLst/>
          </a:prstGeom>
          <a:noFill/>
        </p:spPr>
        <p:txBody>
          <a:bodyPr wrap="none" rtlCol="0">
            <a:spAutoFit/>
          </a:bodyPr>
          <a:lstStyle/>
          <a:p>
            <a:r>
              <a:rPr lang="zh-CN" altLang="en-US" b="1" dirty="0">
                <a:solidFill>
                  <a:srgbClr val="5B307E"/>
                </a:solidFill>
                <a:latin typeface="Times New Roman" panose="02020603050405020304" pitchFamily="18" charset="0"/>
                <a:ea typeface="微软雅黑" panose="020B0503020204020204" pitchFamily="34" charset="-122"/>
              </a:rPr>
              <a:t>缺点：</a:t>
            </a:r>
            <a:r>
              <a:rPr lang="zh-CN" altLang="en-US" dirty="0">
                <a:latin typeface="Times New Roman" panose="02020603050405020304" pitchFamily="18" charset="0"/>
                <a:ea typeface="微软雅黑" panose="020B0503020204020204" pitchFamily="34" charset="-122"/>
              </a:rPr>
              <a:t>每笔交易都需要经过央行确认，更新关系表。</a:t>
            </a:r>
          </a:p>
        </p:txBody>
      </p:sp>
      <p:sp>
        <p:nvSpPr>
          <p:cNvPr id="58" name="文本框 57">
            <a:extLst>
              <a:ext uri="{FF2B5EF4-FFF2-40B4-BE49-F238E27FC236}">
                <a16:creationId xmlns:a16="http://schemas.microsoft.com/office/drawing/2014/main" id="{50A0A75C-1BB0-4C02-932A-EAE6A225139B}"/>
              </a:ext>
            </a:extLst>
          </p:cNvPr>
          <p:cNvSpPr txBox="1"/>
          <p:nvPr/>
        </p:nvSpPr>
        <p:spPr>
          <a:xfrm>
            <a:off x="6249798" y="1914151"/>
            <a:ext cx="1107996" cy="369332"/>
          </a:xfrm>
          <a:prstGeom prst="rect">
            <a:avLst/>
          </a:prstGeom>
          <a:noFill/>
        </p:spPr>
        <p:txBody>
          <a:bodyPr wrap="none" rtlCol="0">
            <a:spAutoFit/>
          </a:bodyPr>
          <a:lstStyle/>
          <a:p>
            <a:r>
              <a:rPr lang="zh-CN" altLang="en-US" b="1" dirty="0">
                <a:latin typeface="Times New Roman" panose="02020603050405020304" pitchFamily="18" charset="0"/>
                <a:ea typeface="微软雅黑" panose="020B0503020204020204" pitchFamily="34" charset="-122"/>
              </a:rPr>
              <a:t>比特币：</a:t>
            </a:r>
          </a:p>
        </p:txBody>
      </p:sp>
      <p:sp>
        <p:nvSpPr>
          <p:cNvPr id="59" name="矩形 58">
            <a:extLst>
              <a:ext uri="{FF2B5EF4-FFF2-40B4-BE49-F238E27FC236}">
                <a16:creationId xmlns:a16="http://schemas.microsoft.com/office/drawing/2014/main" id="{E5EF77FA-29A9-4A2E-9850-A640E27D9FD8}"/>
              </a:ext>
            </a:extLst>
          </p:cNvPr>
          <p:cNvSpPr/>
          <p:nvPr/>
        </p:nvSpPr>
        <p:spPr>
          <a:xfrm>
            <a:off x="6737164" y="2326472"/>
            <a:ext cx="1763326" cy="9432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60" name="文本框 59">
            <a:extLst>
              <a:ext uri="{FF2B5EF4-FFF2-40B4-BE49-F238E27FC236}">
                <a16:creationId xmlns:a16="http://schemas.microsoft.com/office/drawing/2014/main" id="{E1791663-AC7E-49B6-BA4F-BBFDA7E253BA}"/>
              </a:ext>
            </a:extLst>
          </p:cNvPr>
          <p:cNvSpPr txBox="1"/>
          <p:nvPr/>
        </p:nvSpPr>
        <p:spPr>
          <a:xfrm>
            <a:off x="6710279" y="2328681"/>
            <a:ext cx="1783315" cy="369332"/>
          </a:xfrm>
          <a:prstGeom prst="rect">
            <a:avLst/>
          </a:prstGeom>
          <a:noFill/>
        </p:spPr>
        <p:txBody>
          <a:bodyPr wrap="square" rtlCol="0">
            <a:spAutoFit/>
          </a:bodyPr>
          <a:lstStyle/>
          <a:p>
            <a:r>
              <a:rPr lang="en-US" altLang="zh-CN" b="1" dirty="0">
                <a:solidFill>
                  <a:srgbClr val="EE1A1A"/>
                </a:solidFill>
                <a:latin typeface="Times New Roman" panose="02020603050405020304" pitchFamily="18" charset="0"/>
                <a:ea typeface="微软雅黑" panose="020B0503020204020204" pitchFamily="34" charset="-122"/>
              </a:rPr>
              <a:t>Coinbase</a:t>
            </a:r>
            <a:r>
              <a:rPr lang="en-US" altLang="zh-CN" dirty="0">
                <a:latin typeface="Times New Roman" panose="02020603050405020304" pitchFamily="18" charset="0"/>
                <a:ea typeface="微软雅黑" panose="020B0503020204020204" pitchFamily="34" charset="-122"/>
              </a:rPr>
              <a:t> Tx</a:t>
            </a:r>
            <a:endParaRPr lang="zh-CN" altLang="en-US" dirty="0">
              <a:latin typeface="Times New Roman" panose="02020603050405020304" pitchFamily="18" charset="0"/>
              <a:ea typeface="微软雅黑" panose="020B0503020204020204" pitchFamily="34" charset="-122"/>
            </a:endParaRPr>
          </a:p>
        </p:txBody>
      </p:sp>
      <p:sp>
        <p:nvSpPr>
          <p:cNvPr id="61" name="文本框 60">
            <a:extLst>
              <a:ext uri="{FF2B5EF4-FFF2-40B4-BE49-F238E27FC236}">
                <a16:creationId xmlns:a16="http://schemas.microsoft.com/office/drawing/2014/main" id="{3A0E368D-85D5-46F0-859B-26DEEA2B1EA1}"/>
              </a:ext>
            </a:extLst>
          </p:cNvPr>
          <p:cNvSpPr txBox="1"/>
          <p:nvPr/>
        </p:nvSpPr>
        <p:spPr>
          <a:xfrm>
            <a:off x="8184419" y="2805748"/>
            <a:ext cx="306657"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sp>
        <p:nvSpPr>
          <p:cNvPr id="62" name="文本框 61">
            <a:extLst>
              <a:ext uri="{FF2B5EF4-FFF2-40B4-BE49-F238E27FC236}">
                <a16:creationId xmlns:a16="http://schemas.microsoft.com/office/drawing/2014/main" id="{CD02E15A-6C7B-4B7D-9E51-66BC41F1C1A4}"/>
              </a:ext>
            </a:extLst>
          </p:cNvPr>
          <p:cNvSpPr txBox="1"/>
          <p:nvPr/>
        </p:nvSpPr>
        <p:spPr>
          <a:xfrm>
            <a:off x="7103757" y="2805748"/>
            <a:ext cx="951099"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10 BTC</a:t>
            </a:r>
            <a:endParaRPr lang="zh-CN" altLang="en-US" dirty="0">
              <a:latin typeface="Times New Roman" panose="02020603050405020304" pitchFamily="18" charset="0"/>
              <a:ea typeface="微软雅黑" panose="020B0503020204020204" pitchFamily="34" charset="-122"/>
            </a:endParaRPr>
          </a:p>
        </p:txBody>
      </p:sp>
      <p:cxnSp>
        <p:nvCxnSpPr>
          <p:cNvPr id="63" name="直接箭头连接符 62">
            <a:extLst>
              <a:ext uri="{FF2B5EF4-FFF2-40B4-BE49-F238E27FC236}">
                <a16:creationId xmlns:a16="http://schemas.microsoft.com/office/drawing/2014/main" id="{F382D64A-00D4-4BDB-A40F-42542615D154}"/>
              </a:ext>
            </a:extLst>
          </p:cNvPr>
          <p:cNvCxnSpPr>
            <a:cxnSpLocks/>
            <a:endCxn id="61" idx="1"/>
          </p:cNvCxnSpPr>
          <p:nvPr/>
        </p:nvCxnSpPr>
        <p:spPr>
          <a:xfrm>
            <a:off x="7959606" y="2990414"/>
            <a:ext cx="224813" cy="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64" name="矩形 63">
            <a:extLst>
              <a:ext uri="{FF2B5EF4-FFF2-40B4-BE49-F238E27FC236}">
                <a16:creationId xmlns:a16="http://schemas.microsoft.com/office/drawing/2014/main" id="{3F33B259-CC66-4139-8132-0A346F781CA1}"/>
              </a:ext>
            </a:extLst>
          </p:cNvPr>
          <p:cNvSpPr/>
          <p:nvPr/>
        </p:nvSpPr>
        <p:spPr>
          <a:xfrm>
            <a:off x="8721044" y="2326471"/>
            <a:ext cx="1595519" cy="9432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65" name="文本框 64">
            <a:extLst>
              <a:ext uri="{FF2B5EF4-FFF2-40B4-BE49-F238E27FC236}">
                <a16:creationId xmlns:a16="http://schemas.microsoft.com/office/drawing/2014/main" id="{7B4A708C-12BE-425E-AF28-01DA43C9F071}"/>
              </a:ext>
            </a:extLst>
          </p:cNvPr>
          <p:cNvSpPr txBox="1"/>
          <p:nvPr/>
        </p:nvSpPr>
        <p:spPr>
          <a:xfrm>
            <a:off x="8721043" y="2342577"/>
            <a:ext cx="791289"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Tx</a:t>
            </a:r>
            <a:r>
              <a:rPr lang="zh-CN" altLang="en-US" dirty="0">
                <a:latin typeface="Times New Roman" panose="02020603050405020304" pitchFamily="18" charset="0"/>
                <a:ea typeface="微软雅黑" panose="020B0503020204020204" pitchFamily="34" charset="-122"/>
              </a:rPr>
              <a:t>：</a:t>
            </a:r>
          </a:p>
        </p:txBody>
      </p:sp>
      <p:pic>
        <p:nvPicPr>
          <p:cNvPr id="66" name="图片 65">
            <a:extLst>
              <a:ext uri="{FF2B5EF4-FFF2-40B4-BE49-F238E27FC236}">
                <a16:creationId xmlns:a16="http://schemas.microsoft.com/office/drawing/2014/main" id="{B93481A8-5D74-4561-81B0-F7EC45AF97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72776" y="2778550"/>
            <a:ext cx="456418" cy="456418"/>
          </a:xfrm>
          <a:prstGeom prst="rect">
            <a:avLst/>
          </a:prstGeom>
        </p:spPr>
      </p:pic>
      <p:sp>
        <p:nvSpPr>
          <p:cNvPr id="67" name="文本框 66">
            <a:extLst>
              <a:ext uri="{FF2B5EF4-FFF2-40B4-BE49-F238E27FC236}">
                <a16:creationId xmlns:a16="http://schemas.microsoft.com/office/drawing/2014/main" id="{E86DDDEA-E1F0-4141-86AF-2AC8EB1046C9}"/>
              </a:ext>
            </a:extLst>
          </p:cNvPr>
          <p:cNvSpPr txBox="1"/>
          <p:nvPr/>
        </p:nvSpPr>
        <p:spPr>
          <a:xfrm>
            <a:off x="9169703" y="2818241"/>
            <a:ext cx="922047"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10 BTC</a:t>
            </a:r>
            <a:endParaRPr lang="zh-CN" altLang="en-US" dirty="0">
              <a:latin typeface="Times New Roman" panose="02020603050405020304" pitchFamily="18" charset="0"/>
              <a:ea typeface="微软雅黑" panose="020B0503020204020204" pitchFamily="34" charset="-122"/>
            </a:endParaRPr>
          </a:p>
        </p:txBody>
      </p:sp>
      <p:sp>
        <p:nvSpPr>
          <p:cNvPr id="68" name="文本框 67">
            <a:extLst>
              <a:ext uri="{FF2B5EF4-FFF2-40B4-BE49-F238E27FC236}">
                <a16:creationId xmlns:a16="http://schemas.microsoft.com/office/drawing/2014/main" id="{23D9327A-EC4F-4BD4-886E-9EAB2DC25E08}"/>
              </a:ext>
            </a:extLst>
          </p:cNvPr>
          <p:cNvSpPr txBox="1"/>
          <p:nvPr/>
        </p:nvSpPr>
        <p:spPr>
          <a:xfrm>
            <a:off x="9343056" y="2326175"/>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cxnSp>
        <p:nvCxnSpPr>
          <p:cNvPr id="69" name="直接箭头连接符 68">
            <a:extLst>
              <a:ext uri="{FF2B5EF4-FFF2-40B4-BE49-F238E27FC236}">
                <a16:creationId xmlns:a16="http://schemas.microsoft.com/office/drawing/2014/main" id="{3DB7B2E9-A365-4868-98E7-C0D635BB1831}"/>
              </a:ext>
            </a:extLst>
          </p:cNvPr>
          <p:cNvCxnSpPr/>
          <p:nvPr/>
        </p:nvCxnSpPr>
        <p:spPr>
          <a:xfrm>
            <a:off x="9653168" y="2510841"/>
            <a:ext cx="208981" cy="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84F64252-4C6E-4873-9029-7822C5F17323}"/>
              </a:ext>
            </a:extLst>
          </p:cNvPr>
          <p:cNvSpPr txBox="1"/>
          <p:nvPr/>
        </p:nvSpPr>
        <p:spPr>
          <a:xfrm>
            <a:off x="9873012" y="2317774"/>
            <a:ext cx="338554"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cxnSp>
        <p:nvCxnSpPr>
          <p:cNvPr id="71" name="连接符: 肘形 70">
            <a:extLst>
              <a:ext uri="{FF2B5EF4-FFF2-40B4-BE49-F238E27FC236}">
                <a16:creationId xmlns:a16="http://schemas.microsoft.com/office/drawing/2014/main" id="{4B609B86-5692-4DDF-AA1A-1E7387CFB0D9}"/>
              </a:ext>
            </a:extLst>
          </p:cNvPr>
          <p:cNvCxnSpPr>
            <a:cxnSpLocks/>
            <a:stCxn id="65" idx="0"/>
            <a:endCxn id="59" idx="0"/>
          </p:cNvCxnSpPr>
          <p:nvPr/>
        </p:nvCxnSpPr>
        <p:spPr>
          <a:xfrm rot="16200000" flipV="1">
            <a:off x="8359706" y="1585594"/>
            <a:ext cx="16105" cy="1497861"/>
          </a:xfrm>
          <a:prstGeom prst="bentConnector3">
            <a:avLst>
              <a:gd name="adj1" fmla="val 1519435"/>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F8904AF4-B41C-4953-8DF5-62B3CE9E7734}"/>
              </a:ext>
            </a:extLst>
          </p:cNvPr>
          <p:cNvSpPr txBox="1"/>
          <p:nvPr/>
        </p:nvSpPr>
        <p:spPr>
          <a:xfrm>
            <a:off x="7651506" y="1787530"/>
            <a:ext cx="1415772" cy="338554"/>
          </a:xfrm>
          <a:prstGeom prst="rect">
            <a:avLst/>
          </a:prstGeom>
          <a:noFill/>
        </p:spPr>
        <p:txBody>
          <a:bodyPr wrap="none" rtlCol="0">
            <a:spAutoFit/>
          </a:bodyPr>
          <a:lstStyle/>
          <a:p>
            <a:r>
              <a:rPr lang="zh-CN" altLang="en-US" sz="1600" dirty="0">
                <a:latin typeface="Times New Roman" panose="02020603050405020304" pitchFamily="18" charset="0"/>
                <a:ea typeface="微软雅黑" panose="020B0503020204020204" pitchFamily="34" charset="-122"/>
              </a:rPr>
              <a:t>说明币的来源</a:t>
            </a:r>
          </a:p>
        </p:txBody>
      </p:sp>
      <p:sp>
        <p:nvSpPr>
          <p:cNvPr id="73" name="矩形 72">
            <a:extLst>
              <a:ext uri="{FF2B5EF4-FFF2-40B4-BE49-F238E27FC236}">
                <a16:creationId xmlns:a16="http://schemas.microsoft.com/office/drawing/2014/main" id="{0D17CA73-724E-4C19-854D-639D08FEC969}"/>
              </a:ext>
            </a:extLst>
          </p:cNvPr>
          <p:cNvSpPr/>
          <p:nvPr/>
        </p:nvSpPr>
        <p:spPr>
          <a:xfrm>
            <a:off x="6730268" y="3277100"/>
            <a:ext cx="1763326" cy="816924"/>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rPr>
              <a:t>Output: Hash(A.pub)</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74" name="矩形 73">
            <a:extLst>
              <a:ext uri="{FF2B5EF4-FFF2-40B4-BE49-F238E27FC236}">
                <a16:creationId xmlns:a16="http://schemas.microsoft.com/office/drawing/2014/main" id="{E8C29338-54F3-4147-B730-708B44F9F3B9}"/>
              </a:ext>
            </a:extLst>
          </p:cNvPr>
          <p:cNvSpPr/>
          <p:nvPr/>
        </p:nvSpPr>
        <p:spPr>
          <a:xfrm>
            <a:off x="8721043" y="3265583"/>
            <a:ext cx="1595519" cy="512951"/>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rPr>
              <a:t>Input: A</a:t>
            </a:r>
            <a:r>
              <a:rPr lang="zh-CN" altLang="en-US" dirty="0">
                <a:solidFill>
                  <a:schemeClr val="tx1"/>
                </a:solidFill>
                <a:latin typeface="Times New Roman" panose="02020603050405020304" pitchFamily="18" charset="0"/>
                <a:ea typeface="微软雅黑" panose="020B0503020204020204" pitchFamily="34" charset="-122"/>
              </a:rPr>
              <a:t>签名</a:t>
            </a:r>
          </a:p>
        </p:txBody>
      </p:sp>
      <p:sp>
        <p:nvSpPr>
          <p:cNvPr id="75" name="矩形 74">
            <a:extLst>
              <a:ext uri="{FF2B5EF4-FFF2-40B4-BE49-F238E27FC236}">
                <a16:creationId xmlns:a16="http://schemas.microsoft.com/office/drawing/2014/main" id="{72D6D0BD-6861-46B4-B69D-6476D10F37E0}"/>
              </a:ext>
            </a:extLst>
          </p:cNvPr>
          <p:cNvSpPr/>
          <p:nvPr/>
        </p:nvSpPr>
        <p:spPr>
          <a:xfrm>
            <a:off x="8721043" y="3779288"/>
            <a:ext cx="1595519" cy="704162"/>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rPr>
              <a:t>Output: Hash(B.pub)</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76" name="矩形 75">
            <a:extLst>
              <a:ext uri="{FF2B5EF4-FFF2-40B4-BE49-F238E27FC236}">
                <a16:creationId xmlns:a16="http://schemas.microsoft.com/office/drawing/2014/main" id="{2866BDBF-BAE0-4625-AB36-E5542662713E}"/>
              </a:ext>
            </a:extLst>
          </p:cNvPr>
          <p:cNvSpPr/>
          <p:nvPr/>
        </p:nvSpPr>
        <p:spPr>
          <a:xfrm>
            <a:off x="6763873" y="4916063"/>
            <a:ext cx="1595519" cy="9432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77" name="文本框 76">
            <a:extLst>
              <a:ext uri="{FF2B5EF4-FFF2-40B4-BE49-F238E27FC236}">
                <a16:creationId xmlns:a16="http://schemas.microsoft.com/office/drawing/2014/main" id="{B8D87546-7BDB-404E-BE92-8C93C359F942}"/>
              </a:ext>
            </a:extLst>
          </p:cNvPr>
          <p:cNvSpPr txBox="1"/>
          <p:nvPr/>
        </p:nvSpPr>
        <p:spPr>
          <a:xfrm>
            <a:off x="6763872" y="4932169"/>
            <a:ext cx="791289"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Tx</a:t>
            </a:r>
            <a:r>
              <a:rPr lang="zh-CN" altLang="en-US" dirty="0">
                <a:latin typeface="Times New Roman" panose="02020603050405020304" pitchFamily="18" charset="0"/>
                <a:ea typeface="微软雅黑" panose="020B0503020204020204" pitchFamily="34" charset="-122"/>
              </a:rPr>
              <a:t>：</a:t>
            </a:r>
          </a:p>
        </p:txBody>
      </p:sp>
      <p:pic>
        <p:nvPicPr>
          <p:cNvPr id="78" name="图片 77">
            <a:extLst>
              <a:ext uri="{FF2B5EF4-FFF2-40B4-BE49-F238E27FC236}">
                <a16:creationId xmlns:a16="http://schemas.microsoft.com/office/drawing/2014/main" id="{6AC0FC66-3904-4082-8976-309E4316653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15605" y="5368142"/>
            <a:ext cx="456418" cy="456418"/>
          </a:xfrm>
          <a:prstGeom prst="rect">
            <a:avLst/>
          </a:prstGeom>
        </p:spPr>
      </p:pic>
      <p:sp>
        <p:nvSpPr>
          <p:cNvPr id="79" name="文本框 78">
            <a:extLst>
              <a:ext uri="{FF2B5EF4-FFF2-40B4-BE49-F238E27FC236}">
                <a16:creationId xmlns:a16="http://schemas.microsoft.com/office/drawing/2014/main" id="{D40DAE0E-33C3-4879-A90F-22E5DEA1D1E1}"/>
              </a:ext>
            </a:extLst>
          </p:cNvPr>
          <p:cNvSpPr txBox="1"/>
          <p:nvPr/>
        </p:nvSpPr>
        <p:spPr>
          <a:xfrm>
            <a:off x="7212532" y="5407833"/>
            <a:ext cx="922047"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10 BTC</a:t>
            </a:r>
            <a:endParaRPr lang="zh-CN" altLang="en-US" dirty="0">
              <a:latin typeface="Times New Roman" panose="02020603050405020304" pitchFamily="18" charset="0"/>
              <a:ea typeface="微软雅黑" panose="020B0503020204020204" pitchFamily="34" charset="-122"/>
            </a:endParaRPr>
          </a:p>
        </p:txBody>
      </p:sp>
      <p:sp>
        <p:nvSpPr>
          <p:cNvPr id="80" name="文本框 79">
            <a:extLst>
              <a:ext uri="{FF2B5EF4-FFF2-40B4-BE49-F238E27FC236}">
                <a16:creationId xmlns:a16="http://schemas.microsoft.com/office/drawing/2014/main" id="{F9BDEAA1-8342-43DE-BA0E-76919DFE0CC5}"/>
              </a:ext>
            </a:extLst>
          </p:cNvPr>
          <p:cNvSpPr txBox="1"/>
          <p:nvPr/>
        </p:nvSpPr>
        <p:spPr>
          <a:xfrm>
            <a:off x="7385885" y="4915767"/>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cxnSp>
        <p:nvCxnSpPr>
          <p:cNvPr id="81" name="直接箭头连接符 80">
            <a:extLst>
              <a:ext uri="{FF2B5EF4-FFF2-40B4-BE49-F238E27FC236}">
                <a16:creationId xmlns:a16="http://schemas.microsoft.com/office/drawing/2014/main" id="{D93D3B4A-418F-43F4-83FE-B5DBFBCC0F46}"/>
              </a:ext>
            </a:extLst>
          </p:cNvPr>
          <p:cNvCxnSpPr/>
          <p:nvPr/>
        </p:nvCxnSpPr>
        <p:spPr>
          <a:xfrm>
            <a:off x="7695997" y="5100433"/>
            <a:ext cx="208981" cy="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B2C74598-ACC3-4A2C-B57C-7032C0C71C84}"/>
              </a:ext>
            </a:extLst>
          </p:cNvPr>
          <p:cNvSpPr txBox="1"/>
          <p:nvPr/>
        </p:nvSpPr>
        <p:spPr>
          <a:xfrm>
            <a:off x="7915841" y="4907366"/>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C</a:t>
            </a:r>
            <a:endParaRPr lang="zh-CN" altLang="en-US" dirty="0">
              <a:latin typeface="Times New Roman" panose="02020603050405020304" pitchFamily="18" charset="0"/>
              <a:ea typeface="微软雅黑" panose="020B0503020204020204" pitchFamily="34" charset="-122"/>
            </a:endParaRPr>
          </a:p>
        </p:txBody>
      </p:sp>
      <p:sp>
        <p:nvSpPr>
          <p:cNvPr id="83" name="矩形 82">
            <a:extLst>
              <a:ext uri="{FF2B5EF4-FFF2-40B4-BE49-F238E27FC236}">
                <a16:creationId xmlns:a16="http://schemas.microsoft.com/office/drawing/2014/main" id="{0F05843B-7D46-44BC-BA64-16585A478EAB}"/>
              </a:ext>
            </a:extLst>
          </p:cNvPr>
          <p:cNvSpPr/>
          <p:nvPr/>
        </p:nvSpPr>
        <p:spPr>
          <a:xfrm>
            <a:off x="9205485" y="5208000"/>
            <a:ext cx="2506741" cy="369332"/>
          </a:xfrm>
          <a:prstGeom prst="rect">
            <a:avLst/>
          </a:prstGeom>
          <a:solidFill>
            <a:schemeClr val="accent3">
              <a:lumMod val="20000"/>
              <a:lumOff val="80000"/>
            </a:schemeClr>
          </a:solidFill>
          <a:ln w="19050">
            <a:solidFill>
              <a:srgbClr val="002060"/>
            </a:solidFill>
            <a:prstDash val="dash"/>
          </a:ln>
        </p:spPr>
        <p:txBody>
          <a:bodyPr wrap="square">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怎么知道</a:t>
            </a:r>
            <a:r>
              <a:rPr kumimoji="1" lang="en-US" altLang="zh-CN" dirty="0">
                <a:solidFill>
                  <a:srgbClr val="002060"/>
                </a:solidFill>
                <a:latin typeface="Times New Roman" panose="02020603050405020304" pitchFamily="18" charset="0"/>
                <a:ea typeface="微软雅黑" panose="020B0503020204020204" pitchFamily="34" charset="-122"/>
              </a:rPr>
              <a:t>A</a:t>
            </a:r>
            <a:r>
              <a:rPr kumimoji="1" lang="zh-CN" altLang="en-US" dirty="0">
                <a:solidFill>
                  <a:srgbClr val="002060"/>
                </a:solidFill>
                <a:latin typeface="Times New Roman" panose="02020603050405020304" pitchFamily="18" charset="0"/>
                <a:ea typeface="微软雅黑" panose="020B0503020204020204" pitchFamily="34" charset="-122"/>
              </a:rPr>
              <a:t>没有双花？</a:t>
            </a:r>
            <a:endParaRPr lang="zh-CN" altLang="en-US" dirty="0">
              <a:latin typeface="Times New Roman" panose="02020603050405020304" pitchFamily="18" charset="0"/>
              <a:ea typeface="微软雅黑" panose="020B0503020204020204" pitchFamily="34" charset="-122"/>
            </a:endParaRPr>
          </a:p>
        </p:txBody>
      </p:sp>
      <p:pic>
        <p:nvPicPr>
          <p:cNvPr id="84" name="图片 83">
            <a:extLst>
              <a:ext uri="{FF2B5EF4-FFF2-40B4-BE49-F238E27FC236}">
                <a16:creationId xmlns:a16="http://schemas.microsoft.com/office/drawing/2014/main" id="{6DE73990-249F-451C-A712-D6B8A13CB0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02245" y="5064982"/>
            <a:ext cx="601662" cy="601662"/>
          </a:xfrm>
          <a:prstGeom prst="rect">
            <a:avLst/>
          </a:prstGeom>
        </p:spPr>
      </p:pic>
      <p:cxnSp>
        <p:nvCxnSpPr>
          <p:cNvPr id="85" name="连接符: 肘形 84">
            <a:extLst>
              <a:ext uri="{FF2B5EF4-FFF2-40B4-BE49-F238E27FC236}">
                <a16:creationId xmlns:a16="http://schemas.microsoft.com/office/drawing/2014/main" id="{D8ACA6B7-89A5-4202-B2F8-10DB77D237FB}"/>
              </a:ext>
            </a:extLst>
          </p:cNvPr>
          <p:cNvCxnSpPr>
            <a:cxnSpLocks/>
            <a:stCxn id="76" idx="1"/>
            <a:endCxn id="59" idx="1"/>
          </p:cNvCxnSpPr>
          <p:nvPr/>
        </p:nvCxnSpPr>
        <p:spPr>
          <a:xfrm rot="10800000">
            <a:off x="6737165" y="2798085"/>
            <a:ext cx="26709" cy="2589591"/>
          </a:xfrm>
          <a:prstGeom prst="bentConnector3">
            <a:avLst>
              <a:gd name="adj1" fmla="val 955891"/>
            </a:avLst>
          </a:prstGeom>
          <a:ln w="1905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6C405522-A428-4B8C-8E72-CE8D8DFA9459}"/>
              </a:ext>
            </a:extLst>
          </p:cNvPr>
          <p:cNvSpPr txBox="1"/>
          <p:nvPr/>
        </p:nvSpPr>
        <p:spPr>
          <a:xfrm>
            <a:off x="6661018" y="6071486"/>
            <a:ext cx="4737194"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遍历区块链，查看</a:t>
            </a:r>
            <a:r>
              <a:rPr lang="en-US" altLang="zh-CN" dirty="0">
                <a:latin typeface="Times New Roman" panose="02020603050405020304" pitchFamily="18" charset="0"/>
                <a:ea typeface="微软雅黑" panose="020B0503020204020204" pitchFamily="34" charset="-122"/>
              </a:rPr>
              <a:t>Coinbase</a:t>
            </a:r>
            <a:r>
              <a:rPr lang="zh-CN" altLang="en-US" dirty="0">
                <a:latin typeface="Times New Roman" panose="02020603050405020304" pitchFamily="18" charset="0"/>
                <a:ea typeface="微软雅黑" panose="020B0503020204020204" pitchFamily="34" charset="-122"/>
              </a:rPr>
              <a:t>交易有没有花出去</a:t>
            </a:r>
          </a:p>
        </p:txBody>
      </p:sp>
      <p:cxnSp>
        <p:nvCxnSpPr>
          <p:cNvPr id="87" name="直接箭头连接符 86">
            <a:extLst>
              <a:ext uri="{FF2B5EF4-FFF2-40B4-BE49-F238E27FC236}">
                <a16:creationId xmlns:a16="http://schemas.microsoft.com/office/drawing/2014/main" id="{234512CA-589B-4C99-A68C-E2D8AEE747B6}"/>
              </a:ext>
            </a:extLst>
          </p:cNvPr>
          <p:cNvCxnSpPr>
            <a:cxnSpLocks/>
            <a:stCxn id="74" idx="1"/>
            <a:endCxn id="73" idx="3"/>
          </p:cNvCxnSpPr>
          <p:nvPr/>
        </p:nvCxnSpPr>
        <p:spPr>
          <a:xfrm flipH="1">
            <a:off x="8493594" y="3522059"/>
            <a:ext cx="227449" cy="16350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8" name="图片 87">
            <a:extLst>
              <a:ext uri="{FF2B5EF4-FFF2-40B4-BE49-F238E27FC236}">
                <a16:creationId xmlns:a16="http://schemas.microsoft.com/office/drawing/2014/main" id="{D20CC9CB-BFCB-420B-BB82-396F6B1D41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51480" y="2762205"/>
            <a:ext cx="456418" cy="456418"/>
          </a:xfrm>
          <a:prstGeom prst="rect">
            <a:avLst/>
          </a:prstGeom>
        </p:spPr>
      </p:pic>
      <p:sp>
        <p:nvSpPr>
          <p:cNvPr id="89" name="矩形 88">
            <a:extLst>
              <a:ext uri="{FF2B5EF4-FFF2-40B4-BE49-F238E27FC236}">
                <a16:creationId xmlns:a16="http://schemas.microsoft.com/office/drawing/2014/main" id="{51EB4C74-5DF9-4FF4-8029-8856AFDFFB1F}"/>
              </a:ext>
            </a:extLst>
          </p:cNvPr>
          <p:cNvSpPr/>
          <p:nvPr/>
        </p:nvSpPr>
        <p:spPr>
          <a:xfrm>
            <a:off x="10560258" y="2317774"/>
            <a:ext cx="1595519" cy="9432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90" name="文本框 89">
            <a:extLst>
              <a:ext uri="{FF2B5EF4-FFF2-40B4-BE49-F238E27FC236}">
                <a16:creationId xmlns:a16="http://schemas.microsoft.com/office/drawing/2014/main" id="{0EFE74C7-C5FF-4602-86B6-FA0F81614707}"/>
              </a:ext>
            </a:extLst>
          </p:cNvPr>
          <p:cNvSpPr txBox="1"/>
          <p:nvPr/>
        </p:nvSpPr>
        <p:spPr>
          <a:xfrm>
            <a:off x="10560257" y="2333880"/>
            <a:ext cx="791289"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Tx</a:t>
            </a:r>
            <a:r>
              <a:rPr lang="zh-CN" altLang="en-US" dirty="0">
                <a:latin typeface="Times New Roman" panose="02020603050405020304" pitchFamily="18" charset="0"/>
                <a:ea typeface="微软雅黑" panose="020B0503020204020204" pitchFamily="34" charset="-122"/>
              </a:rPr>
              <a:t>：</a:t>
            </a:r>
          </a:p>
        </p:txBody>
      </p:sp>
      <p:pic>
        <p:nvPicPr>
          <p:cNvPr id="91" name="图片 90">
            <a:extLst>
              <a:ext uri="{FF2B5EF4-FFF2-40B4-BE49-F238E27FC236}">
                <a16:creationId xmlns:a16="http://schemas.microsoft.com/office/drawing/2014/main" id="{02DC4A45-A792-45C1-AB77-EFD81FC6DF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11990" y="2769853"/>
            <a:ext cx="456418" cy="456418"/>
          </a:xfrm>
          <a:prstGeom prst="rect">
            <a:avLst/>
          </a:prstGeom>
        </p:spPr>
      </p:pic>
      <p:sp>
        <p:nvSpPr>
          <p:cNvPr id="92" name="文本框 91">
            <a:extLst>
              <a:ext uri="{FF2B5EF4-FFF2-40B4-BE49-F238E27FC236}">
                <a16:creationId xmlns:a16="http://schemas.microsoft.com/office/drawing/2014/main" id="{BC3DBA27-AB48-4752-A917-F3D99310330F}"/>
              </a:ext>
            </a:extLst>
          </p:cNvPr>
          <p:cNvSpPr txBox="1"/>
          <p:nvPr/>
        </p:nvSpPr>
        <p:spPr>
          <a:xfrm>
            <a:off x="11008917" y="2809544"/>
            <a:ext cx="922047"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10 BTC</a:t>
            </a:r>
            <a:endParaRPr lang="zh-CN" altLang="en-US" dirty="0">
              <a:latin typeface="Times New Roman" panose="02020603050405020304" pitchFamily="18" charset="0"/>
              <a:ea typeface="微软雅黑" panose="020B0503020204020204" pitchFamily="34" charset="-122"/>
            </a:endParaRPr>
          </a:p>
        </p:txBody>
      </p:sp>
      <p:sp>
        <p:nvSpPr>
          <p:cNvPr id="93" name="文本框 92">
            <a:extLst>
              <a:ext uri="{FF2B5EF4-FFF2-40B4-BE49-F238E27FC236}">
                <a16:creationId xmlns:a16="http://schemas.microsoft.com/office/drawing/2014/main" id="{6AA43C48-19AF-4237-A72A-7E12431AAA12}"/>
              </a:ext>
            </a:extLst>
          </p:cNvPr>
          <p:cNvSpPr txBox="1"/>
          <p:nvPr/>
        </p:nvSpPr>
        <p:spPr>
          <a:xfrm>
            <a:off x="11182270" y="2317478"/>
            <a:ext cx="351378"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cxnSp>
        <p:nvCxnSpPr>
          <p:cNvPr id="94" name="直接箭头连接符 93">
            <a:extLst>
              <a:ext uri="{FF2B5EF4-FFF2-40B4-BE49-F238E27FC236}">
                <a16:creationId xmlns:a16="http://schemas.microsoft.com/office/drawing/2014/main" id="{B97EBFD4-66E9-45CA-BCD5-3A44A2616C1D}"/>
              </a:ext>
            </a:extLst>
          </p:cNvPr>
          <p:cNvCxnSpPr/>
          <p:nvPr/>
        </p:nvCxnSpPr>
        <p:spPr>
          <a:xfrm>
            <a:off x="11492382" y="2502144"/>
            <a:ext cx="208981" cy="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B3945DFA-1FBA-4839-854B-C6A03B005297}"/>
              </a:ext>
            </a:extLst>
          </p:cNvPr>
          <p:cNvSpPr txBox="1"/>
          <p:nvPr/>
        </p:nvSpPr>
        <p:spPr>
          <a:xfrm>
            <a:off x="11712226" y="2309077"/>
            <a:ext cx="338554"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C</a:t>
            </a:r>
            <a:endParaRPr lang="zh-CN" altLang="en-US" dirty="0">
              <a:latin typeface="Times New Roman" panose="02020603050405020304" pitchFamily="18" charset="0"/>
              <a:ea typeface="微软雅黑" panose="020B0503020204020204" pitchFamily="34" charset="-122"/>
            </a:endParaRPr>
          </a:p>
        </p:txBody>
      </p:sp>
      <p:sp>
        <p:nvSpPr>
          <p:cNvPr id="96" name="矩形 95">
            <a:extLst>
              <a:ext uri="{FF2B5EF4-FFF2-40B4-BE49-F238E27FC236}">
                <a16:creationId xmlns:a16="http://schemas.microsoft.com/office/drawing/2014/main" id="{F0495981-5B28-479D-A1F7-E4CD4E445D11}"/>
              </a:ext>
            </a:extLst>
          </p:cNvPr>
          <p:cNvSpPr/>
          <p:nvPr/>
        </p:nvSpPr>
        <p:spPr>
          <a:xfrm>
            <a:off x="10560257" y="3265583"/>
            <a:ext cx="1595519" cy="512951"/>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rPr>
              <a:t>Input: B</a:t>
            </a:r>
            <a:r>
              <a:rPr lang="zh-CN" altLang="en-US" dirty="0">
                <a:solidFill>
                  <a:schemeClr val="tx1"/>
                </a:solidFill>
                <a:latin typeface="Times New Roman" panose="02020603050405020304" pitchFamily="18" charset="0"/>
                <a:ea typeface="微软雅黑" panose="020B0503020204020204" pitchFamily="34" charset="-122"/>
              </a:rPr>
              <a:t>签名</a:t>
            </a:r>
          </a:p>
        </p:txBody>
      </p:sp>
      <p:sp>
        <p:nvSpPr>
          <p:cNvPr id="97" name="矩形 96">
            <a:extLst>
              <a:ext uri="{FF2B5EF4-FFF2-40B4-BE49-F238E27FC236}">
                <a16:creationId xmlns:a16="http://schemas.microsoft.com/office/drawing/2014/main" id="{C4BA65FB-C1D1-4ED4-8AE1-C3C54F46D6A3}"/>
              </a:ext>
            </a:extLst>
          </p:cNvPr>
          <p:cNvSpPr/>
          <p:nvPr/>
        </p:nvSpPr>
        <p:spPr>
          <a:xfrm>
            <a:off x="10560257" y="3779288"/>
            <a:ext cx="1595519" cy="704162"/>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rPr>
              <a:t>Output: Hash(C.pub)</a:t>
            </a:r>
            <a:endParaRPr lang="zh-CN" altLang="en-US" dirty="0">
              <a:solidFill>
                <a:schemeClr val="tx1"/>
              </a:solidFill>
              <a:latin typeface="Times New Roman" panose="02020603050405020304" pitchFamily="18" charset="0"/>
              <a:ea typeface="微软雅黑" panose="020B0503020204020204" pitchFamily="34" charset="-122"/>
            </a:endParaRPr>
          </a:p>
        </p:txBody>
      </p:sp>
      <p:cxnSp>
        <p:nvCxnSpPr>
          <p:cNvPr id="98" name="连接符: 肘形 97">
            <a:extLst>
              <a:ext uri="{FF2B5EF4-FFF2-40B4-BE49-F238E27FC236}">
                <a16:creationId xmlns:a16="http://schemas.microsoft.com/office/drawing/2014/main" id="{FB6B285A-9897-4DED-BDBE-9B7A3E78AEC5}"/>
              </a:ext>
            </a:extLst>
          </p:cNvPr>
          <p:cNvCxnSpPr>
            <a:cxnSpLocks/>
            <a:stCxn id="90" idx="0"/>
            <a:endCxn id="68" idx="0"/>
          </p:cNvCxnSpPr>
          <p:nvPr/>
        </p:nvCxnSpPr>
        <p:spPr>
          <a:xfrm rot="16200000" flipV="1">
            <a:off x="10233472" y="1611449"/>
            <a:ext cx="7705" cy="1437157"/>
          </a:xfrm>
          <a:prstGeom prst="bentConnector3">
            <a:avLst>
              <a:gd name="adj1" fmla="val 3066905"/>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D9F94ABE-0C58-43EF-85D2-04324FF96A01}"/>
              </a:ext>
            </a:extLst>
          </p:cNvPr>
          <p:cNvCxnSpPr>
            <a:stCxn id="96" idx="1"/>
            <a:endCxn id="75" idx="3"/>
          </p:cNvCxnSpPr>
          <p:nvPr/>
        </p:nvCxnSpPr>
        <p:spPr>
          <a:xfrm flipH="1">
            <a:off x="10316562" y="3522059"/>
            <a:ext cx="243695" cy="6093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725AF5CB-9D14-4506-9D05-98DA07F30CE6}"/>
              </a:ext>
            </a:extLst>
          </p:cNvPr>
          <p:cNvSpPr txBox="1"/>
          <p:nvPr/>
        </p:nvSpPr>
        <p:spPr>
          <a:xfrm>
            <a:off x="7000071" y="4471393"/>
            <a:ext cx="1107996" cy="369332"/>
          </a:xfrm>
          <a:prstGeom prst="rect">
            <a:avLst/>
          </a:prstGeom>
          <a:solidFill>
            <a:schemeClr val="accent4">
              <a:lumMod val="20000"/>
              <a:lumOff val="80000"/>
            </a:schemeClr>
          </a:solidFill>
          <a:ln w="19050">
            <a:solidFill>
              <a:srgbClr val="002060"/>
            </a:solidFill>
            <a:prstDash val="dash"/>
          </a:ln>
        </p:spPr>
        <p:txBody>
          <a:bodyPr wrap="none" rtlCol="0">
            <a:spAutoFit/>
          </a:bodyPr>
          <a:lstStyle/>
          <a:p>
            <a:r>
              <a:rPr lang="zh-CN" altLang="en-US" dirty="0">
                <a:solidFill>
                  <a:srgbClr val="002060"/>
                </a:solidFill>
                <a:latin typeface="Times New Roman" panose="02020603050405020304" pitchFamily="18" charset="0"/>
                <a:ea typeface="微软雅黑" panose="020B0503020204020204" pitchFamily="34" charset="-122"/>
              </a:rPr>
              <a:t>双花交易</a:t>
            </a:r>
          </a:p>
        </p:txBody>
      </p:sp>
    </p:spTree>
    <p:extLst>
      <p:ext uri="{BB962C8B-B14F-4D97-AF65-F5344CB8AC3E}">
        <p14:creationId xmlns:p14="http://schemas.microsoft.com/office/powerpoint/2010/main" val="224521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5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9"/>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5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57"/>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5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5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6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2"/>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63"/>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3"/>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88"/>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6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66"/>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6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68"/>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6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70"/>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74"/>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75"/>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71"/>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72"/>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89"/>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90"/>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91"/>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92"/>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93"/>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94"/>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95"/>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96"/>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97"/>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98"/>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87"/>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99"/>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nodeType="clickEffect">
                                  <p:stCondLst>
                                    <p:cond delay="0"/>
                                  </p:stCondLst>
                                  <p:childTnLst>
                                    <p:set>
                                      <p:cBhvr>
                                        <p:cTn id="220" dur="1" fill="hold">
                                          <p:stCondLst>
                                            <p:cond delay="0"/>
                                          </p:stCondLst>
                                        </p:cTn>
                                        <p:tgtEl>
                                          <p:spTgt spid="85"/>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76"/>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00"/>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77"/>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78"/>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79"/>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80"/>
                                        </p:tgtEl>
                                        <p:attrNameLst>
                                          <p:attrName>style.visibility</p:attrName>
                                        </p:attrNameLst>
                                      </p:cBhvr>
                                      <p:to>
                                        <p:strVal val="visible"/>
                                      </p:to>
                                    </p:set>
                                  </p:childTnLst>
                                </p:cTn>
                              </p:par>
                              <p:par>
                                <p:cTn id="235" presetID="1" presetClass="entr" presetSubtype="0" fill="hold" nodeType="withEffect">
                                  <p:stCondLst>
                                    <p:cond delay="0"/>
                                  </p:stCondLst>
                                  <p:childTnLst>
                                    <p:set>
                                      <p:cBhvr>
                                        <p:cTn id="236" dur="1" fill="hold">
                                          <p:stCondLst>
                                            <p:cond delay="0"/>
                                          </p:stCondLst>
                                        </p:cTn>
                                        <p:tgtEl>
                                          <p:spTgt spid="81"/>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84"/>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83"/>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grpId="0" nodeType="clickEffect">
                                  <p:stCondLst>
                                    <p:cond delay="0"/>
                                  </p:stCondLst>
                                  <p:childTnLst>
                                    <p:set>
                                      <p:cBhvr>
                                        <p:cTn id="248"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1" grpId="0"/>
      <p:bldP spid="18" grpId="0"/>
      <p:bldP spid="19" grpId="0"/>
      <p:bldP spid="20" grpId="0"/>
      <p:bldP spid="21" grpId="0"/>
      <p:bldP spid="22" grpId="0"/>
      <p:bldP spid="23" grpId="0" animBg="1"/>
      <p:bldP spid="24" grpId="0"/>
      <p:bldP spid="26" grpId="0"/>
      <p:bldP spid="28" grpId="0"/>
      <p:bldP spid="30" grpId="0"/>
      <p:bldP spid="33" grpId="0"/>
      <p:bldP spid="36" grpId="0"/>
      <p:bldP spid="37" grpId="0"/>
      <p:bldP spid="40" grpId="0"/>
      <p:bldP spid="43" grpId="0" animBg="1"/>
      <p:bldP spid="44" grpId="0" animBg="1"/>
      <p:bldP spid="46" grpId="0"/>
      <p:bldP spid="47" grpId="0" animBg="1"/>
      <p:bldP spid="49" grpId="0" animBg="1"/>
      <p:bldP spid="54" grpId="0" animBg="1"/>
      <p:bldP spid="56" grpId="0" animBg="1"/>
      <p:bldP spid="57" grpId="0"/>
      <p:bldP spid="58" grpId="0"/>
      <p:bldP spid="59" grpId="0" animBg="1"/>
      <p:bldP spid="60" grpId="0"/>
      <p:bldP spid="61" grpId="0"/>
      <p:bldP spid="62" grpId="0"/>
      <p:bldP spid="64" grpId="0" animBg="1"/>
      <p:bldP spid="65" grpId="0"/>
      <p:bldP spid="67" grpId="0"/>
      <p:bldP spid="68" grpId="0"/>
      <p:bldP spid="70" grpId="0"/>
      <p:bldP spid="72" grpId="0"/>
      <p:bldP spid="73" grpId="0" animBg="1"/>
      <p:bldP spid="74" grpId="0" animBg="1"/>
      <p:bldP spid="75" grpId="0" animBg="1"/>
      <p:bldP spid="76" grpId="0" animBg="1"/>
      <p:bldP spid="77" grpId="0"/>
      <p:bldP spid="79" grpId="0"/>
      <p:bldP spid="80" grpId="0"/>
      <p:bldP spid="82" grpId="0"/>
      <p:bldP spid="83" grpId="0" animBg="1"/>
      <p:bldP spid="86" grpId="0"/>
      <p:bldP spid="89" grpId="0" animBg="1"/>
      <p:bldP spid="90" grpId="0"/>
      <p:bldP spid="92" grpId="0"/>
      <p:bldP spid="93" grpId="0"/>
      <p:bldP spid="95" grpId="0"/>
      <p:bldP spid="96" grpId="0" animBg="1"/>
      <p:bldP spid="97" grpId="0" animBg="1"/>
      <p:bldP spid="10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9FCB50-82D0-41A6-AE7F-A05705C749AC}"/>
              </a:ext>
            </a:extLst>
          </p:cNvPr>
          <p:cNvSpPr>
            <a:spLocks noGrp="1"/>
          </p:cNvSpPr>
          <p:nvPr>
            <p:ph type="title"/>
          </p:nvPr>
        </p:nvSpPr>
        <p:spPr/>
        <p:txBody>
          <a:bodyPr/>
          <a:lstStyle/>
          <a:p>
            <a:r>
              <a:rPr lang="en-US" altLang="zh-CN" dirty="0"/>
              <a:t>UTXO</a:t>
            </a:r>
            <a:endParaRPr lang="zh-CN" altLang="en-US" dirty="0"/>
          </a:p>
        </p:txBody>
      </p:sp>
      <p:sp>
        <p:nvSpPr>
          <p:cNvPr id="4" name="灯片编号占位符 3">
            <a:extLst>
              <a:ext uri="{FF2B5EF4-FFF2-40B4-BE49-F238E27FC236}">
                <a16:creationId xmlns:a16="http://schemas.microsoft.com/office/drawing/2014/main" id="{8809DB88-33ED-40F5-97E7-41EC4927331D}"/>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5" name="文本占位符 3">
            <a:extLst>
              <a:ext uri="{FF2B5EF4-FFF2-40B4-BE49-F238E27FC236}">
                <a16:creationId xmlns:a16="http://schemas.microsoft.com/office/drawing/2014/main" id="{283B282B-0336-4D40-99B7-9B1C46C06B3F}"/>
              </a:ext>
            </a:extLst>
          </p:cNvPr>
          <p:cNvSpPr txBox="1">
            <a:spLocks/>
          </p:cNvSpPr>
          <p:nvPr/>
        </p:nvSpPr>
        <p:spPr>
          <a:xfrm>
            <a:off x="92598" y="1400916"/>
            <a:ext cx="5462628" cy="574675"/>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交易驱动的账本</a:t>
            </a:r>
          </a:p>
        </p:txBody>
      </p:sp>
      <p:sp>
        <p:nvSpPr>
          <p:cNvPr id="6" name="矩形 5">
            <a:extLst>
              <a:ext uri="{FF2B5EF4-FFF2-40B4-BE49-F238E27FC236}">
                <a16:creationId xmlns:a16="http://schemas.microsoft.com/office/drawing/2014/main" id="{DACC74E4-005D-45AC-85CB-9DBB0D922906}"/>
              </a:ext>
            </a:extLst>
          </p:cNvPr>
          <p:cNvSpPr/>
          <p:nvPr/>
        </p:nvSpPr>
        <p:spPr>
          <a:xfrm>
            <a:off x="695838" y="1957435"/>
            <a:ext cx="2506741" cy="369332"/>
          </a:xfrm>
          <a:prstGeom prst="rect">
            <a:avLst/>
          </a:prstGeom>
          <a:solidFill>
            <a:schemeClr val="accent3">
              <a:lumMod val="20000"/>
              <a:lumOff val="80000"/>
            </a:schemeClr>
          </a:solidFill>
          <a:ln w="19050">
            <a:solidFill>
              <a:srgbClr val="002060"/>
            </a:solidFill>
            <a:prstDash val="dash"/>
          </a:ln>
        </p:spPr>
        <p:txBody>
          <a:bodyPr wrap="square">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怎么知道</a:t>
            </a:r>
            <a:r>
              <a:rPr kumimoji="1" lang="en-US" altLang="zh-CN" dirty="0">
                <a:solidFill>
                  <a:srgbClr val="002060"/>
                </a:solidFill>
                <a:latin typeface="Times New Roman" panose="02020603050405020304" pitchFamily="18" charset="0"/>
                <a:ea typeface="微软雅黑" panose="020B0503020204020204" pitchFamily="34" charset="-122"/>
              </a:rPr>
              <a:t>A</a:t>
            </a:r>
            <a:r>
              <a:rPr kumimoji="1" lang="zh-CN" altLang="en-US" dirty="0">
                <a:solidFill>
                  <a:srgbClr val="002060"/>
                </a:solidFill>
                <a:latin typeface="Times New Roman" panose="02020603050405020304" pitchFamily="18" charset="0"/>
                <a:ea typeface="微软雅黑" panose="020B0503020204020204" pitchFamily="34" charset="-122"/>
              </a:rPr>
              <a:t>有没有双花</a:t>
            </a:r>
            <a:endParaRPr lang="zh-CN" altLang="en-US" dirty="0">
              <a:latin typeface="Times New Roman" panose="02020603050405020304" pitchFamily="18" charset="0"/>
              <a:ea typeface="微软雅黑" panose="020B0503020204020204" pitchFamily="34" charset="-122"/>
            </a:endParaRPr>
          </a:p>
        </p:txBody>
      </p:sp>
      <p:pic>
        <p:nvPicPr>
          <p:cNvPr id="7" name="图片 6">
            <a:extLst>
              <a:ext uri="{FF2B5EF4-FFF2-40B4-BE49-F238E27FC236}">
                <a16:creationId xmlns:a16="http://schemas.microsoft.com/office/drawing/2014/main" id="{D4F26BC8-E230-4DDC-B4E8-F9210E043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98" y="1814417"/>
            <a:ext cx="601662" cy="601662"/>
          </a:xfrm>
          <a:prstGeom prst="rect">
            <a:avLst/>
          </a:prstGeom>
        </p:spPr>
      </p:pic>
      <p:sp>
        <p:nvSpPr>
          <p:cNvPr id="8" name="矩形 7">
            <a:extLst>
              <a:ext uri="{FF2B5EF4-FFF2-40B4-BE49-F238E27FC236}">
                <a16:creationId xmlns:a16="http://schemas.microsoft.com/office/drawing/2014/main" id="{7D1B204C-EA40-4A31-9C64-944553AB2F0A}"/>
              </a:ext>
            </a:extLst>
          </p:cNvPr>
          <p:cNvSpPr/>
          <p:nvPr/>
        </p:nvSpPr>
        <p:spPr>
          <a:xfrm>
            <a:off x="266827" y="366579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9" name="矩形 8">
            <a:extLst>
              <a:ext uri="{FF2B5EF4-FFF2-40B4-BE49-F238E27FC236}">
                <a16:creationId xmlns:a16="http://schemas.microsoft.com/office/drawing/2014/main" id="{2B52F8B2-CBEB-4DE8-9EAA-5FC2F59C9160}"/>
              </a:ext>
            </a:extLst>
          </p:cNvPr>
          <p:cNvSpPr/>
          <p:nvPr/>
        </p:nvSpPr>
        <p:spPr>
          <a:xfrm>
            <a:off x="1041989" y="366579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0" name="矩形 9">
            <a:extLst>
              <a:ext uri="{FF2B5EF4-FFF2-40B4-BE49-F238E27FC236}">
                <a16:creationId xmlns:a16="http://schemas.microsoft.com/office/drawing/2014/main" id="{1CAF3FB1-92D6-4331-8054-9F7BF4D4F9BF}"/>
              </a:ext>
            </a:extLst>
          </p:cNvPr>
          <p:cNvSpPr/>
          <p:nvPr/>
        </p:nvSpPr>
        <p:spPr>
          <a:xfrm>
            <a:off x="1817151" y="366579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11" name="矩形 10">
            <a:extLst>
              <a:ext uri="{FF2B5EF4-FFF2-40B4-BE49-F238E27FC236}">
                <a16:creationId xmlns:a16="http://schemas.microsoft.com/office/drawing/2014/main" id="{08DF1794-0348-4F12-A70A-E87E7DA9B035}"/>
              </a:ext>
            </a:extLst>
          </p:cNvPr>
          <p:cNvSpPr/>
          <p:nvPr/>
        </p:nvSpPr>
        <p:spPr>
          <a:xfrm>
            <a:off x="2592313" y="366579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cxnSp>
        <p:nvCxnSpPr>
          <p:cNvPr id="12" name="直线箭头连接符 11">
            <a:extLst>
              <a:ext uri="{FF2B5EF4-FFF2-40B4-BE49-F238E27FC236}">
                <a16:creationId xmlns:a16="http://schemas.microsoft.com/office/drawing/2014/main" id="{D9A7102D-A507-42AC-987F-DC45BD1EE31D}"/>
              </a:ext>
            </a:extLst>
          </p:cNvPr>
          <p:cNvCxnSpPr>
            <a:cxnSpLocks/>
          </p:cNvCxnSpPr>
          <p:nvPr/>
        </p:nvCxnSpPr>
        <p:spPr>
          <a:xfrm flipH="1">
            <a:off x="699089" y="387777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542676D0-86B6-4D99-83EC-1BB7F1FBD08F}"/>
              </a:ext>
            </a:extLst>
          </p:cNvPr>
          <p:cNvCxnSpPr>
            <a:cxnSpLocks/>
          </p:cNvCxnSpPr>
          <p:nvPr/>
        </p:nvCxnSpPr>
        <p:spPr>
          <a:xfrm flipH="1">
            <a:off x="1474251" y="387777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952350A1-0E50-4165-8BA5-8050594A7956}"/>
              </a:ext>
            </a:extLst>
          </p:cNvPr>
          <p:cNvCxnSpPr>
            <a:cxnSpLocks/>
          </p:cNvCxnSpPr>
          <p:nvPr/>
        </p:nvCxnSpPr>
        <p:spPr>
          <a:xfrm flipH="1">
            <a:off x="2249413" y="387777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6FD5C4D3-28C7-4562-B3B2-2685EA1C882A}"/>
              </a:ext>
            </a:extLst>
          </p:cNvPr>
          <p:cNvCxnSpPr>
            <a:cxnSpLocks/>
          </p:cNvCxnSpPr>
          <p:nvPr/>
        </p:nvCxnSpPr>
        <p:spPr>
          <a:xfrm flipH="1">
            <a:off x="3024575" y="387777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8593DC6-4537-4877-9EC4-2313A41EE46E}"/>
              </a:ext>
            </a:extLst>
          </p:cNvPr>
          <p:cNvSpPr/>
          <p:nvPr/>
        </p:nvSpPr>
        <p:spPr>
          <a:xfrm>
            <a:off x="3367475" y="366579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pic>
        <p:nvPicPr>
          <p:cNvPr id="17" name="图片 16">
            <a:extLst>
              <a:ext uri="{FF2B5EF4-FFF2-40B4-BE49-F238E27FC236}">
                <a16:creationId xmlns:a16="http://schemas.microsoft.com/office/drawing/2014/main" id="{83C06304-7E63-4FCE-A74F-EEBED90173C1}"/>
              </a:ext>
            </a:extLst>
          </p:cNvPr>
          <p:cNvPicPr>
            <a:picLocks noChangeAspect="1"/>
          </p:cNvPicPr>
          <p:nvPr/>
        </p:nvPicPr>
        <p:blipFill>
          <a:blip r:embed="rId3"/>
          <a:stretch>
            <a:fillRect/>
          </a:stretch>
        </p:blipFill>
        <p:spPr>
          <a:xfrm>
            <a:off x="4819275" y="1613487"/>
            <a:ext cx="7333576" cy="1568035"/>
          </a:xfrm>
          <a:prstGeom prst="rect">
            <a:avLst/>
          </a:prstGeom>
        </p:spPr>
      </p:pic>
      <p:cxnSp>
        <p:nvCxnSpPr>
          <p:cNvPr id="18" name="直接箭头连接符 17">
            <a:extLst>
              <a:ext uri="{FF2B5EF4-FFF2-40B4-BE49-F238E27FC236}">
                <a16:creationId xmlns:a16="http://schemas.microsoft.com/office/drawing/2014/main" id="{E9C3C8EB-A229-4ECF-9421-27C57B1C8CCE}"/>
              </a:ext>
            </a:extLst>
          </p:cNvPr>
          <p:cNvCxnSpPr>
            <a:cxnSpLocks/>
          </p:cNvCxnSpPr>
          <p:nvPr/>
        </p:nvCxnSpPr>
        <p:spPr>
          <a:xfrm flipH="1" flipV="1">
            <a:off x="4344948" y="3353899"/>
            <a:ext cx="658" cy="31190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EAD58A1D-FD9B-4831-9DF4-FBDB2AC7D127}"/>
              </a:ext>
            </a:extLst>
          </p:cNvPr>
          <p:cNvSpPr txBox="1"/>
          <p:nvPr/>
        </p:nvSpPr>
        <p:spPr>
          <a:xfrm>
            <a:off x="3425433" y="3016244"/>
            <a:ext cx="1839030"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Output: A, 5 BTC</a:t>
            </a:r>
            <a:endParaRPr lang="zh-CN" altLang="en-US" dirty="0">
              <a:latin typeface="Times New Roman" panose="02020603050405020304" pitchFamily="18" charset="0"/>
              <a:ea typeface="微软雅黑" panose="020B0503020204020204" pitchFamily="34" charset="-122"/>
            </a:endParaRPr>
          </a:p>
        </p:txBody>
      </p:sp>
      <p:sp>
        <p:nvSpPr>
          <p:cNvPr id="20" name="文本框 19">
            <a:extLst>
              <a:ext uri="{FF2B5EF4-FFF2-40B4-BE49-F238E27FC236}">
                <a16:creationId xmlns:a16="http://schemas.microsoft.com/office/drawing/2014/main" id="{3417C32D-315D-447A-BCD2-A860012A4D31}"/>
              </a:ext>
            </a:extLst>
          </p:cNvPr>
          <p:cNvSpPr txBox="1"/>
          <p:nvPr/>
        </p:nvSpPr>
        <p:spPr>
          <a:xfrm>
            <a:off x="57416" y="4788333"/>
            <a:ext cx="4859022" cy="646331"/>
          </a:xfrm>
          <a:prstGeom prst="rect">
            <a:avLst/>
          </a:prstGeom>
          <a:noFill/>
        </p:spPr>
        <p:txBody>
          <a:bodyPr wrap="none" rtlCol="0">
            <a:spAutoFit/>
          </a:bodyPr>
          <a:lstStyle/>
          <a:p>
            <a:pPr marL="285750" indent="-28575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查询哪笔交易的输出有</a:t>
            </a:r>
            <a:r>
              <a:rPr lang="en-US" altLang="zh-CN" dirty="0">
                <a:latin typeface="Times New Roman" panose="02020603050405020304" pitchFamily="18" charset="0"/>
                <a:ea typeface="微软雅黑" panose="020B0503020204020204" pitchFamily="34" charset="-122"/>
              </a:rPr>
              <a:t>A</a:t>
            </a:r>
            <a:r>
              <a:rPr lang="zh-CN" altLang="en-US" dirty="0">
                <a:latin typeface="Times New Roman" panose="02020603050405020304" pitchFamily="18" charset="0"/>
                <a:ea typeface="微软雅黑" panose="020B0503020204020204" pitchFamily="34" charset="-122"/>
              </a:rPr>
              <a:t>的公钥哈希；</a:t>
            </a:r>
            <a:endParaRPr lang="en-US" altLang="zh-CN" dirty="0">
              <a:latin typeface="Times New Roman" panose="02020603050405020304" pitchFamily="18" charset="0"/>
              <a:ea typeface="微软雅黑" panose="020B0503020204020204" pitchFamily="34" charset="-122"/>
            </a:endParaRPr>
          </a:p>
          <a:p>
            <a:pPr marL="285750" indent="-28575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确定该交易没有在其他交易的输入中出现；</a:t>
            </a:r>
          </a:p>
        </p:txBody>
      </p:sp>
      <p:sp>
        <p:nvSpPr>
          <p:cNvPr id="21" name="文本框 20">
            <a:extLst>
              <a:ext uri="{FF2B5EF4-FFF2-40B4-BE49-F238E27FC236}">
                <a16:creationId xmlns:a16="http://schemas.microsoft.com/office/drawing/2014/main" id="{DFE9A8D2-B0FF-4779-9C32-C6F1B68A7EC7}"/>
              </a:ext>
            </a:extLst>
          </p:cNvPr>
          <p:cNvSpPr txBox="1"/>
          <p:nvPr/>
        </p:nvSpPr>
        <p:spPr>
          <a:xfrm>
            <a:off x="10953055" y="2079503"/>
            <a:ext cx="1107996"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币的销毁</a:t>
            </a:r>
          </a:p>
        </p:txBody>
      </p:sp>
      <p:cxnSp>
        <p:nvCxnSpPr>
          <p:cNvPr id="22" name="直接箭头连接符 21">
            <a:extLst>
              <a:ext uri="{FF2B5EF4-FFF2-40B4-BE49-F238E27FC236}">
                <a16:creationId xmlns:a16="http://schemas.microsoft.com/office/drawing/2014/main" id="{26DC4157-B504-456A-B02D-551C6B5D8252}"/>
              </a:ext>
            </a:extLst>
          </p:cNvPr>
          <p:cNvCxnSpPr>
            <a:stCxn id="21" idx="2"/>
          </p:cNvCxnSpPr>
          <p:nvPr/>
        </p:nvCxnSpPr>
        <p:spPr>
          <a:xfrm>
            <a:off x="11507053" y="2448835"/>
            <a:ext cx="0" cy="420436"/>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7EB75B2F-C99E-4BDD-A37C-090E793F1CBB}"/>
              </a:ext>
            </a:extLst>
          </p:cNvPr>
          <p:cNvSpPr txBox="1"/>
          <p:nvPr/>
        </p:nvSpPr>
        <p:spPr>
          <a:xfrm>
            <a:off x="3790950" y="2441939"/>
            <a:ext cx="1107996"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rPr>
              <a:t>未花费过</a:t>
            </a:r>
          </a:p>
        </p:txBody>
      </p:sp>
      <p:cxnSp>
        <p:nvCxnSpPr>
          <p:cNvPr id="24" name="直接箭头连接符 23">
            <a:extLst>
              <a:ext uri="{FF2B5EF4-FFF2-40B4-BE49-F238E27FC236}">
                <a16:creationId xmlns:a16="http://schemas.microsoft.com/office/drawing/2014/main" id="{59544FF6-8BE7-4AAB-AC26-04CF9F248AC3}"/>
              </a:ext>
            </a:extLst>
          </p:cNvPr>
          <p:cNvCxnSpPr>
            <a:cxnSpLocks/>
            <a:stCxn id="19" idx="0"/>
            <a:endCxn id="23" idx="2"/>
          </p:cNvCxnSpPr>
          <p:nvPr/>
        </p:nvCxnSpPr>
        <p:spPr>
          <a:xfrm flipV="1">
            <a:off x="4344948" y="2811271"/>
            <a:ext cx="0" cy="204973"/>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92757701-140D-48B9-8AA5-7200CF5D6B32}"/>
              </a:ext>
            </a:extLst>
          </p:cNvPr>
          <p:cNvSpPr txBox="1"/>
          <p:nvPr/>
        </p:nvSpPr>
        <p:spPr>
          <a:xfrm>
            <a:off x="326898" y="3057149"/>
            <a:ext cx="1839030"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Output: A, 3 BTC</a:t>
            </a:r>
            <a:endParaRPr lang="zh-CN" altLang="en-US" dirty="0">
              <a:latin typeface="Times New Roman" panose="02020603050405020304" pitchFamily="18" charset="0"/>
              <a:ea typeface="微软雅黑" panose="020B0503020204020204" pitchFamily="34" charset="-122"/>
            </a:endParaRPr>
          </a:p>
        </p:txBody>
      </p:sp>
      <p:cxnSp>
        <p:nvCxnSpPr>
          <p:cNvPr id="26" name="直接箭头连接符 25">
            <a:extLst>
              <a:ext uri="{FF2B5EF4-FFF2-40B4-BE49-F238E27FC236}">
                <a16:creationId xmlns:a16="http://schemas.microsoft.com/office/drawing/2014/main" id="{752E14F7-386E-4724-A5ED-DBE952C4D60D}"/>
              </a:ext>
            </a:extLst>
          </p:cNvPr>
          <p:cNvCxnSpPr/>
          <p:nvPr/>
        </p:nvCxnSpPr>
        <p:spPr>
          <a:xfrm flipH="1" flipV="1">
            <a:off x="1257462" y="3372155"/>
            <a:ext cx="658" cy="311900"/>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F6763FC7-7B05-4B61-A22E-4D0C69B2957E}"/>
              </a:ext>
            </a:extLst>
          </p:cNvPr>
          <p:cNvSpPr txBox="1"/>
          <p:nvPr/>
        </p:nvSpPr>
        <p:spPr>
          <a:xfrm>
            <a:off x="762235" y="2441939"/>
            <a:ext cx="966996"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Input: A</a:t>
            </a:r>
            <a:endParaRPr lang="zh-CN" altLang="en-US" dirty="0">
              <a:latin typeface="Times New Roman" panose="02020603050405020304" pitchFamily="18" charset="0"/>
              <a:ea typeface="微软雅黑" panose="020B0503020204020204" pitchFamily="34" charset="-122"/>
            </a:endParaRPr>
          </a:p>
        </p:txBody>
      </p:sp>
      <p:cxnSp>
        <p:nvCxnSpPr>
          <p:cNvPr id="28" name="直接箭头连接符 27">
            <a:extLst>
              <a:ext uri="{FF2B5EF4-FFF2-40B4-BE49-F238E27FC236}">
                <a16:creationId xmlns:a16="http://schemas.microsoft.com/office/drawing/2014/main" id="{1804081B-87DF-48E3-802D-DF4196D78852}"/>
              </a:ext>
            </a:extLst>
          </p:cNvPr>
          <p:cNvCxnSpPr>
            <a:cxnSpLocks/>
            <a:stCxn id="25" idx="0"/>
            <a:endCxn id="27" idx="2"/>
          </p:cNvCxnSpPr>
          <p:nvPr/>
        </p:nvCxnSpPr>
        <p:spPr>
          <a:xfrm flipH="1" flipV="1">
            <a:off x="1245733" y="2811271"/>
            <a:ext cx="680" cy="245878"/>
          </a:xfrm>
          <a:prstGeom prst="straightConnector1">
            <a:avLst/>
          </a:prstGeom>
          <a:ln>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48ED8964-F360-4076-9149-1AE2C6060BD2}"/>
              </a:ext>
            </a:extLst>
          </p:cNvPr>
          <p:cNvCxnSpPr>
            <a:stCxn id="27" idx="3"/>
            <a:endCxn id="11" idx="0"/>
          </p:cNvCxnSpPr>
          <p:nvPr/>
        </p:nvCxnSpPr>
        <p:spPr>
          <a:xfrm>
            <a:off x="1729231" y="2626605"/>
            <a:ext cx="1079213" cy="1039194"/>
          </a:xfrm>
          <a:prstGeom prst="bentConnector2">
            <a:avLst/>
          </a:prstGeom>
          <a:ln w="28575">
            <a:solidFill>
              <a:srgbClr val="EE1A1A"/>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线箭头连接符 14">
            <a:extLst>
              <a:ext uri="{FF2B5EF4-FFF2-40B4-BE49-F238E27FC236}">
                <a16:creationId xmlns:a16="http://schemas.microsoft.com/office/drawing/2014/main" id="{0ABFA07A-D868-4470-9034-692285A2CA92}"/>
              </a:ext>
            </a:extLst>
          </p:cNvPr>
          <p:cNvCxnSpPr>
            <a:cxnSpLocks/>
          </p:cNvCxnSpPr>
          <p:nvPr/>
        </p:nvCxnSpPr>
        <p:spPr>
          <a:xfrm flipH="1">
            <a:off x="3795345" y="3877773"/>
            <a:ext cx="3429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1853346F-ABFA-465B-925D-88C63AA8784E}"/>
              </a:ext>
            </a:extLst>
          </p:cNvPr>
          <p:cNvSpPr/>
          <p:nvPr/>
        </p:nvSpPr>
        <p:spPr>
          <a:xfrm>
            <a:off x="4138245" y="3665799"/>
            <a:ext cx="432262" cy="4239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endParaRPr>
          </a:p>
        </p:txBody>
      </p:sp>
      <p:sp>
        <p:nvSpPr>
          <p:cNvPr id="32" name="文本框 31">
            <a:extLst>
              <a:ext uri="{FF2B5EF4-FFF2-40B4-BE49-F238E27FC236}">
                <a16:creationId xmlns:a16="http://schemas.microsoft.com/office/drawing/2014/main" id="{CAA3144F-344F-4311-AEDA-4224A4C97EF4}"/>
              </a:ext>
            </a:extLst>
          </p:cNvPr>
          <p:cNvSpPr txBox="1"/>
          <p:nvPr/>
        </p:nvSpPr>
        <p:spPr>
          <a:xfrm>
            <a:off x="4775561" y="4847832"/>
            <a:ext cx="1149674" cy="369332"/>
          </a:xfrm>
          <a:prstGeom prst="rect">
            <a:avLst/>
          </a:prstGeom>
          <a:solidFill>
            <a:schemeClr val="accent4">
              <a:lumMod val="20000"/>
              <a:lumOff val="80000"/>
            </a:schemeClr>
          </a:solidFill>
          <a:ln w="19050">
            <a:solidFill>
              <a:srgbClr val="002060"/>
            </a:solidFill>
            <a:prstDash val="dash"/>
          </a:ln>
        </p:spPr>
        <p:txBody>
          <a:bodyPr wrap="none" rtlCol="0">
            <a:spAutoFit/>
          </a:bodyPr>
          <a:lstStyle/>
          <a:p>
            <a:r>
              <a:rPr lang="zh-CN" altLang="en-US" dirty="0">
                <a:solidFill>
                  <a:srgbClr val="002060"/>
                </a:solidFill>
                <a:latin typeface="Times New Roman" panose="02020603050405020304" pitchFamily="18" charset="0"/>
                <a:ea typeface="微软雅黑" panose="020B0503020204020204" pitchFamily="34" charset="-122"/>
              </a:rPr>
              <a:t>效率低下</a:t>
            </a:r>
          </a:p>
        </p:txBody>
      </p:sp>
      <p:sp>
        <p:nvSpPr>
          <p:cNvPr id="33" name="文本框 32">
            <a:extLst>
              <a:ext uri="{FF2B5EF4-FFF2-40B4-BE49-F238E27FC236}">
                <a16:creationId xmlns:a16="http://schemas.microsoft.com/office/drawing/2014/main" id="{94FD4BAB-055E-4FBF-84E9-1990B0FDE4FF}"/>
              </a:ext>
            </a:extLst>
          </p:cNvPr>
          <p:cNvSpPr txBox="1"/>
          <p:nvPr/>
        </p:nvSpPr>
        <p:spPr>
          <a:xfrm>
            <a:off x="201686" y="5714887"/>
            <a:ext cx="4570482" cy="646331"/>
          </a:xfrm>
          <a:prstGeom prst="rect">
            <a:avLst/>
          </a:prstGeom>
          <a:solidFill>
            <a:schemeClr val="accent4">
              <a:lumMod val="20000"/>
              <a:lumOff val="80000"/>
            </a:schemeClr>
          </a:solidFill>
          <a:ln w="19050">
            <a:solidFill>
              <a:srgbClr val="002060"/>
            </a:solidFill>
            <a:prstDash val="dash"/>
          </a:ln>
        </p:spPr>
        <p:txBody>
          <a:bodyPr wrap="none" rtlCol="0">
            <a:spAutoFit/>
          </a:bodyPr>
          <a:lstStyle/>
          <a:p>
            <a:r>
              <a:rPr lang="zh-CN" altLang="en-US" dirty="0">
                <a:solidFill>
                  <a:srgbClr val="002060"/>
                </a:solidFill>
                <a:latin typeface="Times New Roman" panose="02020603050405020304" pitchFamily="18" charset="0"/>
                <a:ea typeface="微软雅黑" panose="020B0503020204020204" pitchFamily="34" charset="-122"/>
              </a:rPr>
              <a:t>维护一个新的数据结构</a:t>
            </a:r>
            <a:r>
              <a:rPr lang="en-US" altLang="zh-CN" dirty="0">
                <a:solidFill>
                  <a:srgbClr val="002060"/>
                </a:solidFill>
                <a:latin typeface="Times New Roman" panose="02020603050405020304" pitchFamily="18" charset="0"/>
                <a:ea typeface="微软雅黑" panose="020B0503020204020204" pitchFamily="34" charset="-122"/>
              </a:rPr>
              <a:t>——</a:t>
            </a:r>
            <a:r>
              <a:rPr lang="zh-CN" altLang="en-US" dirty="0">
                <a:solidFill>
                  <a:srgbClr val="002060"/>
                </a:solidFill>
                <a:latin typeface="Times New Roman" panose="02020603050405020304" pitchFamily="18" charset="0"/>
                <a:ea typeface="微软雅黑" panose="020B0503020204020204" pitchFamily="34" charset="-122"/>
              </a:rPr>
              <a:t>未花费交易输出</a:t>
            </a:r>
            <a:endParaRPr lang="en-US" altLang="zh-CN" dirty="0">
              <a:solidFill>
                <a:srgbClr val="002060"/>
              </a:solidFill>
              <a:latin typeface="Times New Roman" panose="02020603050405020304" pitchFamily="18" charset="0"/>
              <a:ea typeface="微软雅黑" panose="020B0503020204020204" pitchFamily="34" charset="-122"/>
            </a:endParaRPr>
          </a:p>
          <a:p>
            <a:r>
              <a:rPr lang="zh-CN" altLang="en-US" dirty="0">
                <a:solidFill>
                  <a:srgbClr val="002060"/>
                </a:solidFill>
                <a:latin typeface="Times New Roman" panose="02020603050405020304" pitchFamily="18" charset="0"/>
                <a:ea typeface="微软雅黑" panose="020B0503020204020204" pitchFamily="34" charset="-122"/>
              </a:rPr>
              <a:t>（</a:t>
            </a:r>
            <a:r>
              <a:rPr lang="en-US" altLang="zh-CN" dirty="0">
                <a:solidFill>
                  <a:srgbClr val="002060"/>
                </a:solidFill>
                <a:latin typeface="Times New Roman" panose="02020603050405020304" pitchFamily="18" charset="0"/>
                <a:ea typeface="微软雅黑" panose="020B0503020204020204" pitchFamily="34" charset="-122"/>
              </a:rPr>
              <a:t>Unspent Transaction Outputs, UTXO</a:t>
            </a:r>
            <a:r>
              <a:rPr lang="zh-CN" altLang="en-US" dirty="0">
                <a:solidFill>
                  <a:srgbClr val="002060"/>
                </a:solidFill>
                <a:latin typeface="Times New Roman" panose="02020603050405020304" pitchFamily="18" charset="0"/>
                <a:ea typeface="微软雅黑" panose="020B0503020204020204" pitchFamily="34" charset="-122"/>
              </a:rPr>
              <a:t>）</a:t>
            </a:r>
          </a:p>
        </p:txBody>
      </p:sp>
      <p:sp>
        <p:nvSpPr>
          <p:cNvPr id="34" name="矩形 33">
            <a:extLst>
              <a:ext uri="{FF2B5EF4-FFF2-40B4-BE49-F238E27FC236}">
                <a16:creationId xmlns:a16="http://schemas.microsoft.com/office/drawing/2014/main" id="{0B8870D8-9A20-41C2-BB83-B1F098D8EF90}"/>
              </a:ext>
            </a:extLst>
          </p:cNvPr>
          <p:cNvSpPr/>
          <p:nvPr/>
        </p:nvSpPr>
        <p:spPr>
          <a:xfrm>
            <a:off x="706768" y="4306792"/>
            <a:ext cx="2903207" cy="369332"/>
          </a:xfrm>
          <a:prstGeom prst="rect">
            <a:avLst/>
          </a:prstGeom>
          <a:solidFill>
            <a:schemeClr val="accent3">
              <a:lumMod val="20000"/>
              <a:lumOff val="80000"/>
            </a:schemeClr>
          </a:solidFill>
          <a:ln w="19050">
            <a:solidFill>
              <a:srgbClr val="002060"/>
            </a:solidFill>
            <a:prstDash val="dash"/>
          </a:ln>
        </p:spPr>
        <p:txBody>
          <a:bodyPr wrap="square">
            <a:spAutoFit/>
          </a:bodyPr>
          <a:lstStyle/>
          <a:p>
            <a:r>
              <a:rPr kumimoji="1" lang="zh-CN" altLang="en-US" dirty="0">
                <a:solidFill>
                  <a:srgbClr val="002060"/>
                </a:solidFill>
                <a:latin typeface="Times New Roman" panose="02020603050405020304" pitchFamily="18" charset="0"/>
                <a:ea typeface="微软雅黑" panose="020B0503020204020204" pitchFamily="34" charset="-122"/>
              </a:rPr>
              <a:t>怎么知道</a:t>
            </a:r>
            <a:r>
              <a:rPr kumimoji="1" lang="en-US" altLang="zh-CN" dirty="0">
                <a:solidFill>
                  <a:srgbClr val="002060"/>
                </a:solidFill>
                <a:latin typeface="Times New Roman" panose="02020603050405020304" pitchFamily="18" charset="0"/>
                <a:ea typeface="微软雅黑" panose="020B0503020204020204" pitchFamily="34" charset="-122"/>
              </a:rPr>
              <a:t>A</a:t>
            </a:r>
            <a:r>
              <a:rPr kumimoji="1" lang="zh-CN" altLang="en-US" dirty="0">
                <a:solidFill>
                  <a:srgbClr val="002060"/>
                </a:solidFill>
                <a:latin typeface="Times New Roman" panose="02020603050405020304" pitchFamily="18" charset="0"/>
                <a:ea typeface="微软雅黑" panose="020B0503020204020204" pitchFamily="34" charset="-122"/>
              </a:rPr>
              <a:t>有多少比特币？</a:t>
            </a:r>
            <a:endParaRPr lang="zh-CN" altLang="en-US" dirty="0">
              <a:latin typeface="Times New Roman" panose="02020603050405020304" pitchFamily="18" charset="0"/>
              <a:ea typeface="微软雅黑" panose="020B0503020204020204" pitchFamily="34" charset="-122"/>
            </a:endParaRPr>
          </a:p>
        </p:txBody>
      </p:sp>
      <p:pic>
        <p:nvPicPr>
          <p:cNvPr id="35" name="图片 34">
            <a:extLst>
              <a:ext uri="{FF2B5EF4-FFF2-40B4-BE49-F238E27FC236}">
                <a16:creationId xmlns:a16="http://schemas.microsoft.com/office/drawing/2014/main" id="{F160ECF4-3205-4A85-875A-8C260C3F6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28" y="4163774"/>
            <a:ext cx="601662" cy="601662"/>
          </a:xfrm>
          <a:prstGeom prst="rect">
            <a:avLst/>
          </a:prstGeom>
        </p:spPr>
      </p:pic>
      <p:sp>
        <p:nvSpPr>
          <p:cNvPr id="36" name="文本框 35">
            <a:extLst>
              <a:ext uri="{FF2B5EF4-FFF2-40B4-BE49-F238E27FC236}">
                <a16:creationId xmlns:a16="http://schemas.microsoft.com/office/drawing/2014/main" id="{750DD7F7-A28F-4D33-92E2-E57C3B4527E9}"/>
              </a:ext>
            </a:extLst>
          </p:cNvPr>
          <p:cNvSpPr txBox="1"/>
          <p:nvPr/>
        </p:nvSpPr>
        <p:spPr>
          <a:xfrm>
            <a:off x="6163779" y="3163399"/>
            <a:ext cx="1049209" cy="1200329"/>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UTXO</a:t>
            </a:r>
            <a:r>
              <a:rPr lang="zh-CN" altLang="en-US" dirty="0">
                <a:latin typeface="Times New Roman" panose="02020603050405020304" pitchFamily="18" charset="0"/>
                <a:ea typeface="微软雅黑" panose="020B0503020204020204" pitchFamily="34" charset="-122"/>
              </a:rPr>
              <a:t>：</a:t>
            </a:r>
            <a:endParaRPr lang="en-US" altLang="zh-CN"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2</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3</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5</a:t>
            </a:r>
            <a:endParaRPr lang="zh-CN" altLang="en-US" dirty="0">
              <a:latin typeface="Times New Roman" panose="02020603050405020304" pitchFamily="18" charset="0"/>
              <a:ea typeface="微软雅黑" panose="020B0503020204020204" pitchFamily="34" charset="-122"/>
            </a:endParaRPr>
          </a:p>
        </p:txBody>
      </p:sp>
      <p:sp>
        <p:nvSpPr>
          <p:cNvPr id="37" name="文本框 36">
            <a:extLst>
              <a:ext uri="{FF2B5EF4-FFF2-40B4-BE49-F238E27FC236}">
                <a16:creationId xmlns:a16="http://schemas.microsoft.com/office/drawing/2014/main" id="{06D258BD-6843-4479-98B6-3AD5F747C882}"/>
              </a:ext>
            </a:extLst>
          </p:cNvPr>
          <p:cNvSpPr txBox="1"/>
          <p:nvPr/>
        </p:nvSpPr>
        <p:spPr>
          <a:xfrm>
            <a:off x="7799046" y="3440398"/>
            <a:ext cx="2356579" cy="646331"/>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A</a:t>
            </a:r>
            <a:r>
              <a:rPr lang="zh-CN" altLang="en-US" dirty="0">
                <a:latin typeface="Times New Roman" panose="02020603050405020304" pitchFamily="18" charset="0"/>
                <a:ea typeface="微软雅黑" panose="020B0503020204020204" pitchFamily="34" charset="-122"/>
              </a:rPr>
              <a:t>发起交易</a:t>
            </a:r>
            <a:r>
              <a:rPr lang="en-US" altLang="zh-CN" dirty="0">
                <a:latin typeface="Times New Roman" panose="02020603050405020304" pitchFamily="18" charset="0"/>
                <a:ea typeface="微软雅黑" panose="020B0503020204020204" pitchFamily="34" charset="-122"/>
              </a:rPr>
              <a:t>Tx 7</a:t>
            </a:r>
            <a:r>
              <a:rPr lang="zh-CN" altLang="en-US" dirty="0">
                <a:latin typeface="Times New Roman" panose="02020603050405020304" pitchFamily="18" charset="0"/>
                <a:ea typeface="微软雅黑" panose="020B0503020204020204" pitchFamily="34" charset="-122"/>
              </a:rPr>
              <a:t>，使用</a:t>
            </a:r>
            <a:r>
              <a:rPr lang="en-US" altLang="zh-CN" dirty="0">
                <a:latin typeface="Times New Roman" panose="02020603050405020304" pitchFamily="18" charset="0"/>
                <a:ea typeface="微软雅黑" panose="020B0503020204020204" pitchFamily="34" charset="-122"/>
              </a:rPr>
              <a:t>Tx 2</a:t>
            </a:r>
            <a:r>
              <a:rPr lang="zh-CN" altLang="en-US" dirty="0">
                <a:latin typeface="Times New Roman" panose="02020603050405020304" pitchFamily="18" charset="0"/>
                <a:ea typeface="微软雅黑" panose="020B0503020204020204" pitchFamily="34" charset="-122"/>
              </a:rPr>
              <a:t>得到的比特币</a:t>
            </a:r>
          </a:p>
        </p:txBody>
      </p:sp>
      <p:sp>
        <p:nvSpPr>
          <p:cNvPr id="38" name="文本框 37">
            <a:extLst>
              <a:ext uri="{FF2B5EF4-FFF2-40B4-BE49-F238E27FC236}">
                <a16:creationId xmlns:a16="http://schemas.microsoft.com/office/drawing/2014/main" id="{5C78DCB1-2D2B-4681-8BBB-6600499C717E}"/>
              </a:ext>
            </a:extLst>
          </p:cNvPr>
          <p:cNvSpPr txBox="1"/>
          <p:nvPr/>
        </p:nvSpPr>
        <p:spPr>
          <a:xfrm>
            <a:off x="10814096" y="3163399"/>
            <a:ext cx="1274376" cy="1477328"/>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UTXO</a:t>
            </a:r>
            <a:r>
              <a:rPr lang="zh-CN" altLang="en-US" dirty="0">
                <a:latin typeface="Times New Roman" panose="02020603050405020304" pitchFamily="18" charset="0"/>
                <a:ea typeface="微软雅黑" panose="020B0503020204020204" pitchFamily="34" charset="-122"/>
              </a:rPr>
              <a:t>：</a:t>
            </a:r>
            <a:endParaRPr lang="en-US" altLang="zh-CN"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en-US" altLang="zh-CN" strike="sngStrike" dirty="0">
                <a:latin typeface="Times New Roman" panose="02020603050405020304" pitchFamily="18" charset="0"/>
                <a:ea typeface="微软雅黑" panose="020B0503020204020204" pitchFamily="34" charset="-122"/>
              </a:rPr>
              <a:t>Tx 2</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3</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5</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7</a:t>
            </a:r>
            <a:endParaRPr lang="zh-CN" altLang="en-US" dirty="0">
              <a:latin typeface="Times New Roman" panose="02020603050405020304" pitchFamily="18" charset="0"/>
              <a:ea typeface="微软雅黑" panose="020B0503020204020204" pitchFamily="34" charset="-122"/>
            </a:endParaRPr>
          </a:p>
        </p:txBody>
      </p:sp>
      <p:cxnSp>
        <p:nvCxnSpPr>
          <p:cNvPr id="39" name="直接箭头连接符 38">
            <a:extLst>
              <a:ext uri="{FF2B5EF4-FFF2-40B4-BE49-F238E27FC236}">
                <a16:creationId xmlns:a16="http://schemas.microsoft.com/office/drawing/2014/main" id="{F7642348-3234-49DB-98CE-DFFC7546F15F}"/>
              </a:ext>
            </a:extLst>
          </p:cNvPr>
          <p:cNvCxnSpPr>
            <a:cxnSpLocks/>
          </p:cNvCxnSpPr>
          <p:nvPr/>
        </p:nvCxnSpPr>
        <p:spPr>
          <a:xfrm>
            <a:off x="7212988" y="3763563"/>
            <a:ext cx="586058" cy="0"/>
          </a:xfrm>
          <a:prstGeom prst="straightConnector1">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CE6B6D22-43BB-4769-A7DC-12195D76DF7B}"/>
              </a:ext>
            </a:extLst>
          </p:cNvPr>
          <p:cNvCxnSpPr>
            <a:cxnSpLocks/>
          </p:cNvCxnSpPr>
          <p:nvPr/>
        </p:nvCxnSpPr>
        <p:spPr>
          <a:xfrm>
            <a:off x="10155625" y="3763563"/>
            <a:ext cx="658471" cy="0"/>
          </a:xfrm>
          <a:prstGeom prst="straightConnector1">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509126D0-0AF0-4036-849F-3DBC4B76FCA4}"/>
              </a:ext>
            </a:extLst>
          </p:cNvPr>
          <p:cNvSpPr txBox="1"/>
          <p:nvPr/>
        </p:nvSpPr>
        <p:spPr>
          <a:xfrm>
            <a:off x="6335649" y="5681714"/>
            <a:ext cx="889987"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Output:</a:t>
            </a:r>
            <a:endParaRPr lang="zh-CN" altLang="en-US" dirty="0">
              <a:latin typeface="Times New Roman" panose="02020603050405020304"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D83F2F82-9DA3-4C29-8625-1E20CE2C6CF8}"/>
              </a:ext>
            </a:extLst>
          </p:cNvPr>
          <p:cNvSpPr/>
          <p:nvPr/>
        </p:nvSpPr>
        <p:spPr>
          <a:xfrm>
            <a:off x="6378325" y="5070521"/>
            <a:ext cx="761747" cy="369332"/>
          </a:xfrm>
          <a:prstGeom prst="rect">
            <a:avLst/>
          </a:prstGeom>
        </p:spPr>
        <p:txBody>
          <a:bodyPr wrap="none">
            <a:spAutoFit/>
          </a:bodyPr>
          <a:lstStyle/>
          <a:p>
            <a:r>
              <a:rPr lang="en-US" altLang="zh-CN" dirty="0">
                <a:latin typeface="Times New Roman" panose="02020603050405020304" pitchFamily="18" charset="0"/>
                <a:ea typeface="微软雅黑" panose="020B0503020204020204" pitchFamily="34" charset="-122"/>
              </a:rPr>
              <a:t>Input:</a:t>
            </a:r>
          </a:p>
        </p:txBody>
      </p: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8FA1196C-9004-499E-B336-77D0D0CCC4AD}"/>
                  </a:ext>
                </a:extLst>
              </p:cNvPr>
              <p:cNvSpPr/>
              <p:nvPr/>
            </p:nvSpPr>
            <p:spPr>
              <a:xfrm>
                <a:off x="7206161" y="5543215"/>
                <a:ext cx="1279902" cy="646331"/>
              </a:xfrm>
              <a:prstGeom prst="rect">
                <a:avLst/>
              </a:prstGeom>
            </p:spPr>
            <p:txBody>
              <a:bodyPr wrap="none">
                <a:spAutoFit/>
              </a:bodyPr>
              <a:lstStyle/>
              <a:p>
                <a:pPr marL="342900" indent="-34290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A.pub</a:t>
                </a:r>
              </a:p>
              <a:p>
                <a:pPr marL="342900" indent="-34290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BTC</a:t>
                </a:r>
                <a:endParaRPr lang="zh-CN" altLang="en-US" dirty="0">
                  <a:latin typeface="Times New Roman" panose="02020603050405020304" pitchFamily="18" charset="0"/>
                  <a:ea typeface="微软雅黑" panose="020B0503020204020204" pitchFamily="34" charset="-122"/>
                </a:endParaRPr>
              </a:p>
            </p:txBody>
          </p:sp>
        </mc:Choice>
        <mc:Fallback xmlns="">
          <p:sp>
            <p:nvSpPr>
              <p:cNvPr id="43" name="矩形 42">
                <a:extLst>
                  <a:ext uri="{FF2B5EF4-FFF2-40B4-BE49-F238E27FC236}">
                    <a16:creationId xmlns:a16="http://schemas.microsoft.com/office/drawing/2014/main" id="{8FA1196C-9004-499E-B336-77D0D0CCC4AD}"/>
                  </a:ext>
                </a:extLst>
              </p:cNvPr>
              <p:cNvSpPr>
                <a:spLocks noRot="1" noChangeAspect="1" noMove="1" noResize="1" noEditPoints="1" noAdjustHandles="1" noChangeArrowheads="1" noChangeShapeType="1" noTextEdit="1"/>
              </p:cNvSpPr>
              <p:nvPr/>
            </p:nvSpPr>
            <p:spPr>
              <a:xfrm>
                <a:off x="7206161" y="5543215"/>
                <a:ext cx="1279902" cy="646331"/>
              </a:xfrm>
              <a:prstGeom prst="rect">
                <a:avLst/>
              </a:prstGeom>
              <a:blipFill>
                <a:blip r:embed="rId4"/>
                <a:stretch>
                  <a:fillRect l="-2857" t="-4717" r="-1429" b="-14151"/>
                </a:stretch>
              </a:blipFill>
            </p:spPr>
            <p:txBody>
              <a:bodyPr/>
              <a:lstStyle/>
              <a:p>
                <a:r>
                  <a:rPr lang="zh-CN" altLang="en-US">
                    <a:noFill/>
                  </a:rPr>
                  <a:t> </a:t>
                </a:r>
              </a:p>
            </p:txBody>
          </p:sp>
        </mc:Fallback>
      </mc:AlternateContent>
      <p:sp>
        <p:nvSpPr>
          <p:cNvPr id="44" name="矩形 43">
            <a:extLst>
              <a:ext uri="{FF2B5EF4-FFF2-40B4-BE49-F238E27FC236}">
                <a16:creationId xmlns:a16="http://schemas.microsoft.com/office/drawing/2014/main" id="{B9DD26FB-6E40-4EA3-9E24-C928D01780CF}"/>
              </a:ext>
            </a:extLst>
          </p:cNvPr>
          <p:cNvSpPr/>
          <p:nvPr/>
        </p:nvSpPr>
        <p:spPr>
          <a:xfrm>
            <a:off x="7225636" y="4971899"/>
            <a:ext cx="934871" cy="646331"/>
          </a:xfrm>
          <a:prstGeom prst="rect">
            <a:avLst/>
          </a:prstGeom>
        </p:spPr>
        <p:txBody>
          <a:bodyPr wrap="none">
            <a:spAutoFit/>
          </a:bodyPr>
          <a:lstStyle/>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1</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Sig</a:t>
            </a:r>
            <a:endParaRPr lang="zh-CN" altLang="en-US" dirty="0">
              <a:latin typeface="Times New Roman" panose="02020603050405020304" pitchFamily="18" charset="0"/>
              <a:ea typeface="微软雅黑" panose="020B0503020204020204" pitchFamily="34" charset="-122"/>
            </a:endParaRPr>
          </a:p>
        </p:txBody>
      </p:sp>
      <p:sp>
        <p:nvSpPr>
          <p:cNvPr id="45" name="矩形 44">
            <a:extLst>
              <a:ext uri="{FF2B5EF4-FFF2-40B4-BE49-F238E27FC236}">
                <a16:creationId xmlns:a16="http://schemas.microsoft.com/office/drawing/2014/main" id="{D9F07FE3-EA9D-459B-AF3D-BFA0785D73AA}"/>
              </a:ext>
            </a:extLst>
          </p:cNvPr>
          <p:cNvSpPr/>
          <p:nvPr/>
        </p:nvSpPr>
        <p:spPr>
          <a:xfrm>
            <a:off x="6316914" y="4971899"/>
            <a:ext cx="2244499" cy="1242647"/>
          </a:xfrm>
          <a:prstGeom prst="rect">
            <a:avLst/>
          </a:prstGeom>
          <a:noFill/>
          <a:ln w="25400">
            <a:solidFill>
              <a:srgbClr val="EE1A1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endParaRPr>
          </a:p>
        </p:txBody>
      </p:sp>
      <p:sp>
        <p:nvSpPr>
          <p:cNvPr id="46" name="矩形 45">
            <a:extLst>
              <a:ext uri="{FF2B5EF4-FFF2-40B4-BE49-F238E27FC236}">
                <a16:creationId xmlns:a16="http://schemas.microsoft.com/office/drawing/2014/main" id="{1449EE72-94FE-4D8C-8F38-AE60C4D508EB}"/>
              </a:ext>
            </a:extLst>
          </p:cNvPr>
          <p:cNvSpPr/>
          <p:nvPr/>
        </p:nvSpPr>
        <p:spPr>
          <a:xfrm>
            <a:off x="7036595" y="4582148"/>
            <a:ext cx="633507" cy="369332"/>
          </a:xfrm>
          <a:prstGeom prst="rect">
            <a:avLst/>
          </a:prstGeom>
        </p:spPr>
        <p:txBody>
          <a:bodyPr wrap="none">
            <a:spAutoFit/>
          </a:bodyPr>
          <a:lstStyle/>
          <a:p>
            <a:r>
              <a:rPr lang="en-US" altLang="zh-CN" dirty="0">
                <a:latin typeface="Times New Roman" panose="02020603050405020304" pitchFamily="18" charset="0"/>
                <a:ea typeface="微软雅黑" panose="020B0503020204020204" pitchFamily="34" charset="-122"/>
              </a:rPr>
              <a:t>Tx 2</a:t>
            </a:r>
          </a:p>
        </p:txBody>
      </p:sp>
      <p:sp>
        <p:nvSpPr>
          <p:cNvPr id="47" name="文本框 46">
            <a:extLst>
              <a:ext uri="{FF2B5EF4-FFF2-40B4-BE49-F238E27FC236}">
                <a16:creationId xmlns:a16="http://schemas.microsoft.com/office/drawing/2014/main" id="{F31B96D4-01F5-4AFA-B93F-CE243BBE55CF}"/>
              </a:ext>
            </a:extLst>
          </p:cNvPr>
          <p:cNvSpPr txBox="1"/>
          <p:nvPr/>
        </p:nvSpPr>
        <p:spPr>
          <a:xfrm>
            <a:off x="9617139" y="5714372"/>
            <a:ext cx="889987" cy="369332"/>
          </a:xfrm>
          <a:prstGeom prst="rect">
            <a:avLst/>
          </a:prstGeom>
          <a:noFill/>
        </p:spPr>
        <p:txBody>
          <a:bodyPr wrap="none" rtlCol="0">
            <a:spAutoFit/>
          </a:bodyPr>
          <a:lstStyle/>
          <a:p>
            <a:r>
              <a:rPr lang="en-US" altLang="zh-CN" dirty="0">
                <a:latin typeface="Times New Roman" panose="02020603050405020304" pitchFamily="18" charset="0"/>
                <a:ea typeface="微软雅黑" panose="020B0503020204020204" pitchFamily="34" charset="-122"/>
              </a:rPr>
              <a:t>Output:</a:t>
            </a:r>
            <a:endParaRPr lang="zh-CN" altLang="en-US" dirty="0">
              <a:latin typeface="Times New Roman" panose="02020603050405020304" pitchFamily="18" charset="0"/>
              <a:ea typeface="微软雅黑" panose="020B0503020204020204" pitchFamily="34" charset="-122"/>
            </a:endParaRPr>
          </a:p>
        </p:txBody>
      </p:sp>
      <p:sp>
        <p:nvSpPr>
          <p:cNvPr id="48" name="矩形 47">
            <a:extLst>
              <a:ext uri="{FF2B5EF4-FFF2-40B4-BE49-F238E27FC236}">
                <a16:creationId xmlns:a16="http://schemas.microsoft.com/office/drawing/2014/main" id="{DDCB3CA8-F51B-421F-8363-11AABE48E332}"/>
              </a:ext>
            </a:extLst>
          </p:cNvPr>
          <p:cNvSpPr/>
          <p:nvPr/>
        </p:nvSpPr>
        <p:spPr>
          <a:xfrm>
            <a:off x="9660219" y="5134183"/>
            <a:ext cx="761747" cy="369332"/>
          </a:xfrm>
          <a:prstGeom prst="rect">
            <a:avLst/>
          </a:prstGeom>
        </p:spPr>
        <p:txBody>
          <a:bodyPr wrap="none">
            <a:spAutoFit/>
          </a:bodyPr>
          <a:lstStyle/>
          <a:p>
            <a:r>
              <a:rPr lang="en-US" altLang="zh-CN" dirty="0">
                <a:latin typeface="Times New Roman" panose="02020603050405020304" pitchFamily="18" charset="0"/>
                <a:ea typeface="微软雅黑" panose="020B0503020204020204" pitchFamily="34" charset="-122"/>
              </a:rPr>
              <a:t>Input:</a:t>
            </a:r>
          </a:p>
        </p:txBody>
      </p: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93C710AE-6AE7-4643-BCD3-47431567F66E}"/>
                  </a:ext>
                </a:extLst>
              </p:cNvPr>
              <p:cNvSpPr/>
              <p:nvPr/>
            </p:nvSpPr>
            <p:spPr>
              <a:xfrm>
                <a:off x="10568608" y="5590932"/>
                <a:ext cx="1222194" cy="646331"/>
              </a:xfrm>
              <a:prstGeom prst="rect">
                <a:avLst/>
              </a:prstGeom>
            </p:spPr>
            <p:txBody>
              <a:bodyPr wrap="none">
                <a:spAutoFit/>
              </a:bodyPr>
              <a:lstStyle/>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B.pub</a:t>
                </a: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BTC</a:t>
                </a:r>
                <a:endParaRPr lang="zh-CN" altLang="en-US" dirty="0">
                  <a:latin typeface="Times New Roman" panose="02020603050405020304" pitchFamily="18" charset="0"/>
                  <a:ea typeface="微软雅黑" panose="020B0503020204020204" pitchFamily="34" charset="-122"/>
                </a:endParaRPr>
              </a:p>
            </p:txBody>
          </p:sp>
        </mc:Choice>
        <mc:Fallback xmlns="">
          <p:sp>
            <p:nvSpPr>
              <p:cNvPr id="49" name="矩形 48">
                <a:extLst>
                  <a:ext uri="{FF2B5EF4-FFF2-40B4-BE49-F238E27FC236}">
                    <a16:creationId xmlns:a16="http://schemas.microsoft.com/office/drawing/2014/main" id="{93C710AE-6AE7-4643-BCD3-47431567F66E}"/>
                  </a:ext>
                </a:extLst>
              </p:cNvPr>
              <p:cNvSpPr>
                <a:spLocks noRot="1" noChangeAspect="1" noMove="1" noResize="1" noEditPoints="1" noAdjustHandles="1" noChangeArrowheads="1" noChangeShapeType="1" noTextEdit="1"/>
              </p:cNvSpPr>
              <p:nvPr/>
            </p:nvSpPr>
            <p:spPr>
              <a:xfrm>
                <a:off x="10568608" y="5590932"/>
                <a:ext cx="1222194" cy="646331"/>
              </a:xfrm>
              <a:prstGeom prst="rect">
                <a:avLst/>
              </a:prstGeom>
              <a:blipFill>
                <a:blip r:embed="rId5"/>
                <a:stretch>
                  <a:fillRect l="-3500" t="-4717" r="-1500" b="-14151"/>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31BF455A-4C24-4F53-A991-DD1586366320}"/>
              </a:ext>
            </a:extLst>
          </p:cNvPr>
          <p:cNvSpPr/>
          <p:nvPr/>
        </p:nvSpPr>
        <p:spPr>
          <a:xfrm>
            <a:off x="10564841" y="5000138"/>
            <a:ext cx="1011880" cy="646331"/>
          </a:xfrm>
          <a:prstGeom prst="rect">
            <a:avLst/>
          </a:prstGeom>
        </p:spPr>
        <p:txBody>
          <a:bodyPr wrap="none">
            <a:spAutoFit/>
          </a:bodyPr>
          <a:lstStyle/>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Tx 2</a:t>
            </a:r>
          </a:p>
          <a:p>
            <a:pPr marL="285750" indent="-285750">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rPr>
              <a:t>A Sig</a:t>
            </a:r>
            <a:endParaRPr lang="zh-CN" altLang="en-US" dirty="0">
              <a:latin typeface="Times New Roman" panose="02020603050405020304" pitchFamily="18" charset="0"/>
              <a:ea typeface="微软雅黑" panose="020B0503020204020204" pitchFamily="34" charset="-122"/>
            </a:endParaRPr>
          </a:p>
        </p:txBody>
      </p:sp>
      <p:sp>
        <p:nvSpPr>
          <p:cNvPr id="51" name="矩形 50">
            <a:extLst>
              <a:ext uri="{FF2B5EF4-FFF2-40B4-BE49-F238E27FC236}">
                <a16:creationId xmlns:a16="http://schemas.microsoft.com/office/drawing/2014/main" id="{FE200553-AD5F-4EAF-9445-B9B70AD743A4}"/>
              </a:ext>
            </a:extLst>
          </p:cNvPr>
          <p:cNvSpPr/>
          <p:nvPr/>
        </p:nvSpPr>
        <p:spPr>
          <a:xfrm>
            <a:off x="9617509" y="4971899"/>
            <a:ext cx="2244499" cy="1242647"/>
          </a:xfrm>
          <a:prstGeom prst="rect">
            <a:avLst/>
          </a:prstGeom>
          <a:noFill/>
          <a:ln w="25400">
            <a:solidFill>
              <a:srgbClr val="EE1A1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endParaRPr>
          </a:p>
        </p:txBody>
      </p:sp>
      <p:sp>
        <p:nvSpPr>
          <p:cNvPr id="52" name="矩形 51">
            <a:extLst>
              <a:ext uri="{FF2B5EF4-FFF2-40B4-BE49-F238E27FC236}">
                <a16:creationId xmlns:a16="http://schemas.microsoft.com/office/drawing/2014/main" id="{FE986C2F-055D-4A97-9F86-56875EA02719}"/>
              </a:ext>
            </a:extLst>
          </p:cNvPr>
          <p:cNvSpPr/>
          <p:nvPr/>
        </p:nvSpPr>
        <p:spPr>
          <a:xfrm>
            <a:off x="10337190" y="4582148"/>
            <a:ext cx="633507" cy="369332"/>
          </a:xfrm>
          <a:prstGeom prst="rect">
            <a:avLst/>
          </a:prstGeom>
        </p:spPr>
        <p:txBody>
          <a:bodyPr wrap="none">
            <a:spAutoFit/>
          </a:bodyPr>
          <a:lstStyle/>
          <a:p>
            <a:r>
              <a:rPr lang="en-US" altLang="zh-CN" dirty="0">
                <a:latin typeface="Times New Roman" panose="02020603050405020304" pitchFamily="18" charset="0"/>
                <a:ea typeface="微软雅黑" panose="020B0503020204020204" pitchFamily="34" charset="-122"/>
              </a:rPr>
              <a:t>Tx 7</a:t>
            </a:r>
          </a:p>
        </p:txBody>
      </p:sp>
      <p:cxnSp>
        <p:nvCxnSpPr>
          <p:cNvPr id="53" name="直接箭头连接符 52">
            <a:extLst>
              <a:ext uri="{FF2B5EF4-FFF2-40B4-BE49-F238E27FC236}">
                <a16:creationId xmlns:a16="http://schemas.microsoft.com/office/drawing/2014/main" id="{B1D8C5E2-F226-420D-A034-78971880B8CC}"/>
              </a:ext>
            </a:extLst>
          </p:cNvPr>
          <p:cNvCxnSpPr>
            <a:cxnSpLocks/>
            <a:stCxn id="45" idx="3"/>
            <a:endCxn id="51" idx="1"/>
          </p:cNvCxnSpPr>
          <p:nvPr/>
        </p:nvCxnSpPr>
        <p:spPr>
          <a:xfrm>
            <a:off x="8561413" y="5593223"/>
            <a:ext cx="1056096" cy="0"/>
          </a:xfrm>
          <a:prstGeom prst="straightConnector1">
            <a:avLst/>
          </a:prstGeom>
          <a:ln w="1905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89CF15D-605E-436A-B5C6-6A076F8E634C}"/>
              </a:ext>
            </a:extLst>
          </p:cNvPr>
          <p:cNvCxnSpPr>
            <a:stCxn id="45" idx="1"/>
            <a:endCxn id="45" idx="3"/>
          </p:cNvCxnSpPr>
          <p:nvPr/>
        </p:nvCxnSpPr>
        <p:spPr>
          <a:xfrm>
            <a:off x="6316914" y="5593223"/>
            <a:ext cx="2244499"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05BD9C4-63E3-4170-A8A7-F6D21EA2A78C}"/>
              </a:ext>
            </a:extLst>
          </p:cNvPr>
          <p:cNvCxnSpPr>
            <a:cxnSpLocks/>
            <a:stCxn id="51" idx="1"/>
            <a:endCxn id="51" idx="3"/>
          </p:cNvCxnSpPr>
          <p:nvPr/>
        </p:nvCxnSpPr>
        <p:spPr>
          <a:xfrm>
            <a:off x="9617509" y="5593223"/>
            <a:ext cx="2244499"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51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4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9"/>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0"/>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1"/>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5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53"/>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4"/>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animBg="1"/>
      <p:bldP spid="9" grpId="0" animBg="1"/>
      <p:bldP spid="10" grpId="0" animBg="1"/>
      <p:bldP spid="11" grpId="0" animBg="1"/>
      <p:bldP spid="11" grpId="1" animBg="1"/>
      <p:bldP spid="16" grpId="0" animBg="1"/>
      <p:bldP spid="19" grpId="0"/>
      <p:bldP spid="20" grpId="0"/>
      <p:bldP spid="21" grpId="0"/>
      <p:bldP spid="23" grpId="0"/>
      <p:bldP spid="25" grpId="0"/>
      <p:bldP spid="27" grpId="0"/>
      <p:bldP spid="31" grpId="0" animBg="1"/>
      <p:bldP spid="32" grpId="0" animBg="1"/>
      <p:bldP spid="33" grpId="0" animBg="1"/>
      <p:bldP spid="34" grpId="0" animBg="1"/>
      <p:bldP spid="36" grpId="0"/>
      <p:bldP spid="37" grpId="0"/>
      <p:bldP spid="38" grpId="0"/>
      <p:bldP spid="41" grpId="0"/>
      <p:bldP spid="42" grpId="0"/>
      <p:bldP spid="43" grpId="0"/>
      <p:bldP spid="44" grpId="0"/>
      <p:bldP spid="45" grpId="0" animBg="1"/>
      <p:bldP spid="46" grpId="0"/>
      <p:bldP spid="47" grpId="0"/>
      <p:bldP spid="48" grpId="0"/>
      <p:bldP spid="49" grpId="0"/>
      <p:bldP spid="50" grpId="0"/>
      <p:bldP spid="51" grpId="0" animBg="1"/>
      <p:bldP spid="5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UTXO</a:t>
            </a:r>
            <a:r>
              <a:rPr lang="zh-CN" altLang="en-US" dirty="0"/>
              <a:t>模型</a:t>
            </a:r>
            <a:endParaRPr lang="en-US" altLang="zh-CN" dirty="0"/>
          </a:p>
        </p:txBody>
      </p:sp>
      <p:sp>
        <p:nvSpPr>
          <p:cNvPr id="3" name="内容占位符 2"/>
          <p:cNvSpPr>
            <a:spLocks noGrp="1"/>
          </p:cNvSpPr>
          <p:nvPr>
            <p:ph idx="1"/>
          </p:nvPr>
        </p:nvSpPr>
        <p:spPr>
          <a:xfrm>
            <a:off x="838200" y="1510758"/>
            <a:ext cx="9888940" cy="4727809"/>
          </a:xfrm>
        </p:spPr>
        <p:txBody>
          <a:bodyPr>
            <a:normAutofit fontScale="70000" lnSpcReduction="20000"/>
          </a:bodyPr>
          <a:lstStyle/>
          <a:p>
            <a:pPr fontAlgn="auto">
              <a:lnSpc>
                <a:spcPct val="130000"/>
              </a:lnSpc>
            </a:pPr>
            <a:r>
              <a:rPr lang="zh-CN" altLang="en-US" dirty="0"/>
              <a:t>如何计算</a:t>
            </a:r>
            <a:r>
              <a:rPr lang="en-US" altLang="zh-CN" dirty="0"/>
              <a:t>Bob</a:t>
            </a:r>
            <a:r>
              <a:rPr lang="zh-CN" altLang="en-US" dirty="0"/>
              <a:t>拥有多少的比特币？</a:t>
            </a:r>
            <a:endParaRPr lang="en-US" altLang="zh-CN" dirty="0"/>
          </a:p>
          <a:p>
            <a:pPr lvl="1">
              <a:lnSpc>
                <a:spcPct val="130000"/>
              </a:lnSpc>
            </a:pPr>
            <a:r>
              <a:rPr lang="zh-CN" altLang="en-US" sz="2900" dirty="0">
                <a:solidFill>
                  <a:prstClr val="black"/>
                </a:solidFill>
              </a:rPr>
              <a:t>回到最开始</a:t>
            </a:r>
            <a:r>
              <a:rPr lang="en-GB" altLang="zh-CN" sz="2900" dirty="0">
                <a:solidFill>
                  <a:prstClr val="black"/>
                </a:solidFill>
              </a:rPr>
              <a:t>Alice</a:t>
            </a:r>
            <a:r>
              <a:rPr lang="zh-CN" altLang="en-US" sz="2900" dirty="0">
                <a:solidFill>
                  <a:prstClr val="black"/>
                </a:solidFill>
              </a:rPr>
              <a:t>和</a:t>
            </a:r>
            <a:r>
              <a:rPr lang="en-GB" altLang="zh-CN" sz="2900" dirty="0">
                <a:solidFill>
                  <a:prstClr val="black"/>
                </a:solidFill>
              </a:rPr>
              <a:t>Bob</a:t>
            </a:r>
            <a:r>
              <a:rPr lang="zh-CN" altLang="en-US" sz="2900" dirty="0">
                <a:solidFill>
                  <a:prstClr val="black"/>
                </a:solidFill>
              </a:rPr>
              <a:t>的交易，</a:t>
            </a:r>
            <a:r>
              <a:rPr lang="en-GB" altLang="zh-CN" sz="2900" dirty="0">
                <a:solidFill>
                  <a:prstClr val="black"/>
                </a:solidFill>
              </a:rPr>
              <a:t>Bob</a:t>
            </a:r>
            <a:r>
              <a:rPr lang="zh-CN" altLang="en-US" sz="2900" dirty="0">
                <a:solidFill>
                  <a:prstClr val="black"/>
                </a:solidFill>
              </a:rPr>
              <a:t>通过自己密钥生成对应解锁脚本的方式得到这个交易输出的</a:t>
            </a:r>
            <a:r>
              <a:rPr lang="en-US" altLang="zh-CN" sz="2900" dirty="0">
                <a:solidFill>
                  <a:prstClr val="black"/>
                </a:solidFill>
              </a:rPr>
              <a:t>1</a:t>
            </a:r>
            <a:r>
              <a:rPr lang="zh-CN" altLang="en-US" sz="2900" dirty="0">
                <a:solidFill>
                  <a:prstClr val="black"/>
                </a:solidFill>
              </a:rPr>
              <a:t>个</a:t>
            </a:r>
            <a:r>
              <a:rPr lang="en-GB" altLang="zh-CN" sz="2900" dirty="0">
                <a:solidFill>
                  <a:prstClr val="black"/>
                </a:solidFill>
              </a:rPr>
              <a:t>BTC</a:t>
            </a:r>
            <a:r>
              <a:rPr lang="zh-CN" altLang="en-US" sz="2900" dirty="0">
                <a:solidFill>
                  <a:prstClr val="black"/>
                </a:solidFill>
              </a:rPr>
              <a:t>的所有权，但</a:t>
            </a:r>
            <a:r>
              <a:rPr lang="en-GB" altLang="zh-CN" sz="2900" dirty="0">
                <a:solidFill>
                  <a:prstClr val="black"/>
                </a:solidFill>
              </a:rPr>
              <a:t>Bob</a:t>
            </a:r>
            <a:r>
              <a:rPr lang="zh-CN" altLang="en-US" sz="2900" dirty="0">
                <a:solidFill>
                  <a:prstClr val="black"/>
                </a:solidFill>
              </a:rPr>
              <a:t>拥有了这个交易的输出的所有权不等于拥有这个比特币。</a:t>
            </a:r>
            <a:endParaRPr lang="en-US" altLang="zh-CN" sz="2900" dirty="0">
              <a:solidFill>
                <a:prstClr val="black"/>
              </a:solidFill>
            </a:endParaRPr>
          </a:p>
          <a:p>
            <a:pPr lvl="1">
              <a:lnSpc>
                <a:spcPct val="130000"/>
              </a:lnSpc>
            </a:pPr>
            <a:r>
              <a:rPr lang="zh-CN" altLang="en-US" sz="2900" dirty="0">
                <a:solidFill>
                  <a:prstClr val="black"/>
                </a:solidFill>
              </a:rPr>
              <a:t>当</a:t>
            </a:r>
            <a:r>
              <a:rPr lang="en-US" altLang="zh-CN" sz="2900" dirty="0">
                <a:solidFill>
                  <a:prstClr val="black"/>
                </a:solidFill>
              </a:rPr>
              <a:t>Bob</a:t>
            </a:r>
            <a:r>
              <a:rPr lang="zh-CN" altLang="en-US" sz="2900" dirty="0">
                <a:solidFill>
                  <a:prstClr val="black"/>
                </a:solidFill>
              </a:rPr>
              <a:t>下次想要把这</a:t>
            </a:r>
            <a:r>
              <a:rPr lang="en-US" altLang="zh-CN" sz="2900" dirty="0">
                <a:solidFill>
                  <a:prstClr val="black"/>
                </a:solidFill>
              </a:rPr>
              <a:t>1</a:t>
            </a:r>
            <a:r>
              <a:rPr lang="zh-CN" altLang="en-US" sz="2900" dirty="0">
                <a:solidFill>
                  <a:prstClr val="black"/>
                </a:solidFill>
              </a:rPr>
              <a:t>个</a:t>
            </a:r>
            <a:r>
              <a:rPr lang="en-US" altLang="zh-CN" sz="2900" dirty="0">
                <a:solidFill>
                  <a:prstClr val="black"/>
                </a:solidFill>
              </a:rPr>
              <a:t>BTC</a:t>
            </a:r>
            <a:r>
              <a:rPr lang="zh-CN" altLang="en-US" sz="2900" dirty="0">
                <a:solidFill>
                  <a:prstClr val="black"/>
                </a:solidFill>
              </a:rPr>
              <a:t>转账给</a:t>
            </a:r>
            <a:r>
              <a:rPr lang="en-US" altLang="zh-CN" sz="2900" dirty="0">
                <a:solidFill>
                  <a:prstClr val="black"/>
                </a:solidFill>
              </a:rPr>
              <a:t>Cathy</a:t>
            </a:r>
            <a:r>
              <a:rPr lang="zh-CN" altLang="en-US" sz="2900" dirty="0">
                <a:solidFill>
                  <a:prstClr val="black"/>
                </a:solidFill>
              </a:rPr>
              <a:t>的时候，就可以通过类似的方式构建一个交易，把这个输出的</a:t>
            </a:r>
            <a:r>
              <a:rPr lang="en-US" altLang="zh-CN" sz="2900" dirty="0">
                <a:solidFill>
                  <a:prstClr val="black"/>
                </a:solidFill>
              </a:rPr>
              <a:t>1</a:t>
            </a:r>
            <a:r>
              <a:rPr lang="zh-CN" altLang="en-US" sz="2900" dirty="0">
                <a:solidFill>
                  <a:prstClr val="black"/>
                </a:solidFill>
              </a:rPr>
              <a:t>个</a:t>
            </a:r>
            <a:r>
              <a:rPr lang="en-US" altLang="zh-CN" sz="2900" dirty="0">
                <a:solidFill>
                  <a:prstClr val="black"/>
                </a:solidFill>
              </a:rPr>
              <a:t>BTC</a:t>
            </a:r>
            <a:r>
              <a:rPr lang="zh-CN" altLang="en-US" sz="2900" dirty="0">
                <a:solidFill>
                  <a:prstClr val="black"/>
                </a:solidFill>
              </a:rPr>
              <a:t>转账给</a:t>
            </a:r>
            <a:r>
              <a:rPr lang="en-US" altLang="zh-CN" sz="2900" dirty="0">
                <a:solidFill>
                  <a:prstClr val="black"/>
                </a:solidFill>
              </a:rPr>
              <a:t>Cathy</a:t>
            </a:r>
            <a:r>
              <a:rPr lang="zh-CN" altLang="en-US" sz="2900" dirty="0">
                <a:solidFill>
                  <a:prstClr val="black"/>
                </a:solidFill>
              </a:rPr>
              <a:t>，让</a:t>
            </a:r>
            <a:r>
              <a:rPr lang="en-US" altLang="zh-CN" sz="2900" dirty="0">
                <a:solidFill>
                  <a:prstClr val="black"/>
                </a:solidFill>
              </a:rPr>
              <a:t>Cathy</a:t>
            </a:r>
            <a:r>
              <a:rPr lang="zh-CN" altLang="en-US" sz="2900" dirty="0">
                <a:solidFill>
                  <a:prstClr val="black"/>
                </a:solidFill>
              </a:rPr>
              <a:t>获得新交易的输出的所有权。新交易完成后，原交易中</a:t>
            </a:r>
            <a:r>
              <a:rPr lang="en-US" altLang="zh-CN" sz="2900" dirty="0">
                <a:solidFill>
                  <a:prstClr val="black"/>
                </a:solidFill>
              </a:rPr>
              <a:t>Alice</a:t>
            </a:r>
            <a:r>
              <a:rPr lang="zh-CN" altLang="en-US" sz="2900" dirty="0">
                <a:solidFill>
                  <a:prstClr val="black"/>
                </a:solidFill>
              </a:rPr>
              <a:t>对</a:t>
            </a:r>
            <a:r>
              <a:rPr lang="en-US" altLang="zh-CN" sz="2900" dirty="0">
                <a:solidFill>
                  <a:prstClr val="black"/>
                </a:solidFill>
              </a:rPr>
              <a:t>Bob</a:t>
            </a:r>
            <a:r>
              <a:rPr lang="zh-CN" altLang="en-US" sz="2900" dirty="0">
                <a:solidFill>
                  <a:prstClr val="black"/>
                </a:solidFill>
              </a:rPr>
              <a:t>转账的输出依旧是存在的，所有权依然是</a:t>
            </a:r>
            <a:r>
              <a:rPr lang="en-US" altLang="zh-CN" sz="2900" dirty="0">
                <a:solidFill>
                  <a:prstClr val="black"/>
                </a:solidFill>
              </a:rPr>
              <a:t>Bob</a:t>
            </a:r>
            <a:r>
              <a:rPr lang="zh-CN" altLang="en-US" sz="2900" dirty="0">
                <a:solidFill>
                  <a:prstClr val="black"/>
                </a:solidFill>
              </a:rPr>
              <a:t>，然而</a:t>
            </a:r>
            <a:r>
              <a:rPr lang="en-US" altLang="zh-CN" sz="2900" dirty="0">
                <a:solidFill>
                  <a:prstClr val="black"/>
                </a:solidFill>
              </a:rPr>
              <a:t>Bob</a:t>
            </a:r>
            <a:r>
              <a:rPr lang="zh-CN" altLang="en-US" sz="2900" dirty="0">
                <a:solidFill>
                  <a:prstClr val="black"/>
                </a:solidFill>
              </a:rPr>
              <a:t>不可能再进行转账了</a:t>
            </a:r>
            <a:r>
              <a:rPr lang="en-US" altLang="zh-CN" sz="2900" dirty="0">
                <a:solidFill>
                  <a:prstClr val="black"/>
                </a:solidFill>
              </a:rPr>
              <a:t>——</a:t>
            </a:r>
            <a:r>
              <a:rPr lang="zh-CN" altLang="en-US" sz="2900" dirty="0">
                <a:solidFill>
                  <a:prstClr val="black"/>
                </a:solidFill>
              </a:rPr>
              <a:t>它已经被“花费”出去了。</a:t>
            </a:r>
            <a:endParaRPr lang="en-US" altLang="zh-CN" sz="2900" dirty="0">
              <a:solidFill>
                <a:prstClr val="black"/>
              </a:solidFill>
            </a:endParaRPr>
          </a:p>
          <a:p>
            <a:pPr lvl="1">
              <a:lnSpc>
                <a:spcPct val="130000"/>
              </a:lnSpc>
            </a:pPr>
            <a:r>
              <a:rPr lang="zh-CN" altLang="en-US" sz="2900" dirty="0"/>
              <a:t>因此，衡量</a:t>
            </a:r>
            <a:r>
              <a:rPr lang="en-US" altLang="zh-CN" sz="2900" dirty="0"/>
              <a:t>Alice</a:t>
            </a:r>
            <a:r>
              <a:rPr lang="zh-CN" altLang="en-US" sz="2900" dirty="0"/>
              <a:t>或者</a:t>
            </a:r>
            <a:r>
              <a:rPr lang="en-US" altLang="zh-CN" sz="2900" dirty="0"/>
              <a:t>Bob</a:t>
            </a:r>
            <a:r>
              <a:rPr lang="zh-CN" altLang="en-US" sz="2900" dirty="0"/>
              <a:t>到底拥有多少比特币，不能仅仅看她</a:t>
            </a:r>
            <a:r>
              <a:rPr lang="en-US" altLang="zh-CN" sz="2900" dirty="0"/>
              <a:t>/</a:t>
            </a:r>
            <a:r>
              <a:rPr lang="zh-CN" altLang="en-US" sz="2900" dirty="0"/>
              <a:t>他到底拥有了多少交易的输出，还要看这些交易输出到底有没有被所有者“花出去”。</a:t>
            </a:r>
            <a:endParaRPr lang="en-US" altLang="zh-CN" sz="2900" dirty="0"/>
          </a:p>
          <a:p>
            <a:pPr lvl="1">
              <a:lnSpc>
                <a:spcPct val="130000"/>
              </a:lnSpc>
            </a:pPr>
            <a:endParaRPr lang="zh-CN" altLang="en-US"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UTXO</a:t>
            </a:r>
            <a:r>
              <a:rPr lang="zh-CN" altLang="en-US" dirty="0"/>
              <a:t>模型</a:t>
            </a:r>
            <a:endParaRPr lang="en-US" altLang="zh-CN" dirty="0"/>
          </a:p>
        </p:txBody>
      </p:sp>
      <p:sp>
        <p:nvSpPr>
          <p:cNvPr id="3" name="内容占位符 2"/>
          <p:cNvSpPr>
            <a:spLocks noGrp="1"/>
          </p:cNvSpPr>
          <p:nvPr>
            <p:ph idx="1"/>
          </p:nvPr>
        </p:nvSpPr>
        <p:spPr>
          <a:xfrm>
            <a:off x="838200" y="1510758"/>
            <a:ext cx="9888940" cy="2677783"/>
          </a:xfrm>
        </p:spPr>
        <p:txBody>
          <a:bodyPr>
            <a:normAutofit fontScale="77500" lnSpcReduction="20000"/>
          </a:bodyPr>
          <a:lstStyle/>
          <a:p>
            <a:pPr fontAlgn="auto">
              <a:lnSpc>
                <a:spcPct val="130000"/>
              </a:lnSpc>
            </a:pPr>
            <a:r>
              <a:rPr lang="zh-CN" altLang="en-US" dirty="0"/>
              <a:t>利用</a:t>
            </a:r>
            <a:r>
              <a:rPr lang="en-US" altLang="zh-CN" dirty="0"/>
              <a:t>UTXO</a:t>
            </a:r>
            <a:r>
              <a:rPr lang="zh-CN" altLang="en-US" dirty="0"/>
              <a:t>模型计算</a:t>
            </a:r>
            <a:r>
              <a:rPr lang="en-US" altLang="zh-CN" dirty="0"/>
              <a:t>Bob</a:t>
            </a:r>
            <a:r>
              <a:rPr lang="zh-CN" altLang="en-US" dirty="0"/>
              <a:t>所拥有的比特币</a:t>
            </a:r>
            <a:endParaRPr lang="en-US" altLang="zh-CN" dirty="0"/>
          </a:p>
          <a:p>
            <a:pPr lvl="1">
              <a:lnSpc>
                <a:spcPct val="130000"/>
              </a:lnSpc>
            </a:pPr>
            <a:r>
              <a:rPr lang="zh-CN" altLang="en-US" dirty="0">
                <a:solidFill>
                  <a:prstClr val="black"/>
                </a:solidFill>
              </a:rPr>
              <a:t>如图所示，</a:t>
            </a:r>
            <a:r>
              <a:rPr lang="en-GB" altLang="zh-CN" dirty="0">
                <a:solidFill>
                  <a:prstClr val="black"/>
                </a:solidFill>
              </a:rPr>
              <a:t>Bob</a:t>
            </a:r>
            <a:r>
              <a:rPr lang="zh-CN" altLang="en-US" dirty="0">
                <a:solidFill>
                  <a:prstClr val="black"/>
                </a:solidFill>
              </a:rPr>
              <a:t>的</a:t>
            </a:r>
            <a:r>
              <a:rPr lang="en-US" altLang="zh-CN" dirty="0">
                <a:solidFill>
                  <a:prstClr val="black"/>
                </a:solidFill>
              </a:rPr>
              <a:t>1</a:t>
            </a:r>
            <a:r>
              <a:rPr lang="zh-CN" altLang="en-US" dirty="0">
                <a:solidFill>
                  <a:prstClr val="black"/>
                </a:solidFill>
              </a:rPr>
              <a:t>个</a:t>
            </a:r>
            <a:r>
              <a:rPr lang="en-GB" altLang="zh-CN" dirty="0">
                <a:solidFill>
                  <a:prstClr val="black"/>
                </a:solidFill>
              </a:rPr>
              <a:t>BTC</a:t>
            </a:r>
            <a:r>
              <a:rPr lang="zh-CN" altLang="en-US" dirty="0">
                <a:solidFill>
                  <a:prstClr val="black"/>
                </a:solidFill>
              </a:rPr>
              <a:t>的交易输出已经花费，而</a:t>
            </a:r>
            <a:r>
              <a:rPr lang="en-US" altLang="zh-CN" dirty="0">
                <a:solidFill>
                  <a:prstClr val="black"/>
                </a:solidFill>
              </a:rPr>
              <a:t>0.5</a:t>
            </a:r>
            <a:r>
              <a:rPr lang="zh-CN" altLang="en-US" dirty="0">
                <a:solidFill>
                  <a:prstClr val="black"/>
                </a:solidFill>
              </a:rPr>
              <a:t>个</a:t>
            </a:r>
            <a:r>
              <a:rPr lang="en-GB" altLang="zh-CN" dirty="0">
                <a:solidFill>
                  <a:prstClr val="black"/>
                </a:solidFill>
              </a:rPr>
              <a:t>BTC</a:t>
            </a:r>
            <a:r>
              <a:rPr lang="zh-CN" altLang="en-US" dirty="0">
                <a:solidFill>
                  <a:prstClr val="black"/>
                </a:solidFill>
              </a:rPr>
              <a:t>的交易输出则尚未花费，代表了</a:t>
            </a:r>
            <a:r>
              <a:rPr lang="en-GB" altLang="zh-CN" dirty="0">
                <a:solidFill>
                  <a:prstClr val="black"/>
                </a:solidFill>
              </a:rPr>
              <a:t>Bob</a:t>
            </a:r>
            <a:r>
              <a:rPr lang="zh-CN" altLang="en-US" dirty="0">
                <a:solidFill>
                  <a:prstClr val="black"/>
                </a:solidFill>
              </a:rPr>
              <a:t>的用户余额。在比特币的世界里，这些还没有花费出去的交易才能够真正地反映出一个用户所拥有的比特币，它们被称之为未花费交易输出（</a:t>
            </a:r>
            <a:r>
              <a:rPr lang="en-GB" altLang="zh-CN" dirty="0">
                <a:solidFill>
                  <a:prstClr val="black"/>
                </a:solidFill>
              </a:rPr>
              <a:t>Unspent Transaction Output</a:t>
            </a:r>
            <a:r>
              <a:rPr lang="zh-CN" altLang="en-GB" dirty="0">
                <a:solidFill>
                  <a:prstClr val="black"/>
                </a:solidFill>
              </a:rPr>
              <a:t>）</a:t>
            </a:r>
            <a:r>
              <a:rPr lang="en-GB" altLang="zh-CN" dirty="0">
                <a:solidFill>
                  <a:prstClr val="black"/>
                </a:solidFill>
              </a:rPr>
              <a:t>, </a:t>
            </a:r>
            <a:r>
              <a:rPr lang="zh-CN" altLang="en-US" dirty="0">
                <a:solidFill>
                  <a:prstClr val="black"/>
                </a:solidFill>
              </a:rPr>
              <a:t>简称为</a:t>
            </a:r>
            <a:r>
              <a:rPr lang="en-GB" altLang="zh-CN" dirty="0">
                <a:solidFill>
                  <a:prstClr val="black"/>
                </a:solidFill>
              </a:rPr>
              <a:t>UTXO</a:t>
            </a:r>
            <a:r>
              <a:rPr lang="zh-CN" altLang="en-GB"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只要我们把比特币系统上的所有交易执行一遍，将所有由</a:t>
            </a:r>
            <a:r>
              <a:rPr lang="en-GB" altLang="zh-CN" dirty="0">
                <a:solidFill>
                  <a:prstClr val="black"/>
                </a:solidFill>
              </a:rPr>
              <a:t>Bob</a:t>
            </a:r>
            <a:r>
              <a:rPr lang="zh-CN" altLang="en-US" dirty="0">
                <a:solidFill>
                  <a:prstClr val="black"/>
                </a:solidFill>
              </a:rPr>
              <a:t>才可以解锁的、同时也是还没有被“花费”的交易输出收集起来，我们就可以得到</a:t>
            </a:r>
            <a:r>
              <a:rPr lang="en-GB" altLang="zh-CN" dirty="0">
                <a:solidFill>
                  <a:prstClr val="black"/>
                </a:solidFill>
              </a:rPr>
              <a:t>Bob</a:t>
            </a:r>
            <a:r>
              <a:rPr lang="zh-CN" altLang="en-US" dirty="0">
                <a:solidFill>
                  <a:prstClr val="black"/>
                </a:solidFill>
              </a:rPr>
              <a:t>用户的比特币余额</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pic>
        <p:nvPicPr>
          <p:cNvPr id="4" name="图片 3"/>
          <p:cNvPicPr>
            <a:picLocks noChangeAspect="1"/>
          </p:cNvPicPr>
          <p:nvPr/>
        </p:nvPicPr>
        <p:blipFill>
          <a:blip r:embed="rId3"/>
          <a:stretch>
            <a:fillRect/>
          </a:stretch>
        </p:blipFill>
        <p:spPr>
          <a:xfrm>
            <a:off x="2184225" y="4023854"/>
            <a:ext cx="7196887" cy="2449006"/>
          </a:xfrm>
          <a:prstGeom prst="rect">
            <a:avLst/>
          </a:prstGeom>
        </p:spPr>
      </p:pic>
      <p:sp>
        <p:nvSpPr>
          <p:cNvPr id="6" name="文本框 5"/>
          <p:cNvSpPr txBox="1"/>
          <p:nvPr/>
        </p:nvSpPr>
        <p:spPr>
          <a:xfrm>
            <a:off x="4305342" y="6472860"/>
            <a:ext cx="2954655" cy="369332"/>
          </a:xfrm>
          <a:prstGeom prst="rect">
            <a:avLst/>
          </a:prstGeom>
          <a:noFill/>
        </p:spPr>
        <p:txBody>
          <a:bodyPr wrap="none" rtlCol="0">
            <a:spAutoFit/>
          </a:bodyPr>
          <a:lstStyle/>
          <a:p>
            <a:r>
              <a:rPr kumimoji="1" lang="zh-CN" altLang="en-US" dirty="0"/>
              <a:t>未花费与已花费的交易输出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UTXO</a:t>
            </a:r>
            <a:r>
              <a:rPr lang="zh-CN" altLang="en-US" dirty="0"/>
              <a:t>模型</a:t>
            </a:r>
            <a:endParaRPr lang="en-US" altLang="zh-CN" dirty="0"/>
          </a:p>
        </p:txBody>
      </p:sp>
      <p:sp>
        <p:nvSpPr>
          <p:cNvPr id="3" name="内容占位符 2"/>
          <p:cNvSpPr>
            <a:spLocks noGrp="1"/>
          </p:cNvSpPr>
          <p:nvPr>
            <p:ph idx="1"/>
          </p:nvPr>
        </p:nvSpPr>
        <p:spPr>
          <a:xfrm>
            <a:off x="838200" y="1510759"/>
            <a:ext cx="9888940" cy="5067022"/>
          </a:xfrm>
        </p:spPr>
        <p:txBody>
          <a:bodyPr>
            <a:normAutofit lnSpcReduction="10000"/>
          </a:bodyPr>
          <a:lstStyle/>
          <a:p>
            <a:pPr fontAlgn="auto">
              <a:lnSpc>
                <a:spcPct val="130000"/>
              </a:lnSpc>
            </a:pPr>
            <a:r>
              <a:rPr lang="zh-CN" altLang="en-US" dirty="0"/>
              <a:t>可回溯的交易链条</a:t>
            </a:r>
            <a:r>
              <a:rPr lang="zh-CN" altLang="en-US" b="1" dirty="0">
                <a:solidFill>
                  <a:srgbClr val="C00000"/>
                </a:solidFill>
              </a:rPr>
              <a:t>（交易驱动的账本</a:t>
            </a:r>
            <a:r>
              <a:rPr lang="en-US" altLang="zh-CN" b="1" dirty="0">
                <a:solidFill>
                  <a:srgbClr val="C00000"/>
                </a:solidFill>
              </a:rPr>
              <a:t>——</a:t>
            </a:r>
            <a:r>
              <a:rPr lang="zh-CN" altLang="en-US" b="1" dirty="0">
                <a:solidFill>
                  <a:srgbClr val="C00000"/>
                </a:solidFill>
              </a:rPr>
              <a:t>货币流通过程）</a:t>
            </a:r>
            <a:endParaRPr lang="en-US" altLang="zh-CN" b="1" dirty="0">
              <a:solidFill>
                <a:srgbClr val="C00000"/>
              </a:solidFill>
            </a:endParaRPr>
          </a:p>
          <a:p>
            <a:pPr lvl="1">
              <a:lnSpc>
                <a:spcPct val="130000"/>
              </a:lnSpc>
            </a:pPr>
            <a:r>
              <a:rPr lang="zh-CN" altLang="en-US" dirty="0">
                <a:solidFill>
                  <a:prstClr val="black"/>
                </a:solidFill>
              </a:rPr>
              <a:t>在比特币的</a:t>
            </a:r>
            <a:r>
              <a:rPr lang="en-GB" altLang="zh-CN" dirty="0">
                <a:solidFill>
                  <a:prstClr val="black"/>
                </a:solidFill>
              </a:rPr>
              <a:t>UTXO</a:t>
            </a:r>
            <a:r>
              <a:rPr lang="zh-CN" altLang="en-US" dirty="0">
                <a:solidFill>
                  <a:prstClr val="black"/>
                </a:solidFill>
              </a:rPr>
              <a:t>模型中，比特币并非凭空产生的，而是通过前人的交易得来的，前人的比特币又是通过更为前面的交易获取的。这样我们可以对任意的比特币不断回溯，直到最初产生比特币的起点（如何产生我们后面细讲）。在比特币的白皮书中，使用了“电子货币（指比特币）是一条数字签名链”的说法，讲的便是这样一个回溯的链条。在这个链条中，每一个节点都是一次比特币的交易，都是一次比特币所有者的签名认证与输出使用。当前任意一个比特币的持有证明，都是通过前面一层又一层交易的签名确认而得到的。最后，最新一笔交易的接收人可以通过验证输出的锁定脚本来确认他是这一比特币链条的所有者。</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比特币浏览器</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8" name="文本框 7">
            <a:extLst>
              <a:ext uri="{FF2B5EF4-FFF2-40B4-BE49-F238E27FC236}">
                <a16:creationId xmlns:a16="http://schemas.microsoft.com/office/drawing/2014/main" id="{80E0CB46-9003-4B27-9860-5C5A1127C50B}"/>
              </a:ext>
            </a:extLst>
          </p:cNvPr>
          <p:cNvSpPr txBox="1"/>
          <p:nvPr/>
        </p:nvSpPr>
        <p:spPr>
          <a:xfrm>
            <a:off x="480291" y="1422371"/>
            <a:ext cx="3657600" cy="461665"/>
          </a:xfrm>
          <a:prstGeom prst="rect">
            <a:avLst/>
          </a:prstGeom>
          <a:noFill/>
        </p:spPr>
        <p:txBody>
          <a:bodyPr wrap="square">
            <a:spAutoFit/>
          </a:bodyPr>
          <a:lstStyle/>
          <a:p>
            <a:r>
              <a:rPr lang="zh-CN" altLang="en-US" sz="2400" dirty="0">
                <a:latin typeface="Garamond" panose="02020404030301010803" pitchFamily="18" charset="0"/>
                <a:hlinkClick r:id="rId3"/>
              </a:rPr>
              <a:t>https://bitcoinexplorer.org/</a:t>
            </a:r>
            <a:r>
              <a:rPr lang="zh-CN" altLang="en-US" sz="2400" dirty="0">
                <a:latin typeface="Garamond" panose="02020404030301010803" pitchFamily="18" charset="0"/>
              </a:rPr>
              <a:t> </a:t>
            </a:r>
          </a:p>
        </p:txBody>
      </p:sp>
      <p:pic>
        <p:nvPicPr>
          <p:cNvPr id="9" name="图片 8">
            <a:extLst>
              <a:ext uri="{FF2B5EF4-FFF2-40B4-BE49-F238E27FC236}">
                <a16:creationId xmlns:a16="http://schemas.microsoft.com/office/drawing/2014/main" id="{BC0CF719-2C3D-4975-9E5B-63ECF9C5C054}"/>
              </a:ext>
            </a:extLst>
          </p:cNvPr>
          <p:cNvPicPr>
            <a:picLocks noChangeAspect="1"/>
          </p:cNvPicPr>
          <p:nvPr/>
        </p:nvPicPr>
        <p:blipFill>
          <a:blip r:embed="rId4"/>
          <a:stretch>
            <a:fillRect/>
          </a:stretch>
        </p:blipFill>
        <p:spPr>
          <a:xfrm>
            <a:off x="1447831" y="1133340"/>
            <a:ext cx="8977714" cy="5405572"/>
          </a:xfrm>
          <a:prstGeom prst="rect">
            <a:avLst/>
          </a:prstGeom>
        </p:spPr>
      </p:pic>
    </p:spTree>
    <p:extLst>
      <p:ext uri="{BB962C8B-B14F-4D97-AF65-F5344CB8AC3E}">
        <p14:creationId xmlns:p14="http://schemas.microsoft.com/office/powerpoint/2010/main" val="241378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zh-CN" altLang="en-US" dirty="0"/>
              <a:t>了解比特币诞生背景</a:t>
            </a:r>
            <a:endParaRPr kumimoji="1" lang="en-US" altLang="zh-CN" dirty="0"/>
          </a:p>
          <a:p>
            <a:pPr>
              <a:lnSpc>
                <a:spcPct val="120000"/>
              </a:lnSpc>
            </a:pPr>
            <a:r>
              <a:rPr kumimoji="1" lang="zh-CN" altLang="en-US" dirty="0"/>
              <a:t>了解交易脚本、公钥与地址</a:t>
            </a:r>
            <a:endParaRPr kumimoji="1" lang="en-US" altLang="zh-CN" dirty="0"/>
          </a:p>
          <a:p>
            <a:pPr>
              <a:lnSpc>
                <a:spcPct val="120000"/>
              </a:lnSpc>
            </a:pPr>
            <a:r>
              <a:rPr kumimoji="1" lang="zh-CN" altLang="en-US" b="1" dirty="0">
                <a:solidFill>
                  <a:srgbClr val="B962FF"/>
                </a:solidFill>
              </a:rPr>
              <a:t>掌握比特币基本数据结构</a:t>
            </a:r>
            <a:endParaRPr kumimoji="1" lang="en-US" altLang="zh-CN" b="1" dirty="0">
              <a:solidFill>
                <a:srgbClr val="B962FF"/>
              </a:solidFill>
            </a:endParaRPr>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1534</TotalTime>
  <Words>4290</Words>
  <Application>Microsoft Office PowerPoint</Application>
  <PresentationFormat>宽屏</PresentationFormat>
  <Paragraphs>774</Paragraphs>
  <Slides>48</Slides>
  <Notes>40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48</vt:i4>
      </vt:variant>
    </vt:vector>
  </HeadingPairs>
  <TitlesOfParts>
    <vt:vector size="60" baseType="lpstr">
      <vt:lpstr>等线</vt:lpstr>
      <vt:lpstr>Microsoft YaHei</vt:lpstr>
      <vt:lpstr>Microsoft YaHei</vt:lpstr>
      <vt:lpstr>Arial</vt:lpstr>
      <vt:lpstr>Calibri</vt:lpstr>
      <vt:lpstr>Cambria Math</vt:lpstr>
      <vt:lpstr>Courier New</vt:lpstr>
      <vt:lpstr>Garamond</vt:lpstr>
      <vt:lpstr>Times New Roman</vt:lpstr>
      <vt:lpstr>Wingdings</vt:lpstr>
      <vt:lpstr>webwppDefTheme</vt:lpstr>
      <vt:lpstr>Office 主题​​</vt:lpstr>
      <vt:lpstr>第三章 比特币 ——账户及数据结构</vt:lpstr>
      <vt:lpstr>本章内容</vt:lpstr>
      <vt:lpstr>比特币简介</vt:lpstr>
      <vt:lpstr>本章内容</vt:lpstr>
      <vt:lpstr>本章内容</vt:lpstr>
      <vt:lpstr>公钥密钥与地址</vt:lpstr>
      <vt:lpstr>私钥</vt:lpstr>
      <vt:lpstr>公钥</vt:lpstr>
      <vt:lpstr>普通地址</vt:lpstr>
      <vt:lpstr>普通地址</vt:lpstr>
      <vt:lpstr>普通地址</vt:lpstr>
      <vt:lpstr>Base58编码</vt:lpstr>
      <vt:lpstr>其他地址</vt:lpstr>
      <vt:lpstr>本章内容</vt:lpstr>
      <vt:lpstr>区块与链</vt:lpstr>
      <vt:lpstr>区块</vt:lpstr>
      <vt:lpstr>区块头</vt:lpstr>
      <vt:lpstr>区块头</vt:lpstr>
      <vt:lpstr>区块链</vt:lpstr>
      <vt:lpstr>区块链</vt:lpstr>
      <vt:lpstr>区块链</vt:lpstr>
      <vt:lpstr>Merkle树</vt:lpstr>
      <vt:lpstr>Merkle树</vt:lpstr>
      <vt:lpstr>Merkle树</vt:lpstr>
      <vt:lpstr>Merkle树</vt:lpstr>
      <vt:lpstr>Merkle树</vt:lpstr>
      <vt:lpstr>Merkle树</vt:lpstr>
      <vt:lpstr>Merkle树</vt:lpstr>
      <vt:lpstr>Merkle树</vt:lpstr>
      <vt:lpstr>区块链详细结构图</vt:lpstr>
      <vt:lpstr>账户与交易</vt:lpstr>
      <vt:lpstr>交易</vt:lpstr>
      <vt:lpstr>交易</vt:lpstr>
      <vt:lpstr>交易模型</vt:lpstr>
      <vt:lpstr>交易模型模型</vt:lpstr>
      <vt:lpstr>输出</vt:lpstr>
      <vt:lpstr>输出</vt:lpstr>
      <vt:lpstr>输出</vt:lpstr>
      <vt:lpstr>输入</vt:lpstr>
      <vt:lpstr>输入</vt:lpstr>
      <vt:lpstr>输入</vt:lpstr>
      <vt:lpstr>双花问题</vt:lpstr>
      <vt:lpstr>UTXO</vt:lpstr>
      <vt:lpstr>UTXO模型</vt:lpstr>
      <vt:lpstr>UTXO模型</vt:lpstr>
      <vt:lpstr>UTXO模型</vt:lpstr>
      <vt:lpstr>比特币浏览器</vt:lpstr>
      <vt:lpstr>本章总结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比特币</dc:title>
  <dc:creator>Yong Cui</dc:creator>
  <cp:lastModifiedBy>侯璐</cp:lastModifiedBy>
  <cp:revision>186</cp:revision>
  <dcterms:created xsi:type="dcterms:W3CDTF">2021-04-18T13:48:02Z</dcterms:created>
  <dcterms:modified xsi:type="dcterms:W3CDTF">2025-03-18T14:33:48Z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