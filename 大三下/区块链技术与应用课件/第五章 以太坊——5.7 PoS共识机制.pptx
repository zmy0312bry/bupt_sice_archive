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26"/>
  </p:notesMasterIdLst>
  <p:sldIdLst>
    <p:sldId id="1257" r:id="rId2"/>
    <p:sldId id="1363" r:id="rId3"/>
    <p:sldId id="1394" r:id="rId4"/>
    <p:sldId id="1401" r:id="rId5"/>
    <p:sldId id="1395" r:id="rId6"/>
    <p:sldId id="1396" r:id="rId7"/>
    <p:sldId id="1398" r:id="rId8"/>
    <p:sldId id="1397" r:id="rId9"/>
    <p:sldId id="1403" r:id="rId10"/>
    <p:sldId id="1404" r:id="rId11"/>
    <p:sldId id="1408" r:id="rId12"/>
    <p:sldId id="1409" r:id="rId13"/>
    <p:sldId id="1410" r:id="rId14"/>
    <p:sldId id="1411" r:id="rId15"/>
    <p:sldId id="1406" r:id="rId16"/>
    <p:sldId id="1407" r:id="rId17"/>
    <p:sldId id="1405" r:id="rId18"/>
    <p:sldId id="1412" r:id="rId19"/>
    <p:sldId id="1416" r:id="rId20"/>
    <p:sldId id="1413" r:id="rId21"/>
    <p:sldId id="1414" r:id="rId22"/>
    <p:sldId id="1415" r:id="rId23"/>
    <p:sldId id="1417" r:id="rId24"/>
    <p:sldId id="994"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CA4DC5EF-F422-4A4A-AE2D-E811906D492D}">
          <p14:sldIdLst>
            <p14:sldId id="1257"/>
            <p14:sldId id="1363"/>
            <p14:sldId id="1394"/>
            <p14:sldId id="1401"/>
            <p14:sldId id="1395"/>
            <p14:sldId id="1396"/>
            <p14:sldId id="1398"/>
            <p14:sldId id="1397"/>
            <p14:sldId id="1403"/>
            <p14:sldId id="1404"/>
            <p14:sldId id="1408"/>
            <p14:sldId id="1409"/>
            <p14:sldId id="1410"/>
            <p14:sldId id="1411"/>
            <p14:sldId id="1406"/>
            <p14:sldId id="1407"/>
            <p14:sldId id="1405"/>
            <p14:sldId id="1412"/>
            <p14:sldId id="1416"/>
            <p14:sldId id="1413"/>
            <p14:sldId id="1414"/>
            <p14:sldId id="1415"/>
            <p14:sldId id="1417"/>
            <p14:sldId id="9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0473"/>
    <a:srgbClr val="0081A7"/>
    <a:srgbClr val="0000CC"/>
    <a:srgbClr val="5B307E"/>
    <a:srgbClr val="EE6C4D"/>
    <a:srgbClr val="FDFCDC"/>
    <a:srgbClr val="00AFB9"/>
    <a:srgbClr val="0000FF"/>
    <a:srgbClr val="B962FF"/>
    <a:srgbClr val="FDCB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52"/>
    <p:restoredTop sz="90488" autoAdjust="0"/>
  </p:normalViewPr>
  <p:slideViewPr>
    <p:cSldViewPr snapToGrid="0" snapToObjects="1">
      <p:cViewPr varScale="1">
        <p:scale>
          <a:sx n="98" d="100"/>
          <a:sy n="98" d="100"/>
        </p:scale>
        <p:origin x="828" y="90"/>
      </p:cViewPr>
      <p:guideLst/>
    </p:cSldViewPr>
  </p:slideViewPr>
  <p:outlineViewPr>
    <p:cViewPr>
      <p:scale>
        <a:sx n="33" d="100"/>
        <a:sy n="33" d="100"/>
      </p:scale>
      <p:origin x="0" y="-2640"/>
    </p:cViewPr>
  </p:outlineViewPr>
  <p:notesTextViewPr>
    <p:cViewPr>
      <p:scale>
        <a:sx n="145" d="100"/>
        <a:sy n="145" d="100"/>
      </p:scale>
      <p:origin x="0" y="0"/>
    </p:cViewPr>
  </p:notesTextViewPr>
  <p:sorterViewPr>
    <p:cViewPr>
      <p:scale>
        <a:sx n="173" d="100"/>
        <a:sy n="173"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2025/5/27</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0</a:t>
            </a:fld>
            <a:endParaRPr kumimoji="1" lang="zh-CN" altLang="en-US"/>
          </a:p>
        </p:txBody>
      </p:sp>
    </p:spTree>
    <p:extLst>
      <p:ext uri="{BB962C8B-B14F-4D97-AF65-F5344CB8AC3E}">
        <p14:creationId xmlns:p14="http://schemas.microsoft.com/office/powerpoint/2010/main" val="1111909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a:t>
            </a:fld>
            <a:endParaRPr kumimoji="1" lang="zh-CN" altLang="en-US"/>
          </a:p>
        </p:txBody>
      </p:sp>
    </p:spTree>
    <p:extLst>
      <p:ext uri="{BB962C8B-B14F-4D97-AF65-F5344CB8AC3E}">
        <p14:creationId xmlns:p14="http://schemas.microsoft.com/office/powerpoint/2010/main" val="1500507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注意，当主节点</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收到</a:t>
                </a:r>
                <a:r>
                  <a:rPr lang="en-US" altLang="zh-CN" sz="1200" i="0" kern="1200">
                    <a:solidFill>
                      <a:schemeClr val="tx1"/>
                    </a:solidFill>
                    <a:effectLst/>
                    <a:latin typeface="+mn-lt"/>
                    <a:ea typeface="+mn-ea"/>
                    <a:cs typeface="+mn-cs"/>
                  </a:rPr>
                  <a:t>2𝐹+1</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𝑉𝐼𝐸𝑊−𝐶𝐻𝐴𝑁𝐺𝐸</a:t>
                </a:r>
                <a:r>
                  <a:rPr lang="zh-CN" altLang="zh-CN" sz="1200" kern="1200" dirty="0">
                    <a:solidFill>
                      <a:schemeClr val="tx1"/>
                    </a:solidFill>
                    <a:effectLst/>
                    <a:latin typeface="+mn-lt"/>
                    <a:ea typeface="+mn-ea"/>
                    <a:cs typeface="+mn-cs"/>
                  </a:rPr>
                  <a:t>消息，可以确认高度为</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中高度最低的稳定检查点的编号</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之间的每个序号</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，如果存在某个</a:t>
                </a:r>
                <a:r>
                  <a:rPr lang="en-US" altLang="zh-CN" sz="1200" i="0" kern="1200">
                    <a:solidFill>
                      <a:schemeClr val="tx1"/>
                    </a:solidFill>
                    <a:effectLst/>
                    <a:latin typeface="+mn-lt"/>
                    <a:ea typeface="+mn-ea"/>
                    <a:cs typeface="+mn-cs"/>
                  </a:rPr>
                  <a:t>𝑃</a:t>
                </a:r>
                <a:r>
                  <a:rPr lang="zh-CN" altLang="zh-CN" sz="1200" kern="1200" dirty="0">
                    <a:solidFill>
                      <a:schemeClr val="tx1"/>
                    </a:solidFill>
                    <a:effectLst/>
                    <a:latin typeface="+mn-lt"/>
                    <a:ea typeface="+mn-ea"/>
                    <a:cs typeface="+mn-cs"/>
                  </a:rPr>
                  <a:t>中，则创建</a:t>
                </a:r>
                <a:r>
                  <a:rPr lang="en-US" altLang="zh-CN" sz="1200" i="0" kern="1200">
                    <a:solidFill>
                      <a:schemeClr val="tx1"/>
                    </a:solidFill>
                    <a:effectLst/>
                    <a:latin typeface="+mn-lt"/>
                    <a:ea typeface="+mn-ea"/>
                    <a:cs typeface="+mn-cs"/>
                  </a:rPr>
                  <a:t>&lt;&lt;𝑃𝑅𝐸−𝑃𝑅𝐸𝑃𝐴𝑅𝐸, 𝑣+1, 𝑛, 𝑑&gt;, 𝑚&gt;</a:t>
                </a:r>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r>
                  <a:rPr lang="en-US" altLang="zh-CN" sz="1200" i="0" kern="1200">
                    <a:solidFill>
                      <a:schemeClr val="tx1"/>
                    </a:solidFill>
                    <a:effectLst/>
                    <a:latin typeface="+mn-lt"/>
                    <a:ea typeface="+mn-ea"/>
                    <a:cs typeface="+mn-cs"/>
                  </a:rPr>
                  <a:t>&lt;&lt;𝑃𝑅𝐸−𝑃𝑅𝐸𝑃𝐴𝑅𝐸, 𝑣+1, 𝑛, 𝑑(𝑛𝑢𝑙𝑙)&gt;, 𝑚(𝑛𝑢𝑙𝑙)&gt;</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𝑑(𝑛𝑢𝑙𝑙)</a:t>
                </a:r>
                <a:r>
                  <a:rPr lang="zh-CN" altLang="zh-CN" sz="1200" kern="1200" dirty="0">
                    <a:solidFill>
                      <a:schemeClr val="tx1"/>
                    </a:solidFill>
                    <a:effectLst/>
                    <a:latin typeface="+mn-lt"/>
                    <a:ea typeface="+mn-ea"/>
                    <a:cs typeface="+mn-cs"/>
                  </a:rPr>
                  <a:t>为空消息摘要，</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𝑛𝑢𝑙𝑙)</a:t>
                </a:r>
                <a:r>
                  <a:rPr lang="zh-CN" altLang="zh-CN" sz="1200" kern="1200" dirty="0">
                    <a:solidFill>
                      <a:schemeClr val="tx1"/>
                    </a:solidFill>
                    <a:effectLst/>
                    <a:latin typeface="+mn-lt"/>
                    <a:ea typeface="+mn-ea"/>
                    <a:cs typeface="+mn-cs"/>
                  </a:rPr>
                  <a:t>为空消息。</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2</a:t>
            </a:fld>
            <a:endParaRPr kumimoji="1" lang="zh-CN" altLang="en-US"/>
          </a:p>
        </p:txBody>
      </p:sp>
    </p:spTree>
    <p:extLst>
      <p:ext uri="{BB962C8B-B14F-4D97-AF65-F5344CB8AC3E}">
        <p14:creationId xmlns:p14="http://schemas.microsoft.com/office/powerpoint/2010/main" val="3612179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注意，当主节点</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收到</a:t>
                </a:r>
                <a:r>
                  <a:rPr lang="en-US" altLang="zh-CN" sz="1200" i="0" kern="1200">
                    <a:solidFill>
                      <a:schemeClr val="tx1"/>
                    </a:solidFill>
                    <a:effectLst/>
                    <a:latin typeface="+mn-lt"/>
                    <a:ea typeface="+mn-ea"/>
                    <a:cs typeface="+mn-cs"/>
                  </a:rPr>
                  <a:t>2𝐹+1</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𝑉𝐼𝐸𝑊−𝐶𝐻𝐴𝑁𝐺𝐸</a:t>
                </a:r>
                <a:r>
                  <a:rPr lang="zh-CN" altLang="zh-CN" sz="1200" kern="1200" dirty="0">
                    <a:solidFill>
                      <a:schemeClr val="tx1"/>
                    </a:solidFill>
                    <a:effectLst/>
                    <a:latin typeface="+mn-lt"/>
                    <a:ea typeface="+mn-ea"/>
                    <a:cs typeface="+mn-cs"/>
                  </a:rPr>
                  <a:t>消息，可以确认高度为</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中高度最低的稳定检查点的编号</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之间的每个序号</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，如果存在某个</a:t>
                </a:r>
                <a:r>
                  <a:rPr lang="en-US" altLang="zh-CN" sz="1200" i="0" kern="1200">
                    <a:solidFill>
                      <a:schemeClr val="tx1"/>
                    </a:solidFill>
                    <a:effectLst/>
                    <a:latin typeface="+mn-lt"/>
                    <a:ea typeface="+mn-ea"/>
                    <a:cs typeface="+mn-cs"/>
                  </a:rPr>
                  <a:t>𝑃</a:t>
                </a:r>
                <a:r>
                  <a:rPr lang="zh-CN" altLang="zh-CN" sz="1200" kern="1200" dirty="0">
                    <a:solidFill>
                      <a:schemeClr val="tx1"/>
                    </a:solidFill>
                    <a:effectLst/>
                    <a:latin typeface="+mn-lt"/>
                    <a:ea typeface="+mn-ea"/>
                    <a:cs typeface="+mn-cs"/>
                  </a:rPr>
                  <a:t>中，则创建</a:t>
                </a:r>
                <a:r>
                  <a:rPr lang="en-US" altLang="zh-CN" sz="1200" i="0" kern="1200">
                    <a:solidFill>
                      <a:schemeClr val="tx1"/>
                    </a:solidFill>
                    <a:effectLst/>
                    <a:latin typeface="+mn-lt"/>
                    <a:ea typeface="+mn-ea"/>
                    <a:cs typeface="+mn-cs"/>
                  </a:rPr>
                  <a:t>&lt;&lt;𝑃𝑅𝐸−𝑃𝑅𝐸𝑃𝐴𝑅𝐸, 𝑣+1, 𝑛, 𝑑&gt;, 𝑚&gt;</a:t>
                </a:r>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r>
                  <a:rPr lang="en-US" altLang="zh-CN" sz="1200" i="0" kern="1200">
                    <a:solidFill>
                      <a:schemeClr val="tx1"/>
                    </a:solidFill>
                    <a:effectLst/>
                    <a:latin typeface="+mn-lt"/>
                    <a:ea typeface="+mn-ea"/>
                    <a:cs typeface="+mn-cs"/>
                  </a:rPr>
                  <a:t>&lt;&lt;𝑃𝑅𝐸−𝑃𝑅𝐸𝑃𝐴𝑅𝐸, 𝑣+1, 𝑛, 𝑑(𝑛𝑢𝑙𝑙)&gt;, 𝑚(𝑛𝑢𝑙𝑙)&gt;</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𝑑(𝑛𝑢𝑙𝑙)</a:t>
                </a:r>
                <a:r>
                  <a:rPr lang="zh-CN" altLang="zh-CN" sz="1200" kern="1200" dirty="0">
                    <a:solidFill>
                      <a:schemeClr val="tx1"/>
                    </a:solidFill>
                    <a:effectLst/>
                    <a:latin typeface="+mn-lt"/>
                    <a:ea typeface="+mn-ea"/>
                    <a:cs typeface="+mn-cs"/>
                  </a:rPr>
                  <a:t>为空消息摘要，</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𝑛𝑢𝑙𝑙)</a:t>
                </a:r>
                <a:r>
                  <a:rPr lang="zh-CN" altLang="zh-CN" sz="1200" kern="1200" dirty="0">
                    <a:solidFill>
                      <a:schemeClr val="tx1"/>
                    </a:solidFill>
                    <a:effectLst/>
                    <a:latin typeface="+mn-lt"/>
                    <a:ea typeface="+mn-ea"/>
                    <a:cs typeface="+mn-cs"/>
                  </a:rPr>
                  <a:t>为空消息。</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3</a:t>
            </a:fld>
            <a:endParaRPr kumimoji="1" lang="zh-CN" altLang="en-US"/>
          </a:p>
        </p:txBody>
      </p:sp>
    </p:spTree>
    <p:extLst>
      <p:ext uri="{BB962C8B-B14F-4D97-AF65-F5344CB8AC3E}">
        <p14:creationId xmlns:p14="http://schemas.microsoft.com/office/powerpoint/2010/main" val="915368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注意，当主节点</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收到</a:t>
                </a:r>
                <a:r>
                  <a:rPr lang="en-US" altLang="zh-CN" sz="1200" i="0" kern="1200">
                    <a:solidFill>
                      <a:schemeClr val="tx1"/>
                    </a:solidFill>
                    <a:effectLst/>
                    <a:latin typeface="+mn-lt"/>
                    <a:ea typeface="+mn-ea"/>
                    <a:cs typeface="+mn-cs"/>
                  </a:rPr>
                  <a:t>2𝐹+1</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𝑉𝐼𝐸𝑊−𝐶𝐻𝐴𝑁𝐺𝐸</a:t>
                </a:r>
                <a:r>
                  <a:rPr lang="zh-CN" altLang="zh-CN" sz="1200" kern="1200" dirty="0">
                    <a:solidFill>
                      <a:schemeClr val="tx1"/>
                    </a:solidFill>
                    <a:effectLst/>
                    <a:latin typeface="+mn-lt"/>
                    <a:ea typeface="+mn-ea"/>
                    <a:cs typeface="+mn-cs"/>
                  </a:rPr>
                  <a:t>消息，可以确认高度为</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中高度最低的稳定检查点的编号</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之间的每个序号</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，如果存在某个</a:t>
                </a:r>
                <a:r>
                  <a:rPr lang="en-US" altLang="zh-CN" sz="1200" i="0" kern="1200">
                    <a:solidFill>
                      <a:schemeClr val="tx1"/>
                    </a:solidFill>
                    <a:effectLst/>
                    <a:latin typeface="+mn-lt"/>
                    <a:ea typeface="+mn-ea"/>
                    <a:cs typeface="+mn-cs"/>
                  </a:rPr>
                  <a:t>𝑃</a:t>
                </a:r>
                <a:r>
                  <a:rPr lang="zh-CN" altLang="zh-CN" sz="1200" kern="1200" dirty="0">
                    <a:solidFill>
                      <a:schemeClr val="tx1"/>
                    </a:solidFill>
                    <a:effectLst/>
                    <a:latin typeface="+mn-lt"/>
                    <a:ea typeface="+mn-ea"/>
                    <a:cs typeface="+mn-cs"/>
                  </a:rPr>
                  <a:t>中，则创建</a:t>
                </a:r>
                <a:r>
                  <a:rPr lang="en-US" altLang="zh-CN" sz="1200" i="0" kern="1200">
                    <a:solidFill>
                      <a:schemeClr val="tx1"/>
                    </a:solidFill>
                    <a:effectLst/>
                    <a:latin typeface="+mn-lt"/>
                    <a:ea typeface="+mn-ea"/>
                    <a:cs typeface="+mn-cs"/>
                  </a:rPr>
                  <a:t>&lt;&lt;𝑃𝑅𝐸−𝑃𝑅𝐸𝑃𝐴𝑅𝐸, 𝑣+1, 𝑛, 𝑑&gt;, 𝑚&gt;</a:t>
                </a:r>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r>
                  <a:rPr lang="en-US" altLang="zh-CN" sz="1200" i="0" kern="1200">
                    <a:solidFill>
                      <a:schemeClr val="tx1"/>
                    </a:solidFill>
                    <a:effectLst/>
                    <a:latin typeface="+mn-lt"/>
                    <a:ea typeface="+mn-ea"/>
                    <a:cs typeface="+mn-cs"/>
                  </a:rPr>
                  <a:t>&lt;&lt;𝑃𝑅𝐸−𝑃𝑅𝐸𝑃𝐴𝑅𝐸, 𝑣+1, 𝑛, 𝑑(𝑛𝑢𝑙𝑙)&gt;, 𝑚(𝑛𝑢𝑙𝑙)&gt;</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𝑑(𝑛𝑢𝑙𝑙)</a:t>
                </a:r>
                <a:r>
                  <a:rPr lang="zh-CN" altLang="zh-CN" sz="1200" kern="1200" dirty="0">
                    <a:solidFill>
                      <a:schemeClr val="tx1"/>
                    </a:solidFill>
                    <a:effectLst/>
                    <a:latin typeface="+mn-lt"/>
                    <a:ea typeface="+mn-ea"/>
                    <a:cs typeface="+mn-cs"/>
                  </a:rPr>
                  <a:t>为空消息摘要，</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𝑛𝑢𝑙𝑙)</a:t>
                </a:r>
                <a:r>
                  <a:rPr lang="zh-CN" altLang="zh-CN" sz="1200" kern="1200" dirty="0">
                    <a:solidFill>
                      <a:schemeClr val="tx1"/>
                    </a:solidFill>
                    <a:effectLst/>
                    <a:latin typeface="+mn-lt"/>
                    <a:ea typeface="+mn-ea"/>
                    <a:cs typeface="+mn-cs"/>
                  </a:rPr>
                  <a:t>为空消息。</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4</a:t>
            </a:fld>
            <a:endParaRPr kumimoji="1" lang="zh-CN" altLang="en-US"/>
          </a:p>
        </p:txBody>
      </p:sp>
    </p:spTree>
    <p:extLst>
      <p:ext uri="{BB962C8B-B14F-4D97-AF65-F5344CB8AC3E}">
        <p14:creationId xmlns:p14="http://schemas.microsoft.com/office/powerpoint/2010/main" val="37724574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注意，当主节点</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收到</a:t>
                </a:r>
                <a:r>
                  <a:rPr lang="en-US" altLang="zh-CN" sz="1200" i="0" kern="1200">
                    <a:solidFill>
                      <a:schemeClr val="tx1"/>
                    </a:solidFill>
                    <a:effectLst/>
                    <a:latin typeface="+mn-lt"/>
                    <a:ea typeface="+mn-ea"/>
                    <a:cs typeface="+mn-cs"/>
                  </a:rPr>
                  <a:t>2𝐹+1</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𝑉𝐼𝐸𝑊−𝐶𝐻𝐴𝑁𝐺𝐸</a:t>
                </a:r>
                <a:r>
                  <a:rPr lang="zh-CN" altLang="zh-CN" sz="1200" kern="1200" dirty="0">
                    <a:solidFill>
                      <a:schemeClr val="tx1"/>
                    </a:solidFill>
                    <a:effectLst/>
                    <a:latin typeface="+mn-lt"/>
                    <a:ea typeface="+mn-ea"/>
                    <a:cs typeface="+mn-cs"/>
                  </a:rPr>
                  <a:t>消息，可以确认高度为</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中高度最低的稳定检查点的编号</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之间的每个序号</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，如果存在某个</a:t>
                </a:r>
                <a:r>
                  <a:rPr lang="en-US" altLang="zh-CN" sz="1200" i="0" kern="1200">
                    <a:solidFill>
                      <a:schemeClr val="tx1"/>
                    </a:solidFill>
                    <a:effectLst/>
                    <a:latin typeface="+mn-lt"/>
                    <a:ea typeface="+mn-ea"/>
                    <a:cs typeface="+mn-cs"/>
                  </a:rPr>
                  <a:t>𝑃</a:t>
                </a:r>
                <a:r>
                  <a:rPr lang="zh-CN" altLang="zh-CN" sz="1200" kern="1200" dirty="0">
                    <a:solidFill>
                      <a:schemeClr val="tx1"/>
                    </a:solidFill>
                    <a:effectLst/>
                    <a:latin typeface="+mn-lt"/>
                    <a:ea typeface="+mn-ea"/>
                    <a:cs typeface="+mn-cs"/>
                  </a:rPr>
                  <a:t>中，则创建</a:t>
                </a:r>
                <a:r>
                  <a:rPr lang="en-US" altLang="zh-CN" sz="1200" i="0" kern="1200">
                    <a:solidFill>
                      <a:schemeClr val="tx1"/>
                    </a:solidFill>
                    <a:effectLst/>
                    <a:latin typeface="+mn-lt"/>
                    <a:ea typeface="+mn-ea"/>
                    <a:cs typeface="+mn-cs"/>
                  </a:rPr>
                  <a:t>&lt;&lt;𝑃𝑅𝐸−𝑃𝑅𝐸𝑃𝐴𝑅𝐸, 𝑣+1, 𝑛, 𝑑&gt;, 𝑚&gt;</a:t>
                </a:r>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r>
                  <a:rPr lang="en-US" altLang="zh-CN" sz="1200" i="0" kern="1200">
                    <a:solidFill>
                      <a:schemeClr val="tx1"/>
                    </a:solidFill>
                    <a:effectLst/>
                    <a:latin typeface="+mn-lt"/>
                    <a:ea typeface="+mn-ea"/>
                    <a:cs typeface="+mn-cs"/>
                  </a:rPr>
                  <a:t>&lt;&lt;𝑃𝑅𝐸−𝑃𝑅𝐸𝑃𝐴𝑅𝐸, 𝑣+1, 𝑛, 𝑑(𝑛𝑢𝑙𝑙)&gt;, 𝑚(𝑛𝑢𝑙𝑙)&gt;</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𝑑(𝑛𝑢𝑙𝑙)</a:t>
                </a:r>
                <a:r>
                  <a:rPr lang="zh-CN" altLang="zh-CN" sz="1200" kern="1200" dirty="0">
                    <a:solidFill>
                      <a:schemeClr val="tx1"/>
                    </a:solidFill>
                    <a:effectLst/>
                    <a:latin typeface="+mn-lt"/>
                    <a:ea typeface="+mn-ea"/>
                    <a:cs typeface="+mn-cs"/>
                  </a:rPr>
                  <a:t>为空消息摘要，</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𝑛𝑢𝑙𝑙)</a:t>
                </a:r>
                <a:r>
                  <a:rPr lang="zh-CN" altLang="zh-CN" sz="1200" kern="1200" dirty="0">
                    <a:solidFill>
                      <a:schemeClr val="tx1"/>
                    </a:solidFill>
                    <a:effectLst/>
                    <a:latin typeface="+mn-lt"/>
                    <a:ea typeface="+mn-ea"/>
                    <a:cs typeface="+mn-cs"/>
                  </a:rPr>
                  <a:t>为空消息。</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5</a:t>
            </a:fld>
            <a:endParaRPr kumimoji="1" lang="zh-CN" altLang="en-US"/>
          </a:p>
        </p:txBody>
      </p:sp>
    </p:spTree>
    <p:extLst>
      <p:ext uri="{BB962C8B-B14F-4D97-AF65-F5344CB8AC3E}">
        <p14:creationId xmlns:p14="http://schemas.microsoft.com/office/powerpoint/2010/main" val="20307610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a:t>
            </a:fld>
            <a:endParaRPr kumimoji="1" lang="zh-CN" altLang="en-US"/>
          </a:p>
        </p:txBody>
      </p:sp>
    </p:spTree>
    <p:extLst>
      <p:ext uri="{BB962C8B-B14F-4D97-AF65-F5344CB8AC3E}">
        <p14:creationId xmlns:p14="http://schemas.microsoft.com/office/powerpoint/2010/main" val="13022175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注意，当主节点</a:t>
                </a:r>
                <a:r>
                  <a:rPr lang="en-US" altLang="zh-CN" sz="1200" i="0" kern="1200">
                    <a:solidFill>
                      <a:schemeClr val="tx1"/>
                    </a:solidFill>
                    <a:effectLst/>
                    <a:latin typeface="+mn-lt"/>
                    <a:ea typeface="+mn-ea"/>
                    <a:cs typeface="+mn-cs"/>
                  </a:rPr>
                  <a:t>𝑖</a:t>
                </a:r>
                <a:r>
                  <a:rPr lang="zh-CN" altLang="zh-CN" sz="1200" kern="1200" dirty="0">
                    <a:solidFill>
                      <a:schemeClr val="tx1"/>
                    </a:solidFill>
                    <a:effectLst/>
                    <a:latin typeface="+mn-lt"/>
                    <a:ea typeface="+mn-ea"/>
                    <a:cs typeface="+mn-cs"/>
                  </a:rPr>
                  <a:t>收到</a:t>
                </a:r>
                <a:r>
                  <a:rPr lang="en-US" altLang="zh-CN" sz="1200" i="0" kern="1200">
                    <a:solidFill>
                      <a:schemeClr val="tx1"/>
                    </a:solidFill>
                    <a:effectLst/>
                    <a:latin typeface="+mn-lt"/>
                    <a:ea typeface="+mn-ea"/>
                    <a:cs typeface="+mn-cs"/>
                  </a:rPr>
                  <a:t>2𝐹+1</a:t>
                </a:r>
                <a:r>
                  <a:rPr lang="zh-CN" altLang="zh-CN" sz="1200" kern="1200" dirty="0">
                    <a:solidFill>
                      <a:schemeClr val="tx1"/>
                    </a:solidFill>
                    <a:effectLst/>
                    <a:latin typeface="+mn-lt"/>
                    <a:ea typeface="+mn-ea"/>
                    <a:cs typeface="+mn-cs"/>
                  </a:rPr>
                  <a:t>个</a:t>
                </a:r>
                <a:r>
                  <a:rPr lang="en-US" altLang="zh-CN" sz="1200" i="0" kern="1200">
                    <a:solidFill>
                      <a:schemeClr val="tx1"/>
                    </a:solidFill>
                    <a:effectLst/>
                    <a:latin typeface="+mn-lt"/>
                    <a:ea typeface="+mn-ea"/>
                    <a:cs typeface="+mn-cs"/>
                  </a:rPr>
                  <a:t>𝑉𝐼𝐸𝑊−𝐶𝐻𝐴𝑁𝐺𝐸</a:t>
                </a:r>
                <a:r>
                  <a:rPr lang="zh-CN" altLang="zh-CN" sz="1200" kern="1200" dirty="0">
                    <a:solidFill>
                      <a:schemeClr val="tx1"/>
                    </a:solidFill>
                    <a:effectLst/>
                    <a:latin typeface="+mn-lt"/>
                    <a:ea typeface="+mn-ea"/>
                    <a:cs typeface="+mn-cs"/>
                  </a:rPr>
                  <a:t>消息，可以确认高度为</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的稳定检查点之间的消息在视图切换的过程中不会丢失，但是当前检查点之后，下一个检查点之前的已经达到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状态的消息会丢失。因此，新视图的主节点会把旧视图中已经达到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状态的消息转换为</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消息，重新广播到网络中了。</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消息集合的选取规则如下所示：</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）选取</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中高度最低的稳定检查点的编号</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，以及</a:t>
                </a:r>
                <a:r>
                  <a:rPr lang="en-US" altLang="zh-CN" sz="1200" i="0" kern="1200">
                    <a:solidFill>
                      <a:schemeClr val="tx1"/>
                    </a:solidFill>
                    <a:effectLst/>
                    <a:latin typeface="+mn-lt"/>
                    <a:ea typeface="+mn-ea"/>
                    <a:cs typeface="+mn-cs"/>
                  </a:rPr>
                  <a:t>𝑉</a:t>
                </a:r>
                <a:r>
                  <a:rPr lang="zh-CN" altLang="zh-CN" sz="1200" kern="1200" dirty="0">
                    <a:solidFill>
                      <a:schemeClr val="tx1"/>
                    </a:solidFill>
                    <a:effectLst/>
                    <a:latin typeface="+mn-lt"/>
                    <a:ea typeface="+mn-ea"/>
                    <a:cs typeface="+mn-cs"/>
                  </a:rPr>
                  <a:t>中已达到</a:t>
                </a:r>
                <a:r>
                  <a:rPr lang="en-US" altLang="zh-CN" sz="1200" kern="1200" dirty="0">
                    <a:solidFill>
                      <a:schemeClr val="tx1"/>
                    </a:solidFill>
                    <a:effectLst/>
                    <a:latin typeface="+mn-lt"/>
                    <a:ea typeface="+mn-ea"/>
                    <a:cs typeface="+mn-cs"/>
                  </a:rPr>
                  <a:t>PREPARED</a:t>
                </a:r>
                <a:r>
                  <a:rPr lang="zh-CN" altLang="zh-CN" sz="1200" kern="1200" dirty="0">
                    <a:solidFill>
                      <a:schemeClr val="tx1"/>
                    </a:solidFill>
                    <a:effectLst/>
                    <a:latin typeface="+mn-lt"/>
                    <a:ea typeface="+mn-ea"/>
                    <a:cs typeface="+mn-cs"/>
                  </a:rPr>
                  <a:t>状态消息的最大编号</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a:t>
                </a:r>
                <a:r>
                  <a:rPr lang="en-US" altLang="zh-CN" sz="1200" i="0" kern="1200">
                    <a:solidFill>
                      <a:schemeClr val="tx1"/>
                    </a:solidFill>
                    <a:effectLst/>
                    <a:latin typeface="+mn-lt"/>
                    <a:ea typeface="+mn-ea"/>
                    <a:cs typeface="+mn-cs"/>
                  </a:rPr>
                  <a:t>𝑚𝑖𝑛</a:t>
                </a:r>
                <a:r>
                  <a:rPr lang="zh-CN" altLang="zh-CN" sz="1200" kern="1200" dirty="0">
                    <a:solidFill>
                      <a:schemeClr val="tx1"/>
                    </a:solidFill>
                    <a:effectLst/>
                    <a:latin typeface="+mn-lt"/>
                    <a:ea typeface="+mn-ea"/>
                    <a:cs typeface="+mn-cs"/>
                  </a:rPr>
                  <a:t>和</a:t>
                </a:r>
                <a:r>
                  <a:rPr lang="en-US" altLang="zh-CN" sz="1200" i="0" kern="1200">
                    <a:solidFill>
                      <a:schemeClr val="tx1"/>
                    </a:solidFill>
                    <a:effectLst/>
                    <a:latin typeface="+mn-lt"/>
                    <a:ea typeface="+mn-ea"/>
                    <a:cs typeface="+mn-cs"/>
                  </a:rPr>
                  <a:t>𝑚𝑎𝑥</a:t>
                </a:r>
                <a:r>
                  <a:rPr lang="zh-CN" altLang="zh-CN" sz="1200" kern="1200" dirty="0">
                    <a:solidFill>
                      <a:schemeClr val="tx1"/>
                    </a:solidFill>
                    <a:effectLst/>
                    <a:latin typeface="+mn-lt"/>
                    <a:ea typeface="+mn-ea"/>
                    <a:cs typeface="+mn-cs"/>
                  </a:rPr>
                  <a:t>之间的每个序号</a:t>
                </a:r>
                <a:r>
                  <a:rPr lang="en-US" altLang="zh-CN" sz="1200" i="0" kern="1200">
                    <a:solidFill>
                      <a:schemeClr val="tx1"/>
                    </a:solidFill>
                    <a:effectLst/>
                    <a:latin typeface="+mn-lt"/>
                    <a:ea typeface="+mn-ea"/>
                    <a:cs typeface="+mn-cs"/>
                  </a:rPr>
                  <a:t>𝑛</a:t>
                </a:r>
                <a:r>
                  <a:rPr lang="zh-CN" altLang="zh-CN" sz="1200" kern="1200" dirty="0">
                    <a:solidFill>
                      <a:schemeClr val="tx1"/>
                    </a:solidFill>
                    <a:effectLst/>
                    <a:latin typeface="+mn-lt"/>
                    <a:ea typeface="+mn-ea"/>
                    <a:cs typeface="+mn-cs"/>
                  </a:rPr>
                  <a:t>，如果存在某个</a:t>
                </a:r>
                <a:r>
                  <a:rPr lang="en-US" altLang="zh-CN" sz="1200" i="0" kern="1200">
                    <a:solidFill>
                      <a:schemeClr val="tx1"/>
                    </a:solidFill>
                    <a:effectLst/>
                    <a:latin typeface="+mn-lt"/>
                    <a:ea typeface="+mn-ea"/>
                    <a:cs typeface="+mn-cs"/>
                  </a:rPr>
                  <a:t>𝑃</a:t>
                </a:r>
                <a:r>
                  <a:rPr lang="zh-CN" altLang="zh-CN" sz="1200" kern="1200" dirty="0">
                    <a:solidFill>
                      <a:schemeClr val="tx1"/>
                    </a:solidFill>
                    <a:effectLst/>
                    <a:latin typeface="+mn-lt"/>
                    <a:ea typeface="+mn-ea"/>
                    <a:cs typeface="+mn-cs"/>
                  </a:rPr>
                  <a:t>中，则创建</a:t>
                </a:r>
                <a:r>
                  <a:rPr lang="en-US" altLang="zh-CN" sz="1200" i="0" kern="1200">
                    <a:solidFill>
                      <a:schemeClr val="tx1"/>
                    </a:solidFill>
                    <a:effectLst/>
                    <a:latin typeface="+mn-lt"/>
                    <a:ea typeface="+mn-ea"/>
                    <a:cs typeface="+mn-cs"/>
                  </a:rPr>
                  <a:t>&lt;&lt;𝑃𝑅𝐸−𝑃𝑅𝐸𝑃𝐴𝑅𝐸, 𝑣+1, 𝑛, 𝑑&gt;, 𝑚&gt;</a:t>
                </a:r>
                <a:r>
                  <a:rPr lang="zh-CN" altLang="zh-CN" sz="1200" kern="1200" dirty="0">
                    <a:solidFill>
                      <a:schemeClr val="tx1"/>
                    </a:solidFill>
                    <a:effectLst/>
                    <a:latin typeface="+mn-lt"/>
                    <a:ea typeface="+mn-ea"/>
                    <a:cs typeface="+mn-cs"/>
                  </a:rPr>
                  <a:t>消息；否则，则创建一个空的</a:t>
                </a:r>
                <a:r>
                  <a:rPr lang="en-US" altLang="zh-CN" sz="1200" kern="1200" dirty="0">
                    <a:solidFill>
                      <a:schemeClr val="tx1"/>
                    </a:solidFill>
                    <a:effectLst/>
                    <a:latin typeface="+mn-lt"/>
                    <a:ea typeface="+mn-ea"/>
                    <a:cs typeface="+mn-cs"/>
                  </a:rPr>
                  <a:t>PRE-PREPARE</a:t>
                </a:r>
                <a:r>
                  <a:rPr lang="zh-CN" altLang="zh-CN" sz="1200" kern="1200" dirty="0">
                    <a:solidFill>
                      <a:schemeClr val="tx1"/>
                    </a:solidFill>
                    <a:effectLst/>
                    <a:latin typeface="+mn-lt"/>
                    <a:ea typeface="+mn-ea"/>
                    <a:cs typeface="+mn-cs"/>
                  </a:rPr>
                  <a:t>消息</a:t>
                </a:r>
                <a:r>
                  <a:rPr lang="en-US" altLang="zh-CN" sz="1200" i="0" kern="1200">
                    <a:solidFill>
                      <a:schemeClr val="tx1"/>
                    </a:solidFill>
                    <a:effectLst/>
                    <a:latin typeface="+mn-lt"/>
                    <a:ea typeface="+mn-ea"/>
                    <a:cs typeface="+mn-cs"/>
                  </a:rPr>
                  <a:t>&lt;&lt;𝑃𝑅𝐸−𝑃𝑅𝐸𝑃𝐴𝑅𝐸, 𝑣+1, 𝑛, 𝑑(𝑛𝑢𝑙𝑙)&gt;, 𝑚(𝑛𝑢𝑙𝑙)&gt;</a:t>
                </a:r>
                <a:r>
                  <a:rPr lang="zh-CN" altLang="zh-CN" sz="1200" kern="1200" dirty="0">
                    <a:solidFill>
                      <a:schemeClr val="tx1"/>
                    </a:solidFill>
                    <a:effectLst/>
                    <a:latin typeface="+mn-lt"/>
                    <a:ea typeface="+mn-ea"/>
                    <a:cs typeface="+mn-cs"/>
                  </a:rPr>
                  <a:t>，其中</a:t>
                </a:r>
                <a:r>
                  <a:rPr lang="en-US" altLang="zh-CN" sz="1200" i="0" kern="1200">
                    <a:solidFill>
                      <a:schemeClr val="tx1"/>
                    </a:solidFill>
                    <a:effectLst/>
                    <a:latin typeface="+mn-lt"/>
                    <a:ea typeface="+mn-ea"/>
                    <a:cs typeface="+mn-cs"/>
                  </a:rPr>
                  <a:t>𝑑(𝑛𝑢𝑙𝑙)</a:t>
                </a:r>
                <a:r>
                  <a:rPr lang="zh-CN" altLang="zh-CN" sz="1200" kern="1200" dirty="0">
                    <a:solidFill>
                      <a:schemeClr val="tx1"/>
                    </a:solidFill>
                    <a:effectLst/>
                    <a:latin typeface="+mn-lt"/>
                    <a:ea typeface="+mn-ea"/>
                    <a:cs typeface="+mn-cs"/>
                  </a:rPr>
                  <a:t>为空消息摘要，</a:t>
                </a:r>
                <a:r>
                  <a:rPr lang="en-US" altLang="zh-CN" sz="1200" i="0" kern="1200">
                    <a:solidFill>
                      <a:schemeClr val="tx1"/>
                    </a:solidFill>
                    <a:effectLst/>
                    <a:latin typeface="+mn-lt"/>
                    <a:ea typeface="+mn-ea"/>
                    <a:cs typeface="+mn-cs"/>
                  </a:rPr>
                  <a:t>𝑚</a:t>
                </a:r>
                <a:r>
                  <a:rPr lang="zh-CN" altLang="zh-CN" sz="1200" i="0" kern="1200">
                    <a:solidFill>
                      <a:schemeClr val="tx1"/>
                    </a:solidFill>
                    <a:effectLst/>
                    <a:latin typeface="+mn-lt"/>
                    <a:ea typeface="+mn-ea"/>
                    <a:cs typeface="+mn-cs"/>
                  </a:rPr>
                  <a:t>(</a:t>
                </a:r>
                <a:r>
                  <a:rPr lang="en-US" altLang="zh-CN" sz="1200" i="0" kern="1200">
                    <a:solidFill>
                      <a:schemeClr val="tx1"/>
                    </a:solidFill>
                    <a:effectLst/>
                    <a:latin typeface="+mn-lt"/>
                    <a:ea typeface="+mn-ea"/>
                    <a:cs typeface="+mn-cs"/>
                  </a:rPr>
                  <a:t>𝑛𝑢𝑙𝑙)</a:t>
                </a:r>
                <a:r>
                  <a:rPr lang="zh-CN" altLang="zh-CN" sz="1200" kern="1200" dirty="0">
                    <a:solidFill>
                      <a:schemeClr val="tx1"/>
                    </a:solidFill>
                    <a:effectLst/>
                    <a:latin typeface="+mn-lt"/>
                    <a:ea typeface="+mn-ea"/>
                    <a:cs typeface="+mn-cs"/>
                  </a:rPr>
                  <a:t>为空消息。</a:t>
                </a:r>
              </a:p>
            </p:txBody>
          </p:sp>
        </mc:Fallback>
      </mc:AlternateContent>
      <p:sp>
        <p:nvSpPr>
          <p:cNvPr id="4" name="灯片编号占位符 3"/>
          <p:cNvSpPr>
            <a:spLocks noGrp="1"/>
          </p:cNvSpPr>
          <p:nvPr>
            <p:ph type="sldNum" sz="quarter" idx="5"/>
          </p:nvPr>
        </p:nvSpPr>
        <p:spPr/>
        <p:txBody>
          <a:bodyPr/>
          <a:lstStyle/>
          <a:p>
            <a:fld id="{840B8802-914A-7C41-BC77-CC54DEE99EEF}" type="slidenum">
              <a:rPr kumimoji="1" lang="zh-CN" altLang="en-US" smtClean="0"/>
              <a:t>7</a:t>
            </a:fld>
            <a:endParaRPr kumimoji="1" lang="zh-CN" altLang="en-US"/>
          </a:p>
        </p:txBody>
      </p:sp>
    </p:spTree>
    <p:extLst>
      <p:ext uri="{BB962C8B-B14F-4D97-AF65-F5344CB8AC3E}">
        <p14:creationId xmlns:p14="http://schemas.microsoft.com/office/powerpoint/2010/main" val="1636144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a:t>
            </a:fld>
            <a:endParaRPr kumimoji="1" lang="zh-CN" altLang="en-US"/>
          </a:p>
        </p:txBody>
      </p:sp>
    </p:spTree>
    <p:extLst>
      <p:ext uri="{BB962C8B-B14F-4D97-AF65-F5344CB8AC3E}">
        <p14:creationId xmlns:p14="http://schemas.microsoft.com/office/powerpoint/2010/main" val="34108900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a:t>
            </a:fld>
            <a:endParaRPr kumimoji="1" lang="zh-CN" altLang="en-US"/>
          </a:p>
        </p:txBody>
      </p:sp>
    </p:spTree>
    <p:extLst>
      <p:ext uri="{BB962C8B-B14F-4D97-AF65-F5344CB8AC3E}">
        <p14:creationId xmlns:p14="http://schemas.microsoft.com/office/powerpoint/2010/main" val="1625734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a:t>
            </a:fld>
            <a:endParaRPr kumimoji="1" lang="zh-CN" altLang="en-US"/>
          </a:p>
        </p:txBody>
      </p:sp>
    </p:spTree>
    <p:extLst>
      <p:ext uri="{BB962C8B-B14F-4D97-AF65-F5344CB8AC3E}">
        <p14:creationId xmlns:p14="http://schemas.microsoft.com/office/powerpoint/2010/main" val="36591880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a:t>
            </a:fld>
            <a:endParaRPr kumimoji="1" lang="zh-CN" altLang="en-US"/>
          </a:p>
        </p:txBody>
      </p:sp>
    </p:spTree>
    <p:extLst>
      <p:ext uri="{BB962C8B-B14F-4D97-AF65-F5344CB8AC3E}">
        <p14:creationId xmlns:p14="http://schemas.microsoft.com/office/powerpoint/2010/main" val="32247306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a:t>
            </a:fld>
            <a:endParaRPr kumimoji="1" lang="zh-CN" altLang="en-US"/>
          </a:p>
        </p:txBody>
      </p:sp>
    </p:spTree>
    <p:extLst>
      <p:ext uri="{BB962C8B-B14F-4D97-AF65-F5344CB8AC3E}">
        <p14:creationId xmlns:p14="http://schemas.microsoft.com/office/powerpoint/2010/main" val="16010460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14</a:t>
            </a:fld>
            <a:endParaRPr kumimoji="1" lang="zh-CN" altLang="en-US"/>
          </a:p>
        </p:txBody>
      </p:sp>
    </p:spTree>
    <p:extLst>
      <p:ext uri="{BB962C8B-B14F-4D97-AF65-F5344CB8AC3E}">
        <p14:creationId xmlns:p14="http://schemas.microsoft.com/office/powerpoint/2010/main" val="4659829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15</a:t>
            </a:fld>
            <a:endParaRPr kumimoji="1" lang="zh-CN" altLang="en-US"/>
          </a:p>
        </p:txBody>
      </p:sp>
    </p:spTree>
    <p:extLst>
      <p:ext uri="{BB962C8B-B14F-4D97-AF65-F5344CB8AC3E}">
        <p14:creationId xmlns:p14="http://schemas.microsoft.com/office/powerpoint/2010/main" val="24834496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16</a:t>
            </a:fld>
            <a:endParaRPr kumimoji="1" lang="zh-CN" altLang="en-US"/>
          </a:p>
        </p:txBody>
      </p:sp>
    </p:spTree>
    <p:extLst>
      <p:ext uri="{BB962C8B-B14F-4D97-AF65-F5344CB8AC3E}">
        <p14:creationId xmlns:p14="http://schemas.microsoft.com/office/powerpoint/2010/main" val="38593519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a:t>
            </a:fld>
            <a:endParaRPr kumimoji="1" lang="zh-CN" altLang="en-US"/>
          </a:p>
        </p:txBody>
      </p:sp>
    </p:spTree>
    <p:extLst>
      <p:ext uri="{BB962C8B-B14F-4D97-AF65-F5344CB8AC3E}">
        <p14:creationId xmlns:p14="http://schemas.microsoft.com/office/powerpoint/2010/main" val="7080887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19</a:t>
            </a:fld>
            <a:endParaRPr kumimoji="1" lang="zh-CN" altLang="en-US"/>
          </a:p>
        </p:txBody>
      </p:sp>
    </p:spTree>
    <p:extLst>
      <p:ext uri="{BB962C8B-B14F-4D97-AF65-F5344CB8AC3E}">
        <p14:creationId xmlns:p14="http://schemas.microsoft.com/office/powerpoint/2010/main" val="11117085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20</a:t>
            </a:fld>
            <a:endParaRPr kumimoji="1" lang="zh-CN" altLang="en-US"/>
          </a:p>
        </p:txBody>
      </p:sp>
    </p:spTree>
    <p:extLst>
      <p:ext uri="{BB962C8B-B14F-4D97-AF65-F5344CB8AC3E}">
        <p14:creationId xmlns:p14="http://schemas.microsoft.com/office/powerpoint/2010/main" val="37561109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21</a:t>
            </a:fld>
            <a:endParaRPr kumimoji="1" lang="zh-CN" altLang="en-US"/>
          </a:p>
        </p:txBody>
      </p:sp>
    </p:spTree>
    <p:extLst>
      <p:ext uri="{BB962C8B-B14F-4D97-AF65-F5344CB8AC3E}">
        <p14:creationId xmlns:p14="http://schemas.microsoft.com/office/powerpoint/2010/main" val="4999443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22</a:t>
            </a:fld>
            <a:endParaRPr kumimoji="1" lang="zh-CN" altLang="en-US"/>
          </a:p>
        </p:txBody>
      </p:sp>
    </p:spTree>
    <p:extLst>
      <p:ext uri="{BB962C8B-B14F-4D97-AF65-F5344CB8AC3E}">
        <p14:creationId xmlns:p14="http://schemas.microsoft.com/office/powerpoint/2010/main" val="17072098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7" name="矩形 6">
            <a:extLst>
              <a:ext uri="{FF2B5EF4-FFF2-40B4-BE49-F238E27FC236}">
                <a16:creationId xmlns:a16="http://schemas.microsoft.com/office/drawing/2014/main" id="{B6F9E280-F138-8142-8DB1-324EA9F38324}"/>
              </a:ext>
            </a:extLst>
          </p:cNvPr>
          <p:cNvSpPr/>
          <p:nvPr userDrawn="1"/>
        </p:nvSpPr>
        <p:spPr>
          <a:xfrm>
            <a:off x="-9939" y="-8628"/>
            <a:ext cx="8938039" cy="90195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区块链原理与技术</a:t>
            </a:r>
          </a:p>
        </p:txBody>
      </p:sp>
      <p:pic>
        <p:nvPicPr>
          <p:cNvPr id="9" name="图片 8">
            <a:extLst>
              <a:ext uri="{FF2B5EF4-FFF2-40B4-BE49-F238E27FC236}">
                <a16:creationId xmlns:a16="http://schemas.microsoft.com/office/drawing/2014/main" id="{4F642740-0C37-4CC2-A867-A9457DA8012A}"/>
              </a:ext>
            </a:extLst>
          </p:cNvPr>
          <p:cNvPicPr>
            <a:picLocks noChangeAspect="1"/>
          </p:cNvPicPr>
          <p:nvPr userDrawn="1"/>
        </p:nvPicPr>
        <p:blipFill>
          <a:blip r:embed="rId2"/>
          <a:stretch>
            <a:fillRect/>
          </a:stretch>
        </p:blipFill>
        <p:spPr>
          <a:xfrm>
            <a:off x="9179859" y="-10825"/>
            <a:ext cx="3012141" cy="904152"/>
          </a:xfrm>
          <a:prstGeom prst="rect">
            <a:avLst/>
          </a:prstGeom>
        </p:spPr>
      </p:pic>
    </p:spTree>
    <p:extLst>
      <p:ext uri="{BB962C8B-B14F-4D97-AF65-F5344CB8AC3E}">
        <p14:creationId xmlns:p14="http://schemas.microsoft.com/office/powerpoint/2010/main" val="849744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marL="360363" indent="-360363">
              <a:lnSpc>
                <a:spcPct val="100000"/>
              </a:lnSpc>
              <a:spcBef>
                <a:spcPts val="600"/>
              </a:spcBef>
              <a:buFont typeface="Wingdings" pitchFamily="2" charset="2"/>
              <a:buChar char="Ø"/>
              <a:tabLst/>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64" name="直线连接符 63">
            <a:extLst>
              <a:ext uri="{FF2B5EF4-FFF2-40B4-BE49-F238E27FC236}">
                <a16:creationId xmlns:a16="http://schemas.microsoft.com/office/drawing/2014/main" id="{06B569DB-EE88-CB4A-A634-A7CA45E81663}"/>
              </a:ext>
            </a:extLst>
          </p:cNvPr>
          <p:cNvCxnSpPr>
            <a:cxnSpLocks/>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2" name="图片 21">
            <a:extLst>
              <a:ext uri="{FF2B5EF4-FFF2-40B4-BE49-F238E27FC236}">
                <a16:creationId xmlns:a16="http://schemas.microsoft.com/office/drawing/2014/main" id="{479A4E1F-B48A-45F9-A570-AE56D115EC21}"/>
              </a:ext>
            </a:extLst>
          </p:cNvPr>
          <p:cNvPicPr>
            <a:picLocks noChangeAspect="1"/>
          </p:cNvPicPr>
          <p:nvPr userDrawn="1"/>
        </p:nvPicPr>
        <p:blipFill>
          <a:blip r:embed="rId2"/>
          <a:stretch>
            <a:fillRect/>
          </a:stretch>
        </p:blipFill>
        <p:spPr>
          <a:xfrm flipH="1">
            <a:off x="667831" y="535244"/>
            <a:ext cx="509314" cy="511567"/>
          </a:xfrm>
          <a:prstGeom prst="rect">
            <a:avLst/>
          </a:prstGeom>
        </p:spPr>
      </p:pic>
      <p:pic>
        <p:nvPicPr>
          <p:cNvPr id="9" name="图片 8">
            <a:extLst>
              <a:ext uri="{FF2B5EF4-FFF2-40B4-BE49-F238E27FC236}">
                <a16:creationId xmlns:a16="http://schemas.microsoft.com/office/drawing/2014/main" id="{FE393C34-9723-41FA-B8BE-899008CF761D}"/>
              </a:ext>
            </a:extLst>
          </p:cNvPr>
          <p:cNvPicPr>
            <a:picLocks noChangeAspect="1"/>
          </p:cNvPicPr>
          <p:nvPr userDrawn="1"/>
        </p:nvPicPr>
        <p:blipFill>
          <a:blip r:embed="rId3"/>
          <a:stretch>
            <a:fillRect/>
          </a:stretch>
        </p:blipFill>
        <p:spPr>
          <a:xfrm>
            <a:off x="9751203" y="420369"/>
            <a:ext cx="2266577" cy="680357"/>
          </a:xfrm>
          <a:prstGeom prst="rect">
            <a:avLst/>
          </a:prstGeom>
        </p:spPr>
      </p:pic>
    </p:spTree>
    <p:extLst>
      <p:ext uri="{BB962C8B-B14F-4D97-AF65-F5344CB8AC3E}">
        <p14:creationId xmlns:p14="http://schemas.microsoft.com/office/powerpoint/2010/main" val="32402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CA6BC-3A36-834A-8A46-510CF743F360}"/>
              </a:ext>
            </a:extLst>
          </p:cNvPr>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cxnSp>
        <p:nvCxnSpPr>
          <p:cNvPr id="9" name="直线连接符 8">
            <a:extLst>
              <a:ext uri="{FF2B5EF4-FFF2-40B4-BE49-F238E27FC236}">
                <a16:creationId xmlns:a16="http://schemas.microsoft.com/office/drawing/2014/main" id="{2D64F221-C9B8-444F-9076-736EED2DA56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33" name="直线连接符 32">
            <a:extLst>
              <a:ext uri="{FF2B5EF4-FFF2-40B4-BE49-F238E27FC236}">
                <a16:creationId xmlns:a16="http://schemas.microsoft.com/office/drawing/2014/main" id="{E9B9A2A5-908B-3244-B39F-9E6705AE6320}"/>
              </a:ext>
            </a:extLst>
          </p:cNvPr>
          <p:cNvCxnSpPr>
            <a:cxnSpLocks/>
          </p:cNvCxnSpPr>
          <p:nvPr userDrawn="1"/>
        </p:nvCxnSpPr>
        <p:spPr>
          <a:xfrm>
            <a:off x="9705401" y="526774"/>
            <a:ext cx="0" cy="503679"/>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7BC00378-4A1A-AF4A-9DA5-0E40AABBEE09}"/>
              </a:ext>
            </a:extLst>
          </p:cNvPr>
          <p:cNvGrpSpPr/>
          <p:nvPr userDrawn="1"/>
        </p:nvGrpSpPr>
        <p:grpSpPr>
          <a:xfrm>
            <a:off x="715452" y="636006"/>
            <a:ext cx="403039" cy="321898"/>
            <a:chOff x="1368170" y="664579"/>
            <a:chExt cx="550582" cy="439737"/>
          </a:xfrm>
          <a:solidFill>
            <a:schemeClr val="bg1"/>
          </a:solidFill>
        </p:grpSpPr>
        <p:sp>
          <p:nvSpPr>
            <p:cNvPr id="41" name="Freeform 1">
              <a:extLst>
                <a:ext uri="{FF2B5EF4-FFF2-40B4-BE49-F238E27FC236}">
                  <a16:creationId xmlns:a16="http://schemas.microsoft.com/office/drawing/2014/main" id="{219E963A-769E-B14C-9175-00DF37C8C68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a:extLst>
                <a:ext uri="{FF2B5EF4-FFF2-40B4-BE49-F238E27FC236}">
                  <a16:creationId xmlns:a16="http://schemas.microsoft.com/office/drawing/2014/main" id="{935EF8B9-88D2-6C42-BF9B-2AD28DBBD77F}"/>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a:extLst>
                <a:ext uri="{FF2B5EF4-FFF2-40B4-BE49-F238E27FC236}">
                  <a16:creationId xmlns:a16="http://schemas.microsoft.com/office/drawing/2014/main" id="{10E28FF9-5CED-394E-AF38-301649539D3C}"/>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a:extLst>
                <a:ext uri="{FF2B5EF4-FFF2-40B4-BE49-F238E27FC236}">
                  <a16:creationId xmlns:a16="http://schemas.microsoft.com/office/drawing/2014/main" id="{6E5EA531-DEFC-144D-8545-1DECEBA97224}"/>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a:extLst>
                <a:ext uri="{FF2B5EF4-FFF2-40B4-BE49-F238E27FC236}">
                  <a16:creationId xmlns:a16="http://schemas.microsoft.com/office/drawing/2014/main" id="{F39A9FAC-3BBF-CD45-BC62-06EF846D77A9}"/>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a:extLst>
                <a:ext uri="{FF2B5EF4-FFF2-40B4-BE49-F238E27FC236}">
                  <a16:creationId xmlns:a16="http://schemas.microsoft.com/office/drawing/2014/main" id="{4A2E4B78-1C39-A943-B2AE-B76B55EBA492}"/>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a:extLst>
                <a:ext uri="{FF2B5EF4-FFF2-40B4-BE49-F238E27FC236}">
                  <a16:creationId xmlns:a16="http://schemas.microsoft.com/office/drawing/2014/main" id="{E34B0E8F-7C29-3241-8B05-8DB5DF4ED827}"/>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a:extLst>
                <a:ext uri="{FF2B5EF4-FFF2-40B4-BE49-F238E27FC236}">
                  <a16:creationId xmlns:a16="http://schemas.microsoft.com/office/drawing/2014/main" id="{08D4B6E4-213B-E84A-9B55-3121DC89C5CA}"/>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a:extLst>
                <a:ext uri="{FF2B5EF4-FFF2-40B4-BE49-F238E27FC236}">
                  <a16:creationId xmlns:a16="http://schemas.microsoft.com/office/drawing/2014/main" id="{3073A429-8658-EC43-92EE-0AD58A5391AE}"/>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a:extLst>
                <a:ext uri="{FF2B5EF4-FFF2-40B4-BE49-F238E27FC236}">
                  <a16:creationId xmlns:a16="http://schemas.microsoft.com/office/drawing/2014/main" id="{7B9CB57C-5EF1-7045-A70B-14CD6B5A98B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a:extLst>
                <a:ext uri="{FF2B5EF4-FFF2-40B4-BE49-F238E27FC236}">
                  <a16:creationId xmlns:a16="http://schemas.microsoft.com/office/drawing/2014/main" id="{9187B6AA-F9BB-264E-BDCA-C7E0AC3A676B}"/>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23" name="图片 22">
            <a:extLst>
              <a:ext uri="{FF2B5EF4-FFF2-40B4-BE49-F238E27FC236}">
                <a16:creationId xmlns:a16="http://schemas.microsoft.com/office/drawing/2014/main" id="{479A4E1F-B48A-45F9-A570-AE56D115EC21}"/>
              </a:ext>
            </a:extLst>
          </p:cNvPr>
          <p:cNvPicPr>
            <a:picLocks noChangeAspect="1"/>
          </p:cNvPicPr>
          <p:nvPr userDrawn="1"/>
        </p:nvPicPr>
        <p:blipFill>
          <a:blip r:embed="rId2"/>
          <a:stretch>
            <a:fillRect/>
          </a:stretch>
        </p:blipFill>
        <p:spPr>
          <a:xfrm flipH="1">
            <a:off x="667831" y="535244"/>
            <a:ext cx="509314" cy="511567"/>
          </a:xfrm>
          <a:prstGeom prst="rect">
            <a:avLst/>
          </a:prstGeom>
        </p:spPr>
      </p:pic>
      <p:pic>
        <p:nvPicPr>
          <p:cNvPr id="22" name="图片 21">
            <a:extLst>
              <a:ext uri="{FF2B5EF4-FFF2-40B4-BE49-F238E27FC236}">
                <a16:creationId xmlns:a16="http://schemas.microsoft.com/office/drawing/2014/main" id="{6B45DD9E-B9FB-4014-BB3E-0DB4C21C1A7A}"/>
              </a:ext>
            </a:extLst>
          </p:cNvPr>
          <p:cNvPicPr>
            <a:picLocks noChangeAspect="1"/>
          </p:cNvPicPr>
          <p:nvPr userDrawn="1"/>
        </p:nvPicPr>
        <p:blipFill>
          <a:blip r:embed="rId3"/>
          <a:stretch>
            <a:fillRect/>
          </a:stretch>
        </p:blipFill>
        <p:spPr>
          <a:xfrm>
            <a:off x="9751203" y="420369"/>
            <a:ext cx="2266577" cy="680357"/>
          </a:xfrm>
          <a:prstGeom prst="rect">
            <a:avLst/>
          </a:prstGeom>
        </p:spPr>
      </p:pic>
    </p:spTree>
    <p:extLst>
      <p:ext uri="{BB962C8B-B14F-4D97-AF65-F5344CB8AC3E}">
        <p14:creationId xmlns:p14="http://schemas.microsoft.com/office/powerpoint/2010/main" val="487275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5" name="Rectangle 8">
            <a:extLst>
              <a:ext uri="{FF2B5EF4-FFF2-40B4-BE49-F238E27FC236}">
                <a16:creationId xmlns:a16="http://schemas.microsoft.com/office/drawing/2014/main" id="{EB931506-C8E0-1649-BE54-52B88034B126}"/>
              </a:ext>
            </a:extLst>
          </p:cNvPr>
          <p:cNvSpPr>
            <a:spLocks noGrp="1" noChangeArrowheads="1"/>
          </p:cNvSpPr>
          <p:nvPr>
            <p:ph type="sldNum" sz="quarter" idx="12"/>
          </p:nvPr>
        </p:nvSpPr>
        <p:spPr>
          <a:ln/>
        </p:spPr>
        <p:txBody>
          <a:bodyPr/>
          <a:lstStyle>
            <a:lvl1pPr>
              <a:defRPr/>
            </a:lvl1pPr>
          </a:lstStyle>
          <a:p>
            <a:fld id="{07279A2F-85B5-794E-ADF1-0805CD3C44B7}" type="slidenum">
              <a:rPr lang="en-US" altLang="zh-CN"/>
              <a:pPr/>
              <a:t>‹#›</a:t>
            </a:fld>
            <a:endParaRPr lang="en-US" altLang="zh-CN"/>
          </a:p>
        </p:txBody>
      </p:sp>
    </p:spTree>
    <p:extLst>
      <p:ext uri="{BB962C8B-B14F-4D97-AF65-F5344CB8AC3E}">
        <p14:creationId xmlns:p14="http://schemas.microsoft.com/office/powerpoint/2010/main" val="27104658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灯片编号占位符 5">
            <a:extLst>
              <a:ext uri="{FF2B5EF4-FFF2-40B4-BE49-F238E27FC236}">
                <a16:creationId xmlns:a16="http://schemas.microsoft.com/office/drawing/2014/main" id="{7F17F525-3365-224F-AAA7-E3B9B30119F2}"/>
              </a:ext>
            </a:extLst>
          </p:cNvPr>
          <p:cNvSpPr>
            <a:spLocks noGrp="1"/>
          </p:cNvSpPr>
          <p:nvPr>
            <p:ph type="sldNum" sz="quarter" idx="4"/>
          </p:nvPr>
        </p:nvSpPr>
        <p:spPr>
          <a:xfrm>
            <a:off x="9053945"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2266534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hyperlink" Target="https://beaconscan.com/epoch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F4557-9C48-9D4D-A8AC-E1BCC4493B84}"/>
              </a:ext>
            </a:extLst>
          </p:cNvPr>
          <p:cNvSpPr>
            <a:spLocks noGrp="1"/>
          </p:cNvSpPr>
          <p:nvPr>
            <p:ph type="ctrTitle"/>
          </p:nvPr>
        </p:nvSpPr>
        <p:spPr>
          <a:xfrm>
            <a:off x="1524000" y="891254"/>
            <a:ext cx="9144000" cy="2002674"/>
          </a:xfrm>
        </p:spPr>
        <p:txBody>
          <a:bodyPr/>
          <a:lstStyle/>
          <a:p>
            <a:r>
              <a:rPr kumimoji="1" lang="zh-CN" altLang="en-US" dirty="0"/>
              <a:t>第五章 以太坊</a:t>
            </a:r>
            <a:br>
              <a:rPr kumimoji="1" lang="en-US" altLang="zh-CN" dirty="0"/>
            </a:br>
            <a:r>
              <a:rPr kumimoji="1" lang="en-US" altLang="zh-CN" sz="3600" dirty="0"/>
              <a:t>——Proof </a:t>
            </a:r>
            <a:r>
              <a:rPr kumimoji="1" lang="en-US" altLang="zh-CN" sz="3600"/>
              <a:t>of Stake</a:t>
            </a:r>
            <a:endParaRPr kumimoji="1" lang="zh-CN" altLang="en-US" sz="3600" dirty="0"/>
          </a:p>
        </p:txBody>
      </p:sp>
      <p:sp>
        <p:nvSpPr>
          <p:cNvPr id="6" name="副标题 2">
            <a:extLst>
              <a:ext uri="{FF2B5EF4-FFF2-40B4-BE49-F238E27FC236}">
                <a16:creationId xmlns:a16="http://schemas.microsoft.com/office/drawing/2014/main" id="{1BAADDAC-3DB3-ED4C-BCFE-CFA6839907EE}"/>
              </a:ext>
            </a:extLst>
          </p:cNvPr>
          <p:cNvSpPr>
            <a:spLocks noGrp="1"/>
          </p:cNvSpPr>
          <p:nvPr>
            <p:ph type="subTitle" idx="1"/>
          </p:nvPr>
        </p:nvSpPr>
        <p:spPr>
          <a:xfrm>
            <a:off x="1524000" y="3411207"/>
            <a:ext cx="9144000" cy="1657977"/>
          </a:xfrm>
        </p:spPr>
        <p:txBody>
          <a:bodyPr>
            <a:normAutofit/>
          </a:bodyPr>
          <a:lstStyle/>
          <a:p>
            <a:pPr>
              <a:lnSpc>
                <a:spcPct val="150000"/>
              </a:lnSpc>
            </a:pPr>
            <a:r>
              <a:rPr kumimoji="1" lang="zh-CN" altLang="en-US" sz="3200" dirty="0"/>
              <a:t>授课教师：侯璐</a:t>
            </a:r>
            <a:endParaRPr kumimoji="1" lang="en-US" altLang="zh-CN" sz="3200" dirty="0"/>
          </a:p>
          <a:p>
            <a:pPr>
              <a:lnSpc>
                <a:spcPct val="150000"/>
              </a:lnSpc>
            </a:pPr>
            <a:r>
              <a:rPr kumimoji="1" lang="zh-CN" altLang="en-US" sz="3200" dirty="0"/>
              <a:t>北京邮电大学</a:t>
            </a:r>
            <a:endParaRPr kumimoji="1" lang="en-US" altLang="zh-CN" sz="3200" dirty="0"/>
          </a:p>
        </p:txBody>
      </p:sp>
    </p:spTree>
    <p:extLst>
      <p:ext uri="{BB962C8B-B14F-4D97-AF65-F5344CB8AC3E}">
        <p14:creationId xmlns:p14="http://schemas.microsoft.com/office/powerpoint/2010/main" val="2465913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b="1" dirty="0">
                <a:solidFill>
                  <a:srgbClr val="B962FF"/>
                </a:solidFill>
                <a:latin typeface="Garamond" panose="02020404030301010803" pitchFamily="18" charset="0"/>
              </a:rPr>
              <a:t>5.7</a:t>
            </a:r>
            <a:r>
              <a:rPr kumimoji="1" lang="en-US" altLang="zh-CN" dirty="0">
                <a:latin typeface="Garamond" panose="02020404030301010803" pitchFamily="18" charset="0"/>
              </a:rPr>
              <a:t> </a:t>
            </a:r>
            <a:r>
              <a:rPr kumimoji="1" lang="en-US" altLang="zh-CN" b="1" dirty="0">
                <a:solidFill>
                  <a:srgbClr val="B962FF"/>
                </a:solidFill>
                <a:latin typeface="Garamond" panose="02020404030301010803" pitchFamily="18" charset="0"/>
              </a:rPr>
              <a:t>Proof of Stake</a:t>
            </a:r>
            <a:endParaRPr kumimoji="1" lang="en-US" altLang="zh-CN" dirty="0">
              <a:latin typeface="Garamond" panose="02020404030301010803" pitchFamily="18" charset="0"/>
            </a:endParaRPr>
          </a:p>
          <a:p>
            <a:pPr marL="0" indent="0">
              <a:lnSpc>
                <a:spcPct val="130000"/>
              </a:lnSpc>
              <a:buNone/>
            </a:pPr>
            <a:r>
              <a:rPr kumimoji="1" lang="en-US" altLang="zh-CN" dirty="0">
                <a:latin typeface="Garamond" panose="02020404030301010803" pitchFamily="18" charset="0"/>
              </a:rPr>
              <a:t>5.8 </a:t>
            </a:r>
            <a:r>
              <a:rPr kumimoji="1" lang="zh-CN" altLang="en-US" dirty="0">
                <a:latin typeface="Garamond" panose="02020404030301010803" pitchFamily="18" charset="0"/>
              </a:rPr>
              <a:t>以太坊</a:t>
            </a:r>
            <a:r>
              <a:rPr kumimoji="1" lang="en-US" altLang="zh-CN" dirty="0" err="1">
                <a:latin typeface="Garamond" panose="02020404030301010803" pitchFamily="18" charset="0"/>
              </a:rPr>
              <a:t>PoS</a:t>
            </a:r>
            <a:r>
              <a:rPr kumimoji="1" lang="zh-CN" altLang="en-US" dirty="0">
                <a:latin typeface="Garamond" panose="02020404030301010803" pitchFamily="18" charset="0"/>
              </a:rPr>
              <a:t>（</a:t>
            </a:r>
            <a:r>
              <a:rPr kumimoji="1" lang="en-US" altLang="zh-CN" dirty="0">
                <a:latin typeface="Garamond" panose="02020404030301010803" pitchFamily="18" charset="0"/>
              </a:rPr>
              <a:t>Casper FFG + LMD GHOST → Gasper</a:t>
            </a:r>
            <a:r>
              <a:rPr kumimoji="1" lang="zh-CN" altLang="en-US" dirty="0">
                <a:latin typeface="Garamond" panose="02020404030301010803" pitchFamily="18" charset="0"/>
              </a:rPr>
              <a:t>）</a:t>
            </a:r>
            <a:endParaRPr kumimoji="1" lang="en-US" altLang="zh-CN" dirty="0">
              <a:latin typeface="Garamond" panose="02020404030301010803" pitchFamily="18" charset="0"/>
            </a:endParaRPr>
          </a:p>
          <a:p>
            <a:pPr marL="0" indent="0">
              <a:lnSpc>
                <a:spcPct val="130000"/>
              </a:lnSpc>
              <a:buNone/>
            </a:pPr>
            <a:r>
              <a:rPr kumimoji="1" lang="en-US" altLang="zh-CN" dirty="0">
                <a:latin typeface="Garamond" panose="02020404030301010803" pitchFamily="18" charset="0"/>
              </a:rPr>
              <a:t>5.9 </a:t>
            </a:r>
            <a:r>
              <a:rPr kumimoji="1" lang="zh-CN" altLang="en-US" dirty="0">
                <a:latin typeface="Garamond" panose="02020404030301010803" pitchFamily="18" charset="0"/>
              </a:rPr>
              <a:t>以太坊经典应用</a:t>
            </a:r>
            <a:endParaRPr kumimoji="1" lang="en-US" altLang="zh-CN" dirty="0">
              <a:latin typeface="Garamond" panose="02020404030301010803" pitchFamily="18" charset="0"/>
            </a:endParaRP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1</a:t>
            </a:fld>
            <a:endParaRPr kumimoji="1" lang="zh-CN" altLang="en-US" dirty="0"/>
          </a:p>
        </p:txBody>
      </p:sp>
    </p:spTree>
    <p:extLst>
      <p:ext uri="{BB962C8B-B14F-4D97-AF65-F5344CB8AC3E}">
        <p14:creationId xmlns:p14="http://schemas.microsoft.com/office/powerpoint/2010/main" val="3356725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Garamond" panose="02020404030301010803" pitchFamily="18" charset="0"/>
              </a:rPr>
              <a:t>Proof of Stake</a:t>
            </a:r>
          </a:p>
        </p:txBody>
      </p:sp>
      <p:sp>
        <p:nvSpPr>
          <p:cNvPr id="3" name="内容占位符 2"/>
          <p:cNvSpPr>
            <a:spLocks noGrp="1"/>
          </p:cNvSpPr>
          <p:nvPr>
            <p:ph idx="1"/>
          </p:nvPr>
        </p:nvSpPr>
        <p:spPr>
          <a:xfrm>
            <a:off x="838200" y="1510758"/>
            <a:ext cx="10248899" cy="4845592"/>
          </a:xfrm>
        </p:spPr>
        <p:txBody>
          <a:bodyPr>
            <a:normAutofit/>
          </a:bodyPr>
          <a:lstStyle/>
          <a:p>
            <a:pPr lvl="0">
              <a:lnSpc>
                <a:spcPct val="130000"/>
              </a:lnSpc>
            </a:pPr>
            <a:r>
              <a:rPr lang="zh-CN" altLang="en-US" dirty="0">
                <a:solidFill>
                  <a:prstClr val="black"/>
                </a:solidFill>
                <a:latin typeface="Garamond" panose="02020404030301010803" pitchFamily="18" charset="0"/>
              </a:rPr>
              <a:t>权益证明</a:t>
            </a:r>
          </a:p>
          <a:p>
            <a:pPr lvl="1">
              <a:lnSpc>
                <a:spcPct val="130000"/>
              </a:lnSpc>
            </a:pPr>
            <a:r>
              <a:rPr lang="zh-CN" altLang="en-US" dirty="0">
                <a:solidFill>
                  <a:prstClr val="black"/>
                </a:solidFill>
                <a:latin typeface="Garamond" panose="02020404030301010803" pitchFamily="18" charset="0"/>
              </a:rPr>
              <a:t>公有区块链采用共识机制主要有两种：工作量证明（</a:t>
            </a:r>
            <a:r>
              <a:rPr lang="en-US" altLang="zh-CN" dirty="0" err="1">
                <a:solidFill>
                  <a:prstClr val="black"/>
                </a:solidFill>
                <a:latin typeface="Garamond" panose="02020404030301010803" pitchFamily="18" charset="0"/>
              </a:rPr>
              <a:t>PoW</a:t>
            </a:r>
            <a:r>
              <a:rPr lang="zh-CN" altLang="en-US" dirty="0">
                <a:solidFill>
                  <a:prstClr val="black"/>
                </a:solidFill>
                <a:latin typeface="Garamond" panose="02020404030301010803" pitchFamily="18" charset="0"/>
              </a:rPr>
              <a:t>）和权益证明（</a:t>
            </a:r>
            <a:r>
              <a:rPr lang="en-US" altLang="zh-CN" dirty="0" err="1">
                <a:solidFill>
                  <a:prstClr val="black"/>
                </a:solidFill>
                <a:latin typeface="Garamond" panose="02020404030301010803" pitchFamily="18" charset="0"/>
              </a:rPr>
              <a:t>PoS</a:t>
            </a:r>
            <a:r>
              <a:rPr lang="zh-CN" altLang="en-US" dirty="0">
                <a:solidFill>
                  <a:prstClr val="black"/>
                </a:solidFill>
                <a:latin typeface="Garamond" panose="02020404030301010803" pitchFamily="18" charset="0"/>
              </a:rPr>
              <a:t>）</a:t>
            </a:r>
            <a:endParaRPr lang="en-US" altLang="zh-CN" dirty="0">
              <a:solidFill>
                <a:prstClr val="black"/>
              </a:solidFill>
              <a:latin typeface="Garamond" panose="02020404030301010803" pitchFamily="18" charset="0"/>
            </a:endParaRPr>
          </a:p>
          <a:p>
            <a:pPr lvl="1">
              <a:lnSpc>
                <a:spcPct val="130000"/>
              </a:lnSpc>
            </a:pPr>
            <a:r>
              <a:rPr lang="en-US" altLang="zh-CN" dirty="0" err="1">
                <a:solidFill>
                  <a:prstClr val="black"/>
                </a:solidFill>
                <a:latin typeface="Garamond" panose="02020404030301010803" pitchFamily="18" charset="0"/>
              </a:rPr>
              <a:t>PoW</a:t>
            </a:r>
            <a:r>
              <a:rPr lang="zh-CN" altLang="en-US" dirty="0">
                <a:solidFill>
                  <a:prstClr val="black"/>
                </a:solidFill>
                <a:latin typeface="Garamond" panose="02020404030301010803" pitchFamily="18" charset="0"/>
              </a:rPr>
              <a:t>能源消耗巨大，</a:t>
            </a:r>
            <a:r>
              <a:rPr lang="en-US" altLang="zh-CN" dirty="0" err="1">
                <a:solidFill>
                  <a:prstClr val="black"/>
                </a:solidFill>
                <a:latin typeface="Garamond" panose="02020404030301010803" pitchFamily="18" charset="0"/>
              </a:rPr>
              <a:t>PsS</a:t>
            </a:r>
            <a:r>
              <a:rPr lang="zh-CN" altLang="en-US" dirty="0">
                <a:solidFill>
                  <a:prstClr val="black"/>
                </a:solidFill>
                <a:latin typeface="Garamond" panose="02020404030301010803" pitchFamily="18" charset="0"/>
              </a:rPr>
              <a:t>基于某种稀缺资源对记账权进行竞争</a:t>
            </a:r>
            <a:endParaRPr lang="en-US" altLang="zh-CN" dirty="0">
              <a:solidFill>
                <a:prstClr val="black"/>
              </a:solidFill>
              <a:latin typeface="Garamond" panose="02020404030301010803" pitchFamily="18" charset="0"/>
            </a:endParaRPr>
          </a:p>
          <a:p>
            <a:pPr lvl="1">
              <a:lnSpc>
                <a:spcPct val="130000"/>
              </a:lnSpc>
            </a:pPr>
            <a:r>
              <a:rPr lang="zh-CN" altLang="en-US" dirty="0">
                <a:solidFill>
                  <a:prstClr val="black"/>
                </a:solidFill>
                <a:latin typeface="Garamond" panose="02020404030301010803" pitchFamily="18" charset="0"/>
              </a:rPr>
              <a:t>权益证明中的稀缺资源为权益，权益的表现形式大多为公有区块链上的加密货币，包括持币量以及币龄等</a:t>
            </a:r>
            <a:endParaRPr lang="en-US" altLang="zh-CN" dirty="0">
              <a:solidFill>
                <a:prstClr val="black"/>
              </a:solidFill>
              <a:latin typeface="Garamond" panose="02020404030301010803" pitchFamily="18" charset="0"/>
            </a:endParaRPr>
          </a:p>
          <a:p>
            <a:pPr lvl="1">
              <a:lnSpc>
                <a:spcPct val="130000"/>
              </a:lnSpc>
            </a:pPr>
            <a:r>
              <a:rPr lang="zh-CN" altLang="en-US" dirty="0">
                <a:solidFill>
                  <a:prstClr val="black"/>
                </a:solidFill>
                <a:latin typeface="Garamond" panose="02020404030301010803" pitchFamily="18" charset="0"/>
              </a:rPr>
              <a:t>主要面临两个挑战：长程攻击（</a:t>
            </a:r>
            <a:r>
              <a:rPr lang="en-US" altLang="zh-CN" dirty="0">
                <a:solidFill>
                  <a:prstClr val="black"/>
                </a:solidFill>
                <a:latin typeface="Garamond" panose="02020404030301010803" pitchFamily="18" charset="0"/>
              </a:rPr>
              <a:t>long range attack</a:t>
            </a:r>
            <a:r>
              <a:rPr lang="zh-CN" altLang="en-US" dirty="0">
                <a:solidFill>
                  <a:prstClr val="black"/>
                </a:solidFill>
                <a:latin typeface="Garamond" panose="02020404030301010803" pitchFamily="18" charset="0"/>
              </a:rPr>
              <a:t>）和无利害关系（</a:t>
            </a:r>
            <a:r>
              <a:rPr lang="en-US" altLang="zh-CN" dirty="0">
                <a:solidFill>
                  <a:prstClr val="black"/>
                </a:solidFill>
                <a:latin typeface="Garamond" panose="02020404030301010803" pitchFamily="18" charset="0"/>
              </a:rPr>
              <a:t>nothing at stake</a:t>
            </a:r>
            <a:r>
              <a:rPr lang="zh-CN" altLang="en-US" dirty="0">
                <a:solidFill>
                  <a:prstClr val="black"/>
                </a:solidFill>
                <a:latin typeface="Garamond" panose="02020404030301010803" pitchFamily="18" charset="0"/>
              </a:rPr>
              <a:t>）</a:t>
            </a:r>
            <a:endParaRPr lang="en-US" altLang="zh-CN" dirty="0">
              <a:solidFill>
                <a:prstClr val="black"/>
              </a:solidFill>
              <a:latin typeface="Garamond" panose="02020404030301010803" pitchFamily="18" charset="0"/>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2</a:t>
            </a:fld>
            <a:endParaRPr kumimoji="1" lang="zh-CN" altLang="en-US" dirty="0"/>
          </a:p>
        </p:txBody>
      </p:sp>
    </p:spTree>
    <p:extLst>
      <p:ext uri="{BB962C8B-B14F-4D97-AF65-F5344CB8AC3E}">
        <p14:creationId xmlns:p14="http://schemas.microsoft.com/office/powerpoint/2010/main" val="1628690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Garamond" panose="02020404030301010803" pitchFamily="18" charset="0"/>
              </a:rPr>
              <a:t>Proof of Stake</a:t>
            </a: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3</a:t>
            </a:fld>
            <a:endParaRPr kumimoji="1" lang="zh-CN" altLang="en-US" dirty="0"/>
          </a:p>
        </p:txBody>
      </p:sp>
      <p:pic>
        <p:nvPicPr>
          <p:cNvPr id="8" name="图片 7">
            <a:extLst>
              <a:ext uri="{FF2B5EF4-FFF2-40B4-BE49-F238E27FC236}">
                <a16:creationId xmlns:a16="http://schemas.microsoft.com/office/drawing/2014/main" id="{1EB096EC-5E13-4135-B50C-479D3B5188F9}"/>
              </a:ext>
            </a:extLst>
          </p:cNvPr>
          <p:cNvPicPr>
            <a:picLocks noChangeAspect="1"/>
          </p:cNvPicPr>
          <p:nvPr/>
        </p:nvPicPr>
        <p:blipFill>
          <a:blip r:embed="rId3"/>
          <a:stretch>
            <a:fillRect/>
          </a:stretch>
        </p:blipFill>
        <p:spPr>
          <a:xfrm>
            <a:off x="3127476" y="3065217"/>
            <a:ext cx="914400" cy="914400"/>
          </a:xfrm>
          <a:prstGeom prst="rect">
            <a:avLst/>
          </a:prstGeom>
        </p:spPr>
      </p:pic>
      <p:pic>
        <p:nvPicPr>
          <p:cNvPr id="10" name="图片 9">
            <a:extLst>
              <a:ext uri="{FF2B5EF4-FFF2-40B4-BE49-F238E27FC236}">
                <a16:creationId xmlns:a16="http://schemas.microsoft.com/office/drawing/2014/main" id="{EA3ED7BC-15A2-4111-A7F2-8A68618F6AC4}"/>
              </a:ext>
            </a:extLst>
          </p:cNvPr>
          <p:cNvPicPr>
            <a:picLocks noChangeAspect="1"/>
          </p:cNvPicPr>
          <p:nvPr/>
        </p:nvPicPr>
        <p:blipFill>
          <a:blip r:embed="rId4"/>
          <a:stretch>
            <a:fillRect/>
          </a:stretch>
        </p:blipFill>
        <p:spPr>
          <a:xfrm>
            <a:off x="653546" y="3065217"/>
            <a:ext cx="914400" cy="914400"/>
          </a:xfrm>
          <a:prstGeom prst="rect">
            <a:avLst/>
          </a:prstGeom>
        </p:spPr>
      </p:pic>
      <p:sp>
        <p:nvSpPr>
          <p:cNvPr id="11" name="文本框 10">
            <a:extLst>
              <a:ext uri="{FF2B5EF4-FFF2-40B4-BE49-F238E27FC236}">
                <a16:creationId xmlns:a16="http://schemas.microsoft.com/office/drawing/2014/main" id="{A1042CC6-A5ED-4AD3-AB96-488BEEEBD8C2}"/>
              </a:ext>
            </a:extLst>
          </p:cNvPr>
          <p:cNvSpPr txBox="1"/>
          <p:nvPr/>
        </p:nvSpPr>
        <p:spPr>
          <a:xfrm>
            <a:off x="722915" y="2537530"/>
            <a:ext cx="775662" cy="461665"/>
          </a:xfrm>
          <a:prstGeom prst="rect">
            <a:avLst/>
          </a:prstGeom>
          <a:noFill/>
        </p:spPr>
        <p:txBody>
          <a:bodyPr wrap="none" rtlCol="0">
            <a:spAutoFit/>
          </a:bodyPr>
          <a:lstStyle/>
          <a:p>
            <a:r>
              <a:rPr lang="en-US" altLang="zh-CN" sz="2400" dirty="0" err="1">
                <a:latin typeface="Garamond" panose="02020404030301010803" pitchFamily="18" charset="0"/>
              </a:rPr>
              <a:t>PoW</a:t>
            </a:r>
            <a:endParaRPr lang="zh-CN" altLang="en-US" sz="2400" dirty="0">
              <a:latin typeface="Garamond" panose="02020404030301010803" pitchFamily="18" charset="0"/>
            </a:endParaRPr>
          </a:p>
        </p:txBody>
      </p:sp>
      <p:sp>
        <p:nvSpPr>
          <p:cNvPr id="14" name="文本框 13">
            <a:extLst>
              <a:ext uri="{FF2B5EF4-FFF2-40B4-BE49-F238E27FC236}">
                <a16:creationId xmlns:a16="http://schemas.microsoft.com/office/drawing/2014/main" id="{53F72766-A10D-4AE7-99A3-3C5ED28ED16F}"/>
              </a:ext>
            </a:extLst>
          </p:cNvPr>
          <p:cNvSpPr txBox="1"/>
          <p:nvPr/>
        </p:nvSpPr>
        <p:spPr>
          <a:xfrm>
            <a:off x="3196845" y="2537529"/>
            <a:ext cx="650627" cy="461665"/>
          </a:xfrm>
          <a:prstGeom prst="rect">
            <a:avLst/>
          </a:prstGeom>
          <a:noFill/>
        </p:spPr>
        <p:txBody>
          <a:bodyPr wrap="none" rtlCol="0">
            <a:spAutoFit/>
          </a:bodyPr>
          <a:lstStyle/>
          <a:p>
            <a:r>
              <a:rPr lang="en-US" altLang="zh-CN" sz="2400" dirty="0" err="1">
                <a:latin typeface="Garamond" panose="02020404030301010803" pitchFamily="18" charset="0"/>
              </a:rPr>
              <a:t>PoS</a:t>
            </a:r>
            <a:endParaRPr lang="zh-CN" altLang="en-US" sz="2400" dirty="0">
              <a:latin typeface="Garamond" panose="02020404030301010803" pitchFamily="18" charset="0"/>
            </a:endParaRPr>
          </a:p>
        </p:txBody>
      </p:sp>
      <p:sp>
        <p:nvSpPr>
          <p:cNvPr id="15" name="文本框 14">
            <a:extLst>
              <a:ext uri="{FF2B5EF4-FFF2-40B4-BE49-F238E27FC236}">
                <a16:creationId xmlns:a16="http://schemas.microsoft.com/office/drawing/2014/main" id="{EDA247F7-89EF-4E7A-8793-FFCA1E7B439B}"/>
              </a:ext>
            </a:extLst>
          </p:cNvPr>
          <p:cNvSpPr txBox="1"/>
          <p:nvPr/>
        </p:nvSpPr>
        <p:spPr>
          <a:xfrm>
            <a:off x="604836" y="4177466"/>
            <a:ext cx="1011815" cy="461665"/>
          </a:xfrm>
          <a:prstGeom prst="rect">
            <a:avLst/>
          </a:prstGeom>
          <a:noFill/>
        </p:spPr>
        <p:txBody>
          <a:bodyPr wrap="none" rtlCol="0">
            <a:spAutoFit/>
          </a:bodyPr>
          <a:lstStyle/>
          <a:p>
            <a:r>
              <a:rPr lang="en-US" altLang="zh-CN" sz="2400" dirty="0">
                <a:latin typeface="Garamond" panose="02020404030301010803" pitchFamily="18" charset="0"/>
              </a:rPr>
              <a:t>Miners</a:t>
            </a:r>
            <a:endParaRPr lang="zh-CN" altLang="en-US" sz="2400" dirty="0">
              <a:latin typeface="Garamond" panose="02020404030301010803" pitchFamily="18" charset="0"/>
            </a:endParaRPr>
          </a:p>
        </p:txBody>
      </p:sp>
      <p:sp>
        <p:nvSpPr>
          <p:cNvPr id="16" name="文本框 15">
            <a:extLst>
              <a:ext uri="{FF2B5EF4-FFF2-40B4-BE49-F238E27FC236}">
                <a16:creationId xmlns:a16="http://schemas.microsoft.com/office/drawing/2014/main" id="{7AE11ACC-35DA-4A6A-8E00-560B28CA66F9}"/>
              </a:ext>
            </a:extLst>
          </p:cNvPr>
          <p:cNvSpPr txBox="1"/>
          <p:nvPr/>
        </p:nvSpPr>
        <p:spPr>
          <a:xfrm>
            <a:off x="2869480" y="4177467"/>
            <a:ext cx="1380378" cy="461665"/>
          </a:xfrm>
          <a:prstGeom prst="rect">
            <a:avLst/>
          </a:prstGeom>
          <a:noFill/>
        </p:spPr>
        <p:txBody>
          <a:bodyPr wrap="none" rtlCol="0">
            <a:spAutoFit/>
          </a:bodyPr>
          <a:lstStyle/>
          <a:p>
            <a:r>
              <a:rPr lang="en-US" altLang="zh-CN" sz="2400" dirty="0">
                <a:latin typeface="Garamond" panose="02020404030301010803" pitchFamily="18" charset="0"/>
              </a:rPr>
              <a:t>Validators</a:t>
            </a:r>
            <a:endParaRPr lang="zh-CN" altLang="en-US" sz="2400" dirty="0">
              <a:latin typeface="Garamond" panose="02020404030301010803" pitchFamily="18" charset="0"/>
            </a:endParaRPr>
          </a:p>
        </p:txBody>
      </p:sp>
      <p:sp>
        <p:nvSpPr>
          <p:cNvPr id="17" name="文本框 16">
            <a:extLst>
              <a:ext uri="{FF2B5EF4-FFF2-40B4-BE49-F238E27FC236}">
                <a16:creationId xmlns:a16="http://schemas.microsoft.com/office/drawing/2014/main" id="{4C198A8F-6B0D-4542-9CAD-91DBB14A9FFE}"/>
              </a:ext>
            </a:extLst>
          </p:cNvPr>
          <p:cNvSpPr txBox="1"/>
          <p:nvPr/>
        </p:nvSpPr>
        <p:spPr>
          <a:xfrm>
            <a:off x="593616" y="4938348"/>
            <a:ext cx="1034257" cy="461665"/>
          </a:xfrm>
          <a:prstGeom prst="rect">
            <a:avLst/>
          </a:prstGeom>
          <a:noFill/>
        </p:spPr>
        <p:txBody>
          <a:bodyPr wrap="none" rtlCol="0">
            <a:spAutoFit/>
          </a:bodyPr>
          <a:lstStyle/>
          <a:p>
            <a:r>
              <a:rPr lang="en-US" altLang="zh-CN" sz="2400" dirty="0">
                <a:latin typeface="Garamond" panose="02020404030301010803" pitchFamily="18" charset="0"/>
              </a:rPr>
              <a:t>Mining</a:t>
            </a:r>
            <a:endParaRPr lang="zh-CN" altLang="en-US" sz="2400" dirty="0">
              <a:latin typeface="Garamond" panose="02020404030301010803" pitchFamily="18" charset="0"/>
            </a:endParaRPr>
          </a:p>
        </p:txBody>
      </p:sp>
      <p:sp>
        <p:nvSpPr>
          <p:cNvPr id="18" name="文本框 17">
            <a:extLst>
              <a:ext uri="{FF2B5EF4-FFF2-40B4-BE49-F238E27FC236}">
                <a16:creationId xmlns:a16="http://schemas.microsoft.com/office/drawing/2014/main" id="{0C37F849-C13E-4A8D-9D87-F103EAF79121}"/>
              </a:ext>
            </a:extLst>
          </p:cNvPr>
          <p:cNvSpPr txBox="1"/>
          <p:nvPr/>
        </p:nvSpPr>
        <p:spPr>
          <a:xfrm>
            <a:off x="3067547" y="4938348"/>
            <a:ext cx="984244" cy="461665"/>
          </a:xfrm>
          <a:prstGeom prst="rect">
            <a:avLst/>
          </a:prstGeom>
          <a:noFill/>
        </p:spPr>
        <p:txBody>
          <a:bodyPr wrap="none" rtlCol="0">
            <a:spAutoFit/>
          </a:bodyPr>
          <a:lstStyle/>
          <a:p>
            <a:r>
              <a:rPr lang="en-US" altLang="zh-CN" sz="2400" dirty="0">
                <a:latin typeface="Garamond" panose="02020404030301010803" pitchFamily="18" charset="0"/>
              </a:rPr>
              <a:t>Voting</a:t>
            </a:r>
            <a:endParaRPr lang="zh-CN" altLang="en-US" sz="2400" dirty="0">
              <a:latin typeface="Garamond" panose="02020404030301010803" pitchFamily="18" charset="0"/>
            </a:endParaRPr>
          </a:p>
        </p:txBody>
      </p:sp>
      <p:cxnSp>
        <p:nvCxnSpPr>
          <p:cNvPr id="20" name="直接箭头连接符 19">
            <a:extLst>
              <a:ext uri="{FF2B5EF4-FFF2-40B4-BE49-F238E27FC236}">
                <a16:creationId xmlns:a16="http://schemas.microsoft.com/office/drawing/2014/main" id="{868F4227-338D-4727-838C-B5FFD2BFE7D4}"/>
              </a:ext>
            </a:extLst>
          </p:cNvPr>
          <p:cNvCxnSpPr>
            <a:stCxn id="15" idx="3"/>
            <a:endCxn id="16" idx="1"/>
          </p:cNvCxnSpPr>
          <p:nvPr/>
        </p:nvCxnSpPr>
        <p:spPr>
          <a:xfrm>
            <a:off x="1616651" y="4408299"/>
            <a:ext cx="1252829" cy="1"/>
          </a:xfrm>
          <a:prstGeom prst="straightConnector1">
            <a:avLst/>
          </a:prstGeom>
          <a:ln w="38100">
            <a:solidFill>
              <a:srgbClr val="5B307E"/>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D8DE6EF8-1BDD-4F37-8E63-43210E35ED1B}"/>
              </a:ext>
            </a:extLst>
          </p:cNvPr>
          <p:cNvCxnSpPr>
            <a:cxnSpLocks/>
            <a:stCxn id="17" idx="3"/>
            <a:endCxn id="18" idx="1"/>
          </p:cNvCxnSpPr>
          <p:nvPr/>
        </p:nvCxnSpPr>
        <p:spPr>
          <a:xfrm>
            <a:off x="1627873" y="5169181"/>
            <a:ext cx="1439674" cy="0"/>
          </a:xfrm>
          <a:prstGeom prst="straightConnector1">
            <a:avLst/>
          </a:prstGeom>
          <a:ln w="38100">
            <a:solidFill>
              <a:srgbClr val="5B307E"/>
            </a:solidFill>
            <a:tailEnd type="triangle"/>
          </a:ln>
        </p:spPr>
        <p:style>
          <a:lnRef idx="1">
            <a:schemeClr val="accent1"/>
          </a:lnRef>
          <a:fillRef idx="0">
            <a:schemeClr val="accent1"/>
          </a:fillRef>
          <a:effectRef idx="0">
            <a:schemeClr val="accent1"/>
          </a:effectRef>
          <a:fontRef idx="minor">
            <a:schemeClr val="tx1"/>
          </a:fontRef>
        </p:style>
      </p:cxnSp>
      <p:sp>
        <p:nvSpPr>
          <p:cNvPr id="24" name="内容占位符 2">
            <a:extLst>
              <a:ext uri="{FF2B5EF4-FFF2-40B4-BE49-F238E27FC236}">
                <a16:creationId xmlns:a16="http://schemas.microsoft.com/office/drawing/2014/main" id="{9D1F960E-6D90-4602-B6D2-17EA03393C8B}"/>
              </a:ext>
            </a:extLst>
          </p:cNvPr>
          <p:cNvSpPr>
            <a:spLocks noGrp="1"/>
          </p:cNvSpPr>
          <p:nvPr>
            <p:ph idx="1"/>
          </p:nvPr>
        </p:nvSpPr>
        <p:spPr>
          <a:xfrm>
            <a:off x="4765815" y="2415633"/>
            <a:ext cx="6933822" cy="2892277"/>
          </a:xfrm>
        </p:spPr>
        <p:txBody>
          <a:bodyPr>
            <a:normAutofit/>
          </a:bodyPr>
          <a:lstStyle/>
          <a:p>
            <a:pPr lvl="0">
              <a:lnSpc>
                <a:spcPct val="130000"/>
              </a:lnSpc>
            </a:pPr>
            <a:r>
              <a:rPr lang="zh-CN" altLang="en-US" dirty="0">
                <a:solidFill>
                  <a:prstClr val="black"/>
                </a:solidFill>
                <a:latin typeface="Garamond" panose="02020404030301010803" pitchFamily="18" charset="0"/>
              </a:rPr>
              <a:t>验证者</a:t>
            </a:r>
            <a:r>
              <a:rPr lang="en-US" altLang="zh-CN" dirty="0">
                <a:solidFill>
                  <a:prstClr val="black"/>
                </a:solidFill>
                <a:latin typeface="Garamond" panose="02020404030301010803" pitchFamily="18" charset="0"/>
              </a:rPr>
              <a:t>Validators</a:t>
            </a:r>
            <a:endParaRPr lang="zh-CN" altLang="en-US" dirty="0">
              <a:solidFill>
                <a:prstClr val="black"/>
              </a:solidFill>
              <a:latin typeface="Garamond" panose="02020404030301010803" pitchFamily="18" charset="0"/>
            </a:endParaRPr>
          </a:p>
          <a:p>
            <a:pPr lvl="1">
              <a:lnSpc>
                <a:spcPct val="130000"/>
              </a:lnSpc>
            </a:pPr>
            <a:r>
              <a:rPr lang="zh-CN" altLang="en-US" b="1" dirty="0">
                <a:solidFill>
                  <a:srgbClr val="5B307E"/>
                </a:solidFill>
                <a:latin typeface="Garamond" panose="02020404030301010803" pitchFamily="18" charset="0"/>
              </a:rPr>
              <a:t>质押</a:t>
            </a:r>
            <a:r>
              <a:rPr lang="zh-CN" altLang="en-US" dirty="0">
                <a:solidFill>
                  <a:prstClr val="black"/>
                </a:solidFill>
                <a:latin typeface="Garamond" panose="02020404030301010803" pitchFamily="18" charset="0"/>
              </a:rPr>
              <a:t>一定数量的代币成为验证者</a:t>
            </a:r>
            <a:endParaRPr lang="en-US" altLang="zh-CN" dirty="0">
              <a:solidFill>
                <a:prstClr val="black"/>
              </a:solidFill>
              <a:latin typeface="Garamond" panose="02020404030301010803" pitchFamily="18" charset="0"/>
            </a:endParaRPr>
          </a:p>
          <a:p>
            <a:pPr lvl="1">
              <a:lnSpc>
                <a:spcPct val="130000"/>
              </a:lnSpc>
            </a:pPr>
            <a:r>
              <a:rPr lang="zh-CN" altLang="en-US" dirty="0">
                <a:solidFill>
                  <a:prstClr val="black"/>
                </a:solidFill>
                <a:latin typeface="Garamond" panose="02020404030301010803" pitchFamily="18" charset="0"/>
              </a:rPr>
              <a:t>验证区块合法性，进行投票表决</a:t>
            </a:r>
            <a:endParaRPr lang="en-US" altLang="zh-CN" dirty="0">
              <a:solidFill>
                <a:prstClr val="black"/>
              </a:solidFill>
              <a:latin typeface="Garamond" panose="02020404030301010803" pitchFamily="18" charset="0"/>
            </a:endParaRPr>
          </a:p>
          <a:p>
            <a:pPr lvl="1">
              <a:lnSpc>
                <a:spcPct val="130000"/>
              </a:lnSpc>
            </a:pPr>
            <a:r>
              <a:rPr lang="zh-CN" altLang="en-US" dirty="0">
                <a:solidFill>
                  <a:prstClr val="black"/>
                </a:solidFill>
                <a:latin typeface="Garamond" panose="02020404030301010803" pitchFamily="18" charset="0"/>
              </a:rPr>
              <a:t>按照质押代币的数量计算得票</a:t>
            </a:r>
            <a:endParaRPr lang="en-US" altLang="zh-CN" dirty="0">
              <a:solidFill>
                <a:prstClr val="black"/>
              </a:solidFill>
              <a:latin typeface="Garamond" panose="02020404030301010803" pitchFamily="18" charset="0"/>
            </a:endParaRPr>
          </a:p>
          <a:p>
            <a:pPr lvl="1">
              <a:lnSpc>
                <a:spcPct val="130000"/>
              </a:lnSpc>
            </a:pPr>
            <a:r>
              <a:rPr lang="zh-CN" altLang="en-US" dirty="0">
                <a:solidFill>
                  <a:prstClr val="black"/>
                </a:solidFill>
                <a:latin typeface="Garamond" panose="02020404030301010803" pitchFamily="18" charset="0"/>
              </a:rPr>
              <a:t>成功出块，验证者获得一定奖励</a:t>
            </a:r>
            <a:endParaRPr lang="en-US" altLang="zh-CN" dirty="0">
              <a:solidFill>
                <a:prstClr val="black"/>
              </a:solidFill>
              <a:latin typeface="Garamond" panose="02020404030301010803" pitchFamily="18" charset="0"/>
            </a:endParaRPr>
          </a:p>
        </p:txBody>
      </p:sp>
    </p:spTree>
    <p:extLst>
      <p:ext uri="{BB962C8B-B14F-4D97-AF65-F5344CB8AC3E}">
        <p14:creationId xmlns:p14="http://schemas.microsoft.com/office/powerpoint/2010/main" val="4283127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Garamond" panose="02020404030301010803" pitchFamily="18" charset="0"/>
              </a:rPr>
              <a:t>Proof of Stake</a:t>
            </a:r>
            <a:endParaRPr lang="en-US" altLang="zh-CN" dirty="0"/>
          </a:p>
        </p:txBody>
      </p:sp>
      <p:sp>
        <p:nvSpPr>
          <p:cNvPr id="3" name="内容占位符 2"/>
          <p:cNvSpPr>
            <a:spLocks noGrp="1"/>
          </p:cNvSpPr>
          <p:nvPr>
            <p:ph idx="1"/>
          </p:nvPr>
        </p:nvSpPr>
        <p:spPr>
          <a:xfrm>
            <a:off x="838200" y="1510758"/>
            <a:ext cx="10248899" cy="4845592"/>
          </a:xfrm>
        </p:spPr>
        <p:txBody>
          <a:bodyPr>
            <a:normAutofit/>
          </a:bodyPr>
          <a:lstStyle/>
          <a:p>
            <a:pPr lvl="0">
              <a:lnSpc>
                <a:spcPct val="130000"/>
              </a:lnSpc>
            </a:pPr>
            <a:r>
              <a:rPr lang="zh-CN" altLang="en-US" dirty="0">
                <a:solidFill>
                  <a:prstClr val="black"/>
                </a:solidFill>
                <a:latin typeface="Garamond" panose="02020404030301010803" pitchFamily="18" charset="0"/>
              </a:rPr>
              <a:t>长程攻击</a:t>
            </a:r>
          </a:p>
          <a:p>
            <a:pPr lvl="1">
              <a:lnSpc>
                <a:spcPct val="130000"/>
              </a:lnSpc>
            </a:pPr>
            <a:r>
              <a:rPr lang="zh-CN" altLang="en-US" dirty="0">
                <a:solidFill>
                  <a:prstClr val="black"/>
                </a:solidFill>
                <a:latin typeface="Garamond" panose="02020404030301010803" pitchFamily="18" charset="0"/>
              </a:rPr>
              <a:t>区块链矿工</a:t>
            </a:r>
            <a:r>
              <a:rPr lang="en-US" altLang="zh-CN" dirty="0">
                <a:solidFill>
                  <a:prstClr val="black"/>
                </a:solidFill>
                <a:latin typeface="Garamond" panose="02020404030301010803" pitchFamily="18" charset="0"/>
              </a:rPr>
              <a:t>/</a:t>
            </a:r>
            <a:r>
              <a:rPr lang="zh-CN" altLang="en-US" dirty="0">
                <a:solidFill>
                  <a:prstClr val="black"/>
                </a:solidFill>
                <a:latin typeface="Garamond" panose="02020404030301010803" pitchFamily="18" charset="0"/>
              </a:rPr>
              <a:t>验证者在退回抵押的权益后，从历史上的某个区块开始重写后续区块，由于矿工</a:t>
            </a:r>
            <a:r>
              <a:rPr lang="en-US" altLang="zh-CN" dirty="0">
                <a:solidFill>
                  <a:prstClr val="black"/>
                </a:solidFill>
                <a:latin typeface="Garamond" panose="02020404030301010803" pitchFamily="18" charset="0"/>
              </a:rPr>
              <a:t>/</a:t>
            </a:r>
            <a:r>
              <a:rPr lang="zh-CN" altLang="en-US" dirty="0">
                <a:solidFill>
                  <a:prstClr val="black"/>
                </a:solidFill>
                <a:latin typeface="Garamond" panose="02020404030301010803" pitchFamily="18" charset="0"/>
              </a:rPr>
              <a:t>验证者已经没有保证金，系统就不能对该攻击矿工</a:t>
            </a:r>
            <a:r>
              <a:rPr lang="en-US" altLang="zh-CN" dirty="0">
                <a:solidFill>
                  <a:prstClr val="black"/>
                </a:solidFill>
                <a:latin typeface="Garamond" panose="02020404030301010803" pitchFamily="18" charset="0"/>
              </a:rPr>
              <a:t>/</a:t>
            </a:r>
            <a:r>
              <a:rPr lang="zh-CN" altLang="en-US" dirty="0">
                <a:solidFill>
                  <a:prstClr val="black"/>
                </a:solidFill>
                <a:latin typeface="Garamond" panose="02020404030301010803" pitchFamily="18" charset="0"/>
              </a:rPr>
              <a:t>验证者进行惩罚</a:t>
            </a:r>
            <a:endParaRPr lang="en-US" altLang="zh-CN" dirty="0">
              <a:solidFill>
                <a:prstClr val="black"/>
              </a:solidFill>
              <a:latin typeface="Garamond" panose="02020404030301010803" pitchFamily="18" charset="0"/>
            </a:endParaRPr>
          </a:p>
          <a:p>
            <a:pPr lvl="1">
              <a:lnSpc>
                <a:spcPct val="130000"/>
              </a:lnSpc>
            </a:pPr>
            <a:r>
              <a:rPr lang="zh-CN" altLang="en-US" dirty="0">
                <a:solidFill>
                  <a:prstClr val="black"/>
                </a:solidFill>
                <a:latin typeface="Garamond" panose="02020404030301010803" pitchFamily="18" charset="0"/>
              </a:rPr>
              <a:t>新参与者需要咨询受信任节点以安全地冷启动，该方式被称为“主观依赖”（</a:t>
            </a:r>
            <a:r>
              <a:rPr lang="en-US" altLang="zh-CN" dirty="0">
                <a:solidFill>
                  <a:prstClr val="black"/>
                </a:solidFill>
                <a:latin typeface="Garamond" panose="02020404030301010803" pitchFamily="18" charset="0"/>
              </a:rPr>
              <a:t>Weak Subjectivity</a:t>
            </a:r>
            <a:r>
              <a:rPr lang="zh-CN" altLang="en-US" dirty="0">
                <a:solidFill>
                  <a:prstClr val="black"/>
                </a:solidFill>
                <a:latin typeface="Garamond" panose="02020404030301010803" pitchFamily="18" charset="0"/>
              </a:rPr>
              <a:t>）。当前该问题只能缓解而不能解决，可以被称为权益证明的达摩克利斯之剑</a:t>
            </a:r>
            <a:endParaRPr lang="en-US" altLang="zh-CN" dirty="0">
              <a:solidFill>
                <a:prstClr val="black"/>
              </a:solidFill>
              <a:latin typeface="Garamond" panose="02020404030301010803" pitchFamily="18" charset="0"/>
            </a:endParaRPr>
          </a:p>
          <a:p>
            <a:pPr lvl="1">
              <a:lnSpc>
                <a:spcPct val="130000"/>
              </a:lnSpc>
            </a:pPr>
            <a:r>
              <a:rPr lang="zh-CN" altLang="en-US" dirty="0">
                <a:solidFill>
                  <a:prstClr val="black"/>
                </a:solidFill>
                <a:latin typeface="Garamond" panose="02020404030301010803" pitchFamily="18" charset="0"/>
              </a:rPr>
              <a:t>工作量证明不会出现这个问题</a:t>
            </a:r>
            <a:endParaRPr lang="en-US" altLang="zh-CN" dirty="0">
              <a:solidFill>
                <a:prstClr val="black"/>
              </a:solidFill>
              <a:latin typeface="Garamond" panose="02020404030301010803" pitchFamily="18" charset="0"/>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4</a:t>
            </a:fld>
            <a:endParaRPr kumimoji="1" lang="zh-CN" altLang="en-US" dirty="0"/>
          </a:p>
        </p:txBody>
      </p:sp>
    </p:spTree>
    <p:extLst>
      <p:ext uri="{BB962C8B-B14F-4D97-AF65-F5344CB8AC3E}">
        <p14:creationId xmlns:p14="http://schemas.microsoft.com/office/powerpoint/2010/main" val="2099378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Garamond" panose="02020404030301010803" pitchFamily="18" charset="0"/>
              </a:rPr>
              <a:t>Proof of Stake</a:t>
            </a:r>
            <a:endParaRPr lang="en-US" altLang="zh-CN" dirty="0"/>
          </a:p>
        </p:txBody>
      </p:sp>
      <p:sp>
        <p:nvSpPr>
          <p:cNvPr id="3" name="内容占位符 2"/>
          <p:cNvSpPr>
            <a:spLocks noGrp="1"/>
          </p:cNvSpPr>
          <p:nvPr>
            <p:ph idx="1"/>
          </p:nvPr>
        </p:nvSpPr>
        <p:spPr>
          <a:xfrm>
            <a:off x="838200" y="1510758"/>
            <a:ext cx="5473308" cy="4845592"/>
          </a:xfrm>
        </p:spPr>
        <p:txBody>
          <a:bodyPr>
            <a:normAutofit/>
          </a:bodyPr>
          <a:lstStyle/>
          <a:p>
            <a:pPr lvl="0">
              <a:lnSpc>
                <a:spcPct val="130000"/>
              </a:lnSpc>
            </a:pPr>
            <a:r>
              <a:rPr lang="zh-CN" altLang="en-US" dirty="0">
                <a:solidFill>
                  <a:prstClr val="black"/>
                </a:solidFill>
              </a:rPr>
              <a:t>无利害关系</a:t>
            </a:r>
            <a:r>
              <a:rPr lang="en-US" altLang="zh-CN" sz="3200" dirty="0">
                <a:latin typeface="Garamond" panose="02020404030301010803" pitchFamily="18" charset="0"/>
                <a:cs typeface="+mj-cs"/>
              </a:rPr>
              <a:t>Nothing at Stake</a:t>
            </a:r>
            <a:endParaRPr lang="zh-CN" altLang="en-US" sz="4000" dirty="0">
              <a:latin typeface="Garamond" panose="02020404030301010803" pitchFamily="18" charset="0"/>
              <a:cs typeface="+mj-cs"/>
            </a:endParaRPr>
          </a:p>
          <a:p>
            <a:pPr lvl="1">
              <a:lnSpc>
                <a:spcPct val="130000"/>
              </a:lnSpc>
            </a:pPr>
            <a:r>
              <a:rPr lang="zh-CN" altLang="en-US" dirty="0">
                <a:solidFill>
                  <a:prstClr val="black"/>
                </a:solidFill>
              </a:rPr>
              <a:t>相对于工作量证明矿工的每份算力只能选择一个分叉进行投入，权益证明矿工的每份权益可以同时在所有的分叉上押宝</a:t>
            </a:r>
            <a:endParaRPr lang="en-US" altLang="zh-CN" dirty="0">
              <a:solidFill>
                <a:prstClr val="black"/>
              </a:solidFill>
            </a:endParaRPr>
          </a:p>
          <a:p>
            <a:pPr lvl="1">
              <a:lnSpc>
                <a:spcPct val="130000"/>
              </a:lnSpc>
            </a:pPr>
            <a:r>
              <a:rPr lang="zh-CN" altLang="en-US" dirty="0">
                <a:solidFill>
                  <a:prstClr val="black"/>
                </a:solidFill>
              </a:rPr>
              <a:t>导致权益证明区块链长时间维持分叉的状态</a:t>
            </a:r>
            <a:endParaRPr lang="en-US" altLang="zh-CN" dirty="0">
              <a:solidFill>
                <a:prstClr val="black"/>
              </a:solidFill>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5</a:t>
            </a:fld>
            <a:endParaRPr kumimoji="1" lang="zh-CN" altLang="en-US" dirty="0"/>
          </a:p>
        </p:txBody>
      </p:sp>
      <p:pic>
        <p:nvPicPr>
          <p:cNvPr id="5" name="图片 4"/>
          <p:cNvPicPr/>
          <p:nvPr/>
        </p:nvPicPr>
        <p:blipFill>
          <a:blip r:embed="rId3"/>
          <a:stretch>
            <a:fillRect/>
          </a:stretch>
        </p:blipFill>
        <p:spPr>
          <a:xfrm>
            <a:off x="6311508" y="1619945"/>
            <a:ext cx="4862195" cy="1934210"/>
          </a:xfrm>
          <a:prstGeom prst="rect">
            <a:avLst/>
          </a:prstGeom>
        </p:spPr>
      </p:pic>
      <p:pic>
        <p:nvPicPr>
          <p:cNvPr id="6" name="图片 5"/>
          <p:cNvPicPr/>
          <p:nvPr/>
        </p:nvPicPr>
        <p:blipFill>
          <a:blip r:embed="rId4"/>
          <a:stretch>
            <a:fillRect/>
          </a:stretch>
        </p:blipFill>
        <p:spPr>
          <a:xfrm>
            <a:off x="6197207" y="3967436"/>
            <a:ext cx="5090795" cy="1976755"/>
          </a:xfrm>
          <a:prstGeom prst="rect">
            <a:avLst/>
          </a:prstGeom>
        </p:spPr>
      </p:pic>
    </p:spTree>
    <p:extLst>
      <p:ext uri="{BB962C8B-B14F-4D97-AF65-F5344CB8AC3E}">
        <p14:creationId xmlns:p14="http://schemas.microsoft.com/office/powerpoint/2010/main" val="179720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latin typeface="Garamond" panose="02020404030301010803" pitchFamily="18" charset="0"/>
              </a:rPr>
              <a:t>5.7 Proof of Stake</a:t>
            </a:r>
          </a:p>
          <a:p>
            <a:pPr marL="0" indent="0">
              <a:lnSpc>
                <a:spcPct val="130000"/>
              </a:lnSpc>
              <a:buNone/>
            </a:pPr>
            <a:r>
              <a:rPr kumimoji="1" lang="en-US" altLang="zh-CN" b="1" dirty="0">
                <a:solidFill>
                  <a:srgbClr val="B962FF"/>
                </a:solidFill>
                <a:latin typeface="Garamond" panose="02020404030301010803" pitchFamily="18" charset="0"/>
              </a:rPr>
              <a:t>5.8 </a:t>
            </a:r>
            <a:r>
              <a:rPr kumimoji="1" lang="zh-CN" altLang="en-US" b="1" dirty="0">
                <a:solidFill>
                  <a:srgbClr val="B962FF"/>
                </a:solidFill>
                <a:latin typeface="Garamond" panose="02020404030301010803" pitchFamily="18" charset="0"/>
              </a:rPr>
              <a:t>以太坊</a:t>
            </a:r>
            <a:r>
              <a:rPr kumimoji="1" lang="en-US" altLang="zh-CN" b="1" dirty="0" err="1">
                <a:solidFill>
                  <a:srgbClr val="B962FF"/>
                </a:solidFill>
                <a:latin typeface="Garamond" panose="02020404030301010803" pitchFamily="18" charset="0"/>
              </a:rPr>
              <a:t>PoS</a:t>
            </a:r>
            <a:r>
              <a:rPr kumimoji="1" lang="zh-CN" altLang="en-US" b="1" dirty="0">
                <a:solidFill>
                  <a:srgbClr val="B962FF"/>
                </a:solidFill>
                <a:latin typeface="Garamond" panose="02020404030301010803" pitchFamily="18" charset="0"/>
              </a:rPr>
              <a:t>（</a:t>
            </a:r>
            <a:r>
              <a:rPr kumimoji="1" lang="en-US" altLang="zh-CN" b="1" dirty="0">
                <a:solidFill>
                  <a:srgbClr val="B962FF"/>
                </a:solidFill>
                <a:latin typeface="Garamond" panose="02020404030301010803" pitchFamily="18" charset="0"/>
              </a:rPr>
              <a:t>Casper FFG + LMD GHOST </a:t>
            </a:r>
            <a:r>
              <a:rPr kumimoji="1" lang="zh-CN" altLang="en-US" b="1" dirty="0">
                <a:solidFill>
                  <a:srgbClr val="B962FF"/>
                </a:solidFill>
                <a:latin typeface="Garamond" panose="02020404030301010803" pitchFamily="18" charset="0"/>
              </a:rPr>
              <a:t>→ </a:t>
            </a:r>
            <a:r>
              <a:rPr kumimoji="1" lang="en-US" altLang="zh-CN" b="1" dirty="0">
                <a:solidFill>
                  <a:srgbClr val="B962FF"/>
                </a:solidFill>
                <a:latin typeface="Garamond" panose="02020404030301010803" pitchFamily="18" charset="0"/>
              </a:rPr>
              <a:t>Gasper</a:t>
            </a:r>
            <a:r>
              <a:rPr kumimoji="1" lang="zh-CN" altLang="en-US" b="1" dirty="0">
                <a:solidFill>
                  <a:srgbClr val="B962FF"/>
                </a:solidFill>
                <a:latin typeface="Garamond" panose="02020404030301010803" pitchFamily="18" charset="0"/>
              </a:rPr>
              <a:t>）</a:t>
            </a:r>
            <a:endParaRPr kumimoji="1" lang="en-US" altLang="zh-CN" b="1" dirty="0">
              <a:solidFill>
                <a:srgbClr val="B962FF"/>
              </a:solidFill>
              <a:latin typeface="Garamond" panose="02020404030301010803" pitchFamily="18" charset="0"/>
            </a:endParaRPr>
          </a:p>
          <a:p>
            <a:pPr marL="0" indent="0">
              <a:lnSpc>
                <a:spcPct val="130000"/>
              </a:lnSpc>
              <a:buNone/>
            </a:pPr>
            <a:r>
              <a:rPr kumimoji="1" lang="en-US" altLang="zh-CN" dirty="0">
                <a:latin typeface="Garamond" panose="02020404030301010803" pitchFamily="18" charset="0"/>
              </a:rPr>
              <a:t>5.9 </a:t>
            </a:r>
            <a:r>
              <a:rPr kumimoji="1" lang="zh-CN" altLang="en-US" dirty="0">
                <a:latin typeface="Garamond" panose="02020404030301010803" pitchFamily="18" charset="0"/>
              </a:rPr>
              <a:t>以太坊经典应用</a:t>
            </a:r>
            <a:endParaRPr kumimoji="1" lang="en-US" altLang="zh-CN" dirty="0">
              <a:latin typeface="Garamond" panose="02020404030301010803" pitchFamily="18" charset="0"/>
            </a:endParaRPr>
          </a:p>
          <a:p>
            <a:pPr marL="0" indent="0">
              <a:lnSpc>
                <a:spcPct val="130000"/>
              </a:lnSpc>
              <a:buNone/>
            </a:pPr>
            <a:endParaRPr kumimoji="1" lang="en-US" altLang="zh-CN" b="1" dirty="0">
              <a:solidFill>
                <a:srgbClr val="B962FF"/>
              </a:solidFill>
              <a:latin typeface="Garamond" panose="02020404030301010803" pitchFamily="18" charset="0"/>
            </a:endParaRP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6</a:t>
            </a:fld>
            <a:endParaRPr kumimoji="1" lang="zh-CN" altLang="en-US" dirty="0"/>
          </a:p>
        </p:txBody>
      </p:sp>
    </p:spTree>
    <p:extLst>
      <p:ext uri="{BB962C8B-B14F-4D97-AF65-F5344CB8AC3E}">
        <p14:creationId xmlns:p14="http://schemas.microsoft.com/office/powerpoint/2010/main" val="64073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Garamond" panose="02020404030301010803" pitchFamily="18" charset="0"/>
              </a:rPr>
              <a:t>以太坊共识机制</a:t>
            </a:r>
            <a:r>
              <a:rPr lang="en-US" altLang="zh-CN" dirty="0">
                <a:latin typeface="Garamond" panose="02020404030301010803" pitchFamily="18" charset="0"/>
              </a:rPr>
              <a:t>Casper</a:t>
            </a:r>
            <a:r>
              <a:rPr lang="zh-CN" altLang="en-US" dirty="0">
                <a:latin typeface="Garamond" panose="02020404030301010803" pitchFamily="18" charset="0"/>
              </a:rPr>
              <a:t> </a:t>
            </a:r>
            <a:r>
              <a:rPr lang="en-US" altLang="zh-CN" dirty="0">
                <a:latin typeface="Garamond" panose="02020404030301010803" pitchFamily="18" charset="0"/>
              </a:rPr>
              <a:t>FFG</a:t>
            </a:r>
            <a:endParaRPr lang="en-US" altLang="zh-CN" dirty="0"/>
          </a:p>
        </p:txBody>
      </p:sp>
      <p:sp>
        <p:nvSpPr>
          <p:cNvPr id="3" name="内容占位符 2"/>
          <p:cNvSpPr>
            <a:spLocks noGrp="1"/>
          </p:cNvSpPr>
          <p:nvPr>
            <p:ph idx="1"/>
          </p:nvPr>
        </p:nvSpPr>
        <p:spPr>
          <a:xfrm>
            <a:off x="838200" y="1510758"/>
            <a:ext cx="10248899" cy="4845592"/>
          </a:xfrm>
        </p:spPr>
        <p:txBody>
          <a:bodyPr>
            <a:normAutofit/>
          </a:bodyPr>
          <a:lstStyle/>
          <a:p>
            <a:pPr lvl="0">
              <a:lnSpc>
                <a:spcPct val="130000"/>
              </a:lnSpc>
            </a:pPr>
            <a:r>
              <a:rPr lang="en-US" altLang="zh-CN" dirty="0">
                <a:solidFill>
                  <a:prstClr val="black"/>
                </a:solidFill>
                <a:latin typeface="Garamond" panose="02020404030301010803" pitchFamily="18" charset="0"/>
              </a:rPr>
              <a:t>Casper FFG</a:t>
            </a:r>
            <a:endParaRPr lang="zh-CN" altLang="en-US" dirty="0">
              <a:solidFill>
                <a:prstClr val="black"/>
              </a:solidFill>
              <a:latin typeface="Garamond" panose="02020404030301010803" pitchFamily="18" charset="0"/>
            </a:endParaRPr>
          </a:p>
          <a:p>
            <a:pPr lvl="1">
              <a:lnSpc>
                <a:spcPct val="130000"/>
              </a:lnSpc>
            </a:pPr>
            <a:r>
              <a:rPr lang="zh-CN" altLang="en-US" dirty="0">
                <a:solidFill>
                  <a:prstClr val="black"/>
                </a:solidFill>
                <a:latin typeface="Garamond" panose="02020404030301010803" pitchFamily="18" charset="0"/>
              </a:rPr>
              <a:t>拜占庭容错（</a:t>
            </a:r>
            <a:r>
              <a:rPr lang="en-US" altLang="zh-CN" dirty="0">
                <a:solidFill>
                  <a:prstClr val="black"/>
                </a:solidFill>
                <a:latin typeface="Garamond" panose="02020404030301010803" pitchFamily="18" charset="0"/>
              </a:rPr>
              <a:t>BFT</a:t>
            </a:r>
            <a:r>
              <a:rPr lang="zh-CN" altLang="en-US" dirty="0">
                <a:solidFill>
                  <a:prstClr val="black"/>
                </a:solidFill>
                <a:latin typeface="Garamond" panose="02020404030301010803" pitchFamily="18" charset="0"/>
              </a:rPr>
              <a:t>）风格的权益证明，其目前容错率为</a:t>
            </a:r>
            <a:r>
              <a:rPr lang="en-US" altLang="zh-CN" dirty="0">
                <a:solidFill>
                  <a:prstClr val="black"/>
                </a:solidFill>
                <a:latin typeface="Garamond" panose="02020404030301010803" pitchFamily="18" charset="0"/>
              </a:rPr>
              <a:t>1/3</a:t>
            </a:r>
          </a:p>
          <a:p>
            <a:pPr lvl="1">
              <a:lnSpc>
                <a:spcPct val="130000"/>
              </a:lnSpc>
            </a:pPr>
            <a:r>
              <a:rPr lang="zh-CN" altLang="en-US" dirty="0">
                <a:solidFill>
                  <a:prstClr val="black"/>
                </a:solidFill>
                <a:latin typeface="Garamond" panose="02020404030301010803" pitchFamily="18" charset="0"/>
              </a:rPr>
              <a:t>针对长程攻击，</a:t>
            </a:r>
            <a:r>
              <a:rPr lang="en-US" altLang="zh-CN" dirty="0">
                <a:solidFill>
                  <a:prstClr val="black"/>
                </a:solidFill>
                <a:latin typeface="Garamond" panose="02020404030301010803" pitchFamily="18" charset="0"/>
              </a:rPr>
              <a:t>Casper FFG</a:t>
            </a:r>
            <a:r>
              <a:rPr lang="zh-CN" altLang="en-US" dirty="0">
                <a:solidFill>
                  <a:prstClr val="black"/>
                </a:solidFill>
                <a:latin typeface="Garamond" panose="02020404030301010803" pitchFamily="18" charset="0"/>
              </a:rPr>
              <a:t>要求验证者在离开验证者集合拿回抵押的保证金前必须要经过一个解冻期以符合同步的前提，比如四个月</a:t>
            </a:r>
            <a:endParaRPr lang="en-US" altLang="zh-CN" dirty="0">
              <a:solidFill>
                <a:prstClr val="black"/>
              </a:solidFill>
              <a:latin typeface="Garamond" panose="02020404030301010803" pitchFamily="18" charset="0"/>
            </a:endParaRPr>
          </a:p>
          <a:p>
            <a:pPr lvl="1">
              <a:lnSpc>
                <a:spcPct val="130000"/>
              </a:lnSpc>
            </a:pPr>
            <a:r>
              <a:rPr lang="zh-CN" altLang="en-US" dirty="0">
                <a:solidFill>
                  <a:prstClr val="black"/>
                </a:solidFill>
                <a:latin typeface="Garamond" panose="02020404030301010803" pitchFamily="18" charset="0"/>
              </a:rPr>
              <a:t>只算缓解了长程攻击的问题，并不能解决</a:t>
            </a:r>
            <a:endParaRPr lang="en-US" altLang="zh-CN" dirty="0">
              <a:solidFill>
                <a:prstClr val="black"/>
              </a:solidFill>
              <a:latin typeface="Garamond" panose="02020404030301010803" pitchFamily="18" charset="0"/>
            </a:endParaRPr>
          </a:p>
          <a:p>
            <a:pPr lvl="1">
              <a:lnSpc>
                <a:spcPct val="130000"/>
              </a:lnSpc>
            </a:pPr>
            <a:r>
              <a:rPr lang="zh-CN" altLang="en-US" dirty="0">
                <a:solidFill>
                  <a:prstClr val="black"/>
                </a:solidFill>
                <a:latin typeface="Garamond" panose="02020404030301010803" pitchFamily="18" charset="0"/>
              </a:rPr>
              <a:t>保证金的引入解决了无利害关系的问题：同时支持两个互不兼容的分叉时，系统会对恶意投票者的保证金进行划扣</a:t>
            </a:r>
            <a:endParaRPr lang="en-US" altLang="zh-CN" dirty="0">
              <a:solidFill>
                <a:prstClr val="black"/>
              </a:solidFill>
              <a:latin typeface="Garamond" panose="02020404030301010803" pitchFamily="18" charset="0"/>
            </a:endParaRPr>
          </a:p>
        </p:txBody>
      </p:sp>
      <p:sp>
        <p:nvSpPr>
          <p:cNvPr id="7" name="灯片编号占位符 6">
            <a:extLst>
              <a:ext uri="{FF2B5EF4-FFF2-40B4-BE49-F238E27FC236}">
                <a16:creationId xmlns:a16="http://schemas.microsoft.com/office/drawing/2014/main" id="{97E080B7-C088-8B4E-B8CF-3281335EB402}"/>
              </a:ext>
            </a:extLst>
          </p:cNvPr>
          <p:cNvSpPr>
            <a:spLocks noGrp="1"/>
          </p:cNvSpPr>
          <p:nvPr>
            <p:ph type="sldNum" sz="quarter" idx="12"/>
          </p:nvPr>
        </p:nvSpPr>
        <p:spPr/>
        <p:txBody>
          <a:bodyPr/>
          <a:lstStyle/>
          <a:p>
            <a:fld id="{8D4D1E41-7A09-AB4A-A4E1-09765ADA2698}" type="slidenum">
              <a:rPr kumimoji="1" lang="zh-CN" altLang="en-US" smtClean="0"/>
              <a:t>7</a:t>
            </a:fld>
            <a:endParaRPr kumimoji="1" lang="zh-CN" altLang="en-US" dirty="0"/>
          </a:p>
        </p:txBody>
      </p:sp>
    </p:spTree>
    <p:extLst>
      <p:ext uri="{BB962C8B-B14F-4D97-AF65-F5344CB8AC3E}">
        <p14:creationId xmlns:p14="http://schemas.microsoft.com/office/powerpoint/2010/main" val="4103311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以太坊共识机制</a:t>
            </a:r>
            <a:r>
              <a:rPr lang="en-US" altLang="zh-CN" dirty="0">
                <a:latin typeface="Garamond" panose="02020404030301010803" pitchFamily="18" charset="0"/>
              </a:rPr>
              <a:t>Casper FFG</a:t>
            </a:r>
            <a:endParaRPr lang="zh-CN" altLang="en-US" dirty="0">
              <a:latin typeface="Garamond" panose="02020404030301010803" pitchFamily="18" charset="0"/>
            </a:endParaRP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8</a:t>
            </a:fld>
            <a:endParaRPr kumimoji="1" lang="zh-CN" altLang="en-US" dirty="0"/>
          </a:p>
        </p:txBody>
      </p:sp>
      <p:sp>
        <p:nvSpPr>
          <p:cNvPr id="7" name="内容占位符 2">
            <a:extLst>
              <a:ext uri="{FF2B5EF4-FFF2-40B4-BE49-F238E27FC236}">
                <a16:creationId xmlns:a16="http://schemas.microsoft.com/office/drawing/2014/main" id="{CEFF5BDF-9F85-425F-B71D-AE9E3F5C9F82}"/>
              </a:ext>
            </a:extLst>
          </p:cNvPr>
          <p:cNvSpPr>
            <a:spLocks noGrp="1"/>
          </p:cNvSpPr>
          <p:nvPr>
            <p:ph idx="1"/>
          </p:nvPr>
        </p:nvSpPr>
        <p:spPr>
          <a:xfrm>
            <a:off x="535719" y="1391449"/>
            <a:ext cx="5821016" cy="765303"/>
          </a:xfrm>
        </p:spPr>
        <p:txBody>
          <a:bodyPr>
            <a:normAutofit/>
          </a:bodyPr>
          <a:lstStyle/>
          <a:p>
            <a:pPr lvl="0">
              <a:lnSpc>
                <a:spcPct val="130000"/>
              </a:lnSpc>
            </a:pPr>
            <a:r>
              <a:rPr lang="zh-CN" altLang="en-US" dirty="0">
                <a:solidFill>
                  <a:prstClr val="black"/>
                </a:solidFill>
                <a:latin typeface="Garamond" panose="02020404030301010803" pitchFamily="18" charset="0"/>
              </a:rPr>
              <a:t>分阶段（</a:t>
            </a:r>
            <a:r>
              <a:rPr lang="en-US" altLang="zh-CN" dirty="0">
                <a:solidFill>
                  <a:prstClr val="black"/>
                </a:solidFill>
                <a:latin typeface="Garamond" panose="02020404030301010803" pitchFamily="18" charset="0"/>
              </a:rPr>
              <a:t>Epoch</a:t>
            </a:r>
            <a:r>
              <a:rPr lang="zh-CN" altLang="en-US" dirty="0">
                <a:solidFill>
                  <a:prstClr val="black"/>
                </a:solidFill>
                <a:latin typeface="Garamond" panose="02020404030301010803" pitchFamily="18" charset="0"/>
              </a:rPr>
              <a:t>）和时隙（</a:t>
            </a:r>
            <a:r>
              <a:rPr lang="en-US" altLang="zh-CN" dirty="0">
                <a:solidFill>
                  <a:prstClr val="black"/>
                </a:solidFill>
                <a:latin typeface="Garamond" panose="02020404030301010803" pitchFamily="18" charset="0"/>
              </a:rPr>
              <a:t>Slot</a:t>
            </a:r>
            <a:r>
              <a:rPr lang="zh-CN" altLang="en-US" dirty="0">
                <a:solidFill>
                  <a:prstClr val="black"/>
                </a:solidFill>
                <a:latin typeface="Garamond" panose="02020404030301010803" pitchFamily="18" charset="0"/>
              </a:rPr>
              <a:t>）</a:t>
            </a:r>
            <a:endParaRPr lang="en-US" altLang="zh-CN" dirty="0">
              <a:solidFill>
                <a:prstClr val="black"/>
              </a:solidFill>
              <a:latin typeface="Garamond" panose="02020404030301010803" pitchFamily="18" charset="0"/>
            </a:endParaRPr>
          </a:p>
        </p:txBody>
      </p:sp>
      <p:sp>
        <p:nvSpPr>
          <p:cNvPr id="8" name="内容占位符 2">
            <a:extLst>
              <a:ext uri="{FF2B5EF4-FFF2-40B4-BE49-F238E27FC236}">
                <a16:creationId xmlns:a16="http://schemas.microsoft.com/office/drawing/2014/main" id="{A2EC458D-E8B5-461B-878A-17D733431FDB}"/>
              </a:ext>
            </a:extLst>
          </p:cNvPr>
          <p:cNvSpPr txBox="1">
            <a:spLocks/>
          </p:cNvSpPr>
          <p:nvPr/>
        </p:nvSpPr>
        <p:spPr>
          <a:xfrm>
            <a:off x="535719" y="2161009"/>
            <a:ext cx="5821016"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en-US" altLang="zh-CN" dirty="0">
                <a:solidFill>
                  <a:prstClr val="black"/>
                </a:solidFill>
                <a:latin typeface="Garamond" panose="02020404030301010803" pitchFamily="18" charset="0"/>
              </a:rPr>
              <a:t>Epoch</a:t>
            </a:r>
            <a:r>
              <a:rPr lang="zh-CN" altLang="en-US" dirty="0">
                <a:solidFill>
                  <a:prstClr val="black"/>
                </a:solidFill>
                <a:latin typeface="Garamond" panose="02020404030301010803" pitchFamily="18" charset="0"/>
              </a:rPr>
              <a:t>：包括</a:t>
            </a:r>
            <a:r>
              <a:rPr lang="en-US" altLang="zh-CN" dirty="0">
                <a:solidFill>
                  <a:prstClr val="black"/>
                </a:solidFill>
                <a:latin typeface="Garamond" panose="02020404030301010803" pitchFamily="18" charset="0"/>
              </a:rPr>
              <a:t>32</a:t>
            </a:r>
            <a:r>
              <a:rPr lang="zh-CN" altLang="en-US" dirty="0">
                <a:solidFill>
                  <a:prstClr val="black"/>
                </a:solidFill>
                <a:latin typeface="Garamond" panose="02020404030301010803" pitchFamily="18" charset="0"/>
              </a:rPr>
              <a:t>个</a:t>
            </a:r>
            <a:r>
              <a:rPr lang="en-US" altLang="zh-CN" dirty="0">
                <a:solidFill>
                  <a:prstClr val="black"/>
                </a:solidFill>
                <a:latin typeface="Garamond" panose="02020404030301010803" pitchFamily="18" charset="0"/>
              </a:rPr>
              <a:t>Slots</a:t>
            </a:r>
          </a:p>
        </p:txBody>
      </p:sp>
      <p:sp>
        <p:nvSpPr>
          <p:cNvPr id="9" name="内容占位符 2">
            <a:extLst>
              <a:ext uri="{FF2B5EF4-FFF2-40B4-BE49-F238E27FC236}">
                <a16:creationId xmlns:a16="http://schemas.microsoft.com/office/drawing/2014/main" id="{9CD00C77-D1CB-4153-AEFF-28C5826F2639}"/>
              </a:ext>
            </a:extLst>
          </p:cNvPr>
          <p:cNvSpPr txBox="1">
            <a:spLocks/>
          </p:cNvSpPr>
          <p:nvPr/>
        </p:nvSpPr>
        <p:spPr>
          <a:xfrm>
            <a:off x="535719" y="2696060"/>
            <a:ext cx="5821016"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en-US" altLang="zh-CN" dirty="0">
                <a:solidFill>
                  <a:prstClr val="black"/>
                </a:solidFill>
                <a:latin typeface="Garamond" panose="02020404030301010803" pitchFamily="18" charset="0"/>
              </a:rPr>
              <a:t>Slot</a:t>
            </a:r>
            <a:r>
              <a:rPr lang="zh-CN" altLang="en-US" dirty="0">
                <a:solidFill>
                  <a:prstClr val="black"/>
                </a:solidFill>
                <a:latin typeface="Garamond" panose="02020404030301010803" pitchFamily="18" charset="0"/>
              </a:rPr>
              <a:t>：</a:t>
            </a:r>
            <a:r>
              <a:rPr lang="en-US" altLang="zh-CN" b="1" dirty="0">
                <a:solidFill>
                  <a:srgbClr val="5B307E"/>
                </a:solidFill>
                <a:latin typeface="Garamond" panose="02020404030301010803" pitchFamily="18" charset="0"/>
              </a:rPr>
              <a:t>12</a:t>
            </a:r>
            <a:r>
              <a:rPr lang="zh-CN" altLang="en-US" b="1" dirty="0">
                <a:solidFill>
                  <a:srgbClr val="5B307E"/>
                </a:solidFill>
                <a:latin typeface="Garamond" panose="02020404030301010803" pitchFamily="18" charset="0"/>
              </a:rPr>
              <a:t>秒</a:t>
            </a:r>
            <a:r>
              <a:rPr lang="zh-CN" altLang="en-US" dirty="0">
                <a:solidFill>
                  <a:prstClr val="black"/>
                </a:solidFill>
                <a:latin typeface="Garamond" panose="02020404030301010803" pitchFamily="18" charset="0"/>
              </a:rPr>
              <a:t>，固定产生一个区块</a:t>
            </a:r>
            <a:endParaRPr lang="en-US" altLang="zh-CN" dirty="0">
              <a:solidFill>
                <a:prstClr val="black"/>
              </a:solidFill>
              <a:latin typeface="Garamond" panose="02020404030301010803" pitchFamily="18" charset="0"/>
            </a:endParaRPr>
          </a:p>
        </p:txBody>
      </p:sp>
      <p:sp>
        <p:nvSpPr>
          <p:cNvPr id="13" name="内容占位符 2">
            <a:extLst>
              <a:ext uri="{FF2B5EF4-FFF2-40B4-BE49-F238E27FC236}">
                <a16:creationId xmlns:a16="http://schemas.microsoft.com/office/drawing/2014/main" id="{6778BD9C-DAB7-4709-9CDB-905C8A73929B}"/>
              </a:ext>
            </a:extLst>
          </p:cNvPr>
          <p:cNvSpPr txBox="1">
            <a:spLocks/>
          </p:cNvSpPr>
          <p:nvPr/>
        </p:nvSpPr>
        <p:spPr>
          <a:xfrm>
            <a:off x="540027" y="3392819"/>
            <a:ext cx="5821016"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pPr>
            <a:r>
              <a:rPr lang="en-US" altLang="zh-CN" dirty="0">
                <a:solidFill>
                  <a:prstClr val="black"/>
                </a:solidFill>
                <a:latin typeface="Garamond" panose="02020404030301010803" pitchFamily="18" charset="0"/>
              </a:rPr>
              <a:t>Validators</a:t>
            </a:r>
          </a:p>
        </p:txBody>
      </p:sp>
      <p:sp>
        <p:nvSpPr>
          <p:cNvPr id="14" name="内容占位符 2">
            <a:extLst>
              <a:ext uri="{FF2B5EF4-FFF2-40B4-BE49-F238E27FC236}">
                <a16:creationId xmlns:a16="http://schemas.microsoft.com/office/drawing/2014/main" id="{4BB3A50D-75E9-468F-A975-DE93ADBA870A}"/>
              </a:ext>
            </a:extLst>
          </p:cNvPr>
          <p:cNvSpPr txBox="1">
            <a:spLocks/>
          </p:cNvSpPr>
          <p:nvPr/>
        </p:nvSpPr>
        <p:spPr>
          <a:xfrm>
            <a:off x="540027" y="4124708"/>
            <a:ext cx="5821016"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zh-CN" altLang="en-US" dirty="0">
                <a:solidFill>
                  <a:prstClr val="black"/>
                </a:solidFill>
                <a:latin typeface="Garamond" panose="02020404030301010803" pitchFamily="18" charset="0"/>
              </a:rPr>
              <a:t>质押</a:t>
            </a:r>
            <a:r>
              <a:rPr lang="en-US" altLang="zh-CN" dirty="0">
                <a:solidFill>
                  <a:prstClr val="black"/>
                </a:solidFill>
                <a:latin typeface="Garamond" panose="02020404030301010803" pitchFamily="18" charset="0"/>
              </a:rPr>
              <a:t>32 ETH</a:t>
            </a:r>
          </a:p>
        </p:txBody>
      </p:sp>
      <p:sp>
        <p:nvSpPr>
          <p:cNvPr id="15" name="内容占位符 2">
            <a:extLst>
              <a:ext uri="{FF2B5EF4-FFF2-40B4-BE49-F238E27FC236}">
                <a16:creationId xmlns:a16="http://schemas.microsoft.com/office/drawing/2014/main" id="{D6B9AD18-52B1-4E29-B9B0-B8E825A63EFB}"/>
              </a:ext>
            </a:extLst>
          </p:cNvPr>
          <p:cNvSpPr txBox="1">
            <a:spLocks/>
          </p:cNvSpPr>
          <p:nvPr/>
        </p:nvSpPr>
        <p:spPr>
          <a:xfrm>
            <a:off x="540027" y="4782353"/>
            <a:ext cx="5821016"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zh-CN" altLang="en-US" dirty="0">
                <a:solidFill>
                  <a:prstClr val="black"/>
                </a:solidFill>
                <a:latin typeface="Garamond" panose="02020404030301010803" pitchFamily="18" charset="0"/>
              </a:rPr>
              <a:t>排队轮候、固定任期</a:t>
            </a:r>
            <a:endParaRPr lang="en-US" altLang="zh-CN" dirty="0">
              <a:solidFill>
                <a:prstClr val="black"/>
              </a:solidFill>
              <a:latin typeface="Garamond" panose="02020404030301010803" pitchFamily="18" charset="0"/>
            </a:endParaRPr>
          </a:p>
        </p:txBody>
      </p:sp>
      <p:sp>
        <p:nvSpPr>
          <p:cNvPr id="16" name="内容占位符 2">
            <a:extLst>
              <a:ext uri="{FF2B5EF4-FFF2-40B4-BE49-F238E27FC236}">
                <a16:creationId xmlns:a16="http://schemas.microsoft.com/office/drawing/2014/main" id="{26CB3FA5-DD73-41C2-9DF6-13B20EE12BC3}"/>
              </a:ext>
            </a:extLst>
          </p:cNvPr>
          <p:cNvSpPr txBox="1">
            <a:spLocks/>
          </p:cNvSpPr>
          <p:nvPr/>
        </p:nvSpPr>
        <p:spPr>
          <a:xfrm>
            <a:off x="540027" y="5421750"/>
            <a:ext cx="5821016"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zh-CN" altLang="en-US" dirty="0">
                <a:solidFill>
                  <a:prstClr val="black"/>
                </a:solidFill>
                <a:latin typeface="Garamond" panose="02020404030301010803" pitchFamily="18" charset="0"/>
              </a:rPr>
              <a:t>随机分配至不同的</a:t>
            </a:r>
            <a:r>
              <a:rPr lang="en-US" altLang="zh-CN" dirty="0">
                <a:solidFill>
                  <a:prstClr val="black"/>
                </a:solidFill>
                <a:latin typeface="Garamond" panose="02020404030301010803" pitchFamily="18" charset="0"/>
              </a:rPr>
              <a:t>Slot</a:t>
            </a:r>
            <a:r>
              <a:rPr lang="zh-CN" altLang="en-US" dirty="0">
                <a:solidFill>
                  <a:prstClr val="black"/>
                </a:solidFill>
                <a:latin typeface="Garamond" panose="02020404030301010803" pitchFamily="18" charset="0"/>
              </a:rPr>
              <a:t>进行投票</a:t>
            </a:r>
            <a:endParaRPr lang="en-US" altLang="zh-CN" dirty="0">
              <a:solidFill>
                <a:prstClr val="black"/>
              </a:solidFill>
              <a:latin typeface="Garamond" panose="02020404030301010803" pitchFamily="18" charset="0"/>
            </a:endParaRPr>
          </a:p>
        </p:txBody>
      </p:sp>
      <p:sp>
        <p:nvSpPr>
          <p:cNvPr id="17" name="矩形 16">
            <a:extLst>
              <a:ext uri="{FF2B5EF4-FFF2-40B4-BE49-F238E27FC236}">
                <a16:creationId xmlns:a16="http://schemas.microsoft.com/office/drawing/2014/main" id="{609AFE2A-6898-4706-B49F-8E7E67278CCC}"/>
              </a:ext>
            </a:extLst>
          </p:cNvPr>
          <p:cNvSpPr/>
          <p:nvPr/>
        </p:nvSpPr>
        <p:spPr>
          <a:xfrm>
            <a:off x="10618003" y="1560443"/>
            <a:ext cx="460513" cy="4605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a:extLst>
              <a:ext uri="{FF2B5EF4-FFF2-40B4-BE49-F238E27FC236}">
                <a16:creationId xmlns:a16="http://schemas.microsoft.com/office/drawing/2014/main" id="{3E01D83F-10F4-45E4-880C-8A897E86106F}"/>
              </a:ext>
            </a:extLst>
          </p:cNvPr>
          <p:cNvCxnSpPr>
            <a:cxnSpLocks/>
          </p:cNvCxnSpPr>
          <p:nvPr/>
        </p:nvCxnSpPr>
        <p:spPr>
          <a:xfrm>
            <a:off x="9899374" y="1421295"/>
            <a:ext cx="1897771" cy="0"/>
          </a:xfrm>
          <a:prstGeom prst="line">
            <a:avLst/>
          </a:prstGeom>
          <a:ln w="19050">
            <a:solidFill>
              <a:srgbClr val="EE6C4D"/>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590340D1-7A6F-456D-8421-6F01C748E7E2}"/>
              </a:ext>
            </a:extLst>
          </p:cNvPr>
          <p:cNvSpPr/>
          <p:nvPr/>
        </p:nvSpPr>
        <p:spPr>
          <a:xfrm>
            <a:off x="10618003" y="2173356"/>
            <a:ext cx="460513" cy="4605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EF1F519E-EBA5-44DC-BD99-06CBEB1452DE}"/>
              </a:ext>
            </a:extLst>
          </p:cNvPr>
          <p:cNvSpPr/>
          <p:nvPr/>
        </p:nvSpPr>
        <p:spPr>
          <a:xfrm>
            <a:off x="10618003" y="3359427"/>
            <a:ext cx="460513" cy="4605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a:extLst>
              <a:ext uri="{FF2B5EF4-FFF2-40B4-BE49-F238E27FC236}">
                <a16:creationId xmlns:a16="http://schemas.microsoft.com/office/drawing/2014/main" id="{EDED9E49-BD7C-4813-BC25-38C63E8D5E20}"/>
              </a:ext>
            </a:extLst>
          </p:cNvPr>
          <p:cNvCxnSpPr>
            <a:cxnSpLocks/>
          </p:cNvCxnSpPr>
          <p:nvPr/>
        </p:nvCxnSpPr>
        <p:spPr>
          <a:xfrm>
            <a:off x="9899374" y="3959086"/>
            <a:ext cx="1897771" cy="0"/>
          </a:xfrm>
          <a:prstGeom prst="line">
            <a:avLst/>
          </a:prstGeom>
          <a:ln w="19050">
            <a:solidFill>
              <a:srgbClr val="EE6C4D"/>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85077886-1EF3-452B-893C-0F2182738B04}"/>
              </a:ext>
            </a:extLst>
          </p:cNvPr>
          <p:cNvSpPr/>
          <p:nvPr/>
        </p:nvSpPr>
        <p:spPr>
          <a:xfrm>
            <a:off x="10618003" y="4124708"/>
            <a:ext cx="460513" cy="4605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533CF790-6F1F-4D9C-9233-5CC5BB1FFC51}"/>
              </a:ext>
            </a:extLst>
          </p:cNvPr>
          <p:cNvSpPr txBox="1"/>
          <p:nvPr/>
        </p:nvSpPr>
        <p:spPr>
          <a:xfrm>
            <a:off x="10617427" y="2862903"/>
            <a:ext cx="461665" cy="254237"/>
          </a:xfrm>
          <a:prstGeom prst="rect">
            <a:avLst/>
          </a:prstGeom>
          <a:noFill/>
        </p:spPr>
        <p:txBody>
          <a:bodyPr vert="eaVert" wrap="none" rtlCol="0">
            <a:spAutoFit/>
          </a:bodyPr>
          <a:lstStyle/>
          <a:p>
            <a:r>
              <a:rPr lang="en-US" altLang="zh-CN" dirty="0"/>
              <a:t>…</a:t>
            </a:r>
            <a:endParaRPr lang="zh-CN" altLang="en-US" dirty="0"/>
          </a:p>
        </p:txBody>
      </p:sp>
      <p:sp>
        <p:nvSpPr>
          <p:cNvPr id="25" name="矩形 24">
            <a:extLst>
              <a:ext uri="{FF2B5EF4-FFF2-40B4-BE49-F238E27FC236}">
                <a16:creationId xmlns:a16="http://schemas.microsoft.com/office/drawing/2014/main" id="{6F88EC28-A8EC-4A0D-B00F-EDF516174931}"/>
              </a:ext>
            </a:extLst>
          </p:cNvPr>
          <p:cNvSpPr/>
          <p:nvPr/>
        </p:nvSpPr>
        <p:spPr>
          <a:xfrm>
            <a:off x="10618003" y="4732615"/>
            <a:ext cx="460513" cy="4605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B6292FC2-CAE0-4DF8-9C3C-0A37746E4D35}"/>
              </a:ext>
            </a:extLst>
          </p:cNvPr>
          <p:cNvSpPr txBox="1"/>
          <p:nvPr/>
        </p:nvSpPr>
        <p:spPr>
          <a:xfrm>
            <a:off x="10617427" y="5293419"/>
            <a:ext cx="461665" cy="254237"/>
          </a:xfrm>
          <a:prstGeom prst="rect">
            <a:avLst/>
          </a:prstGeom>
          <a:noFill/>
        </p:spPr>
        <p:txBody>
          <a:bodyPr vert="eaVert" wrap="none" rtlCol="0">
            <a:spAutoFit/>
          </a:bodyPr>
          <a:lstStyle/>
          <a:p>
            <a:r>
              <a:rPr lang="en-US" altLang="zh-CN" dirty="0"/>
              <a:t>…</a:t>
            </a:r>
            <a:endParaRPr lang="zh-CN" altLang="en-US" dirty="0"/>
          </a:p>
        </p:txBody>
      </p:sp>
      <p:sp>
        <p:nvSpPr>
          <p:cNvPr id="27" name="矩形 26">
            <a:extLst>
              <a:ext uri="{FF2B5EF4-FFF2-40B4-BE49-F238E27FC236}">
                <a16:creationId xmlns:a16="http://schemas.microsoft.com/office/drawing/2014/main" id="{58AC4A3F-F383-431C-A34B-9C5E3C6F3780}"/>
              </a:ext>
            </a:extLst>
          </p:cNvPr>
          <p:cNvSpPr/>
          <p:nvPr/>
        </p:nvSpPr>
        <p:spPr>
          <a:xfrm>
            <a:off x="10618003" y="5689296"/>
            <a:ext cx="460513" cy="4605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 name="直接连接符 27">
            <a:extLst>
              <a:ext uri="{FF2B5EF4-FFF2-40B4-BE49-F238E27FC236}">
                <a16:creationId xmlns:a16="http://schemas.microsoft.com/office/drawing/2014/main" id="{42AA86F4-7C06-4163-860A-E2ECE58BD6F2}"/>
              </a:ext>
            </a:extLst>
          </p:cNvPr>
          <p:cNvCxnSpPr>
            <a:cxnSpLocks/>
          </p:cNvCxnSpPr>
          <p:nvPr/>
        </p:nvCxnSpPr>
        <p:spPr>
          <a:xfrm>
            <a:off x="9899374" y="6333158"/>
            <a:ext cx="1897771" cy="0"/>
          </a:xfrm>
          <a:prstGeom prst="line">
            <a:avLst/>
          </a:prstGeom>
          <a:ln w="19050">
            <a:solidFill>
              <a:srgbClr val="EE6C4D"/>
            </a:solidFill>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ACEE8E80-865B-4105-9B0D-098564F8726F}"/>
              </a:ext>
            </a:extLst>
          </p:cNvPr>
          <p:cNvSpPr txBox="1"/>
          <p:nvPr/>
        </p:nvSpPr>
        <p:spPr>
          <a:xfrm>
            <a:off x="8282355" y="1190462"/>
            <a:ext cx="1543179" cy="461665"/>
          </a:xfrm>
          <a:prstGeom prst="rect">
            <a:avLst/>
          </a:prstGeom>
          <a:noFill/>
        </p:spPr>
        <p:txBody>
          <a:bodyPr wrap="none" rtlCol="0">
            <a:spAutoFit/>
          </a:bodyPr>
          <a:lstStyle/>
          <a:p>
            <a:r>
              <a:rPr lang="en-US" altLang="zh-CN" sz="2400" dirty="0">
                <a:latin typeface="Garamond" panose="02020404030301010803" pitchFamily="18" charset="0"/>
              </a:rPr>
              <a:t>Epoch t - 1</a:t>
            </a:r>
            <a:endParaRPr lang="zh-CN" altLang="en-US" sz="2400" dirty="0">
              <a:latin typeface="Garamond" panose="02020404030301010803" pitchFamily="18" charset="0"/>
            </a:endParaRPr>
          </a:p>
        </p:txBody>
      </p:sp>
      <p:sp>
        <p:nvSpPr>
          <p:cNvPr id="31" name="文本框 30">
            <a:extLst>
              <a:ext uri="{FF2B5EF4-FFF2-40B4-BE49-F238E27FC236}">
                <a16:creationId xmlns:a16="http://schemas.microsoft.com/office/drawing/2014/main" id="{0F92C56B-C4AB-43BE-8063-D47E18D58DA8}"/>
              </a:ext>
            </a:extLst>
          </p:cNvPr>
          <p:cNvSpPr txBox="1"/>
          <p:nvPr/>
        </p:nvSpPr>
        <p:spPr>
          <a:xfrm>
            <a:off x="8479524" y="3698966"/>
            <a:ext cx="1148841" cy="461665"/>
          </a:xfrm>
          <a:prstGeom prst="rect">
            <a:avLst/>
          </a:prstGeom>
          <a:noFill/>
        </p:spPr>
        <p:txBody>
          <a:bodyPr wrap="none" rtlCol="0">
            <a:spAutoFit/>
          </a:bodyPr>
          <a:lstStyle/>
          <a:p>
            <a:r>
              <a:rPr lang="en-US" altLang="zh-CN" sz="2400" dirty="0">
                <a:latin typeface="Garamond" panose="02020404030301010803" pitchFamily="18" charset="0"/>
              </a:rPr>
              <a:t>Epoch t</a:t>
            </a:r>
            <a:endParaRPr lang="zh-CN" altLang="en-US" sz="2400" dirty="0">
              <a:latin typeface="Garamond" panose="02020404030301010803" pitchFamily="18" charset="0"/>
            </a:endParaRPr>
          </a:p>
        </p:txBody>
      </p:sp>
      <p:sp>
        <p:nvSpPr>
          <p:cNvPr id="32" name="文本框 31">
            <a:extLst>
              <a:ext uri="{FF2B5EF4-FFF2-40B4-BE49-F238E27FC236}">
                <a16:creationId xmlns:a16="http://schemas.microsoft.com/office/drawing/2014/main" id="{966E6C31-1612-4995-AD88-7BD289F81355}"/>
              </a:ext>
            </a:extLst>
          </p:cNvPr>
          <p:cNvSpPr txBox="1"/>
          <p:nvPr/>
        </p:nvSpPr>
        <p:spPr>
          <a:xfrm>
            <a:off x="8227852" y="6091073"/>
            <a:ext cx="1652184" cy="461665"/>
          </a:xfrm>
          <a:prstGeom prst="rect">
            <a:avLst/>
          </a:prstGeom>
          <a:noFill/>
        </p:spPr>
        <p:txBody>
          <a:bodyPr wrap="none" rtlCol="0">
            <a:spAutoFit/>
          </a:bodyPr>
          <a:lstStyle/>
          <a:p>
            <a:r>
              <a:rPr lang="en-US" altLang="zh-CN" sz="2400" dirty="0">
                <a:latin typeface="Garamond" panose="02020404030301010803" pitchFamily="18" charset="0"/>
              </a:rPr>
              <a:t>Epoch t + 1</a:t>
            </a:r>
            <a:endParaRPr lang="zh-CN" altLang="en-US" sz="2400" dirty="0">
              <a:latin typeface="Garamond" panose="02020404030301010803" pitchFamily="18" charset="0"/>
            </a:endParaRPr>
          </a:p>
        </p:txBody>
      </p:sp>
      <p:sp>
        <p:nvSpPr>
          <p:cNvPr id="33" name="文本框 32">
            <a:extLst>
              <a:ext uri="{FF2B5EF4-FFF2-40B4-BE49-F238E27FC236}">
                <a16:creationId xmlns:a16="http://schemas.microsoft.com/office/drawing/2014/main" id="{59F3E797-96AA-4802-B655-D9F9E8E4BC76}"/>
              </a:ext>
            </a:extLst>
          </p:cNvPr>
          <p:cNvSpPr txBox="1"/>
          <p:nvPr/>
        </p:nvSpPr>
        <p:spPr>
          <a:xfrm>
            <a:off x="9554794" y="1590770"/>
            <a:ext cx="870751" cy="461665"/>
          </a:xfrm>
          <a:prstGeom prst="rect">
            <a:avLst/>
          </a:prstGeom>
          <a:noFill/>
        </p:spPr>
        <p:txBody>
          <a:bodyPr wrap="none" rtlCol="0">
            <a:spAutoFit/>
          </a:bodyPr>
          <a:lstStyle/>
          <a:p>
            <a:r>
              <a:rPr lang="en-US" altLang="zh-CN" sz="2400" dirty="0">
                <a:latin typeface="Garamond" panose="02020404030301010803" pitchFamily="18" charset="0"/>
              </a:rPr>
              <a:t>Slot 0</a:t>
            </a:r>
            <a:endParaRPr lang="zh-CN" altLang="en-US" sz="2400" dirty="0">
              <a:latin typeface="Garamond" panose="02020404030301010803" pitchFamily="18" charset="0"/>
            </a:endParaRPr>
          </a:p>
        </p:txBody>
      </p:sp>
      <p:sp>
        <p:nvSpPr>
          <p:cNvPr id="34" name="文本框 33">
            <a:extLst>
              <a:ext uri="{FF2B5EF4-FFF2-40B4-BE49-F238E27FC236}">
                <a16:creationId xmlns:a16="http://schemas.microsoft.com/office/drawing/2014/main" id="{822F4209-D8D9-4670-B736-3D873DD0C8E1}"/>
              </a:ext>
            </a:extLst>
          </p:cNvPr>
          <p:cNvSpPr txBox="1"/>
          <p:nvPr/>
        </p:nvSpPr>
        <p:spPr>
          <a:xfrm>
            <a:off x="9554794" y="2191581"/>
            <a:ext cx="870751" cy="461665"/>
          </a:xfrm>
          <a:prstGeom prst="rect">
            <a:avLst/>
          </a:prstGeom>
          <a:noFill/>
        </p:spPr>
        <p:txBody>
          <a:bodyPr wrap="none" rtlCol="0">
            <a:spAutoFit/>
          </a:bodyPr>
          <a:lstStyle/>
          <a:p>
            <a:r>
              <a:rPr lang="en-US" altLang="zh-CN" sz="2400" dirty="0">
                <a:latin typeface="Garamond" panose="02020404030301010803" pitchFamily="18" charset="0"/>
              </a:rPr>
              <a:t>Slot 1</a:t>
            </a:r>
            <a:endParaRPr lang="zh-CN" altLang="en-US" sz="2400" dirty="0">
              <a:latin typeface="Garamond" panose="02020404030301010803" pitchFamily="18" charset="0"/>
            </a:endParaRPr>
          </a:p>
        </p:txBody>
      </p:sp>
      <p:sp>
        <p:nvSpPr>
          <p:cNvPr id="35" name="文本框 34">
            <a:extLst>
              <a:ext uri="{FF2B5EF4-FFF2-40B4-BE49-F238E27FC236}">
                <a16:creationId xmlns:a16="http://schemas.microsoft.com/office/drawing/2014/main" id="{D24E88B6-101E-43AD-8CA5-F6D4863E0F4B}"/>
              </a:ext>
            </a:extLst>
          </p:cNvPr>
          <p:cNvSpPr txBox="1"/>
          <p:nvPr/>
        </p:nvSpPr>
        <p:spPr>
          <a:xfrm>
            <a:off x="9482658" y="3365117"/>
            <a:ext cx="1015021" cy="461665"/>
          </a:xfrm>
          <a:prstGeom prst="rect">
            <a:avLst/>
          </a:prstGeom>
          <a:noFill/>
        </p:spPr>
        <p:txBody>
          <a:bodyPr wrap="none" rtlCol="0">
            <a:spAutoFit/>
          </a:bodyPr>
          <a:lstStyle/>
          <a:p>
            <a:r>
              <a:rPr lang="en-US" altLang="zh-CN" sz="2400" dirty="0">
                <a:latin typeface="Garamond" panose="02020404030301010803" pitchFamily="18" charset="0"/>
              </a:rPr>
              <a:t>Slot 31</a:t>
            </a:r>
            <a:endParaRPr lang="zh-CN" altLang="en-US" sz="2400" dirty="0">
              <a:latin typeface="Garamond" panose="02020404030301010803" pitchFamily="18" charset="0"/>
            </a:endParaRPr>
          </a:p>
        </p:txBody>
      </p:sp>
      <p:sp>
        <p:nvSpPr>
          <p:cNvPr id="36" name="文本框 35">
            <a:extLst>
              <a:ext uri="{FF2B5EF4-FFF2-40B4-BE49-F238E27FC236}">
                <a16:creationId xmlns:a16="http://schemas.microsoft.com/office/drawing/2014/main" id="{0ADC7131-3694-437F-AB22-2A1E2AF4860C}"/>
              </a:ext>
            </a:extLst>
          </p:cNvPr>
          <p:cNvSpPr txBox="1"/>
          <p:nvPr/>
        </p:nvSpPr>
        <p:spPr>
          <a:xfrm>
            <a:off x="9699898" y="4120338"/>
            <a:ext cx="870751" cy="461665"/>
          </a:xfrm>
          <a:prstGeom prst="rect">
            <a:avLst/>
          </a:prstGeom>
          <a:noFill/>
        </p:spPr>
        <p:txBody>
          <a:bodyPr wrap="none" rtlCol="0">
            <a:spAutoFit/>
          </a:bodyPr>
          <a:lstStyle/>
          <a:p>
            <a:r>
              <a:rPr lang="en-US" altLang="zh-CN" sz="2400" dirty="0">
                <a:latin typeface="Garamond" panose="02020404030301010803" pitchFamily="18" charset="0"/>
              </a:rPr>
              <a:t>Slot 0</a:t>
            </a:r>
            <a:endParaRPr lang="zh-CN" altLang="en-US" sz="2400" dirty="0">
              <a:latin typeface="Garamond" panose="02020404030301010803" pitchFamily="18" charset="0"/>
            </a:endParaRPr>
          </a:p>
        </p:txBody>
      </p:sp>
      <p:sp>
        <p:nvSpPr>
          <p:cNvPr id="37" name="文本框 36">
            <a:extLst>
              <a:ext uri="{FF2B5EF4-FFF2-40B4-BE49-F238E27FC236}">
                <a16:creationId xmlns:a16="http://schemas.microsoft.com/office/drawing/2014/main" id="{C5A6C926-65E2-4965-82B9-00ECC1B7E842}"/>
              </a:ext>
            </a:extLst>
          </p:cNvPr>
          <p:cNvSpPr txBox="1"/>
          <p:nvPr/>
        </p:nvSpPr>
        <p:spPr>
          <a:xfrm>
            <a:off x="9699898" y="4721149"/>
            <a:ext cx="870751" cy="461665"/>
          </a:xfrm>
          <a:prstGeom prst="rect">
            <a:avLst/>
          </a:prstGeom>
          <a:noFill/>
        </p:spPr>
        <p:txBody>
          <a:bodyPr wrap="none" rtlCol="0">
            <a:spAutoFit/>
          </a:bodyPr>
          <a:lstStyle/>
          <a:p>
            <a:r>
              <a:rPr lang="en-US" altLang="zh-CN" sz="2400" dirty="0">
                <a:latin typeface="Garamond" panose="02020404030301010803" pitchFamily="18" charset="0"/>
              </a:rPr>
              <a:t>Slot 1</a:t>
            </a:r>
            <a:endParaRPr lang="zh-CN" altLang="en-US" sz="2400" dirty="0">
              <a:latin typeface="Garamond" panose="02020404030301010803" pitchFamily="18" charset="0"/>
            </a:endParaRPr>
          </a:p>
        </p:txBody>
      </p:sp>
      <p:sp>
        <p:nvSpPr>
          <p:cNvPr id="38" name="文本框 37">
            <a:extLst>
              <a:ext uri="{FF2B5EF4-FFF2-40B4-BE49-F238E27FC236}">
                <a16:creationId xmlns:a16="http://schemas.microsoft.com/office/drawing/2014/main" id="{460A802B-2E6B-4E33-95BB-0E718752F09E}"/>
              </a:ext>
            </a:extLst>
          </p:cNvPr>
          <p:cNvSpPr txBox="1"/>
          <p:nvPr/>
        </p:nvSpPr>
        <p:spPr>
          <a:xfrm>
            <a:off x="9627762" y="5695993"/>
            <a:ext cx="1015021" cy="461665"/>
          </a:xfrm>
          <a:prstGeom prst="rect">
            <a:avLst/>
          </a:prstGeom>
          <a:noFill/>
        </p:spPr>
        <p:txBody>
          <a:bodyPr wrap="none" rtlCol="0">
            <a:spAutoFit/>
          </a:bodyPr>
          <a:lstStyle/>
          <a:p>
            <a:r>
              <a:rPr lang="en-US" altLang="zh-CN" sz="2400" dirty="0">
                <a:latin typeface="Garamond" panose="02020404030301010803" pitchFamily="18" charset="0"/>
              </a:rPr>
              <a:t>Slot 31</a:t>
            </a:r>
            <a:endParaRPr lang="zh-CN" altLang="en-US" sz="2400" dirty="0">
              <a:latin typeface="Garamond" panose="02020404030301010803" pitchFamily="18" charset="0"/>
            </a:endParaRPr>
          </a:p>
        </p:txBody>
      </p:sp>
      <p:sp>
        <p:nvSpPr>
          <p:cNvPr id="39" name="内容占位符 2">
            <a:extLst>
              <a:ext uri="{FF2B5EF4-FFF2-40B4-BE49-F238E27FC236}">
                <a16:creationId xmlns:a16="http://schemas.microsoft.com/office/drawing/2014/main" id="{072BF67B-F3ED-4DF3-BE04-00C64CFC2F73}"/>
              </a:ext>
            </a:extLst>
          </p:cNvPr>
          <p:cNvSpPr txBox="1">
            <a:spLocks/>
          </p:cNvSpPr>
          <p:nvPr/>
        </p:nvSpPr>
        <p:spPr>
          <a:xfrm>
            <a:off x="535719" y="6091073"/>
            <a:ext cx="7256399"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zh-CN" altLang="en-US" dirty="0">
                <a:solidFill>
                  <a:prstClr val="black"/>
                </a:solidFill>
                <a:latin typeface="Garamond" panose="02020404030301010803" pitchFamily="18" charset="0"/>
              </a:rPr>
              <a:t>每个</a:t>
            </a:r>
            <a:r>
              <a:rPr lang="en-US" altLang="zh-CN" dirty="0">
                <a:solidFill>
                  <a:prstClr val="black"/>
                </a:solidFill>
                <a:latin typeface="Garamond" panose="02020404030301010803" pitchFamily="18" charset="0"/>
              </a:rPr>
              <a:t>Slot</a:t>
            </a:r>
            <a:r>
              <a:rPr lang="zh-CN" altLang="en-US" dirty="0">
                <a:solidFill>
                  <a:prstClr val="black"/>
                </a:solidFill>
                <a:latin typeface="Garamond" panose="02020404030301010803" pitchFamily="18" charset="0"/>
              </a:rPr>
              <a:t>汇集</a:t>
            </a:r>
            <a:r>
              <a:rPr lang="en-US" altLang="zh-CN" dirty="0">
                <a:solidFill>
                  <a:prstClr val="black"/>
                </a:solidFill>
                <a:latin typeface="Garamond" panose="02020404030301010803" pitchFamily="18" charset="0"/>
              </a:rPr>
              <a:t>128</a:t>
            </a:r>
            <a:r>
              <a:rPr lang="zh-CN" altLang="en-US" dirty="0">
                <a:solidFill>
                  <a:prstClr val="black"/>
                </a:solidFill>
                <a:latin typeface="Garamond" panose="02020404030301010803" pitchFamily="18" charset="0"/>
              </a:rPr>
              <a:t>个以上</a:t>
            </a:r>
            <a:r>
              <a:rPr lang="en-US" altLang="zh-CN" dirty="0">
                <a:solidFill>
                  <a:prstClr val="black"/>
                </a:solidFill>
                <a:latin typeface="Garamond" panose="02020404030301010803" pitchFamily="18" charset="0"/>
              </a:rPr>
              <a:t>Validators</a:t>
            </a:r>
            <a:r>
              <a:rPr lang="zh-CN" altLang="en-US" dirty="0">
                <a:solidFill>
                  <a:prstClr val="black"/>
                </a:solidFill>
                <a:latin typeface="Garamond" panose="02020404030301010803" pitchFamily="18" charset="0"/>
              </a:rPr>
              <a:t>构成委员会</a:t>
            </a:r>
            <a:endParaRPr lang="en-US" altLang="zh-CN" dirty="0">
              <a:solidFill>
                <a:prstClr val="black"/>
              </a:solidFill>
              <a:latin typeface="Garamond" panose="02020404030301010803" pitchFamily="18" charset="0"/>
            </a:endParaRPr>
          </a:p>
        </p:txBody>
      </p:sp>
      <p:sp>
        <p:nvSpPr>
          <p:cNvPr id="40" name="文本框 39">
            <a:extLst>
              <a:ext uri="{FF2B5EF4-FFF2-40B4-BE49-F238E27FC236}">
                <a16:creationId xmlns:a16="http://schemas.microsoft.com/office/drawing/2014/main" id="{7A1AA93C-314F-491B-BFED-E17AAAE8B11A}"/>
              </a:ext>
            </a:extLst>
          </p:cNvPr>
          <p:cNvSpPr txBox="1"/>
          <p:nvPr/>
        </p:nvSpPr>
        <p:spPr>
          <a:xfrm>
            <a:off x="7184175" y="1590770"/>
            <a:ext cx="1739579" cy="461665"/>
          </a:xfrm>
          <a:prstGeom prst="rect">
            <a:avLst/>
          </a:prstGeom>
          <a:noFill/>
        </p:spPr>
        <p:txBody>
          <a:bodyPr wrap="none" rtlCol="0">
            <a:spAutoFit/>
          </a:bodyPr>
          <a:lstStyle/>
          <a:p>
            <a:r>
              <a:rPr lang="en-US" altLang="zh-CN" sz="2400" dirty="0">
                <a:latin typeface="Garamond" panose="02020404030301010803" pitchFamily="18" charset="0"/>
              </a:rPr>
              <a:t>Committee 0</a:t>
            </a:r>
            <a:endParaRPr lang="zh-CN" altLang="en-US" sz="2400" dirty="0">
              <a:latin typeface="Garamond" panose="02020404030301010803" pitchFamily="18" charset="0"/>
            </a:endParaRPr>
          </a:p>
        </p:txBody>
      </p:sp>
      <p:sp>
        <p:nvSpPr>
          <p:cNvPr id="41" name="文本框 40">
            <a:extLst>
              <a:ext uri="{FF2B5EF4-FFF2-40B4-BE49-F238E27FC236}">
                <a16:creationId xmlns:a16="http://schemas.microsoft.com/office/drawing/2014/main" id="{06FCFCF6-369B-46BC-984C-09FB417B2F6D}"/>
              </a:ext>
            </a:extLst>
          </p:cNvPr>
          <p:cNvSpPr txBox="1"/>
          <p:nvPr/>
        </p:nvSpPr>
        <p:spPr>
          <a:xfrm>
            <a:off x="7185542" y="2189929"/>
            <a:ext cx="1739579" cy="461665"/>
          </a:xfrm>
          <a:prstGeom prst="rect">
            <a:avLst/>
          </a:prstGeom>
          <a:noFill/>
        </p:spPr>
        <p:txBody>
          <a:bodyPr wrap="none" rtlCol="0">
            <a:spAutoFit/>
          </a:bodyPr>
          <a:lstStyle/>
          <a:p>
            <a:r>
              <a:rPr lang="en-US" altLang="zh-CN" sz="2400" dirty="0">
                <a:latin typeface="Garamond" panose="02020404030301010803" pitchFamily="18" charset="0"/>
              </a:rPr>
              <a:t>Committee 1</a:t>
            </a:r>
            <a:endParaRPr lang="zh-CN" altLang="en-US" sz="2400" dirty="0">
              <a:latin typeface="Garamond" panose="02020404030301010803" pitchFamily="18" charset="0"/>
            </a:endParaRPr>
          </a:p>
        </p:txBody>
      </p:sp>
      <p:sp>
        <p:nvSpPr>
          <p:cNvPr id="42" name="文本框 41">
            <a:extLst>
              <a:ext uri="{FF2B5EF4-FFF2-40B4-BE49-F238E27FC236}">
                <a16:creationId xmlns:a16="http://schemas.microsoft.com/office/drawing/2014/main" id="{EE3509EE-8652-4767-B9CE-D03BC3A2D291}"/>
              </a:ext>
            </a:extLst>
          </p:cNvPr>
          <p:cNvSpPr txBox="1"/>
          <p:nvPr/>
        </p:nvSpPr>
        <p:spPr>
          <a:xfrm>
            <a:off x="7102841" y="3365116"/>
            <a:ext cx="1883849" cy="461665"/>
          </a:xfrm>
          <a:prstGeom prst="rect">
            <a:avLst/>
          </a:prstGeom>
          <a:noFill/>
        </p:spPr>
        <p:txBody>
          <a:bodyPr wrap="none" rtlCol="0">
            <a:spAutoFit/>
          </a:bodyPr>
          <a:lstStyle/>
          <a:p>
            <a:r>
              <a:rPr lang="en-US" altLang="zh-CN" sz="2400" dirty="0">
                <a:latin typeface="Garamond" panose="02020404030301010803" pitchFamily="18" charset="0"/>
              </a:rPr>
              <a:t>Committee 31</a:t>
            </a:r>
            <a:endParaRPr lang="zh-CN" altLang="en-US" sz="2400" dirty="0">
              <a:latin typeface="Garamond" panose="02020404030301010803" pitchFamily="18" charset="0"/>
            </a:endParaRPr>
          </a:p>
        </p:txBody>
      </p:sp>
      <p:cxnSp>
        <p:nvCxnSpPr>
          <p:cNvPr id="44" name="直接箭头连接符 43">
            <a:extLst>
              <a:ext uri="{FF2B5EF4-FFF2-40B4-BE49-F238E27FC236}">
                <a16:creationId xmlns:a16="http://schemas.microsoft.com/office/drawing/2014/main" id="{17589DBE-FC64-4B9E-9DAA-8E995FFFA407}"/>
              </a:ext>
            </a:extLst>
          </p:cNvPr>
          <p:cNvCxnSpPr>
            <a:stCxn id="40" idx="3"/>
            <a:endCxn id="33" idx="1"/>
          </p:cNvCxnSpPr>
          <p:nvPr/>
        </p:nvCxnSpPr>
        <p:spPr>
          <a:xfrm>
            <a:off x="8923754" y="1821603"/>
            <a:ext cx="631040" cy="0"/>
          </a:xfrm>
          <a:prstGeom prst="straightConnector1">
            <a:avLst/>
          </a:prstGeom>
          <a:ln w="19050">
            <a:solidFill>
              <a:srgbClr val="0000CC"/>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0F8D63C9-2F9B-47F3-9980-AC9E29F4F7C0}"/>
              </a:ext>
            </a:extLst>
          </p:cNvPr>
          <p:cNvCxnSpPr>
            <a:cxnSpLocks/>
            <a:stCxn id="41" idx="3"/>
            <a:endCxn id="34" idx="1"/>
          </p:cNvCxnSpPr>
          <p:nvPr/>
        </p:nvCxnSpPr>
        <p:spPr>
          <a:xfrm>
            <a:off x="8925121" y="2420762"/>
            <a:ext cx="629673" cy="1652"/>
          </a:xfrm>
          <a:prstGeom prst="straightConnector1">
            <a:avLst/>
          </a:prstGeom>
          <a:ln w="19050">
            <a:solidFill>
              <a:srgbClr val="0000CC"/>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328C5BDD-9C97-45E4-A67A-6DCA9D4347E8}"/>
              </a:ext>
            </a:extLst>
          </p:cNvPr>
          <p:cNvCxnSpPr>
            <a:cxnSpLocks/>
            <a:stCxn id="42" idx="3"/>
            <a:endCxn id="35" idx="1"/>
          </p:cNvCxnSpPr>
          <p:nvPr/>
        </p:nvCxnSpPr>
        <p:spPr>
          <a:xfrm>
            <a:off x="8986690" y="3595949"/>
            <a:ext cx="495968" cy="1"/>
          </a:xfrm>
          <a:prstGeom prst="straightConnector1">
            <a:avLst/>
          </a:prstGeom>
          <a:ln w="19050">
            <a:solidFill>
              <a:srgbClr val="0000CC"/>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D6F05C2A-A537-46D2-9BFD-54186A27526B}"/>
              </a:ext>
            </a:extLst>
          </p:cNvPr>
          <p:cNvSpPr txBox="1"/>
          <p:nvPr/>
        </p:nvSpPr>
        <p:spPr>
          <a:xfrm>
            <a:off x="7247111" y="4120337"/>
            <a:ext cx="1739579" cy="461665"/>
          </a:xfrm>
          <a:prstGeom prst="rect">
            <a:avLst/>
          </a:prstGeom>
          <a:noFill/>
        </p:spPr>
        <p:txBody>
          <a:bodyPr wrap="none" rtlCol="0">
            <a:spAutoFit/>
          </a:bodyPr>
          <a:lstStyle/>
          <a:p>
            <a:r>
              <a:rPr lang="en-US" altLang="zh-CN" sz="2400" dirty="0">
                <a:latin typeface="Garamond" panose="02020404030301010803" pitchFamily="18" charset="0"/>
              </a:rPr>
              <a:t>Committee 0</a:t>
            </a:r>
            <a:endParaRPr lang="zh-CN" altLang="en-US" sz="2400" dirty="0">
              <a:latin typeface="Garamond" panose="02020404030301010803" pitchFamily="18" charset="0"/>
            </a:endParaRPr>
          </a:p>
        </p:txBody>
      </p:sp>
      <p:sp>
        <p:nvSpPr>
          <p:cNvPr id="54" name="文本框 53">
            <a:extLst>
              <a:ext uri="{FF2B5EF4-FFF2-40B4-BE49-F238E27FC236}">
                <a16:creationId xmlns:a16="http://schemas.microsoft.com/office/drawing/2014/main" id="{E64E0F32-DF57-49E8-B53F-5122F04ADB98}"/>
              </a:ext>
            </a:extLst>
          </p:cNvPr>
          <p:cNvSpPr txBox="1"/>
          <p:nvPr/>
        </p:nvSpPr>
        <p:spPr>
          <a:xfrm>
            <a:off x="7256309" y="4721149"/>
            <a:ext cx="1739579" cy="461665"/>
          </a:xfrm>
          <a:prstGeom prst="rect">
            <a:avLst/>
          </a:prstGeom>
          <a:noFill/>
        </p:spPr>
        <p:txBody>
          <a:bodyPr wrap="none" rtlCol="0">
            <a:spAutoFit/>
          </a:bodyPr>
          <a:lstStyle/>
          <a:p>
            <a:r>
              <a:rPr lang="en-US" altLang="zh-CN" sz="2400" dirty="0">
                <a:latin typeface="Garamond" panose="02020404030301010803" pitchFamily="18" charset="0"/>
              </a:rPr>
              <a:t>Committee 1</a:t>
            </a:r>
            <a:endParaRPr lang="zh-CN" altLang="en-US" sz="2400" dirty="0">
              <a:latin typeface="Garamond" panose="02020404030301010803" pitchFamily="18" charset="0"/>
            </a:endParaRPr>
          </a:p>
        </p:txBody>
      </p:sp>
      <p:sp>
        <p:nvSpPr>
          <p:cNvPr id="55" name="文本框 54">
            <a:extLst>
              <a:ext uri="{FF2B5EF4-FFF2-40B4-BE49-F238E27FC236}">
                <a16:creationId xmlns:a16="http://schemas.microsoft.com/office/drawing/2014/main" id="{10DBCA26-EA69-4200-BDD8-FFB8CFFD2C30}"/>
              </a:ext>
            </a:extLst>
          </p:cNvPr>
          <p:cNvSpPr txBox="1"/>
          <p:nvPr/>
        </p:nvSpPr>
        <p:spPr>
          <a:xfrm>
            <a:off x="7170096" y="5686185"/>
            <a:ext cx="1883849" cy="461665"/>
          </a:xfrm>
          <a:prstGeom prst="rect">
            <a:avLst/>
          </a:prstGeom>
          <a:noFill/>
        </p:spPr>
        <p:txBody>
          <a:bodyPr wrap="none" rtlCol="0">
            <a:spAutoFit/>
          </a:bodyPr>
          <a:lstStyle/>
          <a:p>
            <a:r>
              <a:rPr lang="en-US" altLang="zh-CN" sz="2400" dirty="0">
                <a:latin typeface="Garamond" panose="02020404030301010803" pitchFamily="18" charset="0"/>
              </a:rPr>
              <a:t>Committee 31</a:t>
            </a:r>
            <a:endParaRPr lang="zh-CN" altLang="en-US" sz="2400" dirty="0">
              <a:latin typeface="Garamond" panose="02020404030301010803" pitchFamily="18" charset="0"/>
            </a:endParaRPr>
          </a:p>
        </p:txBody>
      </p:sp>
      <p:cxnSp>
        <p:nvCxnSpPr>
          <p:cNvPr id="56" name="直接箭头连接符 55">
            <a:extLst>
              <a:ext uri="{FF2B5EF4-FFF2-40B4-BE49-F238E27FC236}">
                <a16:creationId xmlns:a16="http://schemas.microsoft.com/office/drawing/2014/main" id="{49F91EB9-ED59-4313-BC3C-41A1A2F25B75}"/>
              </a:ext>
            </a:extLst>
          </p:cNvPr>
          <p:cNvCxnSpPr>
            <a:cxnSpLocks/>
            <a:stCxn id="53" idx="3"/>
            <a:endCxn id="36" idx="1"/>
          </p:cNvCxnSpPr>
          <p:nvPr/>
        </p:nvCxnSpPr>
        <p:spPr>
          <a:xfrm>
            <a:off x="8986690" y="4351170"/>
            <a:ext cx="713208" cy="1"/>
          </a:xfrm>
          <a:prstGeom prst="straightConnector1">
            <a:avLst/>
          </a:prstGeom>
          <a:ln w="19050">
            <a:solidFill>
              <a:srgbClr val="0000CC"/>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0B3EE008-C97A-465E-89BF-21B74CDE2FD2}"/>
              </a:ext>
            </a:extLst>
          </p:cNvPr>
          <p:cNvCxnSpPr>
            <a:cxnSpLocks/>
            <a:stCxn id="54" idx="3"/>
            <a:endCxn id="37" idx="1"/>
          </p:cNvCxnSpPr>
          <p:nvPr/>
        </p:nvCxnSpPr>
        <p:spPr>
          <a:xfrm>
            <a:off x="8995888" y="4951982"/>
            <a:ext cx="704010" cy="0"/>
          </a:xfrm>
          <a:prstGeom prst="straightConnector1">
            <a:avLst/>
          </a:prstGeom>
          <a:ln w="19050">
            <a:solidFill>
              <a:srgbClr val="0000CC"/>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68CBC704-B9E6-42C1-9541-E7680F2C5D4B}"/>
              </a:ext>
            </a:extLst>
          </p:cNvPr>
          <p:cNvCxnSpPr>
            <a:cxnSpLocks/>
            <a:stCxn id="55" idx="3"/>
            <a:endCxn id="38" idx="1"/>
          </p:cNvCxnSpPr>
          <p:nvPr/>
        </p:nvCxnSpPr>
        <p:spPr>
          <a:xfrm>
            <a:off x="9053945" y="5917018"/>
            <a:ext cx="573817" cy="9808"/>
          </a:xfrm>
          <a:prstGeom prst="straightConnector1">
            <a:avLst/>
          </a:prstGeom>
          <a:ln w="19050">
            <a:solidFill>
              <a:srgbClr val="0000CC"/>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4542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以太坊共识机制</a:t>
            </a:r>
            <a:r>
              <a:rPr lang="en-US" altLang="zh-CN" dirty="0">
                <a:latin typeface="Garamond" panose="02020404030301010803" pitchFamily="18" charset="0"/>
              </a:rPr>
              <a:t>Casper FFG</a:t>
            </a:r>
            <a:endParaRPr kumimoji="1" lang="zh-CN" altLang="en-US" dirty="0"/>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9</a:t>
            </a:fld>
            <a:endParaRPr kumimoji="1" lang="zh-CN" altLang="en-US" dirty="0"/>
          </a:p>
        </p:txBody>
      </p:sp>
      <p:sp>
        <p:nvSpPr>
          <p:cNvPr id="7" name="内容占位符 2">
            <a:extLst>
              <a:ext uri="{FF2B5EF4-FFF2-40B4-BE49-F238E27FC236}">
                <a16:creationId xmlns:a16="http://schemas.microsoft.com/office/drawing/2014/main" id="{CEFF5BDF-9F85-425F-B71D-AE9E3F5C9F82}"/>
              </a:ext>
            </a:extLst>
          </p:cNvPr>
          <p:cNvSpPr>
            <a:spLocks noGrp="1"/>
          </p:cNvSpPr>
          <p:nvPr>
            <p:ph idx="1"/>
          </p:nvPr>
        </p:nvSpPr>
        <p:spPr>
          <a:xfrm>
            <a:off x="535719" y="1391449"/>
            <a:ext cx="5821016" cy="765303"/>
          </a:xfrm>
        </p:spPr>
        <p:txBody>
          <a:bodyPr>
            <a:normAutofit/>
          </a:bodyPr>
          <a:lstStyle/>
          <a:p>
            <a:pPr lvl="0">
              <a:lnSpc>
                <a:spcPct val="130000"/>
              </a:lnSpc>
            </a:pPr>
            <a:r>
              <a:rPr lang="zh-CN" altLang="en-US" dirty="0">
                <a:solidFill>
                  <a:prstClr val="black"/>
                </a:solidFill>
                <a:latin typeface="Garamond" panose="02020404030301010803" pitchFamily="18" charset="0"/>
              </a:rPr>
              <a:t>谁来组装区块？</a:t>
            </a:r>
            <a:endParaRPr lang="en-US" altLang="zh-CN" dirty="0">
              <a:solidFill>
                <a:prstClr val="black"/>
              </a:solidFill>
              <a:latin typeface="Garamond" panose="02020404030301010803" pitchFamily="18" charset="0"/>
            </a:endParaRPr>
          </a:p>
        </p:txBody>
      </p:sp>
      <p:sp>
        <p:nvSpPr>
          <p:cNvPr id="46" name="内容占位符 2">
            <a:extLst>
              <a:ext uri="{FF2B5EF4-FFF2-40B4-BE49-F238E27FC236}">
                <a16:creationId xmlns:a16="http://schemas.microsoft.com/office/drawing/2014/main" id="{2F03363B-D079-44AB-B655-C8F6D726A741}"/>
              </a:ext>
            </a:extLst>
          </p:cNvPr>
          <p:cNvSpPr txBox="1">
            <a:spLocks/>
          </p:cNvSpPr>
          <p:nvPr/>
        </p:nvSpPr>
        <p:spPr>
          <a:xfrm>
            <a:off x="535719" y="2001049"/>
            <a:ext cx="6381916"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en-US" altLang="zh-CN" dirty="0">
                <a:solidFill>
                  <a:prstClr val="black"/>
                </a:solidFill>
                <a:latin typeface="Garamond" panose="02020404030301010803" pitchFamily="18" charset="0"/>
              </a:rPr>
              <a:t>Proposer</a:t>
            </a:r>
            <a:r>
              <a:rPr lang="zh-CN" altLang="en-US" dirty="0">
                <a:solidFill>
                  <a:prstClr val="black"/>
                </a:solidFill>
                <a:latin typeface="Garamond" panose="02020404030301010803" pitchFamily="18" charset="0"/>
              </a:rPr>
              <a:t>：由</a:t>
            </a:r>
            <a:r>
              <a:rPr lang="en-US" altLang="zh-CN" dirty="0">
                <a:solidFill>
                  <a:prstClr val="black"/>
                </a:solidFill>
                <a:latin typeface="Garamond" panose="02020404030301010803" pitchFamily="18" charset="0"/>
              </a:rPr>
              <a:t>Validators</a:t>
            </a:r>
            <a:r>
              <a:rPr lang="zh-CN" altLang="en-US" dirty="0">
                <a:solidFill>
                  <a:prstClr val="black"/>
                </a:solidFill>
                <a:latin typeface="Garamond" panose="02020404030301010803" pitchFamily="18" charset="0"/>
              </a:rPr>
              <a:t>全体中</a:t>
            </a:r>
            <a:r>
              <a:rPr lang="zh-CN" altLang="en-US" b="1" dirty="0">
                <a:solidFill>
                  <a:srgbClr val="5B307E"/>
                </a:solidFill>
                <a:latin typeface="Garamond" panose="02020404030301010803" pitchFamily="18" charset="0"/>
              </a:rPr>
              <a:t>随机</a:t>
            </a:r>
            <a:r>
              <a:rPr lang="zh-CN" altLang="en-US" dirty="0">
                <a:solidFill>
                  <a:prstClr val="black"/>
                </a:solidFill>
                <a:latin typeface="Garamond" panose="02020404030301010803" pitchFamily="18" charset="0"/>
              </a:rPr>
              <a:t>选择</a:t>
            </a:r>
            <a:endParaRPr lang="en-US" altLang="zh-CN" dirty="0">
              <a:solidFill>
                <a:prstClr val="black"/>
              </a:solidFill>
              <a:latin typeface="Garamond" panose="02020404030301010803" pitchFamily="18" charset="0"/>
            </a:endParaRPr>
          </a:p>
        </p:txBody>
      </p:sp>
      <p:sp>
        <p:nvSpPr>
          <p:cNvPr id="47" name="内容占位符 2">
            <a:extLst>
              <a:ext uri="{FF2B5EF4-FFF2-40B4-BE49-F238E27FC236}">
                <a16:creationId xmlns:a16="http://schemas.microsoft.com/office/drawing/2014/main" id="{AD1D31DB-A058-4C82-85A2-2F9CB0FE6123}"/>
              </a:ext>
            </a:extLst>
          </p:cNvPr>
          <p:cNvSpPr txBox="1">
            <a:spLocks/>
          </p:cNvSpPr>
          <p:nvPr/>
        </p:nvSpPr>
        <p:spPr>
          <a:xfrm>
            <a:off x="535718" y="2587418"/>
            <a:ext cx="8628160"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en-US" altLang="zh-CN" dirty="0">
                <a:solidFill>
                  <a:prstClr val="black"/>
                </a:solidFill>
                <a:latin typeface="Garamond" panose="02020404030301010803" pitchFamily="18" charset="0"/>
              </a:rPr>
              <a:t>RANDAO</a:t>
            </a:r>
            <a:r>
              <a:rPr lang="zh-CN" altLang="en-US" dirty="0">
                <a:solidFill>
                  <a:prstClr val="black"/>
                </a:solidFill>
                <a:latin typeface="Garamond" panose="02020404030301010803" pitchFamily="18" charset="0"/>
              </a:rPr>
              <a:t>合约：伪随机数，用于产生下一个</a:t>
            </a:r>
            <a:r>
              <a:rPr lang="en-US" altLang="zh-CN" dirty="0">
                <a:solidFill>
                  <a:prstClr val="black"/>
                </a:solidFill>
                <a:latin typeface="Garamond" panose="02020404030301010803" pitchFamily="18" charset="0"/>
              </a:rPr>
              <a:t>Slot</a:t>
            </a:r>
            <a:r>
              <a:rPr lang="zh-CN" altLang="en-US" dirty="0">
                <a:solidFill>
                  <a:prstClr val="black"/>
                </a:solidFill>
                <a:latin typeface="Garamond" panose="02020404030301010803" pitchFamily="18" charset="0"/>
              </a:rPr>
              <a:t>的</a:t>
            </a:r>
            <a:r>
              <a:rPr lang="en-US" altLang="zh-CN" dirty="0">
                <a:solidFill>
                  <a:prstClr val="black"/>
                </a:solidFill>
                <a:latin typeface="Garamond" panose="02020404030301010803" pitchFamily="18" charset="0"/>
              </a:rPr>
              <a:t>Proposer</a:t>
            </a:r>
          </a:p>
        </p:txBody>
      </p:sp>
      <p:sp>
        <p:nvSpPr>
          <p:cNvPr id="49" name="内容占位符 2">
            <a:extLst>
              <a:ext uri="{FF2B5EF4-FFF2-40B4-BE49-F238E27FC236}">
                <a16:creationId xmlns:a16="http://schemas.microsoft.com/office/drawing/2014/main" id="{59110631-3253-46F3-AE89-6DFC5EF9DCB2}"/>
              </a:ext>
            </a:extLst>
          </p:cNvPr>
          <p:cNvSpPr txBox="1">
            <a:spLocks/>
          </p:cNvSpPr>
          <p:nvPr/>
        </p:nvSpPr>
        <p:spPr>
          <a:xfrm>
            <a:off x="535717" y="3197018"/>
            <a:ext cx="8220812"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en-US" altLang="zh-CN" dirty="0">
                <a:solidFill>
                  <a:prstClr val="black"/>
                </a:solidFill>
                <a:latin typeface="Garamond" panose="02020404030301010803" pitchFamily="18" charset="0"/>
              </a:rPr>
              <a:t>VDF</a:t>
            </a:r>
            <a:r>
              <a:rPr lang="zh-CN" altLang="en-US" dirty="0">
                <a:solidFill>
                  <a:prstClr val="black"/>
                </a:solidFill>
                <a:latin typeface="Garamond" panose="02020404030301010803" pitchFamily="18" charset="0"/>
              </a:rPr>
              <a:t>函数：可验证延迟函数</a:t>
            </a:r>
            <a:r>
              <a:rPr lang="en-US" altLang="zh-CN" dirty="0">
                <a:solidFill>
                  <a:prstClr val="black"/>
                </a:solidFill>
                <a:latin typeface="Garamond" panose="02020404030301010803" pitchFamily="18" charset="0"/>
              </a:rPr>
              <a:t>——</a:t>
            </a:r>
            <a:r>
              <a:rPr lang="zh-CN" altLang="en-US" dirty="0">
                <a:solidFill>
                  <a:prstClr val="black"/>
                </a:solidFill>
                <a:latin typeface="Garamond" panose="02020404030301010803" pitchFamily="18" charset="0"/>
              </a:rPr>
              <a:t>一段时间后给出结果</a:t>
            </a:r>
            <a:endParaRPr lang="en-US" altLang="zh-CN" dirty="0">
              <a:solidFill>
                <a:prstClr val="black"/>
              </a:solidFill>
              <a:latin typeface="Garamond" panose="02020404030301010803" pitchFamily="18" charset="0"/>
            </a:endParaRPr>
          </a:p>
        </p:txBody>
      </p:sp>
      <p:sp>
        <p:nvSpPr>
          <p:cNvPr id="50" name="内容占位符 2">
            <a:extLst>
              <a:ext uri="{FF2B5EF4-FFF2-40B4-BE49-F238E27FC236}">
                <a16:creationId xmlns:a16="http://schemas.microsoft.com/office/drawing/2014/main" id="{A3749CE6-EF01-4EAE-9BA4-BE1F50BFB3D2}"/>
              </a:ext>
            </a:extLst>
          </p:cNvPr>
          <p:cNvSpPr txBox="1">
            <a:spLocks/>
          </p:cNvSpPr>
          <p:nvPr/>
        </p:nvSpPr>
        <p:spPr>
          <a:xfrm>
            <a:off x="535716" y="3760206"/>
            <a:ext cx="5821016"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pPr>
            <a:r>
              <a:rPr lang="zh-CN" altLang="en-US" dirty="0">
                <a:solidFill>
                  <a:prstClr val="black"/>
                </a:solidFill>
                <a:latin typeface="Garamond" panose="02020404030301010803" pitchFamily="18" charset="0"/>
              </a:rPr>
              <a:t>组装区块收益</a:t>
            </a:r>
            <a:endParaRPr lang="en-US" altLang="zh-CN" dirty="0">
              <a:solidFill>
                <a:prstClr val="black"/>
              </a:solidFill>
              <a:latin typeface="Garamond" panose="02020404030301010803" pitchFamily="18" charset="0"/>
            </a:endParaRPr>
          </a:p>
        </p:txBody>
      </p:sp>
      <p:sp>
        <p:nvSpPr>
          <p:cNvPr id="51" name="内容占位符 2">
            <a:extLst>
              <a:ext uri="{FF2B5EF4-FFF2-40B4-BE49-F238E27FC236}">
                <a16:creationId xmlns:a16="http://schemas.microsoft.com/office/drawing/2014/main" id="{20CAC531-B2D9-4D43-9A8A-7C2E5BC71E1E}"/>
              </a:ext>
            </a:extLst>
          </p:cNvPr>
          <p:cNvSpPr txBox="1">
            <a:spLocks/>
          </p:cNvSpPr>
          <p:nvPr/>
        </p:nvSpPr>
        <p:spPr>
          <a:xfrm>
            <a:off x="535715" y="4336506"/>
            <a:ext cx="8111327"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en-US" altLang="zh-CN" dirty="0" err="1">
                <a:solidFill>
                  <a:prstClr val="black"/>
                </a:solidFill>
                <a:latin typeface="Garamond" panose="02020404030301010803" pitchFamily="18" charset="0"/>
              </a:rPr>
              <a:t>base_reward</a:t>
            </a:r>
            <a:r>
              <a:rPr lang="zh-CN" altLang="en-US" dirty="0">
                <a:solidFill>
                  <a:prstClr val="black"/>
                </a:solidFill>
                <a:latin typeface="Garamond" panose="02020404030301010803" pitchFamily="18" charset="0"/>
              </a:rPr>
              <a:t>：根据全体质押额和投票权重计算得到</a:t>
            </a:r>
            <a:endParaRPr lang="en-US" altLang="zh-CN" dirty="0">
              <a:solidFill>
                <a:prstClr val="black"/>
              </a:solidFill>
              <a:latin typeface="Garamond" panose="02020404030301010803" pitchFamily="18" charset="0"/>
            </a:endParaRPr>
          </a:p>
        </p:txBody>
      </p:sp>
      <p:sp>
        <p:nvSpPr>
          <p:cNvPr id="10" name="内容占位符 2">
            <a:extLst>
              <a:ext uri="{FF2B5EF4-FFF2-40B4-BE49-F238E27FC236}">
                <a16:creationId xmlns:a16="http://schemas.microsoft.com/office/drawing/2014/main" id="{324C9367-5245-40CC-A949-E50240978D7A}"/>
              </a:ext>
            </a:extLst>
          </p:cNvPr>
          <p:cNvSpPr txBox="1">
            <a:spLocks/>
          </p:cNvSpPr>
          <p:nvPr/>
        </p:nvSpPr>
        <p:spPr>
          <a:xfrm>
            <a:off x="535719" y="4919454"/>
            <a:ext cx="5821016"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pPr>
            <a:r>
              <a:rPr lang="zh-CN" altLang="en-US" dirty="0">
                <a:solidFill>
                  <a:prstClr val="black"/>
                </a:solidFill>
                <a:latin typeface="Garamond" panose="02020404030301010803" pitchFamily="18" charset="0"/>
              </a:rPr>
              <a:t>投票</a:t>
            </a:r>
            <a:endParaRPr lang="en-US" altLang="zh-CN" dirty="0">
              <a:solidFill>
                <a:prstClr val="black"/>
              </a:solidFill>
              <a:latin typeface="Garamond" panose="02020404030301010803" pitchFamily="18" charset="0"/>
            </a:endParaRPr>
          </a:p>
        </p:txBody>
      </p:sp>
      <p:sp>
        <p:nvSpPr>
          <p:cNvPr id="11" name="内容占位符 2">
            <a:extLst>
              <a:ext uri="{FF2B5EF4-FFF2-40B4-BE49-F238E27FC236}">
                <a16:creationId xmlns:a16="http://schemas.microsoft.com/office/drawing/2014/main" id="{DBBF3C31-8E69-43C6-9864-2C138612AF47}"/>
              </a:ext>
            </a:extLst>
          </p:cNvPr>
          <p:cNvSpPr txBox="1">
            <a:spLocks/>
          </p:cNvSpPr>
          <p:nvPr/>
        </p:nvSpPr>
        <p:spPr>
          <a:xfrm>
            <a:off x="535714" y="5565775"/>
            <a:ext cx="8111327"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zh-CN" altLang="en-US" dirty="0">
                <a:solidFill>
                  <a:prstClr val="black"/>
                </a:solidFill>
                <a:latin typeface="Garamond" panose="02020404030301010803" pitchFamily="18" charset="0"/>
              </a:rPr>
              <a:t>类似</a:t>
            </a:r>
            <a:r>
              <a:rPr lang="en-US" altLang="zh-CN" dirty="0">
                <a:solidFill>
                  <a:prstClr val="black"/>
                </a:solidFill>
                <a:latin typeface="Garamond" panose="02020404030301010803" pitchFamily="18" charset="0"/>
              </a:rPr>
              <a:t>PBFT</a:t>
            </a:r>
            <a:r>
              <a:rPr lang="zh-CN" altLang="en-US" dirty="0">
                <a:solidFill>
                  <a:prstClr val="black"/>
                </a:solidFill>
                <a:latin typeface="Garamond" panose="02020404030301010803" pitchFamily="18" charset="0"/>
              </a:rPr>
              <a:t>：</a:t>
            </a:r>
            <a:r>
              <a:rPr lang="en-US" altLang="zh-CN" dirty="0">
                <a:solidFill>
                  <a:prstClr val="black"/>
                </a:solidFill>
                <a:latin typeface="Garamond" panose="02020404030301010803" pitchFamily="18" charset="0"/>
              </a:rPr>
              <a:t>Validators</a:t>
            </a:r>
            <a:r>
              <a:rPr lang="zh-CN" altLang="en-US" dirty="0">
                <a:solidFill>
                  <a:prstClr val="black"/>
                </a:solidFill>
                <a:latin typeface="Garamond" panose="02020404030301010803" pitchFamily="18" charset="0"/>
              </a:rPr>
              <a:t>经过两轮投票确定上链区块</a:t>
            </a:r>
            <a:endParaRPr lang="en-US" altLang="zh-CN" dirty="0">
              <a:solidFill>
                <a:prstClr val="black"/>
              </a:solidFill>
              <a:latin typeface="Garamond" panose="02020404030301010803" pitchFamily="18" charset="0"/>
            </a:endParaRPr>
          </a:p>
        </p:txBody>
      </p:sp>
      <p:sp>
        <p:nvSpPr>
          <p:cNvPr id="12" name="内容占位符 2">
            <a:extLst>
              <a:ext uri="{FF2B5EF4-FFF2-40B4-BE49-F238E27FC236}">
                <a16:creationId xmlns:a16="http://schemas.microsoft.com/office/drawing/2014/main" id="{41F9A052-EA8D-4A42-B708-2E40854D7C36}"/>
              </a:ext>
            </a:extLst>
          </p:cNvPr>
          <p:cNvSpPr txBox="1">
            <a:spLocks/>
          </p:cNvSpPr>
          <p:nvPr/>
        </p:nvSpPr>
        <p:spPr>
          <a:xfrm>
            <a:off x="535713" y="6156260"/>
            <a:ext cx="9950704"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en-US" altLang="zh-CN" dirty="0">
                <a:solidFill>
                  <a:prstClr val="black"/>
                </a:solidFill>
                <a:latin typeface="Garamond" panose="02020404030301010803" pitchFamily="18" charset="0"/>
              </a:rPr>
              <a:t>2/3</a:t>
            </a:r>
            <a:r>
              <a:rPr lang="zh-CN" altLang="en-US" dirty="0">
                <a:solidFill>
                  <a:prstClr val="black"/>
                </a:solidFill>
                <a:latin typeface="Garamond" panose="02020404030301010803" pitchFamily="18" charset="0"/>
              </a:rPr>
              <a:t>质押总数：投票代表的质押代币数超过总质押代币数的</a:t>
            </a:r>
            <a:r>
              <a:rPr lang="en-US" altLang="zh-CN" dirty="0">
                <a:solidFill>
                  <a:prstClr val="black"/>
                </a:solidFill>
                <a:latin typeface="Garamond" panose="02020404030301010803" pitchFamily="18" charset="0"/>
              </a:rPr>
              <a:t>2/3</a:t>
            </a:r>
          </a:p>
        </p:txBody>
      </p:sp>
      <p:sp>
        <p:nvSpPr>
          <p:cNvPr id="13" name="矩形 12">
            <a:extLst>
              <a:ext uri="{FF2B5EF4-FFF2-40B4-BE49-F238E27FC236}">
                <a16:creationId xmlns:a16="http://schemas.microsoft.com/office/drawing/2014/main" id="{D1C79046-73B9-4785-9DC4-D1F1BCA11838}"/>
              </a:ext>
            </a:extLst>
          </p:cNvPr>
          <p:cNvSpPr/>
          <p:nvPr/>
        </p:nvSpPr>
        <p:spPr>
          <a:xfrm>
            <a:off x="9243346" y="5772743"/>
            <a:ext cx="2553799" cy="369332"/>
          </a:xfrm>
          <a:prstGeom prst="rect">
            <a:avLst/>
          </a:prstGeom>
          <a:solidFill>
            <a:schemeClr val="accent3">
              <a:lumMod val="20000"/>
              <a:lumOff val="80000"/>
            </a:schemeClr>
          </a:solidFill>
          <a:ln w="19050">
            <a:solidFill>
              <a:srgbClr val="002060"/>
            </a:solidFill>
            <a:prstDash val="dash"/>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dirty="0">
                <a:solidFill>
                  <a:srgbClr val="002060"/>
                </a:solidFill>
                <a:latin typeface="Garamond" panose="02020404030301010803" pitchFamily="18" charset="0"/>
                <a:ea typeface="微软雅黑" panose="020B0503020204020204" pitchFamily="34" charset="-122"/>
              </a:rPr>
              <a:t>为什么不直接统计票数</a:t>
            </a:r>
          </a:p>
        </p:txBody>
      </p:sp>
      <p:pic>
        <p:nvPicPr>
          <p:cNvPr id="14" name="图片 13">
            <a:extLst>
              <a:ext uri="{FF2B5EF4-FFF2-40B4-BE49-F238E27FC236}">
                <a16:creationId xmlns:a16="http://schemas.microsoft.com/office/drawing/2014/main" id="{A6D34A74-084E-47D6-AFBA-0FC10CC978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47042" y="5656578"/>
            <a:ext cx="601662" cy="601662"/>
          </a:xfrm>
          <a:prstGeom prst="rect">
            <a:avLst/>
          </a:prstGeom>
        </p:spPr>
      </p:pic>
    </p:spTree>
    <p:extLst>
      <p:ext uri="{BB962C8B-B14F-4D97-AF65-F5344CB8AC3E}">
        <p14:creationId xmlns:p14="http://schemas.microsoft.com/office/powerpoint/2010/main" val="3252042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以太坊共识机制</a:t>
            </a:r>
            <a:r>
              <a:rPr lang="en-US" altLang="zh-CN" dirty="0">
                <a:latin typeface="Garamond" panose="02020404030301010803" pitchFamily="18" charset="0"/>
              </a:rPr>
              <a:t>Casper FFG</a:t>
            </a:r>
            <a:endParaRPr lang="zh-CN" altLang="en-US" dirty="0">
              <a:latin typeface="Garamond" panose="02020404030301010803" pitchFamily="18" charset="0"/>
            </a:endParaRP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10</a:t>
            </a:fld>
            <a:endParaRPr kumimoji="1" lang="zh-CN" altLang="en-US" dirty="0"/>
          </a:p>
        </p:txBody>
      </p:sp>
      <p:sp>
        <p:nvSpPr>
          <p:cNvPr id="46" name="矩形 45">
            <a:extLst>
              <a:ext uri="{FF2B5EF4-FFF2-40B4-BE49-F238E27FC236}">
                <a16:creationId xmlns:a16="http://schemas.microsoft.com/office/drawing/2014/main" id="{A7B78506-CA12-431F-AE20-10AD40F1C8E5}"/>
              </a:ext>
            </a:extLst>
          </p:cNvPr>
          <p:cNvSpPr/>
          <p:nvPr/>
        </p:nvSpPr>
        <p:spPr>
          <a:xfrm>
            <a:off x="678871" y="1560443"/>
            <a:ext cx="460513" cy="4605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a:extLst>
              <a:ext uri="{FF2B5EF4-FFF2-40B4-BE49-F238E27FC236}">
                <a16:creationId xmlns:a16="http://schemas.microsoft.com/office/drawing/2014/main" id="{7920006C-1D5E-4FB2-9F77-93ADB9AB7D04}"/>
              </a:ext>
            </a:extLst>
          </p:cNvPr>
          <p:cNvSpPr txBox="1"/>
          <p:nvPr/>
        </p:nvSpPr>
        <p:spPr>
          <a:xfrm>
            <a:off x="584359" y="2112586"/>
            <a:ext cx="649537" cy="461665"/>
          </a:xfrm>
          <a:prstGeom prst="rect">
            <a:avLst/>
          </a:prstGeom>
          <a:noFill/>
        </p:spPr>
        <p:txBody>
          <a:bodyPr wrap="none" rtlCol="0">
            <a:spAutoFit/>
          </a:bodyPr>
          <a:lstStyle/>
          <a:p>
            <a:r>
              <a:rPr lang="en-US" altLang="zh-CN" sz="2400" dirty="0">
                <a:latin typeface="Garamond" panose="02020404030301010803" pitchFamily="18" charset="0"/>
              </a:rPr>
              <a:t>Slot</a:t>
            </a:r>
            <a:endParaRPr lang="zh-CN" altLang="en-US" sz="2400" dirty="0">
              <a:latin typeface="Garamond" panose="02020404030301010803" pitchFamily="18" charset="0"/>
            </a:endParaRPr>
          </a:p>
        </p:txBody>
      </p:sp>
      <p:sp>
        <p:nvSpPr>
          <p:cNvPr id="6" name="矩形 5">
            <a:extLst>
              <a:ext uri="{FF2B5EF4-FFF2-40B4-BE49-F238E27FC236}">
                <a16:creationId xmlns:a16="http://schemas.microsoft.com/office/drawing/2014/main" id="{0D6F3506-9603-4535-89E3-2744B6352B5B}"/>
              </a:ext>
            </a:extLst>
          </p:cNvPr>
          <p:cNvSpPr/>
          <p:nvPr/>
        </p:nvSpPr>
        <p:spPr>
          <a:xfrm>
            <a:off x="2907799" y="1560443"/>
            <a:ext cx="460513" cy="1408044"/>
          </a:xfrm>
          <a:prstGeom prst="rect">
            <a:avLst/>
          </a:prstGeom>
          <a:solidFill>
            <a:srgbClr val="0000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a:extLst>
              <a:ext uri="{FF2B5EF4-FFF2-40B4-BE49-F238E27FC236}">
                <a16:creationId xmlns:a16="http://schemas.microsoft.com/office/drawing/2014/main" id="{6B706432-246C-4B6D-91C4-75AA55331D2B}"/>
              </a:ext>
            </a:extLst>
          </p:cNvPr>
          <p:cNvSpPr/>
          <p:nvPr/>
        </p:nvSpPr>
        <p:spPr>
          <a:xfrm>
            <a:off x="2907797" y="2968487"/>
            <a:ext cx="460513" cy="1408044"/>
          </a:xfrm>
          <a:prstGeom prst="rect">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a:extLst>
              <a:ext uri="{FF2B5EF4-FFF2-40B4-BE49-F238E27FC236}">
                <a16:creationId xmlns:a16="http://schemas.microsoft.com/office/drawing/2014/main" id="{7D3F1677-6787-4A70-829F-FA0E9F0BDB1C}"/>
              </a:ext>
            </a:extLst>
          </p:cNvPr>
          <p:cNvSpPr/>
          <p:nvPr/>
        </p:nvSpPr>
        <p:spPr>
          <a:xfrm>
            <a:off x="2907799" y="4376531"/>
            <a:ext cx="460513" cy="1408044"/>
          </a:xfrm>
          <a:prstGeom prst="rect">
            <a:avLst/>
          </a:prstGeom>
          <a:solidFill>
            <a:srgbClr val="0081A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3F10ECDB-F9BD-4DAD-9682-85FEB9FD7F6D}"/>
              </a:ext>
            </a:extLst>
          </p:cNvPr>
          <p:cNvCxnSpPr/>
          <p:nvPr/>
        </p:nvCxnSpPr>
        <p:spPr>
          <a:xfrm>
            <a:off x="1139384" y="1560443"/>
            <a:ext cx="176841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9B6F257-3D82-4BDF-99F9-910408D0CE00}"/>
              </a:ext>
            </a:extLst>
          </p:cNvPr>
          <p:cNvCxnSpPr>
            <a:cxnSpLocks/>
          </p:cNvCxnSpPr>
          <p:nvPr/>
        </p:nvCxnSpPr>
        <p:spPr>
          <a:xfrm>
            <a:off x="1139384" y="2020956"/>
            <a:ext cx="1768415" cy="376361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内容占位符 2">
            <a:extLst>
              <a:ext uri="{FF2B5EF4-FFF2-40B4-BE49-F238E27FC236}">
                <a16:creationId xmlns:a16="http://schemas.microsoft.com/office/drawing/2014/main" id="{73FD9DE1-B792-41CA-9639-5CBAB69A1BFA}"/>
              </a:ext>
            </a:extLst>
          </p:cNvPr>
          <p:cNvSpPr txBox="1">
            <a:spLocks/>
          </p:cNvSpPr>
          <p:nvPr/>
        </p:nvSpPr>
        <p:spPr>
          <a:xfrm>
            <a:off x="3232928" y="1983375"/>
            <a:ext cx="7988349"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en-US" altLang="zh-CN" dirty="0">
                <a:solidFill>
                  <a:prstClr val="black"/>
                </a:solidFill>
                <a:latin typeface="Garamond" panose="02020404030301010803" pitchFamily="18" charset="0"/>
              </a:rPr>
              <a:t>1~4</a:t>
            </a:r>
            <a:r>
              <a:rPr lang="zh-CN" altLang="en-US" dirty="0">
                <a:solidFill>
                  <a:prstClr val="black"/>
                </a:solidFill>
                <a:latin typeface="Garamond" panose="02020404030301010803" pitchFamily="18" charset="0"/>
              </a:rPr>
              <a:t>秒：</a:t>
            </a:r>
            <a:r>
              <a:rPr lang="en-US" altLang="zh-CN" dirty="0">
                <a:solidFill>
                  <a:prstClr val="black"/>
                </a:solidFill>
                <a:latin typeface="Garamond" panose="02020404030301010803" pitchFamily="18" charset="0"/>
              </a:rPr>
              <a:t>Proposer</a:t>
            </a:r>
            <a:r>
              <a:rPr lang="zh-CN" altLang="en-US" dirty="0">
                <a:solidFill>
                  <a:prstClr val="black"/>
                </a:solidFill>
                <a:latin typeface="Garamond" panose="02020404030301010803" pitchFamily="18" charset="0"/>
              </a:rPr>
              <a:t>根据本地交易池选择交易，组装区块</a:t>
            </a:r>
            <a:endParaRPr lang="en-US" altLang="zh-CN" dirty="0">
              <a:solidFill>
                <a:prstClr val="black"/>
              </a:solidFill>
              <a:latin typeface="Garamond" panose="02020404030301010803" pitchFamily="18" charset="0"/>
            </a:endParaRPr>
          </a:p>
        </p:txBody>
      </p:sp>
      <p:sp>
        <p:nvSpPr>
          <p:cNvPr id="61" name="内容占位符 2">
            <a:extLst>
              <a:ext uri="{FF2B5EF4-FFF2-40B4-BE49-F238E27FC236}">
                <a16:creationId xmlns:a16="http://schemas.microsoft.com/office/drawing/2014/main" id="{E04A868B-A8EB-467B-BFD3-0E816002607D}"/>
              </a:ext>
            </a:extLst>
          </p:cNvPr>
          <p:cNvSpPr txBox="1">
            <a:spLocks/>
          </p:cNvSpPr>
          <p:nvPr/>
        </p:nvSpPr>
        <p:spPr>
          <a:xfrm>
            <a:off x="3232927" y="3289857"/>
            <a:ext cx="8226890"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en-US" altLang="zh-CN" dirty="0">
                <a:solidFill>
                  <a:prstClr val="black"/>
                </a:solidFill>
                <a:latin typeface="Garamond" panose="02020404030301010803" pitchFamily="18" charset="0"/>
              </a:rPr>
              <a:t>5~8</a:t>
            </a:r>
            <a:r>
              <a:rPr lang="zh-CN" altLang="en-US" dirty="0">
                <a:solidFill>
                  <a:prstClr val="black"/>
                </a:solidFill>
                <a:latin typeface="Garamond" panose="02020404030301010803" pitchFamily="18" charset="0"/>
              </a:rPr>
              <a:t>秒：</a:t>
            </a:r>
            <a:r>
              <a:rPr lang="en-US" altLang="zh-CN" dirty="0">
                <a:solidFill>
                  <a:prstClr val="black"/>
                </a:solidFill>
                <a:latin typeface="Garamond" panose="02020404030301010803" pitchFamily="18" charset="0"/>
              </a:rPr>
              <a:t>Proposer</a:t>
            </a:r>
            <a:r>
              <a:rPr lang="zh-CN" altLang="en-US" dirty="0">
                <a:solidFill>
                  <a:prstClr val="black"/>
                </a:solidFill>
                <a:latin typeface="Garamond" panose="02020404030301010803" pitchFamily="18" charset="0"/>
              </a:rPr>
              <a:t>将区块广播至委员会全体</a:t>
            </a:r>
            <a:r>
              <a:rPr lang="en-US" altLang="zh-CN" dirty="0">
                <a:solidFill>
                  <a:prstClr val="black"/>
                </a:solidFill>
                <a:latin typeface="Garamond" panose="02020404030301010803" pitchFamily="18" charset="0"/>
              </a:rPr>
              <a:t>Validators</a:t>
            </a:r>
          </a:p>
        </p:txBody>
      </p:sp>
      <p:sp>
        <p:nvSpPr>
          <p:cNvPr id="62" name="内容占位符 2">
            <a:extLst>
              <a:ext uri="{FF2B5EF4-FFF2-40B4-BE49-F238E27FC236}">
                <a16:creationId xmlns:a16="http://schemas.microsoft.com/office/drawing/2014/main" id="{A9B12608-01D2-45CA-B072-DA4E6B100735}"/>
              </a:ext>
            </a:extLst>
          </p:cNvPr>
          <p:cNvSpPr txBox="1">
            <a:spLocks/>
          </p:cNvSpPr>
          <p:nvPr/>
        </p:nvSpPr>
        <p:spPr>
          <a:xfrm>
            <a:off x="3232928" y="4697901"/>
            <a:ext cx="8703968"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en-US" altLang="zh-CN" dirty="0">
                <a:solidFill>
                  <a:prstClr val="black"/>
                </a:solidFill>
                <a:latin typeface="Garamond" panose="02020404030301010803" pitchFamily="18" charset="0"/>
              </a:rPr>
              <a:t>9~12</a:t>
            </a:r>
            <a:r>
              <a:rPr lang="zh-CN" altLang="en-US" dirty="0">
                <a:solidFill>
                  <a:prstClr val="black"/>
                </a:solidFill>
                <a:latin typeface="Garamond" panose="02020404030301010803" pitchFamily="18" charset="0"/>
              </a:rPr>
              <a:t>秒：</a:t>
            </a:r>
            <a:r>
              <a:rPr lang="en-US" altLang="zh-CN" dirty="0">
                <a:solidFill>
                  <a:prstClr val="black"/>
                </a:solidFill>
                <a:latin typeface="Garamond" panose="02020404030301010803" pitchFamily="18" charset="0"/>
              </a:rPr>
              <a:t>Validators</a:t>
            </a:r>
            <a:r>
              <a:rPr lang="zh-CN" altLang="en-US" dirty="0">
                <a:solidFill>
                  <a:prstClr val="black"/>
                </a:solidFill>
                <a:latin typeface="Garamond" panose="02020404030301010803" pitchFamily="18" charset="0"/>
              </a:rPr>
              <a:t>完成签名或投票（称为见证</a:t>
            </a:r>
            <a:r>
              <a:rPr lang="en-US" altLang="zh-CN" dirty="0">
                <a:solidFill>
                  <a:prstClr val="black"/>
                </a:solidFill>
                <a:latin typeface="Garamond" panose="02020404030301010803" pitchFamily="18" charset="0"/>
              </a:rPr>
              <a:t>Attestation</a:t>
            </a:r>
            <a:r>
              <a:rPr lang="zh-CN" altLang="en-US" dirty="0">
                <a:solidFill>
                  <a:prstClr val="black"/>
                </a:solidFill>
                <a:latin typeface="Garamond" panose="02020404030301010803" pitchFamily="18" charset="0"/>
              </a:rPr>
              <a:t>）</a:t>
            </a:r>
            <a:endParaRPr lang="en-US" altLang="zh-CN" dirty="0">
              <a:solidFill>
                <a:prstClr val="black"/>
              </a:solidFill>
              <a:latin typeface="Garamond" panose="02020404030301010803" pitchFamily="18" charset="0"/>
            </a:endParaRPr>
          </a:p>
        </p:txBody>
      </p:sp>
    </p:spTree>
    <p:extLst>
      <p:ext uri="{BB962C8B-B14F-4D97-AF65-F5344CB8AC3E}">
        <p14:creationId xmlns:p14="http://schemas.microsoft.com/office/powerpoint/2010/main" val="1803167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以太坊共识机制</a:t>
            </a:r>
            <a:r>
              <a:rPr lang="en-US" altLang="zh-CN" dirty="0">
                <a:latin typeface="Garamond" panose="02020404030301010803" pitchFamily="18" charset="0"/>
              </a:rPr>
              <a:t>Casper FFG</a:t>
            </a:r>
            <a:endParaRPr kumimoji="1" lang="zh-CN" altLang="en-US" dirty="0"/>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11</a:t>
            </a:fld>
            <a:endParaRPr kumimoji="1" lang="zh-CN" altLang="en-US" dirty="0"/>
          </a:p>
        </p:txBody>
      </p:sp>
      <p:sp>
        <p:nvSpPr>
          <p:cNvPr id="14" name="内容占位符 2">
            <a:extLst>
              <a:ext uri="{FF2B5EF4-FFF2-40B4-BE49-F238E27FC236}">
                <a16:creationId xmlns:a16="http://schemas.microsoft.com/office/drawing/2014/main" id="{97E4E027-B292-4BCE-B8F5-C71C0EC635BA}"/>
              </a:ext>
            </a:extLst>
          </p:cNvPr>
          <p:cNvSpPr>
            <a:spLocks noGrp="1"/>
          </p:cNvSpPr>
          <p:nvPr>
            <p:ph idx="1"/>
          </p:nvPr>
        </p:nvSpPr>
        <p:spPr>
          <a:xfrm>
            <a:off x="535719" y="1391449"/>
            <a:ext cx="5821016" cy="765303"/>
          </a:xfrm>
        </p:spPr>
        <p:txBody>
          <a:bodyPr>
            <a:normAutofit/>
          </a:bodyPr>
          <a:lstStyle/>
          <a:p>
            <a:pPr lvl="0">
              <a:lnSpc>
                <a:spcPct val="130000"/>
              </a:lnSpc>
            </a:pPr>
            <a:r>
              <a:rPr lang="en-US" altLang="zh-CN" dirty="0">
                <a:solidFill>
                  <a:prstClr val="black"/>
                </a:solidFill>
                <a:latin typeface="Garamond" panose="02020404030301010803" pitchFamily="18" charset="0"/>
              </a:rPr>
              <a:t>Finality</a:t>
            </a:r>
            <a:r>
              <a:rPr lang="zh-CN" altLang="en-US" dirty="0">
                <a:solidFill>
                  <a:prstClr val="black"/>
                </a:solidFill>
                <a:latin typeface="Garamond" panose="02020404030301010803" pitchFamily="18" charset="0"/>
              </a:rPr>
              <a:t>（最终性）</a:t>
            </a:r>
            <a:endParaRPr lang="en-US" altLang="zh-CN" dirty="0">
              <a:solidFill>
                <a:prstClr val="black"/>
              </a:solidFill>
              <a:latin typeface="Garamond" panose="02020404030301010803" pitchFamily="18" charset="0"/>
            </a:endParaRPr>
          </a:p>
        </p:txBody>
      </p:sp>
      <p:sp>
        <p:nvSpPr>
          <p:cNvPr id="15" name="内容占位符 2">
            <a:extLst>
              <a:ext uri="{FF2B5EF4-FFF2-40B4-BE49-F238E27FC236}">
                <a16:creationId xmlns:a16="http://schemas.microsoft.com/office/drawing/2014/main" id="{37070EB1-F021-4229-B3B9-87634223E798}"/>
              </a:ext>
            </a:extLst>
          </p:cNvPr>
          <p:cNvSpPr txBox="1">
            <a:spLocks/>
          </p:cNvSpPr>
          <p:nvPr/>
        </p:nvSpPr>
        <p:spPr>
          <a:xfrm>
            <a:off x="535719" y="2001049"/>
            <a:ext cx="5821016" cy="1427951"/>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zh-CN" altLang="en-US" dirty="0">
                <a:solidFill>
                  <a:prstClr val="black"/>
                </a:solidFill>
                <a:latin typeface="Garamond" panose="02020404030301010803" pitchFamily="18" charset="0"/>
              </a:rPr>
              <a:t>经过第二轮投票的区块达到</a:t>
            </a:r>
            <a:r>
              <a:rPr lang="en-US" altLang="zh-CN" dirty="0">
                <a:solidFill>
                  <a:prstClr val="black"/>
                </a:solidFill>
                <a:latin typeface="Garamond" panose="02020404030301010803" pitchFamily="18" charset="0"/>
              </a:rPr>
              <a:t>Finality</a:t>
            </a:r>
          </a:p>
          <a:p>
            <a:pPr lvl="1">
              <a:lnSpc>
                <a:spcPct val="130000"/>
              </a:lnSpc>
            </a:pPr>
            <a:r>
              <a:rPr lang="en-US" altLang="zh-CN" dirty="0">
                <a:solidFill>
                  <a:prstClr val="black"/>
                </a:solidFill>
                <a:latin typeface="Garamond" panose="02020404030301010803" pitchFamily="18" charset="0"/>
              </a:rPr>
              <a:t>Finality</a:t>
            </a:r>
            <a:r>
              <a:rPr lang="zh-CN" altLang="en-US" dirty="0">
                <a:solidFill>
                  <a:prstClr val="black"/>
                </a:solidFill>
                <a:latin typeface="Garamond" panose="02020404030301010803" pitchFamily="18" charset="0"/>
              </a:rPr>
              <a:t>的区块</a:t>
            </a:r>
            <a:r>
              <a:rPr lang="zh-CN" altLang="en-US" b="1" dirty="0">
                <a:solidFill>
                  <a:srgbClr val="5B307E"/>
                </a:solidFill>
                <a:latin typeface="Garamond" panose="02020404030301010803" pitchFamily="18" charset="0"/>
              </a:rPr>
              <a:t>不会</a:t>
            </a:r>
            <a:r>
              <a:rPr lang="zh-CN" altLang="en-US" dirty="0">
                <a:solidFill>
                  <a:prstClr val="black"/>
                </a:solidFill>
                <a:latin typeface="Garamond" panose="02020404030301010803" pitchFamily="18" charset="0"/>
              </a:rPr>
              <a:t>被推翻</a:t>
            </a:r>
            <a:endParaRPr lang="en-US" altLang="zh-CN" dirty="0">
              <a:solidFill>
                <a:prstClr val="black"/>
              </a:solidFill>
              <a:latin typeface="Garamond" panose="02020404030301010803" pitchFamily="18" charset="0"/>
            </a:endParaRPr>
          </a:p>
        </p:txBody>
      </p:sp>
      <p:sp>
        <p:nvSpPr>
          <p:cNvPr id="17" name="矩形 16">
            <a:extLst>
              <a:ext uri="{FF2B5EF4-FFF2-40B4-BE49-F238E27FC236}">
                <a16:creationId xmlns:a16="http://schemas.microsoft.com/office/drawing/2014/main" id="{F175EE56-1974-4D52-9E08-086A7B4085D5}"/>
              </a:ext>
            </a:extLst>
          </p:cNvPr>
          <p:cNvSpPr/>
          <p:nvPr/>
        </p:nvSpPr>
        <p:spPr>
          <a:xfrm rot="16200000">
            <a:off x="1185737" y="4702084"/>
            <a:ext cx="667846" cy="667846"/>
          </a:xfrm>
          <a:prstGeom prst="rect">
            <a:avLst/>
          </a:prstGeom>
          <a:solidFill>
            <a:srgbClr val="0000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a:extLst>
              <a:ext uri="{FF2B5EF4-FFF2-40B4-BE49-F238E27FC236}">
                <a16:creationId xmlns:a16="http://schemas.microsoft.com/office/drawing/2014/main" id="{9E9A6117-9A65-45A6-9FB2-1C5EF0B99D05}"/>
              </a:ext>
            </a:extLst>
          </p:cNvPr>
          <p:cNvCxnSpPr>
            <a:cxnSpLocks/>
          </p:cNvCxnSpPr>
          <p:nvPr/>
        </p:nvCxnSpPr>
        <p:spPr>
          <a:xfrm rot="16200000">
            <a:off x="-392153" y="5036007"/>
            <a:ext cx="2752188" cy="0"/>
          </a:xfrm>
          <a:prstGeom prst="line">
            <a:avLst/>
          </a:prstGeom>
          <a:ln w="19050">
            <a:solidFill>
              <a:srgbClr val="EE6C4D"/>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9CAB2F8C-B15A-476C-B177-C31E2702498A}"/>
              </a:ext>
            </a:extLst>
          </p:cNvPr>
          <p:cNvSpPr/>
          <p:nvPr/>
        </p:nvSpPr>
        <p:spPr>
          <a:xfrm rot="16200000">
            <a:off x="2074597" y="4702084"/>
            <a:ext cx="667846" cy="6678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9A7BB3F4-6FAA-40E7-B8B9-766605CA33E6}"/>
              </a:ext>
            </a:extLst>
          </p:cNvPr>
          <p:cNvSpPr/>
          <p:nvPr/>
        </p:nvSpPr>
        <p:spPr>
          <a:xfrm rot="16200000">
            <a:off x="3794662" y="4702084"/>
            <a:ext cx="667846" cy="6678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a:extLst>
              <a:ext uri="{FF2B5EF4-FFF2-40B4-BE49-F238E27FC236}">
                <a16:creationId xmlns:a16="http://schemas.microsoft.com/office/drawing/2014/main" id="{FB22B130-35B1-4422-B941-441E524FEDA7}"/>
              </a:ext>
            </a:extLst>
          </p:cNvPr>
          <p:cNvCxnSpPr>
            <a:cxnSpLocks/>
          </p:cNvCxnSpPr>
          <p:nvPr/>
        </p:nvCxnSpPr>
        <p:spPr>
          <a:xfrm rot="16200000">
            <a:off x="3288206" y="5036007"/>
            <a:ext cx="2752188" cy="0"/>
          </a:xfrm>
          <a:prstGeom prst="line">
            <a:avLst/>
          </a:prstGeom>
          <a:ln w="19050">
            <a:solidFill>
              <a:srgbClr val="EE6C4D"/>
            </a:solidFill>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DA688818-9031-45F2-9DFC-B1A2BA97A33E}"/>
              </a:ext>
            </a:extLst>
          </p:cNvPr>
          <p:cNvSpPr/>
          <p:nvPr/>
        </p:nvSpPr>
        <p:spPr>
          <a:xfrm rot="16200000">
            <a:off x="4904489" y="4702084"/>
            <a:ext cx="667846" cy="667846"/>
          </a:xfrm>
          <a:prstGeom prst="rect">
            <a:avLst/>
          </a:prstGeom>
          <a:solidFill>
            <a:srgbClr val="0000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00CEB11A-FCED-4581-867D-DBB298292DF7}"/>
              </a:ext>
            </a:extLst>
          </p:cNvPr>
          <p:cNvSpPr txBox="1"/>
          <p:nvPr/>
        </p:nvSpPr>
        <p:spPr>
          <a:xfrm rot="16200000">
            <a:off x="2924184" y="4851657"/>
            <a:ext cx="669516" cy="368700"/>
          </a:xfrm>
          <a:prstGeom prst="rect">
            <a:avLst/>
          </a:prstGeom>
          <a:noFill/>
        </p:spPr>
        <p:txBody>
          <a:bodyPr vert="eaVert" wrap="none" rtlCol="0">
            <a:spAutoFit/>
          </a:bodyPr>
          <a:lstStyle/>
          <a:p>
            <a:r>
              <a:rPr lang="en-US" altLang="zh-CN" dirty="0"/>
              <a:t>…</a:t>
            </a:r>
            <a:endParaRPr lang="zh-CN" altLang="en-US" dirty="0"/>
          </a:p>
        </p:txBody>
      </p:sp>
      <p:sp>
        <p:nvSpPr>
          <p:cNvPr id="24" name="矩形 23">
            <a:extLst>
              <a:ext uri="{FF2B5EF4-FFF2-40B4-BE49-F238E27FC236}">
                <a16:creationId xmlns:a16="http://schemas.microsoft.com/office/drawing/2014/main" id="{E949BE7A-2752-42DF-89FA-71D03619C7C8}"/>
              </a:ext>
            </a:extLst>
          </p:cNvPr>
          <p:cNvSpPr/>
          <p:nvPr/>
        </p:nvSpPr>
        <p:spPr>
          <a:xfrm rot="16200000">
            <a:off x="5786089" y="4702084"/>
            <a:ext cx="667846" cy="6678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696FB1BC-F28B-44F2-BD80-D014DDA5D6F3}"/>
              </a:ext>
            </a:extLst>
          </p:cNvPr>
          <p:cNvSpPr txBox="1"/>
          <p:nvPr/>
        </p:nvSpPr>
        <p:spPr>
          <a:xfrm rot="16200000">
            <a:off x="6448970" y="4851657"/>
            <a:ext cx="669516" cy="368700"/>
          </a:xfrm>
          <a:prstGeom prst="rect">
            <a:avLst/>
          </a:prstGeom>
          <a:noFill/>
        </p:spPr>
        <p:txBody>
          <a:bodyPr vert="eaVert" wrap="none" rtlCol="0">
            <a:spAutoFit/>
          </a:bodyPr>
          <a:lstStyle/>
          <a:p>
            <a:r>
              <a:rPr lang="en-US" altLang="zh-CN" dirty="0"/>
              <a:t>…</a:t>
            </a:r>
            <a:endParaRPr lang="zh-CN" altLang="en-US" dirty="0"/>
          </a:p>
        </p:txBody>
      </p:sp>
      <p:sp>
        <p:nvSpPr>
          <p:cNvPr id="26" name="矩形 25">
            <a:extLst>
              <a:ext uri="{FF2B5EF4-FFF2-40B4-BE49-F238E27FC236}">
                <a16:creationId xmlns:a16="http://schemas.microsoft.com/office/drawing/2014/main" id="{D5AC4D9E-0772-46D1-977D-69C3C6D07BE1}"/>
              </a:ext>
            </a:extLst>
          </p:cNvPr>
          <p:cNvSpPr/>
          <p:nvPr/>
        </p:nvSpPr>
        <p:spPr>
          <a:xfrm rot="16200000">
            <a:off x="7173488" y="4702084"/>
            <a:ext cx="667846" cy="6678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a:extLst>
              <a:ext uri="{FF2B5EF4-FFF2-40B4-BE49-F238E27FC236}">
                <a16:creationId xmlns:a16="http://schemas.microsoft.com/office/drawing/2014/main" id="{3213A08C-67A0-4857-B58E-915A89FF29E8}"/>
              </a:ext>
            </a:extLst>
          </p:cNvPr>
          <p:cNvCxnSpPr>
            <a:cxnSpLocks/>
          </p:cNvCxnSpPr>
          <p:nvPr/>
        </p:nvCxnSpPr>
        <p:spPr>
          <a:xfrm rot="16200000">
            <a:off x="6731137" y="5036007"/>
            <a:ext cx="2752188" cy="0"/>
          </a:xfrm>
          <a:prstGeom prst="line">
            <a:avLst/>
          </a:prstGeom>
          <a:ln w="19050">
            <a:solidFill>
              <a:srgbClr val="EE6C4D"/>
            </a:solidFill>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1EDD2D5C-8F6A-47A2-9DAE-C82E84B90DB0}"/>
              </a:ext>
            </a:extLst>
          </p:cNvPr>
          <p:cNvSpPr/>
          <p:nvPr/>
        </p:nvSpPr>
        <p:spPr>
          <a:xfrm rot="16200000">
            <a:off x="8344659" y="4702919"/>
            <a:ext cx="667846" cy="667846"/>
          </a:xfrm>
          <a:prstGeom prst="rect">
            <a:avLst/>
          </a:prstGeom>
          <a:solidFill>
            <a:srgbClr val="0000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D35A66C6-9DE0-4DD9-916E-80FAE7C2A146}"/>
              </a:ext>
            </a:extLst>
          </p:cNvPr>
          <p:cNvSpPr/>
          <p:nvPr/>
        </p:nvSpPr>
        <p:spPr>
          <a:xfrm rot="16200000">
            <a:off x="9226259" y="4702919"/>
            <a:ext cx="667846" cy="6678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911BDBAA-67B3-4506-AE33-79355F39BC16}"/>
              </a:ext>
            </a:extLst>
          </p:cNvPr>
          <p:cNvSpPr txBox="1"/>
          <p:nvPr/>
        </p:nvSpPr>
        <p:spPr>
          <a:xfrm rot="16200000">
            <a:off x="9889140" y="4852492"/>
            <a:ext cx="669516" cy="368700"/>
          </a:xfrm>
          <a:prstGeom prst="rect">
            <a:avLst/>
          </a:prstGeom>
          <a:noFill/>
        </p:spPr>
        <p:txBody>
          <a:bodyPr vert="eaVert" wrap="none" rtlCol="0">
            <a:spAutoFit/>
          </a:bodyPr>
          <a:lstStyle/>
          <a:p>
            <a:r>
              <a:rPr lang="en-US" altLang="zh-CN" dirty="0"/>
              <a:t>…</a:t>
            </a:r>
            <a:endParaRPr lang="zh-CN" altLang="en-US" dirty="0"/>
          </a:p>
        </p:txBody>
      </p:sp>
      <p:sp>
        <p:nvSpPr>
          <p:cNvPr id="35" name="矩形 34">
            <a:extLst>
              <a:ext uri="{FF2B5EF4-FFF2-40B4-BE49-F238E27FC236}">
                <a16:creationId xmlns:a16="http://schemas.microsoft.com/office/drawing/2014/main" id="{6E93BF3F-7DAF-4B5E-8365-5A6F01AF6531}"/>
              </a:ext>
            </a:extLst>
          </p:cNvPr>
          <p:cNvSpPr/>
          <p:nvPr/>
        </p:nvSpPr>
        <p:spPr>
          <a:xfrm rot="16200000">
            <a:off x="10613658" y="4702919"/>
            <a:ext cx="667846" cy="6678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连接符 35">
            <a:extLst>
              <a:ext uri="{FF2B5EF4-FFF2-40B4-BE49-F238E27FC236}">
                <a16:creationId xmlns:a16="http://schemas.microsoft.com/office/drawing/2014/main" id="{1F45F032-91F3-4EC1-BC98-EE1528B8C797}"/>
              </a:ext>
            </a:extLst>
          </p:cNvPr>
          <p:cNvCxnSpPr>
            <a:cxnSpLocks/>
          </p:cNvCxnSpPr>
          <p:nvPr/>
        </p:nvCxnSpPr>
        <p:spPr>
          <a:xfrm rot="16200000">
            <a:off x="10171307" y="5036842"/>
            <a:ext cx="2752188" cy="0"/>
          </a:xfrm>
          <a:prstGeom prst="line">
            <a:avLst/>
          </a:prstGeom>
          <a:ln w="19050">
            <a:solidFill>
              <a:srgbClr val="EE6C4D"/>
            </a:solidFill>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FB75FDF7-49C9-4D38-9B51-A699A3B86B74}"/>
              </a:ext>
            </a:extLst>
          </p:cNvPr>
          <p:cNvSpPr txBox="1"/>
          <p:nvPr/>
        </p:nvSpPr>
        <p:spPr>
          <a:xfrm>
            <a:off x="212351" y="3198087"/>
            <a:ext cx="1543179" cy="461665"/>
          </a:xfrm>
          <a:prstGeom prst="rect">
            <a:avLst/>
          </a:prstGeom>
          <a:noFill/>
        </p:spPr>
        <p:txBody>
          <a:bodyPr wrap="none" rtlCol="0">
            <a:spAutoFit/>
          </a:bodyPr>
          <a:lstStyle/>
          <a:p>
            <a:r>
              <a:rPr lang="en-US" altLang="zh-CN" sz="2400" dirty="0">
                <a:latin typeface="Garamond" panose="02020404030301010803" pitchFamily="18" charset="0"/>
              </a:rPr>
              <a:t>Epoch t - 1</a:t>
            </a:r>
            <a:endParaRPr lang="zh-CN" altLang="en-US" sz="2400" dirty="0">
              <a:latin typeface="Garamond" panose="02020404030301010803" pitchFamily="18" charset="0"/>
            </a:endParaRPr>
          </a:p>
        </p:txBody>
      </p:sp>
      <p:sp>
        <p:nvSpPr>
          <p:cNvPr id="38" name="文本框 37">
            <a:extLst>
              <a:ext uri="{FF2B5EF4-FFF2-40B4-BE49-F238E27FC236}">
                <a16:creationId xmlns:a16="http://schemas.microsoft.com/office/drawing/2014/main" id="{D3D2124C-475C-4955-8AD4-5FB24B2B8496}"/>
              </a:ext>
            </a:extLst>
          </p:cNvPr>
          <p:cNvSpPr txBox="1"/>
          <p:nvPr/>
        </p:nvSpPr>
        <p:spPr>
          <a:xfrm>
            <a:off x="4046858" y="3198086"/>
            <a:ext cx="1148841" cy="461665"/>
          </a:xfrm>
          <a:prstGeom prst="rect">
            <a:avLst/>
          </a:prstGeom>
          <a:noFill/>
        </p:spPr>
        <p:txBody>
          <a:bodyPr wrap="none" rtlCol="0">
            <a:spAutoFit/>
          </a:bodyPr>
          <a:lstStyle/>
          <a:p>
            <a:r>
              <a:rPr lang="en-US" altLang="zh-CN" sz="2400" dirty="0">
                <a:latin typeface="Garamond" panose="02020404030301010803" pitchFamily="18" charset="0"/>
              </a:rPr>
              <a:t>Epoch t</a:t>
            </a:r>
            <a:endParaRPr lang="zh-CN" altLang="en-US" sz="2400" dirty="0">
              <a:latin typeface="Garamond" panose="02020404030301010803" pitchFamily="18" charset="0"/>
            </a:endParaRPr>
          </a:p>
        </p:txBody>
      </p:sp>
      <p:sp>
        <p:nvSpPr>
          <p:cNvPr id="39" name="文本框 38">
            <a:extLst>
              <a:ext uri="{FF2B5EF4-FFF2-40B4-BE49-F238E27FC236}">
                <a16:creationId xmlns:a16="http://schemas.microsoft.com/office/drawing/2014/main" id="{517CA07E-7073-4885-BCE3-182B66068520}"/>
              </a:ext>
            </a:extLst>
          </p:cNvPr>
          <p:cNvSpPr txBox="1"/>
          <p:nvPr/>
        </p:nvSpPr>
        <p:spPr>
          <a:xfrm>
            <a:off x="7278377" y="3198085"/>
            <a:ext cx="1652184" cy="461665"/>
          </a:xfrm>
          <a:prstGeom prst="rect">
            <a:avLst/>
          </a:prstGeom>
          <a:noFill/>
        </p:spPr>
        <p:txBody>
          <a:bodyPr wrap="none" rtlCol="0">
            <a:spAutoFit/>
          </a:bodyPr>
          <a:lstStyle/>
          <a:p>
            <a:r>
              <a:rPr lang="en-US" altLang="zh-CN" sz="2400" dirty="0">
                <a:latin typeface="Garamond" panose="02020404030301010803" pitchFamily="18" charset="0"/>
              </a:rPr>
              <a:t>Epoch t + 1</a:t>
            </a:r>
            <a:endParaRPr lang="zh-CN" altLang="en-US" sz="2400" dirty="0">
              <a:latin typeface="Garamond" panose="02020404030301010803" pitchFamily="18" charset="0"/>
            </a:endParaRPr>
          </a:p>
        </p:txBody>
      </p:sp>
      <p:sp>
        <p:nvSpPr>
          <p:cNvPr id="40" name="文本框 39">
            <a:extLst>
              <a:ext uri="{FF2B5EF4-FFF2-40B4-BE49-F238E27FC236}">
                <a16:creationId xmlns:a16="http://schemas.microsoft.com/office/drawing/2014/main" id="{5E0FEDBE-AA2E-4BFB-BD9C-8EB603323782}"/>
              </a:ext>
            </a:extLst>
          </p:cNvPr>
          <p:cNvSpPr txBox="1"/>
          <p:nvPr/>
        </p:nvSpPr>
        <p:spPr>
          <a:xfrm>
            <a:off x="10539816" y="3197252"/>
            <a:ext cx="1652184" cy="461665"/>
          </a:xfrm>
          <a:prstGeom prst="rect">
            <a:avLst/>
          </a:prstGeom>
          <a:noFill/>
        </p:spPr>
        <p:txBody>
          <a:bodyPr wrap="none" rtlCol="0">
            <a:spAutoFit/>
          </a:bodyPr>
          <a:lstStyle/>
          <a:p>
            <a:r>
              <a:rPr lang="en-US" altLang="zh-CN" sz="2400" dirty="0">
                <a:latin typeface="Garamond" panose="02020404030301010803" pitchFamily="18" charset="0"/>
              </a:rPr>
              <a:t>Epoch t + 2</a:t>
            </a:r>
            <a:endParaRPr lang="zh-CN" altLang="en-US" sz="2400" dirty="0">
              <a:latin typeface="Garamond" panose="02020404030301010803" pitchFamily="18" charset="0"/>
            </a:endParaRPr>
          </a:p>
        </p:txBody>
      </p:sp>
      <p:sp>
        <p:nvSpPr>
          <p:cNvPr id="41" name="文本框 40">
            <a:extLst>
              <a:ext uri="{FF2B5EF4-FFF2-40B4-BE49-F238E27FC236}">
                <a16:creationId xmlns:a16="http://schemas.microsoft.com/office/drawing/2014/main" id="{745310A4-3555-4C1B-938C-B59B4BF0AFE9}"/>
              </a:ext>
            </a:extLst>
          </p:cNvPr>
          <p:cNvSpPr txBox="1"/>
          <p:nvPr/>
        </p:nvSpPr>
        <p:spPr>
          <a:xfrm>
            <a:off x="1050681" y="5661877"/>
            <a:ext cx="2639633" cy="830997"/>
          </a:xfrm>
          <a:prstGeom prst="rect">
            <a:avLst/>
          </a:prstGeom>
          <a:noFill/>
        </p:spPr>
        <p:txBody>
          <a:bodyPr wrap="none" rtlCol="0">
            <a:spAutoFit/>
          </a:bodyPr>
          <a:lstStyle/>
          <a:p>
            <a:r>
              <a:rPr lang="zh-CN" altLang="en-US" sz="2400" dirty="0">
                <a:latin typeface="Garamond" panose="02020404030301010803" pitchFamily="18" charset="0"/>
              </a:rPr>
              <a:t>最终性检查点</a:t>
            </a:r>
            <a:endParaRPr lang="en-US" altLang="zh-CN" sz="2400" dirty="0">
              <a:latin typeface="Garamond" panose="02020404030301010803" pitchFamily="18" charset="0"/>
            </a:endParaRPr>
          </a:p>
          <a:p>
            <a:r>
              <a:rPr lang="en-US" altLang="zh-CN" sz="2400" dirty="0">
                <a:latin typeface="Garamond" panose="02020404030301010803" pitchFamily="18" charset="0"/>
              </a:rPr>
              <a:t>Finality Checkpoints</a:t>
            </a:r>
            <a:endParaRPr lang="zh-CN" altLang="en-US" sz="2400" dirty="0">
              <a:latin typeface="Garamond" panose="02020404030301010803" pitchFamily="18" charset="0"/>
            </a:endParaRPr>
          </a:p>
        </p:txBody>
      </p:sp>
      <p:cxnSp>
        <p:nvCxnSpPr>
          <p:cNvPr id="28" name="直接箭头连接符 27">
            <a:extLst>
              <a:ext uri="{FF2B5EF4-FFF2-40B4-BE49-F238E27FC236}">
                <a16:creationId xmlns:a16="http://schemas.microsoft.com/office/drawing/2014/main" id="{3FFC5B11-C767-4AE2-9CC8-47C18028B790}"/>
              </a:ext>
            </a:extLst>
          </p:cNvPr>
          <p:cNvCxnSpPr>
            <a:cxnSpLocks/>
            <a:endCxn id="17" idx="1"/>
          </p:cNvCxnSpPr>
          <p:nvPr/>
        </p:nvCxnSpPr>
        <p:spPr>
          <a:xfrm flipV="1">
            <a:off x="1519660" y="5369930"/>
            <a:ext cx="0" cy="291947"/>
          </a:xfrm>
          <a:prstGeom prst="straightConnector1">
            <a:avLst/>
          </a:prstGeom>
          <a:ln w="28575">
            <a:solidFill>
              <a:srgbClr val="0000CC"/>
            </a:solidFill>
            <a:tailEnd type="triangle"/>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A05A18A3-D020-4024-984A-9CC45C115249}"/>
              </a:ext>
            </a:extLst>
          </p:cNvPr>
          <p:cNvSpPr txBox="1"/>
          <p:nvPr/>
        </p:nvSpPr>
        <p:spPr>
          <a:xfrm>
            <a:off x="4776183" y="5661877"/>
            <a:ext cx="2639633" cy="830997"/>
          </a:xfrm>
          <a:prstGeom prst="rect">
            <a:avLst/>
          </a:prstGeom>
          <a:noFill/>
        </p:spPr>
        <p:txBody>
          <a:bodyPr wrap="none" rtlCol="0">
            <a:spAutoFit/>
          </a:bodyPr>
          <a:lstStyle/>
          <a:p>
            <a:r>
              <a:rPr lang="zh-CN" altLang="en-US" sz="2400" dirty="0">
                <a:latin typeface="Garamond" panose="02020404030301010803" pitchFamily="18" charset="0"/>
              </a:rPr>
              <a:t>最终性检查点</a:t>
            </a:r>
            <a:endParaRPr lang="en-US" altLang="zh-CN" sz="2400" dirty="0">
              <a:latin typeface="Garamond" panose="02020404030301010803" pitchFamily="18" charset="0"/>
            </a:endParaRPr>
          </a:p>
          <a:p>
            <a:r>
              <a:rPr lang="en-US" altLang="zh-CN" sz="2400" dirty="0">
                <a:latin typeface="Garamond" panose="02020404030301010803" pitchFamily="18" charset="0"/>
              </a:rPr>
              <a:t>Finality Checkpoints</a:t>
            </a:r>
            <a:endParaRPr lang="zh-CN" altLang="en-US" sz="2400" dirty="0">
              <a:latin typeface="Garamond" panose="02020404030301010803" pitchFamily="18" charset="0"/>
            </a:endParaRPr>
          </a:p>
        </p:txBody>
      </p:sp>
      <p:cxnSp>
        <p:nvCxnSpPr>
          <p:cNvPr id="48" name="直接箭头连接符 47">
            <a:extLst>
              <a:ext uri="{FF2B5EF4-FFF2-40B4-BE49-F238E27FC236}">
                <a16:creationId xmlns:a16="http://schemas.microsoft.com/office/drawing/2014/main" id="{A234084C-6195-4416-822A-D405EF509DBE}"/>
              </a:ext>
            </a:extLst>
          </p:cNvPr>
          <p:cNvCxnSpPr>
            <a:cxnSpLocks/>
          </p:cNvCxnSpPr>
          <p:nvPr/>
        </p:nvCxnSpPr>
        <p:spPr>
          <a:xfrm flipV="1">
            <a:off x="5245162" y="5369930"/>
            <a:ext cx="0" cy="291947"/>
          </a:xfrm>
          <a:prstGeom prst="straightConnector1">
            <a:avLst/>
          </a:prstGeom>
          <a:ln w="28575">
            <a:solidFill>
              <a:srgbClr val="0000CC"/>
            </a:solidFill>
            <a:tailEnd type="triangle"/>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3800539F-2865-4D54-8B48-567433DB72A5}"/>
              </a:ext>
            </a:extLst>
          </p:cNvPr>
          <p:cNvSpPr txBox="1"/>
          <p:nvPr/>
        </p:nvSpPr>
        <p:spPr>
          <a:xfrm>
            <a:off x="8216352" y="5661877"/>
            <a:ext cx="2639633" cy="830997"/>
          </a:xfrm>
          <a:prstGeom prst="rect">
            <a:avLst/>
          </a:prstGeom>
          <a:noFill/>
        </p:spPr>
        <p:txBody>
          <a:bodyPr wrap="none" rtlCol="0">
            <a:spAutoFit/>
          </a:bodyPr>
          <a:lstStyle/>
          <a:p>
            <a:r>
              <a:rPr lang="zh-CN" altLang="en-US" sz="2400" dirty="0">
                <a:latin typeface="Garamond" panose="02020404030301010803" pitchFamily="18" charset="0"/>
              </a:rPr>
              <a:t>最终性检查点</a:t>
            </a:r>
            <a:endParaRPr lang="en-US" altLang="zh-CN" sz="2400" dirty="0">
              <a:latin typeface="Garamond" panose="02020404030301010803" pitchFamily="18" charset="0"/>
            </a:endParaRPr>
          </a:p>
          <a:p>
            <a:r>
              <a:rPr lang="en-US" altLang="zh-CN" sz="2400" dirty="0">
                <a:latin typeface="Garamond" panose="02020404030301010803" pitchFamily="18" charset="0"/>
              </a:rPr>
              <a:t>Finality Checkpoints</a:t>
            </a:r>
            <a:endParaRPr lang="zh-CN" altLang="en-US" sz="2400" dirty="0">
              <a:latin typeface="Garamond" panose="02020404030301010803" pitchFamily="18" charset="0"/>
            </a:endParaRPr>
          </a:p>
        </p:txBody>
      </p:sp>
      <p:cxnSp>
        <p:nvCxnSpPr>
          <p:cNvPr id="53" name="直接箭头连接符 52">
            <a:extLst>
              <a:ext uri="{FF2B5EF4-FFF2-40B4-BE49-F238E27FC236}">
                <a16:creationId xmlns:a16="http://schemas.microsoft.com/office/drawing/2014/main" id="{85120A9F-02F0-409B-89BC-1929D4096B61}"/>
              </a:ext>
            </a:extLst>
          </p:cNvPr>
          <p:cNvCxnSpPr>
            <a:cxnSpLocks/>
          </p:cNvCxnSpPr>
          <p:nvPr/>
        </p:nvCxnSpPr>
        <p:spPr>
          <a:xfrm flipV="1">
            <a:off x="8685331" y="5369930"/>
            <a:ext cx="0" cy="291947"/>
          </a:xfrm>
          <a:prstGeom prst="straightConnector1">
            <a:avLst/>
          </a:prstGeom>
          <a:ln w="28575">
            <a:solidFill>
              <a:srgbClr val="0000CC"/>
            </a:solidFill>
            <a:tailEnd type="triangle"/>
          </a:ln>
        </p:spPr>
        <p:style>
          <a:lnRef idx="1">
            <a:schemeClr val="accent1"/>
          </a:lnRef>
          <a:fillRef idx="0">
            <a:schemeClr val="accent1"/>
          </a:fillRef>
          <a:effectRef idx="0">
            <a:schemeClr val="accent1"/>
          </a:effectRef>
          <a:fontRef idx="minor">
            <a:schemeClr val="tx1"/>
          </a:fontRef>
        </p:style>
      </p:cxnSp>
      <p:sp>
        <p:nvSpPr>
          <p:cNvPr id="30" name="椭圆 29">
            <a:extLst>
              <a:ext uri="{FF2B5EF4-FFF2-40B4-BE49-F238E27FC236}">
                <a16:creationId xmlns:a16="http://schemas.microsoft.com/office/drawing/2014/main" id="{0DE396AE-1D6D-4835-9270-6CAFB6EEC7B1}"/>
              </a:ext>
            </a:extLst>
          </p:cNvPr>
          <p:cNvSpPr/>
          <p:nvPr/>
        </p:nvSpPr>
        <p:spPr>
          <a:xfrm>
            <a:off x="1185735" y="3784060"/>
            <a:ext cx="3276772" cy="461665"/>
          </a:xfrm>
          <a:prstGeom prst="ellipse">
            <a:avLst/>
          </a:prstGeom>
          <a:noFill/>
          <a:ln>
            <a:solidFill>
              <a:srgbClr val="0081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11F8F536-D257-4B61-BD9F-5537199D5FF4}"/>
              </a:ext>
            </a:extLst>
          </p:cNvPr>
          <p:cNvSpPr txBox="1"/>
          <p:nvPr/>
        </p:nvSpPr>
        <p:spPr>
          <a:xfrm>
            <a:off x="1185737" y="3790985"/>
            <a:ext cx="3276771" cy="461665"/>
          </a:xfrm>
          <a:prstGeom prst="rect">
            <a:avLst/>
          </a:prstGeom>
          <a:noFill/>
        </p:spPr>
        <p:txBody>
          <a:bodyPr wrap="square" rtlCol="0">
            <a:spAutoFit/>
          </a:bodyPr>
          <a:lstStyle/>
          <a:p>
            <a:pPr algn="ctr"/>
            <a:r>
              <a:rPr lang="en-US" altLang="zh-CN" sz="2400" b="1" dirty="0">
                <a:solidFill>
                  <a:srgbClr val="FF0000"/>
                </a:solidFill>
                <a:latin typeface="Garamond" panose="02020404030301010803" pitchFamily="18" charset="0"/>
              </a:rPr>
              <a:t>All</a:t>
            </a:r>
            <a:r>
              <a:rPr lang="en-US" altLang="zh-CN" sz="2400" dirty="0">
                <a:latin typeface="Garamond" panose="02020404030301010803" pitchFamily="18" charset="0"/>
              </a:rPr>
              <a:t> Validators</a:t>
            </a:r>
            <a:endParaRPr lang="zh-CN" altLang="en-US" sz="2400" dirty="0">
              <a:latin typeface="Garamond" panose="02020404030301010803" pitchFamily="18" charset="0"/>
            </a:endParaRPr>
          </a:p>
        </p:txBody>
      </p:sp>
      <p:cxnSp>
        <p:nvCxnSpPr>
          <p:cNvPr id="42" name="直接箭头连接符 41">
            <a:extLst>
              <a:ext uri="{FF2B5EF4-FFF2-40B4-BE49-F238E27FC236}">
                <a16:creationId xmlns:a16="http://schemas.microsoft.com/office/drawing/2014/main" id="{FB86F8A6-BC68-4D11-A2D3-E52F9C4BD4D2}"/>
              </a:ext>
            </a:extLst>
          </p:cNvPr>
          <p:cNvCxnSpPr>
            <a:stCxn id="54" idx="2"/>
            <a:endCxn id="17" idx="3"/>
          </p:cNvCxnSpPr>
          <p:nvPr/>
        </p:nvCxnSpPr>
        <p:spPr>
          <a:xfrm flipH="1">
            <a:off x="1519660" y="4252650"/>
            <a:ext cx="1304463" cy="449434"/>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7" name="椭圆 56">
            <a:extLst>
              <a:ext uri="{FF2B5EF4-FFF2-40B4-BE49-F238E27FC236}">
                <a16:creationId xmlns:a16="http://schemas.microsoft.com/office/drawing/2014/main" id="{DA81ABA0-2787-4A81-9C37-F09E70AA82D3}"/>
              </a:ext>
            </a:extLst>
          </p:cNvPr>
          <p:cNvSpPr/>
          <p:nvPr/>
        </p:nvSpPr>
        <p:spPr>
          <a:xfrm>
            <a:off x="4830458" y="3789405"/>
            <a:ext cx="3276772" cy="461665"/>
          </a:xfrm>
          <a:prstGeom prst="ellipse">
            <a:avLst/>
          </a:prstGeom>
          <a:noFill/>
          <a:ln>
            <a:solidFill>
              <a:srgbClr val="0081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 name="文本框 57">
            <a:extLst>
              <a:ext uri="{FF2B5EF4-FFF2-40B4-BE49-F238E27FC236}">
                <a16:creationId xmlns:a16="http://schemas.microsoft.com/office/drawing/2014/main" id="{D3712EA6-D970-41E0-897F-C53A18C86E26}"/>
              </a:ext>
            </a:extLst>
          </p:cNvPr>
          <p:cNvSpPr txBox="1"/>
          <p:nvPr/>
        </p:nvSpPr>
        <p:spPr>
          <a:xfrm>
            <a:off x="4830460" y="3796330"/>
            <a:ext cx="3276771" cy="461665"/>
          </a:xfrm>
          <a:prstGeom prst="rect">
            <a:avLst/>
          </a:prstGeom>
          <a:noFill/>
        </p:spPr>
        <p:txBody>
          <a:bodyPr wrap="square" rtlCol="0">
            <a:spAutoFit/>
          </a:bodyPr>
          <a:lstStyle/>
          <a:p>
            <a:pPr algn="ctr"/>
            <a:r>
              <a:rPr lang="en-US" altLang="zh-CN" sz="2400" b="1" dirty="0">
                <a:solidFill>
                  <a:srgbClr val="FF0000"/>
                </a:solidFill>
                <a:latin typeface="Garamond" panose="02020404030301010803" pitchFamily="18" charset="0"/>
              </a:rPr>
              <a:t>All</a:t>
            </a:r>
            <a:r>
              <a:rPr lang="en-US" altLang="zh-CN" sz="2400" dirty="0">
                <a:latin typeface="Garamond" panose="02020404030301010803" pitchFamily="18" charset="0"/>
              </a:rPr>
              <a:t> Validators</a:t>
            </a:r>
            <a:endParaRPr lang="zh-CN" altLang="en-US" sz="2400" dirty="0">
              <a:latin typeface="Garamond" panose="02020404030301010803" pitchFamily="18" charset="0"/>
            </a:endParaRPr>
          </a:p>
        </p:txBody>
      </p:sp>
      <p:cxnSp>
        <p:nvCxnSpPr>
          <p:cNvPr id="59" name="直接箭头连接符 58">
            <a:extLst>
              <a:ext uri="{FF2B5EF4-FFF2-40B4-BE49-F238E27FC236}">
                <a16:creationId xmlns:a16="http://schemas.microsoft.com/office/drawing/2014/main" id="{3EA436FA-8869-48A0-B4F4-9508F6C8478A}"/>
              </a:ext>
            </a:extLst>
          </p:cNvPr>
          <p:cNvCxnSpPr>
            <a:stCxn id="58" idx="2"/>
          </p:cNvCxnSpPr>
          <p:nvPr/>
        </p:nvCxnSpPr>
        <p:spPr>
          <a:xfrm flipH="1">
            <a:off x="5164383" y="4257995"/>
            <a:ext cx="1304463" cy="449434"/>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0" name="椭圆 59">
            <a:extLst>
              <a:ext uri="{FF2B5EF4-FFF2-40B4-BE49-F238E27FC236}">
                <a16:creationId xmlns:a16="http://schemas.microsoft.com/office/drawing/2014/main" id="{F013F33E-8801-4174-AAF4-66C8187AE125}"/>
              </a:ext>
            </a:extLst>
          </p:cNvPr>
          <p:cNvSpPr/>
          <p:nvPr/>
        </p:nvSpPr>
        <p:spPr>
          <a:xfrm>
            <a:off x="8300997" y="3789405"/>
            <a:ext cx="3276772" cy="461665"/>
          </a:xfrm>
          <a:prstGeom prst="ellipse">
            <a:avLst/>
          </a:prstGeom>
          <a:noFill/>
          <a:ln>
            <a:solidFill>
              <a:srgbClr val="0081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 name="文本框 60">
            <a:extLst>
              <a:ext uri="{FF2B5EF4-FFF2-40B4-BE49-F238E27FC236}">
                <a16:creationId xmlns:a16="http://schemas.microsoft.com/office/drawing/2014/main" id="{DBF8388C-EA0F-4F40-8CB0-106B29A596E9}"/>
              </a:ext>
            </a:extLst>
          </p:cNvPr>
          <p:cNvSpPr txBox="1"/>
          <p:nvPr/>
        </p:nvSpPr>
        <p:spPr>
          <a:xfrm>
            <a:off x="8300999" y="3796330"/>
            <a:ext cx="3276771" cy="461665"/>
          </a:xfrm>
          <a:prstGeom prst="rect">
            <a:avLst/>
          </a:prstGeom>
          <a:noFill/>
        </p:spPr>
        <p:txBody>
          <a:bodyPr wrap="square" rtlCol="0">
            <a:spAutoFit/>
          </a:bodyPr>
          <a:lstStyle/>
          <a:p>
            <a:pPr algn="ctr"/>
            <a:r>
              <a:rPr lang="en-US" altLang="zh-CN" sz="2400" b="1" dirty="0">
                <a:solidFill>
                  <a:srgbClr val="FF0000"/>
                </a:solidFill>
                <a:latin typeface="Garamond" panose="02020404030301010803" pitchFamily="18" charset="0"/>
              </a:rPr>
              <a:t>All</a:t>
            </a:r>
            <a:r>
              <a:rPr lang="en-US" altLang="zh-CN" sz="2400" dirty="0">
                <a:latin typeface="Garamond" panose="02020404030301010803" pitchFamily="18" charset="0"/>
              </a:rPr>
              <a:t> Validators</a:t>
            </a:r>
            <a:endParaRPr lang="zh-CN" altLang="en-US" sz="2400" dirty="0">
              <a:latin typeface="Garamond" panose="02020404030301010803" pitchFamily="18" charset="0"/>
            </a:endParaRPr>
          </a:p>
        </p:txBody>
      </p:sp>
      <p:cxnSp>
        <p:nvCxnSpPr>
          <p:cNvPr id="62" name="直接箭头连接符 61">
            <a:extLst>
              <a:ext uri="{FF2B5EF4-FFF2-40B4-BE49-F238E27FC236}">
                <a16:creationId xmlns:a16="http://schemas.microsoft.com/office/drawing/2014/main" id="{B9D62133-E238-4905-9977-80C5A770CD72}"/>
              </a:ext>
            </a:extLst>
          </p:cNvPr>
          <p:cNvCxnSpPr>
            <a:stCxn id="61" idx="2"/>
          </p:cNvCxnSpPr>
          <p:nvPr/>
        </p:nvCxnSpPr>
        <p:spPr>
          <a:xfrm flipH="1">
            <a:off x="8634922" y="4257995"/>
            <a:ext cx="1304463" cy="449434"/>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480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以太坊共识机制</a:t>
            </a:r>
            <a:r>
              <a:rPr lang="en-US" altLang="zh-CN" dirty="0">
                <a:latin typeface="Garamond" panose="02020404030301010803" pitchFamily="18" charset="0"/>
              </a:rPr>
              <a:t>Casper FFG</a:t>
            </a:r>
            <a:endParaRPr kumimoji="1" lang="zh-CN" altLang="en-US" dirty="0"/>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12</a:t>
            </a:fld>
            <a:endParaRPr kumimoji="1" lang="zh-CN" altLang="en-US" dirty="0"/>
          </a:p>
        </p:txBody>
      </p:sp>
      <p:sp>
        <p:nvSpPr>
          <p:cNvPr id="17" name="矩形 16">
            <a:extLst>
              <a:ext uri="{FF2B5EF4-FFF2-40B4-BE49-F238E27FC236}">
                <a16:creationId xmlns:a16="http://schemas.microsoft.com/office/drawing/2014/main" id="{F175EE56-1974-4D52-9E08-086A7B4085D5}"/>
              </a:ext>
            </a:extLst>
          </p:cNvPr>
          <p:cNvSpPr/>
          <p:nvPr/>
        </p:nvSpPr>
        <p:spPr>
          <a:xfrm rot="16200000">
            <a:off x="1185737" y="4702084"/>
            <a:ext cx="667846" cy="667846"/>
          </a:xfrm>
          <a:prstGeom prst="rect">
            <a:avLst/>
          </a:prstGeom>
          <a:solidFill>
            <a:srgbClr val="0000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a:extLst>
              <a:ext uri="{FF2B5EF4-FFF2-40B4-BE49-F238E27FC236}">
                <a16:creationId xmlns:a16="http://schemas.microsoft.com/office/drawing/2014/main" id="{9E9A6117-9A65-45A6-9FB2-1C5EF0B99D05}"/>
              </a:ext>
            </a:extLst>
          </p:cNvPr>
          <p:cNvCxnSpPr>
            <a:cxnSpLocks/>
          </p:cNvCxnSpPr>
          <p:nvPr/>
        </p:nvCxnSpPr>
        <p:spPr>
          <a:xfrm rot="16200000">
            <a:off x="-392153" y="5036007"/>
            <a:ext cx="2752188" cy="0"/>
          </a:xfrm>
          <a:prstGeom prst="line">
            <a:avLst/>
          </a:prstGeom>
          <a:ln w="19050">
            <a:solidFill>
              <a:srgbClr val="EE6C4D"/>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9CAB2F8C-B15A-476C-B177-C31E2702498A}"/>
              </a:ext>
            </a:extLst>
          </p:cNvPr>
          <p:cNvSpPr/>
          <p:nvPr/>
        </p:nvSpPr>
        <p:spPr>
          <a:xfrm rot="16200000">
            <a:off x="2074597" y="4702084"/>
            <a:ext cx="667846" cy="6678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9A7BB3F4-6FAA-40E7-B8B9-766605CA33E6}"/>
              </a:ext>
            </a:extLst>
          </p:cNvPr>
          <p:cNvSpPr/>
          <p:nvPr/>
        </p:nvSpPr>
        <p:spPr>
          <a:xfrm rot="16200000">
            <a:off x="3794662" y="4702084"/>
            <a:ext cx="667846" cy="6678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a:extLst>
              <a:ext uri="{FF2B5EF4-FFF2-40B4-BE49-F238E27FC236}">
                <a16:creationId xmlns:a16="http://schemas.microsoft.com/office/drawing/2014/main" id="{FB22B130-35B1-4422-B941-441E524FEDA7}"/>
              </a:ext>
            </a:extLst>
          </p:cNvPr>
          <p:cNvCxnSpPr>
            <a:cxnSpLocks/>
          </p:cNvCxnSpPr>
          <p:nvPr/>
        </p:nvCxnSpPr>
        <p:spPr>
          <a:xfrm rot="16200000">
            <a:off x="3288206" y="5036007"/>
            <a:ext cx="2752188" cy="0"/>
          </a:xfrm>
          <a:prstGeom prst="line">
            <a:avLst/>
          </a:prstGeom>
          <a:ln w="19050">
            <a:solidFill>
              <a:srgbClr val="EE6C4D"/>
            </a:solidFill>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DA688818-9031-45F2-9DFC-B1A2BA97A33E}"/>
              </a:ext>
            </a:extLst>
          </p:cNvPr>
          <p:cNvSpPr/>
          <p:nvPr/>
        </p:nvSpPr>
        <p:spPr>
          <a:xfrm rot="16200000">
            <a:off x="4904489" y="4702084"/>
            <a:ext cx="667846" cy="667846"/>
          </a:xfrm>
          <a:prstGeom prst="rect">
            <a:avLst/>
          </a:prstGeom>
          <a:solidFill>
            <a:srgbClr val="0000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00CEB11A-FCED-4581-867D-DBB298292DF7}"/>
              </a:ext>
            </a:extLst>
          </p:cNvPr>
          <p:cNvSpPr txBox="1"/>
          <p:nvPr/>
        </p:nvSpPr>
        <p:spPr>
          <a:xfrm rot="16200000">
            <a:off x="2924184" y="4851657"/>
            <a:ext cx="669516" cy="368700"/>
          </a:xfrm>
          <a:prstGeom prst="rect">
            <a:avLst/>
          </a:prstGeom>
          <a:noFill/>
        </p:spPr>
        <p:txBody>
          <a:bodyPr vert="eaVert" wrap="none" rtlCol="0">
            <a:spAutoFit/>
          </a:bodyPr>
          <a:lstStyle/>
          <a:p>
            <a:r>
              <a:rPr lang="en-US" altLang="zh-CN" dirty="0"/>
              <a:t>…</a:t>
            </a:r>
            <a:endParaRPr lang="zh-CN" altLang="en-US" dirty="0"/>
          </a:p>
        </p:txBody>
      </p:sp>
      <p:sp>
        <p:nvSpPr>
          <p:cNvPr id="24" name="矩形 23">
            <a:extLst>
              <a:ext uri="{FF2B5EF4-FFF2-40B4-BE49-F238E27FC236}">
                <a16:creationId xmlns:a16="http://schemas.microsoft.com/office/drawing/2014/main" id="{E949BE7A-2752-42DF-89FA-71D03619C7C8}"/>
              </a:ext>
            </a:extLst>
          </p:cNvPr>
          <p:cNvSpPr/>
          <p:nvPr/>
        </p:nvSpPr>
        <p:spPr>
          <a:xfrm rot="16200000">
            <a:off x="5786089" y="4702084"/>
            <a:ext cx="667846" cy="6678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696FB1BC-F28B-44F2-BD80-D014DDA5D6F3}"/>
              </a:ext>
            </a:extLst>
          </p:cNvPr>
          <p:cNvSpPr txBox="1"/>
          <p:nvPr/>
        </p:nvSpPr>
        <p:spPr>
          <a:xfrm rot="16200000">
            <a:off x="6448970" y="4851657"/>
            <a:ext cx="669516" cy="368700"/>
          </a:xfrm>
          <a:prstGeom prst="rect">
            <a:avLst/>
          </a:prstGeom>
          <a:noFill/>
        </p:spPr>
        <p:txBody>
          <a:bodyPr vert="eaVert" wrap="none" rtlCol="0">
            <a:spAutoFit/>
          </a:bodyPr>
          <a:lstStyle/>
          <a:p>
            <a:r>
              <a:rPr lang="en-US" altLang="zh-CN" dirty="0"/>
              <a:t>…</a:t>
            </a:r>
            <a:endParaRPr lang="zh-CN" altLang="en-US" dirty="0"/>
          </a:p>
        </p:txBody>
      </p:sp>
      <p:sp>
        <p:nvSpPr>
          <p:cNvPr id="26" name="矩形 25">
            <a:extLst>
              <a:ext uri="{FF2B5EF4-FFF2-40B4-BE49-F238E27FC236}">
                <a16:creationId xmlns:a16="http://schemas.microsoft.com/office/drawing/2014/main" id="{D5AC4D9E-0772-46D1-977D-69C3C6D07BE1}"/>
              </a:ext>
            </a:extLst>
          </p:cNvPr>
          <p:cNvSpPr/>
          <p:nvPr/>
        </p:nvSpPr>
        <p:spPr>
          <a:xfrm rot="16200000">
            <a:off x="7173488" y="4702084"/>
            <a:ext cx="667846" cy="6678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连接符 26">
            <a:extLst>
              <a:ext uri="{FF2B5EF4-FFF2-40B4-BE49-F238E27FC236}">
                <a16:creationId xmlns:a16="http://schemas.microsoft.com/office/drawing/2014/main" id="{3213A08C-67A0-4857-B58E-915A89FF29E8}"/>
              </a:ext>
            </a:extLst>
          </p:cNvPr>
          <p:cNvCxnSpPr>
            <a:cxnSpLocks/>
          </p:cNvCxnSpPr>
          <p:nvPr/>
        </p:nvCxnSpPr>
        <p:spPr>
          <a:xfrm rot="16200000">
            <a:off x="6731137" y="5036007"/>
            <a:ext cx="2752188" cy="0"/>
          </a:xfrm>
          <a:prstGeom prst="line">
            <a:avLst/>
          </a:prstGeom>
          <a:ln w="19050">
            <a:solidFill>
              <a:srgbClr val="EE6C4D"/>
            </a:solidFill>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1EDD2D5C-8F6A-47A2-9DAE-C82E84B90DB0}"/>
              </a:ext>
            </a:extLst>
          </p:cNvPr>
          <p:cNvSpPr/>
          <p:nvPr/>
        </p:nvSpPr>
        <p:spPr>
          <a:xfrm rot="16200000">
            <a:off x="8344659" y="4702919"/>
            <a:ext cx="667846" cy="667846"/>
          </a:xfrm>
          <a:prstGeom prst="rect">
            <a:avLst/>
          </a:prstGeom>
          <a:solidFill>
            <a:srgbClr val="0000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D35A66C6-9DE0-4DD9-916E-80FAE7C2A146}"/>
              </a:ext>
            </a:extLst>
          </p:cNvPr>
          <p:cNvSpPr/>
          <p:nvPr/>
        </p:nvSpPr>
        <p:spPr>
          <a:xfrm rot="16200000">
            <a:off x="9226259" y="4702919"/>
            <a:ext cx="667846" cy="6678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911BDBAA-67B3-4506-AE33-79355F39BC16}"/>
              </a:ext>
            </a:extLst>
          </p:cNvPr>
          <p:cNvSpPr txBox="1"/>
          <p:nvPr/>
        </p:nvSpPr>
        <p:spPr>
          <a:xfrm rot="16200000">
            <a:off x="9889140" y="4852492"/>
            <a:ext cx="669516" cy="368700"/>
          </a:xfrm>
          <a:prstGeom prst="rect">
            <a:avLst/>
          </a:prstGeom>
          <a:noFill/>
        </p:spPr>
        <p:txBody>
          <a:bodyPr vert="eaVert" wrap="none" rtlCol="0">
            <a:spAutoFit/>
          </a:bodyPr>
          <a:lstStyle/>
          <a:p>
            <a:r>
              <a:rPr lang="en-US" altLang="zh-CN" dirty="0"/>
              <a:t>…</a:t>
            </a:r>
            <a:endParaRPr lang="zh-CN" altLang="en-US" dirty="0"/>
          </a:p>
        </p:txBody>
      </p:sp>
      <p:sp>
        <p:nvSpPr>
          <p:cNvPr id="35" name="矩形 34">
            <a:extLst>
              <a:ext uri="{FF2B5EF4-FFF2-40B4-BE49-F238E27FC236}">
                <a16:creationId xmlns:a16="http://schemas.microsoft.com/office/drawing/2014/main" id="{6E93BF3F-7DAF-4B5E-8365-5A6F01AF6531}"/>
              </a:ext>
            </a:extLst>
          </p:cNvPr>
          <p:cNvSpPr/>
          <p:nvPr/>
        </p:nvSpPr>
        <p:spPr>
          <a:xfrm rot="16200000">
            <a:off x="10613658" y="4702919"/>
            <a:ext cx="667846" cy="6678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连接符 35">
            <a:extLst>
              <a:ext uri="{FF2B5EF4-FFF2-40B4-BE49-F238E27FC236}">
                <a16:creationId xmlns:a16="http://schemas.microsoft.com/office/drawing/2014/main" id="{1F45F032-91F3-4EC1-BC98-EE1528B8C797}"/>
              </a:ext>
            </a:extLst>
          </p:cNvPr>
          <p:cNvCxnSpPr>
            <a:cxnSpLocks/>
          </p:cNvCxnSpPr>
          <p:nvPr/>
        </p:nvCxnSpPr>
        <p:spPr>
          <a:xfrm rot="16200000">
            <a:off x="10171307" y="5036842"/>
            <a:ext cx="2752188" cy="0"/>
          </a:xfrm>
          <a:prstGeom prst="line">
            <a:avLst/>
          </a:prstGeom>
          <a:ln w="19050">
            <a:solidFill>
              <a:srgbClr val="EE6C4D"/>
            </a:solidFill>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FB75FDF7-49C9-4D38-9B51-A699A3B86B74}"/>
              </a:ext>
            </a:extLst>
          </p:cNvPr>
          <p:cNvSpPr txBox="1"/>
          <p:nvPr/>
        </p:nvSpPr>
        <p:spPr>
          <a:xfrm>
            <a:off x="212351" y="3198087"/>
            <a:ext cx="1543179" cy="461665"/>
          </a:xfrm>
          <a:prstGeom prst="rect">
            <a:avLst/>
          </a:prstGeom>
          <a:noFill/>
        </p:spPr>
        <p:txBody>
          <a:bodyPr wrap="none" rtlCol="0">
            <a:spAutoFit/>
          </a:bodyPr>
          <a:lstStyle/>
          <a:p>
            <a:r>
              <a:rPr lang="en-US" altLang="zh-CN" sz="2400" dirty="0">
                <a:latin typeface="Garamond" panose="02020404030301010803" pitchFamily="18" charset="0"/>
              </a:rPr>
              <a:t>Epoch t - 1</a:t>
            </a:r>
            <a:endParaRPr lang="zh-CN" altLang="en-US" sz="2400" dirty="0">
              <a:latin typeface="Garamond" panose="02020404030301010803" pitchFamily="18" charset="0"/>
            </a:endParaRPr>
          </a:p>
        </p:txBody>
      </p:sp>
      <p:sp>
        <p:nvSpPr>
          <p:cNvPr id="38" name="文本框 37">
            <a:extLst>
              <a:ext uri="{FF2B5EF4-FFF2-40B4-BE49-F238E27FC236}">
                <a16:creationId xmlns:a16="http://schemas.microsoft.com/office/drawing/2014/main" id="{D3D2124C-475C-4955-8AD4-5FB24B2B8496}"/>
              </a:ext>
            </a:extLst>
          </p:cNvPr>
          <p:cNvSpPr txBox="1"/>
          <p:nvPr/>
        </p:nvSpPr>
        <p:spPr>
          <a:xfrm>
            <a:off x="4046858" y="3198086"/>
            <a:ext cx="1148841" cy="461665"/>
          </a:xfrm>
          <a:prstGeom prst="rect">
            <a:avLst/>
          </a:prstGeom>
          <a:noFill/>
        </p:spPr>
        <p:txBody>
          <a:bodyPr wrap="none" rtlCol="0">
            <a:spAutoFit/>
          </a:bodyPr>
          <a:lstStyle/>
          <a:p>
            <a:r>
              <a:rPr lang="en-US" altLang="zh-CN" sz="2400" dirty="0">
                <a:latin typeface="Garamond" panose="02020404030301010803" pitchFamily="18" charset="0"/>
              </a:rPr>
              <a:t>Epoch t</a:t>
            </a:r>
            <a:endParaRPr lang="zh-CN" altLang="en-US" sz="2400" dirty="0">
              <a:latin typeface="Garamond" panose="02020404030301010803" pitchFamily="18" charset="0"/>
            </a:endParaRPr>
          </a:p>
        </p:txBody>
      </p:sp>
      <p:sp>
        <p:nvSpPr>
          <p:cNvPr id="39" name="文本框 38">
            <a:extLst>
              <a:ext uri="{FF2B5EF4-FFF2-40B4-BE49-F238E27FC236}">
                <a16:creationId xmlns:a16="http://schemas.microsoft.com/office/drawing/2014/main" id="{517CA07E-7073-4885-BCE3-182B66068520}"/>
              </a:ext>
            </a:extLst>
          </p:cNvPr>
          <p:cNvSpPr txBox="1"/>
          <p:nvPr/>
        </p:nvSpPr>
        <p:spPr>
          <a:xfrm>
            <a:off x="7278377" y="3198085"/>
            <a:ext cx="1652184" cy="461665"/>
          </a:xfrm>
          <a:prstGeom prst="rect">
            <a:avLst/>
          </a:prstGeom>
          <a:noFill/>
        </p:spPr>
        <p:txBody>
          <a:bodyPr wrap="none" rtlCol="0">
            <a:spAutoFit/>
          </a:bodyPr>
          <a:lstStyle/>
          <a:p>
            <a:r>
              <a:rPr lang="en-US" altLang="zh-CN" sz="2400" dirty="0">
                <a:latin typeface="Garamond" panose="02020404030301010803" pitchFamily="18" charset="0"/>
              </a:rPr>
              <a:t>Epoch t + 1</a:t>
            </a:r>
            <a:endParaRPr lang="zh-CN" altLang="en-US" sz="2400" dirty="0">
              <a:latin typeface="Garamond" panose="02020404030301010803" pitchFamily="18" charset="0"/>
            </a:endParaRPr>
          </a:p>
        </p:txBody>
      </p:sp>
      <p:sp>
        <p:nvSpPr>
          <p:cNvPr id="40" name="文本框 39">
            <a:extLst>
              <a:ext uri="{FF2B5EF4-FFF2-40B4-BE49-F238E27FC236}">
                <a16:creationId xmlns:a16="http://schemas.microsoft.com/office/drawing/2014/main" id="{5E0FEDBE-AA2E-4BFB-BD9C-8EB603323782}"/>
              </a:ext>
            </a:extLst>
          </p:cNvPr>
          <p:cNvSpPr txBox="1"/>
          <p:nvPr/>
        </p:nvSpPr>
        <p:spPr>
          <a:xfrm>
            <a:off x="10539816" y="3197252"/>
            <a:ext cx="1652184" cy="461665"/>
          </a:xfrm>
          <a:prstGeom prst="rect">
            <a:avLst/>
          </a:prstGeom>
          <a:noFill/>
        </p:spPr>
        <p:txBody>
          <a:bodyPr wrap="none" rtlCol="0">
            <a:spAutoFit/>
          </a:bodyPr>
          <a:lstStyle/>
          <a:p>
            <a:r>
              <a:rPr lang="en-US" altLang="zh-CN" sz="2400" dirty="0">
                <a:latin typeface="Garamond" panose="02020404030301010803" pitchFamily="18" charset="0"/>
              </a:rPr>
              <a:t>Epoch t + 2</a:t>
            </a:r>
            <a:endParaRPr lang="zh-CN" altLang="en-US" sz="2400" dirty="0">
              <a:latin typeface="Garamond" panose="02020404030301010803" pitchFamily="18" charset="0"/>
            </a:endParaRPr>
          </a:p>
        </p:txBody>
      </p:sp>
      <p:sp>
        <p:nvSpPr>
          <p:cNvPr id="41" name="文本框 40">
            <a:extLst>
              <a:ext uri="{FF2B5EF4-FFF2-40B4-BE49-F238E27FC236}">
                <a16:creationId xmlns:a16="http://schemas.microsoft.com/office/drawing/2014/main" id="{745310A4-3555-4C1B-938C-B59B4BF0AFE9}"/>
              </a:ext>
            </a:extLst>
          </p:cNvPr>
          <p:cNvSpPr txBox="1"/>
          <p:nvPr/>
        </p:nvSpPr>
        <p:spPr>
          <a:xfrm>
            <a:off x="1050681" y="5661877"/>
            <a:ext cx="2639633" cy="830997"/>
          </a:xfrm>
          <a:prstGeom prst="rect">
            <a:avLst/>
          </a:prstGeom>
          <a:noFill/>
        </p:spPr>
        <p:txBody>
          <a:bodyPr wrap="none" rtlCol="0">
            <a:spAutoFit/>
          </a:bodyPr>
          <a:lstStyle/>
          <a:p>
            <a:r>
              <a:rPr lang="zh-CN" altLang="en-US" sz="2400" dirty="0">
                <a:latin typeface="Garamond" panose="02020404030301010803" pitchFamily="18" charset="0"/>
              </a:rPr>
              <a:t>最终性检查点</a:t>
            </a:r>
            <a:endParaRPr lang="en-US" altLang="zh-CN" sz="2400" dirty="0">
              <a:latin typeface="Garamond" panose="02020404030301010803" pitchFamily="18" charset="0"/>
            </a:endParaRPr>
          </a:p>
          <a:p>
            <a:r>
              <a:rPr lang="en-US" altLang="zh-CN" sz="2400" dirty="0">
                <a:latin typeface="Garamond" panose="02020404030301010803" pitchFamily="18" charset="0"/>
              </a:rPr>
              <a:t>Finality Checkpoints</a:t>
            </a:r>
            <a:endParaRPr lang="zh-CN" altLang="en-US" sz="2400" dirty="0">
              <a:latin typeface="Garamond" panose="02020404030301010803" pitchFamily="18" charset="0"/>
            </a:endParaRPr>
          </a:p>
        </p:txBody>
      </p:sp>
      <p:cxnSp>
        <p:nvCxnSpPr>
          <p:cNvPr id="28" name="直接箭头连接符 27">
            <a:extLst>
              <a:ext uri="{FF2B5EF4-FFF2-40B4-BE49-F238E27FC236}">
                <a16:creationId xmlns:a16="http://schemas.microsoft.com/office/drawing/2014/main" id="{3FFC5B11-C767-4AE2-9CC8-47C18028B790}"/>
              </a:ext>
            </a:extLst>
          </p:cNvPr>
          <p:cNvCxnSpPr>
            <a:cxnSpLocks/>
            <a:endCxn id="17" idx="1"/>
          </p:cNvCxnSpPr>
          <p:nvPr/>
        </p:nvCxnSpPr>
        <p:spPr>
          <a:xfrm flipV="1">
            <a:off x="1519660" y="5369930"/>
            <a:ext cx="0" cy="291947"/>
          </a:xfrm>
          <a:prstGeom prst="straightConnector1">
            <a:avLst/>
          </a:prstGeom>
          <a:ln w="28575">
            <a:solidFill>
              <a:srgbClr val="0000CC"/>
            </a:solidFill>
            <a:tailEnd type="triangle"/>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A05A18A3-D020-4024-984A-9CC45C115249}"/>
              </a:ext>
            </a:extLst>
          </p:cNvPr>
          <p:cNvSpPr txBox="1"/>
          <p:nvPr/>
        </p:nvSpPr>
        <p:spPr>
          <a:xfrm>
            <a:off x="4776183" y="5661877"/>
            <a:ext cx="2639633" cy="830997"/>
          </a:xfrm>
          <a:prstGeom prst="rect">
            <a:avLst/>
          </a:prstGeom>
          <a:noFill/>
        </p:spPr>
        <p:txBody>
          <a:bodyPr wrap="none" rtlCol="0">
            <a:spAutoFit/>
          </a:bodyPr>
          <a:lstStyle/>
          <a:p>
            <a:r>
              <a:rPr lang="zh-CN" altLang="en-US" sz="2400" dirty="0">
                <a:latin typeface="Garamond" panose="02020404030301010803" pitchFamily="18" charset="0"/>
              </a:rPr>
              <a:t>最终性检查点</a:t>
            </a:r>
            <a:endParaRPr lang="en-US" altLang="zh-CN" sz="2400" dirty="0">
              <a:latin typeface="Garamond" panose="02020404030301010803" pitchFamily="18" charset="0"/>
            </a:endParaRPr>
          </a:p>
          <a:p>
            <a:r>
              <a:rPr lang="en-US" altLang="zh-CN" sz="2400" dirty="0">
                <a:latin typeface="Garamond" panose="02020404030301010803" pitchFamily="18" charset="0"/>
              </a:rPr>
              <a:t>Finality Checkpoints</a:t>
            </a:r>
            <a:endParaRPr lang="zh-CN" altLang="en-US" sz="2400" dirty="0">
              <a:latin typeface="Garamond" panose="02020404030301010803" pitchFamily="18" charset="0"/>
            </a:endParaRPr>
          </a:p>
        </p:txBody>
      </p:sp>
      <p:cxnSp>
        <p:nvCxnSpPr>
          <p:cNvPr id="48" name="直接箭头连接符 47">
            <a:extLst>
              <a:ext uri="{FF2B5EF4-FFF2-40B4-BE49-F238E27FC236}">
                <a16:creationId xmlns:a16="http://schemas.microsoft.com/office/drawing/2014/main" id="{A234084C-6195-4416-822A-D405EF509DBE}"/>
              </a:ext>
            </a:extLst>
          </p:cNvPr>
          <p:cNvCxnSpPr>
            <a:cxnSpLocks/>
          </p:cNvCxnSpPr>
          <p:nvPr/>
        </p:nvCxnSpPr>
        <p:spPr>
          <a:xfrm flipV="1">
            <a:off x="5245162" y="5369930"/>
            <a:ext cx="0" cy="291947"/>
          </a:xfrm>
          <a:prstGeom prst="straightConnector1">
            <a:avLst/>
          </a:prstGeom>
          <a:ln w="28575">
            <a:solidFill>
              <a:srgbClr val="0000CC"/>
            </a:solidFill>
            <a:tailEnd type="triangle"/>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3800539F-2865-4D54-8B48-567433DB72A5}"/>
              </a:ext>
            </a:extLst>
          </p:cNvPr>
          <p:cNvSpPr txBox="1"/>
          <p:nvPr/>
        </p:nvSpPr>
        <p:spPr>
          <a:xfrm>
            <a:off x="8216352" y="5661877"/>
            <a:ext cx="2639633" cy="830997"/>
          </a:xfrm>
          <a:prstGeom prst="rect">
            <a:avLst/>
          </a:prstGeom>
          <a:noFill/>
        </p:spPr>
        <p:txBody>
          <a:bodyPr wrap="none" rtlCol="0">
            <a:spAutoFit/>
          </a:bodyPr>
          <a:lstStyle/>
          <a:p>
            <a:r>
              <a:rPr lang="zh-CN" altLang="en-US" sz="2400" dirty="0">
                <a:latin typeface="Garamond" panose="02020404030301010803" pitchFamily="18" charset="0"/>
              </a:rPr>
              <a:t>最终性检查点</a:t>
            </a:r>
            <a:endParaRPr lang="en-US" altLang="zh-CN" sz="2400" dirty="0">
              <a:latin typeface="Garamond" panose="02020404030301010803" pitchFamily="18" charset="0"/>
            </a:endParaRPr>
          </a:p>
          <a:p>
            <a:r>
              <a:rPr lang="en-US" altLang="zh-CN" sz="2400" dirty="0">
                <a:latin typeface="Garamond" panose="02020404030301010803" pitchFamily="18" charset="0"/>
              </a:rPr>
              <a:t>Finality Checkpoints</a:t>
            </a:r>
            <a:endParaRPr lang="zh-CN" altLang="en-US" sz="2400" dirty="0">
              <a:latin typeface="Garamond" panose="02020404030301010803" pitchFamily="18" charset="0"/>
            </a:endParaRPr>
          </a:p>
        </p:txBody>
      </p:sp>
      <p:cxnSp>
        <p:nvCxnSpPr>
          <p:cNvPr id="53" name="直接箭头连接符 52">
            <a:extLst>
              <a:ext uri="{FF2B5EF4-FFF2-40B4-BE49-F238E27FC236}">
                <a16:creationId xmlns:a16="http://schemas.microsoft.com/office/drawing/2014/main" id="{85120A9F-02F0-409B-89BC-1929D4096B61}"/>
              </a:ext>
            </a:extLst>
          </p:cNvPr>
          <p:cNvCxnSpPr>
            <a:cxnSpLocks/>
          </p:cNvCxnSpPr>
          <p:nvPr/>
        </p:nvCxnSpPr>
        <p:spPr>
          <a:xfrm flipV="1">
            <a:off x="8685331" y="5369930"/>
            <a:ext cx="0" cy="291947"/>
          </a:xfrm>
          <a:prstGeom prst="straightConnector1">
            <a:avLst/>
          </a:prstGeom>
          <a:ln w="28575">
            <a:solidFill>
              <a:srgbClr val="0000CC"/>
            </a:solidFill>
            <a:tailEnd type="triangle"/>
          </a:ln>
        </p:spPr>
        <p:style>
          <a:lnRef idx="1">
            <a:schemeClr val="accent1"/>
          </a:lnRef>
          <a:fillRef idx="0">
            <a:schemeClr val="accent1"/>
          </a:fillRef>
          <a:effectRef idx="0">
            <a:schemeClr val="accent1"/>
          </a:effectRef>
          <a:fontRef idx="minor">
            <a:schemeClr val="tx1"/>
          </a:fontRef>
        </p:style>
      </p:cxnSp>
      <p:sp>
        <p:nvSpPr>
          <p:cNvPr id="60" name="椭圆 59">
            <a:extLst>
              <a:ext uri="{FF2B5EF4-FFF2-40B4-BE49-F238E27FC236}">
                <a16:creationId xmlns:a16="http://schemas.microsoft.com/office/drawing/2014/main" id="{F013F33E-8801-4174-AAF4-66C8187AE125}"/>
              </a:ext>
            </a:extLst>
          </p:cNvPr>
          <p:cNvSpPr/>
          <p:nvPr/>
        </p:nvSpPr>
        <p:spPr>
          <a:xfrm>
            <a:off x="8901429" y="1434935"/>
            <a:ext cx="3276772" cy="461665"/>
          </a:xfrm>
          <a:prstGeom prst="ellipse">
            <a:avLst/>
          </a:prstGeom>
          <a:noFill/>
          <a:ln>
            <a:solidFill>
              <a:srgbClr val="0081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 name="文本框 60">
            <a:extLst>
              <a:ext uri="{FF2B5EF4-FFF2-40B4-BE49-F238E27FC236}">
                <a16:creationId xmlns:a16="http://schemas.microsoft.com/office/drawing/2014/main" id="{DBF8388C-EA0F-4F40-8CB0-106B29A596E9}"/>
              </a:ext>
            </a:extLst>
          </p:cNvPr>
          <p:cNvSpPr txBox="1"/>
          <p:nvPr/>
        </p:nvSpPr>
        <p:spPr>
          <a:xfrm>
            <a:off x="8901430" y="1436766"/>
            <a:ext cx="3276771" cy="461665"/>
          </a:xfrm>
          <a:prstGeom prst="rect">
            <a:avLst/>
          </a:prstGeom>
          <a:noFill/>
        </p:spPr>
        <p:txBody>
          <a:bodyPr wrap="square" rtlCol="0">
            <a:spAutoFit/>
          </a:bodyPr>
          <a:lstStyle/>
          <a:p>
            <a:pPr algn="ctr"/>
            <a:r>
              <a:rPr lang="en-US" altLang="zh-CN" sz="2400" b="1" dirty="0">
                <a:solidFill>
                  <a:srgbClr val="FF0000"/>
                </a:solidFill>
                <a:latin typeface="Garamond" panose="02020404030301010803" pitchFamily="18" charset="0"/>
              </a:rPr>
              <a:t>All</a:t>
            </a:r>
            <a:r>
              <a:rPr lang="en-US" altLang="zh-CN" sz="2400" dirty="0">
                <a:latin typeface="Garamond" panose="02020404030301010803" pitchFamily="18" charset="0"/>
              </a:rPr>
              <a:t> Validators</a:t>
            </a:r>
            <a:endParaRPr lang="zh-CN" altLang="en-US" sz="2400" dirty="0">
              <a:latin typeface="Garamond" panose="02020404030301010803" pitchFamily="18" charset="0"/>
            </a:endParaRPr>
          </a:p>
        </p:txBody>
      </p:sp>
      <p:cxnSp>
        <p:nvCxnSpPr>
          <p:cNvPr id="62" name="直接箭头连接符 61">
            <a:extLst>
              <a:ext uri="{FF2B5EF4-FFF2-40B4-BE49-F238E27FC236}">
                <a16:creationId xmlns:a16="http://schemas.microsoft.com/office/drawing/2014/main" id="{B9D62133-E238-4905-9977-80C5A770CD72}"/>
              </a:ext>
            </a:extLst>
          </p:cNvPr>
          <p:cNvCxnSpPr>
            <a:cxnSpLocks/>
            <a:stCxn id="61" idx="2"/>
            <a:endCxn id="32" idx="3"/>
          </p:cNvCxnSpPr>
          <p:nvPr/>
        </p:nvCxnSpPr>
        <p:spPr>
          <a:xfrm flipH="1">
            <a:off x="8678582" y="1898431"/>
            <a:ext cx="1861234" cy="280448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连接符: 曲线 7">
            <a:extLst>
              <a:ext uri="{FF2B5EF4-FFF2-40B4-BE49-F238E27FC236}">
                <a16:creationId xmlns:a16="http://schemas.microsoft.com/office/drawing/2014/main" id="{A54FDB89-FE83-47A9-99E1-1C0710FC1AB2}"/>
              </a:ext>
            </a:extLst>
          </p:cNvPr>
          <p:cNvCxnSpPr>
            <a:cxnSpLocks/>
            <a:stCxn id="32" idx="3"/>
            <a:endCxn id="37" idx="0"/>
          </p:cNvCxnSpPr>
          <p:nvPr/>
        </p:nvCxnSpPr>
        <p:spPr>
          <a:xfrm rot="16200000" flipV="1">
            <a:off x="4078846" y="103182"/>
            <a:ext cx="1504832" cy="7694641"/>
          </a:xfrm>
          <a:prstGeom prst="curvedConnector3">
            <a:avLst>
              <a:gd name="adj1" fmla="val 179188"/>
            </a:avLst>
          </a:prstGeom>
          <a:ln w="28575">
            <a:solidFill>
              <a:srgbClr val="FA0473"/>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0" name="内容占位符 2">
            <a:extLst>
              <a:ext uri="{FF2B5EF4-FFF2-40B4-BE49-F238E27FC236}">
                <a16:creationId xmlns:a16="http://schemas.microsoft.com/office/drawing/2014/main" id="{FE425931-3FCC-4EE5-8DE9-7DAD068D8286}"/>
              </a:ext>
            </a:extLst>
          </p:cNvPr>
          <p:cNvSpPr>
            <a:spLocks noGrp="1"/>
          </p:cNvSpPr>
          <p:nvPr>
            <p:ph idx="1"/>
          </p:nvPr>
        </p:nvSpPr>
        <p:spPr>
          <a:xfrm>
            <a:off x="535719" y="1391449"/>
            <a:ext cx="5821016" cy="765303"/>
          </a:xfrm>
        </p:spPr>
        <p:txBody>
          <a:bodyPr>
            <a:normAutofit/>
          </a:bodyPr>
          <a:lstStyle/>
          <a:p>
            <a:pPr lvl="0">
              <a:lnSpc>
                <a:spcPct val="130000"/>
              </a:lnSpc>
            </a:pPr>
            <a:r>
              <a:rPr lang="zh-CN" altLang="en-US" dirty="0">
                <a:solidFill>
                  <a:prstClr val="black"/>
                </a:solidFill>
                <a:latin typeface="Garamond" panose="02020404030301010803" pitchFamily="18" charset="0"/>
              </a:rPr>
              <a:t>两阶段提交（</a:t>
            </a:r>
            <a:r>
              <a:rPr lang="en-US" altLang="zh-CN" dirty="0">
                <a:solidFill>
                  <a:prstClr val="black"/>
                </a:solidFill>
                <a:latin typeface="Garamond" panose="02020404030301010803" pitchFamily="18" charset="0"/>
              </a:rPr>
              <a:t>Two-phase Commit</a:t>
            </a:r>
            <a:r>
              <a:rPr lang="zh-CN" altLang="en-US" dirty="0">
                <a:solidFill>
                  <a:prstClr val="black"/>
                </a:solidFill>
                <a:latin typeface="Garamond" panose="02020404030301010803" pitchFamily="18" charset="0"/>
              </a:rPr>
              <a:t>）</a:t>
            </a:r>
            <a:endParaRPr lang="en-US" altLang="zh-CN" dirty="0">
              <a:solidFill>
                <a:prstClr val="black"/>
              </a:solidFill>
              <a:latin typeface="Garamond" panose="02020404030301010803" pitchFamily="18" charset="0"/>
            </a:endParaRPr>
          </a:p>
        </p:txBody>
      </p:sp>
      <p:sp>
        <p:nvSpPr>
          <p:cNvPr id="55" name="文本框 54">
            <a:extLst>
              <a:ext uri="{FF2B5EF4-FFF2-40B4-BE49-F238E27FC236}">
                <a16:creationId xmlns:a16="http://schemas.microsoft.com/office/drawing/2014/main" id="{FCD1AD2A-3E04-4EB3-9DC4-049A79098CBF}"/>
              </a:ext>
            </a:extLst>
          </p:cNvPr>
          <p:cNvSpPr txBox="1"/>
          <p:nvPr/>
        </p:nvSpPr>
        <p:spPr>
          <a:xfrm>
            <a:off x="1488538" y="2549677"/>
            <a:ext cx="1255472" cy="461665"/>
          </a:xfrm>
          <a:prstGeom prst="rect">
            <a:avLst/>
          </a:prstGeom>
          <a:noFill/>
        </p:spPr>
        <p:txBody>
          <a:bodyPr wrap="none" rtlCol="0">
            <a:spAutoFit/>
          </a:bodyPr>
          <a:lstStyle/>
          <a:p>
            <a:r>
              <a:rPr lang="en-US" altLang="zh-CN" sz="2400" b="1" dirty="0">
                <a:solidFill>
                  <a:srgbClr val="FA0473"/>
                </a:solidFill>
                <a:latin typeface="Garamond" panose="02020404030301010803" pitchFamily="18" charset="0"/>
              </a:rPr>
              <a:t>Commit</a:t>
            </a:r>
            <a:endParaRPr lang="zh-CN" altLang="en-US" sz="2400" b="1" dirty="0">
              <a:solidFill>
                <a:srgbClr val="FA0473"/>
              </a:solidFill>
              <a:latin typeface="Garamond" panose="02020404030301010803" pitchFamily="18" charset="0"/>
            </a:endParaRPr>
          </a:p>
        </p:txBody>
      </p:sp>
      <p:cxnSp>
        <p:nvCxnSpPr>
          <p:cNvPr id="56" name="连接符: 曲线 55">
            <a:extLst>
              <a:ext uri="{FF2B5EF4-FFF2-40B4-BE49-F238E27FC236}">
                <a16:creationId xmlns:a16="http://schemas.microsoft.com/office/drawing/2014/main" id="{CAE816CC-86EB-43A6-889F-2F7371CCF4F2}"/>
              </a:ext>
            </a:extLst>
          </p:cNvPr>
          <p:cNvCxnSpPr>
            <a:cxnSpLocks/>
            <a:stCxn id="32" idx="3"/>
            <a:endCxn id="38" idx="0"/>
          </p:cNvCxnSpPr>
          <p:nvPr/>
        </p:nvCxnSpPr>
        <p:spPr>
          <a:xfrm rot="16200000" flipV="1">
            <a:off x="5897515" y="1921851"/>
            <a:ext cx="1504833" cy="4057303"/>
          </a:xfrm>
          <a:prstGeom prst="curvedConnector3">
            <a:avLst>
              <a:gd name="adj1" fmla="val 131352"/>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3" name="文本框 62">
            <a:extLst>
              <a:ext uri="{FF2B5EF4-FFF2-40B4-BE49-F238E27FC236}">
                <a16:creationId xmlns:a16="http://schemas.microsoft.com/office/drawing/2014/main" id="{F7A56D9B-9AF6-45C1-ABD0-BBED3FA2951B}"/>
              </a:ext>
            </a:extLst>
          </p:cNvPr>
          <p:cNvSpPr txBox="1"/>
          <p:nvPr/>
        </p:nvSpPr>
        <p:spPr>
          <a:xfrm>
            <a:off x="5804051" y="2675305"/>
            <a:ext cx="1197379" cy="461665"/>
          </a:xfrm>
          <a:prstGeom prst="rect">
            <a:avLst/>
          </a:prstGeom>
          <a:noFill/>
        </p:spPr>
        <p:txBody>
          <a:bodyPr wrap="none" rtlCol="0">
            <a:spAutoFit/>
          </a:bodyPr>
          <a:lstStyle/>
          <a:p>
            <a:r>
              <a:rPr lang="en-US" altLang="zh-CN" sz="2400" b="1" dirty="0">
                <a:latin typeface="Garamond" panose="02020404030301010803" pitchFamily="18" charset="0"/>
              </a:rPr>
              <a:t>Prepare</a:t>
            </a:r>
            <a:endParaRPr lang="zh-CN" altLang="en-US" sz="2400" b="1" dirty="0">
              <a:latin typeface="Garamond" panose="02020404030301010803" pitchFamily="18" charset="0"/>
            </a:endParaRPr>
          </a:p>
        </p:txBody>
      </p:sp>
      <p:sp>
        <p:nvSpPr>
          <p:cNvPr id="64" name="文本框 63">
            <a:extLst>
              <a:ext uri="{FF2B5EF4-FFF2-40B4-BE49-F238E27FC236}">
                <a16:creationId xmlns:a16="http://schemas.microsoft.com/office/drawing/2014/main" id="{7632D76B-BD04-4030-9822-4E0CC5B24532}"/>
              </a:ext>
            </a:extLst>
          </p:cNvPr>
          <p:cNvSpPr txBox="1"/>
          <p:nvPr/>
        </p:nvSpPr>
        <p:spPr>
          <a:xfrm>
            <a:off x="9134889" y="2007085"/>
            <a:ext cx="2492990" cy="400110"/>
          </a:xfrm>
          <a:prstGeom prst="rect">
            <a:avLst/>
          </a:prstGeom>
          <a:noFill/>
        </p:spPr>
        <p:txBody>
          <a:bodyPr wrap="none" rtlCol="0">
            <a:spAutoFit/>
          </a:bodyPr>
          <a:lstStyle/>
          <a:p>
            <a:r>
              <a:rPr lang="zh-CN" altLang="en-US" sz="2000" dirty="0">
                <a:solidFill>
                  <a:prstClr val="black"/>
                </a:solidFill>
                <a:latin typeface="Garamond" panose="02020404030301010803" pitchFamily="18" charset="0"/>
                <a:ea typeface="Microsoft YaHei" panose="020B0503020204020204" pitchFamily="34" charset="-122"/>
              </a:rPr>
              <a:t>一次投票，两个含义</a:t>
            </a:r>
          </a:p>
        </p:txBody>
      </p:sp>
    </p:spTree>
    <p:extLst>
      <p:ext uri="{BB962C8B-B14F-4D97-AF65-F5344CB8AC3E}">
        <p14:creationId xmlns:p14="http://schemas.microsoft.com/office/powerpoint/2010/main" val="4055828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2E1E32-6E10-4724-80B3-70AAAAD6BDBA}"/>
              </a:ext>
            </a:extLst>
          </p:cNvPr>
          <p:cNvSpPr>
            <a:spLocks noGrp="1"/>
          </p:cNvSpPr>
          <p:nvPr>
            <p:ph type="title"/>
          </p:nvPr>
        </p:nvSpPr>
        <p:spPr/>
        <p:txBody>
          <a:bodyPr/>
          <a:lstStyle/>
          <a:p>
            <a:r>
              <a:rPr kumimoji="1" lang="zh-CN" altLang="en-US" dirty="0"/>
              <a:t>以太坊共识机制</a:t>
            </a:r>
            <a:r>
              <a:rPr lang="en-US" altLang="zh-CN" dirty="0">
                <a:latin typeface="Garamond" panose="02020404030301010803" pitchFamily="18" charset="0"/>
              </a:rPr>
              <a:t>Casper FFG</a:t>
            </a:r>
            <a:endParaRPr lang="zh-CN" altLang="en-US" dirty="0"/>
          </a:p>
        </p:txBody>
      </p:sp>
      <p:sp>
        <p:nvSpPr>
          <p:cNvPr id="4" name="灯片编号占位符 3">
            <a:extLst>
              <a:ext uri="{FF2B5EF4-FFF2-40B4-BE49-F238E27FC236}">
                <a16:creationId xmlns:a16="http://schemas.microsoft.com/office/drawing/2014/main" id="{5987A128-4422-4644-83AB-AE290E8A3E32}"/>
              </a:ext>
            </a:extLst>
          </p:cNvPr>
          <p:cNvSpPr>
            <a:spLocks noGrp="1"/>
          </p:cNvSpPr>
          <p:nvPr>
            <p:ph type="sldNum" sz="quarter" idx="12"/>
          </p:nvPr>
        </p:nvSpPr>
        <p:spPr/>
        <p:txBody>
          <a:bodyPr/>
          <a:lstStyle/>
          <a:p>
            <a:fld id="{8D4D1E41-7A09-AB4A-A4E1-09765ADA2698}" type="slidenum">
              <a:rPr kumimoji="1" lang="zh-CN" altLang="en-US" smtClean="0"/>
              <a:t>13</a:t>
            </a:fld>
            <a:endParaRPr kumimoji="1" lang="zh-CN" altLang="en-US" dirty="0"/>
          </a:p>
        </p:txBody>
      </p:sp>
      <p:pic>
        <p:nvPicPr>
          <p:cNvPr id="1026" name="Picture 2">
            <a:extLst>
              <a:ext uri="{FF2B5EF4-FFF2-40B4-BE49-F238E27FC236}">
                <a16:creationId xmlns:a16="http://schemas.microsoft.com/office/drawing/2014/main" id="{147EED56-93B7-453C-942C-84E0786D2D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99246"/>
            <a:ext cx="12192000" cy="5145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9687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以太坊共识机制</a:t>
            </a:r>
            <a:r>
              <a:rPr lang="en-US" altLang="zh-CN" dirty="0">
                <a:latin typeface="Garamond" panose="02020404030301010803" pitchFamily="18" charset="0"/>
              </a:rPr>
              <a:t>Casper FFG</a:t>
            </a:r>
            <a:endParaRPr kumimoji="1" lang="zh-CN" altLang="en-US" dirty="0"/>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14</a:t>
            </a:fld>
            <a:endParaRPr kumimoji="1" lang="zh-CN" altLang="en-US" dirty="0"/>
          </a:p>
        </p:txBody>
      </p:sp>
      <p:sp>
        <p:nvSpPr>
          <p:cNvPr id="7" name="内容占位符 2">
            <a:extLst>
              <a:ext uri="{FF2B5EF4-FFF2-40B4-BE49-F238E27FC236}">
                <a16:creationId xmlns:a16="http://schemas.microsoft.com/office/drawing/2014/main" id="{CEFF5BDF-9F85-425F-B71D-AE9E3F5C9F82}"/>
              </a:ext>
            </a:extLst>
          </p:cNvPr>
          <p:cNvSpPr>
            <a:spLocks noGrp="1"/>
          </p:cNvSpPr>
          <p:nvPr>
            <p:ph idx="1"/>
          </p:nvPr>
        </p:nvSpPr>
        <p:spPr>
          <a:xfrm>
            <a:off x="535719" y="1391449"/>
            <a:ext cx="5821016" cy="765303"/>
          </a:xfrm>
        </p:spPr>
        <p:txBody>
          <a:bodyPr>
            <a:normAutofit/>
          </a:bodyPr>
          <a:lstStyle/>
          <a:p>
            <a:pPr lvl="0">
              <a:lnSpc>
                <a:spcPct val="130000"/>
              </a:lnSpc>
            </a:pPr>
            <a:r>
              <a:rPr lang="zh-CN" altLang="en-US" dirty="0">
                <a:solidFill>
                  <a:prstClr val="black"/>
                </a:solidFill>
                <a:latin typeface="Garamond" panose="02020404030301010803" pitchFamily="18" charset="0"/>
              </a:rPr>
              <a:t>作恶行为</a:t>
            </a:r>
            <a:endParaRPr lang="en-US" altLang="zh-CN" dirty="0">
              <a:solidFill>
                <a:prstClr val="black"/>
              </a:solidFill>
              <a:latin typeface="Garamond" panose="02020404030301010803" pitchFamily="18" charset="0"/>
            </a:endParaRPr>
          </a:p>
        </p:txBody>
      </p:sp>
      <p:sp>
        <p:nvSpPr>
          <p:cNvPr id="46" name="内容占位符 2">
            <a:extLst>
              <a:ext uri="{FF2B5EF4-FFF2-40B4-BE49-F238E27FC236}">
                <a16:creationId xmlns:a16="http://schemas.microsoft.com/office/drawing/2014/main" id="{2F03363B-D079-44AB-B655-C8F6D726A741}"/>
              </a:ext>
            </a:extLst>
          </p:cNvPr>
          <p:cNvSpPr txBox="1">
            <a:spLocks/>
          </p:cNvSpPr>
          <p:nvPr/>
        </p:nvSpPr>
        <p:spPr>
          <a:xfrm>
            <a:off x="535719" y="2001049"/>
            <a:ext cx="10079272"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zh-CN" altLang="en-US" dirty="0">
                <a:solidFill>
                  <a:prstClr val="black"/>
                </a:solidFill>
                <a:latin typeface="Garamond" panose="02020404030301010803" pitchFamily="18" charset="0"/>
              </a:rPr>
              <a:t>行政不作为：</a:t>
            </a:r>
            <a:r>
              <a:rPr lang="en-US" altLang="zh-CN" dirty="0">
                <a:solidFill>
                  <a:prstClr val="black"/>
                </a:solidFill>
                <a:latin typeface="Garamond" panose="02020404030301010803" pitchFamily="18" charset="0"/>
              </a:rPr>
              <a:t>Validators</a:t>
            </a:r>
            <a:r>
              <a:rPr lang="zh-CN" altLang="en-US" dirty="0">
                <a:solidFill>
                  <a:prstClr val="black"/>
                </a:solidFill>
                <a:latin typeface="Garamond" panose="02020404030301010803" pitchFamily="18" charset="0"/>
              </a:rPr>
              <a:t>故意不投票</a:t>
            </a:r>
            <a:r>
              <a:rPr lang="en-US" altLang="zh-CN" dirty="0">
                <a:solidFill>
                  <a:prstClr val="black"/>
                </a:solidFill>
                <a:latin typeface="Garamond" panose="02020404030301010803" pitchFamily="18" charset="0"/>
              </a:rPr>
              <a:t>/Validators</a:t>
            </a:r>
            <a:r>
              <a:rPr lang="zh-CN" altLang="en-US" dirty="0">
                <a:solidFill>
                  <a:prstClr val="black"/>
                </a:solidFill>
                <a:latin typeface="Garamond" panose="02020404030301010803" pitchFamily="18" charset="0"/>
              </a:rPr>
              <a:t>因网络问题离线</a:t>
            </a:r>
            <a:endParaRPr lang="en-US" altLang="zh-CN" dirty="0">
              <a:solidFill>
                <a:prstClr val="black"/>
              </a:solidFill>
              <a:latin typeface="Garamond" panose="02020404030301010803" pitchFamily="18" charset="0"/>
            </a:endParaRPr>
          </a:p>
        </p:txBody>
      </p:sp>
      <p:sp>
        <p:nvSpPr>
          <p:cNvPr id="47" name="内容占位符 2">
            <a:extLst>
              <a:ext uri="{FF2B5EF4-FFF2-40B4-BE49-F238E27FC236}">
                <a16:creationId xmlns:a16="http://schemas.microsoft.com/office/drawing/2014/main" id="{AD1D31DB-A058-4C82-85A2-2F9CB0FE6123}"/>
              </a:ext>
            </a:extLst>
          </p:cNvPr>
          <p:cNvSpPr txBox="1">
            <a:spLocks/>
          </p:cNvSpPr>
          <p:nvPr/>
        </p:nvSpPr>
        <p:spPr>
          <a:xfrm>
            <a:off x="535718" y="2587418"/>
            <a:ext cx="8628160"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zh-CN" altLang="en-US" dirty="0">
                <a:solidFill>
                  <a:prstClr val="black"/>
                </a:solidFill>
                <a:latin typeface="Garamond" panose="02020404030301010803" pitchFamily="18" charset="0"/>
              </a:rPr>
              <a:t>无利害关系：对分叉的区块分别进行投票（双重投票）</a:t>
            </a:r>
            <a:endParaRPr lang="en-US" altLang="zh-CN" dirty="0">
              <a:solidFill>
                <a:prstClr val="black"/>
              </a:solidFill>
              <a:latin typeface="Garamond" panose="02020404030301010803" pitchFamily="18" charset="0"/>
            </a:endParaRPr>
          </a:p>
        </p:txBody>
      </p:sp>
      <p:sp>
        <p:nvSpPr>
          <p:cNvPr id="49" name="内容占位符 2">
            <a:extLst>
              <a:ext uri="{FF2B5EF4-FFF2-40B4-BE49-F238E27FC236}">
                <a16:creationId xmlns:a16="http://schemas.microsoft.com/office/drawing/2014/main" id="{59110631-3253-46F3-AE89-6DFC5EF9DCB2}"/>
              </a:ext>
            </a:extLst>
          </p:cNvPr>
          <p:cNvSpPr txBox="1">
            <a:spLocks/>
          </p:cNvSpPr>
          <p:nvPr/>
        </p:nvSpPr>
        <p:spPr>
          <a:xfrm>
            <a:off x="535717" y="3197018"/>
            <a:ext cx="8220812"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zh-CN" altLang="en-US" dirty="0">
                <a:solidFill>
                  <a:prstClr val="black"/>
                </a:solidFill>
                <a:latin typeface="Garamond" panose="02020404030301010803" pitchFamily="18" charset="0"/>
              </a:rPr>
              <a:t>篡改历史：从历史上某个区块进行分叉</a:t>
            </a:r>
            <a:endParaRPr lang="en-US" altLang="zh-CN" dirty="0">
              <a:solidFill>
                <a:prstClr val="black"/>
              </a:solidFill>
              <a:latin typeface="Garamond" panose="02020404030301010803" pitchFamily="18" charset="0"/>
            </a:endParaRPr>
          </a:p>
        </p:txBody>
      </p:sp>
      <p:pic>
        <p:nvPicPr>
          <p:cNvPr id="8" name="图片 7">
            <a:extLst>
              <a:ext uri="{FF2B5EF4-FFF2-40B4-BE49-F238E27FC236}">
                <a16:creationId xmlns:a16="http://schemas.microsoft.com/office/drawing/2014/main" id="{15C98436-B363-4D81-B468-0BE720A8054A}"/>
              </a:ext>
            </a:extLst>
          </p:cNvPr>
          <p:cNvPicPr>
            <a:picLocks noChangeAspect="1"/>
          </p:cNvPicPr>
          <p:nvPr/>
        </p:nvPicPr>
        <p:blipFill rotWithShape="1">
          <a:blip r:embed="rId3">
            <a:clrChange>
              <a:clrFrom>
                <a:srgbClr val="FFFFFF"/>
              </a:clrFrom>
              <a:clrTo>
                <a:srgbClr val="FFFFFF">
                  <a:alpha val="0"/>
                </a:srgbClr>
              </a:clrTo>
            </a:clrChange>
          </a:blip>
          <a:srcRect l="11784" r="11862"/>
          <a:stretch/>
        </p:blipFill>
        <p:spPr>
          <a:xfrm>
            <a:off x="5739925" y="3215779"/>
            <a:ext cx="6440557" cy="3642221"/>
          </a:xfrm>
          <a:prstGeom prst="rect">
            <a:avLst/>
          </a:prstGeom>
        </p:spPr>
      </p:pic>
      <p:sp>
        <p:nvSpPr>
          <p:cNvPr id="16" name="内容占位符 2">
            <a:extLst>
              <a:ext uri="{FF2B5EF4-FFF2-40B4-BE49-F238E27FC236}">
                <a16:creationId xmlns:a16="http://schemas.microsoft.com/office/drawing/2014/main" id="{1171CAD2-84C1-4936-B6C6-DEABE3C851A5}"/>
              </a:ext>
            </a:extLst>
          </p:cNvPr>
          <p:cNvSpPr txBox="1">
            <a:spLocks/>
          </p:cNvSpPr>
          <p:nvPr/>
        </p:nvSpPr>
        <p:spPr>
          <a:xfrm>
            <a:off x="535716" y="3753688"/>
            <a:ext cx="5821016"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pPr>
            <a:r>
              <a:rPr lang="zh-CN" altLang="en-US" dirty="0">
                <a:solidFill>
                  <a:prstClr val="black"/>
                </a:solidFill>
                <a:latin typeface="Garamond" panose="02020404030301010803" pitchFamily="18" charset="0"/>
              </a:rPr>
              <a:t>罚没（</a:t>
            </a:r>
            <a:r>
              <a:rPr lang="en-US" altLang="zh-CN" dirty="0">
                <a:solidFill>
                  <a:prstClr val="black"/>
                </a:solidFill>
                <a:latin typeface="Garamond" panose="02020404030301010803" pitchFamily="18" charset="0"/>
              </a:rPr>
              <a:t>Slashing</a:t>
            </a:r>
            <a:r>
              <a:rPr lang="zh-CN" altLang="en-US" dirty="0">
                <a:solidFill>
                  <a:prstClr val="black"/>
                </a:solidFill>
                <a:latin typeface="Garamond" panose="02020404030301010803" pitchFamily="18" charset="0"/>
              </a:rPr>
              <a:t>）</a:t>
            </a:r>
            <a:endParaRPr lang="en-US" altLang="zh-CN" dirty="0">
              <a:solidFill>
                <a:prstClr val="black"/>
              </a:solidFill>
              <a:latin typeface="Garamond" panose="02020404030301010803" pitchFamily="18" charset="0"/>
            </a:endParaRPr>
          </a:p>
        </p:txBody>
      </p:sp>
      <p:sp>
        <p:nvSpPr>
          <p:cNvPr id="17" name="内容占位符 2">
            <a:extLst>
              <a:ext uri="{FF2B5EF4-FFF2-40B4-BE49-F238E27FC236}">
                <a16:creationId xmlns:a16="http://schemas.microsoft.com/office/drawing/2014/main" id="{0F3C7737-B489-45B6-81FC-B809130C7E04}"/>
              </a:ext>
            </a:extLst>
          </p:cNvPr>
          <p:cNvSpPr txBox="1">
            <a:spLocks/>
          </p:cNvSpPr>
          <p:nvPr/>
        </p:nvSpPr>
        <p:spPr>
          <a:xfrm>
            <a:off x="535715" y="4310358"/>
            <a:ext cx="8992605"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zh-CN" altLang="en-US" dirty="0">
                <a:solidFill>
                  <a:prstClr val="black"/>
                </a:solidFill>
                <a:latin typeface="Garamond" panose="02020404030301010803" pitchFamily="18" charset="0"/>
              </a:rPr>
              <a:t>行政不作为：扣除应当收入的以太币数量</a:t>
            </a:r>
            <a:endParaRPr lang="en-US" altLang="zh-CN" dirty="0">
              <a:solidFill>
                <a:prstClr val="black"/>
              </a:solidFill>
              <a:latin typeface="Garamond" panose="02020404030301010803" pitchFamily="18" charset="0"/>
            </a:endParaRPr>
          </a:p>
        </p:txBody>
      </p:sp>
      <p:sp>
        <p:nvSpPr>
          <p:cNvPr id="18" name="内容占位符 2">
            <a:extLst>
              <a:ext uri="{FF2B5EF4-FFF2-40B4-BE49-F238E27FC236}">
                <a16:creationId xmlns:a16="http://schemas.microsoft.com/office/drawing/2014/main" id="{40C84D0C-1645-4CA4-A957-C2E2199EFC25}"/>
              </a:ext>
            </a:extLst>
          </p:cNvPr>
          <p:cNvSpPr txBox="1">
            <a:spLocks/>
          </p:cNvSpPr>
          <p:nvPr/>
        </p:nvSpPr>
        <p:spPr>
          <a:xfrm>
            <a:off x="535719" y="4896727"/>
            <a:ext cx="8992605" cy="196127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zh-CN" altLang="en-US" dirty="0">
                <a:solidFill>
                  <a:prstClr val="black"/>
                </a:solidFill>
                <a:latin typeface="Garamond" panose="02020404030301010803" pitchFamily="18" charset="0"/>
              </a:rPr>
              <a:t>其他恶意行为：</a:t>
            </a:r>
            <a:endParaRPr lang="en-US" altLang="zh-CN" dirty="0">
              <a:solidFill>
                <a:prstClr val="black"/>
              </a:solidFill>
              <a:latin typeface="Garamond" panose="02020404030301010803" pitchFamily="18" charset="0"/>
            </a:endParaRPr>
          </a:p>
          <a:p>
            <a:pPr lvl="2">
              <a:lnSpc>
                <a:spcPct val="130000"/>
              </a:lnSpc>
            </a:pPr>
            <a:r>
              <a:rPr lang="zh-CN" altLang="en-US" dirty="0">
                <a:solidFill>
                  <a:prstClr val="black"/>
                </a:solidFill>
                <a:latin typeface="Garamond" panose="02020404030301010803" pitchFamily="18" charset="0"/>
              </a:rPr>
              <a:t>持续没收质押币（最高全部罚没）</a:t>
            </a:r>
            <a:endParaRPr lang="en-US" altLang="zh-CN" dirty="0">
              <a:solidFill>
                <a:prstClr val="black"/>
              </a:solidFill>
              <a:latin typeface="Garamond" panose="02020404030301010803" pitchFamily="18" charset="0"/>
            </a:endParaRPr>
          </a:p>
          <a:p>
            <a:pPr lvl="2">
              <a:lnSpc>
                <a:spcPct val="130000"/>
              </a:lnSpc>
            </a:pPr>
            <a:r>
              <a:rPr lang="zh-CN" altLang="en-US" dirty="0">
                <a:solidFill>
                  <a:prstClr val="black"/>
                </a:solidFill>
                <a:latin typeface="Garamond" panose="02020404030301010803" pitchFamily="18" charset="0"/>
              </a:rPr>
              <a:t>剔除</a:t>
            </a:r>
            <a:r>
              <a:rPr lang="en-US" altLang="zh-CN" dirty="0">
                <a:solidFill>
                  <a:prstClr val="black"/>
                </a:solidFill>
                <a:latin typeface="Garamond" panose="02020404030301010803" pitchFamily="18" charset="0"/>
              </a:rPr>
              <a:t>Validator</a:t>
            </a:r>
            <a:r>
              <a:rPr lang="zh-CN" altLang="en-US" dirty="0">
                <a:solidFill>
                  <a:prstClr val="black"/>
                </a:solidFill>
                <a:latin typeface="Garamond" panose="02020404030301010803" pitchFamily="18" charset="0"/>
              </a:rPr>
              <a:t>序列</a:t>
            </a:r>
            <a:endParaRPr lang="en-US" altLang="zh-CN" dirty="0">
              <a:solidFill>
                <a:prstClr val="black"/>
              </a:solidFill>
              <a:latin typeface="Garamond" panose="02020404030301010803" pitchFamily="18" charset="0"/>
            </a:endParaRPr>
          </a:p>
        </p:txBody>
      </p:sp>
    </p:spTree>
    <p:extLst>
      <p:ext uri="{BB962C8B-B14F-4D97-AF65-F5344CB8AC3E}">
        <p14:creationId xmlns:p14="http://schemas.microsoft.com/office/powerpoint/2010/main" val="2665962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以太坊共识机制</a:t>
            </a:r>
            <a:r>
              <a:rPr lang="en-US" altLang="zh-CN" dirty="0">
                <a:latin typeface="Garamond" panose="02020404030301010803" pitchFamily="18" charset="0"/>
              </a:rPr>
              <a:t>Casper FFG</a:t>
            </a:r>
            <a:endParaRPr kumimoji="1" lang="zh-CN" altLang="en-US" dirty="0"/>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15</a:t>
            </a:fld>
            <a:endParaRPr kumimoji="1" lang="zh-CN" altLang="en-US" dirty="0"/>
          </a:p>
        </p:txBody>
      </p:sp>
      <p:pic>
        <p:nvPicPr>
          <p:cNvPr id="9" name="图片 8">
            <a:extLst>
              <a:ext uri="{FF2B5EF4-FFF2-40B4-BE49-F238E27FC236}">
                <a16:creationId xmlns:a16="http://schemas.microsoft.com/office/drawing/2014/main" id="{21F0488C-BF51-431B-A191-BBD7C42BFFC3}"/>
              </a:ext>
            </a:extLst>
          </p:cNvPr>
          <p:cNvPicPr>
            <a:picLocks noChangeAspect="1"/>
          </p:cNvPicPr>
          <p:nvPr/>
        </p:nvPicPr>
        <p:blipFill rotWithShape="1">
          <a:blip r:embed="rId3"/>
          <a:srcRect l="16092" r="16241"/>
          <a:stretch/>
        </p:blipFill>
        <p:spPr>
          <a:xfrm>
            <a:off x="1230796" y="1431408"/>
            <a:ext cx="7543800" cy="5347080"/>
          </a:xfrm>
          <a:prstGeom prst="rect">
            <a:avLst/>
          </a:prstGeom>
        </p:spPr>
      </p:pic>
      <p:sp>
        <p:nvSpPr>
          <p:cNvPr id="10" name="矩形: 圆角 9">
            <a:extLst>
              <a:ext uri="{FF2B5EF4-FFF2-40B4-BE49-F238E27FC236}">
                <a16:creationId xmlns:a16="http://schemas.microsoft.com/office/drawing/2014/main" id="{49AC0551-FBA6-4F17-A023-B3E9BFF9FF14}"/>
              </a:ext>
            </a:extLst>
          </p:cNvPr>
          <p:cNvSpPr/>
          <p:nvPr/>
        </p:nvSpPr>
        <p:spPr>
          <a:xfrm>
            <a:off x="6251713" y="4263887"/>
            <a:ext cx="2295939" cy="526774"/>
          </a:xfrm>
          <a:prstGeom prst="roundRect">
            <a:avLst/>
          </a:prstGeom>
          <a:noFill/>
          <a:ln w="28575">
            <a:solidFill>
              <a:srgbClr val="5B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内容占位符 2">
            <a:extLst>
              <a:ext uri="{FF2B5EF4-FFF2-40B4-BE49-F238E27FC236}">
                <a16:creationId xmlns:a16="http://schemas.microsoft.com/office/drawing/2014/main" id="{D3A77C84-4322-4980-A31B-FAEB81FBC89D}"/>
              </a:ext>
            </a:extLst>
          </p:cNvPr>
          <p:cNvSpPr txBox="1">
            <a:spLocks/>
          </p:cNvSpPr>
          <p:nvPr/>
        </p:nvSpPr>
        <p:spPr>
          <a:xfrm>
            <a:off x="8703366" y="3438944"/>
            <a:ext cx="3447221" cy="765303"/>
          </a:xfrm>
          <a:prstGeom prst="rect">
            <a:avLst/>
          </a:prstGeom>
        </p:spPr>
        <p:txBody>
          <a:bodyPr vert="horz" lIns="91440" tIns="45720" rIns="91440" bIns="45720" rtlCol="0">
            <a:normAutofit fontScale="85000" lnSpcReduction="10000"/>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None/>
            </a:pPr>
            <a:r>
              <a:rPr lang="zh-CN" altLang="en-US" dirty="0">
                <a:solidFill>
                  <a:prstClr val="black"/>
                </a:solidFill>
                <a:latin typeface="Garamond" panose="02020404030301010803" pitchFamily="18" charset="0"/>
              </a:rPr>
              <a:t>举报人能获得一定奖励</a:t>
            </a:r>
            <a:endParaRPr lang="en-US" altLang="zh-CN" dirty="0">
              <a:solidFill>
                <a:prstClr val="black"/>
              </a:solidFill>
              <a:latin typeface="Garamond" panose="02020404030301010803" pitchFamily="18" charset="0"/>
            </a:endParaRPr>
          </a:p>
        </p:txBody>
      </p:sp>
      <p:cxnSp>
        <p:nvCxnSpPr>
          <p:cNvPr id="13" name="直接箭头连接符 12">
            <a:extLst>
              <a:ext uri="{FF2B5EF4-FFF2-40B4-BE49-F238E27FC236}">
                <a16:creationId xmlns:a16="http://schemas.microsoft.com/office/drawing/2014/main" id="{097F08C9-E7CC-4903-9674-1EF49C53B39D}"/>
              </a:ext>
            </a:extLst>
          </p:cNvPr>
          <p:cNvCxnSpPr>
            <a:stCxn id="18" idx="2"/>
            <a:endCxn id="10" idx="3"/>
          </p:cNvCxnSpPr>
          <p:nvPr/>
        </p:nvCxnSpPr>
        <p:spPr>
          <a:xfrm flipH="1">
            <a:off x="8547652" y="4204247"/>
            <a:ext cx="1879325" cy="323027"/>
          </a:xfrm>
          <a:prstGeom prst="straightConnector1">
            <a:avLst/>
          </a:prstGeom>
          <a:ln w="28575">
            <a:solidFill>
              <a:srgbClr val="5B307E"/>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4246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以太坊共识机制</a:t>
            </a:r>
            <a:r>
              <a:rPr lang="en-US" altLang="zh-CN" dirty="0">
                <a:latin typeface="Garamond" panose="02020404030301010803" pitchFamily="18" charset="0"/>
              </a:rPr>
              <a:t>LMD GHOST</a:t>
            </a:r>
            <a:endParaRPr lang="zh-CN" altLang="en-US" dirty="0">
              <a:latin typeface="Garamond" panose="02020404030301010803" pitchFamily="18" charset="0"/>
            </a:endParaRP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16</a:t>
            </a:fld>
            <a:endParaRPr kumimoji="1" lang="zh-CN" altLang="en-US" dirty="0"/>
          </a:p>
        </p:txBody>
      </p:sp>
      <p:sp>
        <p:nvSpPr>
          <p:cNvPr id="7" name="内容占位符 2">
            <a:extLst>
              <a:ext uri="{FF2B5EF4-FFF2-40B4-BE49-F238E27FC236}">
                <a16:creationId xmlns:a16="http://schemas.microsoft.com/office/drawing/2014/main" id="{CEFF5BDF-9F85-425F-B71D-AE9E3F5C9F82}"/>
              </a:ext>
            </a:extLst>
          </p:cNvPr>
          <p:cNvSpPr>
            <a:spLocks noGrp="1"/>
          </p:cNvSpPr>
          <p:nvPr>
            <p:ph idx="1"/>
          </p:nvPr>
        </p:nvSpPr>
        <p:spPr>
          <a:xfrm>
            <a:off x="535719" y="1391449"/>
            <a:ext cx="5821016" cy="765303"/>
          </a:xfrm>
        </p:spPr>
        <p:txBody>
          <a:bodyPr>
            <a:normAutofit/>
          </a:bodyPr>
          <a:lstStyle/>
          <a:p>
            <a:pPr lvl="0">
              <a:lnSpc>
                <a:spcPct val="130000"/>
              </a:lnSpc>
            </a:pPr>
            <a:r>
              <a:rPr lang="en-US" altLang="zh-CN" dirty="0">
                <a:solidFill>
                  <a:prstClr val="black"/>
                </a:solidFill>
                <a:latin typeface="Garamond" panose="02020404030301010803" pitchFamily="18" charset="0"/>
              </a:rPr>
              <a:t>LMD GHOST</a:t>
            </a:r>
            <a:r>
              <a:rPr lang="zh-CN" altLang="en-US" dirty="0">
                <a:solidFill>
                  <a:prstClr val="black"/>
                </a:solidFill>
                <a:latin typeface="Garamond" panose="02020404030301010803" pitchFamily="18" charset="0"/>
              </a:rPr>
              <a:t>分叉选择协议</a:t>
            </a:r>
            <a:endParaRPr lang="en-US" altLang="zh-CN" dirty="0">
              <a:solidFill>
                <a:prstClr val="black"/>
              </a:solidFill>
              <a:latin typeface="Garamond" panose="02020404030301010803" pitchFamily="18" charset="0"/>
            </a:endParaRPr>
          </a:p>
        </p:txBody>
      </p:sp>
      <p:sp>
        <p:nvSpPr>
          <p:cNvPr id="6" name="内容占位符 2">
            <a:extLst>
              <a:ext uri="{FF2B5EF4-FFF2-40B4-BE49-F238E27FC236}">
                <a16:creationId xmlns:a16="http://schemas.microsoft.com/office/drawing/2014/main" id="{752A9090-B07B-41E5-B913-85065463DC5B}"/>
              </a:ext>
            </a:extLst>
          </p:cNvPr>
          <p:cNvSpPr txBox="1">
            <a:spLocks/>
          </p:cNvSpPr>
          <p:nvPr/>
        </p:nvSpPr>
        <p:spPr>
          <a:xfrm>
            <a:off x="535719" y="2156752"/>
            <a:ext cx="10705438"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zh-CN" altLang="en-US" dirty="0">
                <a:solidFill>
                  <a:prstClr val="black"/>
                </a:solidFill>
                <a:latin typeface="Garamond" panose="02020404030301010803" pitchFamily="18" charset="0"/>
              </a:rPr>
              <a:t>比特币分叉选择协议：最长合法链</a:t>
            </a:r>
            <a:r>
              <a:rPr lang="en-US" altLang="zh-CN" dirty="0">
                <a:solidFill>
                  <a:prstClr val="black"/>
                </a:solidFill>
                <a:latin typeface="Garamond" panose="02020404030301010803" pitchFamily="18" charset="0"/>
              </a:rPr>
              <a:t>——</a:t>
            </a:r>
            <a:r>
              <a:rPr lang="zh-CN" altLang="en-US" dirty="0">
                <a:solidFill>
                  <a:prstClr val="black"/>
                </a:solidFill>
                <a:latin typeface="Garamond" panose="02020404030301010803" pitchFamily="18" charset="0"/>
              </a:rPr>
              <a:t>累积了最大的算力</a:t>
            </a:r>
            <a:endParaRPr lang="en-US" altLang="zh-CN" dirty="0">
              <a:solidFill>
                <a:prstClr val="black"/>
              </a:solidFill>
              <a:latin typeface="Garamond" panose="02020404030301010803" pitchFamily="18" charset="0"/>
            </a:endParaRPr>
          </a:p>
        </p:txBody>
      </p:sp>
      <p:sp>
        <p:nvSpPr>
          <p:cNvPr id="8" name="内容占位符 2">
            <a:extLst>
              <a:ext uri="{FF2B5EF4-FFF2-40B4-BE49-F238E27FC236}">
                <a16:creationId xmlns:a16="http://schemas.microsoft.com/office/drawing/2014/main" id="{3B5CD336-AD06-410F-9B9B-7D3FA9E40BAB}"/>
              </a:ext>
            </a:extLst>
          </p:cNvPr>
          <p:cNvSpPr txBox="1">
            <a:spLocks/>
          </p:cNvSpPr>
          <p:nvPr/>
        </p:nvSpPr>
        <p:spPr>
          <a:xfrm>
            <a:off x="535719" y="2819019"/>
            <a:ext cx="10705438"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zh-CN" altLang="en-US" dirty="0">
                <a:solidFill>
                  <a:prstClr val="black"/>
                </a:solidFill>
                <a:latin typeface="Garamond" panose="02020404030301010803" pitchFamily="18" charset="0"/>
              </a:rPr>
              <a:t>以太坊分叉选择协议：累积了最大的投票权重（即累积了最多的质押代币）</a:t>
            </a:r>
            <a:endParaRPr lang="en-US" altLang="zh-CN" dirty="0">
              <a:solidFill>
                <a:prstClr val="black"/>
              </a:solidFill>
              <a:latin typeface="Garamond" panose="02020404030301010803" pitchFamily="18" charset="0"/>
            </a:endParaRPr>
          </a:p>
        </p:txBody>
      </p:sp>
      <p:pic>
        <p:nvPicPr>
          <p:cNvPr id="2050" name="Picture 2">
            <a:extLst>
              <a:ext uri="{FF2B5EF4-FFF2-40B4-BE49-F238E27FC236}">
                <a16:creationId xmlns:a16="http://schemas.microsoft.com/office/drawing/2014/main" id="{6B2C170E-C73A-462F-9CF1-7415586E8C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6412" y="3429000"/>
            <a:ext cx="8904051" cy="33888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5158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以太坊共识机制</a:t>
            </a:r>
            <a:r>
              <a:rPr lang="en-US" altLang="zh-CN" dirty="0">
                <a:latin typeface="Garamond" panose="02020404030301010803" pitchFamily="18" charset="0"/>
              </a:rPr>
              <a:t>LMD GHOST</a:t>
            </a:r>
            <a:endParaRPr lang="zh-CN" altLang="en-US" dirty="0">
              <a:latin typeface="Garamond" panose="02020404030301010803" pitchFamily="18" charset="0"/>
            </a:endParaRP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17</a:t>
            </a:fld>
            <a:endParaRPr kumimoji="1" lang="zh-CN" altLang="en-US" dirty="0"/>
          </a:p>
        </p:txBody>
      </p:sp>
      <p:pic>
        <p:nvPicPr>
          <p:cNvPr id="11" name="Picture 2">
            <a:extLst>
              <a:ext uri="{FF2B5EF4-FFF2-40B4-BE49-F238E27FC236}">
                <a16:creationId xmlns:a16="http://schemas.microsoft.com/office/drawing/2014/main" id="{92943590-3B07-40ED-BB07-049288B6A7C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1388"/>
          <a:stretch/>
        </p:blipFill>
        <p:spPr bwMode="auto">
          <a:xfrm>
            <a:off x="394855" y="3788243"/>
            <a:ext cx="6502264" cy="3060232"/>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组合 9">
            <a:extLst>
              <a:ext uri="{FF2B5EF4-FFF2-40B4-BE49-F238E27FC236}">
                <a16:creationId xmlns:a16="http://schemas.microsoft.com/office/drawing/2014/main" id="{7EEC239E-0836-403A-B981-AF5B0C013C10}"/>
              </a:ext>
            </a:extLst>
          </p:cNvPr>
          <p:cNvGrpSpPr/>
          <p:nvPr/>
        </p:nvGrpSpPr>
        <p:grpSpPr>
          <a:xfrm>
            <a:off x="597987" y="1333035"/>
            <a:ext cx="6096000" cy="2123313"/>
            <a:chOff x="5108575" y="1333035"/>
            <a:chExt cx="7083425" cy="2467245"/>
          </a:xfrm>
        </p:grpSpPr>
        <p:pic>
          <p:nvPicPr>
            <p:cNvPr id="3074" name="Picture 2">
              <a:extLst>
                <a:ext uri="{FF2B5EF4-FFF2-40B4-BE49-F238E27FC236}">
                  <a16:creationId xmlns:a16="http://schemas.microsoft.com/office/drawing/2014/main" id="{1FA33942-E2DA-40D5-84BA-A3F20AC5135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4024"/>
            <a:stretch/>
          </p:blipFill>
          <p:spPr bwMode="auto">
            <a:xfrm>
              <a:off x="5108575" y="1333035"/>
              <a:ext cx="7083425" cy="2467245"/>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DEF9D48C-9D08-4F48-8C9C-985B50970F5D}"/>
                </a:ext>
              </a:extLst>
            </p:cNvPr>
            <p:cNvSpPr/>
            <p:nvPr/>
          </p:nvSpPr>
          <p:spPr>
            <a:xfrm>
              <a:off x="7820025" y="2762250"/>
              <a:ext cx="704850" cy="10380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076" name="Picture 4" descr="以太坊2.0 共识算法 | 登链社区 | 区块链技术社区">
            <a:extLst>
              <a:ext uri="{FF2B5EF4-FFF2-40B4-BE49-F238E27FC236}">
                <a16:creationId xmlns:a16="http://schemas.microsoft.com/office/drawing/2014/main" id="{817ED177-0FD0-4C04-BAFC-50BC1525DA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311275"/>
            <a:ext cx="12192000" cy="541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4921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4496F6-31FA-4B05-9A55-B5FF131AAF58}"/>
              </a:ext>
            </a:extLst>
          </p:cNvPr>
          <p:cNvSpPr>
            <a:spLocks noGrp="1"/>
          </p:cNvSpPr>
          <p:nvPr>
            <p:ph type="title"/>
          </p:nvPr>
        </p:nvSpPr>
        <p:spPr/>
        <p:txBody>
          <a:bodyPr/>
          <a:lstStyle/>
          <a:p>
            <a:r>
              <a:rPr lang="zh-CN" altLang="en-US" dirty="0"/>
              <a:t>以太坊浏览器</a:t>
            </a:r>
          </a:p>
        </p:txBody>
      </p:sp>
      <p:sp>
        <p:nvSpPr>
          <p:cNvPr id="4" name="灯片编号占位符 3">
            <a:extLst>
              <a:ext uri="{FF2B5EF4-FFF2-40B4-BE49-F238E27FC236}">
                <a16:creationId xmlns:a16="http://schemas.microsoft.com/office/drawing/2014/main" id="{2A2002B9-BFFE-4D03-93A1-2ED0E82210D0}"/>
              </a:ext>
            </a:extLst>
          </p:cNvPr>
          <p:cNvSpPr>
            <a:spLocks noGrp="1"/>
          </p:cNvSpPr>
          <p:nvPr>
            <p:ph type="sldNum" sz="quarter" idx="12"/>
          </p:nvPr>
        </p:nvSpPr>
        <p:spPr/>
        <p:txBody>
          <a:bodyPr/>
          <a:lstStyle/>
          <a:p>
            <a:fld id="{8D4D1E41-7A09-AB4A-A4E1-09765ADA2698}" type="slidenum">
              <a:rPr kumimoji="1" lang="zh-CN" altLang="en-US" smtClean="0"/>
              <a:t>18</a:t>
            </a:fld>
            <a:endParaRPr kumimoji="1" lang="zh-CN" altLang="en-US" dirty="0"/>
          </a:p>
        </p:txBody>
      </p:sp>
      <p:sp>
        <p:nvSpPr>
          <p:cNvPr id="6" name="文本框 5">
            <a:extLst>
              <a:ext uri="{FF2B5EF4-FFF2-40B4-BE49-F238E27FC236}">
                <a16:creationId xmlns:a16="http://schemas.microsoft.com/office/drawing/2014/main" id="{6A760C72-840E-47F0-AB3D-FDBBBBFCD59E}"/>
              </a:ext>
            </a:extLst>
          </p:cNvPr>
          <p:cNvSpPr txBox="1"/>
          <p:nvPr/>
        </p:nvSpPr>
        <p:spPr>
          <a:xfrm>
            <a:off x="3048000" y="3244334"/>
            <a:ext cx="6096000" cy="461665"/>
          </a:xfrm>
          <a:prstGeom prst="rect">
            <a:avLst/>
          </a:prstGeom>
          <a:noFill/>
        </p:spPr>
        <p:txBody>
          <a:bodyPr wrap="square">
            <a:spAutoFit/>
          </a:bodyPr>
          <a:lstStyle/>
          <a:p>
            <a:r>
              <a:rPr lang="zh-CN" altLang="en-US" sz="2400" dirty="0">
                <a:latin typeface="Garamond" panose="02020404030301010803" pitchFamily="18" charset="0"/>
                <a:hlinkClick r:id="rId2"/>
              </a:rPr>
              <a:t>https://beaconscan.com/epochs</a:t>
            </a:r>
            <a:r>
              <a:rPr lang="zh-CN" altLang="en-US" sz="2400" dirty="0">
                <a:latin typeface="Garamond" panose="02020404030301010803" pitchFamily="18" charset="0"/>
              </a:rPr>
              <a:t> </a:t>
            </a:r>
          </a:p>
        </p:txBody>
      </p:sp>
    </p:spTree>
    <p:extLst>
      <p:ext uri="{BB962C8B-B14F-4D97-AF65-F5344CB8AC3E}">
        <p14:creationId xmlns:p14="http://schemas.microsoft.com/office/powerpoint/2010/main" val="835975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409610"/>
            <a:ext cx="10515600" cy="4982116"/>
          </a:xfrm>
        </p:spPr>
        <p:txBody>
          <a:bodyPr>
            <a:normAutofit/>
          </a:bodyPr>
          <a:lstStyle/>
          <a:p>
            <a:pPr marL="0" indent="0">
              <a:lnSpc>
                <a:spcPct val="130000"/>
              </a:lnSpc>
              <a:buNone/>
            </a:pPr>
            <a:r>
              <a:rPr kumimoji="1" lang="en-US" altLang="zh-CN" dirty="0">
                <a:latin typeface="Garamond" panose="02020404030301010803" pitchFamily="18" charset="0"/>
              </a:rPr>
              <a:t>5.7 Proof of Stake</a:t>
            </a:r>
          </a:p>
          <a:p>
            <a:pPr marL="0" indent="0">
              <a:lnSpc>
                <a:spcPct val="130000"/>
              </a:lnSpc>
              <a:buNone/>
            </a:pPr>
            <a:r>
              <a:rPr kumimoji="1" lang="en-US" altLang="zh-CN" dirty="0">
                <a:latin typeface="Garamond" panose="02020404030301010803" pitchFamily="18" charset="0"/>
              </a:rPr>
              <a:t>5.8 </a:t>
            </a:r>
            <a:r>
              <a:rPr kumimoji="1" lang="zh-CN" altLang="en-US" dirty="0">
                <a:latin typeface="Garamond" panose="02020404030301010803" pitchFamily="18" charset="0"/>
              </a:rPr>
              <a:t>以太坊</a:t>
            </a:r>
            <a:r>
              <a:rPr kumimoji="1" lang="en-US" altLang="zh-CN" dirty="0" err="1">
                <a:latin typeface="Garamond" panose="02020404030301010803" pitchFamily="18" charset="0"/>
              </a:rPr>
              <a:t>PoS</a:t>
            </a:r>
            <a:r>
              <a:rPr kumimoji="1" lang="zh-CN" altLang="en-US" dirty="0">
                <a:latin typeface="Garamond" panose="02020404030301010803" pitchFamily="18" charset="0"/>
              </a:rPr>
              <a:t>（</a:t>
            </a:r>
            <a:r>
              <a:rPr kumimoji="1" lang="en-US" altLang="zh-CN" dirty="0">
                <a:latin typeface="Garamond" panose="02020404030301010803" pitchFamily="18" charset="0"/>
              </a:rPr>
              <a:t>Casper FFG + LMD GHOST </a:t>
            </a:r>
            <a:r>
              <a:rPr kumimoji="1" lang="zh-CN" altLang="en-US" dirty="0">
                <a:latin typeface="Garamond" panose="02020404030301010803" pitchFamily="18" charset="0"/>
              </a:rPr>
              <a:t>→ </a:t>
            </a:r>
            <a:r>
              <a:rPr kumimoji="1" lang="en-US" altLang="zh-CN" dirty="0">
                <a:latin typeface="Garamond" panose="02020404030301010803" pitchFamily="18" charset="0"/>
              </a:rPr>
              <a:t>Gasper</a:t>
            </a:r>
            <a:r>
              <a:rPr kumimoji="1" lang="zh-CN" altLang="en-US" dirty="0">
                <a:latin typeface="Garamond" panose="02020404030301010803" pitchFamily="18" charset="0"/>
              </a:rPr>
              <a:t>）</a:t>
            </a:r>
            <a:endParaRPr kumimoji="1" lang="en-US" altLang="zh-CN" dirty="0">
              <a:latin typeface="Garamond" panose="02020404030301010803" pitchFamily="18" charset="0"/>
            </a:endParaRPr>
          </a:p>
          <a:p>
            <a:pPr marL="0" indent="0">
              <a:lnSpc>
                <a:spcPct val="130000"/>
              </a:lnSpc>
              <a:buNone/>
            </a:pPr>
            <a:r>
              <a:rPr kumimoji="1" lang="en-US" altLang="zh-CN" b="1" dirty="0">
                <a:solidFill>
                  <a:srgbClr val="B962FF"/>
                </a:solidFill>
                <a:latin typeface="Garamond" panose="02020404030301010803" pitchFamily="18" charset="0"/>
              </a:rPr>
              <a:t>5.9 </a:t>
            </a:r>
            <a:r>
              <a:rPr kumimoji="1" lang="zh-CN" altLang="en-US" b="1" dirty="0">
                <a:solidFill>
                  <a:srgbClr val="B962FF"/>
                </a:solidFill>
                <a:latin typeface="Garamond" panose="02020404030301010803" pitchFamily="18" charset="0"/>
              </a:rPr>
              <a:t>以太坊经典应用</a:t>
            </a:r>
            <a:endParaRPr kumimoji="1" lang="en-US" altLang="zh-CN" b="1" dirty="0">
              <a:solidFill>
                <a:srgbClr val="B962FF"/>
              </a:solidFill>
              <a:latin typeface="Garamond" panose="02020404030301010803" pitchFamily="18" charset="0"/>
            </a:endParaRPr>
          </a:p>
          <a:p>
            <a:pPr marL="0" indent="0">
              <a:lnSpc>
                <a:spcPct val="130000"/>
              </a:lnSpc>
              <a:buNone/>
            </a:pPr>
            <a:endParaRPr kumimoji="1" lang="en-US" altLang="zh-CN" b="1" dirty="0">
              <a:solidFill>
                <a:srgbClr val="B962FF"/>
              </a:solidFill>
              <a:latin typeface="Garamond" panose="02020404030301010803" pitchFamily="18" charset="0"/>
            </a:endParaRP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19</a:t>
            </a:fld>
            <a:endParaRPr kumimoji="1" lang="zh-CN" altLang="en-US" dirty="0"/>
          </a:p>
        </p:txBody>
      </p:sp>
    </p:spTree>
    <p:extLst>
      <p:ext uri="{BB962C8B-B14F-4D97-AF65-F5344CB8AC3E}">
        <p14:creationId xmlns:p14="http://schemas.microsoft.com/office/powerpoint/2010/main" val="29292579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以太坊意见征求稿</a:t>
            </a: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20</a:t>
            </a:fld>
            <a:endParaRPr kumimoji="1" lang="zh-CN" altLang="en-US" dirty="0"/>
          </a:p>
        </p:txBody>
      </p:sp>
      <p:sp>
        <p:nvSpPr>
          <p:cNvPr id="8" name="内容占位符 2">
            <a:extLst>
              <a:ext uri="{FF2B5EF4-FFF2-40B4-BE49-F238E27FC236}">
                <a16:creationId xmlns:a16="http://schemas.microsoft.com/office/drawing/2014/main" id="{6ABD8CB5-F6E6-4EB8-9642-0C3B219074E9}"/>
              </a:ext>
            </a:extLst>
          </p:cNvPr>
          <p:cNvSpPr>
            <a:spLocks noGrp="1"/>
          </p:cNvSpPr>
          <p:nvPr>
            <p:ph idx="1"/>
          </p:nvPr>
        </p:nvSpPr>
        <p:spPr>
          <a:xfrm>
            <a:off x="535718" y="1391449"/>
            <a:ext cx="6722331" cy="765303"/>
          </a:xfrm>
        </p:spPr>
        <p:txBody>
          <a:bodyPr>
            <a:normAutofit/>
          </a:bodyPr>
          <a:lstStyle/>
          <a:p>
            <a:pPr lvl="0">
              <a:lnSpc>
                <a:spcPct val="130000"/>
              </a:lnSpc>
            </a:pPr>
            <a:r>
              <a:rPr lang="en-US" altLang="zh-CN" dirty="0">
                <a:solidFill>
                  <a:prstClr val="black"/>
                </a:solidFill>
                <a:latin typeface="Garamond" panose="02020404030301010803" pitchFamily="18" charset="0"/>
              </a:rPr>
              <a:t>Ethereum Request for Comments (ERC)</a:t>
            </a:r>
          </a:p>
        </p:txBody>
      </p:sp>
      <p:sp>
        <p:nvSpPr>
          <p:cNvPr id="9" name="内容占位符 2">
            <a:extLst>
              <a:ext uri="{FF2B5EF4-FFF2-40B4-BE49-F238E27FC236}">
                <a16:creationId xmlns:a16="http://schemas.microsoft.com/office/drawing/2014/main" id="{DCA07D4F-BC36-4C26-8AC8-6D94620E5E2C}"/>
              </a:ext>
            </a:extLst>
          </p:cNvPr>
          <p:cNvSpPr txBox="1">
            <a:spLocks/>
          </p:cNvSpPr>
          <p:nvPr/>
        </p:nvSpPr>
        <p:spPr>
          <a:xfrm>
            <a:off x="535718" y="2058199"/>
            <a:ext cx="7493857"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zh-CN" altLang="en-US" dirty="0">
                <a:solidFill>
                  <a:prstClr val="black"/>
                </a:solidFill>
                <a:latin typeface="Garamond" panose="02020404030301010803" pitchFamily="18" charset="0"/>
              </a:rPr>
              <a:t>以太坊改进的提案，经过审核后成为标准执行</a:t>
            </a:r>
            <a:endParaRPr lang="en-US" altLang="zh-CN" dirty="0">
              <a:solidFill>
                <a:prstClr val="black"/>
              </a:solidFill>
              <a:latin typeface="Garamond" panose="02020404030301010803" pitchFamily="18" charset="0"/>
            </a:endParaRPr>
          </a:p>
        </p:txBody>
      </p:sp>
      <p:sp>
        <p:nvSpPr>
          <p:cNvPr id="10" name="内容占位符 2">
            <a:extLst>
              <a:ext uri="{FF2B5EF4-FFF2-40B4-BE49-F238E27FC236}">
                <a16:creationId xmlns:a16="http://schemas.microsoft.com/office/drawing/2014/main" id="{D5C64949-6C93-46D5-8CCD-E76CD8F3445C}"/>
              </a:ext>
            </a:extLst>
          </p:cNvPr>
          <p:cNvSpPr txBox="1">
            <a:spLocks/>
          </p:cNvSpPr>
          <p:nvPr/>
        </p:nvSpPr>
        <p:spPr>
          <a:xfrm>
            <a:off x="535717" y="2724949"/>
            <a:ext cx="7493857"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zh-CN" altLang="en-US" dirty="0">
                <a:solidFill>
                  <a:prstClr val="black"/>
                </a:solidFill>
                <a:latin typeface="Garamond" panose="02020404030301010803" pitchFamily="18" charset="0"/>
              </a:rPr>
              <a:t>著名的</a:t>
            </a:r>
            <a:r>
              <a:rPr lang="en-US" altLang="zh-CN" dirty="0">
                <a:solidFill>
                  <a:prstClr val="black"/>
                </a:solidFill>
                <a:latin typeface="Garamond" panose="02020404030301010803" pitchFamily="18" charset="0"/>
              </a:rPr>
              <a:t>ERC</a:t>
            </a:r>
            <a:r>
              <a:rPr lang="zh-CN" altLang="en-US" dirty="0">
                <a:solidFill>
                  <a:prstClr val="black"/>
                </a:solidFill>
                <a:latin typeface="Garamond" panose="02020404030301010803" pitchFamily="18" charset="0"/>
              </a:rPr>
              <a:t>包括</a:t>
            </a:r>
            <a:r>
              <a:rPr lang="en-US" altLang="zh-CN" dirty="0">
                <a:solidFill>
                  <a:prstClr val="black"/>
                </a:solidFill>
                <a:latin typeface="Garamond" panose="02020404030301010803" pitchFamily="18" charset="0"/>
              </a:rPr>
              <a:t>ERC 20</a:t>
            </a:r>
            <a:r>
              <a:rPr lang="zh-CN" altLang="en-US" dirty="0">
                <a:solidFill>
                  <a:prstClr val="black"/>
                </a:solidFill>
                <a:latin typeface="Garamond" panose="02020404030301010803" pitchFamily="18" charset="0"/>
              </a:rPr>
              <a:t>和</a:t>
            </a:r>
            <a:r>
              <a:rPr lang="en-US" altLang="zh-CN" dirty="0">
                <a:solidFill>
                  <a:prstClr val="black"/>
                </a:solidFill>
                <a:latin typeface="Garamond" panose="02020404030301010803" pitchFamily="18" charset="0"/>
              </a:rPr>
              <a:t>ERC 721 </a:t>
            </a:r>
          </a:p>
        </p:txBody>
      </p:sp>
      <p:sp>
        <p:nvSpPr>
          <p:cNvPr id="11" name="内容占位符 2">
            <a:extLst>
              <a:ext uri="{FF2B5EF4-FFF2-40B4-BE49-F238E27FC236}">
                <a16:creationId xmlns:a16="http://schemas.microsoft.com/office/drawing/2014/main" id="{A7846EC4-6193-486F-A662-2DF6F879ED87}"/>
              </a:ext>
            </a:extLst>
          </p:cNvPr>
          <p:cNvSpPr txBox="1">
            <a:spLocks/>
          </p:cNvSpPr>
          <p:nvPr/>
        </p:nvSpPr>
        <p:spPr>
          <a:xfrm>
            <a:off x="535716" y="3297838"/>
            <a:ext cx="6722331"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pPr>
            <a:r>
              <a:rPr lang="en-US" altLang="zh-CN" dirty="0">
                <a:solidFill>
                  <a:prstClr val="black"/>
                </a:solidFill>
                <a:latin typeface="Garamond" panose="02020404030301010803" pitchFamily="18" charset="0"/>
              </a:rPr>
              <a:t>ERC 20</a:t>
            </a:r>
          </a:p>
        </p:txBody>
      </p:sp>
      <p:sp>
        <p:nvSpPr>
          <p:cNvPr id="12" name="内容占位符 2">
            <a:extLst>
              <a:ext uri="{FF2B5EF4-FFF2-40B4-BE49-F238E27FC236}">
                <a16:creationId xmlns:a16="http://schemas.microsoft.com/office/drawing/2014/main" id="{BFE874AC-48DF-4E82-A7F0-8ADDDF951259}"/>
              </a:ext>
            </a:extLst>
          </p:cNvPr>
          <p:cNvSpPr txBox="1">
            <a:spLocks/>
          </p:cNvSpPr>
          <p:nvPr/>
        </p:nvSpPr>
        <p:spPr>
          <a:xfrm>
            <a:off x="535715" y="3963527"/>
            <a:ext cx="7493857"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zh-CN" altLang="en-US" b="1" dirty="0">
                <a:solidFill>
                  <a:srgbClr val="FF0000"/>
                </a:solidFill>
                <a:latin typeface="Garamond" panose="02020404030301010803" pitchFamily="18" charset="0"/>
              </a:rPr>
              <a:t>同质化代币</a:t>
            </a:r>
            <a:r>
              <a:rPr lang="zh-CN" altLang="en-US" dirty="0">
                <a:solidFill>
                  <a:prstClr val="black"/>
                </a:solidFill>
                <a:latin typeface="Garamond" panose="02020404030301010803" pitchFamily="18" charset="0"/>
              </a:rPr>
              <a:t>规范</a:t>
            </a:r>
            <a:endParaRPr lang="en-US" altLang="zh-CN" dirty="0">
              <a:solidFill>
                <a:prstClr val="black"/>
              </a:solidFill>
              <a:latin typeface="Garamond" panose="02020404030301010803" pitchFamily="18" charset="0"/>
            </a:endParaRPr>
          </a:p>
        </p:txBody>
      </p:sp>
      <p:sp>
        <p:nvSpPr>
          <p:cNvPr id="13" name="内容占位符 2">
            <a:extLst>
              <a:ext uri="{FF2B5EF4-FFF2-40B4-BE49-F238E27FC236}">
                <a16:creationId xmlns:a16="http://schemas.microsoft.com/office/drawing/2014/main" id="{0C5975AD-87F3-4EB2-96BB-D030044AFA8B}"/>
              </a:ext>
            </a:extLst>
          </p:cNvPr>
          <p:cNvSpPr txBox="1">
            <a:spLocks/>
          </p:cNvSpPr>
          <p:nvPr/>
        </p:nvSpPr>
        <p:spPr>
          <a:xfrm>
            <a:off x="535718" y="5011867"/>
            <a:ext cx="6722331"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pPr>
            <a:r>
              <a:rPr lang="en-US" altLang="zh-CN" dirty="0">
                <a:solidFill>
                  <a:prstClr val="black"/>
                </a:solidFill>
                <a:latin typeface="Garamond" panose="02020404030301010803" pitchFamily="18" charset="0"/>
              </a:rPr>
              <a:t>ERC 721</a:t>
            </a:r>
          </a:p>
        </p:txBody>
      </p:sp>
      <p:sp>
        <p:nvSpPr>
          <p:cNvPr id="14" name="内容占位符 2">
            <a:extLst>
              <a:ext uri="{FF2B5EF4-FFF2-40B4-BE49-F238E27FC236}">
                <a16:creationId xmlns:a16="http://schemas.microsoft.com/office/drawing/2014/main" id="{6FC11544-2E0A-4CC6-BA5C-26EE99BDDDC4}"/>
              </a:ext>
            </a:extLst>
          </p:cNvPr>
          <p:cNvSpPr txBox="1">
            <a:spLocks/>
          </p:cNvSpPr>
          <p:nvPr/>
        </p:nvSpPr>
        <p:spPr>
          <a:xfrm>
            <a:off x="535718" y="4536416"/>
            <a:ext cx="7493857"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zh-CN" altLang="en-US" dirty="0">
                <a:solidFill>
                  <a:prstClr val="black"/>
                </a:solidFill>
                <a:latin typeface="Garamond" panose="02020404030301010803" pitchFamily="18" charset="0"/>
              </a:rPr>
              <a:t>作用：基于以太坊发布新的数字货币</a:t>
            </a:r>
            <a:endParaRPr lang="en-US" altLang="zh-CN" dirty="0">
              <a:solidFill>
                <a:prstClr val="black"/>
              </a:solidFill>
              <a:latin typeface="Garamond" panose="02020404030301010803" pitchFamily="18" charset="0"/>
            </a:endParaRPr>
          </a:p>
        </p:txBody>
      </p:sp>
      <p:sp>
        <p:nvSpPr>
          <p:cNvPr id="15" name="内容占位符 2">
            <a:extLst>
              <a:ext uri="{FF2B5EF4-FFF2-40B4-BE49-F238E27FC236}">
                <a16:creationId xmlns:a16="http://schemas.microsoft.com/office/drawing/2014/main" id="{6B4FB694-C9C9-4768-BEDC-49F292FFA010}"/>
              </a:ext>
            </a:extLst>
          </p:cNvPr>
          <p:cNvSpPr txBox="1">
            <a:spLocks/>
          </p:cNvSpPr>
          <p:nvPr/>
        </p:nvSpPr>
        <p:spPr>
          <a:xfrm>
            <a:off x="535718" y="5486203"/>
            <a:ext cx="7493857"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zh-CN" altLang="en-US" b="1" dirty="0">
                <a:solidFill>
                  <a:srgbClr val="FF0000"/>
                </a:solidFill>
                <a:latin typeface="Garamond" panose="02020404030301010803" pitchFamily="18" charset="0"/>
              </a:rPr>
              <a:t>非同质化代币</a:t>
            </a:r>
            <a:r>
              <a:rPr lang="zh-CN" altLang="en-US" dirty="0">
                <a:solidFill>
                  <a:prstClr val="black"/>
                </a:solidFill>
                <a:latin typeface="Garamond" panose="02020404030301010803" pitchFamily="18" charset="0"/>
              </a:rPr>
              <a:t>规范</a:t>
            </a:r>
            <a:endParaRPr lang="en-US" altLang="zh-CN" dirty="0">
              <a:solidFill>
                <a:prstClr val="black"/>
              </a:solidFill>
              <a:latin typeface="Garamond" panose="02020404030301010803" pitchFamily="18" charset="0"/>
            </a:endParaRPr>
          </a:p>
        </p:txBody>
      </p:sp>
      <p:sp>
        <p:nvSpPr>
          <p:cNvPr id="16" name="内容占位符 2">
            <a:extLst>
              <a:ext uri="{FF2B5EF4-FFF2-40B4-BE49-F238E27FC236}">
                <a16:creationId xmlns:a16="http://schemas.microsoft.com/office/drawing/2014/main" id="{DD56C4BA-7BBB-4798-A27F-405F175088B4}"/>
              </a:ext>
            </a:extLst>
          </p:cNvPr>
          <p:cNvSpPr txBox="1">
            <a:spLocks/>
          </p:cNvSpPr>
          <p:nvPr/>
        </p:nvSpPr>
        <p:spPr>
          <a:xfrm>
            <a:off x="535714" y="6053338"/>
            <a:ext cx="7493857"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zh-CN" altLang="en-US" dirty="0">
                <a:solidFill>
                  <a:prstClr val="black"/>
                </a:solidFill>
                <a:latin typeface="Garamond" panose="02020404030301010803" pitchFamily="18" charset="0"/>
              </a:rPr>
              <a:t>作用：基于以太坊赋予各类数据以可量化的价值</a:t>
            </a:r>
            <a:endParaRPr lang="en-US" altLang="zh-CN" dirty="0">
              <a:solidFill>
                <a:prstClr val="black"/>
              </a:solidFill>
              <a:latin typeface="Garamond" panose="02020404030301010803" pitchFamily="18" charset="0"/>
            </a:endParaRPr>
          </a:p>
        </p:txBody>
      </p:sp>
      <p:pic>
        <p:nvPicPr>
          <p:cNvPr id="1026" name="Picture 2" descr="Las siete colecciones NFT que debes conocer - Blockmedia">
            <a:extLst>
              <a:ext uri="{FF2B5EF4-FFF2-40B4-BE49-F238E27FC236}">
                <a16:creationId xmlns:a16="http://schemas.microsoft.com/office/drawing/2014/main" id="{3BAF0D3A-334B-6BE5-DE5D-6D776AC38D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04250" y="1587500"/>
            <a:ext cx="3282950" cy="3282950"/>
          </a:xfrm>
          <a:prstGeom prst="rect">
            <a:avLst/>
          </a:prstGeom>
          <a:noFill/>
          <a:extLst>
            <a:ext uri="{909E8E84-426E-40DD-AFC4-6F175D3DCCD1}">
              <a14:hiddenFill xmlns:a14="http://schemas.microsoft.com/office/drawing/2010/main">
                <a:solidFill>
                  <a:srgbClr val="FFFFFF"/>
                </a:solidFill>
              </a14:hiddenFill>
            </a:ext>
          </a:extLst>
        </p:spPr>
      </p:pic>
      <p:sp>
        <p:nvSpPr>
          <p:cNvPr id="4" name="内容占位符 2">
            <a:extLst>
              <a:ext uri="{FF2B5EF4-FFF2-40B4-BE49-F238E27FC236}">
                <a16:creationId xmlns:a16="http://schemas.microsoft.com/office/drawing/2014/main" id="{A64B93AE-36B3-D103-93DF-BB9702DD5A3D}"/>
              </a:ext>
            </a:extLst>
          </p:cNvPr>
          <p:cNvSpPr txBox="1">
            <a:spLocks/>
          </p:cNvSpPr>
          <p:nvPr/>
        </p:nvSpPr>
        <p:spPr>
          <a:xfrm>
            <a:off x="8604251" y="4912225"/>
            <a:ext cx="3282950"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30000"/>
              </a:lnSpc>
              <a:buNone/>
            </a:pPr>
            <a:r>
              <a:rPr lang="zh-CN" altLang="en-US" sz="2400" dirty="0">
                <a:solidFill>
                  <a:prstClr val="black"/>
                </a:solidFill>
                <a:latin typeface="Garamond" panose="02020404030301010803" pitchFamily="18" charset="0"/>
              </a:rPr>
              <a:t>非同质化代币</a:t>
            </a:r>
            <a:endParaRPr lang="en-US" altLang="zh-CN" sz="2400" dirty="0">
              <a:solidFill>
                <a:prstClr val="black"/>
              </a:solidFill>
              <a:latin typeface="Garamond" panose="02020404030301010803" pitchFamily="18" charset="0"/>
            </a:endParaRPr>
          </a:p>
        </p:txBody>
      </p:sp>
    </p:spTree>
    <p:extLst>
      <p:ext uri="{BB962C8B-B14F-4D97-AF65-F5344CB8AC3E}">
        <p14:creationId xmlns:p14="http://schemas.microsoft.com/office/powerpoint/2010/main" val="14101052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同质化代币（</a:t>
            </a:r>
            <a:r>
              <a:rPr lang="en-US" altLang="zh-CN" dirty="0">
                <a:solidFill>
                  <a:prstClr val="black"/>
                </a:solidFill>
                <a:latin typeface="Garamond" panose="02020404030301010803" pitchFamily="18" charset="0"/>
                <a:cs typeface="+mn-cs"/>
              </a:rPr>
              <a:t>FT</a:t>
            </a:r>
            <a:r>
              <a:rPr lang="zh-CN" altLang="en-US" dirty="0">
                <a:solidFill>
                  <a:prstClr val="black"/>
                </a:solidFill>
                <a:latin typeface="Garamond" panose="02020404030301010803" pitchFamily="18" charset="0"/>
                <a:cs typeface="+mn-cs"/>
              </a:rPr>
              <a:t>）</a:t>
            </a: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21</a:t>
            </a:fld>
            <a:endParaRPr kumimoji="1" lang="zh-CN" altLang="en-US" dirty="0"/>
          </a:p>
        </p:txBody>
      </p:sp>
      <p:sp>
        <p:nvSpPr>
          <p:cNvPr id="4" name="内容占位符 2">
            <a:extLst>
              <a:ext uri="{FF2B5EF4-FFF2-40B4-BE49-F238E27FC236}">
                <a16:creationId xmlns:a16="http://schemas.microsoft.com/office/drawing/2014/main" id="{3E6EA091-D522-7BED-93FD-1D7478C6E5C2}"/>
              </a:ext>
            </a:extLst>
          </p:cNvPr>
          <p:cNvSpPr>
            <a:spLocks noGrp="1"/>
          </p:cNvSpPr>
          <p:nvPr>
            <p:ph idx="1"/>
          </p:nvPr>
        </p:nvSpPr>
        <p:spPr>
          <a:xfrm>
            <a:off x="535718" y="1391449"/>
            <a:ext cx="6722331" cy="765303"/>
          </a:xfrm>
        </p:spPr>
        <p:txBody>
          <a:bodyPr>
            <a:normAutofit/>
          </a:bodyPr>
          <a:lstStyle/>
          <a:p>
            <a:pPr lvl="0">
              <a:lnSpc>
                <a:spcPct val="130000"/>
              </a:lnSpc>
            </a:pPr>
            <a:r>
              <a:rPr lang="en-US" altLang="zh-CN" dirty="0">
                <a:solidFill>
                  <a:prstClr val="black"/>
                </a:solidFill>
                <a:latin typeface="Garamond" panose="02020404030301010803" pitchFamily="18" charset="0"/>
              </a:rPr>
              <a:t>Fungible Token</a:t>
            </a:r>
          </a:p>
        </p:txBody>
      </p:sp>
      <p:sp>
        <p:nvSpPr>
          <p:cNvPr id="5" name="内容占位符 2">
            <a:extLst>
              <a:ext uri="{FF2B5EF4-FFF2-40B4-BE49-F238E27FC236}">
                <a16:creationId xmlns:a16="http://schemas.microsoft.com/office/drawing/2014/main" id="{B4950ACF-6405-B3F1-CA69-D32DF50AF8C4}"/>
              </a:ext>
            </a:extLst>
          </p:cNvPr>
          <p:cNvSpPr txBox="1">
            <a:spLocks/>
          </p:cNvSpPr>
          <p:nvPr/>
        </p:nvSpPr>
        <p:spPr>
          <a:xfrm>
            <a:off x="535718" y="2058199"/>
            <a:ext cx="6722331"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zh-CN" altLang="en-US" dirty="0">
                <a:solidFill>
                  <a:prstClr val="black"/>
                </a:solidFill>
                <a:latin typeface="Garamond" panose="02020404030301010803" pitchFamily="18" charset="0"/>
              </a:rPr>
              <a:t>相同的币具有相同的价值</a:t>
            </a:r>
            <a:endParaRPr lang="en-US" altLang="zh-CN" dirty="0">
              <a:solidFill>
                <a:prstClr val="black"/>
              </a:solidFill>
              <a:latin typeface="Garamond" panose="02020404030301010803" pitchFamily="18" charset="0"/>
            </a:endParaRPr>
          </a:p>
        </p:txBody>
      </p:sp>
      <p:sp>
        <p:nvSpPr>
          <p:cNvPr id="6" name="内容占位符 2">
            <a:extLst>
              <a:ext uri="{FF2B5EF4-FFF2-40B4-BE49-F238E27FC236}">
                <a16:creationId xmlns:a16="http://schemas.microsoft.com/office/drawing/2014/main" id="{8657EF32-8F57-8902-FF74-7319E710EB2B}"/>
              </a:ext>
            </a:extLst>
          </p:cNvPr>
          <p:cNvSpPr txBox="1">
            <a:spLocks/>
          </p:cNvSpPr>
          <p:nvPr/>
        </p:nvSpPr>
        <p:spPr>
          <a:xfrm>
            <a:off x="535718" y="2566199"/>
            <a:ext cx="6722331"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pPr>
            <a:r>
              <a:rPr lang="en-US" altLang="zh-CN" dirty="0">
                <a:solidFill>
                  <a:prstClr val="black"/>
                </a:solidFill>
                <a:latin typeface="Garamond" panose="02020404030301010803" pitchFamily="18" charset="0"/>
              </a:rPr>
              <a:t>ERC 20</a:t>
            </a:r>
          </a:p>
        </p:txBody>
      </p:sp>
      <p:sp>
        <p:nvSpPr>
          <p:cNvPr id="7" name="内容占位符 2">
            <a:extLst>
              <a:ext uri="{FF2B5EF4-FFF2-40B4-BE49-F238E27FC236}">
                <a16:creationId xmlns:a16="http://schemas.microsoft.com/office/drawing/2014/main" id="{D356A46A-2547-0935-C2A5-E5B02E37C8EE}"/>
              </a:ext>
            </a:extLst>
          </p:cNvPr>
          <p:cNvSpPr txBox="1">
            <a:spLocks/>
          </p:cNvSpPr>
          <p:nvPr/>
        </p:nvSpPr>
        <p:spPr>
          <a:xfrm>
            <a:off x="535717" y="3229049"/>
            <a:ext cx="6722331"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zh-CN" altLang="en-US" dirty="0">
                <a:solidFill>
                  <a:prstClr val="black"/>
                </a:solidFill>
                <a:latin typeface="Garamond" panose="02020404030301010803" pitchFamily="18" charset="0"/>
              </a:rPr>
              <a:t>智能合约的规范模板</a:t>
            </a:r>
            <a:endParaRPr lang="en-US" altLang="zh-CN" dirty="0">
              <a:solidFill>
                <a:prstClr val="black"/>
              </a:solidFill>
              <a:latin typeface="Garamond" panose="02020404030301010803" pitchFamily="18" charset="0"/>
            </a:endParaRPr>
          </a:p>
        </p:txBody>
      </p:sp>
      <p:pic>
        <p:nvPicPr>
          <p:cNvPr id="2050" name="Picture 2" descr="1992年版第四套人民币1角硬币_中国印钞造币">
            <a:extLst>
              <a:ext uri="{FF2B5EF4-FFF2-40B4-BE49-F238E27FC236}">
                <a16:creationId xmlns:a16="http://schemas.microsoft.com/office/drawing/2014/main" id="{DA0443DB-BD6C-C877-33F9-D713EF9CC25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567" r="22760"/>
          <a:stretch/>
        </p:blipFill>
        <p:spPr bwMode="auto">
          <a:xfrm>
            <a:off x="8050645" y="2823501"/>
            <a:ext cx="1003300" cy="103346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1992年版第四套人民币1角硬币_中国印钞造币">
            <a:extLst>
              <a:ext uri="{FF2B5EF4-FFF2-40B4-BE49-F238E27FC236}">
                <a16:creationId xmlns:a16="http://schemas.microsoft.com/office/drawing/2014/main" id="{B9A169DF-F036-BD1D-3A5C-567D074B0C0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567" r="22760"/>
          <a:stretch/>
        </p:blipFill>
        <p:spPr bwMode="auto">
          <a:xfrm>
            <a:off x="10151332" y="2823502"/>
            <a:ext cx="1003300" cy="1033461"/>
          </a:xfrm>
          <a:prstGeom prst="rect">
            <a:avLst/>
          </a:prstGeom>
          <a:noFill/>
          <a:extLst>
            <a:ext uri="{909E8E84-426E-40DD-AFC4-6F175D3DCCD1}">
              <a14:hiddenFill xmlns:a14="http://schemas.microsoft.com/office/drawing/2010/main">
                <a:solidFill>
                  <a:srgbClr val="FFFFFF"/>
                </a:solidFill>
              </a14:hiddenFill>
            </a:ext>
          </a:extLst>
        </p:spPr>
      </p:pic>
      <p:sp>
        <p:nvSpPr>
          <p:cNvPr id="10" name="内容占位符 2">
            <a:extLst>
              <a:ext uri="{FF2B5EF4-FFF2-40B4-BE49-F238E27FC236}">
                <a16:creationId xmlns:a16="http://schemas.microsoft.com/office/drawing/2014/main" id="{8C56F433-D2CF-E462-12FE-885E0F4EEFFE}"/>
              </a:ext>
            </a:extLst>
          </p:cNvPr>
          <p:cNvSpPr txBox="1">
            <a:spLocks/>
          </p:cNvSpPr>
          <p:nvPr/>
        </p:nvSpPr>
        <p:spPr>
          <a:xfrm>
            <a:off x="9021614" y="2999217"/>
            <a:ext cx="1162049"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1763" indent="0">
              <a:lnSpc>
                <a:spcPct val="130000"/>
              </a:lnSpc>
              <a:buNone/>
            </a:pPr>
            <a:r>
              <a:rPr lang="zh-CN" altLang="en-US" dirty="0">
                <a:solidFill>
                  <a:prstClr val="black"/>
                </a:solidFill>
                <a:latin typeface="Garamond" panose="02020404030301010803" pitchFamily="18" charset="0"/>
              </a:rPr>
              <a:t>同质</a:t>
            </a:r>
            <a:endParaRPr lang="en-US" altLang="zh-CN" dirty="0">
              <a:solidFill>
                <a:prstClr val="black"/>
              </a:solidFill>
              <a:latin typeface="Garamond" panose="02020404030301010803" pitchFamily="18" charset="0"/>
            </a:endParaRPr>
          </a:p>
        </p:txBody>
      </p:sp>
      <p:sp>
        <p:nvSpPr>
          <p:cNvPr id="11" name="内容占位符 2">
            <a:extLst>
              <a:ext uri="{FF2B5EF4-FFF2-40B4-BE49-F238E27FC236}">
                <a16:creationId xmlns:a16="http://schemas.microsoft.com/office/drawing/2014/main" id="{B51CEDC2-C429-4BED-2CC1-05E4EEF33BC2}"/>
              </a:ext>
            </a:extLst>
          </p:cNvPr>
          <p:cNvSpPr txBox="1">
            <a:spLocks/>
          </p:cNvSpPr>
          <p:nvPr/>
        </p:nvSpPr>
        <p:spPr>
          <a:xfrm>
            <a:off x="535719" y="3879401"/>
            <a:ext cx="5299932" cy="1086299"/>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zh-CN" altLang="en-US" dirty="0">
                <a:solidFill>
                  <a:prstClr val="black"/>
                </a:solidFill>
                <a:latin typeface="Garamond" panose="02020404030301010803" pitchFamily="18" charset="0"/>
              </a:rPr>
              <a:t>如果基于以太坊发行代币，要遵守的标准</a:t>
            </a:r>
            <a:endParaRPr lang="en-US" altLang="zh-CN" dirty="0">
              <a:solidFill>
                <a:prstClr val="black"/>
              </a:solidFill>
              <a:latin typeface="Garamond" panose="02020404030301010803" pitchFamily="18" charset="0"/>
            </a:endParaRPr>
          </a:p>
        </p:txBody>
      </p:sp>
      <p:sp>
        <p:nvSpPr>
          <p:cNvPr id="12" name="内容占位符 2">
            <a:extLst>
              <a:ext uri="{FF2B5EF4-FFF2-40B4-BE49-F238E27FC236}">
                <a16:creationId xmlns:a16="http://schemas.microsoft.com/office/drawing/2014/main" id="{7C32727E-FA7B-7647-0089-F57BEDD0EC8E}"/>
              </a:ext>
            </a:extLst>
          </p:cNvPr>
          <p:cNvSpPr txBox="1">
            <a:spLocks/>
          </p:cNvSpPr>
          <p:nvPr/>
        </p:nvSpPr>
        <p:spPr>
          <a:xfrm>
            <a:off x="535718" y="4542251"/>
            <a:ext cx="6722331" cy="765303"/>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endParaRPr lang="en-US" altLang="zh-CN" dirty="0">
              <a:solidFill>
                <a:prstClr val="black"/>
              </a:solidFill>
              <a:latin typeface="Garamond" panose="02020404030301010803" pitchFamily="18" charset="0"/>
            </a:endParaRPr>
          </a:p>
        </p:txBody>
      </p:sp>
      <p:sp>
        <p:nvSpPr>
          <p:cNvPr id="15" name="内容占位符 2">
            <a:extLst>
              <a:ext uri="{FF2B5EF4-FFF2-40B4-BE49-F238E27FC236}">
                <a16:creationId xmlns:a16="http://schemas.microsoft.com/office/drawing/2014/main" id="{4791C221-5FB9-CFD9-1A30-8FDF8BA9BD4D}"/>
              </a:ext>
            </a:extLst>
          </p:cNvPr>
          <p:cNvSpPr txBox="1">
            <a:spLocks/>
          </p:cNvSpPr>
          <p:nvPr/>
        </p:nvSpPr>
        <p:spPr>
          <a:xfrm>
            <a:off x="472218" y="4923401"/>
            <a:ext cx="5763481" cy="1086299"/>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30000"/>
              </a:lnSpc>
            </a:pPr>
            <a:r>
              <a:rPr lang="zh-CN" altLang="en-US" dirty="0">
                <a:solidFill>
                  <a:prstClr val="black"/>
                </a:solidFill>
                <a:latin typeface="Garamond" panose="02020404030301010803" pitchFamily="18" charset="0"/>
              </a:rPr>
              <a:t>发行量、转账、批准转账、名称等</a:t>
            </a:r>
            <a:endParaRPr lang="en-US" altLang="zh-CN" dirty="0">
              <a:solidFill>
                <a:prstClr val="black"/>
              </a:solidFill>
              <a:latin typeface="Garamond" panose="02020404030301010803" pitchFamily="18" charset="0"/>
            </a:endParaRPr>
          </a:p>
        </p:txBody>
      </p:sp>
      <p:pic>
        <p:nvPicPr>
          <p:cNvPr id="17" name="图片 16">
            <a:extLst>
              <a:ext uri="{FF2B5EF4-FFF2-40B4-BE49-F238E27FC236}">
                <a16:creationId xmlns:a16="http://schemas.microsoft.com/office/drawing/2014/main" id="{B566FA99-C0C8-57F4-B754-CABC272DB13C}"/>
              </a:ext>
            </a:extLst>
          </p:cNvPr>
          <p:cNvPicPr>
            <a:picLocks noChangeAspect="1"/>
          </p:cNvPicPr>
          <p:nvPr/>
        </p:nvPicPr>
        <p:blipFill>
          <a:blip r:embed="rId4"/>
          <a:stretch>
            <a:fillRect/>
          </a:stretch>
        </p:blipFill>
        <p:spPr>
          <a:xfrm>
            <a:off x="129333" y="1774100"/>
            <a:ext cx="11933333" cy="4476190"/>
          </a:xfrm>
          <a:prstGeom prst="rect">
            <a:avLst/>
          </a:prstGeom>
        </p:spPr>
      </p:pic>
    </p:spTree>
    <p:extLst>
      <p:ext uri="{BB962C8B-B14F-4D97-AF65-F5344CB8AC3E}">
        <p14:creationId xmlns:p14="http://schemas.microsoft.com/office/powerpoint/2010/main" val="479055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P spid="6" grpId="0"/>
      <p:bldP spid="7" grpId="0"/>
      <p:bldP spid="10" grpId="0"/>
      <p:bldP spid="11" grpId="0"/>
      <p:bldP spid="1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非同质化代币</a:t>
            </a:r>
            <a:r>
              <a:rPr lang="zh-CN" altLang="en-US" dirty="0">
                <a:solidFill>
                  <a:prstClr val="black"/>
                </a:solidFill>
                <a:latin typeface="Garamond" panose="02020404030301010803" pitchFamily="18" charset="0"/>
                <a:cs typeface="+mn-cs"/>
              </a:rPr>
              <a:t>（</a:t>
            </a:r>
            <a:r>
              <a:rPr lang="en-US" altLang="zh-CN" dirty="0">
                <a:solidFill>
                  <a:prstClr val="black"/>
                </a:solidFill>
                <a:latin typeface="Garamond" panose="02020404030301010803" pitchFamily="18" charset="0"/>
                <a:cs typeface="+mn-cs"/>
              </a:rPr>
              <a:t>NFT</a:t>
            </a:r>
            <a:r>
              <a:rPr lang="zh-CN" altLang="en-US" dirty="0">
                <a:solidFill>
                  <a:prstClr val="black"/>
                </a:solidFill>
                <a:latin typeface="Garamond" panose="02020404030301010803" pitchFamily="18" charset="0"/>
                <a:cs typeface="+mn-cs"/>
              </a:rPr>
              <a:t>）</a:t>
            </a:r>
          </a:p>
        </p:txBody>
      </p:sp>
      <p:sp>
        <p:nvSpPr>
          <p:cNvPr id="3" name="灯片编号占位符 2">
            <a:extLst>
              <a:ext uri="{FF2B5EF4-FFF2-40B4-BE49-F238E27FC236}">
                <a16:creationId xmlns:a16="http://schemas.microsoft.com/office/drawing/2014/main" id="{493E6B42-DAB5-7042-B243-5902825EBD30}"/>
              </a:ext>
            </a:extLst>
          </p:cNvPr>
          <p:cNvSpPr>
            <a:spLocks noGrp="1"/>
          </p:cNvSpPr>
          <p:nvPr>
            <p:ph type="sldNum" sz="quarter" idx="12"/>
          </p:nvPr>
        </p:nvSpPr>
        <p:spPr/>
        <p:txBody>
          <a:bodyPr/>
          <a:lstStyle/>
          <a:p>
            <a:fld id="{8D4D1E41-7A09-AB4A-A4E1-09765ADA2698}" type="slidenum">
              <a:rPr kumimoji="1" lang="zh-CN" altLang="en-US" smtClean="0"/>
              <a:t>22</a:t>
            </a:fld>
            <a:endParaRPr kumimoji="1" lang="zh-CN" altLang="en-US" dirty="0"/>
          </a:p>
        </p:txBody>
      </p:sp>
      <p:sp>
        <p:nvSpPr>
          <p:cNvPr id="4" name="文本占位符 3">
            <a:extLst>
              <a:ext uri="{FF2B5EF4-FFF2-40B4-BE49-F238E27FC236}">
                <a16:creationId xmlns:a16="http://schemas.microsoft.com/office/drawing/2014/main" id="{D5F12380-EA2E-437C-8E7C-56EEC114A4A8}"/>
              </a:ext>
            </a:extLst>
          </p:cNvPr>
          <p:cNvSpPr>
            <a:spLocks noGrp="1"/>
          </p:cNvSpPr>
          <p:nvPr/>
        </p:nvSpPr>
        <p:spPr bwMode="auto">
          <a:xfrm>
            <a:off x="201649" y="1380763"/>
            <a:ext cx="6236466"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7013" indent="-227013" algn="l" defTabSz="912813" rtl="0" eaLnBrk="0" fontAlgn="base" hangingPunct="0">
              <a:lnSpc>
                <a:spcPct val="90000"/>
              </a:lnSpc>
              <a:spcBef>
                <a:spcPts val="1000"/>
              </a:spcBef>
              <a:spcAft>
                <a:spcPct val="0"/>
              </a:spcAft>
              <a:buFont typeface="Wingdings" pitchFamily="2" charset="2"/>
              <a:buChar char="ü"/>
              <a:defRPr sz="2400" b="1" i="0" kern="1200">
                <a:solidFill>
                  <a:schemeClr val="tx1"/>
                </a:solidFill>
                <a:latin typeface="LXGW WenKai" pitchFamily="2" charset="-120"/>
                <a:ea typeface="LXGW WenKai" pitchFamily="2" charset="-120"/>
                <a:cs typeface="等线" panose="02010600030101010101" pitchFamily="2" charset="-122"/>
              </a:defRPr>
            </a:lvl1pPr>
            <a:lvl2pPr marL="457200" indent="0" algn="l" defTabSz="912813" rtl="0" eaLnBrk="0" fontAlgn="base" hangingPunct="0">
              <a:lnSpc>
                <a:spcPct val="90000"/>
              </a:lnSpc>
              <a:spcBef>
                <a:spcPts val="500"/>
              </a:spcBef>
              <a:spcAft>
                <a:spcPct val="0"/>
              </a:spcAft>
              <a:buFont typeface="Arial" panose="020B0604020202020204" pitchFamily="34" charset="0"/>
              <a:buNone/>
              <a:defRPr sz="2400" kern="1200">
                <a:solidFill>
                  <a:schemeClr val="tx1"/>
                </a:solidFill>
                <a:latin typeface="+mn-lt"/>
                <a:ea typeface="+mn-ea"/>
                <a:cs typeface="等线" panose="02010600030101010101" pitchFamily="2" charset="-122"/>
              </a:defRPr>
            </a:lvl2pPr>
            <a:lvl3pPr marL="1141413" indent="-227013" algn="l" defTabSz="912813"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pitchFamily="2" charset="-122"/>
              </a:defRPr>
            </a:lvl3pPr>
            <a:lvl4pPr marL="15986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等线" panose="02010600030101010101" pitchFamily="2" charset="-122"/>
              </a:defRPr>
            </a:lvl4pPr>
            <a:lvl5pPr marL="20558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等线" panose="02010600030101010101" pitchFamily="2" charset="-122"/>
              </a:defRPr>
            </a:lvl5pPr>
            <a:lvl6pPr marL="2514516" indent="-228593" algn="l" defTabSz="91437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01" indent="-228593" algn="l" defTabSz="91437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85" indent="-228593" algn="l" defTabSz="91437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71" indent="-228593" algn="l" defTabSz="91437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363" indent="-360363" defTabSz="914400" eaLnBrk="1" hangingPunct="1">
              <a:lnSpc>
                <a:spcPct val="130000"/>
              </a:lnSpc>
              <a:spcBef>
                <a:spcPts val="600"/>
              </a:spcBef>
              <a:buFont typeface="Wingdings" pitchFamily="2" charset="2"/>
              <a:buChar char="Ø"/>
            </a:pPr>
            <a:r>
              <a:rPr lang="en-US" altLang="zh-CN" sz="2800" dirty="0">
                <a:solidFill>
                  <a:prstClr val="black"/>
                </a:solidFill>
                <a:latin typeface="Garamond" panose="02020404030301010803" pitchFamily="18" charset="0"/>
                <a:ea typeface="Microsoft YaHei" panose="020B0503020204020204" pitchFamily="34" charset="-122"/>
                <a:cs typeface="+mn-cs"/>
              </a:rPr>
              <a:t> Non-fungible</a:t>
            </a:r>
            <a:r>
              <a:rPr lang="zh-CN" altLang="en-US" sz="2800" dirty="0">
                <a:solidFill>
                  <a:prstClr val="black"/>
                </a:solidFill>
                <a:latin typeface="Garamond" panose="02020404030301010803" pitchFamily="18" charset="0"/>
                <a:ea typeface="Microsoft YaHei" panose="020B0503020204020204" pitchFamily="34" charset="-122"/>
                <a:cs typeface="+mn-cs"/>
              </a:rPr>
              <a:t> </a:t>
            </a:r>
            <a:r>
              <a:rPr lang="en-US" altLang="zh-CN" sz="2800" dirty="0">
                <a:solidFill>
                  <a:prstClr val="black"/>
                </a:solidFill>
                <a:latin typeface="Garamond" panose="02020404030301010803" pitchFamily="18" charset="0"/>
                <a:ea typeface="Microsoft YaHei" panose="020B0503020204020204" pitchFamily="34" charset="-122"/>
                <a:cs typeface="+mn-cs"/>
              </a:rPr>
              <a:t>tokens</a:t>
            </a:r>
          </a:p>
          <a:p>
            <a:pPr marL="360363" indent="-360363" defTabSz="914400" eaLnBrk="1" hangingPunct="1">
              <a:lnSpc>
                <a:spcPct val="130000"/>
              </a:lnSpc>
              <a:spcBef>
                <a:spcPts val="600"/>
              </a:spcBef>
              <a:buFont typeface="Wingdings" pitchFamily="2" charset="2"/>
              <a:buChar char="Ø"/>
            </a:pPr>
            <a:endParaRPr lang="zh-CN" altLang="en-US" sz="2800" dirty="0">
              <a:solidFill>
                <a:prstClr val="black"/>
              </a:solidFill>
              <a:latin typeface="Garamond" panose="02020404030301010803" pitchFamily="18" charset="0"/>
              <a:ea typeface="Microsoft YaHei" panose="020B0503020204020204" pitchFamily="34" charset="-122"/>
              <a:cs typeface="+mn-cs"/>
            </a:endParaRPr>
          </a:p>
        </p:txBody>
      </p:sp>
      <p:sp>
        <p:nvSpPr>
          <p:cNvPr id="5" name="矩形 4">
            <a:extLst>
              <a:ext uri="{FF2B5EF4-FFF2-40B4-BE49-F238E27FC236}">
                <a16:creationId xmlns:a16="http://schemas.microsoft.com/office/drawing/2014/main" id="{78F4852D-364E-45B3-B9CE-79CA3BB993F7}"/>
              </a:ext>
            </a:extLst>
          </p:cNvPr>
          <p:cNvSpPr/>
          <p:nvPr/>
        </p:nvSpPr>
        <p:spPr>
          <a:xfrm>
            <a:off x="6711668" y="1422036"/>
            <a:ext cx="5275848" cy="1794720"/>
          </a:xfrm>
          <a:prstGeom prst="rect">
            <a:avLst/>
          </a:prstGeom>
          <a:noFill/>
          <a:ln w="19050">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zh-CN" altLang="en-US"/>
          </a:p>
        </p:txBody>
      </p:sp>
      <p:sp>
        <p:nvSpPr>
          <p:cNvPr id="6" name="矩形 5">
            <a:extLst>
              <a:ext uri="{FF2B5EF4-FFF2-40B4-BE49-F238E27FC236}">
                <a16:creationId xmlns:a16="http://schemas.microsoft.com/office/drawing/2014/main" id="{B77860BB-3788-4F25-9DB6-85991E403956}"/>
              </a:ext>
            </a:extLst>
          </p:cNvPr>
          <p:cNvSpPr/>
          <p:nvPr/>
        </p:nvSpPr>
        <p:spPr>
          <a:xfrm>
            <a:off x="198814" y="1849291"/>
            <a:ext cx="6101669" cy="1709186"/>
          </a:xfrm>
          <a:prstGeom prst="rect">
            <a:avLst/>
          </a:prstGeom>
        </p:spPr>
        <p:txBody>
          <a:bodyPr wrap="square">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pPr marL="342900" indent="-342900">
              <a:lnSpc>
                <a:spcPct val="150000"/>
              </a:lnSpc>
              <a:buFont typeface="Wingdings" panose="05000000000000000000" pitchFamily="2" charset="2"/>
              <a:buChar char="p"/>
            </a:pPr>
            <a:r>
              <a:rPr lang="zh-CN" altLang="en-US" dirty="0">
                <a:latin typeface="Times New Roman" panose="02020603050405020304" pitchFamily="18" charset="0"/>
                <a:ea typeface="微软雅黑" panose="020B0503020204020204" pitchFamily="34" charset="-122"/>
              </a:rPr>
              <a:t>通过一类智能合约生成的某种物品（虚拟或实体）的</a:t>
            </a:r>
            <a:endParaRPr lang="en-US" altLang="zh-CN" dirty="0">
              <a:latin typeface="Times New Roman" panose="02020603050405020304" pitchFamily="18" charset="0"/>
              <a:ea typeface="微软雅黑" panose="020B0503020204020204" pitchFamily="34" charset="-122"/>
            </a:endParaRPr>
          </a:p>
          <a:p>
            <a:pPr>
              <a:lnSpc>
                <a:spcPct val="150000"/>
              </a:lnSpc>
            </a:pPr>
            <a:r>
              <a:rPr lang="zh-CN" altLang="en-US" dirty="0">
                <a:latin typeface="Times New Roman" panose="02020603050405020304" pitchFamily="18" charset="0"/>
                <a:ea typeface="微软雅黑" panose="020B0503020204020204" pitchFamily="34" charset="-122"/>
              </a:rPr>
              <a:t>独一无二的、去中心化的标志</a:t>
            </a:r>
            <a:endParaRPr lang="en-US" altLang="zh-CN" dirty="0">
              <a:latin typeface="Times New Roman" panose="02020603050405020304" pitchFamily="18" charset="0"/>
              <a:ea typeface="微软雅黑" panose="020B0503020204020204" pitchFamily="34" charset="-122"/>
            </a:endParaRPr>
          </a:p>
          <a:p>
            <a:pPr marL="342900" indent="-342900">
              <a:lnSpc>
                <a:spcPct val="150000"/>
              </a:lnSpc>
              <a:buFont typeface="Wingdings" panose="05000000000000000000" pitchFamily="2" charset="2"/>
              <a:buChar char="p"/>
            </a:pPr>
            <a:r>
              <a:rPr lang="zh-CN" altLang="en-US" b="1" dirty="0">
                <a:latin typeface="Times New Roman" panose="02020603050405020304" pitchFamily="18" charset="0"/>
                <a:ea typeface="微软雅黑" panose="020B0503020204020204" pitchFamily="34" charset="-122"/>
              </a:rPr>
              <a:t>所有权：</a:t>
            </a:r>
            <a:r>
              <a:rPr lang="zh-CN" altLang="en-US" dirty="0">
                <a:latin typeface="Times New Roman" panose="02020603050405020304" pitchFamily="18" charset="0"/>
                <a:ea typeface="微软雅黑" panose="020B0503020204020204" pitchFamily="34" charset="-122"/>
              </a:rPr>
              <a:t>签名上链</a:t>
            </a:r>
            <a:endParaRPr lang="en-US" altLang="zh-CN" dirty="0">
              <a:latin typeface="Times New Roman" panose="02020603050405020304" pitchFamily="18" charset="0"/>
              <a:ea typeface="微软雅黑" panose="020B0503020204020204" pitchFamily="34" charset="-122"/>
            </a:endParaRPr>
          </a:p>
          <a:p>
            <a:pPr marL="342900" indent="-342900">
              <a:lnSpc>
                <a:spcPct val="150000"/>
              </a:lnSpc>
              <a:buFont typeface="Wingdings" panose="05000000000000000000" pitchFamily="2" charset="2"/>
              <a:buChar char="p"/>
            </a:pPr>
            <a:r>
              <a:rPr lang="zh-CN" altLang="en-US" b="1" dirty="0">
                <a:latin typeface="Times New Roman" panose="02020603050405020304" pitchFamily="18" charset="0"/>
                <a:ea typeface="微软雅黑" panose="020B0503020204020204" pitchFamily="34" charset="-122"/>
              </a:rPr>
              <a:t>独特性：</a:t>
            </a:r>
            <a:r>
              <a:rPr lang="en-US" altLang="zh-CN" dirty="0">
                <a:latin typeface="Times New Roman" panose="02020603050405020304" pitchFamily="18" charset="0"/>
                <a:ea typeface="微软雅黑" panose="020B0503020204020204" pitchFamily="34" charset="-122"/>
              </a:rPr>
              <a:t>IPFS</a:t>
            </a:r>
            <a:r>
              <a:rPr lang="zh-CN" altLang="en-US" dirty="0">
                <a:latin typeface="Times New Roman" panose="02020603050405020304" pitchFamily="18" charset="0"/>
                <a:ea typeface="微软雅黑" panose="020B0503020204020204" pitchFamily="34" charset="-122"/>
              </a:rPr>
              <a:t>存储</a:t>
            </a:r>
            <a:endParaRPr lang="en-US" altLang="zh-CN" dirty="0">
              <a:latin typeface="Times New Roman" panose="02020603050405020304" pitchFamily="18" charset="0"/>
              <a:ea typeface="微软雅黑" panose="020B0503020204020204" pitchFamily="34" charset="-122"/>
            </a:endParaRPr>
          </a:p>
        </p:txBody>
      </p:sp>
      <p:pic>
        <p:nvPicPr>
          <p:cNvPr id="7" name="图片 6">
            <a:extLst>
              <a:ext uri="{FF2B5EF4-FFF2-40B4-BE49-F238E27FC236}">
                <a16:creationId xmlns:a16="http://schemas.microsoft.com/office/drawing/2014/main" id="{B2A442D0-2A1F-4A25-9DD3-D30D8CF8F294}"/>
              </a:ext>
            </a:extLst>
          </p:cNvPr>
          <p:cNvPicPr>
            <a:picLocks noChangeAspect="1"/>
          </p:cNvPicPr>
          <p:nvPr/>
        </p:nvPicPr>
        <p:blipFill>
          <a:blip r:embed="rId3"/>
          <a:stretch>
            <a:fillRect/>
          </a:stretch>
        </p:blipFill>
        <p:spPr>
          <a:xfrm>
            <a:off x="201649" y="3574741"/>
            <a:ext cx="6096000" cy="3146734"/>
          </a:xfrm>
          <a:prstGeom prst="rect">
            <a:avLst/>
          </a:prstGeom>
        </p:spPr>
      </p:pic>
      <p:sp>
        <p:nvSpPr>
          <p:cNvPr id="8" name="文本框 8">
            <a:extLst>
              <a:ext uri="{FF2B5EF4-FFF2-40B4-BE49-F238E27FC236}">
                <a16:creationId xmlns:a16="http://schemas.microsoft.com/office/drawing/2014/main" id="{E0E9FE14-730F-473C-B823-67CA67B203A7}"/>
              </a:ext>
            </a:extLst>
          </p:cNvPr>
          <p:cNvSpPr txBox="1"/>
          <p:nvPr/>
        </p:nvSpPr>
        <p:spPr>
          <a:xfrm>
            <a:off x="10433294" y="2861293"/>
            <a:ext cx="1305165" cy="338554"/>
          </a:xfrm>
          <a:prstGeom prst="rect">
            <a:avLst/>
          </a:prstGeom>
          <a:noFill/>
        </p:spPr>
        <p:txBody>
          <a:bodyPr wrap="non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r>
              <a:rPr lang="en-US" altLang="zh-CN" sz="1600" dirty="0" err="1">
                <a:latin typeface="Times New Roman" panose="02020603050405020304" pitchFamily="18" charset="0"/>
                <a:ea typeface="霞鹜文楷" pitchFamily="2" charset="-122"/>
                <a:cs typeface="Times New Roman" panose="02020603050405020304" pitchFamily="18" charset="0"/>
              </a:rPr>
              <a:t>CryptoKitties</a:t>
            </a:r>
            <a:endParaRPr lang="zh-CN" altLang="en-US" sz="1600" dirty="0">
              <a:latin typeface="Times New Roman" panose="02020603050405020304" pitchFamily="18" charset="0"/>
              <a:ea typeface="霞鹜文楷" pitchFamily="2" charset="-122"/>
              <a:cs typeface="Times New Roman" panose="02020603050405020304" pitchFamily="18" charset="0"/>
            </a:endParaRPr>
          </a:p>
        </p:txBody>
      </p:sp>
      <p:sp>
        <p:nvSpPr>
          <p:cNvPr id="9" name="文本框 9">
            <a:extLst>
              <a:ext uri="{FF2B5EF4-FFF2-40B4-BE49-F238E27FC236}">
                <a16:creationId xmlns:a16="http://schemas.microsoft.com/office/drawing/2014/main" id="{B057E715-1AEB-4434-9C42-3244299038F2}"/>
              </a:ext>
            </a:extLst>
          </p:cNvPr>
          <p:cNvSpPr txBox="1"/>
          <p:nvPr/>
        </p:nvSpPr>
        <p:spPr>
          <a:xfrm>
            <a:off x="8563223" y="2861293"/>
            <a:ext cx="1572738" cy="338554"/>
          </a:xfrm>
          <a:prstGeom prst="rect">
            <a:avLst/>
          </a:prstGeom>
          <a:noFill/>
        </p:spPr>
        <p:txBody>
          <a:bodyPr wrap="non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r>
              <a:rPr lang="en-US" altLang="zh-CN" sz="1600" dirty="0">
                <a:latin typeface="Times New Roman" panose="02020603050405020304" pitchFamily="18" charset="0"/>
                <a:ea typeface="霞鹜文楷" pitchFamily="2" charset="-122"/>
                <a:cs typeface="Times New Roman" panose="02020603050405020304" pitchFamily="18" charset="0"/>
              </a:rPr>
              <a:t>Digital Artworks</a:t>
            </a:r>
            <a:endParaRPr lang="zh-CN" altLang="en-US" sz="1600" dirty="0">
              <a:latin typeface="Times New Roman" panose="02020603050405020304" pitchFamily="18" charset="0"/>
              <a:ea typeface="霞鹜文楷" pitchFamily="2" charset="-122"/>
              <a:cs typeface="Times New Roman" panose="02020603050405020304" pitchFamily="18" charset="0"/>
            </a:endParaRPr>
          </a:p>
        </p:txBody>
      </p:sp>
      <p:sp>
        <p:nvSpPr>
          <p:cNvPr id="10" name="文本框 10">
            <a:extLst>
              <a:ext uri="{FF2B5EF4-FFF2-40B4-BE49-F238E27FC236}">
                <a16:creationId xmlns:a16="http://schemas.microsoft.com/office/drawing/2014/main" id="{36E0E4B3-954B-4713-8960-21CDCE2B2E08}"/>
              </a:ext>
            </a:extLst>
          </p:cNvPr>
          <p:cNvSpPr txBox="1"/>
          <p:nvPr/>
        </p:nvSpPr>
        <p:spPr>
          <a:xfrm>
            <a:off x="6956014" y="2861293"/>
            <a:ext cx="1257075" cy="338554"/>
          </a:xfrm>
          <a:prstGeom prst="rect">
            <a:avLst/>
          </a:prstGeom>
          <a:noFill/>
        </p:spPr>
        <p:txBody>
          <a:bodyPr wrap="non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r>
              <a:rPr lang="en-US" altLang="zh-CN" sz="1600" dirty="0" err="1">
                <a:latin typeface="Times New Roman" panose="02020603050405020304" pitchFamily="18" charset="0"/>
                <a:ea typeface="霞鹜文楷" pitchFamily="2" charset="-122"/>
                <a:cs typeface="Times New Roman" panose="02020603050405020304" pitchFamily="18" charset="0"/>
              </a:rPr>
              <a:t>CryptoPunks</a:t>
            </a:r>
            <a:endParaRPr lang="zh-CN" altLang="en-US" sz="1600" dirty="0">
              <a:latin typeface="Times New Roman" panose="02020603050405020304" pitchFamily="18" charset="0"/>
              <a:ea typeface="霞鹜文楷" pitchFamily="2" charset="-122"/>
              <a:cs typeface="Times New Roman" panose="02020603050405020304" pitchFamily="18" charset="0"/>
            </a:endParaRPr>
          </a:p>
        </p:txBody>
      </p:sp>
      <p:pic>
        <p:nvPicPr>
          <p:cNvPr id="11" name="图片 10">
            <a:extLst>
              <a:ext uri="{FF2B5EF4-FFF2-40B4-BE49-F238E27FC236}">
                <a16:creationId xmlns:a16="http://schemas.microsoft.com/office/drawing/2014/main" id="{81908DDF-DD59-4122-A3C5-1639B474848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8076" t="16050" r="2992" b="21666"/>
          <a:stretch/>
        </p:blipFill>
        <p:spPr>
          <a:xfrm>
            <a:off x="10380533" y="1590760"/>
            <a:ext cx="1410686" cy="1113124"/>
          </a:xfrm>
          <a:prstGeom prst="rect">
            <a:avLst/>
          </a:prstGeom>
        </p:spPr>
      </p:pic>
      <p:pic>
        <p:nvPicPr>
          <p:cNvPr id="12" name="Picture 2" descr="See the source image">
            <a:extLst>
              <a:ext uri="{FF2B5EF4-FFF2-40B4-BE49-F238E27FC236}">
                <a16:creationId xmlns:a16="http://schemas.microsoft.com/office/drawing/2014/main" id="{B94A8D46-AF27-4C8C-BAF4-FC51DC8C666B}"/>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1756" r="7738"/>
          <a:stretch/>
        </p:blipFill>
        <p:spPr bwMode="auto">
          <a:xfrm>
            <a:off x="6930102" y="1547868"/>
            <a:ext cx="1257076" cy="120233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See the source image">
            <a:extLst>
              <a:ext uri="{FF2B5EF4-FFF2-40B4-BE49-F238E27FC236}">
                <a16:creationId xmlns:a16="http://schemas.microsoft.com/office/drawing/2014/main" id="{330C1536-D271-4214-8976-34DFFCA047D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589059" y="1540915"/>
            <a:ext cx="1517921" cy="1113124"/>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4">
            <a:extLst>
              <a:ext uri="{FF2B5EF4-FFF2-40B4-BE49-F238E27FC236}">
                <a16:creationId xmlns:a16="http://schemas.microsoft.com/office/drawing/2014/main" id="{D343B56E-A51E-4EE8-B37E-1272CF78F802}"/>
              </a:ext>
            </a:extLst>
          </p:cNvPr>
          <p:cNvSpPr txBox="1"/>
          <p:nvPr/>
        </p:nvSpPr>
        <p:spPr>
          <a:xfrm>
            <a:off x="6297649" y="3588367"/>
            <a:ext cx="5689867" cy="2862322"/>
          </a:xfrm>
          <a:prstGeom prst="rect">
            <a:avLst/>
          </a:prstGeom>
          <a:noFill/>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5pPr>
            <a:lvl6pPr marL="22860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6pPr>
            <a:lvl7pPr marL="27432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7pPr>
            <a:lvl8pPr marL="32004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8pPr>
            <a:lvl9pPr marL="3657600" algn="l" defTabSz="914400" rtl="0" eaLnBrk="1" latinLnBrk="0" hangingPunct="1">
              <a:defRPr kern="1200">
                <a:solidFill>
                  <a:schemeClr val="tx1"/>
                </a:solidFill>
                <a:latin typeface="Arial" panose="020B0604020202020204" pitchFamily="34" charset="0"/>
                <a:ea typeface="等线" panose="02010600030101010101" pitchFamily="2" charset="-122"/>
                <a:cs typeface="等线" panose="02010600030101010101" pitchFamily="2" charset="-122"/>
              </a:defRPr>
            </a:lvl9pPr>
          </a:lstStyle>
          <a:p>
            <a:pPr marL="342900" indent="-342900">
              <a:buFont typeface="Wingdings" panose="05000000000000000000" pitchFamily="2" charset="2"/>
              <a:buChar char="p"/>
            </a:pPr>
            <a:r>
              <a:rPr lang="zh-CN" altLang="en-US" dirty="0">
                <a:latin typeface="Times New Roman" panose="02020603050405020304" pitchFamily="18" charset="0"/>
                <a:ea typeface="微软雅黑" panose="020B0503020204020204" pitchFamily="34" charset="-122"/>
              </a:rPr>
              <a:t>基本原理</a:t>
            </a:r>
            <a:endParaRPr lang="en-US" altLang="zh-CN" dirty="0">
              <a:latin typeface="Times New Roman" panose="02020603050405020304" pitchFamily="18" charset="0"/>
              <a:ea typeface="微软雅黑" panose="020B0503020204020204" pitchFamily="34" charset="-122"/>
            </a:endParaRPr>
          </a:p>
          <a:p>
            <a:pPr marL="914400" lvl="1" indent="-457200">
              <a:buFont typeface="+mj-ea"/>
              <a:buAutoNum type="circleNumDbPlain"/>
            </a:pPr>
            <a:endParaRPr lang="en-US" altLang="zh-CN" dirty="0">
              <a:latin typeface="Times New Roman" panose="02020603050405020304" pitchFamily="18" charset="0"/>
              <a:ea typeface="微软雅黑" panose="020B0503020204020204" pitchFamily="34" charset="-122"/>
            </a:endParaRPr>
          </a:p>
          <a:p>
            <a:pPr marL="914400" lvl="1" indent="-457200">
              <a:buFont typeface="+mj-ea"/>
              <a:buAutoNum type="circleNumDbPlain"/>
            </a:pPr>
            <a:r>
              <a:rPr lang="zh-CN" altLang="en-US" dirty="0">
                <a:latin typeface="Times New Roman" panose="02020603050405020304" pitchFamily="18" charset="0"/>
                <a:ea typeface="微软雅黑" panose="020B0503020204020204" pitchFamily="34" charset="-122"/>
              </a:rPr>
              <a:t>物品拥有者发起交易并签名</a:t>
            </a:r>
            <a:endParaRPr lang="en-US" altLang="zh-CN" dirty="0">
              <a:latin typeface="Times New Roman" panose="02020603050405020304" pitchFamily="18" charset="0"/>
              <a:ea typeface="微软雅黑" panose="020B0503020204020204" pitchFamily="34" charset="-122"/>
            </a:endParaRPr>
          </a:p>
          <a:p>
            <a:pPr marL="914400" lvl="1" indent="-457200">
              <a:buFont typeface="+mj-ea"/>
              <a:buAutoNum type="circleNumDbPlain"/>
            </a:pPr>
            <a:endParaRPr lang="en-US" altLang="zh-CN" dirty="0">
              <a:latin typeface="Times New Roman" panose="02020603050405020304" pitchFamily="18" charset="0"/>
              <a:ea typeface="微软雅黑" panose="020B0503020204020204" pitchFamily="34" charset="-122"/>
            </a:endParaRPr>
          </a:p>
          <a:p>
            <a:pPr marL="914400" lvl="1" indent="-457200">
              <a:buFont typeface="+mj-ea"/>
              <a:buAutoNum type="circleNumDbPlain"/>
            </a:pPr>
            <a:r>
              <a:rPr lang="zh-CN" altLang="en-US" dirty="0">
                <a:latin typeface="Times New Roman" panose="02020603050405020304" pitchFamily="18" charset="0"/>
                <a:ea typeface="微软雅黑" panose="020B0503020204020204" pitchFamily="34" charset="-122"/>
              </a:rPr>
              <a:t>调用</a:t>
            </a:r>
            <a:r>
              <a:rPr lang="en-US" altLang="zh-CN" b="1" dirty="0">
                <a:solidFill>
                  <a:srgbClr val="F53D7F"/>
                </a:solidFill>
                <a:latin typeface="Times New Roman" panose="02020603050405020304" pitchFamily="18" charset="0"/>
                <a:ea typeface="微软雅黑" panose="020B0503020204020204" pitchFamily="34" charset="-122"/>
              </a:rPr>
              <a:t>ERC721</a:t>
            </a:r>
            <a:r>
              <a:rPr lang="zh-CN" altLang="en-US" b="1" dirty="0">
                <a:solidFill>
                  <a:srgbClr val="F53D7F"/>
                </a:solidFill>
                <a:latin typeface="Times New Roman" panose="02020603050405020304" pitchFamily="18" charset="0"/>
                <a:ea typeface="微软雅黑" panose="020B0503020204020204" pitchFamily="34" charset="-122"/>
              </a:rPr>
              <a:t>合约</a:t>
            </a:r>
            <a:endParaRPr lang="en-US" altLang="zh-CN" b="1" dirty="0">
              <a:solidFill>
                <a:srgbClr val="F53D7F"/>
              </a:solidFill>
              <a:latin typeface="Times New Roman" panose="02020603050405020304" pitchFamily="18" charset="0"/>
              <a:ea typeface="微软雅黑" panose="020B0503020204020204" pitchFamily="34" charset="-122"/>
            </a:endParaRPr>
          </a:p>
          <a:p>
            <a:pPr marL="914400" lvl="1" indent="-457200">
              <a:buFont typeface="+mj-ea"/>
              <a:buAutoNum type="circleNumDbPlain"/>
            </a:pPr>
            <a:endParaRPr lang="en-US" altLang="zh-CN" b="1" dirty="0">
              <a:solidFill>
                <a:srgbClr val="F53D7F"/>
              </a:solidFill>
              <a:latin typeface="Times New Roman" panose="02020603050405020304" pitchFamily="18" charset="0"/>
              <a:ea typeface="微软雅黑" panose="020B0503020204020204" pitchFamily="34" charset="-122"/>
            </a:endParaRPr>
          </a:p>
          <a:p>
            <a:pPr marL="914400" lvl="1" indent="-457200">
              <a:buFont typeface="+mj-ea"/>
              <a:buAutoNum type="circleNumDbPlain"/>
            </a:pPr>
            <a:r>
              <a:rPr lang="zh-CN" altLang="en-US" dirty="0">
                <a:latin typeface="Times New Roman" panose="02020603050405020304" pitchFamily="18" charset="0"/>
                <a:ea typeface="微软雅黑" panose="020B0503020204020204" pitchFamily="34" charset="-122"/>
              </a:rPr>
              <a:t>生成独一无二的</a:t>
            </a:r>
            <a:r>
              <a:rPr lang="en-US" altLang="zh-CN" dirty="0">
                <a:latin typeface="Times New Roman" panose="02020603050405020304" pitchFamily="18" charset="0"/>
                <a:ea typeface="微软雅黑" panose="020B0503020204020204" pitchFamily="34" charset="-122"/>
              </a:rPr>
              <a:t>token</a:t>
            </a:r>
            <a:r>
              <a:rPr lang="zh-CN" altLang="en-US" dirty="0">
                <a:latin typeface="Times New Roman" panose="02020603050405020304" pitchFamily="18" charset="0"/>
                <a:ea typeface="微软雅黑" panose="020B0503020204020204" pitchFamily="34" charset="-122"/>
              </a:rPr>
              <a:t>，包含物品的地址（例如</a:t>
            </a:r>
            <a:r>
              <a:rPr lang="en-US" altLang="zh-CN" dirty="0">
                <a:latin typeface="Times New Roman" panose="02020603050405020304" pitchFamily="18" charset="0"/>
                <a:ea typeface="微软雅黑" panose="020B0503020204020204" pitchFamily="34" charset="-122"/>
              </a:rPr>
              <a:t>IPFS</a:t>
            </a:r>
            <a:r>
              <a:rPr lang="zh-CN" altLang="en-US" dirty="0">
                <a:latin typeface="Times New Roman" panose="02020603050405020304" pitchFamily="18" charset="0"/>
                <a:ea typeface="微软雅黑" panose="020B0503020204020204" pitchFamily="34" charset="-122"/>
              </a:rPr>
              <a:t>中的哈希值）</a:t>
            </a:r>
            <a:endParaRPr lang="en-US" altLang="zh-CN" dirty="0">
              <a:latin typeface="Times New Roman" panose="02020603050405020304" pitchFamily="18" charset="0"/>
              <a:ea typeface="微软雅黑" panose="020B0503020204020204" pitchFamily="34" charset="-122"/>
            </a:endParaRPr>
          </a:p>
          <a:p>
            <a:pPr marL="914400" lvl="1" indent="-457200">
              <a:buFont typeface="+mj-ea"/>
              <a:buAutoNum type="circleNumDbPlain"/>
            </a:pPr>
            <a:endParaRPr lang="en-US" altLang="zh-CN" dirty="0">
              <a:latin typeface="Times New Roman" panose="02020603050405020304" pitchFamily="18" charset="0"/>
              <a:ea typeface="微软雅黑" panose="020B0503020204020204" pitchFamily="34" charset="-122"/>
            </a:endParaRPr>
          </a:p>
          <a:p>
            <a:pPr marL="914400" lvl="1" indent="-457200">
              <a:buFont typeface="+mj-ea"/>
              <a:buAutoNum type="circleNumDbPlain"/>
            </a:pPr>
            <a:r>
              <a:rPr lang="en-US" altLang="zh-CN" dirty="0">
                <a:latin typeface="Times New Roman" panose="02020603050405020304" pitchFamily="18" charset="0"/>
                <a:ea typeface="微软雅黑" panose="020B0503020204020204" pitchFamily="34" charset="-122"/>
              </a:rPr>
              <a:t>Token</a:t>
            </a:r>
            <a:r>
              <a:rPr lang="zh-CN" altLang="en-US" dirty="0">
                <a:latin typeface="Times New Roman" panose="02020603050405020304" pitchFamily="18" charset="0"/>
                <a:ea typeface="微软雅黑" panose="020B0503020204020204" pitchFamily="34" charset="-122"/>
              </a:rPr>
              <a:t>可交易</a:t>
            </a:r>
            <a:endParaRPr lang="en-US" altLang="zh-CN" dirty="0">
              <a:latin typeface="Times New Roman" panose="02020603050405020304" pitchFamily="18" charset="0"/>
              <a:ea typeface="微软雅黑" panose="020B0503020204020204" pitchFamily="34" charset="-122"/>
            </a:endParaRPr>
          </a:p>
        </p:txBody>
      </p:sp>
    </p:spTree>
    <p:extLst>
      <p:ext uri="{BB962C8B-B14F-4D97-AF65-F5344CB8AC3E}">
        <p14:creationId xmlns:p14="http://schemas.microsoft.com/office/powerpoint/2010/main" val="39701323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EFC88-15A8-8F47-A008-BBB6B0BEC7A2}"/>
              </a:ext>
            </a:extLst>
          </p:cNvPr>
          <p:cNvSpPr>
            <a:spLocks noGrp="1"/>
          </p:cNvSpPr>
          <p:nvPr>
            <p:ph type="title"/>
          </p:nvPr>
        </p:nvSpPr>
        <p:spPr/>
        <p:txBody>
          <a:bodyPr/>
          <a:lstStyle/>
          <a:p>
            <a:r>
              <a:rPr kumimoji="1" lang="zh-CN" altLang="en-US" dirty="0"/>
              <a:t>总结</a:t>
            </a:r>
          </a:p>
        </p:txBody>
      </p:sp>
      <p:sp>
        <p:nvSpPr>
          <p:cNvPr id="3" name="内容占位符 2">
            <a:extLst>
              <a:ext uri="{FF2B5EF4-FFF2-40B4-BE49-F238E27FC236}">
                <a16:creationId xmlns:a16="http://schemas.microsoft.com/office/drawing/2014/main" id="{8D01C0D4-2EC3-7D4D-AAC5-3C4CCB3DBC8F}"/>
              </a:ext>
            </a:extLst>
          </p:cNvPr>
          <p:cNvSpPr>
            <a:spLocks noGrp="1"/>
          </p:cNvSpPr>
          <p:nvPr>
            <p:ph idx="1"/>
          </p:nvPr>
        </p:nvSpPr>
        <p:spPr/>
        <p:txBody>
          <a:bodyPr>
            <a:normAutofit/>
          </a:bodyPr>
          <a:lstStyle/>
          <a:p>
            <a:pPr>
              <a:lnSpc>
                <a:spcPct val="120000"/>
              </a:lnSpc>
            </a:pPr>
            <a:r>
              <a:rPr kumimoji="1" lang="en-US" altLang="zh-CN" dirty="0">
                <a:latin typeface="Garamond" panose="02020404030301010803" pitchFamily="18" charset="0"/>
              </a:rPr>
              <a:t>Proof of Stake</a:t>
            </a:r>
            <a:r>
              <a:rPr kumimoji="1" lang="zh-CN" altLang="en-US" dirty="0">
                <a:latin typeface="Garamond" panose="02020404030301010803" pitchFamily="18" charset="0"/>
              </a:rPr>
              <a:t>共识机制</a:t>
            </a:r>
            <a:endParaRPr kumimoji="1" lang="en-US" altLang="zh-CN" dirty="0">
              <a:latin typeface="Garamond" panose="02020404030301010803" pitchFamily="18" charset="0"/>
            </a:endParaRPr>
          </a:p>
          <a:p>
            <a:pPr>
              <a:lnSpc>
                <a:spcPct val="120000"/>
              </a:lnSpc>
            </a:pPr>
            <a:r>
              <a:rPr kumimoji="1" lang="zh-CN" altLang="en-US" dirty="0">
                <a:latin typeface="Garamond" panose="02020404030301010803" pitchFamily="18" charset="0"/>
              </a:rPr>
              <a:t>以太坊共识机制</a:t>
            </a:r>
            <a:r>
              <a:rPr kumimoji="1" lang="en-US" altLang="zh-CN" dirty="0">
                <a:latin typeface="Garamond" panose="02020404030301010803" pitchFamily="18" charset="0"/>
              </a:rPr>
              <a:t>Gasper</a:t>
            </a:r>
          </a:p>
          <a:p>
            <a:pPr>
              <a:lnSpc>
                <a:spcPct val="120000"/>
              </a:lnSpc>
            </a:pPr>
            <a:r>
              <a:rPr kumimoji="1" lang="zh-CN" altLang="en-US" dirty="0">
                <a:latin typeface="Garamond" panose="02020404030301010803" pitchFamily="18" charset="0"/>
              </a:rPr>
              <a:t>非同质化货币</a:t>
            </a:r>
            <a:r>
              <a:rPr kumimoji="1" lang="en-US" altLang="zh-CN" dirty="0">
                <a:latin typeface="Garamond" panose="02020404030301010803" pitchFamily="18" charset="0"/>
              </a:rPr>
              <a:t>NFT</a:t>
            </a:r>
            <a:endParaRPr kumimoji="1" lang="zh-CN" altLang="en-US" dirty="0">
              <a:latin typeface="Garamond" panose="02020404030301010803" pitchFamily="18" charset="0"/>
            </a:endParaRPr>
          </a:p>
        </p:txBody>
      </p:sp>
      <p:sp>
        <p:nvSpPr>
          <p:cNvPr id="5" name="灯片编号占位符 4">
            <a:extLst>
              <a:ext uri="{FF2B5EF4-FFF2-40B4-BE49-F238E27FC236}">
                <a16:creationId xmlns:a16="http://schemas.microsoft.com/office/drawing/2014/main" id="{8FE33C2B-DFEA-AB45-B09F-58B1C2A169C6}"/>
              </a:ext>
            </a:extLst>
          </p:cNvPr>
          <p:cNvSpPr>
            <a:spLocks noGrp="1"/>
          </p:cNvSpPr>
          <p:nvPr>
            <p:ph type="sldNum" sz="quarter" idx="12"/>
          </p:nvPr>
        </p:nvSpPr>
        <p:spPr/>
        <p:txBody>
          <a:bodyPr/>
          <a:lstStyle/>
          <a:p>
            <a:fld id="{8D4D1E41-7A09-AB4A-A4E1-09765ADA2698}" type="slidenum">
              <a:rPr kumimoji="1" lang="zh-CN" altLang="en-US" smtClean="0"/>
              <a:t>23</a:t>
            </a:fld>
            <a:endParaRPr kumimoji="1" lang="zh-CN" altLang="en-US" dirty="0"/>
          </a:p>
        </p:txBody>
      </p:sp>
    </p:spTree>
    <p:extLst>
      <p:ext uri="{BB962C8B-B14F-4D97-AF65-F5344CB8AC3E}">
        <p14:creationId xmlns:p14="http://schemas.microsoft.com/office/powerpoint/2010/main" val="1697461291"/>
      </p:ext>
    </p:extLst>
  </p:cSld>
  <p:clrMapOvr>
    <a:masterClrMapping/>
  </p:clrMapOvr>
</p:sld>
</file>

<file path=ppt/theme/theme1.xml><?xml version="1.0" encoding="utf-8"?>
<a:theme xmlns:a="http://schemas.openxmlformats.org/drawingml/2006/main" name="Office 主题​​">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11625</TotalTime>
  <Words>1259</Words>
  <Application>Microsoft Office PowerPoint</Application>
  <PresentationFormat>宽屏</PresentationFormat>
  <Paragraphs>234</Paragraphs>
  <Slides>24</Slides>
  <Notes>21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24</vt:i4>
      </vt:variant>
    </vt:vector>
  </HeadingPairs>
  <TitlesOfParts>
    <vt:vector size="32" baseType="lpstr">
      <vt:lpstr>等线</vt:lpstr>
      <vt:lpstr>Microsoft YaHei</vt:lpstr>
      <vt:lpstr>Microsoft YaHei</vt:lpstr>
      <vt:lpstr>Arial</vt:lpstr>
      <vt:lpstr>Garamond</vt:lpstr>
      <vt:lpstr>Times New Roman</vt:lpstr>
      <vt:lpstr>Wingdings</vt:lpstr>
      <vt:lpstr>Office 主题​​</vt:lpstr>
      <vt:lpstr>第五章 以太坊 ——Proof of Stake</vt:lpstr>
      <vt:lpstr>本章内容</vt:lpstr>
      <vt:lpstr>Proof of Stake</vt:lpstr>
      <vt:lpstr>Proof of Stake</vt:lpstr>
      <vt:lpstr>Proof of Stake</vt:lpstr>
      <vt:lpstr>Proof of Stake</vt:lpstr>
      <vt:lpstr>本章内容</vt:lpstr>
      <vt:lpstr>以太坊共识机制Casper FFG</vt:lpstr>
      <vt:lpstr>以太坊共识机制Casper FFG</vt:lpstr>
      <vt:lpstr>以太坊共识机制Casper FFG</vt:lpstr>
      <vt:lpstr>以太坊共识机制Casper FFG</vt:lpstr>
      <vt:lpstr>以太坊共识机制Casper FFG</vt:lpstr>
      <vt:lpstr>以太坊共识机制Casper FFG</vt:lpstr>
      <vt:lpstr>以太坊共识机制Casper FFG</vt:lpstr>
      <vt:lpstr>以太坊共识机制Casper FFG</vt:lpstr>
      <vt:lpstr>以太坊共识机制Casper FFG</vt:lpstr>
      <vt:lpstr>以太坊共识机制LMD GHOST</vt:lpstr>
      <vt:lpstr>以太坊共识机制LMD GHOST</vt:lpstr>
      <vt:lpstr>以太坊浏览器</vt:lpstr>
      <vt:lpstr>本章内容</vt:lpstr>
      <vt:lpstr>以太坊意见征求稿</vt:lpstr>
      <vt:lpstr>同质化代币（FT）</vt:lpstr>
      <vt:lpstr>非同质化代币（NFT）</vt:lpstr>
      <vt:lpstr>总结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侯璐 h</cp:lastModifiedBy>
  <cp:revision>1834</cp:revision>
  <dcterms:created xsi:type="dcterms:W3CDTF">2021-01-06T05:35:51Z</dcterms:created>
  <dcterms:modified xsi:type="dcterms:W3CDTF">2025-05-27T07:37:06Z</dcterms:modified>
</cp:coreProperties>
</file>