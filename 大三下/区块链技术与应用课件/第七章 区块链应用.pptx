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35"/>
  </p:notesMasterIdLst>
  <p:sldIdLst>
    <p:sldId id="1257" r:id="rId2"/>
    <p:sldId id="1258" r:id="rId3"/>
    <p:sldId id="1259" r:id="rId4"/>
    <p:sldId id="1260" r:id="rId5"/>
    <p:sldId id="1261" r:id="rId6"/>
    <p:sldId id="1262" r:id="rId7"/>
    <p:sldId id="1263" r:id="rId8"/>
    <p:sldId id="1264" r:id="rId9"/>
    <p:sldId id="1265" r:id="rId10"/>
    <p:sldId id="1266" r:id="rId11"/>
    <p:sldId id="1267" r:id="rId12"/>
    <p:sldId id="1062" r:id="rId13"/>
    <p:sldId id="1268" r:id="rId14"/>
    <p:sldId id="1269" r:id="rId15"/>
    <p:sldId id="1270" r:id="rId16"/>
    <p:sldId id="1271" r:id="rId17"/>
    <p:sldId id="1272" r:id="rId18"/>
    <p:sldId id="1273" r:id="rId19"/>
    <p:sldId id="1274" r:id="rId20"/>
    <p:sldId id="1275" r:id="rId21"/>
    <p:sldId id="1276" r:id="rId22"/>
    <p:sldId id="1277" r:id="rId23"/>
    <p:sldId id="1278" r:id="rId24"/>
    <p:sldId id="1279" r:id="rId25"/>
    <p:sldId id="1280" r:id="rId26"/>
    <p:sldId id="1281" r:id="rId27"/>
    <p:sldId id="1282" r:id="rId28"/>
    <p:sldId id="1283" r:id="rId29"/>
    <p:sldId id="1284" r:id="rId30"/>
    <p:sldId id="1285" r:id="rId31"/>
    <p:sldId id="1286" r:id="rId32"/>
    <p:sldId id="1287" r:id="rId33"/>
    <p:sldId id="994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4DC5EF-F422-4A4A-AE2D-E811906D492D}">
          <p14:sldIdLst>
            <p14:sldId id="1257"/>
            <p14:sldId id="1258"/>
            <p14:sldId id="1259"/>
            <p14:sldId id="1260"/>
            <p14:sldId id="1261"/>
            <p14:sldId id="1262"/>
            <p14:sldId id="1263"/>
            <p14:sldId id="1264"/>
            <p14:sldId id="1265"/>
            <p14:sldId id="1266"/>
            <p14:sldId id="1267"/>
            <p14:sldId id="1062"/>
            <p14:sldId id="1268"/>
            <p14:sldId id="1269"/>
            <p14:sldId id="1270"/>
            <p14:sldId id="1271"/>
            <p14:sldId id="1272"/>
            <p14:sldId id="1273"/>
            <p14:sldId id="1274"/>
            <p14:sldId id="1275"/>
            <p14:sldId id="1276"/>
            <p14:sldId id="1277"/>
            <p14:sldId id="1278"/>
            <p14:sldId id="1279"/>
            <p14:sldId id="1280"/>
            <p14:sldId id="1281"/>
            <p14:sldId id="1282"/>
            <p14:sldId id="1283"/>
            <p14:sldId id="1284"/>
            <p14:sldId id="1285"/>
            <p14:sldId id="1286"/>
            <p14:sldId id="1287"/>
            <p14:sldId id="9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5B307E"/>
    <a:srgbClr val="B962FF"/>
    <a:srgbClr val="FDCB0B"/>
    <a:srgbClr val="FFD700"/>
    <a:srgbClr val="F9BC12"/>
    <a:srgbClr val="FFD801"/>
    <a:srgbClr val="EFB914"/>
    <a:srgbClr val="F5B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52"/>
    <p:restoredTop sz="86677" autoAdjust="0"/>
  </p:normalViewPr>
  <p:slideViewPr>
    <p:cSldViewPr snapToGrid="0" snapToObjects="1">
      <p:cViewPr varScale="1">
        <p:scale>
          <a:sx n="94" d="100"/>
          <a:sy n="94" d="100"/>
        </p:scale>
        <p:origin x="984" y="66"/>
      </p:cViewPr>
      <p:guideLst/>
    </p:cSldViewPr>
  </p:slideViewPr>
  <p:outlineViewPr>
    <p:cViewPr>
      <p:scale>
        <a:sx n="33" d="100"/>
        <a:sy n="33" d="100"/>
      </p:scale>
      <p:origin x="0" y="-2640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2025/6/2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6025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1909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1673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0734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7783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0098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90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8060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9054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2419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9791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5051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93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9440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4310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1016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72166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0364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0272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37471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31497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53757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6609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0537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36734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67897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9110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97C75-78EB-4043-953B-95F867F42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1C1163-5F70-9046-86B2-81951DCE1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F9E280-F138-8142-8DB1-324EA9F38324}"/>
              </a:ext>
            </a:extLst>
          </p:cNvPr>
          <p:cNvSpPr/>
          <p:nvPr userDrawn="1"/>
        </p:nvSpPr>
        <p:spPr>
          <a:xfrm>
            <a:off x="-9939" y="-8628"/>
            <a:ext cx="8596590" cy="901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区块链原理与技术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56EF79-988F-4D0D-9D17-D66B0B153D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79859" y="-10825"/>
            <a:ext cx="3012141" cy="90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4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457C5-5D0E-4F46-9D0B-7EA2985D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A45BE-434F-B44C-99F8-C563AC076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363" indent="-360363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BE6BC-6A1B-1944-BBB6-30FD8C33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9E7AFED4-5702-094E-A3B8-21EB069F234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06B569DB-EE88-CB4A-A634-A7CA45E81663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1D75728-DE08-814F-9EF0-7E9AFB999FE6}"/>
              </a:ext>
            </a:extLst>
          </p:cNvPr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>
              <a:extLst>
                <a:ext uri="{FF2B5EF4-FFF2-40B4-BE49-F238E27FC236}">
                  <a16:creationId xmlns:a16="http://schemas.microsoft.com/office/drawing/2014/main" id="{53F1A011-1E52-3140-9C21-8911AB322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>
              <a:extLst>
                <a:ext uri="{FF2B5EF4-FFF2-40B4-BE49-F238E27FC236}">
                  <a16:creationId xmlns:a16="http://schemas.microsoft.com/office/drawing/2014/main" id="{364873AD-F7AE-3D48-84F0-C71836518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>
              <a:extLst>
                <a:ext uri="{FF2B5EF4-FFF2-40B4-BE49-F238E27FC236}">
                  <a16:creationId xmlns:a16="http://schemas.microsoft.com/office/drawing/2014/main" id="{5B03D593-4A0D-DF4E-8474-4FAD50C6B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>
              <a:extLst>
                <a:ext uri="{FF2B5EF4-FFF2-40B4-BE49-F238E27FC236}">
                  <a16:creationId xmlns:a16="http://schemas.microsoft.com/office/drawing/2014/main" id="{1A0E5E70-2235-6044-9E4C-A8D320929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9F25C08B-5CAA-1D40-B768-CF07CC909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A1A66D2D-2EC2-AA45-8DA4-4B543D6DB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BF5A2635-9D3C-B746-B7BB-00E1B5440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9A427AEE-5F0B-1D43-8127-A5A07CDC3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E60E42BA-4A46-4D41-AA72-E2F725048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5B1734EF-4E6E-164F-849F-5F0125656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8623BE8B-4483-AE4A-A6EA-432CBE50B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479A4E1F-B48A-45F9-A570-AE56D115EC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B1D786E-1C98-423F-BF88-0DCE1747C5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51203" y="420369"/>
            <a:ext cx="2266577" cy="6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53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CA6BC-3A36-834A-8A46-510CF743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F4A777-4880-8640-83A6-327323A56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2510C-46FB-B140-83A3-4B9EF1B4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B6C4E-D29D-9647-82C6-2B183C58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2D64F221-C9B8-444F-9076-736EED2DA56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9B9A2A5-908B-3244-B39F-9E6705AE6320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479A4E1F-B48A-45F9-A570-AE56D115EC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8D82CA1-BB3E-4730-9F21-4FBE0128E3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51203" y="420369"/>
            <a:ext cx="2266577" cy="6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7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B931506-C8E0-1649-BE54-52B88034B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279A2F-85B5-794E-ADF1-0805CD3C44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465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AAA80D-F069-DE49-8F34-B637A12C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AAAE3F-F071-E445-8B18-8EAF39793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17F525-3365-224F-AAA7-E3B9B3011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6534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F4557-9C48-9D4D-A8AC-E1BCC4493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125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第七章 区块链应用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AADDAC-3DB3-ED4C-BCFE-CFA683990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11207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授课教师：侯璐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 dirty="0"/>
              <a:t>北京邮电大学</a:t>
            </a:r>
            <a:endParaRPr kumimoji="1"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465913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7.1 </a:t>
            </a:r>
            <a:r>
              <a:rPr kumimoji="1" lang="zh-CN" altLang="en-US" dirty="0">
                <a:solidFill>
                  <a:srgbClr val="C00000"/>
                </a:solidFill>
              </a:rPr>
              <a:t>联盟链平台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7.2 </a:t>
            </a:r>
            <a:r>
              <a:rPr kumimoji="1" lang="zh-CN" altLang="en-US" dirty="0"/>
              <a:t>供应链金融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7.3 </a:t>
            </a:r>
            <a:r>
              <a:rPr kumimoji="1" lang="zh-CN" altLang="en-US" dirty="0"/>
              <a:t>资产交易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7.4 </a:t>
            </a:r>
            <a:r>
              <a:rPr kumimoji="1" lang="zh-CN" altLang="en-US" dirty="0"/>
              <a:t>司法存证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7.5 </a:t>
            </a:r>
            <a:r>
              <a:rPr kumimoji="1" lang="zh-CN" altLang="en-US" dirty="0"/>
              <a:t>物流溯源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7.6 </a:t>
            </a:r>
            <a:r>
              <a:rPr kumimoji="1" lang="zh-CN" altLang="en-US" dirty="0"/>
              <a:t>票据流通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7.7 </a:t>
            </a:r>
            <a:r>
              <a:rPr kumimoji="1" lang="zh-CN" altLang="en-US" dirty="0"/>
              <a:t>典型案例</a:t>
            </a:r>
          </a:p>
          <a:p>
            <a:pPr marL="0" indent="0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6096000" y="1620254"/>
            <a:ext cx="3814781" cy="1808746"/>
          </a:xfrm>
          <a:prstGeom prst="wedgeRectCallout">
            <a:avLst>
              <a:gd name="adj1" fmla="val -97846"/>
              <a:gd name="adj2" fmla="val -4552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</a:t>
            </a: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Hyperledger Fabric</a:t>
            </a:r>
            <a:endParaRPr kumimoji="1" lang="zh-CN" altLang="en-US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企业以太坊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3E6B42-DAB5-7042-B243-5902825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119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背景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 fontScale="775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历史背景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>
                <a:sym typeface="+mn-ea"/>
              </a:rPr>
              <a:t>文字：信息传输的载体。</a:t>
            </a:r>
            <a:r>
              <a:rPr lang="zh-CN" altLang="en-US" dirty="0"/>
              <a:t>经历了从语言、文字、印刷术、到电报和互联网的升级。</a:t>
            </a:r>
          </a:p>
          <a:p>
            <a:pPr lvl="1">
              <a:lnSpc>
                <a:spcPct val="140000"/>
              </a:lnSpc>
            </a:pPr>
            <a:r>
              <a:rPr lang="zh-CN" altLang="en-US" dirty="0">
                <a:sym typeface="+mn-ea"/>
              </a:rPr>
              <a:t>货币：价值传输的工具。</a:t>
            </a:r>
            <a:r>
              <a:rPr lang="zh-CN" altLang="en-US" dirty="0"/>
              <a:t>完成了由大麦、贵金属、纸币、到移动支付的转换。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现状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移动支付的底层设施仍然是信息网络。其特点是依赖一个高度可信的第三方信息中介（如银行数据中心）完成传输。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存在以下问题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高度依赖可信任的中心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易被篡改</a:t>
            </a:r>
          </a:p>
          <a:p>
            <a:pPr lvl="2">
              <a:lnSpc>
                <a:spcPct val="140000"/>
              </a:lnSpc>
            </a:pPr>
            <a:r>
              <a:rPr lang="zh-CN" altLang="en-US" dirty="0"/>
              <a:t>费用较高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区块链的出现，为解决以上问题提供了解决方案。</a:t>
            </a:r>
            <a:endParaRPr lang="en-US" altLang="zh-CN" dirty="0"/>
          </a:p>
          <a:p>
            <a:pPr marL="131763" indent="0">
              <a:lnSpc>
                <a:spcPct val="140000"/>
              </a:lnSpc>
              <a:buNone/>
            </a:pPr>
            <a:endParaRPr lang="zh-CN" altLang="en-US" dirty="0"/>
          </a:p>
          <a:p>
            <a:pPr marL="131763" indent="0">
              <a:lnSpc>
                <a:spcPct val="140000"/>
              </a:lnSpc>
              <a:buNone/>
            </a:pP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204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背景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公有链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>
                <a:sym typeface="+mn-ea"/>
              </a:rPr>
              <a:t>应用为数众多，多集中在代币发行、去中心化博彩、去中心化金融等领域</a:t>
            </a:r>
            <a:r>
              <a:rPr lang="zh-CN" altLang="en-US" dirty="0"/>
              <a:t>。</a:t>
            </a:r>
          </a:p>
          <a:p>
            <a:pPr lvl="1">
              <a:lnSpc>
                <a:spcPct val="140000"/>
              </a:lnSpc>
            </a:pPr>
            <a:r>
              <a:rPr lang="zh-CN" altLang="en-US" dirty="0">
                <a:sym typeface="+mn-ea"/>
              </a:rPr>
              <a:t>依赖无准入机制的公有链进行协作，仍然存在以下问题</a:t>
            </a:r>
            <a:endParaRPr lang="en-US" altLang="zh-CN" dirty="0">
              <a:sym typeface="+mn-ea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sym typeface="+mn-ea"/>
              </a:rPr>
              <a:t>性能不足</a:t>
            </a:r>
            <a:endParaRPr lang="en-US" altLang="zh-CN" dirty="0">
              <a:sym typeface="+mn-ea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sym typeface="+mn-ea"/>
              </a:rPr>
              <a:t>泄露商业秘密</a:t>
            </a:r>
            <a:endParaRPr lang="en-US" altLang="zh-CN" dirty="0">
              <a:sym typeface="+mn-ea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sym typeface="+mn-ea"/>
              </a:rPr>
              <a:t>难以监管。</a:t>
            </a:r>
            <a:endParaRPr lang="en-US" altLang="zh-CN" dirty="0">
              <a:sym typeface="+mn-ea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/>
              <a:t>公有链的去中心化和匿名性与可监管性具有天然的冲突。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公有链应用大多数仍处于开发测试中，离大规模的应用仍有一段距离。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561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背景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联盟链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诞生了以</a:t>
            </a:r>
            <a:r>
              <a:rPr lang="en-US" altLang="zh-CN" dirty="0"/>
              <a:t>Hyperledger Fabric </a:t>
            </a:r>
            <a:r>
              <a:rPr lang="zh-CN" altLang="en-US" dirty="0"/>
              <a:t>为代表的联盟链平台。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节点的加入和退出具有一定的准入机制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保护了联盟中各方的商业秘密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提高了交易效率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应用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企业与银行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供应链金融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信息流、物流、资金流的上链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1999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solidFill>
                  <a:prstClr val="black"/>
                </a:solidFill>
              </a:rPr>
              <a:t>Hyperledger Fabric</a:t>
            </a:r>
            <a:endParaRPr kumimoji="1" lang="zh-CN" altLang="en-US" dirty="0"/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来源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2015 </a:t>
            </a:r>
            <a:r>
              <a:rPr lang="zh-CN" altLang="en-US" dirty="0"/>
              <a:t>年，由</a:t>
            </a:r>
            <a:r>
              <a:rPr lang="en-US" altLang="zh-CN" dirty="0"/>
              <a:t>Linux </a:t>
            </a:r>
            <a:r>
              <a:rPr lang="zh-CN" altLang="en-US" dirty="0"/>
              <a:t>基金会牵头、多家企业合作，共同成立了</a:t>
            </a:r>
            <a:r>
              <a:rPr lang="en-US" altLang="zh-CN" dirty="0"/>
              <a:t>Hyperledger </a:t>
            </a:r>
            <a:r>
              <a:rPr lang="zh-CN" altLang="en-US" dirty="0"/>
              <a:t>项目。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Hyperledger Fabric </a:t>
            </a:r>
            <a:r>
              <a:rPr lang="zh-CN" altLang="en-US" dirty="0"/>
              <a:t>是</a:t>
            </a:r>
            <a:r>
              <a:rPr lang="en-US" altLang="zh-CN" dirty="0"/>
              <a:t>Hyperledger</a:t>
            </a:r>
            <a:r>
              <a:rPr lang="zh-CN" altLang="en-US" dirty="0"/>
              <a:t>的项目之一。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特点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面向企业的高度可扩展的区块链平台。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具有模块化架构、权限管理、多通道设计等特点。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满足企业级要求的安全性、保密性、可扩展和高性能。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066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solidFill>
                  <a:prstClr val="black"/>
                </a:solidFill>
              </a:rPr>
              <a:t>Hyperledger Fabric</a:t>
            </a:r>
            <a:endParaRPr kumimoji="1" lang="zh-CN" altLang="en-US" dirty="0"/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应用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供应链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金融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医疗保健等行业。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系统设计与功能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权限管理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隐私保护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高度模块化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高效处理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链码等新特性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8357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solidFill>
                  <a:prstClr val="black"/>
                </a:solidFill>
              </a:rPr>
              <a:t>Hyperledger Fabric</a:t>
            </a:r>
            <a:endParaRPr kumimoji="1" lang="zh-CN" altLang="en-US" dirty="0"/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权限管理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参与者的身份信息都是经过验证的，不同参与者具有不同的权限。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用户不同的场景中，被允许执行指定类型的操作。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隐私保护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引入了通道（</a:t>
            </a:r>
            <a:r>
              <a:rPr lang="en-US" altLang="zh-CN" dirty="0"/>
              <a:t>Channel</a:t>
            </a:r>
            <a:r>
              <a:rPr lang="zh-CN" altLang="en-US" dirty="0"/>
              <a:t>）技术，实现数据的隔离和保密。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每个通道对应着一条用于记录通道内交易的区块。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商业竞争方与合作方能在同一个网络上共存。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提供了灵活开放、安全的区块链平台。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690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solidFill>
                  <a:prstClr val="black"/>
                </a:solidFill>
              </a:rPr>
              <a:t>Hyperledger Fabric</a:t>
            </a:r>
            <a:endParaRPr kumimoji="1" lang="zh-CN" altLang="en-US" dirty="0"/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高度模块化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提供可插拔的交易排序服务、背书和验证策略、身份管理协议和密钥管理协议等。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高效处理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将交易过程中的交易执行、交易排序和交易广播分离，并设置优先级。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不同阶段由不同角色的节点参与，而不需要全网的节点参与。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实现交易的高吞吐和关键任务的可靠执行。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链码功能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类似于以太坊上的智能合约。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分为用户链码和系统链码。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用户链码支持主流高级编程语言编写，包括</a:t>
            </a:r>
            <a:r>
              <a:rPr lang="en-US" altLang="zh-CN" dirty="0"/>
              <a:t>Go</a:t>
            </a:r>
            <a:r>
              <a:rPr lang="zh-CN" altLang="en-US" dirty="0"/>
              <a:t>、</a:t>
            </a:r>
            <a:r>
              <a:rPr lang="en-US" altLang="zh-CN" dirty="0"/>
              <a:t>JavaScript</a:t>
            </a:r>
            <a:r>
              <a:rPr lang="zh-CN" altLang="en-US" dirty="0"/>
              <a:t>、</a:t>
            </a:r>
            <a:r>
              <a:rPr lang="en-US" altLang="zh-CN" dirty="0"/>
              <a:t>Java </a:t>
            </a:r>
            <a:r>
              <a:rPr lang="zh-CN" altLang="en-US" dirty="0"/>
              <a:t>等。</a:t>
            </a:r>
            <a:endParaRPr lang="en-US" altLang="zh-CN" dirty="0"/>
          </a:p>
          <a:p>
            <a:pPr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499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prstClr val="black"/>
                </a:solidFill>
              </a:rPr>
              <a:t>企业以太坊</a:t>
            </a:r>
            <a:endParaRPr kumimoji="1" lang="zh-CN" altLang="en-US" dirty="0"/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企业以太坊联盟（</a:t>
            </a:r>
            <a:r>
              <a:rPr lang="en-US" altLang="zh-CN" dirty="0"/>
              <a:t>Enterprise Ethereum Alliance,</a:t>
            </a:r>
            <a:r>
              <a:rPr lang="zh-CN" altLang="en-US" dirty="0"/>
              <a:t>简称</a:t>
            </a:r>
            <a:r>
              <a:rPr lang="en-US" altLang="zh-CN" dirty="0"/>
              <a:t>EEA</a:t>
            </a:r>
            <a:r>
              <a:rPr lang="zh-CN" altLang="en-US" dirty="0"/>
              <a:t>）是</a:t>
            </a:r>
            <a:r>
              <a:rPr lang="en-US" altLang="zh-CN" dirty="0"/>
              <a:t>2017 </a:t>
            </a:r>
            <a:r>
              <a:rPr lang="zh-CN" altLang="en-US" dirty="0"/>
              <a:t>年成立的以太坊的区块链联盟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联盟成员包括摩根大通、英特尔、埃森哲等多个企业。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特点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针对企业用途的优化版以太坊。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注重企业在隐私保护、权限管理、灵活配置、处理性能上的要求。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目标是发展为模块化的区块链平台。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7944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prstClr val="black"/>
                </a:solidFill>
              </a:rPr>
              <a:t>企业以太坊</a:t>
            </a:r>
            <a:endParaRPr kumimoji="1" lang="zh-CN" altLang="en-US" dirty="0"/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实例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Quorum </a:t>
            </a:r>
            <a:r>
              <a:rPr lang="zh-CN" altLang="en-US" dirty="0"/>
              <a:t>是企业以太坊平台之一。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引入了两种交易的概念：公有交易和私有交易。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采用了基于投票的共识机制代替以太坊原有的工作量证明机制，具有更高的出块效率。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增加了网络节点的权限管理功能。</a:t>
            </a:r>
            <a:endParaRPr lang="en-US" altLang="zh-CN" dirty="0">
              <a:solidFill>
                <a:srgbClr val="C00000"/>
              </a:solidFill>
            </a:endParaRPr>
          </a:p>
          <a:p>
            <a:pPr lvl="2">
              <a:lnSpc>
                <a:spcPct val="140000"/>
              </a:lnSpc>
            </a:pPr>
            <a:r>
              <a:rPr lang="zh-CN" altLang="en-US" dirty="0"/>
              <a:t>为高吞吐处理、支持交易和合约的隐私性提供了一种解决方案。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许多企业在开发自己的联盟链底层平台。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893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7.1 </a:t>
            </a:r>
            <a:r>
              <a:rPr kumimoji="1" lang="zh-CN" altLang="en-US" dirty="0"/>
              <a:t>联盟链平台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7.2 </a:t>
            </a:r>
            <a:r>
              <a:rPr kumimoji="1" lang="zh-CN" altLang="en-US" dirty="0">
                <a:solidFill>
                  <a:srgbClr val="C00000"/>
                </a:solidFill>
              </a:rPr>
              <a:t>供应链金融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7.3 </a:t>
            </a:r>
            <a:r>
              <a:rPr kumimoji="1" lang="zh-CN" altLang="en-US" dirty="0"/>
              <a:t>资产交易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7.4 </a:t>
            </a:r>
            <a:r>
              <a:rPr kumimoji="1" lang="zh-CN" altLang="en-US" dirty="0"/>
              <a:t>司法存证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7.5 </a:t>
            </a:r>
            <a:r>
              <a:rPr kumimoji="1" lang="zh-CN" altLang="en-US" dirty="0"/>
              <a:t>物流溯源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7.6 </a:t>
            </a:r>
            <a:r>
              <a:rPr kumimoji="1" lang="zh-CN" altLang="en-US" dirty="0"/>
              <a:t>票据流通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7.7 </a:t>
            </a:r>
            <a:r>
              <a:rPr kumimoji="1" lang="zh-CN" altLang="en-US" dirty="0"/>
              <a:t>典型案例</a:t>
            </a:r>
          </a:p>
          <a:p>
            <a:pPr marL="0" indent="0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6096000" y="1620254"/>
            <a:ext cx="2249103" cy="1267325"/>
          </a:xfrm>
          <a:prstGeom prst="wedgeRectCallout">
            <a:avLst>
              <a:gd name="adj1" fmla="val -127337"/>
              <a:gd name="adj2" fmla="val 1169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应用背景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应用案例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3E6B42-DAB5-7042-B243-5902825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2775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应用背景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供应链上下游的各方存在一定的账款赊欠。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导致其现金流较为紧张，需要依据应收账款向金融机构融资。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融资所存在的问题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融资成本高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中小企业，其提供的业务数据难以获得银行信任。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银行通常对其收取高额利率或拒绝授信。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监管难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中小企业的融资难催生了许多“影子银行” ，为政府的金融监管带来较大的困难。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517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应用案例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4" y="1418897"/>
            <a:ext cx="5749726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基于区块链的供应链金融应用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将交易和应收账款单据上链。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引入第三方可行机构确认信息。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让核心企业的信用可以传递到供应链的上下游企业，减小中小企业的融资难度，同时解决了机构的监管问题。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通过区块链打通了各个环节的数据孤岛。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2A15E8-CBDE-4368-96C2-5D719A7C2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56" y="2270534"/>
            <a:ext cx="5112890" cy="231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55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7.1 </a:t>
            </a:r>
            <a:r>
              <a:rPr kumimoji="1" lang="zh-CN" altLang="en-US" dirty="0"/>
              <a:t>联盟链平台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7.2 </a:t>
            </a:r>
            <a:r>
              <a:rPr kumimoji="1" lang="zh-CN" altLang="en-US" dirty="0"/>
              <a:t>供应链金融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7.3 </a:t>
            </a:r>
            <a:r>
              <a:rPr kumimoji="1" lang="zh-CN" altLang="en-US" dirty="0">
                <a:solidFill>
                  <a:srgbClr val="C00000"/>
                </a:solidFill>
              </a:rPr>
              <a:t>资产交易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7.4 </a:t>
            </a:r>
            <a:r>
              <a:rPr kumimoji="1" lang="zh-CN" altLang="en-US" dirty="0"/>
              <a:t>司法存证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7.5 </a:t>
            </a:r>
            <a:r>
              <a:rPr kumimoji="1" lang="zh-CN" altLang="en-US" dirty="0"/>
              <a:t>物流溯源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7.6 </a:t>
            </a:r>
            <a:r>
              <a:rPr kumimoji="1" lang="zh-CN" altLang="en-US" dirty="0"/>
              <a:t>票据流通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7.7 </a:t>
            </a:r>
            <a:r>
              <a:rPr kumimoji="1" lang="zh-CN" altLang="en-US" dirty="0"/>
              <a:t>典型案例</a:t>
            </a:r>
          </a:p>
          <a:p>
            <a:pPr marL="0" indent="0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6096000" y="1620254"/>
            <a:ext cx="2249103" cy="1267325"/>
          </a:xfrm>
          <a:prstGeom prst="wedgeRectCallout">
            <a:avLst>
              <a:gd name="adj1" fmla="val -133756"/>
              <a:gd name="adj2" fmla="val 5954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应用背景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应用案例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3E6B42-DAB5-7042-B243-5902825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7321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应用背景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 fontScale="775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数字经济越来越受到社会关注。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各类商品、文化艺术品、版权、知识产权、电子仓单等都可能成为数字资产。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数字资产交易所存在的问题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交易所信息孤岛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数字资产交易依赖单一交易所或机构。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资产要在不同机构间流转，涉及繁琐的对账过程，清算成本较高。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资产确权难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数字资产的权属难以得到证明。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资产确权在不同机构间难以取得共识，难以定价。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全过程监管难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对数字资产交易难以做到全流程实时监管。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940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应用案例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4" y="1418897"/>
            <a:ext cx="5749726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通过区块链进行数字资产交易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对交易进行存证。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做到交易即结算，提高交易效率，降低机构间通信协作成本。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实时监控区块链上的数字资产交易，提升监管效率。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以太坊实例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ERC20 </a:t>
            </a:r>
            <a:r>
              <a:rPr lang="zh-CN" altLang="en-US" dirty="0"/>
              <a:t>和</a:t>
            </a:r>
            <a:r>
              <a:rPr lang="en-US" altLang="zh-CN" dirty="0"/>
              <a:t>ERC721 </a:t>
            </a:r>
            <a:r>
              <a:rPr lang="zh-CN" altLang="en-US" dirty="0"/>
              <a:t>是以太坊官方支持的智能合约规范。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16</a:t>
            </a:fld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765663-6EFD-4A03-9ABD-7BB89B870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685" y="2103621"/>
            <a:ext cx="4968460" cy="257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80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7.1 </a:t>
            </a:r>
            <a:r>
              <a:rPr kumimoji="1" lang="zh-CN" altLang="en-US" dirty="0"/>
              <a:t>联盟链平台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7.2 </a:t>
            </a:r>
            <a:r>
              <a:rPr kumimoji="1" lang="zh-CN" altLang="en-US" dirty="0"/>
              <a:t>供应链金融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7.3 </a:t>
            </a:r>
            <a:r>
              <a:rPr kumimoji="1" lang="zh-CN" altLang="en-US" dirty="0"/>
              <a:t>资产交易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7.4 </a:t>
            </a:r>
            <a:r>
              <a:rPr kumimoji="1" lang="zh-CN" altLang="en-US" dirty="0">
                <a:solidFill>
                  <a:srgbClr val="C00000"/>
                </a:solidFill>
              </a:rPr>
              <a:t>司法存证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7.5 </a:t>
            </a:r>
            <a:r>
              <a:rPr kumimoji="1" lang="zh-CN" altLang="en-US" dirty="0"/>
              <a:t>物流溯源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7.6 </a:t>
            </a:r>
            <a:r>
              <a:rPr kumimoji="1" lang="zh-CN" altLang="en-US" dirty="0"/>
              <a:t>票据流通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7.7 </a:t>
            </a:r>
            <a:r>
              <a:rPr kumimoji="1" lang="zh-CN" altLang="en-US" dirty="0"/>
              <a:t>典型案例</a:t>
            </a:r>
          </a:p>
          <a:p>
            <a:pPr marL="0" indent="0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6096000" y="1620254"/>
            <a:ext cx="2249103" cy="1267325"/>
          </a:xfrm>
          <a:prstGeom prst="wedgeRectCallout">
            <a:avLst>
              <a:gd name="adj1" fmla="val -136752"/>
              <a:gd name="adj2" fmla="val 11270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应用背景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应用案例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3E6B42-DAB5-7042-B243-5902825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2216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应用背景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电子证据存在的难点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取证成本高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司法取证依赖于具有司法机制的存证机构。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取证周期长、费用高、人力投入大，操作成本较高。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取证难校验，公信力可能不足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电子证据本身具有易篡改、难溯源的特点。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取证后难以校验、追责。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0571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应用案例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4" y="1418897"/>
            <a:ext cx="5749726" cy="5302578"/>
          </a:xfrm>
        </p:spPr>
        <p:txBody>
          <a:bodyPr anchor="t" anchorCtr="0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区块链记录的电子证据可被认为是具有司法效力的证据，已有多个平台成功应用。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如图所示为一种常见的司法链架构图，包括了法院、公证机关、司法鉴定机关、取证机构等。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实例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杭州互联网法院司法区块链。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北京互联网法院天平链。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19</a:t>
            </a:fld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1214B9-8951-48A0-B2BE-FC762214A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517" y="2286231"/>
            <a:ext cx="5041628" cy="228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241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7.1 </a:t>
            </a:r>
            <a:r>
              <a:rPr kumimoji="1" lang="zh-CN" altLang="en-US" dirty="0"/>
              <a:t>联盟链平台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7.2 </a:t>
            </a:r>
            <a:r>
              <a:rPr kumimoji="1" lang="zh-CN" altLang="en-US" dirty="0"/>
              <a:t>供应链金融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7.3 </a:t>
            </a:r>
            <a:r>
              <a:rPr kumimoji="1" lang="zh-CN" altLang="en-US" dirty="0"/>
              <a:t>资产交易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7.4 </a:t>
            </a:r>
            <a:r>
              <a:rPr kumimoji="1" lang="zh-CN" altLang="en-US" dirty="0"/>
              <a:t>司法存证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7.5 </a:t>
            </a:r>
            <a:r>
              <a:rPr kumimoji="1" lang="zh-CN" altLang="en-US" dirty="0">
                <a:solidFill>
                  <a:srgbClr val="C00000"/>
                </a:solidFill>
              </a:rPr>
              <a:t>物流溯源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7.6 </a:t>
            </a:r>
            <a:r>
              <a:rPr kumimoji="1" lang="zh-CN" altLang="en-US" dirty="0"/>
              <a:t>票据流通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7.7 </a:t>
            </a:r>
            <a:r>
              <a:rPr kumimoji="1" lang="zh-CN" altLang="en-US" dirty="0"/>
              <a:t>典型案例</a:t>
            </a:r>
          </a:p>
          <a:p>
            <a:pPr marL="0" indent="0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6096000" y="1620254"/>
            <a:ext cx="2249103" cy="1267325"/>
          </a:xfrm>
          <a:prstGeom prst="wedgeRectCallout">
            <a:avLst>
              <a:gd name="adj1" fmla="val -153870"/>
              <a:gd name="adj2" fmla="val 15903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应用背景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应用案例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3E6B42-DAB5-7042-B243-5902825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1915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应用背景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物流溯源主要的问题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信息存储中心化，造假成本低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溯源系统的信息存储往往是采用单一数据库进行存储。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难以解决假数据鉴别的问题。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多点生产记录对账效率低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当前溯源系统中，双方均有各自的生产记录。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溯源信息出现错误的时候需要进行大量人工追溯，效率较低。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21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2648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应用案例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4" y="1418897"/>
            <a:ext cx="5749726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现状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利用区块链，将物流过程记录到多方维护的区块链上，保证溯源信息的安全性，并且提升对账效率。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已有多家机构建立了基于区块链的物流溯源平台。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22</a:t>
            </a:fld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AF6BA8-6330-4492-AD69-30DFB0B16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675" y="4452318"/>
            <a:ext cx="5639870" cy="20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50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7.1 </a:t>
            </a:r>
            <a:r>
              <a:rPr kumimoji="1" lang="zh-CN" altLang="en-US" dirty="0"/>
              <a:t>联盟链平台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7.2 </a:t>
            </a:r>
            <a:r>
              <a:rPr kumimoji="1" lang="zh-CN" altLang="en-US" dirty="0"/>
              <a:t>供应链金融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7.3 </a:t>
            </a:r>
            <a:r>
              <a:rPr kumimoji="1" lang="zh-CN" altLang="en-US" dirty="0"/>
              <a:t>资产交易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7.4 </a:t>
            </a:r>
            <a:r>
              <a:rPr kumimoji="1" lang="zh-CN" altLang="en-US" dirty="0"/>
              <a:t>司法存证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7.5 </a:t>
            </a:r>
            <a:r>
              <a:rPr kumimoji="1" lang="zh-CN" altLang="en-US" dirty="0"/>
              <a:t>物流溯源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7.6 </a:t>
            </a:r>
            <a:r>
              <a:rPr kumimoji="1" lang="zh-CN" altLang="en-US" dirty="0">
                <a:solidFill>
                  <a:srgbClr val="C00000"/>
                </a:solidFill>
              </a:rPr>
              <a:t>票据流通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7.7 </a:t>
            </a:r>
            <a:r>
              <a:rPr kumimoji="1" lang="zh-CN" altLang="en-US" dirty="0"/>
              <a:t>典型案例</a:t>
            </a:r>
          </a:p>
          <a:p>
            <a:pPr marL="0" indent="0">
              <a:lnSpc>
                <a:spcPct val="130000"/>
              </a:lnSpc>
              <a:buNone/>
            </a:pP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6096000" y="1620254"/>
            <a:ext cx="2249103" cy="1267325"/>
          </a:xfrm>
          <a:prstGeom prst="wedgeRectCallout">
            <a:avLst>
              <a:gd name="adj1" fmla="val -149163"/>
              <a:gd name="adj2" fmla="val 20992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应用背景</a:t>
            </a:r>
            <a:endParaRPr kumimoji="1" lang="en-US" altLang="zh-CN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应用案例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3E6B42-DAB5-7042-B243-5902825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6419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应用背景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8897187" cy="5302578"/>
          </a:xfrm>
        </p:spPr>
        <p:txBody>
          <a:bodyPr anchor="t" anchorCtr="0">
            <a:normAutofit fontScale="775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定义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票据，如发票、承兑汇票等，流通于不同企事业机构的业务协作中。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票据所存在的痛点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易篡改、伪造、复制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票据的可靠性取决于开票机构的权威性。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存在一定被篡改、复制的可能。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取证周期长、费用高、人力投入大，操作成本较高。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校验成本高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机构在对账时付出较大的人力物力进行票据的核对。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票据的防伪成本高。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流通过程难以监管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为了监管票据的流通过程，监管机构要付出较大的人力成本。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由于各个机构信息系统的差异，难以完成统一的流通和监管。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3945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24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208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7.1 </a:t>
            </a:r>
            <a:r>
              <a:rPr kumimoji="1" lang="zh-CN" altLang="en-US" dirty="0"/>
              <a:t>联盟链平台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7.2 </a:t>
            </a:r>
            <a:r>
              <a:rPr kumimoji="1" lang="zh-CN" altLang="en-US" dirty="0"/>
              <a:t>供应链金融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7.3 </a:t>
            </a:r>
            <a:r>
              <a:rPr kumimoji="1" lang="zh-CN" altLang="en-US" dirty="0"/>
              <a:t>资产交易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7.4 </a:t>
            </a:r>
            <a:r>
              <a:rPr kumimoji="1" lang="zh-CN" altLang="en-US" dirty="0"/>
              <a:t>司法存证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7.5 </a:t>
            </a:r>
            <a:r>
              <a:rPr kumimoji="1" lang="zh-CN" altLang="en-US" dirty="0"/>
              <a:t>物流溯源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7.6 </a:t>
            </a:r>
            <a:r>
              <a:rPr kumimoji="1" lang="zh-CN" altLang="en-US" dirty="0"/>
              <a:t>票据流通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7.7 </a:t>
            </a:r>
            <a:r>
              <a:rPr kumimoji="1" lang="zh-CN" altLang="en-US" dirty="0">
                <a:solidFill>
                  <a:srgbClr val="C00000"/>
                </a:solidFill>
              </a:rPr>
              <a:t>典型案例</a:t>
            </a:r>
          </a:p>
          <a:p>
            <a:pPr marL="0" indent="0">
              <a:lnSpc>
                <a:spcPct val="130000"/>
              </a:lnSpc>
              <a:buNone/>
            </a:pP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6096000" y="3464560"/>
            <a:ext cx="2249103" cy="774299"/>
          </a:xfrm>
          <a:prstGeom prst="wedgeRectCallout">
            <a:avLst>
              <a:gd name="adj1" fmla="val -149163"/>
              <a:gd name="adj2" fmla="val 20992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49225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典型案例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3E6B42-DAB5-7042-B243-5902825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245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8B82B-E788-4E79-9DF7-724195AB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典型案例</a:t>
            </a:r>
            <a:r>
              <a:rPr lang="en-US" altLang="zh-CN" dirty="0"/>
              <a:t>1——</a:t>
            </a:r>
            <a:r>
              <a:rPr lang="zh-CN" altLang="en-US" dirty="0"/>
              <a:t>中国</a:t>
            </a:r>
            <a:r>
              <a:rPr lang="en-US" altLang="zh-CN" dirty="0"/>
              <a:t>V</a:t>
            </a:r>
            <a:r>
              <a:rPr lang="zh-CN" altLang="en-US" dirty="0"/>
              <a:t>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A1E64E-E53B-46A5-B60B-EF68AEF0A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58"/>
            <a:ext cx="2799522" cy="4982116"/>
          </a:xfrm>
        </p:spPr>
        <p:txBody>
          <a:bodyPr>
            <a:normAutofit/>
          </a:bodyPr>
          <a:lstStyle/>
          <a:p>
            <a:r>
              <a:rPr lang="en-US" altLang="zh-CN" dirty="0"/>
              <a:t>vlian.cn</a:t>
            </a:r>
          </a:p>
          <a:p>
            <a:r>
              <a:rPr lang="zh-CN" altLang="en-US" dirty="0"/>
              <a:t>知识产权确权</a:t>
            </a:r>
            <a:endParaRPr lang="en-US" altLang="zh-CN" dirty="0"/>
          </a:p>
          <a:p>
            <a:r>
              <a:rPr lang="zh-CN" altLang="en-US" dirty="0"/>
              <a:t>版权授权</a:t>
            </a:r>
            <a:endParaRPr lang="en-US" altLang="zh-CN" dirty="0"/>
          </a:p>
          <a:p>
            <a:r>
              <a:rPr lang="zh-CN" altLang="en-US" dirty="0"/>
              <a:t>收益分配</a:t>
            </a:r>
            <a:endParaRPr lang="en-US" altLang="zh-CN" dirty="0"/>
          </a:p>
          <a:p>
            <a:r>
              <a:rPr lang="zh-CN" altLang="en-US" dirty="0"/>
              <a:t>侵权固证</a:t>
            </a:r>
            <a:endParaRPr lang="en-US" altLang="zh-CN" dirty="0"/>
          </a:p>
          <a:p>
            <a:r>
              <a:rPr lang="zh-CN" altLang="en-US" dirty="0"/>
              <a:t>跨链协同（司法链）</a:t>
            </a:r>
            <a:endParaRPr lang="en-US" altLang="zh-CN" dirty="0"/>
          </a:p>
          <a:p>
            <a:r>
              <a:rPr lang="en-US" altLang="zh-CN" dirty="0"/>
              <a:t>…</a:t>
            </a:r>
            <a:r>
              <a:rPr lang="zh-CN" altLang="en-US" dirty="0"/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A823A4-116B-4795-A450-9A0788EB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26</a:t>
            </a:fld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D32928-3D3D-4DF5-8E65-931AA2BC7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696" y="1244212"/>
            <a:ext cx="8137922" cy="538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315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8B82B-E788-4E79-9DF7-724195AB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典型案例</a:t>
            </a:r>
            <a:r>
              <a:rPr lang="en-US" altLang="zh-CN" dirty="0"/>
              <a:t>2——</a:t>
            </a:r>
            <a:r>
              <a:rPr lang="zh-CN" altLang="en-US" dirty="0"/>
              <a:t>股权链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A1E64E-E53B-46A5-B60B-EF68AEF0A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932" y="1510757"/>
            <a:ext cx="3346174" cy="4982116"/>
          </a:xfrm>
        </p:spPr>
        <p:txBody>
          <a:bodyPr>
            <a:normAutofit/>
          </a:bodyPr>
          <a:lstStyle/>
          <a:p>
            <a:r>
              <a:rPr lang="zh-CN" altLang="en-US" dirty="0"/>
              <a:t>分层链</a:t>
            </a:r>
            <a:endParaRPr lang="en-US" altLang="zh-CN" dirty="0"/>
          </a:p>
          <a:p>
            <a:pPr lvl="1"/>
            <a:r>
              <a:rPr lang="zh-CN" altLang="en-US" dirty="0"/>
              <a:t>地方性股权业务链</a:t>
            </a:r>
            <a:endParaRPr lang="en-US" altLang="zh-CN" dirty="0"/>
          </a:p>
          <a:p>
            <a:pPr lvl="1"/>
            <a:r>
              <a:rPr lang="zh-CN" altLang="en-US" dirty="0"/>
              <a:t>中央全局监管链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企业数字档案</a:t>
            </a:r>
            <a:endParaRPr lang="en-US" altLang="zh-CN" dirty="0"/>
          </a:p>
          <a:p>
            <a:r>
              <a:rPr lang="zh-CN" altLang="en-US" dirty="0"/>
              <a:t>地方政务数据</a:t>
            </a:r>
            <a:endParaRPr lang="en-US" altLang="zh-CN" dirty="0"/>
          </a:p>
          <a:p>
            <a:r>
              <a:rPr lang="zh-CN" altLang="en-US" dirty="0"/>
              <a:t>第三方数据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A823A4-116B-4795-A450-9A0788EB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27</a:t>
            </a:fld>
            <a:endParaRPr kumimoji="1"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C7DC11D-F602-4AEA-8A72-99A8178D6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106" y="1682774"/>
            <a:ext cx="8566894" cy="463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93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8B82B-E788-4E79-9DF7-724195AB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典型案例</a:t>
            </a:r>
            <a:r>
              <a:rPr lang="en-US" altLang="zh-CN" dirty="0"/>
              <a:t>3——</a:t>
            </a:r>
            <a:r>
              <a:rPr lang="zh-CN" altLang="en-US" dirty="0"/>
              <a:t>区块链与无线通信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A823A4-116B-4795-A450-9A0788EB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28</a:t>
            </a:fld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C42C81-5B2B-4BF9-BE80-B8BA42897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09" y="1228628"/>
            <a:ext cx="11674982" cy="512772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4B0AA8E-EA10-4EFE-A4FB-6A105562B7D8}"/>
              </a:ext>
            </a:extLst>
          </p:cNvPr>
          <p:cNvSpPr txBox="1"/>
          <p:nvPr/>
        </p:nvSpPr>
        <p:spPr>
          <a:xfrm>
            <a:off x="258509" y="6538912"/>
            <a:ext cx="781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参考文献：王家恒，凌昕彤，乐煜炜，黄永明，尤肖虎，区块链赋能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6G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移动通信白皮书，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2021.6.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71142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8B82B-E788-4E79-9DF7-724195AB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典型案例</a:t>
            </a:r>
            <a:r>
              <a:rPr lang="en-US" altLang="zh-CN" dirty="0"/>
              <a:t>3——</a:t>
            </a:r>
            <a:r>
              <a:rPr lang="zh-CN" altLang="en-US" dirty="0"/>
              <a:t>区块链与无线通信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A823A4-116B-4795-A450-9A0788EB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29</a:t>
            </a:fld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4D2509-F5A4-45ED-A1C0-5A38FBA65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26" y="1290994"/>
            <a:ext cx="11675165" cy="540180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35784F8-452C-4216-8FF2-DADBB3352510}"/>
              </a:ext>
            </a:extLst>
          </p:cNvPr>
          <p:cNvSpPr txBox="1"/>
          <p:nvPr/>
        </p:nvSpPr>
        <p:spPr>
          <a:xfrm>
            <a:off x="258509" y="6538912"/>
            <a:ext cx="781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参考文献：王家恒，凌昕彤，乐煜炜，黄永明，尤肖虎，区块链赋能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6G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移动通信白皮书，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2021.6.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2685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8B82B-E788-4E79-9DF7-724195AB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典型案例</a:t>
            </a:r>
            <a:r>
              <a:rPr lang="en-US" altLang="zh-CN" dirty="0"/>
              <a:t>3——</a:t>
            </a:r>
            <a:r>
              <a:rPr lang="zh-CN" altLang="en-US" dirty="0"/>
              <a:t>区块链与无线通信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A823A4-116B-4795-A450-9A0788EB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30</a:t>
            </a:fld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101BF10-28C7-4140-AAC4-2F0544393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1" y="2015103"/>
            <a:ext cx="11942857" cy="452380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A5C4EA6-2D4D-4A08-91D2-139F2E496689}"/>
              </a:ext>
            </a:extLst>
          </p:cNvPr>
          <p:cNvSpPr/>
          <p:nvPr/>
        </p:nvSpPr>
        <p:spPr>
          <a:xfrm>
            <a:off x="284471" y="1459448"/>
            <a:ext cx="599587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60363" indent="-360363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可信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RAN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：基于区块链的哈希接入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D1E896-9BBF-4964-AD56-6D8AC5421CA5}"/>
              </a:ext>
            </a:extLst>
          </p:cNvPr>
          <p:cNvSpPr txBox="1"/>
          <p:nvPr/>
        </p:nvSpPr>
        <p:spPr>
          <a:xfrm>
            <a:off x="258509" y="6538912"/>
            <a:ext cx="781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参考文献：王家恒，凌昕彤，乐煜炜，黄永明，尤肖虎，区块链赋能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6G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移动通信白皮书，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2021.6.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49671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8B82B-E788-4E79-9DF7-724195AB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典型案例</a:t>
            </a:r>
            <a:r>
              <a:rPr lang="en-US" altLang="zh-CN" dirty="0"/>
              <a:t>3——</a:t>
            </a:r>
            <a:r>
              <a:rPr lang="zh-CN" altLang="en-US" dirty="0"/>
              <a:t>区块链与无线通信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A823A4-116B-4795-A450-9A0788EB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31</a:t>
            </a:fld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823FA0-E700-4211-8B57-B95B6A39F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7" y="1041385"/>
            <a:ext cx="10074965" cy="55177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1F7730E-0060-43C8-891B-0E1F30D370FE}"/>
              </a:ext>
            </a:extLst>
          </p:cNvPr>
          <p:cNvSpPr txBox="1"/>
          <p:nvPr/>
        </p:nvSpPr>
        <p:spPr>
          <a:xfrm>
            <a:off x="258509" y="6538912"/>
            <a:ext cx="781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参考文献：王家恒，凌昕彤，乐煜炜，黄永明，尤肖虎，区块链赋能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6G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移动通信白皮书，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2021.6.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1112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EFC88-15A8-8F47-A008-BBB6B0BE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01C0D4-2EC3-7D4D-AAC5-3C4CCB3D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公链与联盟链的异同点及优缺点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区块链在工业界中的应用及其重要性</a:t>
            </a:r>
          </a:p>
          <a:p>
            <a:pPr>
              <a:lnSpc>
                <a:spcPct val="120000"/>
              </a:lnSpc>
            </a:pPr>
            <a:r>
              <a:rPr kumimoji="1" lang="zh-CN" altLang="en-US" dirty="0"/>
              <a:t>掌握区块链所独有的特性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掌握</a:t>
            </a:r>
            <a:r>
              <a:rPr kumimoji="1" lang="en-US" altLang="zh-CN" dirty="0"/>
              <a:t>Hyperledger Fabric</a:t>
            </a:r>
            <a:r>
              <a:rPr kumimoji="1" lang="zh-CN" altLang="en-US" dirty="0"/>
              <a:t>项目</a:t>
            </a:r>
          </a:p>
          <a:p>
            <a:pPr>
              <a:lnSpc>
                <a:spcPct val="120000"/>
              </a:lnSpc>
            </a:pPr>
            <a:r>
              <a:rPr kumimoji="1" lang="zh-CN" altLang="en-US" dirty="0"/>
              <a:t>了解区块链应用落地所面对的问题</a:t>
            </a:r>
          </a:p>
          <a:p>
            <a:pPr>
              <a:lnSpc>
                <a:spcPct val="120000"/>
              </a:lnSpc>
            </a:pPr>
            <a:r>
              <a:rPr kumimoji="1" lang="zh-CN" altLang="en-US" dirty="0"/>
              <a:t>了解国内外区块链应用发展史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E33C2B-DFEA-AB45-B09F-58B1C2A1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746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10990</TotalTime>
  <Words>1916</Words>
  <Application>Microsoft Office PowerPoint</Application>
  <PresentationFormat>宽屏</PresentationFormat>
  <Paragraphs>325</Paragraphs>
  <Slides>33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等线</vt:lpstr>
      <vt:lpstr>楷体</vt:lpstr>
      <vt:lpstr>Microsoft YaHei</vt:lpstr>
      <vt:lpstr>Microsoft YaHei</vt:lpstr>
      <vt:lpstr>Arial</vt:lpstr>
      <vt:lpstr>Wingdings</vt:lpstr>
      <vt:lpstr>Office 主题​​</vt:lpstr>
      <vt:lpstr>第七章 区块链应用</vt:lpstr>
      <vt:lpstr>本章内容</vt:lpstr>
      <vt:lpstr>背景</vt:lpstr>
      <vt:lpstr>背景</vt:lpstr>
      <vt:lpstr>背景</vt:lpstr>
      <vt:lpstr>Hyperledger Fabric</vt:lpstr>
      <vt:lpstr>Hyperledger Fabric</vt:lpstr>
      <vt:lpstr>Hyperledger Fabric</vt:lpstr>
      <vt:lpstr>Hyperledger Fabric</vt:lpstr>
      <vt:lpstr>企业以太坊</vt:lpstr>
      <vt:lpstr>企业以太坊</vt:lpstr>
      <vt:lpstr>本章内容</vt:lpstr>
      <vt:lpstr>应用背景</vt:lpstr>
      <vt:lpstr>应用案例</vt:lpstr>
      <vt:lpstr>本章内容</vt:lpstr>
      <vt:lpstr>应用背景</vt:lpstr>
      <vt:lpstr>应用案例</vt:lpstr>
      <vt:lpstr>本章内容</vt:lpstr>
      <vt:lpstr>应用背景</vt:lpstr>
      <vt:lpstr>应用案例</vt:lpstr>
      <vt:lpstr>本章内容</vt:lpstr>
      <vt:lpstr>应用背景</vt:lpstr>
      <vt:lpstr>应用案例</vt:lpstr>
      <vt:lpstr>本章内容</vt:lpstr>
      <vt:lpstr>应用背景</vt:lpstr>
      <vt:lpstr>本章内容</vt:lpstr>
      <vt:lpstr>典型案例1——中国V链</vt:lpstr>
      <vt:lpstr>典型案例2——股权链</vt:lpstr>
      <vt:lpstr>典型案例3——区块链与无线通信</vt:lpstr>
      <vt:lpstr>典型案例3——区块链与无线通信</vt:lpstr>
      <vt:lpstr>典型案例3——区块链与无线通信</vt:lpstr>
      <vt:lpstr>典型案例3——区块链与无线通信</vt:lpstr>
      <vt:lpstr>本章总结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Yong Cui</dc:creator>
  <cp:lastModifiedBy>h 侯璐</cp:lastModifiedBy>
  <cp:revision>1358</cp:revision>
  <dcterms:created xsi:type="dcterms:W3CDTF">2021-01-06T05:35:51Z</dcterms:created>
  <dcterms:modified xsi:type="dcterms:W3CDTF">2025-06-02T15:27:58Z</dcterms:modified>
</cp:coreProperties>
</file>