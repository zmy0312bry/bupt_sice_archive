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1257" r:id="rId2"/>
    <p:sldId id="1062" r:id="rId3"/>
    <p:sldId id="1263" r:id="rId4"/>
    <p:sldId id="1264" r:id="rId5"/>
    <p:sldId id="1272" r:id="rId6"/>
    <p:sldId id="1273" r:id="rId7"/>
    <p:sldId id="1278" r:id="rId8"/>
    <p:sldId id="1274" r:id="rId9"/>
    <p:sldId id="1275" r:id="rId10"/>
    <p:sldId id="1276" r:id="rId11"/>
    <p:sldId id="1277" r:id="rId12"/>
    <p:sldId id="1279" r:id="rId13"/>
    <p:sldId id="1280" r:id="rId14"/>
    <p:sldId id="1281" r:id="rId15"/>
    <p:sldId id="1266" r:id="rId16"/>
    <p:sldId id="1267" r:id="rId17"/>
    <p:sldId id="1269" r:id="rId18"/>
    <p:sldId id="1270" r:id="rId19"/>
    <p:sldId id="1271" r:id="rId20"/>
    <p:sldId id="9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062"/>
            <p14:sldId id="1263"/>
            <p14:sldId id="1264"/>
            <p14:sldId id="1272"/>
            <p14:sldId id="1273"/>
            <p14:sldId id="1278"/>
            <p14:sldId id="1274"/>
            <p14:sldId id="1275"/>
            <p14:sldId id="1276"/>
            <p14:sldId id="1277"/>
            <p14:sldId id="1279"/>
            <p14:sldId id="1280"/>
            <p14:sldId id="1281"/>
            <p14:sldId id="1266"/>
            <p14:sldId id="1267"/>
            <p14:sldId id="1269"/>
            <p14:sldId id="1270"/>
            <p14:sldId id="1271"/>
            <p14:sldId id="9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5B307E"/>
    <a:srgbClr val="B962FF"/>
    <a:srgbClr val="FDCB0B"/>
    <a:srgbClr val="FFD700"/>
    <a:srgbClr val="F9BC12"/>
    <a:srgbClr val="FFD801"/>
    <a:srgbClr val="EFB914"/>
    <a:srgbClr val="F5BD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4" autoAdjust="0"/>
    <p:restoredTop sz="86677" autoAdjust="0"/>
  </p:normalViewPr>
  <p:slideViewPr>
    <p:cSldViewPr snapToGrid="0" snapToObjects="1">
      <p:cViewPr varScale="1">
        <p:scale>
          <a:sx n="94" d="100"/>
          <a:sy n="94" d="100"/>
        </p:scale>
        <p:origin x="990" y="84"/>
      </p:cViewPr>
      <p:guideLst/>
    </p:cSldViewPr>
  </p:slideViewPr>
  <p:outlineViewPr>
    <p:cViewPr>
      <p:scale>
        <a:sx n="33" d="100"/>
        <a:sy n="33" d="100"/>
      </p:scale>
      <p:origin x="0" y="-2640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2025/6/2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6025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1909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293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8759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3783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97C75-78EB-4043-953B-95F867F4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1C1163-5F70-9046-86B2-81951DCE1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6F9E280-F138-8142-8DB1-324EA9F38324}"/>
              </a:ext>
            </a:extLst>
          </p:cNvPr>
          <p:cNvSpPr/>
          <p:nvPr userDrawn="1"/>
        </p:nvSpPr>
        <p:spPr>
          <a:xfrm>
            <a:off x="-9939" y="-8628"/>
            <a:ext cx="9579750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区块链原理与技术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FFDC87-970F-4AB4-ACD3-14A0C59827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69811" y="59212"/>
            <a:ext cx="2552805" cy="76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4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457C5-5D0E-4F46-9D0B-7EA2985D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A45BE-434F-B44C-99F8-C563AC076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363" indent="-360363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tabLst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DBE6BC-6A1B-1944-BBB6-30FD8C33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9E7AFED4-5702-094E-A3B8-21EB069F234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06B569DB-EE88-CB4A-A634-A7CA45E81663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C1D75728-DE08-814F-9EF0-7E9AFB999FE6}"/>
              </a:ext>
            </a:extLst>
          </p:cNvPr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>
              <a:extLst>
                <a:ext uri="{FF2B5EF4-FFF2-40B4-BE49-F238E27FC236}">
                  <a16:creationId xmlns:a16="http://schemas.microsoft.com/office/drawing/2014/main" id="{53F1A011-1E52-3140-9C21-8911AB322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>
              <a:extLst>
                <a:ext uri="{FF2B5EF4-FFF2-40B4-BE49-F238E27FC236}">
                  <a16:creationId xmlns:a16="http://schemas.microsoft.com/office/drawing/2014/main" id="{364873AD-F7AE-3D48-84F0-C71836518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>
              <a:extLst>
                <a:ext uri="{FF2B5EF4-FFF2-40B4-BE49-F238E27FC236}">
                  <a16:creationId xmlns:a16="http://schemas.microsoft.com/office/drawing/2014/main" id="{5B03D593-4A0D-DF4E-8474-4FAD50C6B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>
              <a:extLst>
                <a:ext uri="{FF2B5EF4-FFF2-40B4-BE49-F238E27FC236}">
                  <a16:creationId xmlns:a16="http://schemas.microsoft.com/office/drawing/2014/main" id="{1A0E5E70-2235-6044-9E4C-A8D320929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9F25C08B-5CAA-1D40-B768-CF07CC909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>
              <a:extLst>
                <a:ext uri="{FF2B5EF4-FFF2-40B4-BE49-F238E27FC236}">
                  <a16:creationId xmlns:a16="http://schemas.microsoft.com/office/drawing/2014/main" id="{A1A66D2D-2EC2-AA45-8DA4-4B543D6DB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>
              <a:extLst>
                <a:ext uri="{FF2B5EF4-FFF2-40B4-BE49-F238E27FC236}">
                  <a16:creationId xmlns:a16="http://schemas.microsoft.com/office/drawing/2014/main" id="{BF5A2635-9D3C-B746-B7BB-00E1B5440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>
              <a:extLst>
                <a:ext uri="{FF2B5EF4-FFF2-40B4-BE49-F238E27FC236}">
                  <a16:creationId xmlns:a16="http://schemas.microsoft.com/office/drawing/2014/main" id="{9A427AEE-5F0B-1D43-8127-A5A07CDC3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>
              <a:extLst>
                <a:ext uri="{FF2B5EF4-FFF2-40B4-BE49-F238E27FC236}">
                  <a16:creationId xmlns:a16="http://schemas.microsoft.com/office/drawing/2014/main" id="{E60E42BA-4A46-4D41-AA72-E2F725048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>
              <a:extLst>
                <a:ext uri="{FF2B5EF4-FFF2-40B4-BE49-F238E27FC236}">
                  <a16:creationId xmlns:a16="http://schemas.microsoft.com/office/drawing/2014/main" id="{5B1734EF-4E6E-164F-849F-5F0125656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>
              <a:extLst>
                <a:ext uri="{FF2B5EF4-FFF2-40B4-BE49-F238E27FC236}">
                  <a16:creationId xmlns:a16="http://schemas.microsoft.com/office/drawing/2014/main" id="{8623BE8B-4483-AE4A-A6EA-432CBE50B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479A4E1F-B48A-45F9-A570-AE56D115EC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3B0CAC2-00CF-4A8F-97AD-367F5CE87C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1203" y="420369"/>
            <a:ext cx="2266577" cy="6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53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A6BC-3A36-834A-8A46-510CF743F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F4A777-4880-8640-83A6-327323A56F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E2510C-46FB-B140-83A3-4B9EF1B4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B6C4E-D29D-9647-82C6-2B183C58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D64F221-C9B8-444F-9076-736EED2DA56E}"/>
              </a:ext>
            </a:extLst>
          </p:cNvPr>
          <p:cNvCxnSpPr>
            <a:cxnSpLocks/>
          </p:cNvCxnSpPr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E9B9A2A5-908B-3244-B39F-9E6705AE6320}"/>
              </a:ext>
            </a:extLst>
          </p:cNvPr>
          <p:cNvCxnSpPr>
            <a:cxnSpLocks/>
          </p:cNvCxnSpPr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479A4E1F-B48A-45F9-A570-AE56D115EC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38BEBFB-66D3-4FDE-8E69-F78B30ED58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51203" y="420369"/>
            <a:ext cx="2266577" cy="68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7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B931506-C8E0-1649-BE54-52B88034B1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0465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AAA80D-F069-DE49-8F34-B637A12C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AAE3F-F071-E445-8B18-8EAF39793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17F525-3365-224F-AAA7-E3B9B3011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653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8/blocks" TargetMode="External"/><Relationship Id="rId2" Type="http://schemas.openxmlformats.org/officeDocument/2006/relationships/hyperlink" Target="https://github.com/splintercommunity/sawtooth-core/blob/1-2/docker/compose/sawtooth-default.ya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rest-api:8008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awtooth.splinter.dev/docs/1.2/" TargetMode="External"/><Relationship Id="rId2" Type="http://schemas.openxmlformats.org/officeDocument/2006/relationships/hyperlink" Target="https://hyperledger-fabric.readthedocs.io/en/latest/index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F4557-9C48-9D4D-A8AC-E1BCC4493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9125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第六章 联盟链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AADDAC-3DB3-ED4C-BCFE-CFA683990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 dirty="0"/>
              <a:t>北京邮电大学</a:t>
            </a:r>
            <a:endParaRPr kumimoji="1"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2465913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6.1 Hyperledger Fabric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6.2 Splinter Sawtooth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2775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联盟链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5410200" cy="4845592"/>
          </a:xfrm>
        </p:spPr>
        <p:txBody>
          <a:bodyPr>
            <a:normAutofit fontScale="85000" lnSpcReduction="10000"/>
          </a:bodyPr>
          <a:lstStyle/>
          <a:p>
            <a:pPr fontAlgn="auto">
              <a:lnSpc>
                <a:spcPct val="130000"/>
              </a:lnSpc>
            </a:pPr>
            <a:r>
              <a:rPr lang="zh-CN" altLang="en-US" dirty="0"/>
              <a:t>定义：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联盟链其实就是由多个私有链组成的集群，由多个机构共同参与管理的区块链，每个组织或机构管理一个或多个节点，其数据只允许系统内不同的机构进行读写和发送。 联盟链的各个节点通常有与之对应的实体机构组织，通过授权后才能加入与退出网络。各机构组织组成利益相关的联盟，共同维护区块链的健康运转。</a:t>
            </a:r>
            <a:endParaRPr lang="en-US" alt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E080B7-C088-8B4E-B8CF-3281335EB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pic>
        <p:nvPicPr>
          <p:cNvPr id="1028" name="Picture 4" descr="basic_network">
            <a:extLst>
              <a:ext uri="{FF2B5EF4-FFF2-40B4-BE49-F238E27FC236}">
                <a16:creationId xmlns:a16="http://schemas.microsoft.com/office/drawing/2014/main" id="{FDC25BD8-A49F-4241-AB4E-740003EE45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1" t="9185" r="13327" b="9333"/>
          <a:stretch/>
        </p:blipFill>
        <p:spPr bwMode="auto">
          <a:xfrm>
            <a:off x="6096000" y="1601723"/>
            <a:ext cx="5852161" cy="439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92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66FAD-4B72-4230-A391-4A7ED308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对比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C8608E-D809-4BD9-A29A-9BB44EF7D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453341A-5D9E-4165-BB9D-1A4DFBC2B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587613"/>
              </p:ext>
            </p:extLst>
          </p:nvPr>
        </p:nvGraphicFramePr>
        <p:xfrm>
          <a:off x="2085012" y="1449044"/>
          <a:ext cx="8021976" cy="514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154">
                  <a:extLst>
                    <a:ext uri="{9D8B030D-6E8A-4147-A177-3AD203B41FA5}">
                      <a16:colId xmlns:a16="http://schemas.microsoft.com/office/drawing/2014/main" val="2358678061"/>
                    </a:ext>
                  </a:extLst>
                </a:gridCol>
                <a:gridCol w="1420835">
                  <a:extLst>
                    <a:ext uri="{9D8B030D-6E8A-4147-A177-3AD203B41FA5}">
                      <a16:colId xmlns:a16="http://schemas.microsoft.com/office/drawing/2014/main" val="3118368469"/>
                    </a:ext>
                  </a:extLst>
                </a:gridCol>
                <a:gridCol w="1662415">
                  <a:extLst>
                    <a:ext uri="{9D8B030D-6E8A-4147-A177-3AD203B41FA5}">
                      <a16:colId xmlns:a16="http://schemas.microsoft.com/office/drawing/2014/main" val="3112847291"/>
                    </a:ext>
                  </a:extLst>
                </a:gridCol>
                <a:gridCol w="1757245">
                  <a:extLst>
                    <a:ext uri="{9D8B030D-6E8A-4147-A177-3AD203B41FA5}">
                      <a16:colId xmlns:a16="http://schemas.microsoft.com/office/drawing/2014/main" val="2550592074"/>
                    </a:ext>
                  </a:extLst>
                </a:gridCol>
                <a:gridCol w="1722327">
                  <a:extLst>
                    <a:ext uri="{9D8B030D-6E8A-4147-A177-3AD203B41FA5}">
                      <a16:colId xmlns:a16="http://schemas.microsoft.com/office/drawing/2014/main" val="3522705466"/>
                    </a:ext>
                  </a:extLst>
                </a:gridCol>
              </a:tblGrid>
              <a:tr h="585360">
                <a:tc>
                  <a:txBody>
                    <a:bodyPr/>
                    <a:lstStyle/>
                    <a:p>
                      <a:pPr algn="ctr"/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BTC</a:t>
                      </a:r>
                      <a:endParaRPr lang="zh-CN" altLang="en-US" sz="1400" baseline="0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ETH</a:t>
                      </a:r>
                      <a:endParaRPr lang="zh-CN" altLang="en-US" sz="1400" baseline="0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Fabric</a:t>
                      </a:r>
                      <a:endParaRPr lang="zh-CN" altLang="en-US" sz="1400" baseline="0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solidFill>
                            <a:srgbClr val="0000CC"/>
                          </a:solidFill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Sawtooth</a:t>
                      </a:r>
                      <a:endParaRPr lang="zh-CN" altLang="en-US" sz="1400" baseline="0" dirty="0">
                        <a:solidFill>
                          <a:srgbClr val="0000CC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637669"/>
                  </a:ext>
                </a:extLst>
              </a:tr>
              <a:tr h="5853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共识机制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PoW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PoW</a:t>
                      </a: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PoS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PBFT/RAFT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PoET</a:t>
                      </a:r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/RAFT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374117"/>
                  </a:ext>
                </a:extLst>
              </a:tr>
              <a:tr h="817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智能合约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Smart Contract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 err="1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Chaincode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Tx Family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732177"/>
                  </a:ext>
                </a:extLst>
              </a:tr>
              <a:tr h="5853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授权机制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CA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N/CA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1563057"/>
                  </a:ext>
                </a:extLst>
              </a:tr>
              <a:tr h="5853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交易速度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7 Tx/s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36 Tx/s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2k Tx/s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1k Tx/s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630928"/>
                  </a:ext>
                </a:extLst>
              </a:tr>
              <a:tr h="8179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编程语言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BTC script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Solidity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Go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Python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1338622"/>
                  </a:ext>
                </a:extLst>
              </a:tr>
              <a:tr h="5853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加密货币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BTC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ETH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247128"/>
                  </a:ext>
                </a:extLst>
              </a:tr>
              <a:tr h="58536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数据结构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MT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MPT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aseline="0" dirty="0">
                          <a:latin typeface="Times New Roman" panose="02020603050405020304" pitchFamily="18" charset="0"/>
                          <a:ea typeface="微软雅黑" panose="020B0503020204020204" pitchFamily="34" charset="-122"/>
                        </a:rPr>
                        <a:t>MRT</a:t>
                      </a:r>
                      <a:endParaRPr lang="zh-CN" altLang="en-US" sz="1400" baseline="0" dirty="0">
                        <a:latin typeface="Times New Roman" panose="02020603050405020304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86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865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94DE894-DBC5-49D1-9A9E-3C67E7D00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1099" y="3643299"/>
            <a:ext cx="6721536" cy="300222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Hyperledger Fabric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ACCDB2-FDEA-4D16-85FC-99F19FFE37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86" t="7730" r="5681" b="8115"/>
          <a:stretch/>
        </p:blipFill>
        <p:spPr>
          <a:xfrm>
            <a:off x="1614514" y="1244212"/>
            <a:ext cx="6970686" cy="28956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4480AB3-4404-4F2B-977A-57B53D1C6CE5}"/>
              </a:ext>
            </a:extLst>
          </p:cNvPr>
          <p:cNvSpPr txBox="1"/>
          <p:nvPr/>
        </p:nvSpPr>
        <p:spPr>
          <a:xfrm>
            <a:off x="374994" y="1440934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Ledger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76B6004-85BC-4602-8F12-F879017F740D}"/>
              </a:ext>
            </a:extLst>
          </p:cNvPr>
          <p:cNvSpPr txBox="1"/>
          <p:nvPr/>
        </p:nvSpPr>
        <p:spPr>
          <a:xfrm>
            <a:off x="374994" y="3792586"/>
            <a:ext cx="1791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World State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283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Hyperledger Fabric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4B9EA4-6D78-4FB3-9C3F-CDECDE4D8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7903"/>
            <a:ext cx="12192000" cy="543355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D9F5380-9454-4DCE-9EE2-C54862AF153F}"/>
              </a:ext>
            </a:extLst>
          </p:cNvPr>
          <p:cNvSpPr txBox="1"/>
          <p:nvPr/>
        </p:nvSpPr>
        <p:spPr>
          <a:xfrm>
            <a:off x="374994" y="1440934"/>
            <a:ext cx="150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Blockchain: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863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D7868BE-82DD-4DF5-9725-0F91AD4AB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934"/>
            <a:ext cx="12192000" cy="547834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Hyperledger Fabric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9F5380-9454-4DCE-9EE2-C54862AF153F}"/>
              </a:ext>
            </a:extLst>
          </p:cNvPr>
          <p:cNvSpPr txBox="1"/>
          <p:nvPr/>
        </p:nvSpPr>
        <p:spPr>
          <a:xfrm>
            <a:off x="374994" y="1440934"/>
            <a:ext cx="1500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Blockchain: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4083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DE82589-9DC9-4080-8D27-F4ED4474CF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41" t="12955" r="13470" b="18131"/>
          <a:stretch/>
        </p:blipFill>
        <p:spPr>
          <a:xfrm>
            <a:off x="6736080" y="4560148"/>
            <a:ext cx="5222241" cy="216132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69B5AA5-C908-4A07-B269-B6B296389F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68" t="10646" b="9017"/>
          <a:stretch/>
        </p:blipFill>
        <p:spPr>
          <a:xfrm>
            <a:off x="934719" y="1440933"/>
            <a:ext cx="7906945" cy="324282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Hyperledger Fabric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9527F8-3DD8-4C12-A9CD-5C7B7D5C84E4}"/>
              </a:ext>
            </a:extLst>
          </p:cNvPr>
          <p:cNvSpPr txBox="1"/>
          <p:nvPr/>
        </p:nvSpPr>
        <p:spPr>
          <a:xfrm>
            <a:off x="374994" y="1440934"/>
            <a:ext cx="772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Peer: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4658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Hyperledger Fabric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C5F414-E50A-4340-A93E-77672A926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74" y="1705655"/>
            <a:ext cx="11025051" cy="483325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3CB2058-5ECA-46EB-8B29-6D2D6FA674C0}"/>
              </a:ext>
            </a:extLst>
          </p:cNvPr>
          <p:cNvSpPr txBox="1"/>
          <p:nvPr/>
        </p:nvSpPr>
        <p:spPr>
          <a:xfrm>
            <a:off x="374994" y="1440934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Application: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5757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458C7E-D51D-4ADE-A8E4-F769E1123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1967"/>
            <a:ext cx="12192000" cy="455603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Hyperledger Fabric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8E7947-5800-4D22-9D6C-E3DF1FCC732F}"/>
              </a:ext>
            </a:extLst>
          </p:cNvPr>
          <p:cNvSpPr txBox="1"/>
          <p:nvPr/>
        </p:nvSpPr>
        <p:spPr>
          <a:xfrm>
            <a:off x="374994" y="1440934"/>
            <a:ext cx="201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Channel: 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子链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3232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Hyperledger Fabric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0671B4-7198-46F5-99E4-67B2C117E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40021"/>
            <a:ext cx="12192000" cy="45179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C779100-99B4-472C-B9C4-3B04FD249DA9}"/>
              </a:ext>
            </a:extLst>
          </p:cNvPr>
          <p:cNvSpPr txBox="1"/>
          <p:nvPr/>
        </p:nvSpPr>
        <p:spPr>
          <a:xfrm>
            <a:off x="374994" y="1440934"/>
            <a:ext cx="2693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Ledger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更新流程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：请求</a:t>
            </a:r>
          </a:p>
        </p:txBody>
      </p:sp>
    </p:spTree>
    <p:extLst>
      <p:ext uri="{BB962C8B-B14F-4D97-AF65-F5344CB8AC3E}">
        <p14:creationId xmlns:p14="http://schemas.microsoft.com/office/powerpoint/2010/main" val="2541532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Hyperledger Fabric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779100-99B4-472C-B9C4-3B04FD249DA9}"/>
              </a:ext>
            </a:extLst>
          </p:cNvPr>
          <p:cNvSpPr txBox="1"/>
          <p:nvPr/>
        </p:nvSpPr>
        <p:spPr>
          <a:xfrm>
            <a:off x="374994" y="1440934"/>
            <a:ext cx="275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Ledger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更新流程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：打包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34A190-1B3B-4FEF-A8E2-BBF3AC9E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8832"/>
            <a:ext cx="12192000" cy="490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02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Hyperledger Fabric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779100-99B4-472C-B9C4-3B04FD249DA9}"/>
              </a:ext>
            </a:extLst>
          </p:cNvPr>
          <p:cNvSpPr txBox="1"/>
          <p:nvPr/>
        </p:nvSpPr>
        <p:spPr>
          <a:xfrm>
            <a:off x="374994" y="1440934"/>
            <a:ext cx="2673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Ledger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更新流程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：验证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7627B2-8657-42E4-B368-B1AD42D53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4478"/>
            <a:ext cx="12192000" cy="458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03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9B8FE-3A08-AB44-8FD5-4884CABB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AE97F77-16B3-2043-B14E-0B774467C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6.1 Hyperledger Fabric</a:t>
            </a: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6.2 Splinter Sawtooth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93E6B42-DAB5-7042-B243-5902825E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3989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14D61F0-411E-4F78-8F21-A1FAAFF0C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076" y="1244212"/>
            <a:ext cx="8100289" cy="547726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Splinter Sawtooth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D1BD89-F98C-48E8-B510-3425B7D852A0}"/>
              </a:ext>
            </a:extLst>
          </p:cNvPr>
          <p:cNvSpPr txBox="1"/>
          <p:nvPr/>
        </p:nvSpPr>
        <p:spPr>
          <a:xfrm>
            <a:off x="374994" y="1440934"/>
            <a:ext cx="342100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联盟链</a:t>
            </a:r>
            <a:endParaRPr lang="en-US" altLang="zh-CN" b="1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参与网络需权限认证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Validator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全节点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依赖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Permission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定义权限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b="1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智能合约</a:t>
            </a:r>
            <a:endParaRPr lang="en-US" altLang="zh-CN" b="1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Transaction Family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应用级合约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可插拔共识</a:t>
            </a:r>
            <a:endParaRPr lang="en-US" altLang="zh-CN" b="1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PoET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PBFT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Devmode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RAFT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7774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AF478CC-DB10-4F05-8672-953B73A3C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136" y="1282010"/>
            <a:ext cx="6425675" cy="530352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Splinter Sawtooth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15</a:t>
            </a:fld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3B5CDF-E38D-48E8-8565-6D4FE039244A}"/>
              </a:ext>
            </a:extLst>
          </p:cNvPr>
          <p:cNvSpPr txBox="1"/>
          <p:nvPr/>
        </p:nvSpPr>
        <p:spPr>
          <a:xfrm>
            <a:off x="195986" y="3189925"/>
            <a:ext cx="2309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b="1" i="0" dirty="0">
                <a:solidFill>
                  <a:srgbClr val="2C3E5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Merkle-Radix Tree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EB26B2-061B-4641-A2BE-4D039BC64A09}"/>
              </a:ext>
            </a:extLst>
          </p:cNvPr>
          <p:cNvSpPr txBox="1"/>
          <p:nvPr/>
        </p:nvSpPr>
        <p:spPr>
          <a:xfrm>
            <a:off x="151740" y="3572285"/>
            <a:ext cx="4743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35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字节，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个字节命名空间，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字节的哈希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压缩前缀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CCD28AE5-BF5B-4A4D-8D6D-8E4FC9DC1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9" y="4505960"/>
            <a:ext cx="912495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F58D909-98B6-4A66-BCD7-D4A2A0A3523D}"/>
              </a:ext>
            </a:extLst>
          </p:cNvPr>
          <p:cNvSpPr txBox="1"/>
          <p:nvPr/>
        </p:nvSpPr>
        <p:spPr>
          <a:xfrm>
            <a:off x="203200" y="1402080"/>
            <a:ext cx="1827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Global State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b="1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84455A-5E46-474C-BE56-7A2FD4B3E45C}"/>
              </a:ext>
            </a:extLst>
          </p:cNvPr>
          <p:cNvSpPr txBox="1"/>
          <p:nvPr/>
        </p:nvSpPr>
        <p:spPr>
          <a:xfrm>
            <a:off x="203200" y="1885962"/>
            <a:ext cx="460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MRT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组织的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address -&gt; data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的全局状态</a:t>
            </a:r>
          </a:p>
        </p:txBody>
      </p:sp>
    </p:spTree>
    <p:extLst>
      <p:ext uri="{BB962C8B-B14F-4D97-AF65-F5344CB8AC3E}">
        <p14:creationId xmlns:p14="http://schemas.microsoft.com/office/powerpoint/2010/main" val="1689126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17E0CC6-8737-46A9-8EF3-8A4995393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914" y="1346835"/>
            <a:ext cx="6734646" cy="53746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Splinter Sawtooth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3B5CDF-E38D-48E8-8565-6D4FE039244A}"/>
              </a:ext>
            </a:extLst>
          </p:cNvPr>
          <p:cNvSpPr txBox="1"/>
          <p:nvPr/>
        </p:nvSpPr>
        <p:spPr>
          <a:xfrm>
            <a:off x="203200" y="1402080"/>
            <a:ext cx="2664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Transaction Header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311130-9DAC-40B7-B720-DFD66F8C6F21}"/>
              </a:ext>
            </a:extLst>
          </p:cNvPr>
          <p:cNvSpPr txBox="1"/>
          <p:nvPr/>
        </p:nvSpPr>
        <p:spPr>
          <a:xfrm>
            <a:off x="538480" y="1776095"/>
            <a:ext cx="474200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batcher_public_key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打包客户端的公钥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dependencies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：必须在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xxx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交易后执行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family_name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智能合约名称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family_version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智能合约版本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inputs: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允许读取的地址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nonce: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outputs: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允许写入的地址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payload_sha512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：哈希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signer_public_key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：交易签名客户端的公钥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65F4A8-8156-479F-A397-3155897AB201}"/>
              </a:ext>
            </a:extLst>
          </p:cNvPr>
          <p:cNvSpPr txBox="1"/>
          <p:nvPr/>
        </p:nvSpPr>
        <p:spPr>
          <a:xfrm>
            <a:off x="203200" y="4375150"/>
            <a:ext cx="1866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Transactions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4851FD-9951-454C-8D7A-972E44FF3372}"/>
              </a:ext>
            </a:extLst>
          </p:cNvPr>
          <p:cNvSpPr txBox="1"/>
          <p:nvPr/>
        </p:nvSpPr>
        <p:spPr>
          <a:xfrm>
            <a:off x="538480" y="4759444"/>
            <a:ext cx="31406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header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Header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序列化结果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Header_signature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签名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Payload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：合约参数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2FCAFD-96E0-456E-AAB0-19C505F224A2}"/>
              </a:ext>
            </a:extLst>
          </p:cNvPr>
          <p:cNvSpPr txBox="1"/>
          <p:nvPr/>
        </p:nvSpPr>
        <p:spPr>
          <a:xfrm>
            <a:off x="4263206" y="4425782"/>
            <a:ext cx="1980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 Header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ED235F-46B2-4652-962C-57DA02CE96DF}"/>
              </a:ext>
            </a:extLst>
          </p:cNvPr>
          <p:cNvSpPr txBox="1"/>
          <p:nvPr/>
        </p:nvSpPr>
        <p:spPr>
          <a:xfrm>
            <a:off x="4598486" y="4799797"/>
            <a:ext cx="48029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signer_public_key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: batch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签名者的公钥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transaction_ids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batch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包含的交易签名列表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3A7061-60E8-471F-A885-9EFE83C17FA5}"/>
              </a:ext>
            </a:extLst>
          </p:cNvPr>
          <p:cNvSpPr txBox="1"/>
          <p:nvPr/>
        </p:nvSpPr>
        <p:spPr>
          <a:xfrm>
            <a:off x="4263206" y="5538461"/>
            <a:ext cx="1068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F2D543D-E6CB-4C6B-B7FB-5CEFB84B747E}"/>
              </a:ext>
            </a:extLst>
          </p:cNvPr>
          <p:cNvSpPr txBox="1"/>
          <p:nvPr/>
        </p:nvSpPr>
        <p:spPr>
          <a:xfrm>
            <a:off x="4597765" y="5907793"/>
            <a:ext cx="4060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header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Header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Header_signature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签名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transactions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batch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包含的交易列表</a:t>
            </a:r>
          </a:p>
        </p:txBody>
      </p:sp>
    </p:spTree>
    <p:extLst>
      <p:ext uri="{BB962C8B-B14F-4D97-AF65-F5344CB8AC3E}">
        <p14:creationId xmlns:p14="http://schemas.microsoft.com/office/powerpoint/2010/main" val="3321910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6809014-1D82-44D2-9CE1-40A90CB8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15011"/>
            <a:ext cx="5216707" cy="544298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Splinter Sawtooth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C0B085-6A64-4B8D-B36C-826F144CE6E5}"/>
              </a:ext>
            </a:extLst>
          </p:cNvPr>
          <p:cNvSpPr txBox="1"/>
          <p:nvPr/>
        </p:nvSpPr>
        <p:spPr>
          <a:xfrm>
            <a:off x="117293" y="1452390"/>
            <a:ext cx="6858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Journal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Completer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Batch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预处理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ChainController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：验证其他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Journal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发来的区块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</a:rPr>
              <a:t>BlockPublisher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：将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</a:rPr>
              <a:t>Batch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</a:rPr>
              <a:t>打包为新的区块，并发布用于共识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1C2CC1-EAD1-4994-A0E7-DC87EEF54713}"/>
              </a:ext>
            </a:extLst>
          </p:cNvPr>
          <p:cNvSpPr txBox="1"/>
          <p:nvPr/>
        </p:nvSpPr>
        <p:spPr>
          <a:xfrm>
            <a:off x="117293" y="2746688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Transaction Processor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TP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altLang="zh-CN" b="1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执行智能合约的处理器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08A8B7-CF41-4AFC-B452-FD1DCB80F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58" y="3668950"/>
            <a:ext cx="6126480" cy="282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27EFE-E89C-4D6D-8C98-659221A9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Splinter Sawtooth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DD9D5F-C47E-45E4-AE74-8A6E4CF9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C0B085-6A64-4B8D-B36C-826F144CE6E5}"/>
              </a:ext>
            </a:extLst>
          </p:cNvPr>
          <p:cNvSpPr txBox="1"/>
          <p:nvPr/>
        </p:nvSpPr>
        <p:spPr>
          <a:xfrm>
            <a:off x="264160" y="1415011"/>
            <a:ext cx="650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启动一个</a:t>
            </a:r>
            <a:r>
              <a:rPr lang="en-US" altLang="zh-CN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Sawtooth</a:t>
            </a:r>
            <a:r>
              <a:rPr lang="zh-CN" altLang="en-US" b="1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测试网络</a:t>
            </a:r>
            <a:endParaRPr lang="en-US" altLang="zh-CN" b="1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47C8C9-9747-435E-9214-B7F72D78CC1B}"/>
              </a:ext>
            </a:extLst>
          </p:cNvPr>
          <p:cNvSpPr txBox="1"/>
          <p:nvPr/>
        </p:nvSpPr>
        <p:spPr>
          <a:xfrm>
            <a:off x="301668" y="1784343"/>
            <a:ext cx="1137217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Windows</a:t>
            </a: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安装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Docker Desktop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下载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Docker Compose</a:t>
            </a: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配置文件：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sawtooth-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default.yaml</a:t>
            </a:r>
            <a:endParaRPr lang="en-US" altLang="zh-CN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Powershell</a:t>
            </a: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docker-compose -f sawtooth-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default.yaml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up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是否安装成功：</a:t>
            </a:r>
            <a:endParaRPr lang="en-US" altLang="zh-CN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浏览器打开：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http://localhost:8008/blocks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进入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Sawtooth</a:t>
            </a: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命令行客户端：</a:t>
            </a:r>
            <a:endParaRPr lang="en-US" altLang="zh-CN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docker exec -it sawtooth-shell-default bash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智能合约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intkey</a:t>
            </a: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示例</a:t>
            </a:r>
            <a:endParaRPr lang="en-US" altLang="zh-CN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</a:t>
            </a: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intkey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create_batch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--count 10 --key-count 5</a:t>
            </a:r>
          </a:p>
          <a:p>
            <a:pPr marL="742950" lvl="1" indent="-285750"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提交至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Validator</a:t>
            </a: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intkey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load -f 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batches.intkey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--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url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4"/>
              </a:rPr>
              <a:t>http://rest-api:8008</a:t>
            </a:r>
            <a:endParaRPr lang="en-US" altLang="zh-CN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查看区块链：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sawtooth block list --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url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4"/>
              </a:rPr>
              <a:t>http://rest-api:8008</a:t>
            </a:r>
            <a:endParaRPr lang="en-US" altLang="zh-CN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查看具体的区块：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sawtooth block show --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url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http://rest-api:8008 {BLOCK_ID}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查看状态列表：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sawtooth state list --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url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hlinkClick r:id="rId4"/>
              </a:rPr>
              <a:t>http://rest-api:8008</a:t>
            </a:r>
            <a:endParaRPr lang="en-US" altLang="zh-CN" dirty="0">
              <a:solidFill>
                <a:srgbClr val="2C3E5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查看具体的状态数据：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sawtooth state show --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url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http://rest-api:8008 {STATE_ADDRESS}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自定义状态：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intkey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set name 120 --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url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http://rest-api:8008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查看状态数据：（需要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CBOR2</a:t>
            </a:r>
            <a:r>
              <a:rPr lang="zh-CN" altLang="en-US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库）</a:t>
            </a:r>
            <a:r>
              <a:rPr lang="en-US" altLang="zh-CN" dirty="0" err="1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cbor.loads</a:t>
            </a:r>
            <a:r>
              <a:rPr lang="en-US" altLang="zh-CN" dirty="0">
                <a:solidFill>
                  <a:srgbClr val="2C3E5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955669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EFC88-15A8-8F47-A008-BBB6B0BE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FE33C2B-DFEA-AB45-B09F-58B1C2A1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203A48-8828-455A-A228-2410775CF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Fabric</a:t>
            </a:r>
            <a:r>
              <a:rPr lang="zh-CN" altLang="en-US" sz="2000" dirty="0"/>
              <a:t>文档地址：</a:t>
            </a:r>
            <a:r>
              <a:rPr lang="en-US" altLang="zh-CN" sz="2000" dirty="0">
                <a:hlinkClick r:id="rId2"/>
              </a:rPr>
              <a:t>https://hyperledger-fabric.readthedocs.io/en/latest/index.html</a:t>
            </a:r>
            <a:r>
              <a:rPr lang="en-US" altLang="zh-CN" sz="2000" dirty="0"/>
              <a:t> </a:t>
            </a:r>
          </a:p>
          <a:p>
            <a:r>
              <a:rPr lang="en-US" altLang="zh-CN" sz="2000" dirty="0"/>
              <a:t>Sawtooth</a:t>
            </a:r>
            <a:r>
              <a:rPr lang="zh-CN" altLang="en-US" sz="2000" dirty="0"/>
              <a:t>文档地址：</a:t>
            </a:r>
            <a:r>
              <a:rPr lang="en-US" altLang="zh-CN" sz="2000" dirty="0">
                <a:hlinkClick r:id="rId3"/>
              </a:rPr>
              <a:t>https://sawtooth.splinter.dev/docs/1.2/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9746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11650</TotalTime>
  <Words>714</Words>
  <Application>Microsoft Office PowerPoint</Application>
  <PresentationFormat>宽屏</PresentationFormat>
  <Paragraphs>166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-apple-system</vt:lpstr>
      <vt:lpstr>等线</vt:lpstr>
      <vt:lpstr>微软雅黑</vt:lpstr>
      <vt:lpstr>微软雅黑</vt:lpstr>
      <vt:lpstr>Arial</vt:lpstr>
      <vt:lpstr>Garamond</vt:lpstr>
      <vt:lpstr>Times New Roman</vt:lpstr>
      <vt:lpstr>Wingdings</vt:lpstr>
      <vt:lpstr>Office 主题​​</vt:lpstr>
      <vt:lpstr>第六章 联盟链</vt:lpstr>
      <vt:lpstr>本章内容</vt:lpstr>
      <vt:lpstr>联盟链</vt:lpstr>
      <vt:lpstr>对比</vt:lpstr>
      <vt:lpstr>Hyperledger Fabric</vt:lpstr>
      <vt:lpstr>Hyperledger Fabric</vt:lpstr>
      <vt:lpstr>Hyperledger Fabric</vt:lpstr>
      <vt:lpstr>Hyperledger Fabric</vt:lpstr>
      <vt:lpstr>Hyperledger Fabric</vt:lpstr>
      <vt:lpstr>Hyperledger Fabric</vt:lpstr>
      <vt:lpstr>Hyperledger Fabric</vt:lpstr>
      <vt:lpstr>Hyperledger Fabric</vt:lpstr>
      <vt:lpstr>Hyperledger Fabric</vt:lpstr>
      <vt:lpstr>本章内容</vt:lpstr>
      <vt:lpstr>Splinter Sawtooth</vt:lpstr>
      <vt:lpstr>Splinter Sawtooth</vt:lpstr>
      <vt:lpstr>Splinter Sawtooth</vt:lpstr>
      <vt:lpstr>Splinter Sawtooth</vt:lpstr>
      <vt:lpstr>Splinter Sawtooth</vt:lpstr>
      <vt:lpstr>参考文献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Yong Cui</dc:creator>
  <cp:lastModifiedBy>h 侯璐</cp:lastModifiedBy>
  <cp:revision>1465</cp:revision>
  <dcterms:created xsi:type="dcterms:W3CDTF">2021-01-06T05:35:51Z</dcterms:created>
  <dcterms:modified xsi:type="dcterms:W3CDTF">2025-06-02T14:52:55Z</dcterms:modified>
</cp:coreProperties>
</file>