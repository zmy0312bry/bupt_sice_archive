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33"/>
  </p:notesMasterIdLst>
  <p:sldIdLst>
    <p:sldId id="1257" r:id="rId3"/>
    <p:sldId id="1062" r:id="rId4"/>
    <p:sldId id="1320" r:id="rId5"/>
    <p:sldId id="1348" r:id="rId6"/>
    <p:sldId id="1349" r:id="rId7"/>
    <p:sldId id="1350" r:id="rId8"/>
    <p:sldId id="1351" r:id="rId9"/>
    <p:sldId id="1388" r:id="rId10"/>
    <p:sldId id="1389" r:id="rId11"/>
    <p:sldId id="1384" r:id="rId12"/>
    <p:sldId id="1385" r:id="rId13"/>
    <p:sldId id="1390" r:id="rId14"/>
    <p:sldId id="1391" r:id="rId15"/>
    <p:sldId id="1386" r:id="rId16"/>
    <p:sldId id="1392" r:id="rId17"/>
    <p:sldId id="1387" r:id="rId18"/>
    <p:sldId id="1383" r:id="rId19"/>
    <p:sldId id="1260" r:id="rId20"/>
    <p:sldId id="1394" r:id="rId21"/>
    <p:sldId id="1261" r:id="rId22"/>
    <p:sldId id="1395" r:id="rId23"/>
    <p:sldId id="1396" r:id="rId24"/>
    <p:sldId id="1393" r:id="rId25"/>
    <p:sldId id="1397" r:id="rId26"/>
    <p:sldId id="1398" r:id="rId27"/>
    <p:sldId id="1401" r:id="rId28"/>
    <p:sldId id="1402" r:id="rId29"/>
    <p:sldId id="1399" r:id="rId30"/>
    <p:sldId id="1400" r:id="rId31"/>
    <p:sldId id="99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062"/>
            <p14:sldId id="1320"/>
            <p14:sldId id="1348"/>
            <p14:sldId id="1349"/>
            <p14:sldId id="1350"/>
            <p14:sldId id="1351"/>
            <p14:sldId id="1388"/>
            <p14:sldId id="1389"/>
            <p14:sldId id="1384"/>
            <p14:sldId id="1385"/>
            <p14:sldId id="1390"/>
            <p14:sldId id="1391"/>
            <p14:sldId id="1386"/>
            <p14:sldId id="1392"/>
            <p14:sldId id="1387"/>
            <p14:sldId id="1383"/>
            <p14:sldId id="1260"/>
            <p14:sldId id="1394"/>
            <p14:sldId id="1261"/>
            <p14:sldId id="1395"/>
            <p14:sldId id="1396"/>
            <p14:sldId id="1393"/>
            <p14:sldId id="1397"/>
            <p14:sldId id="1398"/>
            <p14:sldId id="1401"/>
            <p14:sldId id="1402"/>
            <p14:sldId id="1399"/>
            <p14:sldId id="1400"/>
            <p14:sldId id="9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5B307E"/>
    <a:srgbClr val="F9BC12"/>
    <a:srgbClr val="0000FF"/>
    <a:srgbClr val="B962FF"/>
    <a:srgbClr val="FDCB0B"/>
    <a:srgbClr val="FFD700"/>
    <a:srgbClr val="FFD801"/>
    <a:srgbClr val="EFB914"/>
    <a:srgbClr val="F5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8" autoAdjust="0"/>
    <p:restoredTop sz="97059" autoAdjust="0"/>
  </p:normalViewPr>
  <p:slideViewPr>
    <p:cSldViewPr snapToGrid="0" snapToObjects="1">
      <p:cViewPr varScale="1">
        <p:scale>
          <a:sx n="124" d="100"/>
          <a:sy n="124" d="100"/>
        </p:scale>
        <p:origin x="240" y="184"/>
      </p:cViewPr>
      <p:guideLst/>
    </p:cSldViewPr>
  </p:slideViewPr>
  <p:outlineViewPr>
    <p:cViewPr>
      <p:scale>
        <a:sx n="33" d="100"/>
        <a:sy n="33" d="100"/>
      </p:scale>
      <p:origin x="0" y="-3432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2026/6/12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1327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3435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7828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1984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9470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965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734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1676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5947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7154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0999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33913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3917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5252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2804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94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0189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3162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2086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6494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05643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425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4064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09657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6735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02763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524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bitcoinsv.io/index.php/Opcodes_used_in_Bitcoin_Scrip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第三章 比特币</a:t>
            </a:r>
            <a:br>
              <a:rPr kumimoji="1" lang="en-US" altLang="zh-CN" dirty="0"/>
            </a:br>
            <a:r>
              <a:rPr kumimoji="1" lang="en-US" altLang="zh-CN" sz="3600" dirty="0"/>
              <a:t>——</a:t>
            </a:r>
            <a:r>
              <a:rPr kumimoji="1" lang="zh-CN" altLang="en-US" sz="3600" dirty="0"/>
              <a:t>交易脚本及比特币协议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3.5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交易脚本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3.6 </a:t>
            </a:r>
            <a:r>
              <a:rPr kumimoji="1" lang="zh-CN" altLang="en-US" dirty="0">
                <a:latin typeface="Garamond" panose="02020404030301010803" pitchFamily="18" charset="0"/>
              </a:rPr>
              <a:t>一致性问题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3.7 </a:t>
            </a:r>
            <a:r>
              <a:rPr kumimoji="1" lang="zh-CN" altLang="en-US" dirty="0">
                <a:latin typeface="Garamond" panose="02020404030301010803" pitchFamily="18" charset="0"/>
              </a:rPr>
              <a:t>工作量证明（</a:t>
            </a:r>
            <a:r>
              <a:rPr kumimoji="1" lang="en-US" altLang="zh-CN" dirty="0" err="1">
                <a:latin typeface="Garamond" panose="02020404030301010803" pitchFamily="18" charset="0"/>
              </a:rPr>
              <a:t>PoW</a:t>
            </a:r>
            <a:r>
              <a:rPr kumimoji="1" lang="zh-CN" altLang="en-US" dirty="0">
                <a:latin typeface="Garamond" panose="02020404030301010803" pitchFamily="18" charset="0"/>
              </a:rPr>
              <a:t>）</a:t>
            </a:r>
            <a:endParaRPr kumimoji="1"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  <p:sp>
        <p:nvSpPr>
          <p:cNvPr id="6" name="矩形标注 6">
            <a:extLst>
              <a:ext uri="{FF2B5EF4-FFF2-40B4-BE49-F238E27FC236}">
                <a16:creationId xmlns:a16="http://schemas.microsoft.com/office/drawing/2014/main" id="{49754136-50A4-48E3-82BB-7D614255489C}"/>
              </a:ext>
            </a:extLst>
          </p:cNvPr>
          <p:cNvSpPr/>
          <p:nvPr/>
        </p:nvSpPr>
        <p:spPr>
          <a:xfrm>
            <a:off x="6565308" y="1522396"/>
            <a:ext cx="4011252" cy="3378078"/>
          </a:xfrm>
          <a:prstGeom prst="wedgeRectCallout">
            <a:avLst>
              <a:gd name="adj1" fmla="val -96673"/>
              <a:gd name="adj2" fmla="val -4434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基于栈的执行语言</a:t>
            </a:r>
            <a:endParaRPr kumimoji="1" lang="en-US" altLang="zh-CN" sz="2400" dirty="0">
              <a:solidFill>
                <a:prstClr val="black"/>
              </a:solidFill>
              <a:latin typeface="Garamond" panose="02020404030301010803" pitchFamily="18" charset="0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P2PK</a:t>
            </a: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P2PKH</a:t>
            </a: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多重签名</a:t>
            </a:r>
            <a:r>
              <a:rPr kumimoji="1" lang="en-US" altLang="zh-CN" sz="240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(P2MS)</a:t>
            </a:r>
            <a:endParaRPr kumimoji="1" lang="en-US" altLang="zh-CN" sz="2400" dirty="0">
              <a:solidFill>
                <a:prstClr val="black"/>
              </a:solidFill>
              <a:latin typeface="Garamond" panose="02020404030301010803" pitchFamily="18" charset="0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P2SH</a:t>
            </a: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OP_RETURN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</a:rPr>
              <a:t>锁定与解锁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4845592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背景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比特币脚本的执行是在一种基于栈的虚拟机中进行的。</a:t>
            </a:r>
            <a:endParaRPr lang="en-US" altLang="zh-CN" dirty="0"/>
          </a:p>
          <a:p>
            <a:pPr lvl="0">
              <a:lnSpc>
                <a:spcPct val="130000"/>
              </a:lnSpc>
            </a:pPr>
            <a:r>
              <a:rPr lang="zh-CN" altLang="en-US" dirty="0"/>
              <a:t>用途</a:t>
            </a:r>
            <a:endParaRPr lang="en-US" altLang="zh-CN" dirty="0">
              <a:solidFill>
                <a:prstClr val="black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</a:rPr>
              <a:t>通过检查花费该</a:t>
            </a:r>
            <a:r>
              <a:rPr lang="en-US" altLang="zh-CN" dirty="0">
                <a:solidFill>
                  <a:prstClr val="black"/>
                </a:solidFill>
                <a:latin typeface="Garamond" panose="02020404030301010803" pitchFamily="18" charset="0"/>
              </a:rPr>
              <a:t>UTXO</a:t>
            </a:r>
            <a:r>
              <a:rPr lang="zh-CN" altLang="en-US" dirty="0">
                <a:solidFill>
                  <a:prstClr val="black"/>
                </a:solidFill>
              </a:rPr>
              <a:t>的交易的</a:t>
            </a:r>
            <a:r>
              <a:rPr lang="zh-CN" altLang="en-US" b="1" dirty="0">
                <a:solidFill>
                  <a:srgbClr val="5B307E"/>
                </a:solidFill>
              </a:rPr>
              <a:t>锁定脚本和解锁脚本</a:t>
            </a:r>
            <a:r>
              <a:rPr lang="zh-CN" altLang="en-US" dirty="0">
                <a:solidFill>
                  <a:prstClr val="black"/>
                </a:solidFill>
              </a:rPr>
              <a:t>，以检查这个交易的合法性。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703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</a:rPr>
              <a:t>锁定与解锁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4845592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实例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两笔前后依赖的比特币交易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，交易</a:t>
            </a:r>
            <a:r>
              <a:rPr lang="en-US" altLang="zh-CN" dirty="0"/>
              <a:t>B </a:t>
            </a:r>
            <a:r>
              <a:rPr lang="zh-CN" altLang="en-US" dirty="0"/>
              <a:t>的输入来自交易</a:t>
            </a:r>
            <a:r>
              <a:rPr lang="en-US" altLang="zh-CN" dirty="0"/>
              <a:t>A </a:t>
            </a:r>
            <a:r>
              <a:rPr lang="zh-CN" altLang="en-US" dirty="0"/>
              <a:t>的输出，即交易</a:t>
            </a:r>
            <a:r>
              <a:rPr lang="en-US" altLang="zh-CN" dirty="0"/>
              <a:t>B </a:t>
            </a:r>
            <a:r>
              <a:rPr lang="zh-CN" altLang="en-US" dirty="0"/>
              <a:t>花费的是</a:t>
            </a:r>
            <a:r>
              <a:rPr lang="en-US" altLang="zh-CN" dirty="0"/>
              <a:t>A </a:t>
            </a:r>
            <a:r>
              <a:rPr lang="zh-CN" altLang="en-US" dirty="0"/>
              <a:t>的</a:t>
            </a:r>
            <a:r>
              <a:rPr lang="en-US" altLang="zh-CN" dirty="0"/>
              <a:t>UTXO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6988" y="3277046"/>
            <a:ext cx="6658023" cy="28127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621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</a:rPr>
              <a:t>常见脚本类型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4845592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dirty="0"/>
              <a:t>Pay-to-</a:t>
            </a:r>
            <a:r>
              <a:rPr lang="en-US" altLang="zh-CN" dirty="0" err="1"/>
              <a:t>PublicKey</a:t>
            </a:r>
            <a:r>
              <a:rPr lang="en-US" altLang="zh-CN" dirty="0"/>
              <a:t> (P2PK)</a:t>
            </a:r>
            <a:endParaRPr lang="zh-CN" altLang="en-US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锁定脚本中包含了公钥，对应的解锁脚本需要给出公钥对应的私钥签名。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Pay-to-</a:t>
            </a:r>
            <a:r>
              <a:rPr lang="en-US" altLang="zh-CN" dirty="0" err="1"/>
              <a:t>PublicKey</a:t>
            </a:r>
            <a:r>
              <a:rPr lang="en-US" altLang="zh-CN" dirty="0"/>
              <a:t>-Hash(P2PKH)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锁定脚本中包含了公钥的哈希，对应的解锁脚本需要另外给出对应哈希的公钥。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优点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安全：</a:t>
            </a:r>
            <a:r>
              <a:rPr lang="en-US" altLang="zh-CN" dirty="0"/>
              <a:t> P2PKH </a:t>
            </a:r>
            <a:r>
              <a:rPr lang="zh-CN" altLang="en-US" dirty="0"/>
              <a:t>向支付者交付的不是自己的公钥而是公钥的哈希值。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节省手续费：由于锁定脚本使用了长度更短的公钥哈希，可以一定程度地减少交易需要支付的手续费。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671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</a:rPr>
              <a:t>常见脚本类型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484559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Pay-to-Script-Hash (P2SH)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输出脚本中包含了一段脚本的哈希。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对应的解锁的输入脚本要给出一段序列化后的脚本。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Null-Data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OP_RETURN </a:t>
            </a:r>
            <a:r>
              <a:rPr lang="zh-CN" altLang="en-US" dirty="0"/>
              <a:t>操作对应的脚本。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真实交易</a:t>
            </a:r>
            <a:r>
              <a:rPr lang="en-US" altLang="zh-CN" dirty="0"/>
              <a:t>id:</a:t>
            </a:r>
            <a:r>
              <a:rPr lang="zh-CN" altLang="en-US" dirty="0"/>
              <a:t> </a:t>
            </a:r>
            <a:r>
              <a:rPr lang="en-US" altLang="zh-CN" dirty="0"/>
              <a:t>ffa9be085f1d78acc0e0aa8303b3841fdb586b85e09af19b7e8d665a10df0659</a:t>
            </a:r>
            <a:r>
              <a:rPr lang="zh-CN" altLang="en-US" dirty="0"/>
              <a:t>对应的锁定脚本：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48"/>
          <p:cNvSpPr txBox="1">
            <a:spLocks noChangeArrowheads="1"/>
          </p:cNvSpPr>
          <p:nvPr/>
        </p:nvSpPr>
        <p:spPr bwMode="auto">
          <a:xfrm>
            <a:off x="3371257" y="6029325"/>
            <a:ext cx="4822825" cy="40005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OP_RETURN</a:t>
            </a:r>
            <a:endParaRPr kumimoji="0" lang="en-US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OP_PUSHBYTES_39 6964……1141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92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dirty="0">
                <a:solidFill>
                  <a:prstClr val="black"/>
                </a:solidFill>
              </a:rPr>
              <a:t>多重签名钱包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484559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作用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个人签订一份合约，共同管理一笔钱。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只有得到至少</a:t>
            </a:r>
            <a:r>
              <a:rPr lang="en-US" altLang="zh-CN" dirty="0"/>
              <a:t>M </a:t>
            </a:r>
            <a:r>
              <a:rPr lang="zh-CN" altLang="en-US" dirty="0"/>
              <a:t>个人的同意才能花费这笔钱。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实例</a:t>
            </a:r>
            <a:endParaRPr lang="en-US" altLang="zh-CN" b="1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真实比特币区块链上的一个多方签名交易</a:t>
            </a:r>
            <a:r>
              <a:rPr lang="en-US" altLang="zh-CN" dirty="0"/>
              <a:t>7c0750818dc6c67761d591536a452e0091fe4262e7d51821c1f453df461e6ad4</a:t>
            </a:r>
            <a:r>
              <a:rPr lang="zh-CN" altLang="en-US" dirty="0"/>
              <a:t>对应的解锁脚本：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文本框 54"/>
          <p:cNvSpPr txBox="1">
            <a:spLocks noChangeArrowheads="1"/>
          </p:cNvSpPr>
          <p:nvPr/>
        </p:nvSpPr>
        <p:spPr bwMode="auto">
          <a:xfrm>
            <a:off x="3684587" y="5635625"/>
            <a:ext cx="4822825" cy="707886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OP_0</a:t>
            </a:r>
            <a:endParaRPr kumimoji="0" lang="en-US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OP_PUSHBYTES_71 3044……c401</a:t>
            </a:r>
            <a:endParaRPr kumimoji="0" lang="en-US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OP_PUSHBYTES_71 3044……a601 </a:t>
            </a:r>
            <a:endParaRPr kumimoji="0" lang="en-US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OP_PUSHDATA1 5241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53ae  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（序列化后的脚本，称为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Redeem Script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6700" y="1222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09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交易脚本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基于栈的执行语言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z="2400" smtClean="0">
                <a:latin typeface="Garamond" panose="02020404030301010803" pitchFamily="18" charset="0"/>
                <a:ea typeface="微软雅黑" panose="020B0503020204020204" pitchFamily="34" charset="-122"/>
              </a:rPr>
              <a:t>7</a:t>
            </a:fld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E3E85A-7454-BB2D-2F63-3064915BB030}"/>
              </a:ext>
            </a:extLst>
          </p:cNvPr>
          <p:cNvSpPr/>
          <p:nvPr/>
        </p:nvSpPr>
        <p:spPr>
          <a:xfrm>
            <a:off x="8643879" y="2671047"/>
            <a:ext cx="1781666" cy="3212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B2B8A1-5B86-1407-0895-DF1961FCC9F2}"/>
              </a:ext>
            </a:extLst>
          </p:cNvPr>
          <p:cNvSpPr txBox="1"/>
          <p:nvPr/>
        </p:nvSpPr>
        <p:spPr>
          <a:xfrm>
            <a:off x="631596" y="1642133"/>
            <a:ext cx="6702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栈结构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入栈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出栈操作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LIFO——Last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Input First Output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CB2449-73F4-F699-BEC1-4698947CAAE0}"/>
              </a:ext>
            </a:extLst>
          </p:cNvPr>
          <p:cNvSpPr txBox="1"/>
          <p:nvPr/>
        </p:nvSpPr>
        <p:spPr>
          <a:xfrm>
            <a:off x="631596" y="3039772"/>
            <a:ext cx="670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交易脚本执行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39C23B-9C8B-CE8B-60F9-4B962FA31C95}"/>
              </a:ext>
            </a:extLst>
          </p:cNvPr>
          <p:cNvSpPr txBox="1"/>
          <p:nvPr/>
        </p:nvSpPr>
        <p:spPr>
          <a:xfrm>
            <a:off x="707010" y="3499369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ea"/>
              <a:buAutoNum type="circleNumDbPlain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输入脚本指令依次入栈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输出脚本指令依次入栈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从栈顶弹出指令执行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09E76B-280D-3A6D-F037-6D069B56140B}"/>
              </a:ext>
            </a:extLst>
          </p:cNvPr>
          <p:cNvSpPr/>
          <p:nvPr/>
        </p:nvSpPr>
        <p:spPr>
          <a:xfrm>
            <a:off x="8811883" y="5165888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FA595A-C034-175A-2E00-5A7DCBCA3FC7}"/>
              </a:ext>
            </a:extLst>
          </p:cNvPr>
          <p:cNvSpPr/>
          <p:nvPr/>
        </p:nvSpPr>
        <p:spPr>
          <a:xfrm>
            <a:off x="8811883" y="4426321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FC607E-5A07-2A2C-0A6F-0BE7BBE89A41}"/>
              </a:ext>
            </a:extLst>
          </p:cNvPr>
          <p:cNvSpPr/>
          <p:nvPr/>
        </p:nvSpPr>
        <p:spPr>
          <a:xfrm>
            <a:off x="8811883" y="3686755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57146D-A7FD-709C-50E4-A0AA3763F509}"/>
              </a:ext>
            </a:extLst>
          </p:cNvPr>
          <p:cNvSpPr txBox="1"/>
          <p:nvPr/>
        </p:nvSpPr>
        <p:spPr>
          <a:xfrm>
            <a:off x="6977709" y="2152033"/>
            <a:ext cx="1781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入栈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F13B2B-F1C6-E8D3-9EA9-EF3A800DFBF1}"/>
              </a:ext>
            </a:extLst>
          </p:cNvPr>
          <p:cNvSpPr txBox="1"/>
          <p:nvPr/>
        </p:nvSpPr>
        <p:spPr>
          <a:xfrm>
            <a:off x="8637487" y="5922884"/>
            <a:ext cx="1781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栈底</a:t>
            </a:r>
          </a:p>
        </p:txBody>
      </p:sp>
      <p:sp>
        <p:nvSpPr>
          <p:cNvPr id="18" name="圆角右箭头 17">
            <a:extLst>
              <a:ext uri="{FF2B5EF4-FFF2-40B4-BE49-F238E27FC236}">
                <a16:creationId xmlns:a16="http://schemas.microsoft.com/office/drawing/2014/main" id="{884D18EA-ED0A-A40B-0DF9-053C38D03ABD}"/>
              </a:ext>
            </a:extLst>
          </p:cNvPr>
          <p:cNvSpPr/>
          <p:nvPr/>
        </p:nvSpPr>
        <p:spPr>
          <a:xfrm rot="5400000">
            <a:off x="8500798" y="2281641"/>
            <a:ext cx="622170" cy="664114"/>
          </a:xfrm>
          <a:prstGeom prst="ben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3D519A-EBDB-F171-5982-03A649E2FA9E}"/>
              </a:ext>
            </a:extLst>
          </p:cNvPr>
          <p:cNvSpPr txBox="1"/>
          <p:nvPr/>
        </p:nvSpPr>
        <p:spPr>
          <a:xfrm>
            <a:off x="8642547" y="2233654"/>
            <a:ext cx="1781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栈顶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2BB827-AB99-74E5-1080-82A328A85649}"/>
              </a:ext>
            </a:extLst>
          </p:cNvPr>
          <p:cNvSpPr txBox="1"/>
          <p:nvPr/>
        </p:nvSpPr>
        <p:spPr>
          <a:xfrm>
            <a:off x="10182407" y="2155567"/>
            <a:ext cx="1781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出栈</a:t>
            </a:r>
          </a:p>
        </p:txBody>
      </p:sp>
      <p:sp>
        <p:nvSpPr>
          <p:cNvPr id="21" name="圆角右箭头 20">
            <a:extLst>
              <a:ext uri="{FF2B5EF4-FFF2-40B4-BE49-F238E27FC236}">
                <a16:creationId xmlns:a16="http://schemas.microsoft.com/office/drawing/2014/main" id="{8D7375C8-B1F1-04E9-5938-DE5B0FA52DE7}"/>
              </a:ext>
            </a:extLst>
          </p:cNvPr>
          <p:cNvSpPr/>
          <p:nvPr/>
        </p:nvSpPr>
        <p:spPr>
          <a:xfrm>
            <a:off x="10050639" y="2243933"/>
            <a:ext cx="622170" cy="664114"/>
          </a:xfrm>
          <a:prstGeom prst="ben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B03E04-2108-05ED-68C3-CFA785D4A10B}"/>
              </a:ext>
            </a:extLst>
          </p:cNvPr>
          <p:cNvSpPr/>
          <p:nvPr/>
        </p:nvSpPr>
        <p:spPr>
          <a:xfrm>
            <a:off x="8811883" y="2947189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81B503-74C7-4103-D2DA-D5A2628E33F7}"/>
              </a:ext>
            </a:extLst>
          </p:cNvPr>
          <p:cNvSpPr txBox="1"/>
          <p:nvPr/>
        </p:nvSpPr>
        <p:spPr>
          <a:xfrm>
            <a:off x="707010" y="4754202"/>
            <a:ext cx="670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交易是否合法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79163F0-3080-BD4A-A52C-9D28DF22CADB}"/>
              </a:ext>
            </a:extLst>
          </p:cNvPr>
          <p:cNvSpPr txBox="1"/>
          <p:nvPr/>
        </p:nvSpPr>
        <p:spPr>
          <a:xfrm>
            <a:off x="631596" y="5250978"/>
            <a:ext cx="670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itchFamily="2" charset="2"/>
              <a:buChar char="ü"/>
            </a:pPr>
            <a:r>
              <a:rPr kumimoji="1" lang="zh-CN" altLang="en-US" sz="24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交易脚本执行是否返回了错误</a:t>
            </a:r>
            <a:endParaRPr kumimoji="1" lang="en-US" altLang="zh-CN" sz="2400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F1A90A-1FBC-28E3-FCE3-15DE82364761}"/>
              </a:ext>
            </a:extLst>
          </p:cNvPr>
          <p:cNvSpPr/>
          <p:nvPr/>
        </p:nvSpPr>
        <p:spPr>
          <a:xfrm>
            <a:off x="6977709" y="3931807"/>
            <a:ext cx="1265131" cy="546755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373242-5A3F-410B-7E28-6FBB99DA152D}"/>
              </a:ext>
            </a:extLst>
          </p:cNvPr>
          <p:cNvSpPr txBox="1"/>
          <p:nvPr/>
        </p:nvSpPr>
        <p:spPr>
          <a:xfrm>
            <a:off x="394855" y="6138545"/>
            <a:ext cx="9054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比特币脚本指令集：https://wiki.bitcoinsv.io/index.php/Opcodes_used_in_Bitcoin_Script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213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交易脚本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基于栈的执行语言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z="2400" smtClean="0">
                <a:latin typeface="Garamond" panose="02020404030301010803" pitchFamily="18" charset="0"/>
                <a:ea typeface="微软雅黑" panose="020B0503020204020204" pitchFamily="34" charset="-122"/>
              </a:rPr>
              <a:t>8</a:t>
            </a:fld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026" name="Picture 2" descr="Image of push and pop in a stack data structure">
            <a:extLst>
              <a:ext uri="{FF2B5EF4-FFF2-40B4-BE49-F238E27FC236}">
                <a16:creationId xmlns:a16="http://schemas.microsoft.com/office/drawing/2014/main" id="{F12955B2-1782-436C-00D4-08757ABB5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508" y="136525"/>
            <a:ext cx="9358546" cy="653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91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交易脚本</a:t>
            </a:r>
            <a:r>
              <a:rPr lang="en-US" altLang="zh-CN" dirty="0"/>
              <a:t>——P2PK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466642-B350-D72F-9B66-929E6B1A6C55}"/>
              </a:ext>
            </a:extLst>
          </p:cNvPr>
          <p:cNvSpPr txBox="1"/>
          <p:nvPr/>
        </p:nvSpPr>
        <p:spPr>
          <a:xfrm>
            <a:off x="642175" y="1432874"/>
            <a:ext cx="909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Garamond" panose="02020404030301010803" pitchFamily="18" charset="0"/>
              </a:rPr>
              <a:t>Pay 2 Public Key</a:t>
            </a:r>
            <a:endParaRPr kumimoji="1" lang="zh-CN" altLang="en-US" sz="3200" dirty="0">
              <a:latin typeface="Garamond" panose="020204040303010108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55E066-7B16-912A-94A5-4E6C4CD98A29}"/>
              </a:ext>
            </a:extLst>
          </p:cNvPr>
          <p:cNvSpPr txBox="1"/>
          <p:nvPr/>
        </p:nvSpPr>
        <p:spPr>
          <a:xfrm>
            <a:off x="407468" y="1922947"/>
            <a:ext cx="7370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输入脚本（解锁脚本）：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	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957D46-4103-A1F5-F29F-C3BF638A4BB1}"/>
              </a:ext>
            </a:extLst>
          </p:cNvPr>
          <p:cNvSpPr txBox="1"/>
          <p:nvPr/>
        </p:nvSpPr>
        <p:spPr>
          <a:xfrm>
            <a:off x="407468" y="2808304"/>
            <a:ext cx="383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输出脚本（锁定脚本）：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B105AC-5087-FF72-5841-DA30BB1066DF}"/>
              </a:ext>
            </a:extLst>
          </p:cNvPr>
          <p:cNvSpPr/>
          <p:nvPr/>
        </p:nvSpPr>
        <p:spPr>
          <a:xfrm>
            <a:off x="4542758" y="2513123"/>
            <a:ext cx="1781666" cy="3212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BF0706-EB0F-51B5-9F40-C6740C0E59BC}"/>
              </a:ext>
            </a:extLst>
          </p:cNvPr>
          <p:cNvSpPr/>
          <p:nvPr/>
        </p:nvSpPr>
        <p:spPr>
          <a:xfrm>
            <a:off x="4710762" y="5007964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9ABB0E-5EC5-AAEB-9317-7E166DDECE9D}"/>
              </a:ext>
            </a:extLst>
          </p:cNvPr>
          <p:cNvSpPr/>
          <p:nvPr/>
        </p:nvSpPr>
        <p:spPr>
          <a:xfrm>
            <a:off x="7183834" y="2513123"/>
            <a:ext cx="1781666" cy="3212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B17078-9328-02E9-1CAF-2C00016E3137}"/>
              </a:ext>
            </a:extLst>
          </p:cNvPr>
          <p:cNvSpPr/>
          <p:nvPr/>
        </p:nvSpPr>
        <p:spPr>
          <a:xfrm>
            <a:off x="7351838" y="5007964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E9B7AA-C589-66C6-1C91-70AC5F484FC0}"/>
              </a:ext>
            </a:extLst>
          </p:cNvPr>
          <p:cNvSpPr/>
          <p:nvPr/>
        </p:nvSpPr>
        <p:spPr>
          <a:xfrm>
            <a:off x="7351838" y="4268397"/>
            <a:ext cx="1432874" cy="5467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EDAE54-D34F-F0FD-B478-71DCFAE283D7}"/>
              </a:ext>
            </a:extLst>
          </p:cNvPr>
          <p:cNvSpPr/>
          <p:nvPr/>
        </p:nvSpPr>
        <p:spPr>
          <a:xfrm>
            <a:off x="9824910" y="2513123"/>
            <a:ext cx="1781666" cy="3212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070D68-C847-4973-853C-69EFC8644B53}"/>
              </a:ext>
            </a:extLst>
          </p:cNvPr>
          <p:cNvSpPr txBox="1"/>
          <p:nvPr/>
        </p:nvSpPr>
        <p:spPr>
          <a:xfrm>
            <a:off x="704058" y="3269969"/>
            <a:ext cx="28592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</a:t>
            </a:r>
            <a:r>
              <a:rPr kumimoji="1" lang="en-US" altLang="zh-CN" sz="24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062DF92-3B77-ABE1-BA89-B5D5886C904B}"/>
              </a:ext>
            </a:extLst>
          </p:cNvPr>
          <p:cNvSpPr txBox="1"/>
          <p:nvPr/>
        </p:nvSpPr>
        <p:spPr>
          <a:xfrm>
            <a:off x="764022" y="2359588"/>
            <a:ext cx="2747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PUSHDATA(sig)</a:t>
            </a:r>
            <a:endParaRPr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B0BF09-378C-509A-1F52-00622A264CFC}"/>
              </a:ext>
            </a:extLst>
          </p:cNvPr>
          <p:cNvSpPr txBox="1"/>
          <p:nvPr/>
        </p:nvSpPr>
        <p:spPr>
          <a:xfrm>
            <a:off x="407468" y="4090273"/>
            <a:ext cx="3352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53D5F9A-2366-0477-9B00-96C7C94F3E64}"/>
              </a:ext>
            </a:extLst>
          </p:cNvPr>
          <p:cNvSpPr txBox="1"/>
          <p:nvPr/>
        </p:nvSpPr>
        <p:spPr>
          <a:xfrm>
            <a:off x="704058" y="4646412"/>
            <a:ext cx="3361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弹出栈顶两个元素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利用公钥加密算法，用元素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验证元素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351B954-F706-6B5C-1322-6A96C1E2E2A7}"/>
              </a:ext>
            </a:extLst>
          </p:cNvPr>
          <p:cNvSpPr/>
          <p:nvPr/>
        </p:nvSpPr>
        <p:spPr>
          <a:xfrm>
            <a:off x="1367262" y="6034230"/>
            <a:ext cx="214438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能验证什么信息？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5C09569-C001-D917-271E-FE118B1BB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22" y="5891212"/>
            <a:ext cx="601662" cy="601662"/>
          </a:xfrm>
          <a:prstGeom prst="rect">
            <a:avLst/>
          </a:prstGeom>
        </p:spPr>
      </p:pic>
      <p:sp>
        <p:nvSpPr>
          <p:cNvPr id="29" name="右箭头 28">
            <a:extLst>
              <a:ext uri="{FF2B5EF4-FFF2-40B4-BE49-F238E27FC236}">
                <a16:creationId xmlns:a16="http://schemas.microsoft.com/office/drawing/2014/main" id="{A4EEEA9F-0F63-5F04-0189-F0576C230B05}"/>
              </a:ext>
            </a:extLst>
          </p:cNvPr>
          <p:cNvSpPr/>
          <p:nvPr/>
        </p:nvSpPr>
        <p:spPr>
          <a:xfrm>
            <a:off x="6485081" y="3866088"/>
            <a:ext cx="514905" cy="461639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39D0CF89-80BC-8659-2106-B10ACB824F4C}"/>
              </a:ext>
            </a:extLst>
          </p:cNvPr>
          <p:cNvSpPr/>
          <p:nvPr/>
        </p:nvSpPr>
        <p:spPr>
          <a:xfrm>
            <a:off x="9151721" y="3866088"/>
            <a:ext cx="514905" cy="461639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A44C5A-DF93-E68D-713C-7F01AE85977D}"/>
              </a:ext>
            </a:extLst>
          </p:cNvPr>
          <p:cNvSpPr/>
          <p:nvPr/>
        </p:nvSpPr>
        <p:spPr>
          <a:xfrm>
            <a:off x="9666625" y="3535172"/>
            <a:ext cx="2130519" cy="546755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D3109D8-3DF6-9C49-D165-3B50B400142B}"/>
              </a:ext>
            </a:extLst>
          </p:cNvPr>
          <p:cNvSpPr/>
          <p:nvPr/>
        </p:nvSpPr>
        <p:spPr>
          <a:xfrm>
            <a:off x="9999306" y="5007964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52D606-1CD4-FFD9-6216-28FE85A6C57D}"/>
              </a:ext>
            </a:extLst>
          </p:cNvPr>
          <p:cNvSpPr/>
          <p:nvPr/>
        </p:nvSpPr>
        <p:spPr>
          <a:xfrm>
            <a:off x="9999306" y="4268397"/>
            <a:ext cx="1432874" cy="5467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00E6FF-34B1-95E3-9E46-C27ACB90E546}"/>
              </a:ext>
            </a:extLst>
          </p:cNvPr>
          <p:cNvSpPr/>
          <p:nvPr/>
        </p:nvSpPr>
        <p:spPr>
          <a:xfrm>
            <a:off x="5076054" y="6023671"/>
            <a:ext cx="1432874" cy="546755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输入脚本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FA2516-1AF0-65ED-7D33-DE95B97E1995}"/>
              </a:ext>
            </a:extLst>
          </p:cNvPr>
          <p:cNvSpPr/>
          <p:nvPr/>
        </p:nvSpPr>
        <p:spPr>
          <a:xfrm>
            <a:off x="6943968" y="6026734"/>
            <a:ext cx="1432874" cy="54675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输出脚本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24876B0-5AF2-55AC-0D45-5C5F886862E9}"/>
              </a:ext>
            </a:extLst>
          </p:cNvPr>
          <p:cNvSpPr/>
          <p:nvPr/>
        </p:nvSpPr>
        <p:spPr>
          <a:xfrm>
            <a:off x="8811883" y="6023671"/>
            <a:ext cx="1432874" cy="546755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57948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9" grpId="0" animBg="1"/>
      <p:bldP spid="13" grpId="0" animBg="1"/>
      <p:bldP spid="14" grpId="0" animBg="1"/>
      <p:bldP spid="15" grpId="0" animBg="1"/>
      <p:bldP spid="17" grpId="0" animBg="1"/>
      <p:bldP spid="22" grpId="0"/>
      <p:bldP spid="24" grpId="0"/>
      <p:bldP spid="25" grpId="0"/>
      <p:bldP spid="26" grpId="0"/>
      <p:bldP spid="27" grpId="0" animBg="1"/>
      <p:bldP spid="29" grpId="0" animBg="1"/>
      <p:bldP spid="30" grpId="0" animBg="1"/>
      <p:bldP spid="16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交易脚本</a:t>
            </a:r>
            <a:r>
              <a:rPr lang="en-US" altLang="zh-CN" dirty="0"/>
              <a:t>——P2PKH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F26FB9-185B-B2B3-1623-9A72AE38E62F}"/>
              </a:ext>
            </a:extLst>
          </p:cNvPr>
          <p:cNvSpPr txBox="1"/>
          <p:nvPr/>
        </p:nvSpPr>
        <p:spPr>
          <a:xfrm>
            <a:off x="642175" y="1432874"/>
            <a:ext cx="909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Garamond" panose="02020404030301010803" pitchFamily="18" charset="0"/>
              </a:rPr>
              <a:t>Pay 2 Public Key</a:t>
            </a:r>
            <a:r>
              <a:rPr kumimoji="1" lang="zh-CN" altLang="en-US" sz="3200" dirty="0">
                <a:latin typeface="Garamond" panose="02020404030301010803" pitchFamily="18" charset="0"/>
              </a:rPr>
              <a:t> </a:t>
            </a:r>
            <a:r>
              <a:rPr kumimoji="1" lang="en-US" altLang="zh-CN" sz="3200" dirty="0">
                <a:latin typeface="Garamond" panose="02020404030301010803" pitchFamily="18" charset="0"/>
              </a:rPr>
              <a:t>Hash</a:t>
            </a:r>
            <a:endParaRPr kumimoji="1" lang="zh-CN" altLang="en-US" sz="3200" dirty="0">
              <a:latin typeface="Garamond" panose="020204040303010108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6456AA-AAA5-A37E-90F2-55FE33732B20}"/>
              </a:ext>
            </a:extLst>
          </p:cNvPr>
          <p:cNvSpPr txBox="1"/>
          <p:nvPr/>
        </p:nvSpPr>
        <p:spPr>
          <a:xfrm>
            <a:off x="407468" y="1922947"/>
            <a:ext cx="7370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输入脚本（解锁脚本）：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	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3AC028-1CB7-F52F-A469-1E8B350731AF}"/>
              </a:ext>
            </a:extLst>
          </p:cNvPr>
          <p:cNvSpPr txBox="1"/>
          <p:nvPr/>
        </p:nvSpPr>
        <p:spPr>
          <a:xfrm>
            <a:off x="407468" y="3228109"/>
            <a:ext cx="383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输出脚本（锁定脚本）：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87CB36-7EF1-38CB-8CFD-F4328314CA8A}"/>
              </a:ext>
            </a:extLst>
          </p:cNvPr>
          <p:cNvSpPr/>
          <p:nvPr/>
        </p:nvSpPr>
        <p:spPr>
          <a:xfrm>
            <a:off x="4542758" y="2095857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45FDE8-E5F1-7B91-E8AF-AA07940A0C04}"/>
              </a:ext>
            </a:extLst>
          </p:cNvPr>
          <p:cNvSpPr/>
          <p:nvPr/>
        </p:nvSpPr>
        <p:spPr>
          <a:xfrm>
            <a:off x="4717154" y="5554719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A2F398-1DB4-DC04-9CBC-5F88805CD8A9}"/>
              </a:ext>
            </a:extLst>
          </p:cNvPr>
          <p:cNvSpPr/>
          <p:nvPr/>
        </p:nvSpPr>
        <p:spPr>
          <a:xfrm>
            <a:off x="7183834" y="2095857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74F52-2490-9765-1A89-10C2D4F8F6F9}"/>
              </a:ext>
            </a:extLst>
          </p:cNvPr>
          <p:cNvSpPr/>
          <p:nvPr/>
        </p:nvSpPr>
        <p:spPr>
          <a:xfrm>
            <a:off x="9824910" y="2095857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D0F912-8433-A66D-F6F3-98C495E88429}"/>
              </a:ext>
            </a:extLst>
          </p:cNvPr>
          <p:cNvSpPr txBox="1"/>
          <p:nvPr/>
        </p:nvSpPr>
        <p:spPr>
          <a:xfrm>
            <a:off x="794048" y="3660087"/>
            <a:ext cx="3452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DUP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HASH160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</a:t>
            </a:r>
            <a:r>
              <a:rPr kumimoji="1" lang="en-US" altLang="zh-CN" sz="24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EQUALVERIFY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F91CAD-1FB8-62A9-B054-2D5127EDE906}"/>
              </a:ext>
            </a:extLst>
          </p:cNvPr>
          <p:cNvSpPr txBox="1"/>
          <p:nvPr/>
        </p:nvSpPr>
        <p:spPr>
          <a:xfrm>
            <a:off x="764022" y="2359588"/>
            <a:ext cx="29193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PUSHDATA(sig)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</a:t>
            </a:r>
            <a:r>
              <a:rPr kumimoji="1" lang="en-US" altLang="zh-CN" sz="24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6BFD60B-A521-49D7-184D-80A3EE907713}"/>
              </a:ext>
            </a:extLst>
          </p:cNvPr>
          <p:cNvSpPr txBox="1"/>
          <p:nvPr/>
        </p:nvSpPr>
        <p:spPr>
          <a:xfrm>
            <a:off x="402190" y="5554719"/>
            <a:ext cx="3979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DUP	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：栈顶元素复制一份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162F8903-41C9-89BB-A438-02BDEC9F3872}"/>
              </a:ext>
            </a:extLst>
          </p:cNvPr>
          <p:cNvSpPr/>
          <p:nvPr/>
        </p:nvSpPr>
        <p:spPr>
          <a:xfrm>
            <a:off x="6485081" y="3448821"/>
            <a:ext cx="514905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73E350D7-5ACC-6AE4-2BE4-DA7F63FC1F84}"/>
              </a:ext>
            </a:extLst>
          </p:cNvPr>
          <p:cNvSpPr/>
          <p:nvPr/>
        </p:nvSpPr>
        <p:spPr>
          <a:xfrm>
            <a:off x="9151721" y="3448821"/>
            <a:ext cx="514905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844EF1-F724-7BF3-84A0-9FCB47194B7E}"/>
              </a:ext>
            </a:extLst>
          </p:cNvPr>
          <p:cNvSpPr txBox="1"/>
          <p:nvPr/>
        </p:nvSpPr>
        <p:spPr>
          <a:xfrm>
            <a:off x="402190" y="6055519"/>
            <a:ext cx="4231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EQUALVERIFY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：相等校验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B23D3A-B52A-BE99-F424-946B7FA0B182}"/>
              </a:ext>
            </a:extLst>
          </p:cNvPr>
          <p:cNvSpPr/>
          <p:nvPr/>
        </p:nvSpPr>
        <p:spPr>
          <a:xfrm>
            <a:off x="4717154" y="5132530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2037E-5CA9-980F-DE61-25F24E0B5B93}"/>
              </a:ext>
            </a:extLst>
          </p:cNvPr>
          <p:cNvSpPr/>
          <p:nvPr/>
        </p:nvSpPr>
        <p:spPr>
          <a:xfrm>
            <a:off x="4303816" y="4618933"/>
            <a:ext cx="2257327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DUP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598BE4-77D1-11C5-7E84-C3B54A781DE6}"/>
              </a:ext>
            </a:extLst>
          </p:cNvPr>
          <p:cNvSpPr/>
          <p:nvPr/>
        </p:nvSpPr>
        <p:spPr>
          <a:xfrm>
            <a:off x="6967286" y="4254647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HASH160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149D1A-B5D3-3C4B-6A00-D2B403C71B05}"/>
              </a:ext>
            </a:extLst>
          </p:cNvPr>
          <p:cNvSpPr/>
          <p:nvPr/>
        </p:nvSpPr>
        <p:spPr>
          <a:xfrm>
            <a:off x="7364179" y="5554719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8CC837-F5F1-2652-631C-318736D9D6E7}"/>
              </a:ext>
            </a:extLst>
          </p:cNvPr>
          <p:cNvSpPr/>
          <p:nvPr/>
        </p:nvSpPr>
        <p:spPr>
          <a:xfrm>
            <a:off x="7364179" y="5132530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37949D-27FA-BA1A-B27D-6B49AB0BC7E0}"/>
              </a:ext>
            </a:extLst>
          </p:cNvPr>
          <p:cNvSpPr/>
          <p:nvPr/>
        </p:nvSpPr>
        <p:spPr>
          <a:xfrm>
            <a:off x="7358230" y="4721042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BF373B-1116-D294-BDCD-B7FC04DF2791}"/>
              </a:ext>
            </a:extLst>
          </p:cNvPr>
          <p:cNvSpPr/>
          <p:nvPr/>
        </p:nvSpPr>
        <p:spPr>
          <a:xfrm>
            <a:off x="9985945" y="5554719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7F8B04-65AE-B603-CF5A-4E8D66840426}"/>
              </a:ext>
            </a:extLst>
          </p:cNvPr>
          <p:cNvSpPr/>
          <p:nvPr/>
        </p:nvSpPr>
        <p:spPr>
          <a:xfrm>
            <a:off x="9985945" y="5132530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BA09F23-FD23-B9C6-66B9-D4E068394271}"/>
              </a:ext>
            </a:extLst>
          </p:cNvPr>
          <p:cNvSpPr/>
          <p:nvPr/>
        </p:nvSpPr>
        <p:spPr>
          <a:xfrm>
            <a:off x="9979996" y="4721042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C1D31C-3445-6C69-CFBE-3C291EA96FDA}"/>
              </a:ext>
            </a:extLst>
          </p:cNvPr>
          <p:cNvSpPr/>
          <p:nvPr/>
        </p:nvSpPr>
        <p:spPr>
          <a:xfrm>
            <a:off x="9979996" y="4298853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137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8" grpId="0" animBg="1"/>
      <p:bldP spid="9" grpId="0" animBg="1"/>
      <p:bldP spid="13" grpId="0" animBg="1"/>
      <p:bldP spid="14" grpId="0"/>
      <p:bldP spid="15" grpId="0"/>
      <p:bldP spid="16" grpId="0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交易脚本</a:t>
            </a:r>
            <a:r>
              <a:rPr lang="en-US" altLang="zh-CN" dirty="0"/>
              <a:t>——P2PKH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F26FB9-185B-B2B3-1623-9A72AE38E62F}"/>
              </a:ext>
            </a:extLst>
          </p:cNvPr>
          <p:cNvSpPr txBox="1"/>
          <p:nvPr/>
        </p:nvSpPr>
        <p:spPr>
          <a:xfrm>
            <a:off x="642175" y="1432874"/>
            <a:ext cx="909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Garamond" panose="02020404030301010803" pitchFamily="18" charset="0"/>
              </a:rPr>
              <a:t>Pay 2 Public Key</a:t>
            </a:r>
            <a:r>
              <a:rPr kumimoji="1" lang="zh-CN" altLang="en-US" sz="3200" dirty="0">
                <a:latin typeface="Garamond" panose="02020404030301010803" pitchFamily="18" charset="0"/>
              </a:rPr>
              <a:t> </a:t>
            </a:r>
            <a:r>
              <a:rPr kumimoji="1" lang="en-US" altLang="zh-CN" sz="3200" dirty="0">
                <a:latin typeface="Garamond" panose="02020404030301010803" pitchFamily="18" charset="0"/>
              </a:rPr>
              <a:t>Hash</a:t>
            </a:r>
            <a:endParaRPr kumimoji="1" lang="zh-CN" altLang="en-US" sz="3200" dirty="0">
              <a:latin typeface="Garamond" panose="02020404030301010803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87CB36-7EF1-38CB-8CFD-F4328314CA8A}"/>
              </a:ext>
            </a:extLst>
          </p:cNvPr>
          <p:cNvSpPr/>
          <p:nvPr/>
        </p:nvSpPr>
        <p:spPr>
          <a:xfrm>
            <a:off x="2261200" y="2101409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45FDE8-E5F1-7B91-E8AF-AA07940A0C04}"/>
              </a:ext>
            </a:extLst>
          </p:cNvPr>
          <p:cNvSpPr/>
          <p:nvPr/>
        </p:nvSpPr>
        <p:spPr>
          <a:xfrm>
            <a:off x="2435596" y="5560271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A2F398-1DB4-DC04-9CBC-5F88805CD8A9}"/>
              </a:ext>
            </a:extLst>
          </p:cNvPr>
          <p:cNvSpPr/>
          <p:nvPr/>
        </p:nvSpPr>
        <p:spPr>
          <a:xfrm>
            <a:off x="4902276" y="2101409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74F52-2490-9765-1A89-10C2D4F8F6F9}"/>
              </a:ext>
            </a:extLst>
          </p:cNvPr>
          <p:cNvSpPr/>
          <p:nvPr/>
        </p:nvSpPr>
        <p:spPr>
          <a:xfrm>
            <a:off x="7543352" y="2101409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D96C86-812D-BD79-1BA3-588C5B37D05D}"/>
              </a:ext>
            </a:extLst>
          </p:cNvPr>
          <p:cNvSpPr/>
          <p:nvPr/>
        </p:nvSpPr>
        <p:spPr>
          <a:xfrm>
            <a:off x="8967078" y="6198537"/>
            <a:ext cx="214438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为什么加一层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Hash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A2A1B98-4985-98A6-02F0-C3FE7B887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838" y="6055519"/>
            <a:ext cx="601662" cy="601662"/>
          </a:xfrm>
          <a:prstGeom prst="rect">
            <a:avLst/>
          </a:prstGeom>
        </p:spPr>
      </p:pic>
      <p:sp>
        <p:nvSpPr>
          <p:cNvPr id="20" name="右箭头 19">
            <a:extLst>
              <a:ext uri="{FF2B5EF4-FFF2-40B4-BE49-F238E27FC236}">
                <a16:creationId xmlns:a16="http://schemas.microsoft.com/office/drawing/2014/main" id="{162F8903-41C9-89BB-A438-02BDEC9F3872}"/>
              </a:ext>
            </a:extLst>
          </p:cNvPr>
          <p:cNvSpPr/>
          <p:nvPr/>
        </p:nvSpPr>
        <p:spPr>
          <a:xfrm>
            <a:off x="4203523" y="3454373"/>
            <a:ext cx="514905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73E350D7-5ACC-6AE4-2BE4-DA7F63FC1F84}"/>
              </a:ext>
            </a:extLst>
          </p:cNvPr>
          <p:cNvSpPr/>
          <p:nvPr/>
        </p:nvSpPr>
        <p:spPr>
          <a:xfrm>
            <a:off x="6870163" y="3454373"/>
            <a:ext cx="514905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B23D3A-B52A-BE99-F424-946B7FA0B182}"/>
              </a:ext>
            </a:extLst>
          </p:cNvPr>
          <p:cNvSpPr/>
          <p:nvPr/>
        </p:nvSpPr>
        <p:spPr>
          <a:xfrm>
            <a:off x="2435596" y="5138082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2037E-5CA9-980F-DE61-25F24E0B5B93}"/>
              </a:ext>
            </a:extLst>
          </p:cNvPr>
          <p:cNvSpPr/>
          <p:nvPr/>
        </p:nvSpPr>
        <p:spPr>
          <a:xfrm>
            <a:off x="2022258" y="4624485"/>
            <a:ext cx="2257327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DUP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598BE4-77D1-11C5-7E84-C3B54A781DE6}"/>
              </a:ext>
            </a:extLst>
          </p:cNvPr>
          <p:cNvSpPr/>
          <p:nvPr/>
        </p:nvSpPr>
        <p:spPr>
          <a:xfrm>
            <a:off x="4685728" y="4260199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HASH160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149D1A-B5D3-3C4B-6A00-D2B403C71B05}"/>
              </a:ext>
            </a:extLst>
          </p:cNvPr>
          <p:cNvSpPr/>
          <p:nvPr/>
        </p:nvSpPr>
        <p:spPr>
          <a:xfrm>
            <a:off x="5082621" y="5560271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8CC837-F5F1-2652-631C-318736D9D6E7}"/>
              </a:ext>
            </a:extLst>
          </p:cNvPr>
          <p:cNvSpPr/>
          <p:nvPr/>
        </p:nvSpPr>
        <p:spPr>
          <a:xfrm>
            <a:off x="5082621" y="5138082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37949D-27FA-BA1A-B27D-6B49AB0BC7E0}"/>
              </a:ext>
            </a:extLst>
          </p:cNvPr>
          <p:cNvSpPr/>
          <p:nvPr/>
        </p:nvSpPr>
        <p:spPr>
          <a:xfrm>
            <a:off x="5076672" y="4726594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BF373B-1116-D294-BDCD-B7FC04DF2791}"/>
              </a:ext>
            </a:extLst>
          </p:cNvPr>
          <p:cNvSpPr/>
          <p:nvPr/>
        </p:nvSpPr>
        <p:spPr>
          <a:xfrm>
            <a:off x="7704387" y="5560271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7F8B04-65AE-B603-CF5A-4E8D66840426}"/>
              </a:ext>
            </a:extLst>
          </p:cNvPr>
          <p:cNvSpPr/>
          <p:nvPr/>
        </p:nvSpPr>
        <p:spPr>
          <a:xfrm>
            <a:off x="7704387" y="5138082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BA09F23-FD23-B9C6-66B9-D4E068394271}"/>
              </a:ext>
            </a:extLst>
          </p:cNvPr>
          <p:cNvSpPr/>
          <p:nvPr/>
        </p:nvSpPr>
        <p:spPr>
          <a:xfrm>
            <a:off x="7698438" y="4726594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C1D31C-3445-6C69-CFBE-3C291EA96FDA}"/>
              </a:ext>
            </a:extLst>
          </p:cNvPr>
          <p:cNvSpPr/>
          <p:nvPr/>
        </p:nvSpPr>
        <p:spPr>
          <a:xfrm>
            <a:off x="7698438" y="4304405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2A2653-46E3-B58E-16D9-F5DB93ADDDE9}"/>
              </a:ext>
            </a:extLst>
          </p:cNvPr>
          <p:cNvSpPr/>
          <p:nvPr/>
        </p:nvSpPr>
        <p:spPr>
          <a:xfrm>
            <a:off x="7306633" y="3845859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EQUALVERIFY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0F814D-C70F-3775-B8F9-2DCA1B20C706}"/>
              </a:ext>
            </a:extLst>
          </p:cNvPr>
          <p:cNvSpPr/>
          <p:nvPr/>
        </p:nvSpPr>
        <p:spPr>
          <a:xfrm>
            <a:off x="10184428" y="2101409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D805B2-268B-312F-1625-7D4621C06BCB}"/>
              </a:ext>
            </a:extLst>
          </p:cNvPr>
          <p:cNvSpPr/>
          <p:nvPr/>
        </p:nvSpPr>
        <p:spPr>
          <a:xfrm>
            <a:off x="10345463" y="5560271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899DC5-A159-4477-D92A-8140F77E20A1}"/>
              </a:ext>
            </a:extLst>
          </p:cNvPr>
          <p:cNvSpPr/>
          <p:nvPr/>
        </p:nvSpPr>
        <p:spPr>
          <a:xfrm>
            <a:off x="10345463" y="5138082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EC26744-22E0-0A68-E302-4BEF2F54DCA0}"/>
              </a:ext>
            </a:extLst>
          </p:cNvPr>
          <p:cNvSpPr/>
          <p:nvPr/>
        </p:nvSpPr>
        <p:spPr>
          <a:xfrm>
            <a:off x="9954519" y="4675675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C47B20D1-6DC1-057D-0A19-84FBE7D38A32}"/>
              </a:ext>
            </a:extLst>
          </p:cNvPr>
          <p:cNvSpPr/>
          <p:nvPr/>
        </p:nvSpPr>
        <p:spPr>
          <a:xfrm>
            <a:off x="9521395" y="3454373"/>
            <a:ext cx="514905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1C9ABC0-534C-EBEC-158C-51BB6326C579}"/>
              </a:ext>
            </a:extLst>
          </p:cNvPr>
          <p:cNvSpPr txBox="1"/>
          <p:nvPr/>
        </p:nvSpPr>
        <p:spPr>
          <a:xfrm>
            <a:off x="77743" y="2973048"/>
            <a:ext cx="2351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DUP</a:t>
            </a:r>
          </a:p>
          <a:p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HASH160</a:t>
            </a:r>
          </a:p>
          <a:p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</a:t>
            </a:r>
            <a:r>
              <a:rPr kumimoji="1" lang="en-US" altLang="zh-CN" sz="16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)</a:t>
            </a:r>
          </a:p>
          <a:p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EQUALVERIFY</a:t>
            </a:r>
          </a:p>
          <a:p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375116C-D5EA-0A52-B984-EFB20B0ACA10}"/>
              </a:ext>
            </a:extLst>
          </p:cNvPr>
          <p:cNvSpPr txBox="1"/>
          <p:nvPr/>
        </p:nvSpPr>
        <p:spPr>
          <a:xfrm>
            <a:off x="77743" y="2185635"/>
            <a:ext cx="2919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PUSHDATA(sig)</a:t>
            </a:r>
          </a:p>
          <a:p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</a:t>
            </a:r>
            <a:r>
              <a:rPr kumimoji="1" lang="en-US" altLang="zh-CN" sz="16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)</a:t>
            </a:r>
            <a:endParaRPr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63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0" grpId="0" animBg="1"/>
      <p:bldP spid="11" grpId="0" animBg="1"/>
      <p:bldP spid="12" grpId="0" animBg="1"/>
      <p:bldP spid="17" grpId="0" animBg="1"/>
      <p:bldP spid="39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交易脚本</a:t>
            </a:r>
            <a:r>
              <a:rPr lang="en-US" altLang="zh-CN" dirty="0"/>
              <a:t>——</a:t>
            </a:r>
            <a:r>
              <a:rPr lang="zh-CN" altLang="en-US" dirty="0"/>
              <a:t>多重签名（</a:t>
            </a:r>
            <a:r>
              <a:rPr lang="en-US" altLang="zh-CN" dirty="0"/>
              <a:t>P2MS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92D1C8-135D-4274-4556-F0C6F929F7A0}"/>
              </a:ext>
            </a:extLst>
          </p:cNvPr>
          <p:cNvSpPr txBox="1"/>
          <p:nvPr/>
        </p:nvSpPr>
        <p:spPr>
          <a:xfrm>
            <a:off x="336447" y="1845557"/>
            <a:ext cx="3838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输入脚本（解锁脚本）：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	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FA8C7B-D398-FAC7-7F40-22F8F010EBC9}"/>
              </a:ext>
            </a:extLst>
          </p:cNvPr>
          <p:cNvSpPr txBox="1"/>
          <p:nvPr/>
        </p:nvSpPr>
        <p:spPr>
          <a:xfrm>
            <a:off x="336447" y="3824785"/>
            <a:ext cx="383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输出脚本（锁定脚本）：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39FE1C-7BC0-E664-5EFE-6BDD93ABDA5D}"/>
              </a:ext>
            </a:extLst>
          </p:cNvPr>
          <p:cNvSpPr txBox="1"/>
          <p:nvPr/>
        </p:nvSpPr>
        <p:spPr>
          <a:xfrm>
            <a:off x="586351" y="4286450"/>
            <a:ext cx="28592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PUSHDATA(pubkey1)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PUSHDATA(pubkey2)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…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N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CHECKMULTISIG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2B6F6D-5708-5A1A-369C-FF26B7DB7678}"/>
              </a:ext>
            </a:extLst>
          </p:cNvPr>
          <p:cNvSpPr txBox="1"/>
          <p:nvPr/>
        </p:nvSpPr>
        <p:spPr>
          <a:xfrm>
            <a:off x="642175" y="2255125"/>
            <a:ext cx="2747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❌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PUSHDATA(sig1)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PUSHDATA(sig2)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…</a:t>
            </a:r>
            <a:endParaRPr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2A54A0-2F43-B687-0C70-3F7E5E4FD680}"/>
              </a:ext>
            </a:extLst>
          </p:cNvPr>
          <p:cNvSpPr txBox="1"/>
          <p:nvPr/>
        </p:nvSpPr>
        <p:spPr>
          <a:xfrm>
            <a:off x="336447" y="1396967"/>
            <a:ext cx="5759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N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个公钥，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≤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N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）个验证通过即可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	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73506A-4C4C-E0D9-BA4C-9C9896C62FB6}"/>
              </a:ext>
            </a:extLst>
          </p:cNvPr>
          <p:cNvSpPr/>
          <p:nvPr/>
        </p:nvSpPr>
        <p:spPr>
          <a:xfrm>
            <a:off x="4542758" y="2095857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80538-9C19-A895-F38B-18E044433942}"/>
              </a:ext>
            </a:extLst>
          </p:cNvPr>
          <p:cNvSpPr/>
          <p:nvPr/>
        </p:nvSpPr>
        <p:spPr>
          <a:xfrm>
            <a:off x="4717154" y="5554719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sig1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3CD130-706B-F7D3-BD7E-A7D4DDD3E03D}"/>
              </a:ext>
            </a:extLst>
          </p:cNvPr>
          <p:cNvSpPr/>
          <p:nvPr/>
        </p:nvSpPr>
        <p:spPr>
          <a:xfrm>
            <a:off x="7183834" y="2095857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4FC67291-178B-415F-1A6D-B86975C8F325}"/>
              </a:ext>
            </a:extLst>
          </p:cNvPr>
          <p:cNvSpPr/>
          <p:nvPr/>
        </p:nvSpPr>
        <p:spPr>
          <a:xfrm>
            <a:off x="6485081" y="3448821"/>
            <a:ext cx="514905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215E5B-5BF5-BCB9-03B4-4DE8469AC10D}"/>
              </a:ext>
            </a:extLst>
          </p:cNvPr>
          <p:cNvSpPr/>
          <p:nvPr/>
        </p:nvSpPr>
        <p:spPr>
          <a:xfrm>
            <a:off x="4717154" y="5132530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sig2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ABD9B1-17D9-4BF6-F966-98EE618FD8CB}"/>
              </a:ext>
            </a:extLst>
          </p:cNvPr>
          <p:cNvSpPr/>
          <p:nvPr/>
        </p:nvSpPr>
        <p:spPr>
          <a:xfrm>
            <a:off x="7355302" y="5534997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sig1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B60049-1E99-E26B-EF8D-B6944FE44A79}"/>
              </a:ext>
            </a:extLst>
          </p:cNvPr>
          <p:cNvSpPr/>
          <p:nvPr/>
        </p:nvSpPr>
        <p:spPr>
          <a:xfrm>
            <a:off x="7355302" y="5112808"/>
            <a:ext cx="1432874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sig2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639BAD-B8A3-0413-D5A0-BEFBFB341B6C}"/>
              </a:ext>
            </a:extLst>
          </p:cNvPr>
          <p:cNvSpPr/>
          <p:nvPr/>
        </p:nvSpPr>
        <p:spPr>
          <a:xfrm>
            <a:off x="7355302" y="4641784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pubkey1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2310F2-C848-D42F-481C-76A749F743A5}"/>
              </a:ext>
            </a:extLst>
          </p:cNvPr>
          <p:cNvSpPr/>
          <p:nvPr/>
        </p:nvSpPr>
        <p:spPr>
          <a:xfrm>
            <a:off x="7355302" y="4197883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pubkey2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ED8156B-8C02-EBBA-2907-986423952EA0}"/>
              </a:ext>
            </a:extLst>
          </p:cNvPr>
          <p:cNvSpPr/>
          <p:nvPr/>
        </p:nvSpPr>
        <p:spPr>
          <a:xfrm>
            <a:off x="7355302" y="3748170"/>
            <a:ext cx="1432874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pubkey3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76C627-5EEB-EC04-BE59-051C53449C5C}"/>
              </a:ext>
            </a:extLst>
          </p:cNvPr>
          <p:cNvSpPr/>
          <p:nvPr/>
        </p:nvSpPr>
        <p:spPr>
          <a:xfrm>
            <a:off x="6999986" y="3316960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CHECKMULTISIG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BAD3D071-AF4A-456A-D9CB-C596A99ACC77}"/>
              </a:ext>
            </a:extLst>
          </p:cNvPr>
          <p:cNvSpPr/>
          <p:nvPr/>
        </p:nvSpPr>
        <p:spPr>
          <a:xfrm>
            <a:off x="9310005" y="3463785"/>
            <a:ext cx="514905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5AD820-23F4-013F-8A27-391A45632DE1}"/>
              </a:ext>
            </a:extLst>
          </p:cNvPr>
          <p:cNvSpPr/>
          <p:nvPr/>
        </p:nvSpPr>
        <p:spPr>
          <a:xfrm>
            <a:off x="9923561" y="2095857"/>
            <a:ext cx="1781666" cy="387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177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交易脚本</a:t>
            </a:r>
            <a:r>
              <a:rPr lang="en-US" altLang="zh-CN" dirty="0"/>
              <a:t>——P2SH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42E45F-C234-7F1C-F4C8-36E17D5AC405}"/>
              </a:ext>
            </a:extLst>
          </p:cNvPr>
          <p:cNvSpPr txBox="1"/>
          <p:nvPr/>
        </p:nvSpPr>
        <p:spPr>
          <a:xfrm>
            <a:off x="642175" y="1432874"/>
            <a:ext cx="909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Garamond" panose="02020404030301010803" pitchFamily="18" charset="0"/>
              </a:rPr>
              <a:t>Pay 2 Script Hash</a:t>
            </a:r>
            <a:endParaRPr kumimoji="1" lang="zh-CN" altLang="en-US" sz="3200" dirty="0">
              <a:latin typeface="Garamond" panose="020204040303010108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92D1C8-135D-4274-4556-F0C6F929F7A0}"/>
              </a:ext>
            </a:extLst>
          </p:cNvPr>
          <p:cNvSpPr txBox="1"/>
          <p:nvPr/>
        </p:nvSpPr>
        <p:spPr>
          <a:xfrm>
            <a:off x="434101" y="2407100"/>
            <a:ext cx="383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输入脚本（解锁脚本）：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FA8C7B-D398-FAC7-7F40-22F8F010EBC9}"/>
              </a:ext>
            </a:extLst>
          </p:cNvPr>
          <p:cNvSpPr txBox="1"/>
          <p:nvPr/>
        </p:nvSpPr>
        <p:spPr>
          <a:xfrm>
            <a:off x="434101" y="4017622"/>
            <a:ext cx="383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输出脚本（锁定脚本）：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39FE1C-7BC0-E664-5EFE-6BDD93ABDA5D}"/>
              </a:ext>
            </a:extLst>
          </p:cNvPr>
          <p:cNvSpPr txBox="1"/>
          <p:nvPr/>
        </p:nvSpPr>
        <p:spPr>
          <a:xfrm>
            <a:off x="730691" y="4479287"/>
            <a:ext cx="36547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HASH160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</a:t>
            </a:r>
            <a:r>
              <a:rPr kumimoji="1" lang="en-US" altLang="zh-CN" sz="24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redeemedScriptHash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EQUALVERIFY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2B6F6D-5708-5A1A-369C-FF26B7DB7678}"/>
              </a:ext>
            </a:extLst>
          </p:cNvPr>
          <p:cNvSpPr txBox="1"/>
          <p:nvPr/>
        </p:nvSpPr>
        <p:spPr>
          <a:xfrm>
            <a:off x="730691" y="2796551"/>
            <a:ext cx="3838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PUSHDATA(sig)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…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PUSHDATA(redeemed script)</a:t>
            </a:r>
            <a:endParaRPr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1D9DE2-8283-E64E-5BAE-CB9BE85F66E8}"/>
              </a:ext>
            </a:extLst>
          </p:cNvPr>
          <p:cNvSpPr txBox="1"/>
          <p:nvPr/>
        </p:nvSpPr>
        <p:spPr>
          <a:xfrm>
            <a:off x="434101" y="1945435"/>
            <a:ext cx="11757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赎回脚本（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redeemed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script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）：由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P2PK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P2PKH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或</a:t>
            </a:r>
            <a:r>
              <a:rPr kumimoji="1" lang="en-US" altLang="zh-CN" sz="24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MultiSig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脚本组成，需要</a:t>
            </a:r>
            <a:r>
              <a:rPr kumimoji="1" lang="zh-CN" altLang="en-US" sz="24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两阶段验证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5E1662-8424-47C1-A6C0-291979AE986B}"/>
              </a:ext>
            </a:extLst>
          </p:cNvPr>
          <p:cNvSpPr/>
          <p:nvPr/>
        </p:nvSpPr>
        <p:spPr>
          <a:xfrm>
            <a:off x="4634675" y="3311370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40F8D0-FDA5-5FB9-704A-FBE449E91FE2}"/>
              </a:ext>
            </a:extLst>
          </p:cNvPr>
          <p:cNvSpPr/>
          <p:nvPr/>
        </p:nvSpPr>
        <p:spPr>
          <a:xfrm>
            <a:off x="4809072" y="5905412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188DEE-ACDA-5393-174D-EFC5DB790A5C}"/>
              </a:ext>
            </a:extLst>
          </p:cNvPr>
          <p:cNvSpPr/>
          <p:nvPr/>
        </p:nvSpPr>
        <p:spPr>
          <a:xfrm>
            <a:off x="7275751" y="3311370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E687DD50-2855-5876-9F24-C0A8304DC399}"/>
              </a:ext>
            </a:extLst>
          </p:cNvPr>
          <p:cNvSpPr/>
          <p:nvPr/>
        </p:nvSpPr>
        <p:spPr>
          <a:xfrm>
            <a:off x="6576999" y="3799514"/>
            <a:ext cx="602507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170817-D400-5B27-715F-CEB525DB6C6B}"/>
              </a:ext>
            </a:extLst>
          </p:cNvPr>
          <p:cNvSpPr/>
          <p:nvPr/>
        </p:nvSpPr>
        <p:spPr>
          <a:xfrm>
            <a:off x="4809072" y="5483223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redeemed script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C95FFC-ABE8-941D-296A-2C640F6FB6F0}"/>
              </a:ext>
            </a:extLst>
          </p:cNvPr>
          <p:cNvSpPr/>
          <p:nvPr/>
        </p:nvSpPr>
        <p:spPr>
          <a:xfrm>
            <a:off x="7447220" y="5885690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112D70-AE8F-2C9B-B08B-1C536719CAA9}"/>
              </a:ext>
            </a:extLst>
          </p:cNvPr>
          <p:cNvSpPr/>
          <p:nvPr/>
        </p:nvSpPr>
        <p:spPr>
          <a:xfrm>
            <a:off x="7447220" y="5463501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redeemedscripthash</a:t>
            </a:r>
            <a:endParaRPr kumimoji="1" lang="zh-CN" altLang="en-US" sz="15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5CA666-B53E-6BBC-48D1-8DED7FDAC502}"/>
              </a:ext>
            </a:extLst>
          </p:cNvPr>
          <p:cNvSpPr/>
          <p:nvPr/>
        </p:nvSpPr>
        <p:spPr>
          <a:xfrm>
            <a:off x="7447220" y="4992477"/>
            <a:ext cx="1676652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redeemedscripthash</a:t>
            </a:r>
            <a:endParaRPr kumimoji="1" lang="zh-CN" altLang="en-US" sz="15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E3440F-3664-59F4-02A7-8A355E347024}"/>
              </a:ext>
            </a:extLst>
          </p:cNvPr>
          <p:cNvSpPr/>
          <p:nvPr/>
        </p:nvSpPr>
        <p:spPr>
          <a:xfrm>
            <a:off x="7073278" y="4540874"/>
            <a:ext cx="2591565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EQUALVERIFY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A47CAD97-EAEB-3EB8-A0F1-8BDCC0C27D28}"/>
              </a:ext>
            </a:extLst>
          </p:cNvPr>
          <p:cNvSpPr/>
          <p:nvPr/>
        </p:nvSpPr>
        <p:spPr>
          <a:xfrm>
            <a:off x="9401923" y="3814478"/>
            <a:ext cx="602507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DA5B96-B963-8C28-A35D-787B0E7CA03B}"/>
              </a:ext>
            </a:extLst>
          </p:cNvPr>
          <p:cNvSpPr/>
          <p:nvPr/>
        </p:nvSpPr>
        <p:spPr>
          <a:xfrm>
            <a:off x="10015478" y="3311370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4725A1-9172-365D-3D92-3F9A2EE57FD9}"/>
              </a:ext>
            </a:extLst>
          </p:cNvPr>
          <p:cNvSpPr/>
          <p:nvPr/>
        </p:nvSpPr>
        <p:spPr>
          <a:xfrm>
            <a:off x="4418127" y="5061034"/>
            <a:ext cx="2591565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HASH160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A914F58-0612-2EFE-40BB-90C4BAA6D635}"/>
              </a:ext>
            </a:extLst>
          </p:cNvPr>
          <p:cNvSpPr txBox="1"/>
          <p:nvPr/>
        </p:nvSpPr>
        <p:spPr>
          <a:xfrm>
            <a:off x="6416342" y="2689828"/>
            <a:ext cx="365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Garamond" panose="02020404030301010803" pitchFamily="18" charset="0"/>
              </a:rPr>
              <a:t>验证阶段一：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8F72E92-8756-EA4F-7138-84EDA9CAD12B}"/>
              </a:ext>
            </a:extLst>
          </p:cNvPr>
          <p:cNvSpPr/>
          <p:nvPr/>
        </p:nvSpPr>
        <p:spPr>
          <a:xfrm>
            <a:off x="10219544" y="5884270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93370B-7EF7-3556-6928-638668C4C05E}"/>
              </a:ext>
            </a:extLst>
          </p:cNvPr>
          <p:cNvSpPr/>
          <p:nvPr/>
        </p:nvSpPr>
        <p:spPr>
          <a:xfrm>
            <a:off x="10229672" y="5448612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redeemed script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559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交易脚本</a:t>
            </a:r>
            <a:r>
              <a:rPr lang="en-US" altLang="zh-CN" dirty="0"/>
              <a:t>——P2SH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DA5B96-B963-8C28-A35D-787B0E7CA03B}"/>
              </a:ext>
            </a:extLst>
          </p:cNvPr>
          <p:cNvSpPr/>
          <p:nvPr/>
        </p:nvSpPr>
        <p:spPr>
          <a:xfrm>
            <a:off x="501387" y="2646185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A914F58-0612-2EFE-40BB-90C4BAA6D635}"/>
              </a:ext>
            </a:extLst>
          </p:cNvPr>
          <p:cNvSpPr txBox="1"/>
          <p:nvPr/>
        </p:nvSpPr>
        <p:spPr>
          <a:xfrm>
            <a:off x="4099270" y="1413358"/>
            <a:ext cx="365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Garamond" panose="02020404030301010803" pitchFamily="18" charset="0"/>
              </a:rPr>
              <a:t>验证阶段二：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8F72E92-8756-EA4F-7138-84EDA9CAD12B}"/>
              </a:ext>
            </a:extLst>
          </p:cNvPr>
          <p:cNvSpPr/>
          <p:nvPr/>
        </p:nvSpPr>
        <p:spPr>
          <a:xfrm>
            <a:off x="705453" y="5219085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93370B-7EF7-3556-6928-638668C4C05E}"/>
              </a:ext>
            </a:extLst>
          </p:cNvPr>
          <p:cNvSpPr/>
          <p:nvPr/>
        </p:nvSpPr>
        <p:spPr>
          <a:xfrm>
            <a:off x="715581" y="4783427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redeemed script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5CF74C-3D53-AC4A-2C0F-5D9856E4CBF8}"/>
              </a:ext>
            </a:extLst>
          </p:cNvPr>
          <p:cNvSpPr txBox="1"/>
          <p:nvPr/>
        </p:nvSpPr>
        <p:spPr>
          <a:xfrm>
            <a:off x="434102" y="1945435"/>
            <a:ext cx="340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redeemed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script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P2PK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91214A66-A803-7210-151B-AE0EAC6A3E5F}"/>
              </a:ext>
            </a:extLst>
          </p:cNvPr>
          <p:cNvSpPr/>
          <p:nvPr/>
        </p:nvSpPr>
        <p:spPr>
          <a:xfrm>
            <a:off x="2682232" y="2920099"/>
            <a:ext cx="602507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958DDD-AE20-9A84-0EEC-EE668FC71A9B}"/>
              </a:ext>
            </a:extLst>
          </p:cNvPr>
          <p:cNvSpPr/>
          <p:nvPr/>
        </p:nvSpPr>
        <p:spPr>
          <a:xfrm>
            <a:off x="3380799" y="2646185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5B1E42B-A2D9-86DB-188F-FBBD1A3FC9D5}"/>
              </a:ext>
            </a:extLst>
          </p:cNvPr>
          <p:cNvSpPr/>
          <p:nvPr/>
        </p:nvSpPr>
        <p:spPr>
          <a:xfrm>
            <a:off x="3584865" y="5219085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F5E848B-621F-7B35-B937-71BE65388EBF}"/>
              </a:ext>
            </a:extLst>
          </p:cNvPr>
          <p:cNvSpPr/>
          <p:nvPr/>
        </p:nvSpPr>
        <p:spPr>
          <a:xfrm>
            <a:off x="3594993" y="4783427"/>
            <a:ext cx="1676652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FCEBA3-5B08-4632-282D-4B52F5C45904}"/>
              </a:ext>
            </a:extLst>
          </p:cNvPr>
          <p:cNvSpPr/>
          <p:nvPr/>
        </p:nvSpPr>
        <p:spPr>
          <a:xfrm>
            <a:off x="3185842" y="4252042"/>
            <a:ext cx="2474698" cy="419391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59A8C3-A7D1-DDA3-5551-8872A6A09046}"/>
              </a:ext>
            </a:extLst>
          </p:cNvPr>
          <p:cNvSpPr txBox="1"/>
          <p:nvPr/>
        </p:nvSpPr>
        <p:spPr>
          <a:xfrm>
            <a:off x="5824326" y="1945434"/>
            <a:ext cx="3799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redeemed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script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P2PKH</a:t>
            </a:r>
            <a:endParaRPr kumimoji="1"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8C920B1-2D34-492F-8E25-71E5781DDE27}"/>
              </a:ext>
            </a:extLst>
          </p:cNvPr>
          <p:cNvSpPr/>
          <p:nvPr/>
        </p:nvSpPr>
        <p:spPr>
          <a:xfrm>
            <a:off x="6316365" y="2646185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F1F2184-817E-AC20-FB92-0315FA4F2B70}"/>
              </a:ext>
            </a:extLst>
          </p:cNvPr>
          <p:cNvSpPr/>
          <p:nvPr/>
        </p:nvSpPr>
        <p:spPr>
          <a:xfrm>
            <a:off x="6520431" y="5219085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1F8374-4848-8A50-FD32-6C9392A2AB53}"/>
              </a:ext>
            </a:extLst>
          </p:cNvPr>
          <p:cNvSpPr/>
          <p:nvPr/>
        </p:nvSpPr>
        <p:spPr>
          <a:xfrm>
            <a:off x="6520431" y="4321293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redeemed script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右箭头 35">
            <a:extLst>
              <a:ext uri="{FF2B5EF4-FFF2-40B4-BE49-F238E27FC236}">
                <a16:creationId xmlns:a16="http://schemas.microsoft.com/office/drawing/2014/main" id="{711C2C0B-D1C7-F1E2-C474-3EE7FDC76F7B}"/>
              </a:ext>
            </a:extLst>
          </p:cNvPr>
          <p:cNvSpPr/>
          <p:nvPr/>
        </p:nvSpPr>
        <p:spPr>
          <a:xfrm>
            <a:off x="8497210" y="2920099"/>
            <a:ext cx="602507" cy="556163"/>
          </a:xfrm>
          <a:prstGeom prst="rightArrow">
            <a:avLst/>
          </a:prstGeom>
          <a:solidFill>
            <a:srgbClr val="000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3ABE39-78BD-DE33-0C83-491E1D701FFE}"/>
              </a:ext>
            </a:extLst>
          </p:cNvPr>
          <p:cNvSpPr/>
          <p:nvPr/>
        </p:nvSpPr>
        <p:spPr>
          <a:xfrm>
            <a:off x="6520431" y="4770189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83F51F0-6651-3BB0-388C-8A460521B36D}"/>
              </a:ext>
            </a:extLst>
          </p:cNvPr>
          <p:cNvSpPr/>
          <p:nvPr/>
        </p:nvSpPr>
        <p:spPr>
          <a:xfrm>
            <a:off x="9251931" y="2621535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E5FA711-F067-8936-DD00-FFB96621B442}"/>
              </a:ext>
            </a:extLst>
          </p:cNvPr>
          <p:cNvSpPr/>
          <p:nvPr/>
        </p:nvSpPr>
        <p:spPr>
          <a:xfrm>
            <a:off x="9455997" y="5194435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9607193-846E-D54B-2D04-518742FE5047}"/>
              </a:ext>
            </a:extLst>
          </p:cNvPr>
          <p:cNvSpPr/>
          <p:nvPr/>
        </p:nvSpPr>
        <p:spPr>
          <a:xfrm>
            <a:off x="9455997" y="4745539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pubkeyhash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F7F2967-EE0C-5882-6A28-1C8FBF4CE832}"/>
              </a:ext>
            </a:extLst>
          </p:cNvPr>
          <p:cNvSpPr/>
          <p:nvPr/>
        </p:nvSpPr>
        <p:spPr>
          <a:xfrm>
            <a:off x="9165659" y="4294755"/>
            <a:ext cx="2257327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DUP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4A8A6A8-9121-7BCD-6B77-978C57D69E17}"/>
              </a:ext>
            </a:extLst>
          </p:cNvPr>
          <p:cNvSpPr/>
          <p:nvPr/>
        </p:nvSpPr>
        <p:spPr>
          <a:xfrm>
            <a:off x="9185388" y="3474611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HASH160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858EAD1-676B-3FDE-00D6-4E68847AF699}"/>
              </a:ext>
            </a:extLst>
          </p:cNvPr>
          <p:cNvSpPr/>
          <p:nvPr/>
        </p:nvSpPr>
        <p:spPr>
          <a:xfrm>
            <a:off x="9455997" y="3884683"/>
            <a:ext cx="1676651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pubkey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7C18C62-5114-CFB4-9EA7-7C39B686B34A}"/>
              </a:ext>
            </a:extLst>
          </p:cNvPr>
          <p:cNvSpPr/>
          <p:nvPr/>
        </p:nvSpPr>
        <p:spPr>
          <a:xfrm>
            <a:off x="9195777" y="3054161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EQUALVERIFY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F1D7314-0442-CA3C-B4D9-78ADCD3EDA33}"/>
              </a:ext>
            </a:extLst>
          </p:cNvPr>
          <p:cNvSpPr/>
          <p:nvPr/>
        </p:nvSpPr>
        <p:spPr>
          <a:xfrm>
            <a:off x="9195777" y="2644477"/>
            <a:ext cx="2214762" cy="329353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CHECKSIG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87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5" grpId="0" animBg="1"/>
      <p:bldP spid="26" grpId="0" animBg="1"/>
      <p:bldP spid="18" grpId="0"/>
      <p:bldP spid="19" grpId="0" animBg="1"/>
      <p:bldP spid="27" grpId="0" animBg="1"/>
      <p:bldP spid="28" grpId="0" animBg="1"/>
      <p:bldP spid="29" grpId="0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41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交易脚本</a:t>
            </a:r>
            <a:r>
              <a:rPr lang="en-US" altLang="zh-CN" dirty="0"/>
              <a:t>——OP_RETURN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C420A1-2CD5-6BEF-0647-08DE2EA39CA7}"/>
              </a:ext>
            </a:extLst>
          </p:cNvPr>
          <p:cNvSpPr txBox="1"/>
          <p:nvPr/>
        </p:nvSpPr>
        <p:spPr>
          <a:xfrm>
            <a:off x="642175" y="1432874"/>
            <a:ext cx="9095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Garamond" panose="02020404030301010803" pitchFamily="18" charset="0"/>
              </a:rPr>
              <a:t>Proof</a:t>
            </a:r>
            <a:r>
              <a:rPr kumimoji="1" lang="zh-CN" altLang="en-US" sz="3200" dirty="0">
                <a:latin typeface="Garamond" panose="02020404030301010803" pitchFamily="18" charset="0"/>
              </a:rPr>
              <a:t> </a:t>
            </a:r>
            <a:r>
              <a:rPr kumimoji="1" lang="en-US" altLang="zh-CN" sz="3200" dirty="0">
                <a:latin typeface="Garamond" panose="02020404030301010803" pitchFamily="18" charset="0"/>
              </a:rPr>
              <a:t>of</a:t>
            </a:r>
            <a:r>
              <a:rPr kumimoji="1" lang="zh-CN" altLang="en-US" sz="3200" dirty="0">
                <a:latin typeface="Garamond" panose="02020404030301010803" pitchFamily="18" charset="0"/>
              </a:rPr>
              <a:t> </a:t>
            </a:r>
            <a:r>
              <a:rPr kumimoji="1" lang="en-US" altLang="zh-CN" sz="3200" dirty="0">
                <a:latin typeface="Garamond" panose="02020404030301010803" pitchFamily="18" charset="0"/>
              </a:rPr>
              <a:t>Burn</a:t>
            </a:r>
            <a:endParaRPr kumimoji="1" lang="zh-CN" altLang="en-US" sz="3200" dirty="0">
              <a:latin typeface="Garamond" panose="020204040303010108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DD1CE7-0872-F17B-3423-DC4AF2AFC189}"/>
              </a:ext>
            </a:extLst>
          </p:cNvPr>
          <p:cNvSpPr txBox="1"/>
          <p:nvPr/>
        </p:nvSpPr>
        <p:spPr>
          <a:xfrm>
            <a:off x="336446" y="1845557"/>
            <a:ext cx="5087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输出脚本（锁定脚本）：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D7514B-E1D9-E708-3F10-90230414708C}"/>
              </a:ext>
            </a:extLst>
          </p:cNvPr>
          <p:cNvSpPr txBox="1"/>
          <p:nvPr/>
        </p:nvSpPr>
        <p:spPr>
          <a:xfrm>
            <a:off x="642175" y="2307222"/>
            <a:ext cx="3838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OP_RETURN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…</a:t>
            </a:r>
          </a:p>
          <a:p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…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F44FBD-2A72-F279-0DB8-A02C2764AA91}"/>
              </a:ext>
            </a:extLst>
          </p:cNvPr>
          <p:cNvSpPr txBox="1"/>
          <p:nvPr/>
        </p:nvSpPr>
        <p:spPr>
          <a:xfrm>
            <a:off x="336446" y="3469891"/>
            <a:ext cx="5087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OP_RETURN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811449-1DA7-89A1-B24E-C2AE75EAB782}"/>
              </a:ext>
            </a:extLst>
          </p:cNvPr>
          <p:cNvSpPr txBox="1"/>
          <p:nvPr/>
        </p:nvSpPr>
        <p:spPr>
          <a:xfrm>
            <a:off x="642175" y="3948046"/>
            <a:ext cx="383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无条件返回错误</a:t>
            </a:r>
            <a:endParaRPr kumimoji="1" lang="en-US" altLang="zh-CN" sz="2400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59E844-84C9-C955-76BA-96BCDF3B98F1}"/>
              </a:ext>
            </a:extLst>
          </p:cNvPr>
          <p:cNvSpPr/>
          <p:nvPr/>
        </p:nvSpPr>
        <p:spPr>
          <a:xfrm>
            <a:off x="4141232" y="2307222"/>
            <a:ext cx="2084785" cy="3005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59E062-B408-7537-8DC3-B79B079FE53B}"/>
              </a:ext>
            </a:extLst>
          </p:cNvPr>
          <p:cNvSpPr/>
          <p:nvPr/>
        </p:nvSpPr>
        <p:spPr>
          <a:xfrm>
            <a:off x="4345298" y="4880122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sig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B4B1C4-CAFC-6380-602F-38C58748C618}"/>
              </a:ext>
            </a:extLst>
          </p:cNvPr>
          <p:cNvSpPr/>
          <p:nvPr/>
        </p:nvSpPr>
        <p:spPr>
          <a:xfrm>
            <a:off x="4355426" y="4444464"/>
            <a:ext cx="1676652" cy="329353"/>
          </a:xfrm>
          <a:prstGeom prst="rect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…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436CC6-A942-FBD1-2C5E-E2DB8468D8C9}"/>
              </a:ext>
            </a:extLst>
          </p:cNvPr>
          <p:cNvSpPr/>
          <p:nvPr/>
        </p:nvSpPr>
        <p:spPr>
          <a:xfrm>
            <a:off x="3946275" y="3902281"/>
            <a:ext cx="2474698" cy="419391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OP_RETURN</a:t>
            </a:r>
            <a:endParaRPr kumimoji="1" lang="zh-CN" altLang="en-US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10F5F-3232-2B32-9C2B-3FD01212DAD4}"/>
              </a:ext>
            </a:extLst>
          </p:cNvPr>
          <p:cNvSpPr/>
          <p:nvPr/>
        </p:nvSpPr>
        <p:spPr>
          <a:xfrm>
            <a:off x="4355426" y="3451285"/>
            <a:ext cx="1676652" cy="32935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Garamond" panose="02020404030301010803" pitchFamily="18" charset="0"/>
                <a:ea typeface="微软雅黑" panose="020B0503020204020204" pitchFamily="34" charset="-122"/>
              </a:rPr>
              <a:t>…</a:t>
            </a:r>
            <a:endParaRPr kumimoji="1" lang="zh-CN" altLang="en-US" sz="16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7E8F37-A78E-08C1-D76C-70E678A090F0}"/>
              </a:ext>
            </a:extLst>
          </p:cNvPr>
          <p:cNvSpPr txBox="1"/>
          <p:nvPr/>
        </p:nvSpPr>
        <p:spPr>
          <a:xfrm>
            <a:off x="642175" y="4485569"/>
            <a:ext cx="383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任何脚本都不能解锁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8482D9-EF07-972F-CBF4-B9E3C06E979B}"/>
              </a:ext>
            </a:extLst>
          </p:cNvPr>
          <p:cNvSpPr txBox="1"/>
          <p:nvPr/>
        </p:nvSpPr>
        <p:spPr>
          <a:xfrm>
            <a:off x="642175" y="5046144"/>
            <a:ext cx="383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币</a:t>
            </a:r>
            <a:r>
              <a:rPr kumimoji="1" lang="zh-CN" altLang="en-US" sz="2400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永久地</a:t>
            </a: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锁在区块链中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6D4858-3FC3-DA39-E7F8-5D7CAE643A4F}"/>
              </a:ext>
            </a:extLst>
          </p:cNvPr>
          <p:cNvSpPr/>
          <p:nvPr/>
        </p:nvSpPr>
        <p:spPr>
          <a:xfrm>
            <a:off x="1996845" y="5850499"/>
            <a:ext cx="214438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锁在什么地方了？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4A25DDC-AB21-3EB2-F5C1-D6E068C29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05" y="5707481"/>
            <a:ext cx="601662" cy="60166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27BEE59-186A-8FFB-F6B0-2B105A3C7AAC}"/>
              </a:ext>
            </a:extLst>
          </p:cNvPr>
          <p:cNvSpPr txBox="1"/>
          <p:nvPr/>
        </p:nvSpPr>
        <p:spPr>
          <a:xfrm>
            <a:off x="6587806" y="1845557"/>
            <a:ext cx="4962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作用：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8A93B6-3204-39EC-3FA6-67340EF56AAD}"/>
              </a:ext>
            </a:extLst>
          </p:cNvPr>
          <p:cNvSpPr txBox="1"/>
          <p:nvPr/>
        </p:nvSpPr>
        <p:spPr>
          <a:xfrm>
            <a:off x="6971291" y="2364735"/>
            <a:ext cx="51140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能够通过花费一定的比特币将某些内容</a:t>
            </a:r>
            <a:r>
              <a:rPr kumimoji="1" lang="zh-CN" altLang="en-US" sz="2400" b="1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永恒地保存在这个世界上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2A5D621-2868-EAB7-D673-E3C5F3AD6BE5}"/>
              </a:ext>
            </a:extLst>
          </p:cNvPr>
          <p:cNvSpPr txBox="1"/>
          <p:nvPr/>
        </p:nvSpPr>
        <p:spPr>
          <a:xfrm>
            <a:off x="6971291" y="3239058"/>
            <a:ext cx="51140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kumimoji="1"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能够做出某种承诺</a:t>
            </a:r>
            <a:endParaRPr kumimoji="1"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A614AFD-C0EA-898A-3C7F-A72749588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74" y="3669342"/>
            <a:ext cx="3927249" cy="304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3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 animBg="1"/>
      <p:bldP spid="10" grpId="0" animBg="1"/>
      <p:bldP spid="11" grpId="0" animBg="1"/>
      <p:bldP spid="14" grpId="0" animBg="1"/>
      <p:bldP spid="15" grpId="0" animBg="1"/>
      <p:bldP spid="17" grpId="0"/>
      <p:bldP spid="18" grpId="0"/>
      <p:bldP spid="19" grpId="0" animBg="1"/>
      <p:bldP spid="22" grpId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3.5 </a:t>
            </a:r>
            <a:r>
              <a:rPr kumimoji="1" lang="zh-CN" altLang="en-US" dirty="0">
                <a:latin typeface="Garamond" panose="02020404030301010803" pitchFamily="18" charset="0"/>
              </a:rPr>
              <a:t>交易脚本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3.6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一致性问题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3.7 </a:t>
            </a:r>
            <a:r>
              <a:rPr kumimoji="1" lang="zh-CN" altLang="en-US" dirty="0">
                <a:latin typeface="Garamond" panose="02020404030301010803" pitchFamily="18" charset="0"/>
              </a:rPr>
              <a:t>工作量证明（</a:t>
            </a:r>
            <a:r>
              <a:rPr kumimoji="1" lang="en-US" altLang="zh-CN" dirty="0" err="1">
                <a:latin typeface="Garamond" panose="02020404030301010803" pitchFamily="18" charset="0"/>
              </a:rPr>
              <a:t>PoW</a:t>
            </a:r>
            <a:r>
              <a:rPr kumimoji="1" lang="zh-CN" altLang="en-US" dirty="0">
                <a:latin typeface="Garamond" panose="02020404030301010803" pitchFamily="18" charset="0"/>
              </a:rPr>
              <a:t>）</a:t>
            </a:r>
            <a:endParaRPr kumimoji="1"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sp>
        <p:nvSpPr>
          <p:cNvPr id="6" name="矩形标注 6">
            <a:extLst>
              <a:ext uri="{FF2B5EF4-FFF2-40B4-BE49-F238E27FC236}">
                <a16:creationId xmlns:a16="http://schemas.microsoft.com/office/drawing/2014/main" id="{623C7858-36BD-405E-BDC0-6FDF6548BAD3}"/>
              </a:ext>
            </a:extLst>
          </p:cNvPr>
          <p:cNvSpPr/>
          <p:nvPr/>
        </p:nvSpPr>
        <p:spPr>
          <a:xfrm>
            <a:off x="6565308" y="2162476"/>
            <a:ext cx="3255413" cy="1688555"/>
          </a:xfrm>
          <a:prstGeom prst="wedgeRectCallout">
            <a:avLst>
              <a:gd name="adj1" fmla="val -97116"/>
              <a:gd name="adj2" fmla="val -4039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一致性问题</a:t>
            </a: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问题与挑战</a:t>
            </a: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投票机制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188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一致性问题</a:t>
            </a:r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2D21C33-C1AE-4976-A02E-CB4F0D27A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5699701" cy="1751188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比特币节点构成</a:t>
            </a:r>
            <a:endParaRPr lang="en-US" altLang="zh-CN" dirty="0"/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轻量节点：仅保存区块头</a:t>
            </a:r>
            <a:endParaRPr lang="en-US" altLang="zh-CN" dirty="0"/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全量节点：维护完整的区块链</a:t>
            </a:r>
            <a:endParaRPr lang="en-US" altLang="zh-CN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81E7E23-BAD7-4781-9C14-4E44EC6B480E}"/>
              </a:ext>
            </a:extLst>
          </p:cNvPr>
          <p:cNvSpPr txBox="1">
            <a:spLocks/>
          </p:cNvSpPr>
          <p:nvPr/>
        </p:nvSpPr>
        <p:spPr>
          <a:xfrm>
            <a:off x="838200" y="3261946"/>
            <a:ext cx="10292862" cy="1327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/>
              <a:t>交易发布</a:t>
            </a:r>
            <a:endParaRPr lang="en-US" altLang="zh-CN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zh-CN" altLang="en-US" dirty="0"/>
              <a:t>任何一个地址都可发起交易，交易将</a:t>
            </a:r>
            <a:r>
              <a:rPr lang="zh-CN" altLang="en-US" b="1" dirty="0">
                <a:solidFill>
                  <a:srgbClr val="5B307E"/>
                </a:solidFill>
              </a:rPr>
              <a:t>广播</a:t>
            </a:r>
            <a:r>
              <a:rPr lang="zh-CN" altLang="en-US" dirty="0"/>
              <a:t>给全量节点，等待打包上链。</a:t>
            </a:r>
            <a:endParaRPr lang="en-US" altLang="zh-CN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55487EA-D071-476B-9AF1-2767E3328FA8}"/>
              </a:ext>
            </a:extLst>
          </p:cNvPr>
          <p:cNvSpPr/>
          <p:nvPr/>
        </p:nvSpPr>
        <p:spPr>
          <a:xfrm>
            <a:off x="9890792" y="1897625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0751FEB-6C11-46CA-A3EA-DF268007AE75}"/>
              </a:ext>
            </a:extLst>
          </p:cNvPr>
          <p:cNvSpPr/>
          <p:nvPr/>
        </p:nvSpPr>
        <p:spPr>
          <a:xfrm>
            <a:off x="9890792" y="2463985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B3A56CF-A1CF-4075-8232-F04AC6BDCE0F}"/>
              </a:ext>
            </a:extLst>
          </p:cNvPr>
          <p:cNvSpPr/>
          <p:nvPr/>
        </p:nvSpPr>
        <p:spPr>
          <a:xfrm>
            <a:off x="10468953" y="1899443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DBB242C-2414-487A-8D5D-0B3DBA8088EB}"/>
              </a:ext>
            </a:extLst>
          </p:cNvPr>
          <p:cNvSpPr/>
          <p:nvPr/>
        </p:nvSpPr>
        <p:spPr>
          <a:xfrm>
            <a:off x="10468953" y="2463985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DCED020-DCF4-4E94-A80E-EA406FD858CE}"/>
              </a:ext>
            </a:extLst>
          </p:cNvPr>
          <p:cNvSpPr/>
          <p:nvPr/>
        </p:nvSpPr>
        <p:spPr>
          <a:xfrm>
            <a:off x="11047114" y="1899443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22353E7-11E1-4796-8C49-A1795E5D6997}"/>
              </a:ext>
            </a:extLst>
          </p:cNvPr>
          <p:cNvSpPr/>
          <p:nvPr/>
        </p:nvSpPr>
        <p:spPr>
          <a:xfrm>
            <a:off x="11047114" y="2463985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6E544BF-40B5-4BED-85DD-17C8931FA7CD}"/>
              </a:ext>
            </a:extLst>
          </p:cNvPr>
          <p:cNvSpPr/>
          <p:nvPr/>
        </p:nvSpPr>
        <p:spPr>
          <a:xfrm>
            <a:off x="9890792" y="3077807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50DF50A-7224-464B-BC65-F0F35F5C407A}"/>
              </a:ext>
            </a:extLst>
          </p:cNvPr>
          <p:cNvSpPr/>
          <p:nvPr/>
        </p:nvSpPr>
        <p:spPr>
          <a:xfrm>
            <a:off x="10468953" y="3079625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F9C724D-5C86-477D-B35D-B01F41E25E87}"/>
              </a:ext>
            </a:extLst>
          </p:cNvPr>
          <p:cNvSpPr/>
          <p:nvPr/>
        </p:nvSpPr>
        <p:spPr>
          <a:xfrm>
            <a:off x="11047114" y="3079625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BE4BC49A-54CE-4D79-AE6F-BCF69AA19A69}"/>
              </a:ext>
            </a:extLst>
          </p:cNvPr>
          <p:cNvSpPr txBox="1">
            <a:spLocks/>
          </p:cNvSpPr>
          <p:nvPr/>
        </p:nvSpPr>
        <p:spPr>
          <a:xfrm>
            <a:off x="838200" y="4511657"/>
            <a:ext cx="10292862" cy="1327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/>
              <a:t>网络结构</a:t>
            </a:r>
            <a:endParaRPr lang="en-US" altLang="zh-CN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zh-CN" altLang="en-US" dirty="0"/>
              <a:t>全量节点构成</a:t>
            </a:r>
            <a:r>
              <a:rPr lang="en-US" altLang="zh-CN" b="1" dirty="0">
                <a:solidFill>
                  <a:srgbClr val="5B307E"/>
                </a:solidFill>
              </a:rPr>
              <a:t>P2P</a:t>
            </a:r>
            <a:r>
              <a:rPr lang="zh-CN" altLang="en-US" b="1" dirty="0">
                <a:solidFill>
                  <a:srgbClr val="5B307E"/>
                </a:solidFill>
              </a:rPr>
              <a:t>网络结构</a:t>
            </a:r>
            <a:r>
              <a:rPr lang="zh-CN" altLang="en-US" dirty="0"/>
              <a:t>。（任何两个节点间均能通信）</a:t>
            </a:r>
            <a:endParaRPr lang="en-US" altLang="zh-CN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BCB27D4-B014-4222-B035-95575D3CFE30}"/>
              </a:ext>
            </a:extLst>
          </p:cNvPr>
          <p:cNvCxnSpPr>
            <a:stCxn id="4" idx="6"/>
            <a:endCxn id="11" idx="2"/>
          </p:cNvCxnSpPr>
          <p:nvPr/>
        </p:nvCxnSpPr>
        <p:spPr>
          <a:xfrm>
            <a:off x="10057846" y="1981152"/>
            <a:ext cx="411107" cy="1818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08FEC01-E422-4A98-9FA1-18B69BF2B47B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>
            <a:off x="9974319" y="2064679"/>
            <a:ext cx="0" cy="399306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0688319-7538-4437-9149-ABC3B533954A}"/>
              </a:ext>
            </a:extLst>
          </p:cNvPr>
          <p:cNvCxnSpPr>
            <a:cxnSpLocks/>
            <a:stCxn id="10" idx="4"/>
            <a:endCxn id="16" idx="0"/>
          </p:cNvCxnSpPr>
          <p:nvPr/>
        </p:nvCxnSpPr>
        <p:spPr>
          <a:xfrm>
            <a:off x="9974319" y="2631039"/>
            <a:ext cx="0" cy="446768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477F2EF-C7A0-4E9D-9FE7-2CF08C796C80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10636007" y="1982970"/>
            <a:ext cx="411107" cy="0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7555159-8DBE-45E6-AB3E-D325895C9A14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0552480" y="2066497"/>
            <a:ext cx="0" cy="397488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27C0F0E-6BB9-4A56-8775-9E4CDD13EA03}"/>
              </a:ext>
            </a:extLst>
          </p:cNvPr>
          <p:cNvCxnSpPr>
            <a:cxnSpLocks/>
            <a:stCxn id="12" idx="4"/>
            <a:endCxn id="17" idx="0"/>
          </p:cNvCxnSpPr>
          <p:nvPr/>
        </p:nvCxnSpPr>
        <p:spPr>
          <a:xfrm>
            <a:off x="10552480" y="2631039"/>
            <a:ext cx="0" cy="448586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1453483-E28A-49A4-BB6A-FAD8BDA79C95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>
            <a:off x="11130641" y="2631039"/>
            <a:ext cx="0" cy="448586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05D1300-B155-448C-986E-211F9618CD4A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11130641" y="2066497"/>
            <a:ext cx="0" cy="397488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B8EF0C2-B04B-47CB-8EDA-E6BE25434E67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10057846" y="2547512"/>
            <a:ext cx="411107" cy="0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357EEB3-31F5-4F32-ADDB-5730302420D1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10057846" y="3161334"/>
            <a:ext cx="411107" cy="1818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082A26E-6516-474D-A13A-65CA88AA59D8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10636007" y="3163152"/>
            <a:ext cx="411107" cy="0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BA4D909-8575-4CE0-8B72-FFB0A1E60229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>
            <a:off x="10636007" y="2547512"/>
            <a:ext cx="411107" cy="0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4EE5C1A-B420-493E-8730-0B6B79383163}"/>
              </a:ext>
            </a:extLst>
          </p:cNvPr>
          <p:cNvCxnSpPr>
            <a:cxnSpLocks/>
            <a:stCxn id="12" idx="5"/>
            <a:endCxn id="18" idx="1"/>
          </p:cNvCxnSpPr>
          <p:nvPr/>
        </p:nvCxnSpPr>
        <p:spPr>
          <a:xfrm>
            <a:off x="10611543" y="2606575"/>
            <a:ext cx="460035" cy="497514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F1D277FD-5B3D-44F1-A97F-C47E4CE89AB5}"/>
              </a:ext>
            </a:extLst>
          </p:cNvPr>
          <p:cNvCxnSpPr>
            <a:cxnSpLocks/>
            <a:stCxn id="17" idx="7"/>
            <a:endCxn id="14" idx="3"/>
          </p:cNvCxnSpPr>
          <p:nvPr/>
        </p:nvCxnSpPr>
        <p:spPr>
          <a:xfrm flipV="1">
            <a:off x="10611543" y="2606575"/>
            <a:ext cx="460035" cy="497514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8A27F6A-66F4-4421-8DA4-CB3324407114}"/>
              </a:ext>
            </a:extLst>
          </p:cNvPr>
          <p:cNvCxnSpPr>
            <a:cxnSpLocks/>
            <a:stCxn id="12" idx="7"/>
            <a:endCxn id="13" idx="3"/>
          </p:cNvCxnSpPr>
          <p:nvPr/>
        </p:nvCxnSpPr>
        <p:spPr>
          <a:xfrm flipV="1">
            <a:off x="10611543" y="2042033"/>
            <a:ext cx="460035" cy="446416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C6E40C6-2E68-4F23-8EC8-228B51C6BA2F}"/>
              </a:ext>
            </a:extLst>
          </p:cNvPr>
          <p:cNvCxnSpPr>
            <a:cxnSpLocks/>
            <a:stCxn id="16" idx="7"/>
            <a:endCxn id="12" idx="3"/>
          </p:cNvCxnSpPr>
          <p:nvPr/>
        </p:nvCxnSpPr>
        <p:spPr>
          <a:xfrm flipV="1">
            <a:off x="10033382" y="2606575"/>
            <a:ext cx="460035" cy="495696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6150526-0E76-4A49-A0C9-03946E8A7780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0033382" y="2042033"/>
            <a:ext cx="460035" cy="446416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736EC41C-1D3F-4866-A77D-4E18CDE9B1DD}"/>
              </a:ext>
            </a:extLst>
          </p:cNvPr>
          <p:cNvCxnSpPr>
            <a:cxnSpLocks/>
            <a:stCxn id="4" idx="5"/>
            <a:endCxn id="12" idx="1"/>
          </p:cNvCxnSpPr>
          <p:nvPr/>
        </p:nvCxnSpPr>
        <p:spPr>
          <a:xfrm>
            <a:off x="10033382" y="2040215"/>
            <a:ext cx="460035" cy="448234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B48A04E9-AD73-4864-B0D2-6A42A545EF34}"/>
              </a:ext>
            </a:extLst>
          </p:cNvPr>
          <p:cNvCxnSpPr>
            <a:cxnSpLocks/>
            <a:stCxn id="10" idx="5"/>
            <a:endCxn id="17" idx="1"/>
          </p:cNvCxnSpPr>
          <p:nvPr/>
        </p:nvCxnSpPr>
        <p:spPr>
          <a:xfrm>
            <a:off x="10033382" y="2606575"/>
            <a:ext cx="460035" cy="497514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8A514F9-5A67-4C36-ACE2-FEE9FB6A8290}"/>
              </a:ext>
            </a:extLst>
          </p:cNvPr>
          <p:cNvCxnSpPr>
            <a:cxnSpLocks/>
            <a:stCxn id="11" idx="5"/>
            <a:endCxn id="14" idx="1"/>
          </p:cNvCxnSpPr>
          <p:nvPr/>
        </p:nvCxnSpPr>
        <p:spPr>
          <a:xfrm>
            <a:off x="10611543" y="2042033"/>
            <a:ext cx="460035" cy="446416"/>
          </a:xfrm>
          <a:prstGeom prst="straightConnector1">
            <a:avLst/>
          </a:prstGeom>
          <a:ln>
            <a:solidFill>
              <a:srgbClr val="5B307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星形: 四角 78">
            <a:extLst>
              <a:ext uri="{FF2B5EF4-FFF2-40B4-BE49-F238E27FC236}">
                <a16:creationId xmlns:a16="http://schemas.microsoft.com/office/drawing/2014/main" id="{E95B0276-F7E6-4AAA-AD6D-CC6DA0C76B38}"/>
              </a:ext>
            </a:extLst>
          </p:cNvPr>
          <p:cNvSpPr/>
          <p:nvPr/>
        </p:nvSpPr>
        <p:spPr>
          <a:xfrm>
            <a:off x="9265387" y="1818114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星形: 四角 79">
            <a:extLst>
              <a:ext uri="{FF2B5EF4-FFF2-40B4-BE49-F238E27FC236}">
                <a16:creationId xmlns:a16="http://schemas.microsoft.com/office/drawing/2014/main" id="{C614C9E3-A3D2-4FD2-9A1A-A5C8F1A8DDBB}"/>
              </a:ext>
            </a:extLst>
          </p:cNvPr>
          <p:cNvSpPr/>
          <p:nvPr/>
        </p:nvSpPr>
        <p:spPr>
          <a:xfrm>
            <a:off x="9265387" y="2382656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星形: 四角 80">
            <a:extLst>
              <a:ext uri="{FF2B5EF4-FFF2-40B4-BE49-F238E27FC236}">
                <a16:creationId xmlns:a16="http://schemas.microsoft.com/office/drawing/2014/main" id="{859891C3-7626-43C0-AF8B-7D40B60142E7}"/>
              </a:ext>
            </a:extLst>
          </p:cNvPr>
          <p:cNvSpPr/>
          <p:nvPr/>
        </p:nvSpPr>
        <p:spPr>
          <a:xfrm>
            <a:off x="9265387" y="2991297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星形: 四角 81">
            <a:extLst>
              <a:ext uri="{FF2B5EF4-FFF2-40B4-BE49-F238E27FC236}">
                <a16:creationId xmlns:a16="http://schemas.microsoft.com/office/drawing/2014/main" id="{498679D8-3644-4625-8F8B-B55DF64DE595}"/>
              </a:ext>
            </a:extLst>
          </p:cNvPr>
          <p:cNvSpPr/>
          <p:nvPr/>
        </p:nvSpPr>
        <p:spPr>
          <a:xfrm>
            <a:off x="9809463" y="3478866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星形: 四角 82">
            <a:extLst>
              <a:ext uri="{FF2B5EF4-FFF2-40B4-BE49-F238E27FC236}">
                <a16:creationId xmlns:a16="http://schemas.microsoft.com/office/drawing/2014/main" id="{785D730B-0ADB-4C22-BC5E-7B95256FAE73}"/>
              </a:ext>
            </a:extLst>
          </p:cNvPr>
          <p:cNvSpPr/>
          <p:nvPr/>
        </p:nvSpPr>
        <p:spPr>
          <a:xfrm>
            <a:off x="10387624" y="3478866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星形: 四角 83">
            <a:extLst>
              <a:ext uri="{FF2B5EF4-FFF2-40B4-BE49-F238E27FC236}">
                <a16:creationId xmlns:a16="http://schemas.microsoft.com/office/drawing/2014/main" id="{C7F19A62-942A-42FA-843F-A9464CC7C7F6}"/>
              </a:ext>
            </a:extLst>
          </p:cNvPr>
          <p:cNvSpPr/>
          <p:nvPr/>
        </p:nvSpPr>
        <p:spPr>
          <a:xfrm>
            <a:off x="10965785" y="3487973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星形: 四角 84">
            <a:extLst>
              <a:ext uri="{FF2B5EF4-FFF2-40B4-BE49-F238E27FC236}">
                <a16:creationId xmlns:a16="http://schemas.microsoft.com/office/drawing/2014/main" id="{E9542388-9EB2-4C3B-9141-4761B2C0C3D0}"/>
              </a:ext>
            </a:extLst>
          </p:cNvPr>
          <p:cNvSpPr/>
          <p:nvPr/>
        </p:nvSpPr>
        <p:spPr>
          <a:xfrm>
            <a:off x="11447897" y="2991297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星形: 四角 85">
            <a:extLst>
              <a:ext uri="{FF2B5EF4-FFF2-40B4-BE49-F238E27FC236}">
                <a16:creationId xmlns:a16="http://schemas.microsoft.com/office/drawing/2014/main" id="{4EA4AB3F-11C4-4969-8A91-6ACAC5346B4E}"/>
              </a:ext>
            </a:extLst>
          </p:cNvPr>
          <p:cNvSpPr/>
          <p:nvPr/>
        </p:nvSpPr>
        <p:spPr>
          <a:xfrm>
            <a:off x="11447897" y="2382656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星形: 四角 86">
            <a:extLst>
              <a:ext uri="{FF2B5EF4-FFF2-40B4-BE49-F238E27FC236}">
                <a16:creationId xmlns:a16="http://schemas.microsoft.com/office/drawing/2014/main" id="{8137E7C2-419F-4F54-AE03-D6ACD9D00649}"/>
              </a:ext>
            </a:extLst>
          </p:cNvPr>
          <p:cNvSpPr/>
          <p:nvPr/>
        </p:nvSpPr>
        <p:spPr>
          <a:xfrm>
            <a:off x="11447897" y="1818114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星形: 四角 87">
            <a:extLst>
              <a:ext uri="{FF2B5EF4-FFF2-40B4-BE49-F238E27FC236}">
                <a16:creationId xmlns:a16="http://schemas.microsoft.com/office/drawing/2014/main" id="{44696723-2FC1-45DA-8F5A-65889E45B951}"/>
              </a:ext>
            </a:extLst>
          </p:cNvPr>
          <p:cNvSpPr/>
          <p:nvPr/>
        </p:nvSpPr>
        <p:spPr>
          <a:xfrm>
            <a:off x="9809463" y="1413495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星形: 四角 88">
            <a:extLst>
              <a:ext uri="{FF2B5EF4-FFF2-40B4-BE49-F238E27FC236}">
                <a16:creationId xmlns:a16="http://schemas.microsoft.com/office/drawing/2014/main" id="{633ECF12-5FE8-4AE4-ABB8-8503D3383867}"/>
              </a:ext>
            </a:extLst>
          </p:cNvPr>
          <p:cNvSpPr/>
          <p:nvPr/>
        </p:nvSpPr>
        <p:spPr>
          <a:xfrm>
            <a:off x="10387624" y="1413495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星形: 四角 89">
            <a:extLst>
              <a:ext uri="{FF2B5EF4-FFF2-40B4-BE49-F238E27FC236}">
                <a16:creationId xmlns:a16="http://schemas.microsoft.com/office/drawing/2014/main" id="{AC82577B-8412-4466-BF6B-05F8C69D12E7}"/>
              </a:ext>
            </a:extLst>
          </p:cNvPr>
          <p:cNvSpPr/>
          <p:nvPr/>
        </p:nvSpPr>
        <p:spPr>
          <a:xfrm>
            <a:off x="10965785" y="1421071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星形: 四角 90">
            <a:extLst>
              <a:ext uri="{FF2B5EF4-FFF2-40B4-BE49-F238E27FC236}">
                <a16:creationId xmlns:a16="http://schemas.microsoft.com/office/drawing/2014/main" id="{4CA3FC45-4208-463D-A339-961363AC8BFF}"/>
              </a:ext>
            </a:extLst>
          </p:cNvPr>
          <p:cNvSpPr/>
          <p:nvPr/>
        </p:nvSpPr>
        <p:spPr>
          <a:xfrm>
            <a:off x="7682246" y="1978636"/>
            <a:ext cx="329712" cy="329712"/>
          </a:xfrm>
          <a:prstGeom prst="star4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9EC894B-7F03-4FA7-8031-0378326368C1}"/>
              </a:ext>
            </a:extLst>
          </p:cNvPr>
          <p:cNvSpPr txBox="1"/>
          <p:nvPr/>
        </p:nvSpPr>
        <p:spPr>
          <a:xfrm>
            <a:off x="8073865" y="19462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轻量节点</a:t>
            </a: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9EE63B7B-46FF-4C00-B935-0582EA3CCF08}"/>
              </a:ext>
            </a:extLst>
          </p:cNvPr>
          <p:cNvSpPr/>
          <p:nvPr/>
        </p:nvSpPr>
        <p:spPr>
          <a:xfrm>
            <a:off x="7763575" y="2772201"/>
            <a:ext cx="167054" cy="167054"/>
          </a:xfrm>
          <a:prstGeom prst="ellipse">
            <a:avLst/>
          </a:prstGeom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F812C25-D961-4402-BB73-A967FF73F695}"/>
              </a:ext>
            </a:extLst>
          </p:cNvPr>
          <p:cNvSpPr txBox="1"/>
          <p:nvPr/>
        </p:nvSpPr>
        <p:spPr>
          <a:xfrm>
            <a:off x="8073865" y="26620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全量节点</a:t>
            </a:r>
          </a:p>
        </p:txBody>
      </p:sp>
    </p:spTree>
    <p:extLst>
      <p:ext uri="{BB962C8B-B14F-4D97-AF65-F5344CB8AC3E}">
        <p14:creationId xmlns:p14="http://schemas.microsoft.com/office/powerpoint/2010/main" val="46237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/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/>
      <p:bldP spid="93" grpId="0" animBg="1"/>
      <p:bldP spid="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一致性问题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292862" cy="4845592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账本的更新需要保障</a:t>
            </a:r>
            <a:r>
              <a:rPr lang="zh-CN" altLang="en-US" b="1" dirty="0">
                <a:solidFill>
                  <a:srgbClr val="5B307E"/>
                </a:solidFill>
              </a:rPr>
              <a:t>分布式系统的一致性</a:t>
            </a:r>
          </a:p>
          <a:p>
            <a:pPr lvl="1">
              <a:lnSpc>
                <a:spcPct val="130000"/>
              </a:lnSpc>
            </a:pPr>
            <a:r>
              <a:rPr lang="en-US" altLang="zh-CN" dirty="0" err="1"/>
              <a:t>Rivest</a:t>
            </a:r>
            <a:r>
              <a:rPr lang="zh-CN" altLang="en-US" dirty="0"/>
              <a:t>有</a:t>
            </a:r>
            <a:r>
              <a:rPr lang="en-US" altLang="zh-CN" dirty="0"/>
              <a:t>100</a:t>
            </a:r>
            <a:r>
              <a:rPr lang="zh-CN" altLang="en-US" dirty="0"/>
              <a:t>万，</a:t>
            </a:r>
            <a:r>
              <a:rPr lang="en-US" altLang="zh-CN" dirty="0"/>
              <a:t>Shamir</a:t>
            </a:r>
            <a:r>
              <a:rPr lang="zh-CN" altLang="en-US" dirty="0"/>
              <a:t>有</a:t>
            </a:r>
            <a:r>
              <a:rPr lang="en-US" altLang="zh-CN" dirty="0"/>
              <a:t>50</a:t>
            </a:r>
            <a:r>
              <a:rPr lang="zh-CN" altLang="en-US" dirty="0"/>
              <a:t>万，</a:t>
            </a:r>
            <a:r>
              <a:rPr lang="en-US" altLang="zh-CN" dirty="0" err="1"/>
              <a:t>Adleman</a:t>
            </a:r>
            <a:r>
              <a:rPr lang="zh-CN" altLang="en-US" dirty="0"/>
              <a:t>有</a:t>
            </a:r>
            <a:r>
              <a:rPr lang="en-US" altLang="zh-CN" dirty="0"/>
              <a:t>20</a:t>
            </a:r>
            <a:r>
              <a:rPr lang="zh-CN" altLang="en-US" dirty="0"/>
              <a:t>万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en-US" altLang="zh-CN" dirty="0"/>
              <a:t>TX_RS: Rivest-&gt;Shamir 100w; </a:t>
            </a:r>
          </a:p>
          <a:p>
            <a:pPr lvl="2">
              <a:lnSpc>
                <a:spcPct val="130000"/>
              </a:lnSpc>
            </a:pPr>
            <a:r>
              <a:rPr lang="en-US" altLang="zh-CN" dirty="0"/>
              <a:t>TX_SA: Shamir-&gt;Adleman 100w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A</a:t>
            </a:r>
            <a:r>
              <a:rPr lang="zh-CN" altLang="en-US" dirty="0"/>
              <a:t>先收到</a:t>
            </a:r>
            <a:r>
              <a:rPr lang="en-US" altLang="zh-CN" dirty="0"/>
              <a:t>TX_RS</a:t>
            </a:r>
            <a:r>
              <a:rPr lang="zh-CN" altLang="en-US" dirty="0"/>
              <a:t>后收到</a:t>
            </a:r>
            <a:r>
              <a:rPr lang="en-US" altLang="zh-CN" dirty="0"/>
              <a:t>TX_SA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的账本更新为</a:t>
            </a:r>
            <a:r>
              <a:rPr lang="en-US" altLang="zh-CN" dirty="0"/>
              <a:t>{</a:t>
            </a:r>
            <a:r>
              <a:rPr lang="en-US" altLang="zh-CN" dirty="0" err="1"/>
              <a:t>Rivest</a:t>
            </a:r>
            <a:r>
              <a:rPr lang="en-US" altLang="zh-CN" dirty="0"/>
              <a:t>: 0, Shamir: 50, </a:t>
            </a:r>
            <a:r>
              <a:rPr lang="en-US" altLang="zh-CN" dirty="0" err="1"/>
              <a:t>Adleman</a:t>
            </a:r>
            <a:r>
              <a:rPr lang="en-US" altLang="zh-CN" dirty="0"/>
              <a:t>: 120}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B</a:t>
            </a:r>
            <a:r>
              <a:rPr lang="zh-CN" altLang="en-US" dirty="0"/>
              <a:t>先收到</a:t>
            </a:r>
            <a:r>
              <a:rPr lang="en-US" altLang="zh-CN" dirty="0"/>
              <a:t>TX_SA</a:t>
            </a:r>
            <a:r>
              <a:rPr lang="zh-CN" altLang="en-US" dirty="0"/>
              <a:t>后收到</a:t>
            </a:r>
            <a:r>
              <a:rPr lang="en-US" altLang="zh-CN" dirty="0"/>
              <a:t>TX_RS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的账本更新为</a:t>
            </a:r>
            <a:r>
              <a:rPr lang="en-US" altLang="zh-CN" dirty="0"/>
              <a:t>{</a:t>
            </a:r>
            <a:r>
              <a:rPr lang="en-US" altLang="zh-CN" dirty="0" err="1"/>
              <a:t>Rivest</a:t>
            </a:r>
            <a:r>
              <a:rPr lang="en-US" altLang="zh-CN" dirty="0"/>
              <a:t>: 0, Shamir: 150, </a:t>
            </a:r>
            <a:r>
              <a:rPr lang="en-US" altLang="zh-CN" dirty="0" err="1"/>
              <a:t>Adleman</a:t>
            </a:r>
            <a:r>
              <a:rPr lang="en-US" altLang="zh-CN" dirty="0"/>
              <a:t>: 20}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系统存在两个不一致的账本</a:t>
            </a:r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5BB98B-919E-449E-BAF9-4BD36FFE2B1A}"/>
              </a:ext>
            </a:extLst>
          </p:cNvPr>
          <p:cNvSpPr/>
          <p:nvPr/>
        </p:nvSpPr>
        <p:spPr>
          <a:xfrm>
            <a:off x="8536255" y="5779438"/>
            <a:ext cx="136388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以谁为准？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65DD07-F125-412F-9C2B-A435BDFB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015" y="5636420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0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问题与挑战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4845592"/>
          </a:xfrm>
        </p:spPr>
        <p:txBody>
          <a:bodyPr>
            <a:normAutofit fontScale="92500" lnSpcReduction="20000"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问题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节点之间的网络通信是不可靠的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节点的处理时间无法保障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节点可以是恶意的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同步调用可以简化设计，但会严重降低分布式系统的可扩展性</a:t>
            </a:r>
            <a:endParaRPr lang="en-US" altLang="zh-CN" dirty="0"/>
          </a:p>
          <a:p>
            <a:pPr lvl="0"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</a:rPr>
              <a:t>可能的解决方案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</a:rPr>
              <a:t>通过同步调用的方法来避免冲突</a:t>
            </a:r>
            <a:endParaRPr lang="en-US" altLang="zh-CN" dirty="0">
              <a:solidFill>
                <a:prstClr val="black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</a:rPr>
              <a:t>节点提前约好某段时间交易执行顺序的决定权</a:t>
            </a:r>
            <a:endParaRPr lang="en-US" altLang="zh-CN" dirty="0">
              <a:solidFill>
                <a:prstClr val="black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</a:rPr>
              <a:t>第三方的机构，专门负责处理交易的执行顺序</a:t>
            </a:r>
            <a:endParaRPr lang="en-US" altLang="zh-CN" dirty="0">
              <a:solidFill>
                <a:prstClr val="black"/>
              </a:solidFill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419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解决方案一</a:t>
            </a:r>
            <a:r>
              <a:rPr lang="en-US" altLang="zh-CN" dirty="0"/>
              <a:t>——</a:t>
            </a:r>
            <a:r>
              <a:rPr lang="zh-CN" altLang="en-US" dirty="0"/>
              <a:t>投票机制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691259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方法</a:t>
            </a:r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47762E-CC79-4C2F-B563-083398E96CB4}"/>
              </a:ext>
            </a:extLst>
          </p:cNvPr>
          <p:cNvSpPr/>
          <p:nvPr/>
        </p:nvSpPr>
        <p:spPr>
          <a:xfrm>
            <a:off x="10131560" y="2959821"/>
            <a:ext cx="136388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怎么验证？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9D49A8-5160-443F-ADEB-CF423D308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320" y="2816803"/>
            <a:ext cx="601662" cy="60166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5C0793B-A1D4-4B4B-9E25-569151CEE708}"/>
              </a:ext>
            </a:extLst>
          </p:cNvPr>
          <p:cNvCxnSpPr>
            <a:cxnSpLocks/>
          </p:cNvCxnSpPr>
          <p:nvPr/>
        </p:nvCxnSpPr>
        <p:spPr>
          <a:xfrm>
            <a:off x="7768060" y="3145026"/>
            <a:ext cx="1684615" cy="0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C8E29BC-58FE-4040-AECA-F0CB5D40A747}"/>
              </a:ext>
            </a:extLst>
          </p:cNvPr>
          <p:cNvSpPr txBox="1"/>
          <p:nvPr/>
        </p:nvSpPr>
        <p:spPr>
          <a:xfrm>
            <a:off x="983854" y="3982931"/>
            <a:ext cx="7156846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30000"/>
              </a:lnSpc>
              <a:buFont typeface="+mj-ea"/>
              <a:buAutoNum type="circleNumDbPlain" startAt="4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某个全量节点打包一个区块，发给其他所有全量节点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3033DC-1BAC-4070-8956-9E2BB0E1836B}"/>
              </a:ext>
            </a:extLst>
          </p:cNvPr>
          <p:cNvSpPr txBox="1"/>
          <p:nvPr/>
        </p:nvSpPr>
        <p:spPr>
          <a:xfrm>
            <a:off x="983854" y="2855796"/>
            <a:ext cx="7626514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lvl="1" indent="-355600">
              <a:lnSpc>
                <a:spcPct val="130000"/>
              </a:lnSpc>
              <a:buFont typeface="+mj-ea"/>
              <a:buAutoNum type="circleNumDbPlain" startAt="2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所有全量节点对区块进行验证，包括</a:t>
            </a:r>
            <a:r>
              <a:rPr lang="zh-CN" altLang="en-US" sz="2200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交易合法性</a:t>
            </a:r>
            <a:endParaRPr lang="en-US" altLang="zh-CN" sz="2200" b="1" dirty="0">
              <a:solidFill>
                <a:srgbClr val="5B307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480CDA-9B40-4A23-9F22-32C6A9E492DF}"/>
              </a:ext>
            </a:extLst>
          </p:cNvPr>
          <p:cNvSpPr txBox="1"/>
          <p:nvPr/>
        </p:nvSpPr>
        <p:spPr>
          <a:xfrm>
            <a:off x="983854" y="3418465"/>
            <a:ext cx="7626514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lvl="1" indent="-355600">
              <a:lnSpc>
                <a:spcPct val="130000"/>
              </a:lnSpc>
              <a:buFont typeface="+mj-ea"/>
              <a:buAutoNum type="circleNumDbPlain" startAt="3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有全量节点投票，票数超过节点数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，接收区块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88D65E-89E4-447F-99FC-EFE8CE325285}"/>
              </a:ext>
            </a:extLst>
          </p:cNvPr>
          <p:cNvSpPr txBox="1"/>
          <p:nvPr/>
        </p:nvSpPr>
        <p:spPr>
          <a:xfrm>
            <a:off x="983854" y="2291330"/>
            <a:ext cx="7626514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所有全量节点把该区块作为最新区块存储在本地。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DED770-582F-41A8-8BEC-33D06AF5DD58}"/>
              </a:ext>
            </a:extLst>
          </p:cNvPr>
          <p:cNvSpPr/>
          <p:nvPr/>
        </p:nvSpPr>
        <p:spPr>
          <a:xfrm>
            <a:off x="983854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3F4AAF-2424-482D-B4B6-0F43E27490F9}"/>
              </a:ext>
            </a:extLst>
          </p:cNvPr>
          <p:cNvSpPr/>
          <p:nvPr/>
        </p:nvSpPr>
        <p:spPr>
          <a:xfrm>
            <a:off x="1759016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1F2A3A-3D6A-4AE5-B65C-FB3BA136DFA1}"/>
              </a:ext>
            </a:extLst>
          </p:cNvPr>
          <p:cNvSpPr/>
          <p:nvPr/>
        </p:nvSpPr>
        <p:spPr>
          <a:xfrm>
            <a:off x="2534178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B954CB-8C82-42BC-BC82-6CB2BD998B32}"/>
              </a:ext>
            </a:extLst>
          </p:cNvPr>
          <p:cNvSpPr/>
          <p:nvPr/>
        </p:nvSpPr>
        <p:spPr>
          <a:xfrm>
            <a:off x="3309340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3" name="直线箭头连接符 11">
            <a:extLst>
              <a:ext uri="{FF2B5EF4-FFF2-40B4-BE49-F238E27FC236}">
                <a16:creationId xmlns:a16="http://schemas.microsoft.com/office/drawing/2014/main" id="{BA0E1F43-D4BA-4191-8ADA-1030337F5ED6}"/>
              </a:ext>
            </a:extLst>
          </p:cNvPr>
          <p:cNvCxnSpPr>
            <a:cxnSpLocks/>
          </p:cNvCxnSpPr>
          <p:nvPr/>
        </p:nvCxnSpPr>
        <p:spPr>
          <a:xfrm flipH="1">
            <a:off x="1416116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12">
            <a:extLst>
              <a:ext uri="{FF2B5EF4-FFF2-40B4-BE49-F238E27FC236}">
                <a16:creationId xmlns:a16="http://schemas.microsoft.com/office/drawing/2014/main" id="{6748713B-B475-49C5-895F-E7FD65C711C7}"/>
              </a:ext>
            </a:extLst>
          </p:cNvPr>
          <p:cNvCxnSpPr>
            <a:cxnSpLocks/>
          </p:cNvCxnSpPr>
          <p:nvPr/>
        </p:nvCxnSpPr>
        <p:spPr>
          <a:xfrm flipH="1">
            <a:off x="2191278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13">
            <a:extLst>
              <a:ext uri="{FF2B5EF4-FFF2-40B4-BE49-F238E27FC236}">
                <a16:creationId xmlns:a16="http://schemas.microsoft.com/office/drawing/2014/main" id="{A5ADC738-646B-4388-A921-4C51E40ED758}"/>
              </a:ext>
            </a:extLst>
          </p:cNvPr>
          <p:cNvCxnSpPr>
            <a:cxnSpLocks/>
          </p:cNvCxnSpPr>
          <p:nvPr/>
        </p:nvCxnSpPr>
        <p:spPr>
          <a:xfrm flipH="1">
            <a:off x="2966440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14">
            <a:extLst>
              <a:ext uri="{FF2B5EF4-FFF2-40B4-BE49-F238E27FC236}">
                <a16:creationId xmlns:a16="http://schemas.microsoft.com/office/drawing/2014/main" id="{8DE8A7B0-6852-4EA1-B74E-E7CB25B09E24}"/>
              </a:ext>
            </a:extLst>
          </p:cNvPr>
          <p:cNvCxnSpPr>
            <a:cxnSpLocks/>
          </p:cNvCxnSpPr>
          <p:nvPr/>
        </p:nvCxnSpPr>
        <p:spPr>
          <a:xfrm flipH="1">
            <a:off x="3741602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EC4F2AF-F1BA-4638-994E-84DC6116FA55}"/>
              </a:ext>
            </a:extLst>
          </p:cNvPr>
          <p:cNvSpPr/>
          <p:nvPr/>
        </p:nvSpPr>
        <p:spPr>
          <a:xfrm>
            <a:off x="4084502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1071F1B-5AAD-43F3-B427-273E7C38C420}"/>
              </a:ext>
            </a:extLst>
          </p:cNvPr>
          <p:cNvSpPr/>
          <p:nvPr/>
        </p:nvSpPr>
        <p:spPr>
          <a:xfrm>
            <a:off x="5147508" y="4670671"/>
            <a:ext cx="432262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88530F-4385-4B0A-BF86-C17ED9F2A155}"/>
              </a:ext>
            </a:extLst>
          </p:cNvPr>
          <p:cNvSpPr txBox="1"/>
          <p:nvPr/>
        </p:nvSpPr>
        <p:spPr>
          <a:xfrm>
            <a:off x="462059" y="470228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9CF907-1E4E-4781-9B26-FFF30D7F90B8}"/>
              </a:ext>
            </a:extLst>
          </p:cNvPr>
          <p:cNvSpPr txBox="1"/>
          <p:nvPr/>
        </p:nvSpPr>
        <p:spPr>
          <a:xfrm>
            <a:off x="462059" y="597643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8373BC-CF6D-461F-B3AC-4390151DCECE}"/>
              </a:ext>
            </a:extLst>
          </p:cNvPr>
          <p:cNvSpPr txBox="1"/>
          <p:nvPr/>
        </p:nvSpPr>
        <p:spPr>
          <a:xfrm>
            <a:off x="7525197" y="469194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F6544E-989B-405A-AF1E-05FC481CFE26}"/>
              </a:ext>
            </a:extLst>
          </p:cNvPr>
          <p:cNvSpPr txBox="1"/>
          <p:nvPr/>
        </p:nvSpPr>
        <p:spPr>
          <a:xfrm>
            <a:off x="7518785" y="59244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D37A9A-FFDC-4419-8E7B-62AD1298E4FB}"/>
              </a:ext>
            </a:extLst>
          </p:cNvPr>
          <p:cNvSpPr/>
          <p:nvPr/>
        </p:nvSpPr>
        <p:spPr>
          <a:xfrm>
            <a:off x="983854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F48AC2-B2A4-4CED-A6DC-3C75DEE7B240}"/>
              </a:ext>
            </a:extLst>
          </p:cNvPr>
          <p:cNvSpPr/>
          <p:nvPr/>
        </p:nvSpPr>
        <p:spPr>
          <a:xfrm>
            <a:off x="1759016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E2D0D4-DE3F-4A93-8D9B-207EF34A8814}"/>
              </a:ext>
            </a:extLst>
          </p:cNvPr>
          <p:cNvSpPr/>
          <p:nvPr/>
        </p:nvSpPr>
        <p:spPr>
          <a:xfrm>
            <a:off x="2534178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561E89-3DEB-4B74-AB2C-C63CA1D2351A}"/>
              </a:ext>
            </a:extLst>
          </p:cNvPr>
          <p:cNvSpPr/>
          <p:nvPr/>
        </p:nvSpPr>
        <p:spPr>
          <a:xfrm>
            <a:off x="3309340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7" name="直线箭头连接符 11">
            <a:extLst>
              <a:ext uri="{FF2B5EF4-FFF2-40B4-BE49-F238E27FC236}">
                <a16:creationId xmlns:a16="http://schemas.microsoft.com/office/drawing/2014/main" id="{FBADAC8F-BB30-4992-A173-018775764D6F}"/>
              </a:ext>
            </a:extLst>
          </p:cNvPr>
          <p:cNvCxnSpPr>
            <a:cxnSpLocks/>
          </p:cNvCxnSpPr>
          <p:nvPr/>
        </p:nvCxnSpPr>
        <p:spPr>
          <a:xfrm flipH="1">
            <a:off x="1416116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12">
            <a:extLst>
              <a:ext uri="{FF2B5EF4-FFF2-40B4-BE49-F238E27FC236}">
                <a16:creationId xmlns:a16="http://schemas.microsoft.com/office/drawing/2014/main" id="{FCD79E46-E9B2-4027-8F29-074C119A84FE}"/>
              </a:ext>
            </a:extLst>
          </p:cNvPr>
          <p:cNvCxnSpPr>
            <a:cxnSpLocks/>
          </p:cNvCxnSpPr>
          <p:nvPr/>
        </p:nvCxnSpPr>
        <p:spPr>
          <a:xfrm flipH="1">
            <a:off x="2191278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13">
            <a:extLst>
              <a:ext uri="{FF2B5EF4-FFF2-40B4-BE49-F238E27FC236}">
                <a16:creationId xmlns:a16="http://schemas.microsoft.com/office/drawing/2014/main" id="{F3F5D832-CEEF-44E0-9C99-BDA01C5458AD}"/>
              </a:ext>
            </a:extLst>
          </p:cNvPr>
          <p:cNvCxnSpPr>
            <a:cxnSpLocks/>
          </p:cNvCxnSpPr>
          <p:nvPr/>
        </p:nvCxnSpPr>
        <p:spPr>
          <a:xfrm flipH="1">
            <a:off x="2966440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14">
            <a:extLst>
              <a:ext uri="{FF2B5EF4-FFF2-40B4-BE49-F238E27FC236}">
                <a16:creationId xmlns:a16="http://schemas.microsoft.com/office/drawing/2014/main" id="{4C049E1E-27FA-47C8-8FD3-F3A6E53077ED}"/>
              </a:ext>
            </a:extLst>
          </p:cNvPr>
          <p:cNvCxnSpPr>
            <a:cxnSpLocks/>
          </p:cNvCxnSpPr>
          <p:nvPr/>
        </p:nvCxnSpPr>
        <p:spPr>
          <a:xfrm flipH="1">
            <a:off x="3741602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4131C5C-E2BF-4618-8CD9-8E35D5053A9B}"/>
              </a:ext>
            </a:extLst>
          </p:cNvPr>
          <p:cNvSpPr/>
          <p:nvPr/>
        </p:nvSpPr>
        <p:spPr>
          <a:xfrm>
            <a:off x="4084502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A61A92-9C46-4127-9D49-B47E74E8E45A}"/>
              </a:ext>
            </a:extLst>
          </p:cNvPr>
          <p:cNvSpPr/>
          <p:nvPr/>
        </p:nvSpPr>
        <p:spPr>
          <a:xfrm>
            <a:off x="7962533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AF91E7-4E40-45E9-9632-F76307FF40C5}"/>
              </a:ext>
            </a:extLst>
          </p:cNvPr>
          <p:cNvSpPr/>
          <p:nvPr/>
        </p:nvSpPr>
        <p:spPr>
          <a:xfrm>
            <a:off x="8737695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13FB14B-0C75-4EA7-AAC1-50AA2BAB8A51}"/>
              </a:ext>
            </a:extLst>
          </p:cNvPr>
          <p:cNvSpPr/>
          <p:nvPr/>
        </p:nvSpPr>
        <p:spPr>
          <a:xfrm>
            <a:off x="9512857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187C2B-1987-4FA9-BD8A-618C10B56B66}"/>
              </a:ext>
            </a:extLst>
          </p:cNvPr>
          <p:cNvSpPr/>
          <p:nvPr/>
        </p:nvSpPr>
        <p:spPr>
          <a:xfrm>
            <a:off x="10288019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6" name="直线箭头连接符 11">
            <a:extLst>
              <a:ext uri="{FF2B5EF4-FFF2-40B4-BE49-F238E27FC236}">
                <a16:creationId xmlns:a16="http://schemas.microsoft.com/office/drawing/2014/main" id="{5C0AB6C6-9C0E-4909-94A7-E2019DA25409}"/>
              </a:ext>
            </a:extLst>
          </p:cNvPr>
          <p:cNvCxnSpPr>
            <a:cxnSpLocks/>
          </p:cNvCxnSpPr>
          <p:nvPr/>
        </p:nvCxnSpPr>
        <p:spPr>
          <a:xfrm flipH="1">
            <a:off x="8394795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12">
            <a:extLst>
              <a:ext uri="{FF2B5EF4-FFF2-40B4-BE49-F238E27FC236}">
                <a16:creationId xmlns:a16="http://schemas.microsoft.com/office/drawing/2014/main" id="{FCDDE752-507A-48C4-ABB3-D9862384B738}"/>
              </a:ext>
            </a:extLst>
          </p:cNvPr>
          <p:cNvCxnSpPr>
            <a:cxnSpLocks/>
          </p:cNvCxnSpPr>
          <p:nvPr/>
        </p:nvCxnSpPr>
        <p:spPr>
          <a:xfrm flipH="1">
            <a:off x="9169957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13">
            <a:extLst>
              <a:ext uri="{FF2B5EF4-FFF2-40B4-BE49-F238E27FC236}">
                <a16:creationId xmlns:a16="http://schemas.microsoft.com/office/drawing/2014/main" id="{9DA897AC-C26F-4FE7-B763-F70002365181}"/>
              </a:ext>
            </a:extLst>
          </p:cNvPr>
          <p:cNvCxnSpPr>
            <a:cxnSpLocks/>
          </p:cNvCxnSpPr>
          <p:nvPr/>
        </p:nvCxnSpPr>
        <p:spPr>
          <a:xfrm flipH="1">
            <a:off x="9945119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14">
            <a:extLst>
              <a:ext uri="{FF2B5EF4-FFF2-40B4-BE49-F238E27FC236}">
                <a16:creationId xmlns:a16="http://schemas.microsoft.com/office/drawing/2014/main" id="{4FE4D703-4467-4C0F-AD35-6C5AAB8B507B}"/>
              </a:ext>
            </a:extLst>
          </p:cNvPr>
          <p:cNvCxnSpPr>
            <a:cxnSpLocks/>
          </p:cNvCxnSpPr>
          <p:nvPr/>
        </p:nvCxnSpPr>
        <p:spPr>
          <a:xfrm flipH="1">
            <a:off x="10720281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0F79B8A7-3179-4B20-BB01-D4D372BAF1A6}"/>
              </a:ext>
            </a:extLst>
          </p:cNvPr>
          <p:cNvSpPr/>
          <p:nvPr/>
        </p:nvSpPr>
        <p:spPr>
          <a:xfrm>
            <a:off x="11063181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EE183ED-F37E-46E0-A475-4D5A885CB53A}"/>
              </a:ext>
            </a:extLst>
          </p:cNvPr>
          <p:cNvSpPr/>
          <p:nvPr/>
        </p:nvSpPr>
        <p:spPr>
          <a:xfrm>
            <a:off x="7961070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77DF761-6FAE-4A3C-B557-16268E54275B}"/>
              </a:ext>
            </a:extLst>
          </p:cNvPr>
          <p:cNvSpPr/>
          <p:nvPr/>
        </p:nvSpPr>
        <p:spPr>
          <a:xfrm>
            <a:off x="8736232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871C18B-8F91-498B-B413-250883F51A57}"/>
              </a:ext>
            </a:extLst>
          </p:cNvPr>
          <p:cNvSpPr/>
          <p:nvPr/>
        </p:nvSpPr>
        <p:spPr>
          <a:xfrm>
            <a:off x="9511394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068F4BE-ADEE-42C9-AD48-F73F90B93176}"/>
              </a:ext>
            </a:extLst>
          </p:cNvPr>
          <p:cNvSpPr/>
          <p:nvPr/>
        </p:nvSpPr>
        <p:spPr>
          <a:xfrm>
            <a:off x="10286556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5" name="直线箭头连接符 11">
            <a:extLst>
              <a:ext uri="{FF2B5EF4-FFF2-40B4-BE49-F238E27FC236}">
                <a16:creationId xmlns:a16="http://schemas.microsoft.com/office/drawing/2014/main" id="{C808C1D0-9EF8-4974-A276-CCE007B32C08}"/>
              </a:ext>
            </a:extLst>
          </p:cNvPr>
          <p:cNvCxnSpPr>
            <a:cxnSpLocks/>
          </p:cNvCxnSpPr>
          <p:nvPr/>
        </p:nvCxnSpPr>
        <p:spPr>
          <a:xfrm flipH="1">
            <a:off x="8393332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12">
            <a:extLst>
              <a:ext uri="{FF2B5EF4-FFF2-40B4-BE49-F238E27FC236}">
                <a16:creationId xmlns:a16="http://schemas.microsoft.com/office/drawing/2014/main" id="{D9E347B4-8219-43C4-BDFE-FB14F528AA78}"/>
              </a:ext>
            </a:extLst>
          </p:cNvPr>
          <p:cNvCxnSpPr>
            <a:cxnSpLocks/>
          </p:cNvCxnSpPr>
          <p:nvPr/>
        </p:nvCxnSpPr>
        <p:spPr>
          <a:xfrm flipH="1">
            <a:off x="9168494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13">
            <a:extLst>
              <a:ext uri="{FF2B5EF4-FFF2-40B4-BE49-F238E27FC236}">
                <a16:creationId xmlns:a16="http://schemas.microsoft.com/office/drawing/2014/main" id="{221E3A10-F8AD-4BDB-BDA5-A020D5368366}"/>
              </a:ext>
            </a:extLst>
          </p:cNvPr>
          <p:cNvCxnSpPr>
            <a:cxnSpLocks/>
          </p:cNvCxnSpPr>
          <p:nvPr/>
        </p:nvCxnSpPr>
        <p:spPr>
          <a:xfrm flipH="1">
            <a:off x="9943656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14">
            <a:extLst>
              <a:ext uri="{FF2B5EF4-FFF2-40B4-BE49-F238E27FC236}">
                <a16:creationId xmlns:a16="http://schemas.microsoft.com/office/drawing/2014/main" id="{29F003ED-4392-4F7B-BDA8-FC0BB488C0EC}"/>
              </a:ext>
            </a:extLst>
          </p:cNvPr>
          <p:cNvCxnSpPr>
            <a:cxnSpLocks/>
          </p:cNvCxnSpPr>
          <p:nvPr/>
        </p:nvCxnSpPr>
        <p:spPr>
          <a:xfrm flipH="1">
            <a:off x="10718818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8591485D-41AA-4A7E-98B7-06217343D126}"/>
              </a:ext>
            </a:extLst>
          </p:cNvPr>
          <p:cNvSpPr/>
          <p:nvPr/>
        </p:nvSpPr>
        <p:spPr>
          <a:xfrm>
            <a:off x="11061718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1" name="直线箭头连接符 14">
            <a:extLst>
              <a:ext uri="{FF2B5EF4-FFF2-40B4-BE49-F238E27FC236}">
                <a16:creationId xmlns:a16="http://schemas.microsoft.com/office/drawing/2014/main" id="{A189A9B9-A2ED-4265-A043-4C8ACE6BA23D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4516764" y="4882646"/>
            <a:ext cx="630744" cy="4300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8270488-A64F-4B3F-8909-96388542F916}"/>
              </a:ext>
            </a:extLst>
          </p:cNvPr>
          <p:cNvCxnSpPr>
            <a:stCxn id="30" idx="0"/>
            <a:endCxn id="28" idx="2"/>
          </p:cNvCxnSpPr>
          <p:nvPr/>
        </p:nvCxnSpPr>
        <p:spPr>
          <a:xfrm rot="5400000" flipH="1" flipV="1">
            <a:off x="2556581" y="3169376"/>
            <a:ext cx="881813" cy="4732303"/>
          </a:xfrm>
          <a:prstGeom prst="bentConnector3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4BA42CA4-16FB-46ED-AE9B-12DFF76C8F04}"/>
              </a:ext>
            </a:extLst>
          </p:cNvPr>
          <p:cNvCxnSpPr>
            <a:stCxn id="32" idx="0"/>
            <a:endCxn id="28" idx="2"/>
          </p:cNvCxnSpPr>
          <p:nvPr/>
        </p:nvCxnSpPr>
        <p:spPr>
          <a:xfrm rot="16200000" flipV="1">
            <a:off x="6114137" y="4344122"/>
            <a:ext cx="829840" cy="2330835"/>
          </a:xfrm>
          <a:prstGeom prst="bentConnector3">
            <a:avLst>
              <a:gd name="adj1" fmla="val 46939"/>
            </a:avLst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75F7C27-2D7E-477D-BBAF-A6BAA4E15DD7}"/>
              </a:ext>
            </a:extLst>
          </p:cNvPr>
          <p:cNvCxnSpPr>
            <a:stCxn id="31" idx="1"/>
            <a:endCxn id="28" idx="3"/>
          </p:cNvCxnSpPr>
          <p:nvPr/>
        </p:nvCxnSpPr>
        <p:spPr>
          <a:xfrm flipH="1">
            <a:off x="5579770" y="4876607"/>
            <a:ext cx="1945427" cy="6039"/>
          </a:xfrm>
          <a:prstGeom prst="straightConnector1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5D1CE8-C103-47F1-B9F6-388F5EE0487D}"/>
              </a:ext>
            </a:extLst>
          </p:cNvPr>
          <p:cNvSpPr txBox="1"/>
          <p:nvPr/>
        </p:nvSpPr>
        <p:spPr>
          <a:xfrm>
            <a:off x="6349291" y="50001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投票</a:t>
            </a:r>
          </a:p>
        </p:txBody>
      </p:sp>
    </p:spTree>
    <p:extLst>
      <p:ext uri="{BB962C8B-B14F-4D97-AF65-F5344CB8AC3E}">
        <p14:creationId xmlns:p14="http://schemas.microsoft.com/office/powerpoint/2010/main" val="126756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11" grpId="0"/>
      <p:bldP spid="13" grpId="0"/>
      <p:bldP spid="15" grpId="0"/>
      <p:bldP spid="17" grpId="0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9" grpId="0" animBg="1"/>
      <p:bldP spid="7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解决方案一</a:t>
            </a:r>
            <a:r>
              <a:rPr lang="en-US" altLang="zh-CN" dirty="0"/>
              <a:t>——</a:t>
            </a:r>
            <a:r>
              <a:rPr lang="zh-CN" altLang="en-US" dirty="0"/>
              <a:t>投票机制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691259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问题</a:t>
            </a:r>
            <a:r>
              <a:rPr lang="en-US" altLang="zh-CN" dirty="0"/>
              <a:t>——</a:t>
            </a:r>
            <a:r>
              <a:rPr lang="zh-CN" altLang="en-US" b="1" dirty="0">
                <a:solidFill>
                  <a:srgbClr val="5B307E"/>
                </a:solidFill>
              </a:rPr>
              <a:t>谁有权投票？</a:t>
            </a:r>
            <a:endParaRPr lang="en-US" altLang="zh-CN" b="1" dirty="0">
              <a:solidFill>
                <a:srgbClr val="5B307E"/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DED770-582F-41A8-8BEC-33D06AF5DD58}"/>
              </a:ext>
            </a:extLst>
          </p:cNvPr>
          <p:cNvSpPr/>
          <p:nvPr/>
        </p:nvSpPr>
        <p:spPr>
          <a:xfrm>
            <a:off x="983854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3F4AAF-2424-482D-B4B6-0F43E27490F9}"/>
              </a:ext>
            </a:extLst>
          </p:cNvPr>
          <p:cNvSpPr/>
          <p:nvPr/>
        </p:nvSpPr>
        <p:spPr>
          <a:xfrm>
            <a:off x="1759016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1F2A3A-3D6A-4AE5-B65C-FB3BA136DFA1}"/>
              </a:ext>
            </a:extLst>
          </p:cNvPr>
          <p:cNvSpPr/>
          <p:nvPr/>
        </p:nvSpPr>
        <p:spPr>
          <a:xfrm>
            <a:off x="2534178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B954CB-8C82-42BC-BC82-6CB2BD998B32}"/>
              </a:ext>
            </a:extLst>
          </p:cNvPr>
          <p:cNvSpPr/>
          <p:nvPr/>
        </p:nvSpPr>
        <p:spPr>
          <a:xfrm>
            <a:off x="3309340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3" name="直线箭头连接符 11">
            <a:extLst>
              <a:ext uri="{FF2B5EF4-FFF2-40B4-BE49-F238E27FC236}">
                <a16:creationId xmlns:a16="http://schemas.microsoft.com/office/drawing/2014/main" id="{BA0E1F43-D4BA-4191-8ADA-1030337F5ED6}"/>
              </a:ext>
            </a:extLst>
          </p:cNvPr>
          <p:cNvCxnSpPr>
            <a:cxnSpLocks/>
          </p:cNvCxnSpPr>
          <p:nvPr/>
        </p:nvCxnSpPr>
        <p:spPr>
          <a:xfrm flipH="1">
            <a:off x="1416116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12">
            <a:extLst>
              <a:ext uri="{FF2B5EF4-FFF2-40B4-BE49-F238E27FC236}">
                <a16:creationId xmlns:a16="http://schemas.microsoft.com/office/drawing/2014/main" id="{6748713B-B475-49C5-895F-E7FD65C711C7}"/>
              </a:ext>
            </a:extLst>
          </p:cNvPr>
          <p:cNvCxnSpPr>
            <a:cxnSpLocks/>
          </p:cNvCxnSpPr>
          <p:nvPr/>
        </p:nvCxnSpPr>
        <p:spPr>
          <a:xfrm flipH="1">
            <a:off x="2191278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13">
            <a:extLst>
              <a:ext uri="{FF2B5EF4-FFF2-40B4-BE49-F238E27FC236}">
                <a16:creationId xmlns:a16="http://schemas.microsoft.com/office/drawing/2014/main" id="{A5ADC738-646B-4388-A921-4C51E40ED758}"/>
              </a:ext>
            </a:extLst>
          </p:cNvPr>
          <p:cNvCxnSpPr>
            <a:cxnSpLocks/>
          </p:cNvCxnSpPr>
          <p:nvPr/>
        </p:nvCxnSpPr>
        <p:spPr>
          <a:xfrm flipH="1">
            <a:off x="2966440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14">
            <a:extLst>
              <a:ext uri="{FF2B5EF4-FFF2-40B4-BE49-F238E27FC236}">
                <a16:creationId xmlns:a16="http://schemas.microsoft.com/office/drawing/2014/main" id="{8DE8A7B0-6852-4EA1-B74E-E7CB25B09E24}"/>
              </a:ext>
            </a:extLst>
          </p:cNvPr>
          <p:cNvCxnSpPr>
            <a:cxnSpLocks/>
          </p:cNvCxnSpPr>
          <p:nvPr/>
        </p:nvCxnSpPr>
        <p:spPr>
          <a:xfrm flipH="1">
            <a:off x="3741602" y="488264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EC4F2AF-F1BA-4638-994E-84DC6116FA55}"/>
              </a:ext>
            </a:extLst>
          </p:cNvPr>
          <p:cNvSpPr/>
          <p:nvPr/>
        </p:nvSpPr>
        <p:spPr>
          <a:xfrm>
            <a:off x="4084502" y="4670671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1071F1B-5AAD-43F3-B427-273E7C38C420}"/>
              </a:ext>
            </a:extLst>
          </p:cNvPr>
          <p:cNvSpPr/>
          <p:nvPr/>
        </p:nvSpPr>
        <p:spPr>
          <a:xfrm>
            <a:off x="5147508" y="4670671"/>
            <a:ext cx="432262" cy="423949"/>
          </a:xfrm>
          <a:prstGeom prst="rect">
            <a:avLst/>
          </a:prstGeom>
          <a:solidFill>
            <a:srgbClr val="F9BC1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88530F-4385-4B0A-BF86-C17ED9F2A155}"/>
              </a:ext>
            </a:extLst>
          </p:cNvPr>
          <p:cNvSpPr txBox="1"/>
          <p:nvPr/>
        </p:nvSpPr>
        <p:spPr>
          <a:xfrm>
            <a:off x="462059" y="470228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9CF907-1E4E-4781-9B26-FFF30D7F90B8}"/>
              </a:ext>
            </a:extLst>
          </p:cNvPr>
          <p:cNvSpPr txBox="1"/>
          <p:nvPr/>
        </p:nvSpPr>
        <p:spPr>
          <a:xfrm>
            <a:off x="462059" y="597643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8373BC-CF6D-461F-B3AC-4390151DCECE}"/>
              </a:ext>
            </a:extLst>
          </p:cNvPr>
          <p:cNvSpPr txBox="1"/>
          <p:nvPr/>
        </p:nvSpPr>
        <p:spPr>
          <a:xfrm>
            <a:off x="7525197" y="469194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F6544E-989B-405A-AF1E-05FC481CFE26}"/>
              </a:ext>
            </a:extLst>
          </p:cNvPr>
          <p:cNvSpPr txBox="1"/>
          <p:nvPr/>
        </p:nvSpPr>
        <p:spPr>
          <a:xfrm>
            <a:off x="7518785" y="59244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D37A9A-FFDC-4419-8E7B-62AD1298E4FB}"/>
              </a:ext>
            </a:extLst>
          </p:cNvPr>
          <p:cNvSpPr/>
          <p:nvPr/>
        </p:nvSpPr>
        <p:spPr>
          <a:xfrm>
            <a:off x="983854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F48AC2-B2A4-4CED-A6DC-3C75DEE7B240}"/>
              </a:ext>
            </a:extLst>
          </p:cNvPr>
          <p:cNvSpPr/>
          <p:nvPr/>
        </p:nvSpPr>
        <p:spPr>
          <a:xfrm>
            <a:off x="1759016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E2D0D4-DE3F-4A93-8D9B-207EF34A8814}"/>
              </a:ext>
            </a:extLst>
          </p:cNvPr>
          <p:cNvSpPr/>
          <p:nvPr/>
        </p:nvSpPr>
        <p:spPr>
          <a:xfrm>
            <a:off x="2534178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561E89-3DEB-4B74-AB2C-C63CA1D2351A}"/>
              </a:ext>
            </a:extLst>
          </p:cNvPr>
          <p:cNvSpPr/>
          <p:nvPr/>
        </p:nvSpPr>
        <p:spPr>
          <a:xfrm>
            <a:off x="3309340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7" name="直线箭头连接符 11">
            <a:extLst>
              <a:ext uri="{FF2B5EF4-FFF2-40B4-BE49-F238E27FC236}">
                <a16:creationId xmlns:a16="http://schemas.microsoft.com/office/drawing/2014/main" id="{FBADAC8F-BB30-4992-A173-018775764D6F}"/>
              </a:ext>
            </a:extLst>
          </p:cNvPr>
          <p:cNvCxnSpPr>
            <a:cxnSpLocks/>
          </p:cNvCxnSpPr>
          <p:nvPr/>
        </p:nvCxnSpPr>
        <p:spPr>
          <a:xfrm flipH="1">
            <a:off x="1416116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12">
            <a:extLst>
              <a:ext uri="{FF2B5EF4-FFF2-40B4-BE49-F238E27FC236}">
                <a16:creationId xmlns:a16="http://schemas.microsoft.com/office/drawing/2014/main" id="{FCD79E46-E9B2-4027-8F29-074C119A84FE}"/>
              </a:ext>
            </a:extLst>
          </p:cNvPr>
          <p:cNvCxnSpPr>
            <a:cxnSpLocks/>
          </p:cNvCxnSpPr>
          <p:nvPr/>
        </p:nvCxnSpPr>
        <p:spPr>
          <a:xfrm flipH="1">
            <a:off x="2191278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13">
            <a:extLst>
              <a:ext uri="{FF2B5EF4-FFF2-40B4-BE49-F238E27FC236}">
                <a16:creationId xmlns:a16="http://schemas.microsoft.com/office/drawing/2014/main" id="{F3F5D832-CEEF-44E0-9C99-BDA01C5458AD}"/>
              </a:ext>
            </a:extLst>
          </p:cNvPr>
          <p:cNvCxnSpPr>
            <a:cxnSpLocks/>
          </p:cNvCxnSpPr>
          <p:nvPr/>
        </p:nvCxnSpPr>
        <p:spPr>
          <a:xfrm flipH="1">
            <a:off x="2966440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14">
            <a:extLst>
              <a:ext uri="{FF2B5EF4-FFF2-40B4-BE49-F238E27FC236}">
                <a16:creationId xmlns:a16="http://schemas.microsoft.com/office/drawing/2014/main" id="{4C049E1E-27FA-47C8-8FD3-F3A6E53077ED}"/>
              </a:ext>
            </a:extLst>
          </p:cNvPr>
          <p:cNvCxnSpPr>
            <a:cxnSpLocks/>
          </p:cNvCxnSpPr>
          <p:nvPr/>
        </p:nvCxnSpPr>
        <p:spPr>
          <a:xfrm flipH="1">
            <a:off x="3741602" y="6161099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4131C5C-E2BF-4618-8CD9-8E35D5053A9B}"/>
              </a:ext>
            </a:extLst>
          </p:cNvPr>
          <p:cNvSpPr/>
          <p:nvPr/>
        </p:nvSpPr>
        <p:spPr>
          <a:xfrm>
            <a:off x="4084502" y="5949125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A61A92-9C46-4127-9D49-B47E74E8E45A}"/>
              </a:ext>
            </a:extLst>
          </p:cNvPr>
          <p:cNvSpPr/>
          <p:nvPr/>
        </p:nvSpPr>
        <p:spPr>
          <a:xfrm>
            <a:off x="7962533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AF91E7-4E40-45E9-9632-F76307FF40C5}"/>
              </a:ext>
            </a:extLst>
          </p:cNvPr>
          <p:cNvSpPr/>
          <p:nvPr/>
        </p:nvSpPr>
        <p:spPr>
          <a:xfrm>
            <a:off x="8737695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13FB14B-0C75-4EA7-AAC1-50AA2BAB8A51}"/>
              </a:ext>
            </a:extLst>
          </p:cNvPr>
          <p:cNvSpPr/>
          <p:nvPr/>
        </p:nvSpPr>
        <p:spPr>
          <a:xfrm>
            <a:off x="9512857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187C2B-1987-4FA9-BD8A-618C10B56B66}"/>
              </a:ext>
            </a:extLst>
          </p:cNvPr>
          <p:cNvSpPr/>
          <p:nvPr/>
        </p:nvSpPr>
        <p:spPr>
          <a:xfrm>
            <a:off x="10288019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46" name="直线箭头连接符 11">
            <a:extLst>
              <a:ext uri="{FF2B5EF4-FFF2-40B4-BE49-F238E27FC236}">
                <a16:creationId xmlns:a16="http://schemas.microsoft.com/office/drawing/2014/main" id="{5C0AB6C6-9C0E-4909-94A7-E2019DA25409}"/>
              </a:ext>
            </a:extLst>
          </p:cNvPr>
          <p:cNvCxnSpPr>
            <a:cxnSpLocks/>
          </p:cNvCxnSpPr>
          <p:nvPr/>
        </p:nvCxnSpPr>
        <p:spPr>
          <a:xfrm flipH="1">
            <a:off x="8394795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12">
            <a:extLst>
              <a:ext uri="{FF2B5EF4-FFF2-40B4-BE49-F238E27FC236}">
                <a16:creationId xmlns:a16="http://schemas.microsoft.com/office/drawing/2014/main" id="{FCDDE752-507A-48C4-ABB3-D9862384B738}"/>
              </a:ext>
            </a:extLst>
          </p:cNvPr>
          <p:cNvCxnSpPr>
            <a:cxnSpLocks/>
          </p:cNvCxnSpPr>
          <p:nvPr/>
        </p:nvCxnSpPr>
        <p:spPr>
          <a:xfrm flipH="1">
            <a:off x="9169957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13">
            <a:extLst>
              <a:ext uri="{FF2B5EF4-FFF2-40B4-BE49-F238E27FC236}">
                <a16:creationId xmlns:a16="http://schemas.microsoft.com/office/drawing/2014/main" id="{9DA897AC-C26F-4FE7-B763-F70002365181}"/>
              </a:ext>
            </a:extLst>
          </p:cNvPr>
          <p:cNvCxnSpPr>
            <a:cxnSpLocks/>
          </p:cNvCxnSpPr>
          <p:nvPr/>
        </p:nvCxnSpPr>
        <p:spPr>
          <a:xfrm flipH="1">
            <a:off x="9945119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14">
            <a:extLst>
              <a:ext uri="{FF2B5EF4-FFF2-40B4-BE49-F238E27FC236}">
                <a16:creationId xmlns:a16="http://schemas.microsoft.com/office/drawing/2014/main" id="{4FE4D703-4467-4C0F-AD35-6C5AAB8B507B}"/>
              </a:ext>
            </a:extLst>
          </p:cNvPr>
          <p:cNvCxnSpPr>
            <a:cxnSpLocks/>
          </p:cNvCxnSpPr>
          <p:nvPr/>
        </p:nvCxnSpPr>
        <p:spPr>
          <a:xfrm flipH="1">
            <a:off x="10720281" y="4878344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0F79B8A7-3179-4B20-BB01-D4D372BAF1A6}"/>
              </a:ext>
            </a:extLst>
          </p:cNvPr>
          <p:cNvSpPr/>
          <p:nvPr/>
        </p:nvSpPr>
        <p:spPr>
          <a:xfrm>
            <a:off x="11063181" y="4666370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EE183ED-F37E-46E0-A475-4D5A885CB53A}"/>
              </a:ext>
            </a:extLst>
          </p:cNvPr>
          <p:cNvSpPr/>
          <p:nvPr/>
        </p:nvSpPr>
        <p:spPr>
          <a:xfrm>
            <a:off x="7961070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77DF761-6FAE-4A3C-B557-16268E54275B}"/>
              </a:ext>
            </a:extLst>
          </p:cNvPr>
          <p:cNvSpPr/>
          <p:nvPr/>
        </p:nvSpPr>
        <p:spPr>
          <a:xfrm>
            <a:off x="8736232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871C18B-8F91-498B-B413-250883F51A57}"/>
              </a:ext>
            </a:extLst>
          </p:cNvPr>
          <p:cNvSpPr/>
          <p:nvPr/>
        </p:nvSpPr>
        <p:spPr>
          <a:xfrm>
            <a:off x="9511394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068F4BE-ADEE-42C9-AD48-F73F90B93176}"/>
              </a:ext>
            </a:extLst>
          </p:cNvPr>
          <p:cNvSpPr/>
          <p:nvPr/>
        </p:nvSpPr>
        <p:spPr>
          <a:xfrm>
            <a:off x="10286556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5" name="直线箭头连接符 11">
            <a:extLst>
              <a:ext uri="{FF2B5EF4-FFF2-40B4-BE49-F238E27FC236}">
                <a16:creationId xmlns:a16="http://schemas.microsoft.com/office/drawing/2014/main" id="{C808C1D0-9EF8-4974-A276-CCE007B32C08}"/>
              </a:ext>
            </a:extLst>
          </p:cNvPr>
          <p:cNvCxnSpPr>
            <a:cxnSpLocks/>
          </p:cNvCxnSpPr>
          <p:nvPr/>
        </p:nvCxnSpPr>
        <p:spPr>
          <a:xfrm flipH="1">
            <a:off x="8393332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12">
            <a:extLst>
              <a:ext uri="{FF2B5EF4-FFF2-40B4-BE49-F238E27FC236}">
                <a16:creationId xmlns:a16="http://schemas.microsoft.com/office/drawing/2014/main" id="{D9E347B4-8219-43C4-BDFE-FB14F528AA78}"/>
              </a:ext>
            </a:extLst>
          </p:cNvPr>
          <p:cNvCxnSpPr>
            <a:cxnSpLocks/>
          </p:cNvCxnSpPr>
          <p:nvPr/>
        </p:nvCxnSpPr>
        <p:spPr>
          <a:xfrm flipH="1">
            <a:off x="9168494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13">
            <a:extLst>
              <a:ext uri="{FF2B5EF4-FFF2-40B4-BE49-F238E27FC236}">
                <a16:creationId xmlns:a16="http://schemas.microsoft.com/office/drawing/2014/main" id="{221E3A10-F8AD-4BDB-BDA5-A020D5368366}"/>
              </a:ext>
            </a:extLst>
          </p:cNvPr>
          <p:cNvCxnSpPr>
            <a:cxnSpLocks/>
          </p:cNvCxnSpPr>
          <p:nvPr/>
        </p:nvCxnSpPr>
        <p:spPr>
          <a:xfrm flipH="1">
            <a:off x="9943656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14">
            <a:extLst>
              <a:ext uri="{FF2B5EF4-FFF2-40B4-BE49-F238E27FC236}">
                <a16:creationId xmlns:a16="http://schemas.microsoft.com/office/drawing/2014/main" id="{29F003ED-4392-4F7B-BDA8-FC0BB488C0EC}"/>
              </a:ext>
            </a:extLst>
          </p:cNvPr>
          <p:cNvCxnSpPr>
            <a:cxnSpLocks/>
          </p:cNvCxnSpPr>
          <p:nvPr/>
        </p:nvCxnSpPr>
        <p:spPr>
          <a:xfrm flipH="1">
            <a:off x="10718818" y="610912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8591485D-41AA-4A7E-98B7-06217343D126}"/>
              </a:ext>
            </a:extLst>
          </p:cNvPr>
          <p:cNvSpPr/>
          <p:nvPr/>
        </p:nvSpPr>
        <p:spPr>
          <a:xfrm>
            <a:off x="11061718" y="5897152"/>
            <a:ext cx="432262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1" name="直线箭头连接符 14">
            <a:extLst>
              <a:ext uri="{FF2B5EF4-FFF2-40B4-BE49-F238E27FC236}">
                <a16:creationId xmlns:a16="http://schemas.microsoft.com/office/drawing/2014/main" id="{A189A9B9-A2ED-4265-A043-4C8ACE6BA23D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4516764" y="4882646"/>
            <a:ext cx="630744" cy="4300"/>
          </a:xfrm>
          <a:prstGeom prst="straightConnector1">
            <a:avLst/>
          </a:prstGeom>
          <a:ln w="19050">
            <a:solidFill>
              <a:srgbClr val="F9BC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78270488-A64F-4B3F-8909-96388542F916}"/>
              </a:ext>
            </a:extLst>
          </p:cNvPr>
          <p:cNvCxnSpPr>
            <a:stCxn id="30" idx="0"/>
            <a:endCxn id="28" idx="2"/>
          </p:cNvCxnSpPr>
          <p:nvPr/>
        </p:nvCxnSpPr>
        <p:spPr>
          <a:xfrm rot="5400000" flipH="1" flipV="1">
            <a:off x="2556581" y="3169376"/>
            <a:ext cx="881813" cy="4732303"/>
          </a:xfrm>
          <a:prstGeom prst="bentConnector3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4BA42CA4-16FB-46ED-AE9B-12DFF76C8F04}"/>
              </a:ext>
            </a:extLst>
          </p:cNvPr>
          <p:cNvCxnSpPr>
            <a:stCxn id="32" idx="0"/>
            <a:endCxn id="28" idx="2"/>
          </p:cNvCxnSpPr>
          <p:nvPr/>
        </p:nvCxnSpPr>
        <p:spPr>
          <a:xfrm rot="16200000" flipV="1">
            <a:off x="6114137" y="4344122"/>
            <a:ext cx="829840" cy="2330835"/>
          </a:xfrm>
          <a:prstGeom prst="bentConnector3">
            <a:avLst>
              <a:gd name="adj1" fmla="val 46939"/>
            </a:avLst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75F7C27-2D7E-477D-BBAF-A6BAA4E15DD7}"/>
              </a:ext>
            </a:extLst>
          </p:cNvPr>
          <p:cNvCxnSpPr>
            <a:stCxn id="31" idx="1"/>
            <a:endCxn id="28" idx="3"/>
          </p:cNvCxnSpPr>
          <p:nvPr/>
        </p:nvCxnSpPr>
        <p:spPr>
          <a:xfrm flipH="1">
            <a:off x="5579770" y="4876607"/>
            <a:ext cx="1945427" cy="6039"/>
          </a:xfrm>
          <a:prstGeom prst="straightConnector1">
            <a:avLst/>
          </a:prstGeom>
          <a:ln w="19050">
            <a:solidFill>
              <a:srgbClr val="0000C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5D1CE8-C103-47F1-B9F6-388F5EE0487D}"/>
              </a:ext>
            </a:extLst>
          </p:cNvPr>
          <p:cNvSpPr txBox="1"/>
          <p:nvPr/>
        </p:nvSpPr>
        <p:spPr>
          <a:xfrm>
            <a:off x="6349291" y="50001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投票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EAAFB42-E759-4A51-99B0-345F0EB029B6}"/>
              </a:ext>
            </a:extLst>
          </p:cNvPr>
          <p:cNvSpPr txBox="1"/>
          <p:nvPr/>
        </p:nvSpPr>
        <p:spPr>
          <a:xfrm>
            <a:off x="575176" y="2169212"/>
            <a:ext cx="3876871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Sybil Attack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：女巫攻击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16905CF-D5B2-40BA-B730-C888E41E48D0}"/>
              </a:ext>
            </a:extLst>
          </p:cNvPr>
          <p:cNvSpPr txBox="1"/>
          <p:nvPr/>
        </p:nvSpPr>
        <p:spPr>
          <a:xfrm>
            <a:off x="406496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6D68F87-B9EF-4D37-9D53-B0A8AC04436D}"/>
              </a:ext>
            </a:extLst>
          </p:cNvPr>
          <p:cNvSpPr txBox="1"/>
          <p:nvPr/>
        </p:nvSpPr>
        <p:spPr>
          <a:xfrm>
            <a:off x="978559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2B78BDA-DD1D-4261-9CE1-9ED1B2143F7D}"/>
              </a:ext>
            </a:extLst>
          </p:cNvPr>
          <p:cNvSpPr txBox="1"/>
          <p:nvPr/>
        </p:nvSpPr>
        <p:spPr>
          <a:xfrm>
            <a:off x="1550621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6030C5B-1779-489E-B128-ED29714713CB}"/>
              </a:ext>
            </a:extLst>
          </p:cNvPr>
          <p:cNvSpPr txBox="1"/>
          <p:nvPr/>
        </p:nvSpPr>
        <p:spPr>
          <a:xfrm>
            <a:off x="2122683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74FB94A-C0DA-4CF5-BDCF-4C97C9F69D88}"/>
              </a:ext>
            </a:extLst>
          </p:cNvPr>
          <p:cNvSpPr txBox="1"/>
          <p:nvPr/>
        </p:nvSpPr>
        <p:spPr>
          <a:xfrm>
            <a:off x="2694746" y="392389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66CE840-578A-468C-A6E1-3D4F59D32F57}"/>
              </a:ext>
            </a:extLst>
          </p:cNvPr>
          <p:cNvSpPr txBox="1"/>
          <p:nvPr/>
        </p:nvSpPr>
        <p:spPr>
          <a:xfrm>
            <a:off x="3266809" y="38580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2F481F05-F370-4773-A14E-BA87C8DD90E4}"/>
              </a:ext>
            </a:extLst>
          </p:cNvPr>
          <p:cNvCxnSpPr>
            <a:stCxn id="62" idx="0"/>
            <a:endCxn id="28" idx="0"/>
          </p:cNvCxnSpPr>
          <p:nvPr/>
        </p:nvCxnSpPr>
        <p:spPr>
          <a:xfrm rot="16200000" flipH="1">
            <a:off x="2628377" y="1935409"/>
            <a:ext cx="746778" cy="4723746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D5D6D5E-B590-4987-9A1F-D43C5484616D}"/>
              </a:ext>
            </a:extLst>
          </p:cNvPr>
          <p:cNvCxnSpPr>
            <a:stCxn id="63" idx="0"/>
            <a:endCxn id="28" idx="0"/>
          </p:cNvCxnSpPr>
          <p:nvPr/>
        </p:nvCxnSpPr>
        <p:spPr>
          <a:xfrm rot="16200000" flipH="1">
            <a:off x="2914408" y="2221441"/>
            <a:ext cx="746778" cy="4151683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82EE3E87-FEB0-46D5-A422-2C9C6C649B4E}"/>
              </a:ext>
            </a:extLst>
          </p:cNvPr>
          <p:cNvCxnSpPr>
            <a:stCxn id="65" idx="0"/>
            <a:endCxn id="28" idx="0"/>
          </p:cNvCxnSpPr>
          <p:nvPr/>
        </p:nvCxnSpPr>
        <p:spPr>
          <a:xfrm rot="16200000" flipH="1">
            <a:off x="3200439" y="2507472"/>
            <a:ext cx="746778" cy="3579621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03F198A7-EE71-4B8F-A5F0-2905BF0DDCEC}"/>
              </a:ext>
            </a:extLst>
          </p:cNvPr>
          <p:cNvCxnSpPr>
            <a:stCxn id="67" idx="0"/>
            <a:endCxn id="28" idx="0"/>
          </p:cNvCxnSpPr>
          <p:nvPr/>
        </p:nvCxnSpPr>
        <p:spPr>
          <a:xfrm rot="16200000" flipH="1">
            <a:off x="3486470" y="2793503"/>
            <a:ext cx="746778" cy="3007559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98E5460F-7598-49E5-8B8D-18570B00BC8F}"/>
              </a:ext>
            </a:extLst>
          </p:cNvPr>
          <p:cNvCxnSpPr>
            <a:stCxn id="69" idx="0"/>
            <a:endCxn id="28" idx="0"/>
          </p:cNvCxnSpPr>
          <p:nvPr/>
        </p:nvCxnSpPr>
        <p:spPr>
          <a:xfrm rot="16200000" flipH="1">
            <a:off x="3772502" y="3079534"/>
            <a:ext cx="746778" cy="2435496"/>
          </a:xfrm>
          <a:prstGeom prst="bentConnector3">
            <a:avLst>
              <a:gd name="adj1" fmla="val -30612"/>
            </a:avLst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C2B78D91-7A1B-4E61-BEC1-8E086AABD08B}"/>
              </a:ext>
            </a:extLst>
          </p:cNvPr>
          <p:cNvCxnSpPr>
            <a:stCxn id="29" idx="0"/>
            <a:endCxn id="62" idx="2"/>
          </p:cNvCxnSpPr>
          <p:nvPr/>
        </p:nvCxnSpPr>
        <p:spPr>
          <a:xfrm rot="5400000" flipH="1" flipV="1">
            <a:off x="434293" y="4496681"/>
            <a:ext cx="409055" cy="214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6A067E7B-79D2-4493-85B1-70F73205FF6C}"/>
              </a:ext>
            </a:extLst>
          </p:cNvPr>
          <p:cNvCxnSpPr>
            <a:stCxn id="29" idx="0"/>
            <a:endCxn id="63" idx="2"/>
          </p:cNvCxnSpPr>
          <p:nvPr/>
        </p:nvCxnSpPr>
        <p:spPr>
          <a:xfrm rot="5400000" flipH="1" flipV="1">
            <a:off x="720325" y="4210649"/>
            <a:ext cx="409055" cy="57420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55F27830-5CDF-4F15-AAA1-FC888F1CC2FD}"/>
              </a:ext>
            </a:extLst>
          </p:cNvPr>
          <p:cNvCxnSpPr>
            <a:stCxn id="29" idx="0"/>
            <a:endCxn id="65" idx="2"/>
          </p:cNvCxnSpPr>
          <p:nvPr/>
        </p:nvCxnSpPr>
        <p:spPr>
          <a:xfrm rot="5400000" flipH="1" flipV="1">
            <a:off x="1006356" y="3924618"/>
            <a:ext cx="409055" cy="114627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B814EEFC-46E0-4DF6-83DA-CB87BD5DBE70}"/>
              </a:ext>
            </a:extLst>
          </p:cNvPr>
          <p:cNvCxnSpPr>
            <a:stCxn id="29" idx="0"/>
            <a:endCxn id="67" idx="2"/>
          </p:cNvCxnSpPr>
          <p:nvPr/>
        </p:nvCxnSpPr>
        <p:spPr>
          <a:xfrm rot="5400000" flipH="1" flipV="1">
            <a:off x="1292387" y="3638587"/>
            <a:ext cx="409055" cy="17183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C3BB5D62-0891-41D5-BE32-99F0F3E29CDC}"/>
              </a:ext>
            </a:extLst>
          </p:cNvPr>
          <p:cNvCxnSpPr>
            <a:stCxn id="29" idx="0"/>
            <a:endCxn id="69" idx="2"/>
          </p:cNvCxnSpPr>
          <p:nvPr/>
        </p:nvCxnSpPr>
        <p:spPr>
          <a:xfrm rot="5400000" flipH="1" flipV="1">
            <a:off x="1578418" y="3352556"/>
            <a:ext cx="409055" cy="229039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B7AC020E-1A07-490B-98D9-A55A7440EF69}"/>
              </a:ext>
            </a:extLst>
          </p:cNvPr>
          <p:cNvSpPr txBox="1"/>
          <p:nvPr/>
        </p:nvSpPr>
        <p:spPr>
          <a:xfrm>
            <a:off x="549017" y="2801257"/>
            <a:ext cx="6963881" cy="48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为了让自己的区块被接受，创建大量的账户参与投票</a:t>
            </a:r>
            <a:endParaRPr lang="en-US" altLang="zh-CN" sz="2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1CA8E8E-5485-4313-8A1E-33CAC0068F84}"/>
              </a:ext>
            </a:extLst>
          </p:cNvPr>
          <p:cNvSpPr/>
          <p:nvPr/>
        </p:nvSpPr>
        <p:spPr>
          <a:xfrm>
            <a:off x="8297715" y="2895134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为什么能随意创建账户？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6DA7C6C7-F0DF-40BC-9C7E-FF1EF300C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475" y="2752116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5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9" grpId="0" animBg="1"/>
      <p:bldP spid="70" grpId="0"/>
      <p:bldP spid="60" grpId="0"/>
      <p:bldP spid="62" grpId="0"/>
      <p:bldP spid="63" grpId="0"/>
      <p:bldP spid="65" grpId="0"/>
      <p:bldP spid="67" grpId="0"/>
      <p:bldP spid="69" grpId="0"/>
      <p:bldP spid="71" grpId="0"/>
      <p:bldP spid="85" grpId="0"/>
      <p:bldP spid="8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3.5 </a:t>
            </a:r>
            <a:r>
              <a:rPr kumimoji="1" lang="zh-CN" altLang="en-US" dirty="0">
                <a:latin typeface="Garamond" panose="02020404030301010803" pitchFamily="18" charset="0"/>
              </a:rPr>
              <a:t>交易脚本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3.6 </a:t>
            </a:r>
            <a:r>
              <a:rPr kumimoji="1" lang="zh-CN" altLang="en-US" dirty="0">
                <a:latin typeface="Garamond" panose="02020404030301010803" pitchFamily="18" charset="0"/>
              </a:rPr>
              <a:t>一致性问题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3.7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工作量证明（</a:t>
            </a:r>
            <a:r>
              <a:rPr kumimoji="1" lang="en-US" altLang="zh-CN" b="1" dirty="0" err="1">
                <a:solidFill>
                  <a:srgbClr val="B962FF"/>
                </a:solidFill>
                <a:latin typeface="Garamond" panose="02020404030301010803" pitchFamily="18" charset="0"/>
              </a:rPr>
              <a:t>PoW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）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  <p:sp>
        <p:nvSpPr>
          <p:cNvPr id="6" name="矩形标注 6">
            <a:extLst>
              <a:ext uri="{FF2B5EF4-FFF2-40B4-BE49-F238E27FC236}">
                <a16:creationId xmlns:a16="http://schemas.microsoft.com/office/drawing/2014/main" id="{623C7858-36BD-405E-BDC0-6FDF6548BAD3}"/>
              </a:ext>
            </a:extLst>
          </p:cNvPr>
          <p:cNvSpPr/>
          <p:nvPr/>
        </p:nvSpPr>
        <p:spPr>
          <a:xfrm>
            <a:off x="6565308" y="2788950"/>
            <a:ext cx="3255413" cy="2223436"/>
          </a:xfrm>
          <a:prstGeom prst="wedgeRectCallout">
            <a:avLst>
              <a:gd name="adj1" fmla="val -97116"/>
              <a:gd name="adj2" fmla="val -4039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PoW</a:t>
            </a: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分叉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算力与难度调整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最长合法链原则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07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9888940" cy="3023142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背景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区块得到其他参与者的承认的过程便称为共识（</a:t>
            </a:r>
            <a:r>
              <a:rPr lang="en-US" altLang="zh-CN" dirty="0">
                <a:latin typeface="Garamond" panose="02020404030301010803" pitchFamily="18" charset="0"/>
              </a:rPr>
              <a:t>Consensus</a:t>
            </a:r>
            <a:r>
              <a:rPr lang="zh-CN" altLang="en-US" dirty="0">
                <a:latin typeface="Garamond" panose="02020404030301010803" pitchFamily="18" charset="0"/>
              </a:rPr>
              <a:t>）。</a:t>
            </a:r>
            <a:endParaRPr lang="en-US" altLang="zh-CN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定义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对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值进行动态调整，使得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区块头哈希值小于某个数</a:t>
            </a:r>
            <a:r>
              <a:rPr lang="en-US" altLang="zh-CN" b="1" i="1" dirty="0">
                <a:solidFill>
                  <a:srgbClr val="5B307E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i="1" dirty="0">
                <a:latin typeface="Garamond" panose="02020404030301010803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被称作难度（</a:t>
            </a:r>
            <a:r>
              <a:rPr lang="en-US" altLang="zh-CN" dirty="0">
                <a:latin typeface="Garamond" panose="02020404030301010803" pitchFamily="18" charset="0"/>
              </a:rPr>
              <a:t>Difficulty</a:t>
            </a:r>
            <a:r>
              <a:rPr lang="zh-CN" altLang="en-US" dirty="0">
                <a:latin typeface="Garamond" panose="02020404030301010803" pitchFamily="18" charset="0"/>
              </a:rPr>
              <a:t>）。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83989" y="4127112"/>
            <a:ext cx="3812054" cy="2256883"/>
          </a:xfrm>
          <a:prstGeom prst="rect">
            <a:avLst/>
          </a:prstGeom>
          <a:noFill/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186C352-83AF-4A3F-BAA4-D256B3837957}"/>
              </a:ext>
            </a:extLst>
          </p:cNvPr>
          <p:cNvSpPr txBox="1">
            <a:spLocks/>
          </p:cNvSpPr>
          <p:nvPr/>
        </p:nvSpPr>
        <p:spPr>
          <a:xfrm>
            <a:off x="838199" y="4393658"/>
            <a:ext cx="8215745" cy="1962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哈希运算性质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只能通过暴力搜索方法，调整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进行尝试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算力的单位：</a:t>
            </a:r>
            <a:r>
              <a:rPr lang="en-US" altLang="zh-CN" dirty="0" err="1">
                <a:latin typeface="Garamond" panose="02020404030301010803" pitchFamily="18" charset="0"/>
                <a:cs typeface="Times New Roman" panose="02020603050405020304" pitchFamily="18" charset="0"/>
              </a:rPr>
              <a:t>hashrate</a:t>
            </a:r>
            <a:r>
              <a:rPr lang="en-US" altLang="zh-CN" dirty="0">
                <a:latin typeface="Garamond" panose="02020404030301010803" pitchFamily="18" charset="0"/>
                <a:cs typeface="Times New Roman" panose="02020603050405020304" pitchFamily="18" charset="0"/>
              </a:rPr>
              <a:t>/s</a:t>
            </a:r>
            <a:r>
              <a:rPr lang="zh-CN" altLang="en-US" dirty="0">
                <a:latin typeface="Garamond" panose="02020404030301010803" pitchFamily="18" charset="0"/>
                <a:cs typeface="Times New Roman" panose="02020603050405020304" pitchFamily="18" charset="0"/>
              </a:rPr>
              <a:t>（每秒进行多少次哈希运算）</a:t>
            </a:r>
            <a:endParaRPr lang="en-US" altLang="zh-CN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1D79EF-7416-4E7B-9CBD-224E1128743F}"/>
              </a:ext>
            </a:extLst>
          </p:cNvPr>
          <p:cNvSpPr/>
          <p:nvPr/>
        </p:nvSpPr>
        <p:spPr>
          <a:xfrm>
            <a:off x="4440159" y="4595284"/>
            <a:ext cx="234164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哈希运算什么性质？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03D80E6-6720-467B-AC47-8CB8F37AF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919" y="4452266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5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A7158D-19E8-4CC4-BCBC-345CDD43E5CB}"/>
              </a:ext>
            </a:extLst>
          </p:cNvPr>
          <p:cNvSpPr/>
          <p:nvPr/>
        </p:nvSpPr>
        <p:spPr>
          <a:xfrm>
            <a:off x="8194803" y="3967287"/>
            <a:ext cx="2144684" cy="270381"/>
          </a:xfrm>
          <a:prstGeom prst="rect">
            <a:avLst/>
          </a:prstGeom>
          <a:solidFill>
            <a:srgbClr val="5B307E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Hash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2FE5C4-F79D-43DA-9D34-25616DAF4037}"/>
              </a:ext>
            </a:extLst>
          </p:cNvPr>
          <p:cNvSpPr/>
          <p:nvPr/>
        </p:nvSpPr>
        <p:spPr>
          <a:xfrm>
            <a:off x="8194803" y="4808610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Version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B76CBE-3F2B-4080-A8DC-C1D33BFAE83D}"/>
              </a:ext>
            </a:extLst>
          </p:cNvPr>
          <p:cNvSpPr/>
          <p:nvPr/>
        </p:nvSpPr>
        <p:spPr>
          <a:xfrm>
            <a:off x="8194803" y="5090653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Previous Block Hash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C9F7BD-C591-4399-9ED3-AD3252B5A88A}"/>
              </a:ext>
            </a:extLst>
          </p:cNvPr>
          <p:cNvSpPr/>
          <p:nvPr/>
        </p:nvSpPr>
        <p:spPr>
          <a:xfrm>
            <a:off x="8194803" y="5372696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Merkle Tree Root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B7DC93-C3CC-4912-B353-F1076C4AD26E}"/>
              </a:ext>
            </a:extLst>
          </p:cNvPr>
          <p:cNvSpPr/>
          <p:nvPr/>
        </p:nvSpPr>
        <p:spPr>
          <a:xfrm>
            <a:off x="8194803" y="5654739"/>
            <a:ext cx="2144684" cy="2703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Timestamp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DBEA69-1993-44CC-A1FF-88DF67321B49}"/>
              </a:ext>
            </a:extLst>
          </p:cNvPr>
          <p:cNvSpPr/>
          <p:nvPr/>
        </p:nvSpPr>
        <p:spPr>
          <a:xfrm>
            <a:off x="8194803" y="5936782"/>
            <a:ext cx="2144684" cy="270381"/>
          </a:xfrm>
          <a:prstGeom prst="rect">
            <a:avLst/>
          </a:prstGeom>
          <a:solidFill>
            <a:srgbClr val="0000C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Difficulty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C5883-9BDB-4775-AA03-0142BF8C5083}"/>
              </a:ext>
            </a:extLst>
          </p:cNvPr>
          <p:cNvSpPr/>
          <p:nvPr/>
        </p:nvSpPr>
        <p:spPr>
          <a:xfrm>
            <a:off x="8194803" y="6218824"/>
            <a:ext cx="2144684" cy="270381"/>
          </a:xfrm>
          <a:prstGeom prst="rect">
            <a:avLst/>
          </a:prstGeom>
          <a:solidFill>
            <a:srgbClr val="0000CC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Nonce</a:t>
            </a:r>
            <a:endParaRPr kumimoji="1"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0148CA-9A49-45B9-9B1E-D13E5581B7CC}"/>
              </a:ext>
            </a:extLst>
          </p:cNvPr>
          <p:cNvSpPr txBox="1"/>
          <p:nvPr/>
        </p:nvSpPr>
        <p:spPr>
          <a:xfrm>
            <a:off x="10339487" y="3919001"/>
            <a:ext cx="1701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本区块哈希值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54F5491-CD83-4E09-9E65-A35398973687}"/>
              </a:ext>
            </a:extLst>
          </p:cNvPr>
          <p:cNvSpPr txBox="1"/>
          <p:nvPr/>
        </p:nvSpPr>
        <p:spPr>
          <a:xfrm>
            <a:off x="10339486" y="475990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比特币软件版本号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507D6F-7100-4B99-9A30-F03E752E14B0}"/>
              </a:ext>
            </a:extLst>
          </p:cNvPr>
          <p:cNvSpPr txBox="1"/>
          <p:nvPr/>
        </p:nvSpPr>
        <p:spPr>
          <a:xfrm>
            <a:off x="10339486" y="504152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前一区块的哈希值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ABA00F-A2A6-45E5-80EF-AFD2B56A7CAF}"/>
              </a:ext>
            </a:extLst>
          </p:cNvPr>
          <p:cNvSpPr txBox="1"/>
          <p:nvPr/>
        </p:nvSpPr>
        <p:spPr>
          <a:xfrm>
            <a:off x="10331780" y="532314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默克尔树根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D8162E-E43C-49C3-BBB7-4840753CA73C}"/>
              </a:ext>
            </a:extLst>
          </p:cNvPr>
          <p:cNvSpPr txBox="1"/>
          <p:nvPr/>
        </p:nvSpPr>
        <p:spPr>
          <a:xfrm>
            <a:off x="10314544" y="560476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时间戳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BE9EDB-A92F-4AE5-B81E-01BDD58BD318}"/>
              </a:ext>
            </a:extLst>
          </p:cNvPr>
          <p:cNvSpPr txBox="1"/>
          <p:nvPr/>
        </p:nvSpPr>
        <p:spPr>
          <a:xfrm>
            <a:off x="10303686" y="588638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挖矿难度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BAEF435-4B7D-422E-9DEA-1E0512CEA7A5}"/>
              </a:ext>
            </a:extLst>
          </p:cNvPr>
          <p:cNvSpPr txBox="1"/>
          <p:nvPr/>
        </p:nvSpPr>
        <p:spPr>
          <a:xfrm>
            <a:off x="10321587" y="6168001"/>
            <a:ext cx="2087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随机数</a:t>
            </a:r>
          </a:p>
        </p:txBody>
      </p: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02A1FA83-CB58-4E33-9274-CF40F0642BF2}"/>
              </a:ext>
            </a:extLst>
          </p:cNvPr>
          <p:cNvSpPr txBox="1">
            <a:spLocks/>
          </p:cNvSpPr>
          <p:nvPr/>
        </p:nvSpPr>
        <p:spPr>
          <a:xfrm>
            <a:off x="430655" y="1374069"/>
            <a:ext cx="10110345" cy="1272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工作量证明：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找到随机数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，满足下式：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ABB0AF-EA4E-491D-A35F-F9C509D0FF8E}"/>
              </a:ext>
            </a:extLst>
          </p:cNvPr>
          <p:cNvSpPr txBox="1"/>
          <p:nvPr/>
        </p:nvSpPr>
        <p:spPr>
          <a:xfrm>
            <a:off x="59036" y="2732754"/>
            <a:ext cx="12073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aramond" panose="02020404030301010803" pitchFamily="18" charset="0"/>
              </a:rPr>
              <a:t>H( version || </a:t>
            </a:r>
            <a:r>
              <a:rPr lang="en-US" altLang="zh-CN" sz="2400" dirty="0" err="1">
                <a:latin typeface="Garamond" panose="02020404030301010803" pitchFamily="18" charset="0"/>
              </a:rPr>
              <a:t>PrevBlockHash</a:t>
            </a:r>
            <a:r>
              <a:rPr lang="en-US" altLang="zh-CN" sz="2400" dirty="0">
                <a:latin typeface="Garamond" panose="02020404030301010803" pitchFamily="18" charset="0"/>
              </a:rPr>
              <a:t> || </a:t>
            </a:r>
            <a:r>
              <a:rPr lang="en-US" altLang="zh-CN" sz="2400" dirty="0" err="1">
                <a:latin typeface="Garamond" panose="02020404030301010803" pitchFamily="18" charset="0"/>
              </a:rPr>
              <a:t>MerkleTreeRoot</a:t>
            </a:r>
            <a:r>
              <a:rPr lang="en-US" altLang="zh-CN" sz="2400" dirty="0">
                <a:latin typeface="Garamond" panose="02020404030301010803" pitchFamily="18" charset="0"/>
              </a:rPr>
              <a:t> || Ts || Difficulty || Nonce) </a:t>
            </a:r>
            <a:r>
              <a:rPr lang="en-US" altLang="zh-CN" sz="2400">
                <a:latin typeface="Garamond" panose="02020404030301010803" pitchFamily="18" charset="0"/>
              </a:rPr>
              <a:t>&lt; Targets</a:t>
            </a:r>
            <a:endParaRPr lang="zh-CN" altLang="en-US" sz="2400" dirty="0">
              <a:latin typeface="Garamond" panose="02020404030301010803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49CE593-B62E-48E3-B4CE-28BC138F09CF}"/>
              </a:ext>
            </a:extLst>
          </p:cNvPr>
          <p:cNvSpPr txBox="1"/>
          <p:nvPr/>
        </p:nvSpPr>
        <p:spPr>
          <a:xfrm>
            <a:off x="8194803" y="4404988"/>
            <a:ext cx="384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区块头字段</a:t>
            </a:r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CC385844-14E9-4EAA-95C2-59D153D7E99E}"/>
              </a:ext>
            </a:extLst>
          </p:cNvPr>
          <p:cNvCxnSpPr>
            <a:stCxn id="16" idx="1"/>
          </p:cNvCxnSpPr>
          <p:nvPr/>
        </p:nvCxnSpPr>
        <p:spPr>
          <a:xfrm rot="10800000">
            <a:off x="7848601" y="3194419"/>
            <a:ext cx="346203" cy="2877554"/>
          </a:xfrm>
          <a:prstGeom prst="bentConnector2">
            <a:avLst/>
          </a:prstGeom>
          <a:ln w="254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D1D5AB5F-4773-4573-ACA0-9138A59ABC76}"/>
              </a:ext>
            </a:extLst>
          </p:cNvPr>
          <p:cNvCxnSpPr>
            <a:stCxn id="17" idx="1"/>
          </p:cNvCxnSpPr>
          <p:nvPr/>
        </p:nvCxnSpPr>
        <p:spPr>
          <a:xfrm rot="10800000" flipH="1">
            <a:off x="8194803" y="3194419"/>
            <a:ext cx="1072342" cy="3159596"/>
          </a:xfrm>
          <a:prstGeom prst="bentConnector4">
            <a:avLst>
              <a:gd name="adj1" fmla="val -54479"/>
              <a:gd name="adj2" fmla="val 91932"/>
            </a:avLst>
          </a:prstGeom>
          <a:ln w="254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2D9B3C49-36CE-4A22-8E61-2E1171A28514}"/>
              </a:ext>
            </a:extLst>
          </p:cNvPr>
          <p:cNvCxnSpPr>
            <a:stCxn id="16" idx="1"/>
          </p:cNvCxnSpPr>
          <p:nvPr/>
        </p:nvCxnSpPr>
        <p:spPr>
          <a:xfrm rot="10800000" flipH="1">
            <a:off x="8194802" y="3194419"/>
            <a:ext cx="2346197" cy="2877554"/>
          </a:xfrm>
          <a:prstGeom prst="bentConnector4">
            <a:avLst>
              <a:gd name="adj1" fmla="val -14615"/>
              <a:gd name="adj2" fmla="val 83685"/>
            </a:avLst>
          </a:prstGeom>
          <a:ln w="254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8E6885A-A3EA-4854-9A06-23AC561E745E}"/>
              </a:ext>
            </a:extLst>
          </p:cNvPr>
          <p:cNvCxnSpPr/>
          <p:nvPr/>
        </p:nvCxnSpPr>
        <p:spPr>
          <a:xfrm>
            <a:off x="177800" y="3156319"/>
            <a:ext cx="9601200" cy="0"/>
          </a:xfrm>
          <a:prstGeom prst="line">
            <a:avLst/>
          </a:prstGeom>
          <a:ln w="19050">
            <a:solidFill>
              <a:srgbClr val="5B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EBC8484A-093C-41C7-A8B6-87642A2C89D6}"/>
              </a:ext>
            </a:extLst>
          </p:cNvPr>
          <p:cNvCxnSpPr>
            <a:endCxn id="11" idx="1"/>
          </p:cNvCxnSpPr>
          <p:nvPr/>
        </p:nvCxnSpPr>
        <p:spPr>
          <a:xfrm>
            <a:off x="5308600" y="3156319"/>
            <a:ext cx="2886203" cy="946159"/>
          </a:xfrm>
          <a:prstGeom prst="bentConnector3">
            <a:avLst>
              <a:gd name="adj1" fmla="val 278"/>
            </a:avLst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内容占位符 2">
            <a:extLst>
              <a:ext uri="{FF2B5EF4-FFF2-40B4-BE49-F238E27FC236}">
                <a16:creationId xmlns:a16="http://schemas.microsoft.com/office/drawing/2014/main" id="{679F53A7-A33E-49CF-B715-B4FB670ABBCC}"/>
              </a:ext>
            </a:extLst>
          </p:cNvPr>
          <p:cNvSpPr txBox="1">
            <a:spLocks/>
          </p:cNvSpPr>
          <p:nvPr/>
        </p:nvSpPr>
        <p:spPr>
          <a:xfrm>
            <a:off x="430655" y="3545547"/>
            <a:ext cx="6935345" cy="2939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比特币采用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算力</a:t>
            </a:r>
            <a:r>
              <a:rPr lang="zh-CN" altLang="en-US" dirty="0">
                <a:latin typeface="Garamond" panose="02020404030301010803" pitchFamily="18" charset="0"/>
              </a:rPr>
              <a:t>进行投票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只能不断尝试不同的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CN" altLang="en-US" dirty="0">
                <a:latin typeface="Garamond" panose="02020404030301010803" pitchFamily="18" charset="0"/>
              </a:rPr>
              <a:t>的哈希结果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整体来看，哈希结果是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完全随机</a:t>
            </a:r>
            <a:r>
              <a:rPr lang="zh-CN" altLang="en-US" dirty="0">
                <a:latin typeface="Garamond" panose="02020404030301010803" pitchFamily="18" charset="0"/>
              </a:rPr>
              <a:t>的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算力越大，</a:t>
            </a:r>
            <a:r>
              <a:rPr lang="en-US" altLang="zh-CN" dirty="0" err="1">
                <a:latin typeface="Garamond" panose="02020404030301010803" pitchFamily="18" charset="0"/>
              </a:rPr>
              <a:t>hashrate</a:t>
            </a:r>
            <a:r>
              <a:rPr lang="en-US" altLang="zh-CN" dirty="0">
                <a:latin typeface="Garamond" panose="02020404030301010803" pitchFamily="18" charset="0"/>
              </a:rPr>
              <a:t>/s</a:t>
            </a:r>
            <a:r>
              <a:rPr lang="zh-CN" altLang="en-US" dirty="0">
                <a:latin typeface="Garamond" panose="02020404030301010803" pitchFamily="18" charset="0"/>
              </a:rPr>
              <a:t>越高，尝试的速度越快，找到的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概率越高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104D65A-5CC3-414B-930A-A63C48AB17AB}"/>
              </a:ext>
            </a:extLst>
          </p:cNvPr>
          <p:cNvSpPr/>
          <p:nvPr/>
        </p:nvSpPr>
        <p:spPr>
          <a:xfrm>
            <a:off x="4392795" y="6112957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能不能防止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Sybil Attack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7D7F978-DA3F-4D3B-9A31-0DB1D34D8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555" y="5969939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5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9" grpId="0"/>
      <p:bldP spid="30" grpId="0"/>
      <p:bldP spid="49" grpId="0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06AA4-B499-4B34-815F-C8C393DF1660}"/>
              </a:ext>
            </a:extLst>
          </p:cNvPr>
          <p:cNvSpPr txBox="1"/>
          <p:nvPr/>
        </p:nvSpPr>
        <p:spPr>
          <a:xfrm>
            <a:off x="317500" y="1306185"/>
            <a:ext cx="11874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zh-CN" sz="2800" b="0" i="0" dirty="0">
                <a:effectLst/>
                <a:latin typeface="Garamond" panose="02020404030301010803" pitchFamily="18" charset="0"/>
              </a:rPr>
              <a:t>Block #889,338</a:t>
            </a:r>
          </a:p>
          <a:p>
            <a:pPr algn="l" latinLnBrk="1"/>
            <a:r>
              <a:rPr lang="en-US" altLang="zh-CN" sz="2800" b="1" i="0" dirty="0">
                <a:solidFill>
                  <a:srgbClr val="5B307E"/>
                </a:solidFill>
                <a:effectLst/>
                <a:latin typeface="Garamond" panose="02020404030301010803" pitchFamily="18" charset="0"/>
              </a:rPr>
              <a:t>0000000000000000000</a:t>
            </a:r>
            <a:r>
              <a:rPr lang="en-US" altLang="zh-CN" sz="2800" b="0" i="0" dirty="0">
                <a:effectLst/>
                <a:latin typeface="Garamond" panose="02020404030301010803" pitchFamily="18" charset="0"/>
              </a:rPr>
              <a:t>22f4b20a818d89f59a8bf51bbd1ac6858cfac349d78a7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52B506C-6841-4714-91CD-AD90751084B7}"/>
              </a:ext>
            </a:extLst>
          </p:cNvPr>
          <p:cNvSpPr/>
          <p:nvPr/>
        </p:nvSpPr>
        <p:spPr>
          <a:xfrm>
            <a:off x="9217217" y="1372735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为什么前面一排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F2CB14E-E8B6-4B18-9578-4D18DE7F6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977" y="1229717"/>
            <a:ext cx="601662" cy="601662"/>
          </a:xfrm>
          <a:prstGeom prst="rect">
            <a:avLst/>
          </a:prstGeom>
        </p:spPr>
      </p:pic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BF5AA3D1-5F8F-4309-9755-639D4E3BFD88}"/>
              </a:ext>
            </a:extLst>
          </p:cNvPr>
          <p:cNvSpPr txBox="1">
            <a:spLocks/>
          </p:cNvSpPr>
          <p:nvPr/>
        </p:nvSpPr>
        <p:spPr>
          <a:xfrm>
            <a:off x="312900" y="3069962"/>
            <a:ext cx="11563900" cy="1347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概率分析：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07CAF78-BD76-4EDB-9148-9DAB0DA1EC83}"/>
              </a:ext>
            </a:extLst>
          </p:cNvPr>
          <p:cNvSpPr txBox="1"/>
          <p:nvPr/>
        </p:nvSpPr>
        <p:spPr>
          <a:xfrm>
            <a:off x="315200" y="2142033"/>
            <a:ext cx="11874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zh-CN" sz="2800" b="0" i="0" dirty="0">
                <a:effectLst/>
                <a:latin typeface="Garamond" panose="02020404030301010803" pitchFamily="18" charset="0"/>
              </a:rPr>
              <a:t>Difficulty</a:t>
            </a:r>
          </a:p>
          <a:p>
            <a:pPr algn="l" latinLnBrk="1"/>
            <a:r>
              <a:rPr lang="en-US" altLang="zh-CN" sz="2800" i="0" dirty="0">
                <a:effectLst/>
                <a:latin typeface="Garamond" panose="02020404030301010803" pitchFamily="18" charset="0"/>
              </a:rPr>
              <a:t>00000000000000000002796c0000000000000000000000000000000000000000</a:t>
            </a:r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2C1FDB0F-4D98-4728-A7A5-5015FA1346D3}"/>
              </a:ext>
            </a:extLst>
          </p:cNvPr>
          <p:cNvSpPr txBox="1">
            <a:spLocks/>
          </p:cNvSpPr>
          <p:nvPr/>
        </p:nvSpPr>
        <p:spPr>
          <a:xfrm>
            <a:off x="317500" y="3654795"/>
            <a:ext cx="11563900" cy="66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假设难度为</a:t>
            </a:r>
            <a:r>
              <a:rPr lang="en-US" altLang="zh-CN" dirty="0">
                <a:latin typeface="Garamond" panose="02020404030301010803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，则找到结果</a:t>
            </a:r>
            <a:r>
              <a:rPr lang="en-US" altLang="zh-CN" dirty="0">
                <a:latin typeface="Garamond" panose="02020404030301010803" pitchFamily="18" charset="0"/>
              </a:rPr>
              <a:t>h</a:t>
            </a:r>
            <a:r>
              <a:rPr lang="zh-CN" altLang="en-US" dirty="0">
                <a:latin typeface="Garamond" panose="02020404030301010803" pitchFamily="18" charset="0"/>
              </a:rPr>
              <a:t>的概率是多少？（即，找到</a:t>
            </a:r>
            <a:r>
              <a:rPr lang="en-US" altLang="zh-CN" dirty="0">
                <a:latin typeface="Garamond" panose="02020404030301010803" pitchFamily="18" charset="0"/>
              </a:rPr>
              <a:t>h &lt; n</a:t>
            </a:r>
            <a:r>
              <a:rPr lang="zh-CN" altLang="en-US" dirty="0">
                <a:latin typeface="Garamond" panose="02020404030301010803" pitchFamily="18" charset="0"/>
              </a:rPr>
              <a:t>）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91C759-0C3F-4BB4-AFC7-E442AE53F44A}"/>
              </a:ext>
            </a:extLst>
          </p:cNvPr>
          <p:cNvSpPr/>
          <p:nvPr/>
        </p:nvSpPr>
        <p:spPr>
          <a:xfrm>
            <a:off x="546100" y="4670597"/>
            <a:ext cx="10845800" cy="292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558568-DA2A-44C7-B5D9-B919F317488B}"/>
              </a:ext>
            </a:extLst>
          </p:cNvPr>
          <p:cNvSpPr/>
          <p:nvPr/>
        </p:nvSpPr>
        <p:spPr>
          <a:xfrm>
            <a:off x="546101" y="4670597"/>
            <a:ext cx="761407" cy="292502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F5C54D4B-D7DE-48BB-A58A-3A45F208F122}"/>
              </a:ext>
            </a:extLst>
          </p:cNvPr>
          <p:cNvSpPr/>
          <p:nvPr/>
        </p:nvSpPr>
        <p:spPr>
          <a:xfrm rot="16200000">
            <a:off x="770142" y="4756143"/>
            <a:ext cx="313325" cy="761408"/>
          </a:xfrm>
          <a:prstGeom prst="leftBrace">
            <a:avLst>
              <a:gd name="adj1" fmla="val 56678"/>
              <a:gd name="adj2" fmla="val 50000"/>
            </a:avLst>
          </a:prstGeom>
          <a:ln w="1270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17F990C4-8B0D-4E7B-9BD8-424CE46DD4BE}"/>
              </a:ext>
            </a:extLst>
          </p:cNvPr>
          <p:cNvSpPr/>
          <p:nvPr/>
        </p:nvSpPr>
        <p:spPr>
          <a:xfrm rot="16200000">
            <a:off x="5588198" y="-66873"/>
            <a:ext cx="761605" cy="10845799"/>
          </a:xfrm>
          <a:prstGeom prst="leftBrace">
            <a:avLst>
              <a:gd name="adj1" fmla="val 56678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20A28E-F386-4A58-93A9-B3F7D579CAA1}"/>
              </a:ext>
            </a:extLst>
          </p:cNvPr>
          <p:cNvSpPr txBox="1"/>
          <p:nvPr/>
        </p:nvSpPr>
        <p:spPr>
          <a:xfrm>
            <a:off x="735085" y="5207868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Garamond" panose="02020404030301010803" pitchFamily="18" charset="0"/>
              </a:rPr>
              <a:t>n</a:t>
            </a:r>
            <a:endParaRPr lang="zh-CN" altLang="en-US" sz="2800" b="1" dirty="0">
              <a:solidFill>
                <a:srgbClr val="0000CC"/>
              </a:solidFill>
              <a:latin typeface="Garamond" panose="02020404030301010803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27EC8ED-7BED-4ADF-B231-9CF0B812E582}"/>
              </a:ext>
            </a:extLst>
          </p:cNvPr>
          <p:cNvSpPr/>
          <p:nvPr/>
        </p:nvSpPr>
        <p:spPr>
          <a:xfrm>
            <a:off x="2707046" y="5781621"/>
            <a:ext cx="27654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搜索空间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总共多大？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3C23D626-B8E0-491D-807F-1846CDD60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384" y="5665456"/>
            <a:ext cx="601662" cy="601662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F301C294-1A0E-40DF-AF67-EDD681751A9A}"/>
              </a:ext>
            </a:extLst>
          </p:cNvPr>
          <p:cNvSpPr txBox="1"/>
          <p:nvPr/>
        </p:nvSpPr>
        <p:spPr>
          <a:xfrm>
            <a:off x="5725183" y="5672525"/>
            <a:ext cx="513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B307E"/>
                </a:solidFill>
                <a:latin typeface="Garamond" panose="02020404030301010803" pitchFamily="18" charset="0"/>
              </a:rPr>
              <a:t>M</a:t>
            </a:r>
            <a:endParaRPr lang="zh-CN" altLang="en-US" sz="2800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AD8379B7-915C-49B9-A628-AF9F90DB6C07}"/>
              </a:ext>
            </a:extLst>
          </p:cNvPr>
          <p:cNvSpPr txBox="1">
            <a:spLocks/>
          </p:cNvSpPr>
          <p:nvPr/>
        </p:nvSpPr>
        <p:spPr>
          <a:xfrm>
            <a:off x="6277474" y="5478958"/>
            <a:ext cx="4266701" cy="769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系统中找到目标随机数的概率是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n/M</a:t>
            </a:r>
            <a:r>
              <a:rPr lang="zh-CN" altLang="en-US" dirty="0">
                <a:latin typeface="Garamond" panose="02020404030301010803" pitchFamily="18" charset="0"/>
              </a:rPr>
              <a:t>，平均需要的哈希运算次数是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M/n</a:t>
            </a:r>
          </a:p>
        </p:txBody>
      </p:sp>
    </p:spTree>
    <p:extLst>
      <p:ext uri="{BB962C8B-B14F-4D97-AF65-F5344CB8AC3E}">
        <p14:creationId xmlns:p14="http://schemas.microsoft.com/office/powerpoint/2010/main" val="367342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7" grpId="0"/>
      <p:bldP spid="43" grpId="0"/>
      <p:bldP spid="45" grpId="0"/>
      <p:bldP spid="10" grpId="0" animBg="1"/>
      <p:bldP spid="47" grpId="0" animBg="1"/>
      <p:bldP spid="27" grpId="0" animBg="1"/>
      <p:bldP spid="52" grpId="0" animBg="1"/>
      <p:bldP spid="28" grpId="0"/>
      <p:bldP spid="53" grpId="0" animBg="1"/>
      <p:bldP spid="55" grpId="0"/>
      <p:bldP spid="5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BF5AA3D1-5F8F-4309-9755-639D4E3BFD88}"/>
              </a:ext>
            </a:extLst>
          </p:cNvPr>
          <p:cNvSpPr txBox="1">
            <a:spLocks/>
          </p:cNvSpPr>
          <p:nvPr/>
        </p:nvSpPr>
        <p:spPr>
          <a:xfrm>
            <a:off x="187050" y="1247125"/>
            <a:ext cx="8220812" cy="1251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伯努利试验：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随机掷一枚硬币，正面朝上的概率为</a:t>
            </a:r>
            <a:r>
              <a:rPr lang="en-US" altLang="zh-CN" dirty="0">
                <a:latin typeface="Garamond" panose="02020404030301010803" pitchFamily="18" charset="0"/>
              </a:rPr>
              <a:t>1/2</a:t>
            </a:r>
            <a:r>
              <a:rPr lang="zh-CN" altLang="en-US" dirty="0">
                <a:latin typeface="Garamond" panose="02020404030301010803" pitchFamily="18" charset="0"/>
              </a:rPr>
              <a:t>；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11DECA-794B-45A4-94BB-101EBBC0AD02}"/>
              </a:ext>
            </a:extLst>
          </p:cNvPr>
          <p:cNvSpPr txBox="1"/>
          <p:nvPr/>
        </p:nvSpPr>
        <p:spPr>
          <a:xfrm>
            <a:off x="661425" y="2980999"/>
            <a:ext cx="7746437" cy="53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连续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10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次反面朝上后，下一次正面朝上的概率为多少？</a:t>
            </a:r>
            <a:endParaRPr lang="en-US" altLang="zh-CN" sz="2400" dirty="0">
              <a:latin typeface="Garamond" panose="020204040303010108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08CFFE-B660-4DC6-83BA-EC72656847AD}"/>
              </a:ext>
            </a:extLst>
          </p:cNvPr>
          <p:cNvSpPr txBox="1"/>
          <p:nvPr/>
        </p:nvSpPr>
        <p:spPr>
          <a:xfrm>
            <a:off x="661425" y="2445147"/>
            <a:ext cx="7746437" cy="53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连续掷</a:t>
            </a:r>
            <a:r>
              <a:rPr lang="en-US" altLang="zh-CN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10</a:t>
            </a:r>
            <a:r>
              <a:rPr lang="zh-CN" altLang="en-US" sz="2400" dirty="0">
                <a:latin typeface="Garamond" panose="02020404030301010803" pitchFamily="18" charset="0"/>
                <a:ea typeface="Microsoft YaHei" panose="020B0503020204020204" pitchFamily="34" charset="-122"/>
              </a:rPr>
              <a:t>次，正面朝上的次数为多少？</a:t>
            </a:r>
            <a:endParaRPr lang="en-US" altLang="zh-CN" sz="2400" dirty="0">
              <a:latin typeface="Garamond" panose="020204040303010108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B66C4C50-8D86-425A-BE9C-E58EC10B1F98}"/>
              </a:ext>
            </a:extLst>
          </p:cNvPr>
          <p:cNvSpPr txBox="1">
            <a:spLocks/>
          </p:cNvSpPr>
          <p:nvPr/>
        </p:nvSpPr>
        <p:spPr>
          <a:xfrm>
            <a:off x="184255" y="4680697"/>
            <a:ext cx="8231080" cy="59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 两次找到随机数的时间间隔服从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负指数分布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D5C7E6-FB51-46E9-AD19-2A2A4224E55F}"/>
              </a:ext>
            </a:extLst>
          </p:cNvPr>
          <p:cNvSpPr txBox="1"/>
          <p:nvPr/>
        </p:nvSpPr>
        <p:spPr>
          <a:xfrm>
            <a:off x="8405067" y="2527074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重伯努利实验</a:t>
            </a:r>
            <a:r>
              <a:rPr lang="en-US" altLang="zh-CN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二项分布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2064172-D624-429A-8503-261DBC742614}"/>
              </a:ext>
            </a:extLst>
          </p:cNvPr>
          <p:cNvSpPr txBox="1"/>
          <p:nvPr/>
        </p:nvSpPr>
        <p:spPr>
          <a:xfrm>
            <a:off x="8405067" y="30814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B307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独立性</a:t>
            </a:r>
          </a:p>
        </p:txBody>
      </p:sp>
      <p:sp>
        <p:nvSpPr>
          <p:cNvPr id="32" name="内容占位符 2">
            <a:extLst>
              <a:ext uri="{FF2B5EF4-FFF2-40B4-BE49-F238E27FC236}">
                <a16:creationId xmlns:a16="http://schemas.microsoft.com/office/drawing/2014/main" id="{D8812867-8D77-4361-A290-483C5A1AB5DE}"/>
              </a:ext>
            </a:extLst>
          </p:cNvPr>
          <p:cNvSpPr txBox="1">
            <a:spLocks/>
          </p:cNvSpPr>
          <p:nvPr/>
        </p:nvSpPr>
        <p:spPr>
          <a:xfrm>
            <a:off x="207586" y="4124078"/>
            <a:ext cx="8220812" cy="1086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Garamond" panose="02020404030301010803" pitchFamily="18" charset="0"/>
              </a:rPr>
              <a:t> </a:t>
            </a:r>
            <a:r>
              <a:rPr lang="zh-CN" altLang="en-US" dirty="0">
                <a:latin typeface="Garamond" panose="02020404030301010803" pitchFamily="18" charset="0"/>
              </a:rPr>
              <a:t>找到随机数的次数服从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泊松分布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E1EE02AF-A8AD-4184-A5A3-E25ED708A674}"/>
              </a:ext>
            </a:extLst>
          </p:cNvPr>
          <p:cNvSpPr txBox="1">
            <a:spLocks/>
          </p:cNvSpPr>
          <p:nvPr/>
        </p:nvSpPr>
        <p:spPr>
          <a:xfrm>
            <a:off x="184255" y="3532934"/>
            <a:ext cx="8220812" cy="5938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PoW</a:t>
            </a:r>
            <a:r>
              <a:rPr lang="en-US" altLang="zh-CN" dirty="0">
                <a:latin typeface="Garamond" panose="02020404030301010803" pitchFamily="18" charset="0"/>
              </a:rPr>
              <a:t>——</a:t>
            </a:r>
            <a:r>
              <a:rPr lang="zh-CN" altLang="en-US" dirty="0">
                <a:latin typeface="Garamond" panose="02020404030301010803" pitchFamily="18" charset="0"/>
              </a:rPr>
              <a:t>概率极低、试验次数极高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30A97E0-844A-48D2-BCBD-8D0AB1557683}"/>
              </a:ext>
            </a:extLst>
          </p:cNvPr>
          <p:cNvSpPr txBox="1">
            <a:spLocks/>
          </p:cNvSpPr>
          <p:nvPr/>
        </p:nvSpPr>
        <p:spPr>
          <a:xfrm>
            <a:off x="176782" y="5208104"/>
            <a:ext cx="8231080" cy="59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 泊松分布和负指数分布均具有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无记忆性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BE7D42-3931-43D7-8DCF-1F90F4651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01" y="3930631"/>
            <a:ext cx="4935544" cy="235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8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3" grpId="0"/>
      <p:bldP spid="24" grpId="0"/>
      <p:bldP spid="26" grpId="0"/>
      <p:bldP spid="30" grpId="0"/>
      <p:bldP spid="31" grpId="0"/>
      <p:bldP spid="32" grpId="0"/>
      <p:bldP spid="16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4F9A1DDF-71C9-4B5C-829C-690781C5937C}"/>
              </a:ext>
            </a:extLst>
          </p:cNvPr>
          <p:cNvSpPr txBox="1">
            <a:spLocks/>
          </p:cNvSpPr>
          <p:nvPr/>
        </p:nvSpPr>
        <p:spPr>
          <a:xfrm>
            <a:off x="233245" y="1244212"/>
            <a:ext cx="11563900" cy="246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平均出块时间：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全网算力为</a:t>
            </a:r>
            <a:r>
              <a:rPr lang="en-US" altLang="zh-CN" dirty="0">
                <a:latin typeface="Garamond" panose="02020404030301010803" pitchFamily="18" charset="0"/>
              </a:rPr>
              <a:t>k </a:t>
            </a:r>
            <a:r>
              <a:rPr lang="en-US" altLang="zh-CN" dirty="0" err="1">
                <a:latin typeface="Garamond" panose="02020404030301010803" pitchFamily="18" charset="0"/>
              </a:rPr>
              <a:t>hashrate</a:t>
            </a:r>
            <a:r>
              <a:rPr lang="en-US" altLang="zh-CN" dirty="0">
                <a:latin typeface="Garamond" panose="02020404030301010803" pitchFamily="18" charset="0"/>
              </a:rPr>
              <a:t>/s</a:t>
            </a:r>
            <a:r>
              <a:rPr lang="zh-CN" altLang="en-US" dirty="0">
                <a:latin typeface="Garamond" panose="02020404030301010803" pitchFamily="18" charset="0"/>
              </a:rPr>
              <a:t>，平均哈希运算次数为</a:t>
            </a:r>
            <a:r>
              <a:rPr lang="en-US" altLang="zh-CN" dirty="0">
                <a:latin typeface="Garamond" panose="02020404030301010803" pitchFamily="18" charset="0"/>
              </a:rPr>
              <a:t>M/n</a:t>
            </a:r>
            <a:r>
              <a:rPr lang="zh-CN" altLang="en-US" dirty="0">
                <a:latin typeface="Garamond" panose="02020404030301010803" pitchFamily="18" charset="0"/>
              </a:rPr>
              <a:t>，则平均出块时间为</a:t>
            </a:r>
            <a:r>
              <a:rPr lang="en-US" altLang="zh-CN" dirty="0">
                <a:latin typeface="Garamond" panose="02020404030301010803" pitchFamily="18" charset="0"/>
              </a:rPr>
              <a:t>M/(</a:t>
            </a:r>
            <a:r>
              <a:rPr lang="en-US" altLang="zh-CN" dirty="0" err="1">
                <a:latin typeface="Garamond" panose="02020404030301010803" pitchFamily="18" charset="0"/>
              </a:rPr>
              <a:t>nk</a:t>
            </a:r>
            <a:r>
              <a:rPr lang="en-US" altLang="zh-CN" dirty="0">
                <a:latin typeface="Garamond" panose="02020404030301010803" pitchFamily="18" charset="0"/>
              </a:rPr>
              <a:t>)</a:t>
            </a:r>
            <a:r>
              <a:rPr lang="zh-CN" altLang="en-US" dirty="0">
                <a:latin typeface="Garamond" panose="02020404030301010803" pitchFamily="18" charset="0"/>
              </a:rPr>
              <a:t>秒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比特币协议规定：平均出块时间为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10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分钟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Garamond" panose="02020404030301010803" pitchFamily="18" charset="0"/>
              </a:rPr>
              <a:t>M</a:t>
            </a:r>
            <a:r>
              <a:rPr lang="zh-CN" altLang="en-US" dirty="0">
                <a:latin typeface="Garamond" panose="02020404030301010803" pitchFamily="18" charset="0"/>
              </a:rPr>
              <a:t>为定值，</a:t>
            </a:r>
            <a:r>
              <a:rPr lang="en-US" altLang="zh-CN" dirty="0">
                <a:latin typeface="Garamond" panose="02020404030301010803" pitchFamily="18" charset="0"/>
              </a:rPr>
              <a:t>k</a:t>
            </a:r>
            <a:r>
              <a:rPr lang="zh-CN" altLang="en-US" dirty="0">
                <a:latin typeface="Garamond" panose="02020404030301010803" pitchFamily="18" charset="0"/>
              </a:rPr>
              <a:t>根据参与算力浮动变化，则需要调整</a:t>
            </a:r>
            <a:r>
              <a:rPr lang="en-US" altLang="zh-CN" dirty="0">
                <a:latin typeface="Garamond" panose="02020404030301010803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，使得平均</a:t>
            </a:r>
            <a:r>
              <a:rPr lang="en-US" altLang="zh-CN" dirty="0">
                <a:latin typeface="Garamond" panose="02020404030301010803" pitchFamily="18" charset="0"/>
              </a:rPr>
              <a:t>M/(</a:t>
            </a:r>
            <a:r>
              <a:rPr lang="en-US" altLang="zh-CN" dirty="0" err="1">
                <a:latin typeface="Garamond" panose="02020404030301010803" pitchFamily="18" charset="0"/>
              </a:rPr>
              <a:t>nk</a:t>
            </a:r>
            <a:r>
              <a:rPr lang="en-US" altLang="zh-CN" dirty="0">
                <a:latin typeface="Garamond" panose="02020404030301010803" pitchFamily="18" charset="0"/>
              </a:rPr>
              <a:t>) = 60</a:t>
            </a:r>
          </a:p>
        </p:txBody>
      </p:sp>
      <p:sp>
        <p:nvSpPr>
          <p:cNvPr id="58" name="内容占位符 2">
            <a:extLst>
              <a:ext uri="{FF2B5EF4-FFF2-40B4-BE49-F238E27FC236}">
                <a16:creationId xmlns:a16="http://schemas.microsoft.com/office/drawing/2014/main" id="{28210631-D12D-4D1D-A6B3-6D9BAEA1B921}"/>
              </a:ext>
            </a:extLst>
          </p:cNvPr>
          <p:cNvSpPr txBox="1">
            <a:spLocks/>
          </p:cNvSpPr>
          <p:nvPr/>
        </p:nvSpPr>
        <p:spPr>
          <a:xfrm>
            <a:off x="233245" y="3615938"/>
            <a:ext cx="11563900" cy="1879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难度调整：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每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2016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个</a:t>
            </a:r>
            <a:r>
              <a:rPr lang="zh-CN" altLang="en-US" dirty="0">
                <a:latin typeface="Garamond" panose="02020404030301010803" pitchFamily="18" charset="0"/>
              </a:rPr>
              <a:t>区块调整一次；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当前</a:t>
            </a:r>
            <a:r>
              <a:rPr lang="en-US" altLang="zh-CN" dirty="0">
                <a:latin typeface="Garamond" panose="02020404030301010803" pitchFamily="18" charset="0"/>
              </a:rPr>
              <a:t>2016</a:t>
            </a:r>
            <a:r>
              <a:rPr lang="zh-CN" altLang="en-US" dirty="0">
                <a:latin typeface="Garamond" panose="02020404030301010803" pitchFamily="18" charset="0"/>
              </a:rPr>
              <a:t>个区块的难度记为</a:t>
            </a:r>
            <a:r>
              <a:rPr lang="en-US" altLang="zh-CN" dirty="0">
                <a:latin typeface="Garamond" panose="02020404030301010803" pitchFamily="18" charset="0"/>
              </a:rPr>
              <a:t>n</a:t>
            </a:r>
            <a:r>
              <a:rPr lang="zh-CN" altLang="en-US" dirty="0">
                <a:latin typeface="Garamond" panose="02020404030301010803" pitchFamily="18" charset="0"/>
              </a:rPr>
              <a:t>，后面</a:t>
            </a:r>
            <a:r>
              <a:rPr lang="en-US" altLang="zh-CN" dirty="0">
                <a:latin typeface="Garamond" panose="02020404030301010803" pitchFamily="18" charset="0"/>
              </a:rPr>
              <a:t>2016</a:t>
            </a:r>
            <a:r>
              <a:rPr lang="zh-CN" altLang="en-US" dirty="0">
                <a:latin typeface="Garamond" panose="02020404030301010803" pitchFamily="18" charset="0"/>
              </a:rPr>
              <a:t>个区块的难度记为</a:t>
            </a:r>
            <a:r>
              <a:rPr lang="en-US" altLang="zh-CN" dirty="0">
                <a:latin typeface="Garamond" panose="02020404030301010803" pitchFamily="18" charset="0"/>
              </a:rPr>
              <a:t>n’</a:t>
            </a:r>
            <a:r>
              <a:rPr lang="zh-CN" altLang="en-US" dirty="0">
                <a:latin typeface="Garamond" panose="02020404030301010803" pitchFamily="18" charset="0"/>
              </a:rPr>
              <a:t>，则：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25589C89-D707-48B9-8A8A-C330FA6729AB}"/>
              </a:ext>
            </a:extLst>
          </p:cNvPr>
          <p:cNvSpPr txBox="1">
            <a:spLocks/>
          </p:cNvSpPr>
          <p:nvPr/>
        </p:nvSpPr>
        <p:spPr>
          <a:xfrm>
            <a:off x="2457175" y="5775325"/>
            <a:ext cx="831533" cy="581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n’ = </a:t>
            </a:r>
          </a:p>
        </p:txBody>
      </p:sp>
      <p:sp>
        <p:nvSpPr>
          <p:cNvPr id="60" name="内容占位符 2">
            <a:extLst>
              <a:ext uri="{FF2B5EF4-FFF2-40B4-BE49-F238E27FC236}">
                <a16:creationId xmlns:a16="http://schemas.microsoft.com/office/drawing/2014/main" id="{6BCDFEA1-D3C1-4B5A-A49E-644D81662571}"/>
              </a:ext>
            </a:extLst>
          </p:cNvPr>
          <p:cNvSpPr txBox="1">
            <a:spLocks/>
          </p:cNvSpPr>
          <p:nvPr/>
        </p:nvSpPr>
        <p:spPr>
          <a:xfrm>
            <a:off x="3220603" y="5435601"/>
            <a:ext cx="5304272" cy="581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2016</a:t>
            </a:r>
            <a:r>
              <a:rPr lang="zh-CN" altLang="en-US" dirty="0">
                <a:latin typeface="Garamond" panose="02020404030301010803" pitchFamily="18" charset="0"/>
              </a:rPr>
              <a:t>个</a:t>
            </a:r>
            <a:r>
              <a:rPr lang="en-US" altLang="zh-CN" dirty="0">
                <a:latin typeface="Garamond" panose="02020404030301010803" pitchFamily="18" charset="0"/>
              </a:rPr>
              <a:t> * 10</a:t>
            </a:r>
            <a:r>
              <a:rPr lang="zh-CN" altLang="en-US" dirty="0">
                <a:latin typeface="Garamond" panose="02020404030301010803" pitchFamily="18" charset="0"/>
              </a:rPr>
              <a:t>分钟</a:t>
            </a:r>
            <a:r>
              <a:rPr lang="en-US" altLang="zh-CN" dirty="0">
                <a:latin typeface="Garamond" panose="02020404030301010803" pitchFamily="18" charset="0"/>
              </a:rPr>
              <a:t>/</a:t>
            </a:r>
            <a:r>
              <a:rPr lang="zh-CN" altLang="en-US" dirty="0">
                <a:latin typeface="Garamond" panose="02020404030301010803" pitchFamily="18" charset="0"/>
              </a:rPr>
              <a:t>个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61" name="内容占位符 2">
            <a:extLst>
              <a:ext uri="{FF2B5EF4-FFF2-40B4-BE49-F238E27FC236}">
                <a16:creationId xmlns:a16="http://schemas.microsoft.com/office/drawing/2014/main" id="{1111529C-B826-4AA7-856A-482AAECF0025}"/>
              </a:ext>
            </a:extLst>
          </p:cNvPr>
          <p:cNvSpPr txBox="1">
            <a:spLocks/>
          </p:cNvSpPr>
          <p:nvPr/>
        </p:nvSpPr>
        <p:spPr>
          <a:xfrm>
            <a:off x="3220603" y="6127751"/>
            <a:ext cx="5304272" cy="581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前</a:t>
            </a:r>
            <a:r>
              <a:rPr lang="en-US" altLang="zh-CN" dirty="0">
                <a:latin typeface="Garamond" panose="02020404030301010803" pitchFamily="18" charset="0"/>
              </a:rPr>
              <a:t>2016</a:t>
            </a:r>
            <a:r>
              <a:rPr lang="zh-CN" altLang="en-US" dirty="0">
                <a:latin typeface="Garamond" panose="02020404030301010803" pitchFamily="18" charset="0"/>
              </a:rPr>
              <a:t>个区块所用总时间（分钟）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126EBCC-2949-415D-9E54-4C4AAEEC0571}"/>
              </a:ext>
            </a:extLst>
          </p:cNvPr>
          <p:cNvCxnSpPr>
            <a:cxnSpLocks/>
          </p:cNvCxnSpPr>
          <p:nvPr/>
        </p:nvCxnSpPr>
        <p:spPr>
          <a:xfrm>
            <a:off x="3288708" y="6065837"/>
            <a:ext cx="523616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内容占位符 2">
            <a:extLst>
              <a:ext uri="{FF2B5EF4-FFF2-40B4-BE49-F238E27FC236}">
                <a16:creationId xmlns:a16="http://schemas.microsoft.com/office/drawing/2014/main" id="{F34A6160-4519-4E0A-8A47-E30347E03BA4}"/>
              </a:ext>
            </a:extLst>
          </p:cNvPr>
          <p:cNvSpPr txBox="1">
            <a:spLocks/>
          </p:cNvSpPr>
          <p:nvPr/>
        </p:nvSpPr>
        <p:spPr>
          <a:xfrm>
            <a:off x="8638178" y="5757863"/>
            <a:ext cx="831533" cy="581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×n</a:t>
            </a:r>
          </a:p>
        </p:txBody>
      </p:sp>
    </p:spTree>
    <p:extLst>
      <p:ext uri="{BB962C8B-B14F-4D97-AF65-F5344CB8AC3E}">
        <p14:creationId xmlns:p14="http://schemas.microsoft.com/office/powerpoint/2010/main" val="201502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Proof of Work</a:t>
            </a:r>
            <a:endParaRPr kumimoji="1" lang="zh-CN" altLang="en-US" dirty="0">
              <a:solidFill>
                <a:prstClr val="black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37C9BC-4C41-42B4-A7C0-0DF507B03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7276"/>
            <a:ext cx="12192000" cy="51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0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EFC88-15A8-8F47-A008-BBB6B0BE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1C0D4-2EC3-7D4D-AAC5-3C4CCB3D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掌握交易脚本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掌握比特币工作量证明机制</a:t>
            </a:r>
            <a:endParaRPr kumimoji="1"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E33C2B-DFEA-AB45-B09F-58B1C2A1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461291"/>
      </p:ext>
    </p:extLst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1918</Words>
  <Application>Microsoft Macintosh PowerPoint</Application>
  <PresentationFormat>宽屏</PresentationFormat>
  <Paragraphs>418</Paragraphs>
  <Slides>30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等线</vt:lpstr>
      <vt:lpstr>Microsoft YaHei</vt:lpstr>
      <vt:lpstr>Microsoft YaHei</vt:lpstr>
      <vt:lpstr>Arial</vt:lpstr>
      <vt:lpstr>Calibri</vt:lpstr>
      <vt:lpstr>Garamond</vt:lpstr>
      <vt:lpstr>Times New Roman</vt:lpstr>
      <vt:lpstr>Wingdings</vt:lpstr>
      <vt:lpstr>webwppDefTheme</vt:lpstr>
      <vt:lpstr>Office 主题​​</vt:lpstr>
      <vt:lpstr>第三章 比特币 ——交易脚本及比特币协议</vt:lpstr>
      <vt:lpstr>本章内容</vt:lpstr>
      <vt:lpstr>锁定与解锁</vt:lpstr>
      <vt:lpstr>锁定与解锁</vt:lpstr>
      <vt:lpstr>常见脚本类型</vt:lpstr>
      <vt:lpstr>常见脚本类型</vt:lpstr>
      <vt:lpstr>多重签名钱包</vt:lpstr>
      <vt:lpstr>交易脚本——基于栈的执行语言</vt:lpstr>
      <vt:lpstr>交易脚本——基于栈的执行语言</vt:lpstr>
      <vt:lpstr>交易脚本——P2PK</vt:lpstr>
      <vt:lpstr>交易脚本——P2PKH</vt:lpstr>
      <vt:lpstr>交易脚本——P2PKH</vt:lpstr>
      <vt:lpstr>交易脚本——多重签名（P2MS）</vt:lpstr>
      <vt:lpstr>交易脚本——P2SH</vt:lpstr>
      <vt:lpstr>交易脚本——P2SH</vt:lpstr>
      <vt:lpstr>交易脚本——OP_RETURN</vt:lpstr>
      <vt:lpstr>本章内容</vt:lpstr>
      <vt:lpstr>一致性问题</vt:lpstr>
      <vt:lpstr>一致性问题</vt:lpstr>
      <vt:lpstr>问题与挑战</vt:lpstr>
      <vt:lpstr>解决方案一——投票机制</vt:lpstr>
      <vt:lpstr>解决方案一——投票机制</vt:lpstr>
      <vt:lpstr>本章内容</vt:lpstr>
      <vt:lpstr>Proof of Work</vt:lpstr>
      <vt:lpstr>Proof of Work</vt:lpstr>
      <vt:lpstr>Proof of Work</vt:lpstr>
      <vt:lpstr>Proof of Work</vt:lpstr>
      <vt:lpstr>Proof of Work</vt:lpstr>
      <vt:lpstr>Proof of Work</vt:lpstr>
      <vt:lpstr>本章总结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侯璐 h</cp:lastModifiedBy>
  <cp:revision>455</cp:revision>
  <dcterms:created xsi:type="dcterms:W3CDTF">2021-04-18T13:48:02Z</dcterms:created>
  <dcterms:modified xsi:type="dcterms:W3CDTF">2026-06-12T12:01:24Z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