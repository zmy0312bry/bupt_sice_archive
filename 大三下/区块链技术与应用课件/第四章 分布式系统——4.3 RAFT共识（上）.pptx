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autoCompressPictures="0" bookmarkIdSeed="2">
  <p:sldMasterIdLst>
    <p:sldMasterId id="2147483648" r:id="rId1"/>
    <p:sldMasterId id="2147483657" r:id="rId2"/>
  </p:sldMasterIdLst>
  <p:notesMasterIdLst>
    <p:notesMasterId r:id="rId32"/>
  </p:notesMasterIdLst>
  <p:sldIdLst>
    <p:sldId id="1257" r:id="rId3"/>
    <p:sldId id="1062" r:id="rId4"/>
    <p:sldId id="1312" r:id="rId5"/>
    <p:sldId id="1384" r:id="rId6"/>
    <p:sldId id="1402" r:id="rId7"/>
    <p:sldId id="1403" r:id="rId8"/>
    <p:sldId id="1404" r:id="rId9"/>
    <p:sldId id="1405" r:id="rId10"/>
    <p:sldId id="1406" r:id="rId11"/>
    <p:sldId id="1407" r:id="rId12"/>
    <p:sldId id="1408" r:id="rId13"/>
    <p:sldId id="1409" r:id="rId14"/>
    <p:sldId id="1416" r:id="rId15"/>
    <p:sldId id="1410" r:id="rId16"/>
    <p:sldId id="1417" r:id="rId17"/>
    <p:sldId id="1418" r:id="rId18"/>
    <p:sldId id="1419" r:id="rId19"/>
    <p:sldId id="1420" r:id="rId20"/>
    <p:sldId id="1427" r:id="rId21"/>
    <p:sldId id="1411" r:id="rId22"/>
    <p:sldId id="1412" r:id="rId23"/>
    <p:sldId id="1413" r:id="rId24"/>
    <p:sldId id="1414" r:id="rId25"/>
    <p:sldId id="1415" r:id="rId26"/>
    <p:sldId id="1422" r:id="rId27"/>
    <p:sldId id="1423" r:id="rId28"/>
    <p:sldId id="1424" r:id="rId29"/>
    <p:sldId id="1425" r:id="rId30"/>
    <p:sldId id="1426" r:id="rId3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CA4DC5EF-F422-4A4A-AE2D-E811906D492D}">
          <p14:sldIdLst>
            <p14:sldId id="1257"/>
            <p14:sldId id="1062"/>
            <p14:sldId id="1312"/>
            <p14:sldId id="1384"/>
            <p14:sldId id="1402"/>
            <p14:sldId id="1403"/>
            <p14:sldId id="1404"/>
            <p14:sldId id="1405"/>
            <p14:sldId id="1406"/>
            <p14:sldId id="1407"/>
            <p14:sldId id="1408"/>
            <p14:sldId id="1409"/>
            <p14:sldId id="1416"/>
            <p14:sldId id="1410"/>
            <p14:sldId id="1417"/>
            <p14:sldId id="1418"/>
            <p14:sldId id="1419"/>
            <p14:sldId id="1420"/>
            <p14:sldId id="1427"/>
            <p14:sldId id="1411"/>
            <p14:sldId id="1412"/>
            <p14:sldId id="1413"/>
            <p14:sldId id="1414"/>
            <p14:sldId id="1415"/>
            <p14:sldId id="1422"/>
            <p14:sldId id="1423"/>
            <p14:sldId id="1424"/>
            <p14:sldId id="1425"/>
            <p14:sldId id="142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A40A57"/>
    <a:srgbClr val="FFD700"/>
    <a:srgbClr val="0000CC"/>
    <a:srgbClr val="5B307E"/>
    <a:srgbClr val="A2A2A2"/>
    <a:srgbClr val="B962FF"/>
    <a:srgbClr val="FDCB0B"/>
    <a:srgbClr val="F9BC12"/>
    <a:srgbClr val="FFD80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46F890A9-2807-4EBB-B81D-B2AA78EC7F39}" styleName="深色样式 2 - 强调 5/强调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167" autoAdjust="0"/>
    <p:restoredTop sz="96005" autoAdjust="0"/>
  </p:normalViewPr>
  <p:slideViewPr>
    <p:cSldViewPr snapToGrid="0" snapToObjects="1">
      <p:cViewPr varScale="1">
        <p:scale>
          <a:sx n="104" d="100"/>
          <a:sy n="104" d="100"/>
        </p:scale>
        <p:origin x="726" y="114"/>
      </p:cViewPr>
      <p:guideLst/>
    </p:cSldViewPr>
  </p:slideViewPr>
  <p:outlineViewPr>
    <p:cViewPr>
      <p:scale>
        <a:sx n="33" d="100"/>
        <a:sy n="33" d="100"/>
      </p:scale>
      <p:origin x="0" y="-2640"/>
    </p:cViewPr>
  </p:outlineViewPr>
  <p:notesTextViewPr>
    <p:cViewPr>
      <p:scale>
        <a:sx n="145" d="100"/>
        <a:sy n="145" d="100"/>
      </p:scale>
      <p:origin x="0" y="0"/>
    </p:cViewPr>
  </p:notesTextViewPr>
  <p:sorterViewPr>
    <p:cViewPr>
      <p:scale>
        <a:sx n="173" d="100"/>
        <a:sy n="173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theme" Target="theme/theme1.xml"/><Relationship Id="rId8" Type="http://schemas.openxmlformats.org/officeDocument/2006/relationships/slide" Target="slides/slide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5E8472-67E5-DE40-B53F-0C0FEA434AA0}" type="datetimeFigureOut">
              <a:rPr kumimoji="1" lang="zh-CN" altLang="en-US" smtClean="0"/>
              <a:t>2025/4/22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0B8802-914A-7C41-BC77-CC54DEE99EE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0B8802-914A-7C41-BC77-CC54DEE99EEF}" type="slidenum">
              <a:rPr kumimoji="1" lang="zh-CN" altLang="en-US" smtClean="0"/>
              <a:t>0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0B8802-914A-7C41-BC77-CC54DEE99EEF}" type="slidenum">
              <a:rPr kumimoji="1" lang="zh-CN" altLang="en-US" smtClean="0"/>
              <a:t>1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0B8802-914A-7C41-BC77-CC54DEE99EEF}" type="slidenum">
              <a:rPr kumimoji="1" lang="zh-CN" altLang="en-US" smtClean="0"/>
              <a:t>2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0B8802-914A-7C41-BC77-CC54DEE99EEF}" type="slidenum">
              <a:rPr kumimoji="1" lang="zh-CN" altLang="en-US" smtClean="0"/>
              <a:t>3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6842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0B8802-914A-7C41-BC77-CC54DEE99EEF}" type="slidenum">
              <a:rPr kumimoji="1" lang="zh-CN" altLang="en-US" smtClean="0"/>
              <a:t>4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0210588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0B8802-914A-7C41-BC77-CC54DEE99EEF}" type="slidenum">
              <a:rPr kumimoji="1" lang="zh-CN" altLang="en-US" smtClean="0"/>
              <a:t>5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26675504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0B8802-914A-7C41-BC77-CC54DEE99EEF}" type="slidenum">
              <a:rPr kumimoji="1" lang="zh-CN" altLang="en-US" smtClean="0"/>
              <a:t>6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854168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0B8802-914A-7C41-BC77-CC54DEE99EEF}" type="slidenum">
              <a:rPr kumimoji="1" lang="zh-CN" altLang="en-US" smtClean="0"/>
              <a:t>7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3949683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0B8802-914A-7C41-BC77-CC54DEE99EEF}" type="slidenum">
              <a:rPr kumimoji="1" lang="zh-CN" altLang="en-US" smtClean="0"/>
              <a:t>8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27551367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0B8802-914A-7C41-BC77-CC54DEE99EEF}" type="slidenum">
              <a:rPr kumimoji="1" lang="zh-CN" altLang="en-US" smtClean="0"/>
              <a:t>9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6228503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0B8802-914A-7C41-BC77-CC54DEE99EEF}" type="slidenum">
              <a:rPr kumimoji="1" lang="zh-CN" altLang="en-US" smtClean="0"/>
              <a:t>10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12793675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0B8802-914A-7C41-BC77-CC54DEE99EEF}" type="slidenum">
              <a:rPr kumimoji="1" lang="zh-CN" altLang="en-US" smtClean="0"/>
              <a:t>11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0385704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0B8802-914A-7C41-BC77-CC54DEE99EEF}" type="slidenum">
              <a:rPr kumimoji="1" lang="zh-CN" altLang="en-US" smtClean="0"/>
              <a:t>12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25882729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0B8802-914A-7C41-BC77-CC54DEE99EEF}" type="slidenum">
              <a:rPr kumimoji="1" lang="zh-CN" altLang="en-US" smtClean="0"/>
              <a:t>13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1212649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0B8802-914A-7C41-BC77-CC54DEE99EEF}" type="slidenum">
              <a:rPr kumimoji="1" lang="zh-CN" altLang="en-US" smtClean="0"/>
              <a:t>14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57123436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0B8802-914A-7C41-BC77-CC54DEE99EEF}" type="slidenum">
              <a:rPr kumimoji="1" lang="zh-CN" altLang="en-US" smtClean="0"/>
              <a:t>15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72521398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0B8802-914A-7C41-BC77-CC54DEE99EEF}" type="slidenum">
              <a:rPr kumimoji="1" lang="zh-CN" altLang="en-US" smtClean="0"/>
              <a:t>16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77676718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0B8802-914A-7C41-BC77-CC54DEE99EEF}" type="slidenum">
              <a:rPr kumimoji="1" lang="zh-CN" altLang="en-US" smtClean="0"/>
              <a:t>17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1831784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0B8802-914A-7C41-BC77-CC54DEE99EEF}" type="slidenum">
              <a:rPr kumimoji="1" lang="zh-CN" altLang="en-US" smtClean="0"/>
              <a:t>18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32633759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0B8802-914A-7C41-BC77-CC54DEE99EEF}" type="slidenum">
              <a:rPr kumimoji="1" lang="zh-CN" altLang="en-US" smtClean="0"/>
              <a:t>19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725234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0B8802-914A-7C41-BC77-CC54DEE99EEF}" type="slidenum">
              <a:rPr kumimoji="1" lang="zh-CN" altLang="en-US" smtClean="0"/>
              <a:t>20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47557054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0B8802-914A-7C41-BC77-CC54DEE99EEF}" type="slidenum">
              <a:rPr kumimoji="1" lang="zh-CN" altLang="en-US" smtClean="0"/>
              <a:t>21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61785293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0B8802-914A-7C41-BC77-CC54DEE99EEF}" type="slidenum">
              <a:rPr kumimoji="1" lang="zh-CN" altLang="en-US" smtClean="0"/>
              <a:t>22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85762683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0B8802-914A-7C41-BC77-CC54DEE99EEF}" type="slidenum">
              <a:rPr kumimoji="1" lang="zh-CN" altLang="en-US" smtClean="0"/>
              <a:t>23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36313505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0B8802-914A-7C41-BC77-CC54DEE99EEF}" type="slidenum">
              <a:rPr kumimoji="1" lang="zh-CN" altLang="en-US" smtClean="0"/>
              <a:t>24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96436138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0B8802-914A-7C41-BC77-CC54DEE99EEF}" type="slidenum">
              <a:rPr kumimoji="1" lang="zh-CN" altLang="en-US" smtClean="0"/>
              <a:t>25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69971232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0B8802-914A-7C41-BC77-CC54DEE99EEF}" type="slidenum">
              <a:rPr kumimoji="1" lang="zh-CN" altLang="en-US" smtClean="0"/>
              <a:t>26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6372394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0B8802-914A-7C41-BC77-CC54DEE99EEF}" type="slidenum">
              <a:rPr kumimoji="1" lang="zh-CN" altLang="en-US" smtClean="0"/>
              <a:t>27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4442773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0B8802-914A-7C41-BC77-CC54DEE99EEF}" type="slidenum">
              <a:rPr kumimoji="1" lang="zh-CN" altLang="en-US" smtClean="0"/>
              <a:t>28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4779744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669882" y="2308881"/>
            <a:ext cx="10852237" cy="899167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5400" b="0" spc="600">
                <a:effectLst/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669925" y="3565525"/>
            <a:ext cx="10852150" cy="801370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2400" u="none" strike="noStrike" kern="1200" cap="none" spc="200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69882" y="581225"/>
            <a:ext cx="10852237" cy="648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2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669925" y="1508125"/>
            <a:ext cx="10852150" cy="4749165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840105" y="727710"/>
            <a:ext cx="3931920" cy="1115060"/>
          </a:xfrm>
        </p:spPr>
        <p:txBody>
          <a:bodyPr anchor="ctr" anchorCtr="0"/>
          <a:lstStyle>
            <a:lvl1pPr>
              <a:defRPr sz="32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5138420" y="727710"/>
            <a:ext cx="6172200" cy="5403215"/>
          </a:xfrm>
        </p:spPr>
        <p:txBody>
          <a:bodyPr/>
          <a:lstStyle>
            <a:lvl1pPr>
              <a:defRPr sz="2400">
                <a:latin typeface="+mn-ea"/>
                <a:ea typeface="+mn-ea"/>
              </a:defRPr>
            </a:lvl1pPr>
            <a:lvl2pPr marL="457200" indent="0">
              <a:buNone/>
              <a:defRPr sz="2400">
                <a:latin typeface="+mn-ea"/>
                <a:ea typeface="+mn-ea"/>
              </a:defRPr>
            </a:lvl2pPr>
            <a:lvl3pPr>
              <a:defRPr sz="2400">
                <a:latin typeface="+mn-ea"/>
                <a:ea typeface="+mn-ea"/>
              </a:defRPr>
            </a:lvl3pPr>
            <a:lvl4pPr>
              <a:defRPr sz="2400">
                <a:latin typeface="+mn-ea"/>
                <a:ea typeface="+mn-ea"/>
              </a:defRPr>
            </a:lvl4pPr>
            <a:lvl5pPr>
              <a:defRPr sz="2400">
                <a:latin typeface="+mn-ea"/>
                <a:ea typeface="+mn-ea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单击此处编辑正文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840105" y="2239645"/>
            <a:ext cx="3931920" cy="3891915"/>
          </a:xfrm>
        </p:spPr>
        <p:txBody>
          <a:bodyPr/>
          <a:lstStyle>
            <a:lvl1pPr marL="342900" indent="-342900">
              <a:buFont typeface="Arial" panose="020B0604020202020204" pitchFamily="34" charset="0"/>
              <a:buChar char="•"/>
              <a:defRPr sz="2400">
                <a:latin typeface="+mn-ea"/>
                <a:ea typeface="+mn-ea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669925" y="5605145"/>
            <a:ext cx="10852150" cy="558165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669925" y="641350"/>
            <a:ext cx="10852150" cy="4556125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457200" marR="0" lvl="1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12196445" cy="686816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457200" marR="0" lvl="1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467995" y="565150"/>
            <a:ext cx="5400040" cy="572770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6287770" y="565150"/>
            <a:ext cx="5400040" cy="572770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</a:t>
            </a:r>
            <a:r>
              <a:rPr>
                <a:sym typeface="+mn-ea"/>
              </a:rPr>
              <a:t>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69882" y="623591"/>
            <a:ext cx="10852237" cy="899167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3200" b="0" i="0" u="none" strike="noStrike" kern="1200" cap="none" spc="600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 dirty="0"/>
              <a:t>单击此处编辑母版副标题样式</a:t>
            </a:r>
          </a:p>
        </p:txBody>
      </p:sp>
      <p:sp>
        <p:nvSpPr>
          <p:cNvPr id="7" name="矩形 6"/>
          <p:cNvSpPr/>
          <p:nvPr userDrawn="1"/>
        </p:nvSpPr>
        <p:spPr>
          <a:xfrm>
            <a:off x="-9939" y="-8628"/>
            <a:ext cx="8755906" cy="901955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b="0" spc="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区块链技术与应用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A2B135FE-0B53-4AC4-B659-90621587F8A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971879" y="0"/>
            <a:ext cx="3012141" cy="90415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kumimoji="1"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510758"/>
            <a:ext cx="10515600" cy="4586694"/>
          </a:xfrm>
        </p:spPr>
        <p:txBody>
          <a:bodyPr/>
          <a:lstStyle>
            <a:lvl1pPr marL="360680" indent="-36068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Ø"/>
              <a:defRPr/>
            </a:lvl1pPr>
            <a:lvl2pPr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/>
            </a:lvl2pPr>
            <a:lvl3pPr>
              <a:lnSpc>
                <a:spcPct val="100000"/>
              </a:lnSpc>
              <a:spcBef>
                <a:spcPts val="600"/>
              </a:spcBef>
              <a:defRPr/>
            </a:lvl3pPr>
            <a:lvl4pPr>
              <a:lnSpc>
                <a:spcPct val="100000"/>
              </a:lnSpc>
              <a:spcBef>
                <a:spcPts val="600"/>
              </a:spcBef>
              <a:defRPr/>
            </a:lvl4pPr>
            <a:lvl5pPr>
              <a:lnSpc>
                <a:spcPct val="100000"/>
              </a:lnSpc>
              <a:spcBef>
                <a:spcPts val="600"/>
              </a:spcBef>
              <a:defRPr/>
            </a:lvl5pPr>
          </a:lstStyle>
          <a:p>
            <a:pPr lvl="0"/>
            <a:r>
              <a:rPr kumimoji="1" lang="zh-CN" altLang="en-US" dirty="0"/>
              <a:t>单击此处编辑母版文本样式</a:t>
            </a:r>
          </a:p>
          <a:p>
            <a:pPr lvl="1"/>
            <a:r>
              <a:rPr kumimoji="1" lang="zh-CN" altLang="en-US" dirty="0"/>
              <a:t>二级</a:t>
            </a:r>
          </a:p>
          <a:p>
            <a:pPr lvl="2"/>
            <a:r>
              <a:rPr kumimoji="1" lang="zh-CN" altLang="en-US" dirty="0"/>
              <a:t>三级</a:t>
            </a:r>
          </a:p>
          <a:p>
            <a:pPr lvl="3"/>
            <a:r>
              <a:rPr kumimoji="1" lang="zh-CN" altLang="en-US" dirty="0"/>
              <a:t>四级</a:t>
            </a:r>
          </a:p>
          <a:p>
            <a:pPr lvl="4"/>
            <a:r>
              <a:rPr kumimoji="1" lang="zh-CN" altLang="en-US" dirty="0"/>
              <a:t>五级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1E41-7A09-AB4A-A4E1-09765ADA2698}" type="slidenum">
              <a:rPr kumimoji="1" lang="zh-CN" altLang="en-US" smtClean="0"/>
              <a:t>‹#›</a:t>
            </a:fld>
            <a:endParaRPr kumimoji="1" lang="zh-CN" altLang="en-US" dirty="0"/>
          </a:p>
        </p:txBody>
      </p:sp>
      <p:cxnSp>
        <p:nvCxnSpPr>
          <p:cNvPr id="40" name="直线连接符 39"/>
          <p:cNvCxnSpPr/>
          <p:nvPr userDrawn="1"/>
        </p:nvCxnSpPr>
        <p:spPr>
          <a:xfrm>
            <a:off x="1314788" y="1244212"/>
            <a:ext cx="7295812" cy="0"/>
          </a:xfrm>
          <a:prstGeom prst="line">
            <a:avLst/>
          </a:prstGeom>
          <a:ln w="19050">
            <a:solidFill>
              <a:srgbClr val="5C30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线连接符 63"/>
          <p:cNvCxnSpPr/>
          <p:nvPr userDrawn="1"/>
        </p:nvCxnSpPr>
        <p:spPr>
          <a:xfrm>
            <a:off x="9705401" y="526774"/>
            <a:ext cx="0" cy="503679"/>
          </a:xfrm>
          <a:prstGeom prst="line">
            <a:avLst/>
          </a:prstGeom>
          <a:ln w="12700" cap="rnd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1" name="组合 70"/>
          <p:cNvGrpSpPr/>
          <p:nvPr userDrawn="1"/>
        </p:nvGrpSpPr>
        <p:grpSpPr>
          <a:xfrm>
            <a:off x="715452" y="634525"/>
            <a:ext cx="403039" cy="321898"/>
            <a:chOff x="1368170" y="664579"/>
            <a:chExt cx="550582" cy="439737"/>
          </a:xfrm>
          <a:solidFill>
            <a:schemeClr val="bg1"/>
          </a:solidFill>
        </p:grpSpPr>
        <p:sp>
          <p:nvSpPr>
            <p:cNvPr id="72" name="Freeform 1"/>
            <p:cNvSpPr>
              <a:spLocks noChangeArrowheads="1"/>
            </p:cNvSpPr>
            <p:nvPr/>
          </p:nvSpPr>
          <p:spPr bwMode="auto">
            <a:xfrm>
              <a:off x="1481203" y="771778"/>
              <a:ext cx="437549" cy="332538"/>
            </a:xfrm>
            <a:custGeom>
              <a:avLst/>
              <a:gdLst>
                <a:gd name="T0" fmla="*/ 25 w 2647"/>
                <a:gd name="T1" fmla="*/ 1478 h 2011"/>
                <a:gd name="T2" fmla="*/ 525 w 2647"/>
                <a:gd name="T3" fmla="*/ 1865 h 2011"/>
                <a:gd name="T4" fmla="*/ 736 w 2647"/>
                <a:gd name="T5" fmla="*/ 1972 h 2011"/>
                <a:gd name="T6" fmla="*/ 940 w 2647"/>
                <a:gd name="T7" fmla="*/ 2010 h 2011"/>
                <a:gd name="T8" fmla="*/ 1078 w 2647"/>
                <a:gd name="T9" fmla="*/ 1991 h 2011"/>
                <a:gd name="T10" fmla="*/ 1286 w 2647"/>
                <a:gd name="T11" fmla="*/ 1894 h 2011"/>
                <a:gd name="T12" fmla="*/ 1506 w 2647"/>
                <a:gd name="T13" fmla="*/ 1715 h 2011"/>
                <a:gd name="T14" fmla="*/ 1506 w 2647"/>
                <a:gd name="T15" fmla="*/ 1715 h 2011"/>
                <a:gd name="T16" fmla="*/ 2630 w 2647"/>
                <a:gd name="T17" fmla="*/ 624 h 2011"/>
                <a:gd name="T18" fmla="*/ 2646 w 2647"/>
                <a:gd name="T19" fmla="*/ 586 h 2011"/>
                <a:gd name="T20" fmla="*/ 2630 w 2647"/>
                <a:gd name="T21" fmla="*/ 548 h 2011"/>
                <a:gd name="T22" fmla="*/ 2090 w 2647"/>
                <a:gd name="T23" fmla="*/ 21 h 2011"/>
                <a:gd name="T24" fmla="*/ 2016 w 2647"/>
                <a:gd name="T25" fmla="*/ 22 h 2011"/>
                <a:gd name="T26" fmla="*/ 2017 w 2647"/>
                <a:gd name="T27" fmla="*/ 96 h 2011"/>
                <a:gd name="T28" fmla="*/ 2518 w 2647"/>
                <a:gd name="T29" fmla="*/ 586 h 2011"/>
                <a:gd name="T30" fmla="*/ 1433 w 2647"/>
                <a:gd name="T31" fmla="*/ 1639 h 2011"/>
                <a:gd name="T32" fmla="*/ 1433 w 2647"/>
                <a:gd name="T33" fmla="*/ 1639 h 2011"/>
                <a:gd name="T34" fmla="*/ 1167 w 2647"/>
                <a:gd name="T35" fmla="*/ 1843 h 2011"/>
                <a:gd name="T36" fmla="*/ 1051 w 2647"/>
                <a:gd name="T37" fmla="*/ 1889 h 2011"/>
                <a:gd name="T38" fmla="*/ 940 w 2647"/>
                <a:gd name="T39" fmla="*/ 1904 h 2011"/>
                <a:gd name="T40" fmla="*/ 772 w 2647"/>
                <a:gd name="T41" fmla="*/ 1872 h 2011"/>
                <a:gd name="T42" fmla="*/ 474 w 2647"/>
                <a:gd name="T43" fmla="*/ 1704 h 2011"/>
                <a:gd name="T44" fmla="*/ 93 w 2647"/>
                <a:gd name="T45" fmla="*/ 1398 h 2011"/>
                <a:gd name="T46" fmla="*/ 19 w 2647"/>
                <a:gd name="T47" fmla="*/ 1404 h 2011"/>
                <a:gd name="T48" fmla="*/ 25 w 2647"/>
                <a:gd name="T49" fmla="*/ 1478 h 20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647" h="2011">
                  <a:moveTo>
                    <a:pt x="25" y="1478"/>
                  </a:moveTo>
                  <a:cubicBezTo>
                    <a:pt x="219" y="1643"/>
                    <a:pt x="380" y="1773"/>
                    <a:pt x="525" y="1865"/>
                  </a:cubicBezTo>
                  <a:cubicBezTo>
                    <a:pt x="598" y="1911"/>
                    <a:pt x="668" y="1947"/>
                    <a:pt x="736" y="1972"/>
                  </a:cubicBezTo>
                  <a:cubicBezTo>
                    <a:pt x="805" y="1996"/>
                    <a:pt x="872" y="2010"/>
                    <a:pt x="940" y="2010"/>
                  </a:cubicBezTo>
                  <a:cubicBezTo>
                    <a:pt x="986" y="2010"/>
                    <a:pt x="1032" y="2004"/>
                    <a:pt x="1078" y="1991"/>
                  </a:cubicBezTo>
                  <a:cubicBezTo>
                    <a:pt x="1147" y="1973"/>
                    <a:pt x="1216" y="1940"/>
                    <a:pt x="1286" y="1894"/>
                  </a:cubicBezTo>
                  <a:cubicBezTo>
                    <a:pt x="1357" y="1848"/>
                    <a:pt x="1429" y="1789"/>
                    <a:pt x="1506" y="1715"/>
                  </a:cubicBezTo>
                  <a:lnTo>
                    <a:pt x="1506" y="1715"/>
                  </a:lnTo>
                  <a:lnTo>
                    <a:pt x="2630" y="624"/>
                  </a:lnTo>
                  <a:cubicBezTo>
                    <a:pt x="2640" y="614"/>
                    <a:pt x="2646" y="600"/>
                    <a:pt x="2646" y="586"/>
                  </a:cubicBezTo>
                  <a:cubicBezTo>
                    <a:pt x="2646" y="572"/>
                    <a:pt x="2641" y="558"/>
                    <a:pt x="2630" y="548"/>
                  </a:cubicBezTo>
                  <a:lnTo>
                    <a:pt x="2090" y="21"/>
                  </a:lnTo>
                  <a:cubicBezTo>
                    <a:pt x="2069" y="0"/>
                    <a:pt x="2036" y="1"/>
                    <a:pt x="2016" y="22"/>
                  </a:cubicBezTo>
                  <a:cubicBezTo>
                    <a:pt x="1995" y="42"/>
                    <a:pt x="1996" y="76"/>
                    <a:pt x="2017" y="96"/>
                  </a:cubicBezTo>
                  <a:lnTo>
                    <a:pt x="2518" y="586"/>
                  </a:lnTo>
                  <a:lnTo>
                    <a:pt x="1433" y="1639"/>
                  </a:lnTo>
                  <a:lnTo>
                    <a:pt x="1433" y="1639"/>
                  </a:lnTo>
                  <a:cubicBezTo>
                    <a:pt x="1335" y="1733"/>
                    <a:pt x="1247" y="1800"/>
                    <a:pt x="1167" y="1843"/>
                  </a:cubicBezTo>
                  <a:cubicBezTo>
                    <a:pt x="1127" y="1864"/>
                    <a:pt x="1088" y="1879"/>
                    <a:pt x="1051" y="1889"/>
                  </a:cubicBezTo>
                  <a:cubicBezTo>
                    <a:pt x="1013" y="1899"/>
                    <a:pt x="977" y="1904"/>
                    <a:pt x="940" y="1904"/>
                  </a:cubicBezTo>
                  <a:cubicBezTo>
                    <a:pt x="886" y="1904"/>
                    <a:pt x="831" y="1894"/>
                    <a:pt x="772" y="1872"/>
                  </a:cubicBezTo>
                  <a:cubicBezTo>
                    <a:pt x="683" y="1840"/>
                    <a:pt x="586" y="1784"/>
                    <a:pt x="474" y="1704"/>
                  </a:cubicBezTo>
                  <a:cubicBezTo>
                    <a:pt x="363" y="1624"/>
                    <a:pt x="238" y="1521"/>
                    <a:pt x="93" y="1398"/>
                  </a:cubicBezTo>
                  <a:cubicBezTo>
                    <a:pt x="71" y="1379"/>
                    <a:pt x="38" y="1382"/>
                    <a:pt x="19" y="1404"/>
                  </a:cubicBezTo>
                  <a:cubicBezTo>
                    <a:pt x="0" y="1426"/>
                    <a:pt x="3" y="1459"/>
                    <a:pt x="25" y="1478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bevel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3" name="Freeform 2"/>
            <p:cNvSpPr>
              <a:spLocks noChangeArrowheads="1"/>
            </p:cNvSpPr>
            <p:nvPr/>
          </p:nvSpPr>
          <p:spPr bwMode="auto">
            <a:xfrm>
              <a:off x="1511832" y="868769"/>
              <a:ext cx="356603" cy="190334"/>
            </a:xfrm>
            <a:custGeom>
              <a:avLst/>
              <a:gdLst>
                <a:gd name="T0" fmla="*/ 15 w 2158"/>
                <a:gd name="T1" fmla="*/ 713 h 1152"/>
                <a:gd name="T2" fmla="*/ 432 w 2158"/>
                <a:gd name="T3" fmla="*/ 1033 h 1152"/>
                <a:gd name="T4" fmla="*/ 605 w 2158"/>
                <a:gd name="T5" fmla="*/ 1120 h 1152"/>
                <a:gd name="T6" fmla="*/ 771 w 2158"/>
                <a:gd name="T7" fmla="*/ 1151 h 1152"/>
                <a:gd name="T8" fmla="*/ 896 w 2158"/>
                <a:gd name="T9" fmla="*/ 1132 h 1152"/>
                <a:gd name="T10" fmla="*/ 1089 w 2158"/>
                <a:gd name="T11" fmla="*/ 1036 h 1152"/>
                <a:gd name="T12" fmla="*/ 1305 w 2158"/>
                <a:gd name="T13" fmla="*/ 856 h 1152"/>
                <a:gd name="T14" fmla="*/ 1305 w 2158"/>
                <a:gd name="T15" fmla="*/ 856 h 1152"/>
                <a:gd name="T16" fmla="*/ 2144 w 2158"/>
                <a:gd name="T17" fmla="*/ 57 h 1152"/>
                <a:gd name="T18" fmla="*/ 2145 w 2158"/>
                <a:gd name="T19" fmla="*/ 13 h 1152"/>
                <a:gd name="T20" fmla="*/ 2100 w 2158"/>
                <a:gd name="T21" fmla="*/ 12 h 1152"/>
                <a:gd name="T22" fmla="*/ 1262 w 2158"/>
                <a:gd name="T23" fmla="*/ 811 h 1152"/>
                <a:gd name="T24" fmla="*/ 1262 w 2158"/>
                <a:gd name="T25" fmla="*/ 811 h 1152"/>
                <a:gd name="T26" fmla="*/ 993 w 2158"/>
                <a:gd name="T27" fmla="*/ 1023 h 1152"/>
                <a:gd name="T28" fmla="*/ 878 w 2158"/>
                <a:gd name="T29" fmla="*/ 1072 h 1152"/>
                <a:gd name="T30" fmla="*/ 771 w 2158"/>
                <a:gd name="T31" fmla="*/ 1088 h 1152"/>
                <a:gd name="T32" fmla="*/ 626 w 2158"/>
                <a:gd name="T33" fmla="*/ 1061 h 1152"/>
                <a:gd name="T34" fmla="*/ 376 w 2158"/>
                <a:gd name="T35" fmla="*/ 920 h 1152"/>
                <a:gd name="T36" fmla="*/ 55 w 2158"/>
                <a:gd name="T37" fmla="*/ 665 h 1152"/>
                <a:gd name="T38" fmla="*/ 11 w 2158"/>
                <a:gd name="T39" fmla="*/ 669 h 1152"/>
                <a:gd name="T40" fmla="*/ 15 w 2158"/>
                <a:gd name="T41" fmla="*/ 713 h 1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158" h="1152">
                  <a:moveTo>
                    <a:pt x="15" y="713"/>
                  </a:moveTo>
                  <a:cubicBezTo>
                    <a:pt x="179" y="850"/>
                    <a:pt x="312" y="958"/>
                    <a:pt x="432" y="1033"/>
                  </a:cubicBezTo>
                  <a:cubicBezTo>
                    <a:pt x="492" y="1071"/>
                    <a:pt x="549" y="1100"/>
                    <a:pt x="605" y="1120"/>
                  </a:cubicBezTo>
                  <a:cubicBezTo>
                    <a:pt x="661" y="1140"/>
                    <a:pt x="716" y="1151"/>
                    <a:pt x="771" y="1151"/>
                  </a:cubicBezTo>
                  <a:cubicBezTo>
                    <a:pt x="812" y="1151"/>
                    <a:pt x="854" y="1145"/>
                    <a:pt x="896" y="1132"/>
                  </a:cubicBezTo>
                  <a:cubicBezTo>
                    <a:pt x="959" y="1114"/>
                    <a:pt x="1022" y="1082"/>
                    <a:pt x="1089" y="1036"/>
                  </a:cubicBezTo>
                  <a:cubicBezTo>
                    <a:pt x="1156" y="990"/>
                    <a:pt x="1227" y="931"/>
                    <a:pt x="1305" y="856"/>
                  </a:cubicBezTo>
                  <a:lnTo>
                    <a:pt x="1305" y="856"/>
                  </a:lnTo>
                  <a:lnTo>
                    <a:pt x="2144" y="57"/>
                  </a:lnTo>
                  <a:cubicBezTo>
                    <a:pt x="2156" y="45"/>
                    <a:pt x="2157" y="25"/>
                    <a:pt x="2145" y="13"/>
                  </a:cubicBezTo>
                  <a:cubicBezTo>
                    <a:pt x="2133" y="0"/>
                    <a:pt x="2113" y="0"/>
                    <a:pt x="2100" y="12"/>
                  </a:cubicBezTo>
                  <a:lnTo>
                    <a:pt x="1262" y="811"/>
                  </a:lnTo>
                  <a:lnTo>
                    <a:pt x="1262" y="811"/>
                  </a:lnTo>
                  <a:cubicBezTo>
                    <a:pt x="1160" y="908"/>
                    <a:pt x="1072" y="978"/>
                    <a:pt x="993" y="1023"/>
                  </a:cubicBezTo>
                  <a:cubicBezTo>
                    <a:pt x="953" y="1045"/>
                    <a:pt x="915" y="1062"/>
                    <a:pt x="878" y="1072"/>
                  </a:cubicBezTo>
                  <a:cubicBezTo>
                    <a:pt x="842" y="1083"/>
                    <a:pt x="806" y="1088"/>
                    <a:pt x="771" y="1088"/>
                  </a:cubicBezTo>
                  <a:cubicBezTo>
                    <a:pt x="724" y="1088"/>
                    <a:pt x="677" y="1079"/>
                    <a:pt x="626" y="1061"/>
                  </a:cubicBezTo>
                  <a:cubicBezTo>
                    <a:pt x="551" y="1034"/>
                    <a:pt x="469" y="987"/>
                    <a:pt x="376" y="920"/>
                  </a:cubicBezTo>
                  <a:cubicBezTo>
                    <a:pt x="282" y="853"/>
                    <a:pt x="177" y="767"/>
                    <a:pt x="55" y="665"/>
                  </a:cubicBezTo>
                  <a:cubicBezTo>
                    <a:pt x="42" y="654"/>
                    <a:pt x="22" y="656"/>
                    <a:pt x="11" y="669"/>
                  </a:cubicBezTo>
                  <a:cubicBezTo>
                    <a:pt x="0" y="682"/>
                    <a:pt x="1" y="702"/>
                    <a:pt x="15" y="713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bevel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4" name="Freeform 3"/>
            <p:cNvSpPr>
              <a:spLocks noChangeArrowheads="1"/>
            </p:cNvSpPr>
            <p:nvPr/>
          </p:nvSpPr>
          <p:spPr bwMode="auto">
            <a:xfrm>
              <a:off x="1540273" y="847620"/>
              <a:ext cx="304826" cy="169186"/>
            </a:xfrm>
            <a:custGeom>
              <a:avLst/>
              <a:gdLst>
                <a:gd name="T0" fmla="*/ 12 w 1845"/>
                <a:gd name="T1" fmla="*/ 672 h 1022"/>
                <a:gd name="T2" fmla="*/ 350 w 1845"/>
                <a:gd name="T3" fmla="*/ 928 h 1022"/>
                <a:gd name="T4" fmla="*/ 488 w 1845"/>
                <a:gd name="T5" fmla="*/ 997 h 1022"/>
                <a:gd name="T6" fmla="*/ 620 w 1845"/>
                <a:gd name="T7" fmla="*/ 1021 h 1022"/>
                <a:gd name="T8" fmla="*/ 734 w 1845"/>
                <a:gd name="T9" fmla="*/ 1003 h 1022"/>
                <a:gd name="T10" fmla="*/ 915 w 1845"/>
                <a:gd name="T11" fmla="*/ 905 h 1022"/>
                <a:gd name="T12" fmla="*/ 1129 w 1845"/>
                <a:gd name="T13" fmla="*/ 720 h 1022"/>
                <a:gd name="T14" fmla="*/ 1129 w 1845"/>
                <a:gd name="T15" fmla="*/ 720 h 1022"/>
                <a:gd name="T16" fmla="*/ 1834 w 1845"/>
                <a:gd name="T17" fmla="*/ 42 h 1022"/>
                <a:gd name="T18" fmla="*/ 1835 w 1845"/>
                <a:gd name="T19" fmla="*/ 10 h 1022"/>
                <a:gd name="T20" fmla="*/ 1802 w 1845"/>
                <a:gd name="T21" fmla="*/ 9 h 1022"/>
                <a:gd name="T22" fmla="*/ 1097 w 1845"/>
                <a:gd name="T23" fmla="*/ 687 h 1022"/>
                <a:gd name="T24" fmla="*/ 1097 w 1845"/>
                <a:gd name="T25" fmla="*/ 687 h 1022"/>
                <a:gd name="T26" fmla="*/ 828 w 1845"/>
                <a:gd name="T27" fmla="*/ 907 h 1022"/>
                <a:gd name="T28" fmla="*/ 720 w 1845"/>
                <a:gd name="T29" fmla="*/ 959 h 1022"/>
                <a:gd name="T30" fmla="*/ 620 w 1845"/>
                <a:gd name="T31" fmla="*/ 975 h 1022"/>
                <a:gd name="T32" fmla="*/ 504 w 1845"/>
                <a:gd name="T33" fmla="*/ 954 h 1022"/>
                <a:gd name="T34" fmla="*/ 302 w 1845"/>
                <a:gd name="T35" fmla="*/ 841 h 1022"/>
                <a:gd name="T36" fmla="*/ 41 w 1845"/>
                <a:gd name="T37" fmla="*/ 636 h 1022"/>
                <a:gd name="T38" fmla="*/ 9 w 1845"/>
                <a:gd name="T39" fmla="*/ 640 h 1022"/>
                <a:gd name="T40" fmla="*/ 12 w 1845"/>
                <a:gd name="T41" fmla="*/ 672 h 10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845" h="1022">
                  <a:moveTo>
                    <a:pt x="12" y="672"/>
                  </a:moveTo>
                  <a:cubicBezTo>
                    <a:pt x="146" y="782"/>
                    <a:pt x="254" y="868"/>
                    <a:pt x="350" y="928"/>
                  </a:cubicBezTo>
                  <a:cubicBezTo>
                    <a:pt x="398" y="958"/>
                    <a:pt x="444" y="981"/>
                    <a:pt x="488" y="997"/>
                  </a:cubicBezTo>
                  <a:cubicBezTo>
                    <a:pt x="533" y="1013"/>
                    <a:pt x="576" y="1021"/>
                    <a:pt x="620" y="1021"/>
                  </a:cubicBezTo>
                  <a:cubicBezTo>
                    <a:pt x="658" y="1021"/>
                    <a:pt x="695" y="1015"/>
                    <a:pt x="734" y="1003"/>
                  </a:cubicBezTo>
                  <a:cubicBezTo>
                    <a:pt x="791" y="984"/>
                    <a:pt x="850" y="952"/>
                    <a:pt x="915" y="905"/>
                  </a:cubicBezTo>
                  <a:cubicBezTo>
                    <a:pt x="980" y="858"/>
                    <a:pt x="1050" y="797"/>
                    <a:pt x="1129" y="720"/>
                  </a:cubicBezTo>
                  <a:lnTo>
                    <a:pt x="1129" y="720"/>
                  </a:lnTo>
                  <a:lnTo>
                    <a:pt x="1834" y="42"/>
                  </a:lnTo>
                  <a:cubicBezTo>
                    <a:pt x="1843" y="34"/>
                    <a:pt x="1844" y="19"/>
                    <a:pt x="1835" y="10"/>
                  </a:cubicBezTo>
                  <a:cubicBezTo>
                    <a:pt x="1826" y="1"/>
                    <a:pt x="1811" y="0"/>
                    <a:pt x="1802" y="9"/>
                  </a:cubicBezTo>
                  <a:lnTo>
                    <a:pt x="1097" y="687"/>
                  </a:lnTo>
                  <a:lnTo>
                    <a:pt x="1097" y="687"/>
                  </a:lnTo>
                  <a:cubicBezTo>
                    <a:pt x="992" y="788"/>
                    <a:pt x="905" y="861"/>
                    <a:pt x="828" y="907"/>
                  </a:cubicBezTo>
                  <a:cubicBezTo>
                    <a:pt x="790" y="931"/>
                    <a:pt x="754" y="948"/>
                    <a:pt x="720" y="959"/>
                  </a:cubicBezTo>
                  <a:cubicBezTo>
                    <a:pt x="685" y="970"/>
                    <a:pt x="653" y="975"/>
                    <a:pt x="620" y="975"/>
                  </a:cubicBezTo>
                  <a:cubicBezTo>
                    <a:pt x="582" y="975"/>
                    <a:pt x="544" y="968"/>
                    <a:pt x="504" y="954"/>
                  </a:cubicBezTo>
                  <a:cubicBezTo>
                    <a:pt x="443" y="932"/>
                    <a:pt x="378" y="894"/>
                    <a:pt x="302" y="841"/>
                  </a:cubicBezTo>
                  <a:cubicBezTo>
                    <a:pt x="227" y="787"/>
                    <a:pt x="141" y="718"/>
                    <a:pt x="41" y="636"/>
                  </a:cubicBezTo>
                  <a:cubicBezTo>
                    <a:pt x="31" y="628"/>
                    <a:pt x="17" y="630"/>
                    <a:pt x="9" y="640"/>
                  </a:cubicBezTo>
                  <a:cubicBezTo>
                    <a:pt x="0" y="649"/>
                    <a:pt x="2" y="664"/>
                    <a:pt x="12" y="672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bevel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5" name="Freeform 4"/>
            <p:cNvSpPr>
              <a:spLocks noChangeArrowheads="1"/>
            </p:cNvSpPr>
            <p:nvPr/>
          </p:nvSpPr>
          <p:spPr bwMode="auto">
            <a:xfrm>
              <a:off x="1568713" y="826472"/>
              <a:ext cx="253050" cy="148037"/>
            </a:xfrm>
            <a:custGeom>
              <a:avLst/>
              <a:gdLst>
                <a:gd name="T0" fmla="*/ 8 w 1531"/>
                <a:gd name="T1" fmla="*/ 630 h 895"/>
                <a:gd name="T2" fmla="*/ 269 w 1531"/>
                <a:gd name="T3" fmla="*/ 824 h 895"/>
                <a:gd name="T4" fmla="*/ 374 w 1531"/>
                <a:gd name="T5" fmla="*/ 876 h 895"/>
                <a:gd name="T6" fmla="*/ 473 w 1531"/>
                <a:gd name="T7" fmla="*/ 894 h 895"/>
                <a:gd name="T8" fmla="*/ 573 w 1531"/>
                <a:gd name="T9" fmla="*/ 875 h 895"/>
                <a:gd name="T10" fmla="*/ 739 w 1531"/>
                <a:gd name="T11" fmla="*/ 775 h 895"/>
                <a:gd name="T12" fmla="*/ 953 w 1531"/>
                <a:gd name="T13" fmla="*/ 584 h 895"/>
                <a:gd name="T14" fmla="*/ 953 w 1531"/>
                <a:gd name="T15" fmla="*/ 584 h 895"/>
                <a:gd name="T16" fmla="*/ 1524 w 1531"/>
                <a:gd name="T17" fmla="*/ 27 h 895"/>
                <a:gd name="T18" fmla="*/ 1524 w 1531"/>
                <a:gd name="T19" fmla="*/ 6 h 895"/>
                <a:gd name="T20" fmla="*/ 1503 w 1531"/>
                <a:gd name="T21" fmla="*/ 6 h 895"/>
                <a:gd name="T22" fmla="*/ 932 w 1531"/>
                <a:gd name="T23" fmla="*/ 563 h 895"/>
                <a:gd name="T24" fmla="*/ 932 w 1531"/>
                <a:gd name="T25" fmla="*/ 563 h 895"/>
                <a:gd name="T26" fmla="*/ 663 w 1531"/>
                <a:gd name="T27" fmla="*/ 793 h 895"/>
                <a:gd name="T28" fmla="*/ 562 w 1531"/>
                <a:gd name="T29" fmla="*/ 847 h 895"/>
                <a:gd name="T30" fmla="*/ 473 w 1531"/>
                <a:gd name="T31" fmla="*/ 865 h 895"/>
                <a:gd name="T32" fmla="*/ 384 w 1531"/>
                <a:gd name="T33" fmla="*/ 848 h 895"/>
                <a:gd name="T34" fmla="*/ 229 w 1531"/>
                <a:gd name="T35" fmla="*/ 762 h 895"/>
                <a:gd name="T36" fmla="*/ 26 w 1531"/>
                <a:gd name="T37" fmla="*/ 607 h 895"/>
                <a:gd name="T38" fmla="*/ 5 w 1531"/>
                <a:gd name="T39" fmla="*/ 609 h 895"/>
                <a:gd name="T40" fmla="*/ 8 w 1531"/>
                <a:gd name="T41" fmla="*/ 630 h 8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531" h="895">
                  <a:moveTo>
                    <a:pt x="8" y="630"/>
                  </a:moveTo>
                  <a:cubicBezTo>
                    <a:pt x="113" y="714"/>
                    <a:pt x="196" y="779"/>
                    <a:pt x="269" y="824"/>
                  </a:cubicBezTo>
                  <a:cubicBezTo>
                    <a:pt x="306" y="847"/>
                    <a:pt x="340" y="864"/>
                    <a:pt x="374" y="876"/>
                  </a:cubicBezTo>
                  <a:cubicBezTo>
                    <a:pt x="407" y="888"/>
                    <a:pt x="440" y="894"/>
                    <a:pt x="473" y="894"/>
                  </a:cubicBezTo>
                  <a:cubicBezTo>
                    <a:pt x="506" y="894"/>
                    <a:pt x="539" y="888"/>
                    <a:pt x="573" y="875"/>
                  </a:cubicBezTo>
                  <a:cubicBezTo>
                    <a:pt x="624" y="856"/>
                    <a:pt x="678" y="823"/>
                    <a:pt x="739" y="775"/>
                  </a:cubicBezTo>
                  <a:cubicBezTo>
                    <a:pt x="801" y="727"/>
                    <a:pt x="870" y="663"/>
                    <a:pt x="953" y="584"/>
                  </a:cubicBezTo>
                  <a:lnTo>
                    <a:pt x="953" y="584"/>
                  </a:lnTo>
                  <a:lnTo>
                    <a:pt x="1524" y="27"/>
                  </a:lnTo>
                  <a:cubicBezTo>
                    <a:pt x="1529" y="21"/>
                    <a:pt x="1530" y="12"/>
                    <a:pt x="1524" y="6"/>
                  </a:cubicBezTo>
                  <a:cubicBezTo>
                    <a:pt x="1518" y="0"/>
                    <a:pt x="1509" y="0"/>
                    <a:pt x="1503" y="6"/>
                  </a:cubicBezTo>
                  <a:lnTo>
                    <a:pt x="932" y="563"/>
                  </a:lnTo>
                  <a:lnTo>
                    <a:pt x="932" y="563"/>
                  </a:lnTo>
                  <a:cubicBezTo>
                    <a:pt x="823" y="668"/>
                    <a:pt x="737" y="744"/>
                    <a:pt x="663" y="793"/>
                  </a:cubicBezTo>
                  <a:cubicBezTo>
                    <a:pt x="627" y="818"/>
                    <a:pt x="594" y="836"/>
                    <a:pt x="562" y="847"/>
                  </a:cubicBezTo>
                  <a:cubicBezTo>
                    <a:pt x="531" y="859"/>
                    <a:pt x="502" y="865"/>
                    <a:pt x="473" y="865"/>
                  </a:cubicBezTo>
                  <a:cubicBezTo>
                    <a:pt x="444" y="865"/>
                    <a:pt x="415" y="859"/>
                    <a:pt x="384" y="848"/>
                  </a:cubicBezTo>
                  <a:cubicBezTo>
                    <a:pt x="338" y="832"/>
                    <a:pt x="288" y="803"/>
                    <a:pt x="229" y="762"/>
                  </a:cubicBezTo>
                  <a:cubicBezTo>
                    <a:pt x="171" y="722"/>
                    <a:pt x="105" y="669"/>
                    <a:pt x="26" y="607"/>
                  </a:cubicBezTo>
                  <a:cubicBezTo>
                    <a:pt x="20" y="602"/>
                    <a:pt x="10" y="603"/>
                    <a:pt x="5" y="609"/>
                  </a:cubicBezTo>
                  <a:cubicBezTo>
                    <a:pt x="0" y="615"/>
                    <a:pt x="1" y="625"/>
                    <a:pt x="8" y="630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bevel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6" name="Freeform 5"/>
            <p:cNvSpPr>
              <a:spLocks noChangeArrowheads="1"/>
            </p:cNvSpPr>
            <p:nvPr/>
          </p:nvSpPr>
          <p:spPr bwMode="auto">
            <a:xfrm>
              <a:off x="1596425" y="805324"/>
              <a:ext cx="201273" cy="127619"/>
            </a:xfrm>
            <a:custGeom>
              <a:avLst/>
              <a:gdLst>
                <a:gd name="T0" fmla="*/ 4 w 1217"/>
                <a:gd name="T1" fmla="*/ 588 h 773"/>
                <a:gd name="T2" fmla="*/ 193 w 1217"/>
                <a:gd name="T3" fmla="*/ 724 h 773"/>
                <a:gd name="T4" fmla="*/ 332 w 1217"/>
                <a:gd name="T5" fmla="*/ 772 h 773"/>
                <a:gd name="T6" fmla="*/ 415 w 1217"/>
                <a:gd name="T7" fmla="*/ 752 h 773"/>
                <a:gd name="T8" fmla="*/ 563 w 1217"/>
                <a:gd name="T9" fmla="*/ 648 h 773"/>
                <a:gd name="T10" fmla="*/ 776 w 1217"/>
                <a:gd name="T11" fmla="*/ 448 h 773"/>
                <a:gd name="T12" fmla="*/ 776 w 1217"/>
                <a:gd name="T13" fmla="*/ 448 h 773"/>
                <a:gd name="T14" fmla="*/ 1213 w 1217"/>
                <a:gd name="T15" fmla="*/ 12 h 773"/>
                <a:gd name="T16" fmla="*/ 1213 w 1217"/>
                <a:gd name="T17" fmla="*/ 2 h 773"/>
                <a:gd name="T18" fmla="*/ 1204 w 1217"/>
                <a:gd name="T19" fmla="*/ 2 h 773"/>
                <a:gd name="T20" fmla="*/ 767 w 1217"/>
                <a:gd name="T21" fmla="*/ 439 h 773"/>
                <a:gd name="T22" fmla="*/ 500 w 1217"/>
                <a:gd name="T23" fmla="*/ 682 h 773"/>
                <a:gd name="T24" fmla="*/ 410 w 1217"/>
                <a:gd name="T25" fmla="*/ 740 h 773"/>
                <a:gd name="T26" fmla="*/ 332 w 1217"/>
                <a:gd name="T27" fmla="*/ 759 h 773"/>
                <a:gd name="T28" fmla="*/ 199 w 1217"/>
                <a:gd name="T29" fmla="*/ 712 h 773"/>
                <a:gd name="T30" fmla="*/ 12 w 1217"/>
                <a:gd name="T31" fmla="*/ 577 h 773"/>
                <a:gd name="T32" fmla="*/ 2 w 1217"/>
                <a:gd name="T33" fmla="*/ 578 h 773"/>
                <a:gd name="T34" fmla="*/ 4 w 1217"/>
                <a:gd name="T35" fmla="*/ 588 h 7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217" h="773">
                  <a:moveTo>
                    <a:pt x="4" y="588"/>
                  </a:moveTo>
                  <a:cubicBezTo>
                    <a:pt x="81" y="647"/>
                    <a:pt x="141" y="692"/>
                    <a:pt x="193" y="724"/>
                  </a:cubicBezTo>
                  <a:cubicBezTo>
                    <a:pt x="244" y="755"/>
                    <a:pt x="288" y="772"/>
                    <a:pt x="332" y="772"/>
                  </a:cubicBezTo>
                  <a:cubicBezTo>
                    <a:pt x="359" y="772"/>
                    <a:pt x="386" y="765"/>
                    <a:pt x="415" y="752"/>
                  </a:cubicBezTo>
                  <a:cubicBezTo>
                    <a:pt x="458" y="733"/>
                    <a:pt x="505" y="698"/>
                    <a:pt x="563" y="648"/>
                  </a:cubicBezTo>
                  <a:cubicBezTo>
                    <a:pt x="620" y="597"/>
                    <a:pt x="689" y="531"/>
                    <a:pt x="776" y="448"/>
                  </a:cubicBezTo>
                  <a:lnTo>
                    <a:pt x="776" y="448"/>
                  </a:lnTo>
                  <a:lnTo>
                    <a:pt x="1213" y="12"/>
                  </a:lnTo>
                  <a:cubicBezTo>
                    <a:pt x="1216" y="9"/>
                    <a:pt x="1216" y="5"/>
                    <a:pt x="1213" y="2"/>
                  </a:cubicBezTo>
                  <a:cubicBezTo>
                    <a:pt x="1210" y="0"/>
                    <a:pt x="1206" y="0"/>
                    <a:pt x="1204" y="2"/>
                  </a:cubicBezTo>
                  <a:lnTo>
                    <a:pt x="767" y="439"/>
                  </a:lnTo>
                  <a:cubicBezTo>
                    <a:pt x="651" y="549"/>
                    <a:pt x="568" y="630"/>
                    <a:pt x="500" y="682"/>
                  </a:cubicBezTo>
                  <a:cubicBezTo>
                    <a:pt x="466" y="709"/>
                    <a:pt x="437" y="728"/>
                    <a:pt x="410" y="740"/>
                  </a:cubicBezTo>
                  <a:cubicBezTo>
                    <a:pt x="382" y="753"/>
                    <a:pt x="357" y="759"/>
                    <a:pt x="332" y="759"/>
                  </a:cubicBezTo>
                  <a:cubicBezTo>
                    <a:pt x="291" y="759"/>
                    <a:pt x="250" y="743"/>
                    <a:pt x="199" y="712"/>
                  </a:cubicBezTo>
                  <a:cubicBezTo>
                    <a:pt x="149" y="682"/>
                    <a:pt x="89" y="636"/>
                    <a:pt x="12" y="577"/>
                  </a:cubicBezTo>
                  <a:cubicBezTo>
                    <a:pt x="9" y="575"/>
                    <a:pt x="4" y="575"/>
                    <a:pt x="2" y="578"/>
                  </a:cubicBezTo>
                  <a:cubicBezTo>
                    <a:pt x="0" y="581"/>
                    <a:pt x="1" y="585"/>
                    <a:pt x="4" y="588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bevel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7" name="Freeform 6"/>
            <p:cNvSpPr>
              <a:spLocks noChangeArrowheads="1"/>
            </p:cNvSpPr>
            <p:nvPr/>
          </p:nvSpPr>
          <p:spPr bwMode="auto">
            <a:xfrm>
              <a:off x="1368170" y="664579"/>
              <a:ext cx="439737" cy="330350"/>
            </a:xfrm>
            <a:custGeom>
              <a:avLst/>
              <a:gdLst>
                <a:gd name="T0" fmla="*/ 2631 w 2657"/>
                <a:gd name="T1" fmla="*/ 532 h 1998"/>
                <a:gd name="T2" fmla="*/ 2130 w 2657"/>
                <a:gd name="T3" fmla="*/ 145 h 1998"/>
                <a:gd name="T4" fmla="*/ 1920 w 2657"/>
                <a:gd name="T5" fmla="*/ 38 h 1998"/>
                <a:gd name="T6" fmla="*/ 1715 w 2657"/>
                <a:gd name="T7" fmla="*/ 0 h 1998"/>
                <a:gd name="T8" fmla="*/ 1578 w 2657"/>
                <a:gd name="T9" fmla="*/ 19 h 1998"/>
                <a:gd name="T10" fmla="*/ 1370 w 2657"/>
                <a:gd name="T11" fmla="*/ 116 h 1998"/>
                <a:gd name="T12" fmla="*/ 1150 w 2657"/>
                <a:gd name="T13" fmla="*/ 295 h 1998"/>
                <a:gd name="T14" fmla="*/ 1150 w 2657"/>
                <a:gd name="T15" fmla="*/ 295 h 1998"/>
                <a:gd name="T16" fmla="*/ 16 w 2657"/>
                <a:gd name="T17" fmla="*/ 1368 h 1998"/>
                <a:gd name="T18" fmla="*/ 0 w 2657"/>
                <a:gd name="T19" fmla="*/ 1406 h 1998"/>
                <a:gd name="T20" fmla="*/ 16 w 2657"/>
                <a:gd name="T21" fmla="*/ 1444 h 1998"/>
                <a:gd name="T22" fmla="*/ 566 w 2657"/>
                <a:gd name="T23" fmla="*/ 1977 h 1998"/>
                <a:gd name="T24" fmla="*/ 640 w 2657"/>
                <a:gd name="T25" fmla="*/ 1976 h 1998"/>
                <a:gd name="T26" fmla="*/ 639 w 2657"/>
                <a:gd name="T27" fmla="*/ 1901 h 1998"/>
                <a:gd name="T28" fmla="*/ 129 w 2657"/>
                <a:gd name="T29" fmla="*/ 1406 h 1998"/>
                <a:gd name="T30" fmla="*/ 1223 w 2657"/>
                <a:gd name="T31" fmla="*/ 371 h 1998"/>
                <a:gd name="T32" fmla="*/ 1223 w 2657"/>
                <a:gd name="T33" fmla="*/ 371 h 1998"/>
                <a:gd name="T34" fmla="*/ 1489 w 2657"/>
                <a:gd name="T35" fmla="*/ 167 h 1998"/>
                <a:gd name="T36" fmla="*/ 1605 w 2657"/>
                <a:gd name="T37" fmla="*/ 121 h 1998"/>
                <a:gd name="T38" fmla="*/ 1715 w 2657"/>
                <a:gd name="T39" fmla="*/ 106 h 1998"/>
                <a:gd name="T40" fmla="*/ 1884 w 2657"/>
                <a:gd name="T41" fmla="*/ 138 h 1998"/>
                <a:gd name="T42" fmla="*/ 2181 w 2657"/>
                <a:gd name="T43" fmla="*/ 306 h 1998"/>
                <a:gd name="T44" fmla="*/ 2562 w 2657"/>
                <a:gd name="T45" fmla="*/ 612 h 1998"/>
                <a:gd name="T46" fmla="*/ 2637 w 2657"/>
                <a:gd name="T47" fmla="*/ 606 h 1998"/>
                <a:gd name="T48" fmla="*/ 2631 w 2657"/>
                <a:gd name="T49" fmla="*/ 532 h 19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657" h="1998">
                  <a:moveTo>
                    <a:pt x="2631" y="532"/>
                  </a:moveTo>
                  <a:cubicBezTo>
                    <a:pt x="2437" y="367"/>
                    <a:pt x="2276" y="237"/>
                    <a:pt x="2130" y="145"/>
                  </a:cubicBezTo>
                  <a:cubicBezTo>
                    <a:pt x="2058" y="99"/>
                    <a:pt x="1988" y="63"/>
                    <a:pt x="1920" y="38"/>
                  </a:cubicBezTo>
                  <a:cubicBezTo>
                    <a:pt x="1851" y="14"/>
                    <a:pt x="1783" y="0"/>
                    <a:pt x="1715" y="0"/>
                  </a:cubicBezTo>
                  <a:cubicBezTo>
                    <a:pt x="1669" y="0"/>
                    <a:pt x="1623" y="6"/>
                    <a:pt x="1578" y="19"/>
                  </a:cubicBezTo>
                  <a:cubicBezTo>
                    <a:pt x="1509" y="37"/>
                    <a:pt x="1440" y="70"/>
                    <a:pt x="1370" y="116"/>
                  </a:cubicBezTo>
                  <a:cubicBezTo>
                    <a:pt x="1299" y="162"/>
                    <a:pt x="1227" y="221"/>
                    <a:pt x="1150" y="295"/>
                  </a:cubicBezTo>
                  <a:lnTo>
                    <a:pt x="1150" y="295"/>
                  </a:lnTo>
                  <a:lnTo>
                    <a:pt x="16" y="1368"/>
                  </a:lnTo>
                  <a:cubicBezTo>
                    <a:pt x="6" y="1378"/>
                    <a:pt x="0" y="1391"/>
                    <a:pt x="0" y="1406"/>
                  </a:cubicBezTo>
                  <a:cubicBezTo>
                    <a:pt x="0" y="1420"/>
                    <a:pt x="6" y="1434"/>
                    <a:pt x="16" y="1444"/>
                  </a:cubicBezTo>
                  <a:lnTo>
                    <a:pt x="566" y="1977"/>
                  </a:lnTo>
                  <a:cubicBezTo>
                    <a:pt x="587" y="1997"/>
                    <a:pt x="619" y="1997"/>
                    <a:pt x="640" y="1976"/>
                  </a:cubicBezTo>
                  <a:cubicBezTo>
                    <a:pt x="660" y="1955"/>
                    <a:pt x="660" y="1921"/>
                    <a:pt x="639" y="1901"/>
                  </a:cubicBezTo>
                  <a:lnTo>
                    <a:pt x="129" y="1406"/>
                  </a:lnTo>
                  <a:lnTo>
                    <a:pt x="1223" y="371"/>
                  </a:lnTo>
                  <a:lnTo>
                    <a:pt x="1223" y="371"/>
                  </a:lnTo>
                  <a:cubicBezTo>
                    <a:pt x="1321" y="277"/>
                    <a:pt x="1409" y="210"/>
                    <a:pt x="1489" y="167"/>
                  </a:cubicBezTo>
                  <a:cubicBezTo>
                    <a:pt x="1529" y="146"/>
                    <a:pt x="1568" y="131"/>
                    <a:pt x="1605" y="121"/>
                  </a:cubicBezTo>
                  <a:cubicBezTo>
                    <a:pt x="1642" y="111"/>
                    <a:pt x="1679" y="106"/>
                    <a:pt x="1715" y="106"/>
                  </a:cubicBezTo>
                  <a:cubicBezTo>
                    <a:pt x="1770" y="106"/>
                    <a:pt x="1825" y="116"/>
                    <a:pt x="1884" y="138"/>
                  </a:cubicBezTo>
                  <a:cubicBezTo>
                    <a:pt x="1972" y="170"/>
                    <a:pt x="2070" y="226"/>
                    <a:pt x="2181" y="306"/>
                  </a:cubicBezTo>
                  <a:cubicBezTo>
                    <a:pt x="2293" y="387"/>
                    <a:pt x="2418" y="490"/>
                    <a:pt x="2562" y="612"/>
                  </a:cubicBezTo>
                  <a:cubicBezTo>
                    <a:pt x="2585" y="631"/>
                    <a:pt x="2618" y="628"/>
                    <a:pt x="2637" y="606"/>
                  </a:cubicBezTo>
                  <a:cubicBezTo>
                    <a:pt x="2656" y="584"/>
                    <a:pt x="2653" y="551"/>
                    <a:pt x="2631" y="532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bevel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8" name="Freeform 7"/>
            <p:cNvSpPr>
              <a:spLocks noChangeArrowheads="1"/>
            </p:cNvSpPr>
            <p:nvPr/>
          </p:nvSpPr>
          <p:spPr bwMode="auto">
            <a:xfrm>
              <a:off x="1419946" y="709792"/>
              <a:ext cx="356603" cy="190334"/>
            </a:xfrm>
            <a:custGeom>
              <a:avLst/>
              <a:gdLst>
                <a:gd name="T0" fmla="*/ 2142 w 2158"/>
                <a:gd name="T1" fmla="*/ 438 h 1152"/>
                <a:gd name="T2" fmla="*/ 1725 w 2158"/>
                <a:gd name="T3" fmla="*/ 118 h 1152"/>
                <a:gd name="T4" fmla="*/ 1552 w 2158"/>
                <a:gd name="T5" fmla="*/ 31 h 1152"/>
                <a:gd name="T6" fmla="*/ 1386 w 2158"/>
                <a:gd name="T7" fmla="*/ 0 h 1152"/>
                <a:gd name="T8" fmla="*/ 1261 w 2158"/>
                <a:gd name="T9" fmla="*/ 19 h 1152"/>
                <a:gd name="T10" fmla="*/ 1068 w 2158"/>
                <a:gd name="T11" fmla="*/ 115 h 1152"/>
                <a:gd name="T12" fmla="*/ 852 w 2158"/>
                <a:gd name="T13" fmla="*/ 295 h 1152"/>
                <a:gd name="T14" fmla="*/ 852 w 2158"/>
                <a:gd name="T15" fmla="*/ 295 h 1152"/>
                <a:gd name="T16" fmla="*/ 13 w 2158"/>
                <a:gd name="T17" fmla="*/ 1094 h 1152"/>
                <a:gd name="T18" fmla="*/ 12 w 2158"/>
                <a:gd name="T19" fmla="*/ 1138 h 1152"/>
                <a:gd name="T20" fmla="*/ 56 w 2158"/>
                <a:gd name="T21" fmla="*/ 1139 h 1152"/>
                <a:gd name="T22" fmla="*/ 895 w 2158"/>
                <a:gd name="T23" fmla="*/ 340 h 1152"/>
                <a:gd name="T24" fmla="*/ 895 w 2158"/>
                <a:gd name="T25" fmla="*/ 340 h 1152"/>
                <a:gd name="T26" fmla="*/ 1164 w 2158"/>
                <a:gd name="T27" fmla="*/ 128 h 1152"/>
                <a:gd name="T28" fmla="*/ 1279 w 2158"/>
                <a:gd name="T29" fmla="*/ 79 h 1152"/>
                <a:gd name="T30" fmla="*/ 1386 w 2158"/>
                <a:gd name="T31" fmla="*/ 63 h 1152"/>
                <a:gd name="T32" fmla="*/ 1531 w 2158"/>
                <a:gd name="T33" fmla="*/ 90 h 1152"/>
                <a:gd name="T34" fmla="*/ 1781 w 2158"/>
                <a:gd name="T35" fmla="*/ 231 h 1152"/>
                <a:gd name="T36" fmla="*/ 2102 w 2158"/>
                <a:gd name="T37" fmla="*/ 486 h 1152"/>
                <a:gd name="T38" fmla="*/ 2146 w 2158"/>
                <a:gd name="T39" fmla="*/ 482 h 1152"/>
                <a:gd name="T40" fmla="*/ 2142 w 2158"/>
                <a:gd name="T41" fmla="*/ 438 h 1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158" h="1152">
                  <a:moveTo>
                    <a:pt x="2142" y="438"/>
                  </a:moveTo>
                  <a:cubicBezTo>
                    <a:pt x="1978" y="301"/>
                    <a:pt x="1845" y="193"/>
                    <a:pt x="1725" y="118"/>
                  </a:cubicBezTo>
                  <a:cubicBezTo>
                    <a:pt x="1664" y="80"/>
                    <a:pt x="1608" y="51"/>
                    <a:pt x="1552" y="31"/>
                  </a:cubicBezTo>
                  <a:cubicBezTo>
                    <a:pt x="1496" y="11"/>
                    <a:pt x="1441" y="0"/>
                    <a:pt x="1386" y="0"/>
                  </a:cubicBezTo>
                  <a:cubicBezTo>
                    <a:pt x="1344" y="0"/>
                    <a:pt x="1303" y="6"/>
                    <a:pt x="1261" y="19"/>
                  </a:cubicBezTo>
                  <a:cubicBezTo>
                    <a:pt x="1198" y="37"/>
                    <a:pt x="1135" y="69"/>
                    <a:pt x="1068" y="115"/>
                  </a:cubicBezTo>
                  <a:cubicBezTo>
                    <a:pt x="1000" y="161"/>
                    <a:pt x="930" y="220"/>
                    <a:pt x="852" y="295"/>
                  </a:cubicBezTo>
                  <a:lnTo>
                    <a:pt x="852" y="295"/>
                  </a:lnTo>
                  <a:lnTo>
                    <a:pt x="13" y="1094"/>
                  </a:lnTo>
                  <a:cubicBezTo>
                    <a:pt x="1" y="1106"/>
                    <a:pt x="0" y="1126"/>
                    <a:pt x="12" y="1138"/>
                  </a:cubicBezTo>
                  <a:cubicBezTo>
                    <a:pt x="24" y="1151"/>
                    <a:pt x="44" y="1151"/>
                    <a:pt x="56" y="1139"/>
                  </a:cubicBezTo>
                  <a:lnTo>
                    <a:pt x="895" y="340"/>
                  </a:lnTo>
                  <a:lnTo>
                    <a:pt x="895" y="340"/>
                  </a:lnTo>
                  <a:cubicBezTo>
                    <a:pt x="997" y="243"/>
                    <a:pt x="1085" y="173"/>
                    <a:pt x="1164" y="128"/>
                  </a:cubicBezTo>
                  <a:cubicBezTo>
                    <a:pt x="1204" y="106"/>
                    <a:pt x="1242" y="89"/>
                    <a:pt x="1279" y="79"/>
                  </a:cubicBezTo>
                  <a:cubicBezTo>
                    <a:pt x="1315" y="68"/>
                    <a:pt x="1351" y="63"/>
                    <a:pt x="1386" y="63"/>
                  </a:cubicBezTo>
                  <a:cubicBezTo>
                    <a:pt x="1433" y="63"/>
                    <a:pt x="1480" y="72"/>
                    <a:pt x="1531" y="90"/>
                  </a:cubicBezTo>
                  <a:cubicBezTo>
                    <a:pt x="1606" y="117"/>
                    <a:pt x="1688" y="164"/>
                    <a:pt x="1781" y="231"/>
                  </a:cubicBezTo>
                  <a:cubicBezTo>
                    <a:pt x="1874" y="298"/>
                    <a:pt x="1979" y="384"/>
                    <a:pt x="2102" y="486"/>
                  </a:cubicBezTo>
                  <a:cubicBezTo>
                    <a:pt x="2115" y="497"/>
                    <a:pt x="2135" y="495"/>
                    <a:pt x="2146" y="482"/>
                  </a:cubicBezTo>
                  <a:cubicBezTo>
                    <a:pt x="2157" y="469"/>
                    <a:pt x="2155" y="449"/>
                    <a:pt x="2142" y="438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bevel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9" name="Freeform 8"/>
            <p:cNvSpPr>
              <a:spLocks noChangeArrowheads="1"/>
            </p:cNvSpPr>
            <p:nvPr/>
          </p:nvSpPr>
          <p:spPr bwMode="auto">
            <a:xfrm>
              <a:off x="1444012" y="752818"/>
              <a:ext cx="304826" cy="169186"/>
            </a:xfrm>
            <a:custGeom>
              <a:avLst/>
              <a:gdLst>
                <a:gd name="T0" fmla="*/ 1832 w 1844"/>
                <a:gd name="T1" fmla="*/ 349 h 1021"/>
                <a:gd name="T2" fmla="*/ 1494 w 1844"/>
                <a:gd name="T3" fmla="*/ 93 h 1021"/>
                <a:gd name="T4" fmla="*/ 1356 w 1844"/>
                <a:gd name="T5" fmla="*/ 24 h 1021"/>
                <a:gd name="T6" fmla="*/ 1224 w 1844"/>
                <a:gd name="T7" fmla="*/ 0 h 1021"/>
                <a:gd name="T8" fmla="*/ 1110 w 1844"/>
                <a:gd name="T9" fmla="*/ 18 h 1021"/>
                <a:gd name="T10" fmla="*/ 929 w 1844"/>
                <a:gd name="T11" fmla="*/ 116 h 1021"/>
                <a:gd name="T12" fmla="*/ 715 w 1844"/>
                <a:gd name="T13" fmla="*/ 301 h 1021"/>
                <a:gd name="T14" fmla="*/ 714 w 1844"/>
                <a:gd name="T15" fmla="*/ 301 h 1021"/>
                <a:gd name="T16" fmla="*/ 10 w 1844"/>
                <a:gd name="T17" fmla="*/ 978 h 1021"/>
                <a:gd name="T18" fmla="*/ 9 w 1844"/>
                <a:gd name="T19" fmla="*/ 1011 h 1021"/>
                <a:gd name="T20" fmla="*/ 42 w 1844"/>
                <a:gd name="T21" fmla="*/ 1012 h 1021"/>
                <a:gd name="T22" fmla="*/ 746 w 1844"/>
                <a:gd name="T23" fmla="*/ 334 h 1021"/>
                <a:gd name="T24" fmla="*/ 746 w 1844"/>
                <a:gd name="T25" fmla="*/ 334 h 1021"/>
                <a:gd name="T26" fmla="*/ 1016 w 1844"/>
                <a:gd name="T27" fmla="*/ 114 h 1021"/>
                <a:gd name="T28" fmla="*/ 1124 w 1844"/>
                <a:gd name="T29" fmla="*/ 62 h 1021"/>
                <a:gd name="T30" fmla="*/ 1224 w 1844"/>
                <a:gd name="T31" fmla="*/ 46 h 1021"/>
                <a:gd name="T32" fmla="*/ 1340 w 1844"/>
                <a:gd name="T33" fmla="*/ 67 h 1021"/>
                <a:gd name="T34" fmla="*/ 1542 w 1844"/>
                <a:gd name="T35" fmla="*/ 180 h 1021"/>
                <a:gd name="T36" fmla="*/ 1803 w 1844"/>
                <a:gd name="T37" fmla="*/ 385 h 1021"/>
                <a:gd name="T38" fmla="*/ 1835 w 1844"/>
                <a:gd name="T39" fmla="*/ 381 h 1021"/>
                <a:gd name="T40" fmla="*/ 1832 w 1844"/>
                <a:gd name="T41" fmla="*/ 349 h 10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844" h="1021">
                  <a:moveTo>
                    <a:pt x="1832" y="349"/>
                  </a:moveTo>
                  <a:cubicBezTo>
                    <a:pt x="1698" y="239"/>
                    <a:pt x="1590" y="153"/>
                    <a:pt x="1494" y="93"/>
                  </a:cubicBezTo>
                  <a:cubicBezTo>
                    <a:pt x="1446" y="63"/>
                    <a:pt x="1400" y="40"/>
                    <a:pt x="1356" y="24"/>
                  </a:cubicBezTo>
                  <a:cubicBezTo>
                    <a:pt x="1311" y="8"/>
                    <a:pt x="1268" y="0"/>
                    <a:pt x="1224" y="0"/>
                  </a:cubicBezTo>
                  <a:cubicBezTo>
                    <a:pt x="1186" y="0"/>
                    <a:pt x="1148" y="6"/>
                    <a:pt x="1110" y="18"/>
                  </a:cubicBezTo>
                  <a:cubicBezTo>
                    <a:pt x="1052" y="37"/>
                    <a:pt x="993" y="69"/>
                    <a:pt x="929" y="116"/>
                  </a:cubicBezTo>
                  <a:cubicBezTo>
                    <a:pt x="864" y="163"/>
                    <a:pt x="794" y="224"/>
                    <a:pt x="715" y="301"/>
                  </a:cubicBezTo>
                  <a:lnTo>
                    <a:pt x="714" y="301"/>
                  </a:lnTo>
                  <a:lnTo>
                    <a:pt x="10" y="978"/>
                  </a:lnTo>
                  <a:cubicBezTo>
                    <a:pt x="1" y="987"/>
                    <a:pt x="0" y="1002"/>
                    <a:pt x="9" y="1011"/>
                  </a:cubicBezTo>
                  <a:cubicBezTo>
                    <a:pt x="18" y="1020"/>
                    <a:pt x="33" y="1020"/>
                    <a:pt x="42" y="1012"/>
                  </a:cubicBezTo>
                  <a:lnTo>
                    <a:pt x="746" y="334"/>
                  </a:lnTo>
                  <a:lnTo>
                    <a:pt x="746" y="334"/>
                  </a:lnTo>
                  <a:cubicBezTo>
                    <a:pt x="851" y="233"/>
                    <a:pt x="939" y="160"/>
                    <a:pt x="1016" y="114"/>
                  </a:cubicBezTo>
                  <a:cubicBezTo>
                    <a:pt x="1054" y="90"/>
                    <a:pt x="1090" y="73"/>
                    <a:pt x="1124" y="62"/>
                  </a:cubicBezTo>
                  <a:cubicBezTo>
                    <a:pt x="1159" y="51"/>
                    <a:pt x="1191" y="46"/>
                    <a:pt x="1224" y="46"/>
                  </a:cubicBezTo>
                  <a:cubicBezTo>
                    <a:pt x="1262" y="46"/>
                    <a:pt x="1300" y="53"/>
                    <a:pt x="1340" y="67"/>
                  </a:cubicBezTo>
                  <a:cubicBezTo>
                    <a:pt x="1401" y="89"/>
                    <a:pt x="1466" y="127"/>
                    <a:pt x="1542" y="180"/>
                  </a:cubicBezTo>
                  <a:cubicBezTo>
                    <a:pt x="1617" y="234"/>
                    <a:pt x="1702" y="303"/>
                    <a:pt x="1803" y="385"/>
                  </a:cubicBezTo>
                  <a:cubicBezTo>
                    <a:pt x="1813" y="393"/>
                    <a:pt x="1827" y="391"/>
                    <a:pt x="1835" y="381"/>
                  </a:cubicBezTo>
                  <a:cubicBezTo>
                    <a:pt x="1843" y="372"/>
                    <a:pt x="1842" y="357"/>
                    <a:pt x="1832" y="349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bevel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0" name="Freeform 9"/>
            <p:cNvSpPr>
              <a:spLocks noChangeArrowheads="1"/>
            </p:cNvSpPr>
            <p:nvPr/>
          </p:nvSpPr>
          <p:spPr bwMode="auto">
            <a:xfrm>
              <a:off x="1467348" y="795114"/>
              <a:ext cx="253049" cy="148038"/>
            </a:xfrm>
            <a:custGeom>
              <a:avLst/>
              <a:gdLst>
                <a:gd name="T0" fmla="*/ 1522 w 1530"/>
                <a:gd name="T1" fmla="*/ 264 h 895"/>
                <a:gd name="T2" fmla="*/ 1260 w 1530"/>
                <a:gd name="T3" fmla="*/ 70 h 895"/>
                <a:gd name="T4" fmla="*/ 1156 w 1530"/>
                <a:gd name="T5" fmla="*/ 18 h 895"/>
                <a:gd name="T6" fmla="*/ 1057 w 1530"/>
                <a:gd name="T7" fmla="*/ 0 h 895"/>
                <a:gd name="T8" fmla="*/ 957 w 1530"/>
                <a:gd name="T9" fmla="*/ 19 h 895"/>
                <a:gd name="T10" fmla="*/ 791 w 1530"/>
                <a:gd name="T11" fmla="*/ 119 h 895"/>
                <a:gd name="T12" fmla="*/ 577 w 1530"/>
                <a:gd name="T13" fmla="*/ 310 h 895"/>
                <a:gd name="T14" fmla="*/ 577 w 1530"/>
                <a:gd name="T15" fmla="*/ 310 h 895"/>
                <a:gd name="T16" fmla="*/ 6 w 1530"/>
                <a:gd name="T17" fmla="*/ 867 h 895"/>
                <a:gd name="T18" fmla="*/ 6 w 1530"/>
                <a:gd name="T19" fmla="*/ 888 h 895"/>
                <a:gd name="T20" fmla="*/ 27 w 1530"/>
                <a:gd name="T21" fmla="*/ 888 h 895"/>
                <a:gd name="T22" fmla="*/ 598 w 1530"/>
                <a:gd name="T23" fmla="*/ 331 h 895"/>
                <a:gd name="T24" fmla="*/ 598 w 1530"/>
                <a:gd name="T25" fmla="*/ 331 h 895"/>
                <a:gd name="T26" fmla="*/ 866 w 1530"/>
                <a:gd name="T27" fmla="*/ 101 h 895"/>
                <a:gd name="T28" fmla="*/ 968 w 1530"/>
                <a:gd name="T29" fmla="*/ 47 h 895"/>
                <a:gd name="T30" fmla="*/ 1057 w 1530"/>
                <a:gd name="T31" fmla="*/ 29 h 895"/>
                <a:gd name="T32" fmla="*/ 1146 w 1530"/>
                <a:gd name="T33" fmla="*/ 46 h 895"/>
                <a:gd name="T34" fmla="*/ 1300 w 1530"/>
                <a:gd name="T35" fmla="*/ 132 h 895"/>
                <a:gd name="T36" fmla="*/ 1504 w 1530"/>
                <a:gd name="T37" fmla="*/ 287 h 895"/>
                <a:gd name="T38" fmla="*/ 1524 w 1530"/>
                <a:gd name="T39" fmla="*/ 285 h 895"/>
                <a:gd name="T40" fmla="*/ 1522 w 1530"/>
                <a:gd name="T41" fmla="*/ 264 h 8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530" h="895">
                  <a:moveTo>
                    <a:pt x="1522" y="264"/>
                  </a:moveTo>
                  <a:cubicBezTo>
                    <a:pt x="1417" y="180"/>
                    <a:pt x="1334" y="115"/>
                    <a:pt x="1260" y="70"/>
                  </a:cubicBezTo>
                  <a:cubicBezTo>
                    <a:pt x="1224" y="47"/>
                    <a:pt x="1189" y="30"/>
                    <a:pt x="1156" y="18"/>
                  </a:cubicBezTo>
                  <a:cubicBezTo>
                    <a:pt x="1123" y="6"/>
                    <a:pt x="1090" y="0"/>
                    <a:pt x="1057" y="0"/>
                  </a:cubicBezTo>
                  <a:cubicBezTo>
                    <a:pt x="1024" y="0"/>
                    <a:pt x="991" y="6"/>
                    <a:pt x="957" y="19"/>
                  </a:cubicBezTo>
                  <a:cubicBezTo>
                    <a:pt x="906" y="38"/>
                    <a:pt x="852" y="71"/>
                    <a:pt x="791" y="119"/>
                  </a:cubicBezTo>
                  <a:cubicBezTo>
                    <a:pt x="729" y="167"/>
                    <a:pt x="660" y="231"/>
                    <a:pt x="577" y="310"/>
                  </a:cubicBezTo>
                  <a:lnTo>
                    <a:pt x="577" y="310"/>
                  </a:lnTo>
                  <a:lnTo>
                    <a:pt x="6" y="867"/>
                  </a:lnTo>
                  <a:cubicBezTo>
                    <a:pt x="0" y="873"/>
                    <a:pt x="0" y="882"/>
                    <a:pt x="6" y="888"/>
                  </a:cubicBezTo>
                  <a:cubicBezTo>
                    <a:pt x="12" y="894"/>
                    <a:pt x="21" y="894"/>
                    <a:pt x="27" y="888"/>
                  </a:cubicBezTo>
                  <a:lnTo>
                    <a:pt x="598" y="331"/>
                  </a:lnTo>
                  <a:lnTo>
                    <a:pt x="598" y="331"/>
                  </a:lnTo>
                  <a:cubicBezTo>
                    <a:pt x="707" y="226"/>
                    <a:pt x="793" y="150"/>
                    <a:pt x="866" y="101"/>
                  </a:cubicBezTo>
                  <a:cubicBezTo>
                    <a:pt x="903" y="76"/>
                    <a:pt x="936" y="58"/>
                    <a:pt x="968" y="47"/>
                  </a:cubicBezTo>
                  <a:cubicBezTo>
                    <a:pt x="999" y="35"/>
                    <a:pt x="1028" y="29"/>
                    <a:pt x="1057" y="29"/>
                  </a:cubicBezTo>
                  <a:cubicBezTo>
                    <a:pt x="1086" y="29"/>
                    <a:pt x="1115" y="35"/>
                    <a:pt x="1146" y="46"/>
                  </a:cubicBezTo>
                  <a:cubicBezTo>
                    <a:pt x="1192" y="62"/>
                    <a:pt x="1242" y="91"/>
                    <a:pt x="1300" y="132"/>
                  </a:cubicBezTo>
                  <a:cubicBezTo>
                    <a:pt x="1359" y="172"/>
                    <a:pt x="1425" y="225"/>
                    <a:pt x="1504" y="287"/>
                  </a:cubicBezTo>
                  <a:cubicBezTo>
                    <a:pt x="1510" y="292"/>
                    <a:pt x="1518" y="291"/>
                    <a:pt x="1524" y="285"/>
                  </a:cubicBezTo>
                  <a:cubicBezTo>
                    <a:pt x="1529" y="279"/>
                    <a:pt x="1528" y="269"/>
                    <a:pt x="1522" y="264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bevel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1" name="Freeform 10"/>
            <p:cNvSpPr>
              <a:spLocks noChangeArrowheads="1"/>
            </p:cNvSpPr>
            <p:nvPr/>
          </p:nvSpPr>
          <p:spPr bwMode="auto">
            <a:xfrm>
              <a:off x="1491413" y="835952"/>
              <a:ext cx="201273" cy="127619"/>
            </a:xfrm>
            <a:custGeom>
              <a:avLst/>
              <a:gdLst>
                <a:gd name="T0" fmla="*/ 1212 w 1217"/>
                <a:gd name="T1" fmla="*/ 184 h 773"/>
                <a:gd name="T2" fmla="*/ 1023 w 1217"/>
                <a:gd name="T3" fmla="*/ 48 h 773"/>
                <a:gd name="T4" fmla="*/ 884 w 1217"/>
                <a:gd name="T5" fmla="*/ 0 h 773"/>
                <a:gd name="T6" fmla="*/ 801 w 1217"/>
                <a:gd name="T7" fmla="*/ 20 h 773"/>
                <a:gd name="T8" fmla="*/ 653 w 1217"/>
                <a:gd name="T9" fmla="*/ 124 h 773"/>
                <a:gd name="T10" fmla="*/ 440 w 1217"/>
                <a:gd name="T11" fmla="*/ 324 h 773"/>
                <a:gd name="T12" fmla="*/ 440 w 1217"/>
                <a:gd name="T13" fmla="*/ 324 h 773"/>
                <a:gd name="T14" fmla="*/ 3 w 1217"/>
                <a:gd name="T15" fmla="*/ 760 h 773"/>
                <a:gd name="T16" fmla="*/ 3 w 1217"/>
                <a:gd name="T17" fmla="*/ 770 h 773"/>
                <a:gd name="T18" fmla="*/ 12 w 1217"/>
                <a:gd name="T19" fmla="*/ 770 h 773"/>
                <a:gd name="T20" fmla="*/ 449 w 1217"/>
                <a:gd name="T21" fmla="*/ 333 h 773"/>
                <a:gd name="T22" fmla="*/ 716 w 1217"/>
                <a:gd name="T23" fmla="*/ 90 h 773"/>
                <a:gd name="T24" fmla="*/ 806 w 1217"/>
                <a:gd name="T25" fmla="*/ 32 h 773"/>
                <a:gd name="T26" fmla="*/ 884 w 1217"/>
                <a:gd name="T27" fmla="*/ 13 h 773"/>
                <a:gd name="T28" fmla="*/ 1016 w 1217"/>
                <a:gd name="T29" fmla="*/ 60 h 773"/>
                <a:gd name="T30" fmla="*/ 1204 w 1217"/>
                <a:gd name="T31" fmla="*/ 195 h 773"/>
                <a:gd name="T32" fmla="*/ 1214 w 1217"/>
                <a:gd name="T33" fmla="*/ 194 h 773"/>
                <a:gd name="T34" fmla="*/ 1212 w 1217"/>
                <a:gd name="T35" fmla="*/ 184 h 7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217" h="773">
                  <a:moveTo>
                    <a:pt x="1212" y="184"/>
                  </a:moveTo>
                  <a:cubicBezTo>
                    <a:pt x="1135" y="125"/>
                    <a:pt x="1075" y="80"/>
                    <a:pt x="1023" y="48"/>
                  </a:cubicBezTo>
                  <a:cubicBezTo>
                    <a:pt x="971" y="17"/>
                    <a:pt x="928" y="0"/>
                    <a:pt x="884" y="0"/>
                  </a:cubicBezTo>
                  <a:cubicBezTo>
                    <a:pt x="856" y="0"/>
                    <a:pt x="829" y="7"/>
                    <a:pt x="801" y="20"/>
                  </a:cubicBezTo>
                  <a:cubicBezTo>
                    <a:pt x="758" y="39"/>
                    <a:pt x="711" y="74"/>
                    <a:pt x="653" y="124"/>
                  </a:cubicBezTo>
                  <a:cubicBezTo>
                    <a:pt x="595" y="175"/>
                    <a:pt x="527" y="241"/>
                    <a:pt x="440" y="324"/>
                  </a:cubicBezTo>
                  <a:lnTo>
                    <a:pt x="440" y="324"/>
                  </a:lnTo>
                  <a:lnTo>
                    <a:pt x="3" y="760"/>
                  </a:lnTo>
                  <a:cubicBezTo>
                    <a:pt x="0" y="763"/>
                    <a:pt x="0" y="767"/>
                    <a:pt x="3" y="770"/>
                  </a:cubicBezTo>
                  <a:cubicBezTo>
                    <a:pt x="5" y="772"/>
                    <a:pt x="10" y="772"/>
                    <a:pt x="12" y="770"/>
                  </a:cubicBezTo>
                  <a:lnTo>
                    <a:pt x="449" y="333"/>
                  </a:lnTo>
                  <a:cubicBezTo>
                    <a:pt x="565" y="223"/>
                    <a:pt x="648" y="142"/>
                    <a:pt x="716" y="90"/>
                  </a:cubicBezTo>
                  <a:cubicBezTo>
                    <a:pt x="749" y="63"/>
                    <a:pt x="778" y="44"/>
                    <a:pt x="806" y="32"/>
                  </a:cubicBezTo>
                  <a:cubicBezTo>
                    <a:pt x="833" y="19"/>
                    <a:pt x="859" y="13"/>
                    <a:pt x="884" y="13"/>
                  </a:cubicBezTo>
                  <a:cubicBezTo>
                    <a:pt x="924" y="13"/>
                    <a:pt x="966" y="29"/>
                    <a:pt x="1016" y="60"/>
                  </a:cubicBezTo>
                  <a:cubicBezTo>
                    <a:pt x="1067" y="90"/>
                    <a:pt x="1127" y="136"/>
                    <a:pt x="1204" y="195"/>
                  </a:cubicBezTo>
                  <a:cubicBezTo>
                    <a:pt x="1207" y="197"/>
                    <a:pt x="1211" y="197"/>
                    <a:pt x="1214" y="194"/>
                  </a:cubicBezTo>
                  <a:cubicBezTo>
                    <a:pt x="1216" y="191"/>
                    <a:pt x="1215" y="187"/>
                    <a:pt x="1212" y="184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bevel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2" name="Freeform 11"/>
            <p:cNvSpPr>
              <a:spLocks noChangeArrowheads="1"/>
            </p:cNvSpPr>
            <p:nvPr/>
          </p:nvSpPr>
          <p:spPr bwMode="auto">
            <a:xfrm>
              <a:off x="1608093" y="858559"/>
              <a:ext cx="72925" cy="48130"/>
            </a:xfrm>
            <a:custGeom>
              <a:avLst/>
              <a:gdLst>
                <a:gd name="T0" fmla="*/ 49 w 442"/>
                <a:gd name="T1" fmla="*/ 200 h 293"/>
                <a:gd name="T2" fmla="*/ 0 w 442"/>
                <a:gd name="T3" fmla="*/ 156 h 293"/>
                <a:gd name="T4" fmla="*/ 45 w 442"/>
                <a:gd name="T5" fmla="*/ 107 h 293"/>
                <a:gd name="T6" fmla="*/ 392 w 442"/>
                <a:gd name="T7" fmla="*/ 91 h 293"/>
                <a:gd name="T8" fmla="*/ 441 w 442"/>
                <a:gd name="T9" fmla="*/ 137 h 293"/>
                <a:gd name="T10" fmla="*/ 396 w 442"/>
                <a:gd name="T11" fmla="*/ 185 h 293"/>
                <a:gd name="T12" fmla="*/ 49 w 442"/>
                <a:gd name="T13" fmla="*/ 200 h 2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42" h="293">
                  <a:moveTo>
                    <a:pt x="49" y="200"/>
                  </a:moveTo>
                  <a:lnTo>
                    <a:pt x="0" y="156"/>
                  </a:lnTo>
                  <a:lnTo>
                    <a:pt x="45" y="107"/>
                  </a:lnTo>
                  <a:cubicBezTo>
                    <a:pt x="136" y="7"/>
                    <a:pt x="292" y="0"/>
                    <a:pt x="392" y="91"/>
                  </a:cubicBezTo>
                  <a:lnTo>
                    <a:pt x="441" y="137"/>
                  </a:lnTo>
                  <a:lnTo>
                    <a:pt x="396" y="185"/>
                  </a:lnTo>
                  <a:cubicBezTo>
                    <a:pt x="304" y="285"/>
                    <a:pt x="149" y="292"/>
                    <a:pt x="49" y="200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bevel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pic>
        <p:nvPicPr>
          <p:cNvPr id="22" name="图片 2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flipH="1">
            <a:off x="667831" y="535244"/>
            <a:ext cx="509314" cy="511567"/>
          </a:xfrm>
          <a:prstGeom prst="rect">
            <a:avLst/>
          </a:prstGeom>
        </p:spPr>
      </p:pic>
      <p:pic>
        <p:nvPicPr>
          <p:cNvPr id="21" name="图片 20">
            <a:extLst>
              <a:ext uri="{FF2B5EF4-FFF2-40B4-BE49-F238E27FC236}">
                <a16:creationId xmlns:a16="http://schemas.microsoft.com/office/drawing/2014/main" id="{284CEC7B-57FC-4F9E-AA77-21D3AC7B4BA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30231"/>
          <a:stretch/>
        </p:blipFill>
        <p:spPr>
          <a:xfrm>
            <a:off x="9882483" y="331921"/>
            <a:ext cx="2101537" cy="90415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kumimoji="1"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 dirty="0"/>
              <a:t>单击此处编辑母版文本样式</a:t>
            </a:r>
          </a:p>
          <a:p>
            <a:pPr lvl="1"/>
            <a:r>
              <a:rPr kumimoji="1" lang="zh-CN" altLang="en-US" dirty="0"/>
              <a:t>二级</a:t>
            </a:r>
          </a:p>
          <a:p>
            <a:pPr lvl="2"/>
            <a:r>
              <a:rPr kumimoji="1" lang="zh-CN" altLang="en-US" dirty="0"/>
              <a:t>三级</a:t>
            </a:r>
          </a:p>
          <a:p>
            <a:pPr lvl="3"/>
            <a:r>
              <a:rPr kumimoji="1" lang="zh-CN" altLang="en-US" dirty="0"/>
              <a:t>四级</a:t>
            </a:r>
          </a:p>
          <a:p>
            <a:pPr lvl="4"/>
            <a:r>
              <a:rPr kumimoji="1" lang="zh-CN" altLang="en-US" dirty="0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 dirty="0"/>
              <a:t>单击此处编辑母版文本样式</a:t>
            </a:r>
          </a:p>
          <a:p>
            <a:pPr lvl="1"/>
            <a:r>
              <a:rPr kumimoji="1" lang="zh-CN" altLang="en-US" dirty="0"/>
              <a:t>二级</a:t>
            </a:r>
          </a:p>
          <a:p>
            <a:pPr lvl="2"/>
            <a:r>
              <a:rPr kumimoji="1" lang="zh-CN" altLang="en-US" dirty="0"/>
              <a:t>三级</a:t>
            </a:r>
          </a:p>
          <a:p>
            <a:pPr lvl="3"/>
            <a:r>
              <a:rPr kumimoji="1" lang="zh-CN" altLang="en-US" dirty="0"/>
              <a:t>四级</a:t>
            </a:r>
          </a:p>
          <a:p>
            <a:pPr lvl="4"/>
            <a:r>
              <a:rPr kumimoji="1" lang="zh-CN" altLang="en-US" dirty="0"/>
              <a:t>五级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1E41-7A09-AB4A-A4E1-09765ADA2698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cxnSp>
        <p:nvCxnSpPr>
          <p:cNvPr id="9" name="直线连接符 8"/>
          <p:cNvCxnSpPr/>
          <p:nvPr userDrawn="1"/>
        </p:nvCxnSpPr>
        <p:spPr>
          <a:xfrm>
            <a:off x="1314788" y="1244212"/>
            <a:ext cx="7295812" cy="0"/>
          </a:xfrm>
          <a:prstGeom prst="line">
            <a:avLst/>
          </a:prstGeom>
          <a:ln w="19050">
            <a:solidFill>
              <a:srgbClr val="5C30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线连接符 32"/>
          <p:cNvCxnSpPr/>
          <p:nvPr userDrawn="1"/>
        </p:nvCxnSpPr>
        <p:spPr>
          <a:xfrm>
            <a:off x="9705401" y="526774"/>
            <a:ext cx="0" cy="503679"/>
          </a:xfrm>
          <a:prstGeom prst="line">
            <a:avLst/>
          </a:prstGeom>
          <a:ln w="12700" cap="rnd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3" name="图片 2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flipH="1">
            <a:off x="667831" y="535244"/>
            <a:ext cx="509314" cy="511567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0D841371-3C71-4398-BE31-04FC894401C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30231"/>
          <a:stretch/>
        </p:blipFill>
        <p:spPr>
          <a:xfrm>
            <a:off x="9882483" y="331921"/>
            <a:ext cx="2101537" cy="90415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7279A2F-85B5-794E-ADF1-0805CD3C44B7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1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fld id="{760FBDFE-C587-4B4C-A407-44438C67B59E}" type="datetimeFigureOut">
              <a:rPr lang="zh-CN" altLang="en-US" smtClean="0"/>
              <a:t>2025/4/22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669882" y="581225"/>
            <a:ext cx="10852237" cy="648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2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669925" y="1508125"/>
            <a:ext cx="10852150" cy="4749165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800" b="1" u="none" strike="noStrike" kern="1200" cap="none" spc="200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tabLst>
          <a:tab pos="1609725" algn="l"/>
        </a:tabLst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1307508" y="365126"/>
            <a:ext cx="8220812" cy="87908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590270"/>
            <a:ext cx="10515600" cy="45866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 dirty="0"/>
              <a:t>单击此处编辑母版文本样式</a:t>
            </a:r>
          </a:p>
          <a:p>
            <a:pPr lvl="1"/>
            <a:r>
              <a:rPr kumimoji="1" lang="zh-CN" altLang="en-US" dirty="0"/>
              <a:t>二级</a:t>
            </a:r>
          </a:p>
          <a:p>
            <a:pPr lvl="2"/>
            <a:r>
              <a:rPr kumimoji="1" lang="zh-CN" altLang="en-US" dirty="0"/>
              <a:t>三级</a:t>
            </a:r>
          </a:p>
          <a:p>
            <a:pPr lvl="3"/>
            <a:r>
              <a:rPr kumimoji="1" lang="zh-CN" altLang="en-US" dirty="0"/>
              <a:t>四级</a:t>
            </a:r>
          </a:p>
          <a:p>
            <a:pPr lvl="4"/>
            <a:r>
              <a:rPr kumimoji="1" lang="zh-CN" altLang="en-US" dirty="0"/>
              <a:t>五级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9053945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fld id="{8D4D1E41-7A09-AB4A-A4E1-09765ADA269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59" r:id="rId2"/>
    <p:sldLayoutId id="2147483660" r:id="rId3"/>
    <p:sldLayoutId id="2147483661" r:id="rId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Microsoft YaHei" panose="020B0503020204020204" pitchFamily="34" charset="-122"/>
          <a:ea typeface="Microsoft YaHei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Microsoft YaHei" panose="020B0503020204020204" pitchFamily="34" charset="-122"/>
          <a:ea typeface="Microsoft YaHei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Microsoft YaHei" panose="020B0503020204020204" pitchFamily="34" charset="-122"/>
          <a:ea typeface="Microsoft YaHei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Microsoft YaHei" panose="020B0503020204020204" pitchFamily="34" charset="-122"/>
          <a:ea typeface="Microsoft YaHei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Microsoft YaHei" panose="020B0503020204020204" pitchFamily="34" charset="-122"/>
          <a:ea typeface="Microsoft YaHei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Microsoft YaHei" panose="020B0503020204020204" pitchFamily="34" charset="-122"/>
          <a:ea typeface="Microsoft YaHei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0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0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0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0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0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0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0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0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0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0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0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0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0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hyperlink" Target="https://thesecretlivesofdata.com/raft/" TargetMode="External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287494"/>
            <a:ext cx="9144000" cy="2002674"/>
          </a:xfrm>
        </p:spPr>
        <p:txBody>
          <a:bodyPr/>
          <a:lstStyle/>
          <a:p>
            <a:r>
              <a:rPr kumimoji="1" lang="zh-CN" altLang="en-US" dirty="0"/>
              <a:t>第四章 分布式系统</a:t>
            </a:r>
            <a:br>
              <a:rPr kumimoji="1" lang="en-US" altLang="zh-CN" dirty="0"/>
            </a:br>
            <a:r>
              <a:rPr kumimoji="1" lang="en-US" altLang="zh-CN" sz="3600" dirty="0"/>
              <a:t>——RAFT</a:t>
            </a:r>
            <a:r>
              <a:rPr kumimoji="1" lang="zh-CN" altLang="en-US" sz="3600"/>
              <a:t>共识机制（上）</a:t>
            </a:r>
            <a:endParaRPr kumimoji="1"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411207"/>
            <a:ext cx="9144000" cy="1657977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3200" dirty="0"/>
              <a:t>授课教师：侯璐</a:t>
            </a:r>
            <a:endParaRPr kumimoji="1" lang="en-US" altLang="zh-CN" sz="3200" dirty="0"/>
          </a:p>
          <a:p>
            <a:pPr>
              <a:lnSpc>
                <a:spcPct val="150000"/>
              </a:lnSpc>
            </a:pPr>
            <a:r>
              <a:rPr kumimoji="1" lang="zh-CN" altLang="en-US" sz="3200"/>
              <a:t>信息与通信工程学院</a:t>
            </a:r>
            <a:endParaRPr kumimoji="1" lang="en-US" altLang="zh-CN" sz="3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本章内容</a:t>
            </a: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1307508" y="1409610"/>
            <a:ext cx="10515600" cy="4982116"/>
          </a:xfrm>
        </p:spPr>
        <p:txBody>
          <a:bodyPr>
            <a:normAutofit/>
          </a:bodyPr>
          <a:lstStyle/>
          <a:p>
            <a:pPr marL="0" indent="0">
              <a:lnSpc>
                <a:spcPct val="130000"/>
              </a:lnSpc>
              <a:buNone/>
            </a:pPr>
            <a:r>
              <a:rPr kumimoji="1" lang="en-US" altLang="zh-CN" b="1" dirty="0">
                <a:solidFill>
                  <a:srgbClr val="B962FF"/>
                </a:solidFill>
                <a:latin typeface="Garamond" panose="02020404030301010803" pitchFamily="18" charset="0"/>
              </a:rPr>
              <a:t>4.3 RAFT</a:t>
            </a:r>
            <a:r>
              <a:rPr kumimoji="1" lang="zh-CN" altLang="en-US" b="1" dirty="0">
                <a:solidFill>
                  <a:srgbClr val="B962FF"/>
                </a:solidFill>
                <a:latin typeface="Garamond" panose="02020404030301010803" pitchFamily="18" charset="0"/>
              </a:rPr>
              <a:t>共识机制（上）</a:t>
            </a:r>
            <a:endParaRPr kumimoji="1" lang="en-US" altLang="zh-CN" b="1" dirty="0">
              <a:solidFill>
                <a:srgbClr val="B962FF"/>
              </a:solidFill>
              <a:latin typeface="Garamond" panose="02020404030301010803" pitchFamily="18" charset="0"/>
            </a:endParaRPr>
          </a:p>
          <a:p>
            <a:pPr>
              <a:lnSpc>
                <a:spcPct val="130000"/>
              </a:lnSpc>
              <a:buFont typeface="Wingdings" panose="05000000000000000000" pitchFamily="2" charset="2"/>
              <a:buChar char="ü"/>
            </a:pPr>
            <a:r>
              <a:rPr kumimoji="1" lang="zh-CN" altLang="en-US" b="1" dirty="0">
                <a:solidFill>
                  <a:srgbClr val="B962FF"/>
                </a:solidFill>
                <a:latin typeface="Garamond" panose="02020404030301010803" pitchFamily="18" charset="0"/>
              </a:rPr>
              <a:t>领导人选举</a:t>
            </a:r>
            <a:endParaRPr kumimoji="1" lang="en-US" altLang="zh-CN" b="1" dirty="0">
              <a:solidFill>
                <a:srgbClr val="B962FF"/>
              </a:solidFill>
              <a:latin typeface="Garamond" panose="02020404030301010803" pitchFamily="18" charset="0"/>
            </a:endParaRPr>
          </a:p>
          <a:p>
            <a:pPr>
              <a:lnSpc>
                <a:spcPct val="130000"/>
              </a:lnSpc>
              <a:buFont typeface="Wingdings" panose="05000000000000000000" pitchFamily="2" charset="2"/>
              <a:buChar char="ü"/>
            </a:pPr>
            <a:r>
              <a:rPr kumimoji="1" lang="zh-CN" altLang="en-US" b="1" dirty="0">
                <a:solidFill>
                  <a:srgbClr val="B962FF"/>
                </a:solidFill>
                <a:latin typeface="Garamond" panose="02020404030301010803" pitchFamily="18" charset="0"/>
              </a:rPr>
              <a:t>日志复制</a:t>
            </a:r>
            <a:endParaRPr kumimoji="1" lang="en-US" altLang="zh-CN" b="1" dirty="0">
              <a:solidFill>
                <a:srgbClr val="B962FF"/>
              </a:solidFill>
              <a:latin typeface="Garamond" panose="02020404030301010803" pitchFamily="18" charset="0"/>
            </a:endParaRPr>
          </a:p>
          <a:p>
            <a:pPr>
              <a:lnSpc>
                <a:spcPct val="130000"/>
              </a:lnSpc>
              <a:buFont typeface="Wingdings" panose="05000000000000000000" pitchFamily="2" charset="2"/>
              <a:buChar char="ü"/>
            </a:pPr>
            <a:r>
              <a:rPr kumimoji="1" lang="zh-CN" altLang="en-US" b="1" dirty="0">
                <a:solidFill>
                  <a:srgbClr val="B962FF"/>
                </a:solidFill>
                <a:latin typeface="Garamond" panose="02020404030301010803" pitchFamily="18" charset="0"/>
              </a:rPr>
              <a:t>脑裂</a:t>
            </a:r>
            <a:endParaRPr kumimoji="1" lang="en-US" altLang="zh-CN" b="1" dirty="0">
              <a:solidFill>
                <a:srgbClr val="B962FF"/>
              </a:solidFill>
              <a:latin typeface="Garamond" panose="02020404030301010803" pitchFamily="18" charset="0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1E41-7A09-AB4A-A4E1-09765ADA2698}" type="slidenum">
              <a:rPr kumimoji="1" lang="zh-CN" altLang="en-US" smtClean="0"/>
              <a:t>1</a:t>
            </a:fld>
            <a:endParaRPr kumimoji="1" lang="zh-CN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Garamond" panose="02020404030301010803" pitchFamily="18" charset="0"/>
                <a:ea typeface="微软雅黑" panose="020B0503020204020204" pitchFamily="34" charset="-122"/>
              </a:rPr>
              <a:t>PAXOS &amp; RAFT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1E41-7A09-AB4A-A4E1-09765ADA2698}" type="slidenum">
              <a:rPr kumimoji="1" lang="zh-CN" altLang="en-US" smtClean="0">
                <a:latin typeface="Garamond" panose="02020404030301010803" pitchFamily="18" charset="0"/>
                <a:ea typeface="微软雅黑" panose="020B0503020204020204" pitchFamily="34" charset="-122"/>
              </a:rPr>
              <a:t>2</a:t>
            </a:fld>
            <a:endParaRPr kumimoji="1" lang="zh-CN" altLang="en-US" dirty="0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C82A8710-7F99-4E3D-94DA-2D61F075F906}"/>
              </a:ext>
            </a:extLst>
          </p:cNvPr>
          <p:cNvSpPr txBox="1"/>
          <p:nvPr/>
        </p:nvSpPr>
        <p:spPr>
          <a:xfrm>
            <a:off x="665018" y="1455375"/>
            <a:ext cx="11018981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目标：</a:t>
            </a:r>
            <a:r>
              <a:rPr lang="en-US" altLang="zh-CN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CFT</a:t>
            </a:r>
            <a:endParaRPr lang="zh-CN" altLang="en-US" sz="2200" dirty="0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83" name="文本框 82">
            <a:extLst>
              <a:ext uri="{FF2B5EF4-FFF2-40B4-BE49-F238E27FC236}">
                <a16:creationId xmlns:a16="http://schemas.microsoft.com/office/drawing/2014/main" id="{D64B9FEA-35ED-4166-AC70-27B254ED9A9D}"/>
              </a:ext>
            </a:extLst>
          </p:cNvPr>
          <p:cNvSpPr txBox="1"/>
          <p:nvPr/>
        </p:nvSpPr>
        <p:spPr>
          <a:xfrm>
            <a:off x="665018" y="2014346"/>
            <a:ext cx="11018981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CN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PAXOS</a:t>
            </a:r>
            <a:r>
              <a:rPr lang="zh-CN" altLang="en-US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：基于消息传递的分布式一致性算法。由</a:t>
            </a:r>
            <a:r>
              <a:rPr lang="en-US" altLang="zh-CN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Leslie </a:t>
            </a:r>
            <a:r>
              <a:rPr lang="en-US" altLang="zh-CN" sz="2200" dirty="0" err="1">
                <a:latin typeface="Garamond" panose="02020404030301010803" pitchFamily="18" charset="0"/>
                <a:ea typeface="微软雅黑" panose="020B0503020204020204" pitchFamily="34" charset="-122"/>
              </a:rPr>
              <a:t>Lamport</a:t>
            </a:r>
            <a:r>
              <a:rPr lang="zh-CN" altLang="en-US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提出，并获得图灵奖</a:t>
            </a:r>
          </a:p>
        </p:txBody>
      </p:sp>
      <p:sp>
        <p:nvSpPr>
          <p:cNvPr id="86" name="文本框 85">
            <a:extLst>
              <a:ext uri="{FF2B5EF4-FFF2-40B4-BE49-F238E27FC236}">
                <a16:creationId xmlns:a16="http://schemas.microsoft.com/office/drawing/2014/main" id="{A9DD1830-7981-4B3D-A0C5-486A1F82DD93}"/>
              </a:ext>
            </a:extLst>
          </p:cNvPr>
          <p:cNvSpPr txBox="1"/>
          <p:nvPr/>
        </p:nvSpPr>
        <p:spPr>
          <a:xfrm>
            <a:off x="8068974" y="2704732"/>
            <a:ext cx="3278908" cy="110799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  <a:prstDash val="dash"/>
          </a:ln>
        </p:spPr>
        <p:txBody>
          <a:bodyPr wrap="square">
            <a:spAutoFit/>
          </a:bodyPr>
          <a:lstStyle/>
          <a:p>
            <a:r>
              <a:rPr lang="zh-CN" altLang="en-US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这个世界上只有一种一致性算法，那就是</a:t>
            </a:r>
            <a:r>
              <a:rPr lang="en-US" altLang="zh-CN" sz="2200" dirty="0" err="1">
                <a:latin typeface="Garamond" panose="02020404030301010803" pitchFamily="18" charset="0"/>
                <a:ea typeface="微软雅黑" panose="020B0503020204020204" pitchFamily="34" charset="-122"/>
              </a:rPr>
              <a:t>Paxos</a:t>
            </a:r>
            <a:r>
              <a:rPr lang="zh-CN" altLang="en-US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，其它的算法都是残次品。</a:t>
            </a:r>
          </a:p>
        </p:txBody>
      </p:sp>
      <p:sp>
        <p:nvSpPr>
          <p:cNvPr id="87" name="文本框 86">
            <a:extLst>
              <a:ext uri="{FF2B5EF4-FFF2-40B4-BE49-F238E27FC236}">
                <a16:creationId xmlns:a16="http://schemas.microsoft.com/office/drawing/2014/main" id="{B816D6BC-B20D-4BB7-8B97-B3226F5F067F}"/>
              </a:ext>
            </a:extLst>
          </p:cNvPr>
          <p:cNvSpPr txBox="1"/>
          <p:nvPr/>
        </p:nvSpPr>
        <p:spPr>
          <a:xfrm>
            <a:off x="979055" y="2636561"/>
            <a:ext cx="71120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特点：满足</a:t>
            </a:r>
            <a:r>
              <a:rPr lang="zh-CN" altLang="en-US" sz="2200" b="1" dirty="0">
                <a:solidFill>
                  <a:srgbClr val="A40A57"/>
                </a:solidFill>
                <a:latin typeface="Garamond" panose="02020404030301010803" pitchFamily="18" charset="0"/>
                <a:ea typeface="微软雅黑" panose="020B0503020204020204" pitchFamily="34" charset="-122"/>
              </a:rPr>
              <a:t>安全性</a:t>
            </a:r>
            <a:r>
              <a:rPr lang="zh-CN" altLang="en-US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和</a:t>
            </a:r>
            <a:r>
              <a:rPr lang="zh-CN" altLang="en-US" sz="2200" b="1" dirty="0">
                <a:solidFill>
                  <a:srgbClr val="A40A57"/>
                </a:solidFill>
                <a:latin typeface="Garamond" panose="02020404030301010803" pitchFamily="18" charset="0"/>
                <a:ea typeface="微软雅黑" panose="020B0503020204020204" pitchFamily="34" charset="-122"/>
              </a:rPr>
              <a:t>活性。</a:t>
            </a:r>
          </a:p>
        </p:txBody>
      </p:sp>
      <p:sp>
        <p:nvSpPr>
          <p:cNvPr id="88" name="文本框 87">
            <a:extLst>
              <a:ext uri="{FF2B5EF4-FFF2-40B4-BE49-F238E27FC236}">
                <a16:creationId xmlns:a16="http://schemas.microsoft.com/office/drawing/2014/main" id="{65F54311-56DD-4CE9-9C6B-170C4F1A0E76}"/>
              </a:ext>
            </a:extLst>
          </p:cNvPr>
          <p:cNvSpPr txBox="1"/>
          <p:nvPr/>
        </p:nvSpPr>
        <p:spPr>
          <a:xfrm>
            <a:off x="979054" y="3917525"/>
            <a:ext cx="71120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存在问题：复杂，难以理解和实现。</a:t>
            </a:r>
            <a:endParaRPr lang="zh-CN" altLang="en-US" sz="2200" b="1" dirty="0">
              <a:solidFill>
                <a:srgbClr val="A40A57"/>
              </a:solidFill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89" name="文本框 88">
            <a:extLst>
              <a:ext uri="{FF2B5EF4-FFF2-40B4-BE49-F238E27FC236}">
                <a16:creationId xmlns:a16="http://schemas.microsoft.com/office/drawing/2014/main" id="{9DFAE12F-FF90-4766-A2C7-0D2675A5E94A}"/>
              </a:ext>
            </a:extLst>
          </p:cNvPr>
          <p:cNvSpPr txBox="1"/>
          <p:nvPr/>
        </p:nvSpPr>
        <p:spPr>
          <a:xfrm>
            <a:off x="665018" y="4539740"/>
            <a:ext cx="71120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CN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RAFT</a:t>
            </a:r>
            <a:r>
              <a:rPr lang="zh-CN" altLang="en-US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：</a:t>
            </a:r>
            <a:endParaRPr lang="zh-CN" altLang="en-US" sz="2200" b="1" dirty="0">
              <a:solidFill>
                <a:srgbClr val="A40A57"/>
              </a:solidFill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90" name="文本框 89">
            <a:extLst>
              <a:ext uri="{FF2B5EF4-FFF2-40B4-BE49-F238E27FC236}">
                <a16:creationId xmlns:a16="http://schemas.microsoft.com/office/drawing/2014/main" id="{C1ACC94B-22D2-4A58-8EBA-67E32F1BA6F6}"/>
              </a:ext>
            </a:extLst>
          </p:cNvPr>
          <p:cNvSpPr txBox="1"/>
          <p:nvPr/>
        </p:nvSpPr>
        <p:spPr>
          <a:xfrm>
            <a:off x="979055" y="3277043"/>
            <a:ext cx="71120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容错能力：</a:t>
            </a:r>
            <a:r>
              <a:rPr lang="en-US" altLang="zh-CN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2F + 1</a:t>
            </a:r>
            <a:r>
              <a:rPr lang="zh-CN" altLang="en-US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个节点能够容忍</a:t>
            </a:r>
            <a:r>
              <a:rPr lang="en-US" altLang="zh-CN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F</a:t>
            </a:r>
            <a:r>
              <a:rPr lang="zh-CN" altLang="en-US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个错误节点</a:t>
            </a:r>
            <a:endParaRPr lang="zh-CN" altLang="en-US" sz="2200" b="1" dirty="0">
              <a:solidFill>
                <a:srgbClr val="A40A57"/>
              </a:solidFill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91" name="文本框 90">
            <a:extLst>
              <a:ext uri="{FF2B5EF4-FFF2-40B4-BE49-F238E27FC236}">
                <a16:creationId xmlns:a16="http://schemas.microsoft.com/office/drawing/2014/main" id="{0E86724B-B7FF-47C2-8975-3DB260BC7454}"/>
              </a:ext>
            </a:extLst>
          </p:cNvPr>
          <p:cNvSpPr txBox="1"/>
          <p:nvPr/>
        </p:nvSpPr>
        <p:spPr>
          <a:xfrm>
            <a:off x="979055" y="5161955"/>
            <a:ext cx="71120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特点：简单的流程满足</a:t>
            </a:r>
            <a:r>
              <a:rPr lang="en-US" altLang="zh-CN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PAXOS</a:t>
            </a:r>
            <a:r>
              <a:rPr lang="zh-CN" altLang="en-US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相当的容错性能。</a:t>
            </a:r>
            <a:endParaRPr lang="zh-CN" altLang="en-US" sz="2200" b="1" dirty="0">
              <a:solidFill>
                <a:srgbClr val="A40A57"/>
              </a:solidFill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976FF144-CB13-46CB-92BF-B13AE84DF93F}"/>
              </a:ext>
            </a:extLst>
          </p:cNvPr>
          <p:cNvSpPr txBox="1"/>
          <p:nvPr/>
        </p:nvSpPr>
        <p:spPr>
          <a:xfrm>
            <a:off x="979055" y="5820704"/>
            <a:ext cx="71120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存在问题：效率问题。</a:t>
            </a:r>
            <a:endParaRPr lang="zh-CN" altLang="en-US" sz="2200" b="1" dirty="0">
              <a:solidFill>
                <a:srgbClr val="A40A57"/>
              </a:solidFill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83" grpId="0"/>
      <p:bldP spid="86" grpId="0" animBg="1"/>
      <p:bldP spid="87" grpId="0"/>
      <p:bldP spid="88" grpId="0"/>
      <p:bldP spid="89" grpId="0"/>
      <p:bldP spid="90" grpId="0"/>
      <p:bldP spid="91" grpId="0"/>
      <p:bldP spid="9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Garamond" panose="02020404030301010803" pitchFamily="18" charset="0"/>
                <a:ea typeface="微软雅黑" panose="020B0503020204020204" pitchFamily="34" charset="-122"/>
              </a:rPr>
              <a:t>RAFT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1E41-7A09-AB4A-A4E1-09765ADA2698}" type="slidenum">
              <a:rPr kumimoji="1" lang="zh-CN" altLang="en-US" smtClean="0"/>
              <a:t>3</a:t>
            </a:fld>
            <a:endParaRPr kumimoji="1" lang="zh-CN" altLang="en-US" dirty="0"/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20B69DFF-3ADF-4084-993C-E342FFD29DE7}"/>
              </a:ext>
            </a:extLst>
          </p:cNvPr>
          <p:cNvSpPr/>
          <p:nvPr/>
        </p:nvSpPr>
        <p:spPr>
          <a:xfrm>
            <a:off x="5417914" y="3333784"/>
            <a:ext cx="1062182" cy="1062182"/>
          </a:xfrm>
          <a:prstGeom prst="ellipse">
            <a:avLst/>
          </a:prstGeom>
          <a:solidFill>
            <a:srgbClr val="A40A5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513FC699-44AC-4F4B-B885-6215514A32DB}"/>
              </a:ext>
            </a:extLst>
          </p:cNvPr>
          <p:cNvSpPr txBox="1"/>
          <p:nvPr/>
        </p:nvSpPr>
        <p:spPr>
          <a:xfrm>
            <a:off x="6480096" y="3649431"/>
            <a:ext cx="2318326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假设单节点系统</a:t>
            </a:r>
          </a:p>
        </p:txBody>
      </p:sp>
    </p:spTree>
    <p:extLst>
      <p:ext uri="{BB962C8B-B14F-4D97-AF65-F5344CB8AC3E}">
        <p14:creationId xmlns:p14="http://schemas.microsoft.com/office/powerpoint/2010/main" val="50693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Garamond" panose="02020404030301010803" pitchFamily="18" charset="0"/>
                <a:ea typeface="微软雅黑" panose="020B0503020204020204" pitchFamily="34" charset="-122"/>
              </a:rPr>
              <a:t>RAFT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1E41-7A09-AB4A-A4E1-09765ADA2698}" type="slidenum">
              <a:rPr kumimoji="1" lang="zh-CN" altLang="en-US" smtClean="0"/>
              <a:t>4</a:t>
            </a:fld>
            <a:endParaRPr kumimoji="1" lang="zh-CN" altLang="en-US" dirty="0"/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20B69DFF-3ADF-4084-993C-E342FFD29DE7}"/>
              </a:ext>
            </a:extLst>
          </p:cNvPr>
          <p:cNvSpPr/>
          <p:nvPr/>
        </p:nvSpPr>
        <p:spPr>
          <a:xfrm>
            <a:off x="3517703" y="1336281"/>
            <a:ext cx="5156593" cy="5156593"/>
          </a:xfrm>
          <a:prstGeom prst="ellipse">
            <a:avLst/>
          </a:prstGeom>
          <a:solidFill>
            <a:srgbClr val="A40A5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dirty="0">
                <a:latin typeface="Garamond" panose="02020404030301010803" pitchFamily="18" charset="0"/>
              </a:rPr>
              <a:t>X</a:t>
            </a:r>
            <a:endParaRPr lang="zh-CN" altLang="en-US" sz="2800" dirty="0">
              <a:latin typeface="Garamond" panose="02020404030301010803" pitchFamily="18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F768EB0-E2DB-4B52-8B0B-E579F8E75285}"/>
              </a:ext>
            </a:extLst>
          </p:cNvPr>
          <p:cNvSpPr txBox="1"/>
          <p:nvPr/>
        </p:nvSpPr>
        <p:spPr>
          <a:xfrm>
            <a:off x="8798422" y="3529856"/>
            <a:ext cx="2318326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Key-Value</a:t>
            </a:r>
            <a:r>
              <a:rPr lang="zh-CN" altLang="en-US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数据库，存储变量</a:t>
            </a:r>
            <a:r>
              <a:rPr lang="en-US" altLang="zh-CN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X</a:t>
            </a:r>
            <a:r>
              <a:rPr lang="zh-CN" altLang="en-US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的值</a:t>
            </a:r>
          </a:p>
        </p:txBody>
      </p:sp>
    </p:spTree>
    <p:extLst>
      <p:ext uri="{BB962C8B-B14F-4D97-AF65-F5344CB8AC3E}">
        <p14:creationId xmlns:p14="http://schemas.microsoft.com/office/powerpoint/2010/main" val="38330540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Garamond" panose="02020404030301010803" pitchFamily="18" charset="0"/>
                <a:ea typeface="微软雅黑" panose="020B0503020204020204" pitchFamily="34" charset="-122"/>
              </a:rPr>
              <a:t>RAFT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1E41-7A09-AB4A-A4E1-09765ADA2698}" type="slidenum">
              <a:rPr kumimoji="1" lang="zh-CN" altLang="en-US" smtClean="0"/>
              <a:t>5</a:t>
            </a:fld>
            <a:endParaRPr kumimoji="1" lang="zh-CN" altLang="en-US" dirty="0"/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36FB28F3-BF80-4222-B390-A9E473B02629}"/>
              </a:ext>
            </a:extLst>
          </p:cNvPr>
          <p:cNvSpPr/>
          <p:nvPr/>
        </p:nvSpPr>
        <p:spPr>
          <a:xfrm>
            <a:off x="5417914" y="3333784"/>
            <a:ext cx="1062182" cy="1062182"/>
          </a:xfrm>
          <a:prstGeom prst="ellipse">
            <a:avLst/>
          </a:prstGeom>
          <a:solidFill>
            <a:srgbClr val="A40A5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latin typeface="Garamond" panose="02020404030301010803" pitchFamily="18" charset="0"/>
              </a:rPr>
              <a:t>X</a:t>
            </a:r>
            <a:endParaRPr lang="zh-CN" altLang="en-US" sz="2400" dirty="0">
              <a:latin typeface="Garamond" panose="02020404030301010803" pitchFamily="18" charset="0"/>
            </a:endParaRP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61986A78-1513-41C4-AEF9-87AA9DB083DB}"/>
              </a:ext>
            </a:extLst>
          </p:cNvPr>
          <p:cNvSpPr/>
          <p:nvPr/>
        </p:nvSpPr>
        <p:spPr>
          <a:xfrm>
            <a:off x="3372059" y="3333784"/>
            <a:ext cx="1062182" cy="1062182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latin typeface="Garamond" panose="02020404030301010803" pitchFamily="18" charset="0"/>
              </a:rPr>
              <a:t>8</a:t>
            </a:r>
            <a:endParaRPr lang="zh-CN" altLang="en-US" sz="2400" dirty="0">
              <a:latin typeface="Garamond" panose="02020404030301010803" pitchFamily="18" charset="0"/>
            </a:endParaRPr>
          </a:p>
        </p:txBody>
      </p:sp>
      <p:cxnSp>
        <p:nvCxnSpPr>
          <p:cNvPr id="5" name="直接箭头连接符 4">
            <a:extLst>
              <a:ext uri="{FF2B5EF4-FFF2-40B4-BE49-F238E27FC236}">
                <a16:creationId xmlns:a16="http://schemas.microsoft.com/office/drawing/2014/main" id="{FEA7B85A-AD4E-4022-AA11-B6E6AE77DB46}"/>
              </a:ext>
            </a:extLst>
          </p:cNvPr>
          <p:cNvCxnSpPr>
            <a:cxnSpLocks/>
            <a:stCxn id="9" idx="6"/>
          </p:cNvCxnSpPr>
          <p:nvPr/>
        </p:nvCxnSpPr>
        <p:spPr>
          <a:xfrm>
            <a:off x="4434241" y="3864875"/>
            <a:ext cx="4031897" cy="0"/>
          </a:xfrm>
          <a:prstGeom prst="straightConnector1">
            <a:avLst/>
          </a:prstGeom>
          <a:ln w="28575">
            <a:solidFill>
              <a:srgbClr val="FFD7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62450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5 0 E" pathEditMode="relative" ptsTypes="">
                                      <p:cBhvr>
                                        <p:cTn id="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Garamond" panose="02020404030301010803" pitchFamily="18" charset="0"/>
                <a:ea typeface="微软雅黑" panose="020B0503020204020204" pitchFamily="34" charset="-122"/>
              </a:rPr>
              <a:t>RAFT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1E41-7A09-AB4A-A4E1-09765ADA2698}" type="slidenum">
              <a:rPr kumimoji="1" lang="zh-CN" altLang="en-US" smtClean="0"/>
              <a:t>6</a:t>
            </a:fld>
            <a:endParaRPr kumimoji="1" lang="zh-CN" altLang="en-US" dirty="0"/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36FB28F3-BF80-4222-B390-A9E473B02629}"/>
              </a:ext>
            </a:extLst>
          </p:cNvPr>
          <p:cNvSpPr/>
          <p:nvPr/>
        </p:nvSpPr>
        <p:spPr>
          <a:xfrm>
            <a:off x="8466138" y="3333784"/>
            <a:ext cx="1062182" cy="1062182"/>
          </a:xfrm>
          <a:prstGeom prst="ellipse">
            <a:avLst/>
          </a:prstGeom>
          <a:solidFill>
            <a:srgbClr val="A40A5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latin typeface="Garamond" panose="02020404030301010803" pitchFamily="18" charset="0"/>
              </a:rPr>
              <a:t>X</a:t>
            </a:r>
            <a:endParaRPr lang="zh-CN" altLang="en-US" sz="2400" dirty="0">
              <a:latin typeface="Garamond" panose="02020404030301010803" pitchFamily="18" charset="0"/>
            </a:endParaRP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61986A78-1513-41C4-AEF9-87AA9DB083DB}"/>
              </a:ext>
            </a:extLst>
          </p:cNvPr>
          <p:cNvSpPr/>
          <p:nvPr/>
        </p:nvSpPr>
        <p:spPr>
          <a:xfrm>
            <a:off x="3372059" y="3333784"/>
            <a:ext cx="1062182" cy="1062182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latin typeface="Garamond" panose="02020404030301010803" pitchFamily="18" charset="0"/>
              </a:rPr>
              <a:t>8</a:t>
            </a:r>
            <a:endParaRPr lang="zh-CN" altLang="en-US" sz="2400" dirty="0">
              <a:latin typeface="Garamond" panose="02020404030301010803" pitchFamily="18" charset="0"/>
            </a:endParaRPr>
          </a:p>
        </p:txBody>
      </p:sp>
      <p:cxnSp>
        <p:nvCxnSpPr>
          <p:cNvPr id="5" name="直接箭头连接符 4">
            <a:extLst>
              <a:ext uri="{FF2B5EF4-FFF2-40B4-BE49-F238E27FC236}">
                <a16:creationId xmlns:a16="http://schemas.microsoft.com/office/drawing/2014/main" id="{FEA7B85A-AD4E-4022-AA11-B6E6AE77DB46}"/>
              </a:ext>
            </a:extLst>
          </p:cNvPr>
          <p:cNvCxnSpPr>
            <a:cxnSpLocks/>
            <a:stCxn id="9" idx="6"/>
          </p:cNvCxnSpPr>
          <p:nvPr/>
        </p:nvCxnSpPr>
        <p:spPr>
          <a:xfrm>
            <a:off x="4434241" y="3864875"/>
            <a:ext cx="4031897" cy="0"/>
          </a:xfrm>
          <a:prstGeom prst="straightConnector1">
            <a:avLst/>
          </a:prstGeom>
          <a:ln w="28575">
            <a:solidFill>
              <a:srgbClr val="FFD7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框 9">
            <a:extLst>
              <a:ext uri="{FF2B5EF4-FFF2-40B4-BE49-F238E27FC236}">
                <a16:creationId xmlns:a16="http://schemas.microsoft.com/office/drawing/2014/main" id="{1C6CC277-B18A-412C-B685-ACA2F0055B8C}"/>
              </a:ext>
            </a:extLst>
          </p:cNvPr>
          <p:cNvSpPr txBox="1"/>
          <p:nvPr/>
        </p:nvSpPr>
        <p:spPr>
          <a:xfrm>
            <a:off x="4198713" y="3680209"/>
            <a:ext cx="47105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800" dirty="0">
                <a:latin typeface="Garamond" panose="02020404030301010803" pitchFamily="18" charset="0"/>
              </a:rPr>
              <a:t>8</a:t>
            </a:r>
            <a:endParaRPr lang="zh-CN" altLang="en-US" sz="1800" dirty="0">
              <a:latin typeface="Garamond" panose="020204040303010108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19696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63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875E-6 4.07407E-6 L 0.33073 0.00023 " pathEditMode="relative" rAng="0" ptsTypes="AA">
                                      <p:cBhvr>
                                        <p:cTn id="9" dur="1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6536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500"/>
                            </p:stCondLst>
                            <p:childTnLst>
                              <p:par>
                                <p:cTn id="11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0" grpId="1"/>
      <p:bldP spid="10" grpId="2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Garamond" panose="02020404030301010803" pitchFamily="18" charset="0"/>
                <a:ea typeface="微软雅黑" panose="020B0503020204020204" pitchFamily="34" charset="-122"/>
              </a:rPr>
              <a:t>RAFT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1E41-7A09-AB4A-A4E1-09765ADA2698}" type="slidenum">
              <a:rPr kumimoji="1" lang="zh-CN" altLang="en-US" smtClean="0"/>
              <a:t>7</a:t>
            </a:fld>
            <a:endParaRPr kumimoji="1" lang="zh-CN" altLang="en-US" dirty="0"/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36FB28F3-BF80-4222-B390-A9E473B02629}"/>
              </a:ext>
            </a:extLst>
          </p:cNvPr>
          <p:cNvSpPr/>
          <p:nvPr/>
        </p:nvSpPr>
        <p:spPr>
          <a:xfrm>
            <a:off x="8466138" y="3333784"/>
            <a:ext cx="1062182" cy="1062182"/>
          </a:xfrm>
          <a:prstGeom prst="ellipse">
            <a:avLst/>
          </a:prstGeom>
          <a:solidFill>
            <a:srgbClr val="A40A5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latin typeface="Garamond" panose="02020404030301010803" pitchFamily="18" charset="0"/>
              </a:rPr>
              <a:t>8</a:t>
            </a:r>
            <a:endParaRPr lang="zh-CN" altLang="en-US" sz="2400" dirty="0">
              <a:latin typeface="Garamond" panose="02020404030301010803" pitchFamily="18" charset="0"/>
            </a:endParaRP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61986A78-1513-41C4-AEF9-87AA9DB083DB}"/>
              </a:ext>
            </a:extLst>
          </p:cNvPr>
          <p:cNvSpPr/>
          <p:nvPr/>
        </p:nvSpPr>
        <p:spPr>
          <a:xfrm>
            <a:off x="3372059" y="3333784"/>
            <a:ext cx="1062182" cy="1062182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latin typeface="Garamond" panose="02020404030301010803" pitchFamily="18" charset="0"/>
              </a:rPr>
              <a:t>8</a:t>
            </a:r>
            <a:endParaRPr lang="zh-CN" altLang="en-US" sz="2400" dirty="0">
              <a:latin typeface="Garamond" panose="02020404030301010803" pitchFamily="18" charset="0"/>
            </a:endParaRP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512BE87C-5429-4354-9525-19DDE97EAC61}"/>
              </a:ext>
            </a:extLst>
          </p:cNvPr>
          <p:cNvSpPr/>
          <p:nvPr/>
        </p:nvSpPr>
        <p:spPr>
          <a:xfrm>
            <a:off x="8466138" y="1980657"/>
            <a:ext cx="1062182" cy="1062182"/>
          </a:xfrm>
          <a:prstGeom prst="ellipse">
            <a:avLst/>
          </a:prstGeom>
          <a:solidFill>
            <a:srgbClr val="A40A5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latin typeface="Garamond" panose="02020404030301010803" pitchFamily="18" charset="0"/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711132B9-82B2-42F0-B6DF-65C195B6A1DB}"/>
              </a:ext>
            </a:extLst>
          </p:cNvPr>
          <p:cNvSpPr/>
          <p:nvPr/>
        </p:nvSpPr>
        <p:spPr>
          <a:xfrm>
            <a:off x="9894454" y="4845067"/>
            <a:ext cx="1062182" cy="1062182"/>
          </a:xfrm>
          <a:prstGeom prst="ellipse">
            <a:avLst/>
          </a:prstGeom>
          <a:solidFill>
            <a:srgbClr val="A40A5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latin typeface="Garamond" panose="020204040303010108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536952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6.25E-7 4.07407E-6 L -0.11211 0.21898 " pathEditMode="relative" rAng="0" ptsTypes="AA">
                                      <p:cBhvr>
                                        <p:cTn id="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612" y="1094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1000"/>
                            </p:stCondLst>
                            <p:childTnLst>
                              <p:par>
                                <p:cTn id="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000"/>
                            </p:stCondLst>
                            <p:childTnLst>
                              <p:par>
                                <p:cTn id="14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1" grpId="0" animBg="1"/>
      <p:bldP spid="12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Garamond" panose="02020404030301010803" pitchFamily="18" charset="0"/>
                <a:ea typeface="微软雅黑" panose="020B0503020204020204" pitchFamily="34" charset="-122"/>
              </a:rPr>
              <a:t>RAFT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1E41-7A09-AB4A-A4E1-09765ADA2698}" type="slidenum">
              <a:rPr kumimoji="1" lang="zh-CN" altLang="en-US" smtClean="0"/>
              <a:t>8</a:t>
            </a:fld>
            <a:endParaRPr kumimoji="1" lang="zh-CN" altLang="en-US" dirty="0"/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36FB28F3-BF80-4222-B390-A9E473B02629}"/>
              </a:ext>
            </a:extLst>
          </p:cNvPr>
          <p:cNvSpPr/>
          <p:nvPr/>
        </p:nvSpPr>
        <p:spPr>
          <a:xfrm>
            <a:off x="7108679" y="4845067"/>
            <a:ext cx="1062182" cy="1062182"/>
          </a:xfrm>
          <a:prstGeom prst="ellipse">
            <a:avLst/>
          </a:prstGeom>
          <a:solidFill>
            <a:srgbClr val="A40A5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latin typeface="Garamond" panose="02020404030301010803" pitchFamily="18" charset="0"/>
              </a:rPr>
              <a:t>8</a:t>
            </a:r>
            <a:endParaRPr lang="zh-CN" altLang="en-US" sz="2400" dirty="0">
              <a:latin typeface="Garamond" panose="02020404030301010803" pitchFamily="18" charset="0"/>
            </a:endParaRP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61986A78-1513-41C4-AEF9-87AA9DB083DB}"/>
              </a:ext>
            </a:extLst>
          </p:cNvPr>
          <p:cNvSpPr/>
          <p:nvPr/>
        </p:nvSpPr>
        <p:spPr>
          <a:xfrm>
            <a:off x="3372059" y="3333784"/>
            <a:ext cx="1062182" cy="1062182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latin typeface="Garamond" panose="02020404030301010803" pitchFamily="18" charset="0"/>
              </a:rPr>
              <a:t>8</a:t>
            </a:r>
            <a:endParaRPr lang="zh-CN" altLang="en-US" sz="2400" dirty="0">
              <a:latin typeface="Garamond" panose="02020404030301010803" pitchFamily="18" charset="0"/>
            </a:endParaRP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512BE87C-5429-4354-9525-19DDE97EAC61}"/>
              </a:ext>
            </a:extLst>
          </p:cNvPr>
          <p:cNvSpPr/>
          <p:nvPr/>
        </p:nvSpPr>
        <p:spPr>
          <a:xfrm>
            <a:off x="8466138" y="1980657"/>
            <a:ext cx="1062182" cy="1062182"/>
          </a:xfrm>
          <a:prstGeom prst="ellipse">
            <a:avLst/>
          </a:prstGeom>
          <a:solidFill>
            <a:srgbClr val="A40A5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latin typeface="Garamond" panose="02020404030301010803" pitchFamily="18" charset="0"/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711132B9-82B2-42F0-B6DF-65C195B6A1DB}"/>
              </a:ext>
            </a:extLst>
          </p:cNvPr>
          <p:cNvSpPr/>
          <p:nvPr/>
        </p:nvSpPr>
        <p:spPr>
          <a:xfrm>
            <a:off x="9894454" y="4845067"/>
            <a:ext cx="1062182" cy="1062182"/>
          </a:xfrm>
          <a:prstGeom prst="ellipse">
            <a:avLst/>
          </a:prstGeom>
          <a:solidFill>
            <a:srgbClr val="A40A5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latin typeface="Garamond" panose="02020404030301010803" pitchFamily="18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AB9C01E7-F7B9-4B62-9FB6-7B2A23FB723C}"/>
              </a:ext>
            </a:extLst>
          </p:cNvPr>
          <p:cNvSpPr txBox="1"/>
          <p:nvPr/>
        </p:nvSpPr>
        <p:spPr>
          <a:xfrm>
            <a:off x="7875010" y="3429000"/>
            <a:ext cx="2244437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分布式共识</a:t>
            </a:r>
            <a:endParaRPr lang="en-US" altLang="zh-CN" sz="2200" dirty="0">
              <a:latin typeface="Garamond" panose="02020404030301010803" pitchFamily="18" charset="0"/>
              <a:ea typeface="微软雅黑" panose="020B0503020204020204" pitchFamily="34" charset="-122"/>
            </a:endParaRPr>
          </a:p>
          <a:p>
            <a:pPr algn="ctr"/>
            <a:r>
              <a:rPr lang="en-US" altLang="zh-CN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Distributed Consensus</a:t>
            </a:r>
            <a:endParaRPr lang="zh-CN" altLang="en-US" sz="2200" dirty="0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B3630849-2B58-4716-A482-2DDD14B98616}"/>
              </a:ext>
            </a:extLst>
          </p:cNvPr>
          <p:cNvSpPr txBox="1"/>
          <p:nvPr/>
        </p:nvSpPr>
        <p:spPr>
          <a:xfrm>
            <a:off x="5986461" y="5160714"/>
            <a:ext cx="1122218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节点</a:t>
            </a:r>
            <a:r>
              <a:rPr lang="en-US" altLang="zh-CN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A</a:t>
            </a:r>
            <a:endParaRPr lang="zh-CN" altLang="en-US" sz="2200" dirty="0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0DDDA05-6EE4-4787-BEDF-CB637A29C418}"/>
              </a:ext>
            </a:extLst>
          </p:cNvPr>
          <p:cNvSpPr txBox="1"/>
          <p:nvPr/>
        </p:nvSpPr>
        <p:spPr>
          <a:xfrm>
            <a:off x="8436119" y="1583174"/>
            <a:ext cx="1122218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节点</a:t>
            </a:r>
            <a:r>
              <a:rPr lang="en-US" altLang="zh-CN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B</a:t>
            </a:r>
            <a:endParaRPr lang="zh-CN" altLang="en-US" sz="2200" dirty="0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60668FFD-D70D-452A-BD1A-CEC600F94CBC}"/>
              </a:ext>
            </a:extLst>
          </p:cNvPr>
          <p:cNvSpPr txBox="1"/>
          <p:nvPr/>
        </p:nvSpPr>
        <p:spPr>
          <a:xfrm>
            <a:off x="10860664" y="5139040"/>
            <a:ext cx="1122218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节点</a:t>
            </a:r>
            <a:r>
              <a:rPr lang="en-US" altLang="zh-CN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C</a:t>
            </a:r>
            <a:endParaRPr lang="zh-CN" altLang="en-US" sz="2200" dirty="0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613302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3" grpId="0"/>
      <p:bldP spid="14" grpId="0"/>
      <p:bldP spid="1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Garamond" panose="02020404030301010803" pitchFamily="18" charset="0"/>
                <a:ea typeface="微软雅黑" panose="020B0503020204020204" pitchFamily="34" charset="-122"/>
              </a:rPr>
              <a:t>RAFT</a:t>
            </a:r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节点状态</a:t>
            </a:r>
            <a:endParaRPr lang="en-US" altLang="zh-CN" dirty="0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1E41-7A09-AB4A-A4E1-09765ADA2698}" type="slidenum">
              <a:rPr kumimoji="1" lang="zh-CN" altLang="en-US" smtClean="0"/>
              <a:t>9</a:t>
            </a:fld>
            <a:endParaRPr kumimoji="1" lang="zh-CN" altLang="en-US" dirty="0"/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512BE87C-5429-4354-9525-19DDE97EAC61}"/>
              </a:ext>
            </a:extLst>
          </p:cNvPr>
          <p:cNvSpPr/>
          <p:nvPr/>
        </p:nvSpPr>
        <p:spPr>
          <a:xfrm>
            <a:off x="2126673" y="4286930"/>
            <a:ext cx="2177472" cy="2177472"/>
          </a:xfrm>
          <a:prstGeom prst="ellipse">
            <a:avLst/>
          </a:prstGeom>
          <a:solidFill>
            <a:srgbClr val="A40A5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latin typeface="Garamond" panose="02020404030301010803" pitchFamily="18" charset="0"/>
              </a:rPr>
              <a:t>Follower</a:t>
            </a:r>
            <a:endParaRPr lang="zh-CN" altLang="en-US" sz="2400" dirty="0">
              <a:latin typeface="Garamond" panose="02020404030301010803" pitchFamily="18" charset="0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F77BE9CD-7E3E-4662-9628-4CA3E7A236C7}"/>
              </a:ext>
            </a:extLst>
          </p:cNvPr>
          <p:cNvSpPr txBox="1"/>
          <p:nvPr/>
        </p:nvSpPr>
        <p:spPr>
          <a:xfrm>
            <a:off x="665018" y="1455375"/>
            <a:ext cx="11018981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节点状态：</a:t>
            </a:r>
            <a:endParaRPr lang="en-US" altLang="zh-CN" sz="2200" dirty="0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3DF04B5E-FAA4-4058-8B7A-987C046A799E}"/>
              </a:ext>
            </a:extLst>
          </p:cNvPr>
          <p:cNvSpPr txBox="1"/>
          <p:nvPr/>
        </p:nvSpPr>
        <p:spPr>
          <a:xfrm>
            <a:off x="1029855" y="2070203"/>
            <a:ext cx="276629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altLang="zh-CN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Follower</a:t>
            </a:r>
            <a:r>
              <a:rPr lang="zh-CN" altLang="en-US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（跟随者）</a:t>
            </a:r>
            <a:endParaRPr lang="en-US" altLang="zh-CN" sz="2200" dirty="0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9FF6B6B-DAD0-4F78-B732-58E8EB167DA0}"/>
              </a:ext>
            </a:extLst>
          </p:cNvPr>
          <p:cNvSpPr txBox="1"/>
          <p:nvPr/>
        </p:nvSpPr>
        <p:spPr>
          <a:xfrm>
            <a:off x="1029855" y="2685031"/>
            <a:ext cx="276629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altLang="zh-CN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Candidate</a:t>
            </a:r>
            <a:r>
              <a:rPr lang="zh-CN" altLang="en-US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（备选者）</a:t>
            </a:r>
            <a:endParaRPr lang="en-US" altLang="zh-CN" sz="2200" dirty="0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2262FC36-294D-46BF-8C3C-831F69D99B6B}"/>
              </a:ext>
            </a:extLst>
          </p:cNvPr>
          <p:cNvSpPr txBox="1"/>
          <p:nvPr/>
        </p:nvSpPr>
        <p:spPr>
          <a:xfrm>
            <a:off x="1029855" y="3299859"/>
            <a:ext cx="276629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altLang="zh-CN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Leader</a:t>
            </a:r>
            <a:r>
              <a:rPr lang="zh-CN" altLang="en-US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（领导者）</a:t>
            </a:r>
            <a:endParaRPr lang="en-US" altLang="zh-CN" sz="2200" dirty="0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079080CE-6800-4C1E-8C04-139CC7E8D9F9}"/>
              </a:ext>
            </a:extLst>
          </p:cNvPr>
          <p:cNvSpPr/>
          <p:nvPr/>
        </p:nvSpPr>
        <p:spPr>
          <a:xfrm>
            <a:off x="5250634" y="4286930"/>
            <a:ext cx="2177472" cy="2177472"/>
          </a:xfrm>
          <a:prstGeom prst="ellipse">
            <a:avLst/>
          </a:prstGeom>
          <a:solidFill>
            <a:srgbClr val="A40A57"/>
          </a:solidFill>
          <a:ln w="38100">
            <a:solidFill>
              <a:srgbClr val="0000FF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latin typeface="Garamond" panose="02020404030301010803" pitchFamily="18" charset="0"/>
              </a:rPr>
              <a:t>Candidate</a:t>
            </a:r>
            <a:endParaRPr lang="zh-CN" altLang="en-US" sz="2400" dirty="0">
              <a:latin typeface="Garamond" panose="02020404030301010803" pitchFamily="18" charset="0"/>
            </a:endParaRPr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6908FB6F-B046-4CCF-ACEF-DA9B78DC9FCD}"/>
              </a:ext>
            </a:extLst>
          </p:cNvPr>
          <p:cNvSpPr/>
          <p:nvPr/>
        </p:nvSpPr>
        <p:spPr>
          <a:xfrm>
            <a:off x="8374595" y="4286930"/>
            <a:ext cx="2177472" cy="2177472"/>
          </a:xfrm>
          <a:prstGeom prst="ellipse">
            <a:avLst/>
          </a:prstGeom>
          <a:solidFill>
            <a:srgbClr val="A40A57"/>
          </a:solidFill>
          <a:ln w="3810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latin typeface="Garamond" panose="02020404030301010803" pitchFamily="18" charset="0"/>
              </a:rPr>
              <a:t>Leader</a:t>
            </a:r>
            <a:endParaRPr lang="zh-CN" altLang="en-US" sz="2400" dirty="0">
              <a:latin typeface="Garamond" panose="020204040303010108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85237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3" grpId="0"/>
      <p:bldP spid="14" grpId="0"/>
      <p:bldP spid="15" grpId="0"/>
      <p:bldP spid="16" grpId="0"/>
      <p:bldP spid="17" grpId="0" animBg="1"/>
      <p:bldP spid="18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领导人选举（</a:t>
            </a:r>
            <a:r>
              <a:rPr lang="en-US" altLang="zh-CN" dirty="0">
                <a:latin typeface="Garamond" panose="02020404030301010803" pitchFamily="18" charset="0"/>
                <a:ea typeface="微软雅黑" panose="020B0503020204020204" pitchFamily="34" charset="-122"/>
              </a:rPr>
              <a:t>Leader Election</a:t>
            </a:r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）</a:t>
            </a:r>
            <a:endParaRPr lang="en-US" altLang="zh-CN" dirty="0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1E41-7A09-AB4A-A4E1-09765ADA2698}" type="slidenum">
              <a:rPr kumimoji="1" lang="zh-CN" altLang="en-US" smtClean="0"/>
              <a:t>10</a:t>
            </a:fld>
            <a:endParaRPr kumimoji="1" lang="zh-CN" altLang="en-US" dirty="0"/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512BE87C-5429-4354-9525-19DDE97EAC61}"/>
              </a:ext>
            </a:extLst>
          </p:cNvPr>
          <p:cNvSpPr/>
          <p:nvPr/>
        </p:nvSpPr>
        <p:spPr>
          <a:xfrm>
            <a:off x="5007264" y="1886262"/>
            <a:ext cx="2177472" cy="2177472"/>
          </a:xfrm>
          <a:prstGeom prst="ellipse">
            <a:avLst/>
          </a:prstGeom>
          <a:solidFill>
            <a:srgbClr val="A40A5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latin typeface="Garamond" panose="02020404030301010803" pitchFamily="18" charset="0"/>
              </a:rPr>
              <a:t>Follower</a:t>
            </a:r>
            <a:endParaRPr lang="zh-CN" altLang="en-US" sz="2400" dirty="0">
              <a:latin typeface="Garamond" panose="02020404030301010803" pitchFamily="18" charset="0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F77BE9CD-7E3E-4662-9628-4CA3E7A236C7}"/>
              </a:ext>
            </a:extLst>
          </p:cNvPr>
          <p:cNvSpPr txBox="1"/>
          <p:nvPr/>
        </p:nvSpPr>
        <p:spPr>
          <a:xfrm>
            <a:off x="665018" y="1455375"/>
            <a:ext cx="11018981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所有节点初始全部处于</a:t>
            </a:r>
            <a:r>
              <a:rPr lang="en-US" altLang="zh-CN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Follower</a:t>
            </a:r>
            <a:r>
              <a:rPr lang="zh-CN" altLang="en-US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状态。</a:t>
            </a:r>
            <a:endParaRPr lang="en-US" altLang="zh-CN" sz="2200" dirty="0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5AAE6FFB-532F-41EF-B0C2-7CA12C1D6702}"/>
              </a:ext>
            </a:extLst>
          </p:cNvPr>
          <p:cNvSpPr/>
          <p:nvPr/>
        </p:nvSpPr>
        <p:spPr>
          <a:xfrm>
            <a:off x="2829792" y="4494621"/>
            <a:ext cx="2177472" cy="2177472"/>
          </a:xfrm>
          <a:prstGeom prst="ellipse">
            <a:avLst/>
          </a:prstGeom>
          <a:solidFill>
            <a:srgbClr val="A40A5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latin typeface="Garamond" panose="02020404030301010803" pitchFamily="18" charset="0"/>
              </a:rPr>
              <a:t>Follower</a:t>
            </a:r>
            <a:endParaRPr lang="zh-CN" altLang="en-US" sz="2400" dirty="0">
              <a:latin typeface="Garamond" panose="02020404030301010803" pitchFamily="18" charset="0"/>
            </a:endParaRPr>
          </a:p>
        </p:txBody>
      </p:sp>
      <p:sp>
        <p:nvSpPr>
          <p:cNvPr id="19" name="椭圆 18">
            <a:extLst>
              <a:ext uri="{FF2B5EF4-FFF2-40B4-BE49-F238E27FC236}">
                <a16:creationId xmlns:a16="http://schemas.microsoft.com/office/drawing/2014/main" id="{12B19AD0-0DC2-46D5-AD68-5B0880B5FA94}"/>
              </a:ext>
            </a:extLst>
          </p:cNvPr>
          <p:cNvSpPr/>
          <p:nvPr/>
        </p:nvSpPr>
        <p:spPr>
          <a:xfrm>
            <a:off x="7184736" y="4494621"/>
            <a:ext cx="2177472" cy="2177472"/>
          </a:xfrm>
          <a:prstGeom prst="ellipse">
            <a:avLst/>
          </a:prstGeom>
          <a:solidFill>
            <a:srgbClr val="A40A5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latin typeface="Garamond" panose="02020404030301010803" pitchFamily="18" charset="0"/>
              </a:rPr>
              <a:t>Follower</a:t>
            </a:r>
            <a:endParaRPr lang="zh-CN" altLang="en-US" sz="2400" dirty="0">
              <a:latin typeface="Garamond" panose="020204040303010108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34961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3" grpId="0"/>
      <p:bldP spid="12" grpId="0" animBg="1"/>
      <p:bldP spid="19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领导人选举（</a:t>
            </a:r>
            <a:r>
              <a:rPr lang="en-US" altLang="zh-CN" dirty="0">
                <a:latin typeface="Garamond" panose="02020404030301010803" pitchFamily="18" charset="0"/>
                <a:ea typeface="微软雅黑" panose="020B0503020204020204" pitchFamily="34" charset="-122"/>
              </a:rPr>
              <a:t>Leader Election</a:t>
            </a:r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）</a:t>
            </a:r>
            <a:endParaRPr lang="en-US" altLang="zh-CN" dirty="0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1E41-7A09-AB4A-A4E1-09765ADA2698}" type="slidenum">
              <a:rPr kumimoji="1" lang="zh-CN" altLang="en-US" smtClean="0"/>
              <a:t>11</a:t>
            </a:fld>
            <a:endParaRPr kumimoji="1" lang="zh-CN" altLang="en-US" dirty="0"/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512BE87C-5429-4354-9525-19DDE97EAC61}"/>
              </a:ext>
            </a:extLst>
          </p:cNvPr>
          <p:cNvSpPr/>
          <p:nvPr/>
        </p:nvSpPr>
        <p:spPr>
          <a:xfrm>
            <a:off x="5007264" y="1886262"/>
            <a:ext cx="2177472" cy="2177472"/>
          </a:xfrm>
          <a:prstGeom prst="ellipse">
            <a:avLst/>
          </a:prstGeom>
          <a:solidFill>
            <a:srgbClr val="A40A5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latin typeface="Garamond" panose="02020404030301010803" pitchFamily="18" charset="0"/>
              </a:rPr>
              <a:t>Follower</a:t>
            </a:r>
            <a:endParaRPr lang="zh-CN" altLang="en-US" sz="2400" dirty="0">
              <a:latin typeface="Garamond" panose="02020404030301010803" pitchFamily="18" charset="0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F77BE9CD-7E3E-4662-9628-4CA3E7A236C7}"/>
              </a:ext>
            </a:extLst>
          </p:cNvPr>
          <p:cNvSpPr txBox="1"/>
          <p:nvPr/>
        </p:nvSpPr>
        <p:spPr>
          <a:xfrm>
            <a:off x="525319" y="1886261"/>
            <a:ext cx="4259118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倒计时结束，</a:t>
            </a:r>
            <a:r>
              <a:rPr lang="en-US" altLang="zh-CN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Follower</a:t>
            </a:r>
            <a:r>
              <a:rPr lang="zh-CN" altLang="en-US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可以转变为</a:t>
            </a:r>
            <a:r>
              <a:rPr lang="en-US" altLang="zh-CN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Candidate</a:t>
            </a:r>
            <a:r>
              <a:rPr lang="zh-CN" altLang="en-US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，开启新的选举任期（</a:t>
            </a:r>
            <a:r>
              <a:rPr lang="en-US" altLang="zh-CN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Election </a:t>
            </a:r>
            <a:r>
              <a:rPr lang="en-US" altLang="zh-CN" sz="2200" b="1" dirty="0">
                <a:solidFill>
                  <a:srgbClr val="A40A57"/>
                </a:solidFill>
                <a:latin typeface="Garamond" panose="02020404030301010803" pitchFamily="18" charset="0"/>
                <a:ea typeface="微软雅黑" panose="020B0503020204020204" pitchFamily="34" charset="-122"/>
              </a:rPr>
              <a:t>Term</a:t>
            </a:r>
            <a:r>
              <a:rPr lang="zh-CN" altLang="en-US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）</a:t>
            </a:r>
            <a:endParaRPr lang="en-US" altLang="zh-CN" sz="2200" dirty="0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19" name="椭圆 18">
            <a:extLst>
              <a:ext uri="{FF2B5EF4-FFF2-40B4-BE49-F238E27FC236}">
                <a16:creationId xmlns:a16="http://schemas.microsoft.com/office/drawing/2014/main" id="{12B19AD0-0DC2-46D5-AD68-5B0880B5FA94}"/>
              </a:ext>
            </a:extLst>
          </p:cNvPr>
          <p:cNvSpPr/>
          <p:nvPr/>
        </p:nvSpPr>
        <p:spPr>
          <a:xfrm>
            <a:off x="7184736" y="4494621"/>
            <a:ext cx="2177472" cy="2177472"/>
          </a:xfrm>
          <a:prstGeom prst="ellipse">
            <a:avLst/>
          </a:prstGeom>
          <a:solidFill>
            <a:srgbClr val="A40A5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latin typeface="Garamond" panose="02020404030301010803" pitchFamily="18" charset="0"/>
              </a:rPr>
              <a:t>Follower</a:t>
            </a:r>
            <a:endParaRPr lang="zh-CN" altLang="en-US" sz="2400" dirty="0">
              <a:latin typeface="Garamond" panose="02020404030301010803" pitchFamily="18" charset="0"/>
            </a:endParaRPr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EC5246C5-2737-490A-B4C3-1BEC2D6403EE}"/>
              </a:ext>
            </a:extLst>
          </p:cNvPr>
          <p:cNvSpPr/>
          <p:nvPr/>
        </p:nvSpPr>
        <p:spPr>
          <a:xfrm>
            <a:off x="2829792" y="4497196"/>
            <a:ext cx="2177472" cy="2177472"/>
          </a:xfrm>
          <a:prstGeom prst="ellipse">
            <a:avLst/>
          </a:prstGeom>
          <a:solidFill>
            <a:srgbClr val="A40A57"/>
          </a:solidFill>
          <a:ln w="38100">
            <a:solidFill>
              <a:srgbClr val="0000FF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latin typeface="Garamond" panose="02020404030301010803" pitchFamily="18" charset="0"/>
              </a:rPr>
              <a:t>Candidate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AF219D37-2DD9-4998-8BCB-C322C81F8BC5}"/>
              </a:ext>
            </a:extLst>
          </p:cNvPr>
          <p:cNvSpPr txBox="1"/>
          <p:nvPr/>
        </p:nvSpPr>
        <p:spPr>
          <a:xfrm>
            <a:off x="525319" y="1349793"/>
            <a:ext cx="11018981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每个</a:t>
            </a:r>
            <a:r>
              <a:rPr lang="en-US" altLang="zh-CN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Follower</a:t>
            </a:r>
            <a:r>
              <a:rPr lang="zh-CN" altLang="en-US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维护一个</a:t>
            </a:r>
            <a:r>
              <a:rPr lang="zh-CN" altLang="en-US" sz="2200" b="1" dirty="0">
                <a:solidFill>
                  <a:srgbClr val="A40A57"/>
                </a:solidFill>
                <a:latin typeface="Garamond" panose="02020404030301010803" pitchFamily="18" charset="0"/>
                <a:ea typeface="微软雅黑" panose="020B0503020204020204" pitchFamily="34" charset="-122"/>
              </a:rPr>
              <a:t>倒计时</a:t>
            </a:r>
            <a:endParaRPr lang="en-US" altLang="zh-CN" sz="2200" b="1" dirty="0">
              <a:solidFill>
                <a:srgbClr val="A40A57"/>
              </a:solidFill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15" name="空心弧 14">
            <a:extLst>
              <a:ext uri="{FF2B5EF4-FFF2-40B4-BE49-F238E27FC236}">
                <a16:creationId xmlns:a16="http://schemas.microsoft.com/office/drawing/2014/main" id="{CA9385AC-213B-4CE1-A6A6-986D6243BE02}"/>
              </a:ext>
            </a:extLst>
          </p:cNvPr>
          <p:cNvSpPr/>
          <p:nvPr/>
        </p:nvSpPr>
        <p:spPr>
          <a:xfrm>
            <a:off x="2554920" y="4274201"/>
            <a:ext cx="2544178" cy="2544178"/>
          </a:xfrm>
          <a:prstGeom prst="blockArc">
            <a:avLst>
              <a:gd name="adj1" fmla="val 16238889"/>
              <a:gd name="adj2" fmla="val 16470703"/>
              <a:gd name="adj3" fmla="val 4067"/>
            </a:avLst>
          </a:prstGeom>
          <a:solidFill>
            <a:srgbClr val="FFD7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0" name="空心弧 19">
            <a:extLst>
              <a:ext uri="{FF2B5EF4-FFF2-40B4-BE49-F238E27FC236}">
                <a16:creationId xmlns:a16="http://schemas.microsoft.com/office/drawing/2014/main" id="{1EF8090F-0471-4037-A941-09E7C93F2E4B}"/>
              </a:ext>
            </a:extLst>
          </p:cNvPr>
          <p:cNvSpPr/>
          <p:nvPr/>
        </p:nvSpPr>
        <p:spPr>
          <a:xfrm>
            <a:off x="6968307" y="4313843"/>
            <a:ext cx="2544178" cy="2544178"/>
          </a:xfrm>
          <a:prstGeom prst="blockArc">
            <a:avLst>
              <a:gd name="adj1" fmla="val 7727781"/>
              <a:gd name="adj2" fmla="val 16470703"/>
              <a:gd name="adj3" fmla="val 4067"/>
            </a:avLst>
          </a:prstGeom>
          <a:solidFill>
            <a:srgbClr val="FFD7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1" name="空心弧 20">
            <a:extLst>
              <a:ext uri="{FF2B5EF4-FFF2-40B4-BE49-F238E27FC236}">
                <a16:creationId xmlns:a16="http://schemas.microsoft.com/office/drawing/2014/main" id="{7365E864-24E0-4C96-A65E-E53B649E5A3F}"/>
              </a:ext>
            </a:extLst>
          </p:cNvPr>
          <p:cNvSpPr/>
          <p:nvPr/>
        </p:nvSpPr>
        <p:spPr>
          <a:xfrm>
            <a:off x="4823911" y="1692956"/>
            <a:ext cx="2544178" cy="2544178"/>
          </a:xfrm>
          <a:prstGeom prst="blockArc">
            <a:avLst>
              <a:gd name="adj1" fmla="val 14896183"/>
              <a:gd name="adj2" fmla="val 16470703"/>
              <a:gd name="adj3" fmla="val 4067"/>
            </a:avLst>
          </a:prstGeom>
          <a:solidFill>
            <a:srgbClr val="FFD7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B054A2E3-8F1F-4A75-B67B-B5C67FB40410}"/>
              </a:ext>
            </a:extLst>
          </p:cNvPr>
          <p:cNvSpPr txBox="1"/>
          <p:nvPr/>
        </p:nvSpPr>
        <p:spPr>
          <a:xfrm>
            <a:off x="7456037" y="1373559"/>
            <a:ext cx="4341108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选举倒计时：谁的先结束，谁先称为</a:t>
            </a:r>
            <a:r>
              <a:rPr lang="en-US" altLang="zh-CN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Candidate</a:t>
            </a:r>
            <a:r>
              <a:rPr lang="zh-CN" altLang="en-US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，</a:t>
            </a:r>
            <a:r>
              <a:rPr lang="en-US" altLang="zh-CN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150 ~ 300 </a:t>
            </a:r>
            <a:r>
              <a:rPr lang="en-US" altLang="zh-CN" sz="2200" dirty="0" err="1">
                <a:latin typeface="Garamond" panose="02020404030301010803" pitchFamily="18" charset="0"/>
                <a:ea typeface="微软雅黑" panose="020B0503020204020204" pitchFamily="34" charset="-122"/>
              </a:rPr>
              <a:t>ms</a:t>
            </a:r>
            <a:endParaRPr lang="en-US" altLang="zh-CN" sz="2200" dirty="0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cxnSp>
        <p:nvCxnSpPr>
          <p:cNvPr id="28" name="直接箭头连接符 27">
            <a:extLst>
              <a:ext uri="{FF2B5EF4-FFF2-40B4-BE49-F238E27FC236}">
                <a16:creationId xmlns:a16="http://schemas.microsoft.com/office/drawing/2014/main" id="{65B5507A-B608-4909-92C7-F79915870706}"/>
              </a:ext>
            </a:extLst>
          </p:cNvPr>
          <p:cNvCxnSpPr>
            <a:cxnSpLocks/>
            <a:stCxn id="27" idx="1"/>
          </p:cNvCxnSpPr>
          <p:nvPr/>
        </p:nvCxnSpPr>
        <p:spPr>
          <a:xfrm flipH="1" flipV="1">
            <a:off x="6191997" y="1748473"/>
            <a:ext cx="1264040" cy="9807"/>
          </a:xfrm>
          <a:prstGeom prst="straightConnector1">
            <a:avLst/>
          </a:prstGeom>
          <a:ln w="38100">
            <a:solidFill>
              <a:srgbClr val="FFD7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文本框 29">
            <a:extLst>
              <a:ext uri="{FF2B5EF4-FFF2-40B4-BE49-F238E27FC236}">
                <a16:creationId xmlns:a16="http://schemas.microsoft.com/office/drawing/2014/main" id="{342629F2-52E3-4217-BD91-2749F6B5665F}"/>
              </a:ext>
            </a:extLst>
          </p:cNvPr>
          <p:cNvSpPr txBox="1"/>
          <p:nvPr/>
        </p:nvSpPr>
        <p:spPr>
          <a:xfrm>
            <a:off x="2044212" y="3916168"/>
            <a:ext cx="15711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800" dirty="0">
                <a:latin typeface="Garamond" panose="02020404030301010803" pitchFamily="18" charset="0"/>
              </a:rPr>
              <a:t>Term: 1</a:t>
            </a:r>
          </a:p>
          <a:p>
            <a:pPr algn="ctr"/>
            <a:r>
              <a:rPr lang="en-US" altLang="zh-CN" dirty="0">
                <a:latin typeface="Garamond" panose="02020404030301010803" pitchFamily="18" charset="0"/>
              </a:rPr>
              <a:t>Vote Count: 1</a:t>
            </a:r>
            <a:endParaRPr lang="zh-CN" altLang="en-US" sz="1800" dirty="0">
              <a:latin typeface="Garamond" panose="02020404030301010803" pitchFamily="18" charset="0"/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7C385FB2-08BF-4A92-84EC-220B80D75339}"/>
              </a:ext>
            </a:extLst>
          </p:cNvPr>
          <p:cNvSpPr txBox="1"/>
          <p:nvPr/>
        </p:nvSpPr>
        <p:spPr>
          <a:xfrm>
            <a:off x="7184736" y="2780379"/>
            <a:ext cx="10541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800" dirty="0">
                <a:latin typeface="Garamond" panose="02020404030301010803" pitchFamily="18" charset="0"/>
              </a:rPr>
              <a:t>Term: </a:t>
            </a:r>
            <a:r>
              <a:rPr lang="en-US" altLang="zh-CN" dirty="0">
                <a:latin typeface="Garamond" panose="02020404030301010803" pitchFamily="18" charset="0"/>
              </a:rPr>
              <a:t>0</a:t>
            </a:r>
            <a:endParaRPr lang="en-US" altLang="zh-CN" sz="1800" dirty="0">
              <a:latin typeface="Garamond" panose="02020404030301010803" pitchFamily="18" charset="0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844065AD-BBEB-4231-B43D-DD1DDA5F68F8}"/>
              </a:ext>
            </a:extLst>
          </p:cNvPr>
          <p:cNvSpPr txBox="1"/>
          <p:nvPr/>
        </p:nvSpPr>
        <p:spPr>
          <a:xfrm>
            <a:off x="9266519" y="5398691"/>
            <a:ext cx="10541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800" dirty="0">
                <a:latin typeface="Garamond" panose="02020404030301010803" pitchFamily="18" charset="0"/>
              </a:rPr>
              <a:t>Term: </a:t>
            </a:r>
            <a:r>
              <a:rPr lang="en-US" altLang="zh-CN" dirty="0">
                <a:latin typeface="Garamond" panose="02020404030301010803" pitchFamily="18" charset="0"/>
              </a:rPr>
              <a:t>0</a:t>
            </a:r>
            <a:endParaRPr lang="en-US" altLang="zh-CN" sz="1800" dirty="0">
              <a:latin typeface="Garamond" panose="020204040303010108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793429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3" grpId="0"/>
      <p:bldP spid="19" grpId="0" animBg="1"/>
      <p:bldP spid="8" grpId="0" animBg="1"/>
      <p:bldP spid="9" grpId="0"/>
      <p:bldP spid="15" grpId="0" animBg="1"/>
      <p:bldP spid="20" grpId="0" animBg="1"/>
      <p:bldP spid="21" grpId="0" animBg="1"/>
      <p:bldP spid="27" grpId="0"/>
      <p:bldP spid="30" grpId="0"/>
      <p:bldP spid="31" grpId="0"/>
      <p:bldP spid="3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领导人选举（</a:t>
            </a:r>
            <a:r>
              <a:rPr lang="en-US" altLang="zh-CN" dirty="0">
                <a:latin typeface="Garamond" panose="02020404030301010803" pitchFamily="18" charset="0"/>
                <a:ea typeface="微软雅黑" panose="020B0503020204020204" pitchFamily="34" charset="-122"/>
              </a:rPr>
              <a:t>Leader Election</a:t>
            </a:r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）</a:t>
            </a:r>
            <a:endParaRPr lang="en-US" altLang="zh-CN" dirty="0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1E41-7A09-AB4A-A4E1-09765ADA2698}" type="slidenum">
              <a:rPr kumimoji="1" lang="zh-CN" altLang="en-US" smtClean="0"/>
              <a:t>12</a:t>
            </a:fld>
            <a:endParaRPr kumimoji="1" lang="zh-CN" altLang="en-US" dirty="0"/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512BE87C-5429-4354-9525-19DDE97EAC61}"/>
              </a:ext>
            </a:extLst>
          </p:cNvPr>
          <p:cNvSpPr/>
          <p:nvPr/>
        </p:nvSpPr>
        <p:spPr>
          <a:xfrm>
            <a:off x="5007264" y="1886262"/>
            <a:ext cx="2177472" cy="2177472"/>
          </a:xfrm>
          <a:prstGeom prst="ellipse">
            <a:avLst/>
          </a:prstGeom>
          <a:solidFill>
            <a:srgbClr val="A40A5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latin typeface="Garamond" panose="02020404030301010803" pitchFamily="18" charset="0"/>
              </a:rPr>
              <a:t>Follower</a:t>
            </a:r>
            <a:endParaRPr lang="zh-CN" altLang="en-US" sz="2400" dirty="0">
              <a:latin typeface="Garamond" panose="02020404030301010803" pitchFamily="18" charset="0"/>
            </a:endParaRPr>
          </a:p>
        </p:txBody>
      </p:sp>
      <p:sp>
        <p:nvSpPr>
          <p:cNvPr id="19" name="椭圆 18">
            <a:extLst>
              <a:ext uri="{FF2B5EF4-FFF2-40B4-BE49-F238E27FC236}">
                <a16:creationId xmlns:a16="http://schemas.microsoft.com/office/drawing/2014/main" id="{12B19AD0-0DC2-46D5-AD68-5B0880B5FA94}"/>
              </a:ext>
            </a:extLst>
          </p:cNvPr>
          <p:cNvSpPr/>
          <p:nvPr/>
        </p:nvSpPr>
        <p:spPr>
          <a:xfrm>
            <a:off x="7184736" y="4494621"/>
            <a:ext cx="2177472" cy="2177472"/>
          </a:xfrm>
          <a:prstGeom prst="ellipse">
            <a:avLst/>
          </a:prstGeom>
          <a:solidFill>
            <a:srgbClr val="A40A5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latin typeface="Garamond" panose="02020404030301010803" pitchFamily="18" charset="0"/>
              </a:rPr>
              <a:t>Follower</a:t>
            </a:r>
            <a:endParaRPr lang="zh-CN" altLang="en-US" sz="2400" dirty="0">
              <a:latin typeface="Garamond" panose="02020404030301010803" pitchFamily="18" charset="0"/>
            </a:endParaRPr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EC5246C5-2737-490A-B4C3-1BEC2D6403EE}"/>
              </a:ext>
            </a:extLst>
          </p:cNvPr>
          <p:cNvSpPr/>
          <p:nvPr/>
        </p:nvSpPr>
        <p:spPr>
          <a:xfrm>
            <a:off x="2829792" y="4497196"/>
            <a:ext cx="2177472" cy="2177472"/>
          </a:xfrm>
          <a:prstGeom prst="ellipse">
            <a:avLst/>
          </a:prstGeom>
          <a:solidFill>
            <a:srgbClr val="A40A57"/>
          </a:solidFill>
          <a:ln w="38100">
            <a:solidFill>
              <a:srgbClr val="0000FF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latin typeface="Garamond" panose="02020404030301010803" pitchFamily="18" charset="0"/>
              </a:rPr>
              <a:t>Candidate</a:t>
            </a:r>
            <a:endParaRPr lang="zh-CN" altLang="en-US" sz="2400" dirty="0">
              <a:latin typeface="Garamond" panose="02020404030301010803" pitchFamily="18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8F8911D1-C1A4-4141-B76B-F98AB548E206}"/>
              </a:ext>
            </a:extLst>
          </p:cNvPr>
          <p:cNvSpPr txBox="1"/>
          <p:nvPr/>
        </p:nvSpPr>
        <p:spPr>
          <a:xfrm>
            <a:off x="429263" y="1456572"/>
            <a:ext cx="4259118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CN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Candidate</a:t>
            </a:r>
            <a:r>
              <a:rPr lang="zh-CN" altLang="en-US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可以请求其他人为其投票选举为</a:t>
            </a:r>
            <a:r>
              <a:rPr lang="en-US" altLang="zh-CN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Leader</a:t>
            </a:r>
          </a:p>
        </p:txBody>
      </p:sp>
      <p:cxnSp>
        <p:nvCxnSpPr>
          <p:cNvPr id="4" name="直接箭头连接符 3">
            <a:extLst>
              <a:ext uri="{FF2B5EF4-FFF2-40B4-BE49-F238E27FC236}">
                <a16:creationId xmlns:a16="http://schemas.microsoft.com/office/drawing/2014/main" id="{F6B7D362-2801-4E90-BD60-AA9D90C82F8B}"/>
              </a:ext>
            </a:extLst>
          </p:cNvPr>
          <p:cNvCxnSpPr>
            <a:stCxn id="8" idx="7"/>
            <a:endCxn id="11" idx="3"/>
          </p:cNvCxnSpPr>
          <p:nvPr/>
        </p:nvCxnSpPr>
        <p:spPr>
          <a:xfrm flipV="1">
            <a:off x="4688381" y="3744851"/>
            <a:ext cx="637766" cy="1071228"/>
          </a:xfrm>
          <a:prstGeom prst="straightConnector1">
            <a:avLst/>
          </a:prstGeom>
          <a:ln w="381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5ABF0D9B-AA0C-4510-A580-58561EAA77E2}"/>
              </a:ext>
            </a:extLst>
          </p:cNvPr>
          <p:cNvCxnSpPr>
            <a:stCxn id="8" idx="6"/>
            <a:endCxn id="19" idx="2"/>
          </p:cNvCxnSpPr>
          <p:nvPr/>
        </p:nvCxnSpPr>
        <p:spPr>
          <a:xfrm flipV="1">
            <a:off x="5007264" y="5583357"/>
            <a:ext cx="2177472" cy="2575"/>
          </a:xfrm>
          <a:prstGeom prst="straightConnector1">
            <a:avLst/>
          </a:prstGeom>
          <a:ln w="381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本框 15">
            <a:extLst>
              <a:ext uri="{FF2B5EF4-FFF2-40B4-BE49-F238E27FC236}">
                <a16:creationId xmlns:a16="http://schemas.microsoft.com/office/drawing/2014/main" id="{28C3895E-1762-4104-97DA-67EAD2FDE3BA}"/>
              </a:ext>
            </a:extLst>
          </p:cNvPr>
          <p:cNvSpPr txBox="1"/>
          <p:nvPr/>
        </p:nvSpPr>
        <p:spPr>
          <a:xfrm>
            <a:off x="3667991" y="3911133"/>
            <a:ext cx="133927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dirty="0" err="1">
                <a:latin typeface="Garamond" panose="02020404030301010803" pitchFamily="18" charset="0"/>
                <a:ea typeface="微软雅黑" panose="020B0503020204020204" pitchFamily="34" charset="-122"/>
              </a:rPr>
              <a:t>RequestVote</a:t>
            </a:r>
            <a:endParaRPr lang="zh-CN" altLang="en-US" dirty="0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434E8B0D-6B57-48D8-A4F9-4ABC30FA0425}"/>
              </a:ext>
            </a:extLst>
          </p:cNvPr>
          <p:cNvSpPr txBox="1"/>
          <p:nvPr/>
        </p:nvSpPr>
        <p:spPr>
          <a:xfrm>
            <a:off x="5326147" y="5176958"/>
            <a:ext cx="133927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dirty="0" err="1">
                <a:latin typeface="Garamond" panose="02020404030301010803" pitchFamily="18" charset="0"/>
                <a:ea typeface="微软雅黑" panose="020B0503020204020204" pitchFamily="34" charset="-122"/>
              </a:rPr>
              <a:t>RequestVote</a:t>
            </a:r>
            <a:endParaRPr lang="zh-CN" altLang="en-US" dirty="0"/>
          </a:p>
        </p:txBody>
      </p:sp>
      <p:sp>
        <p:nvSpPr>
          <p:cNvPr id="15" name="空心弧 14">
            <a:extLst>
              <a:ext uri="{FF2B5EF4-FFF2-40B4-BE49-F238E27FC236}">
                <a16:creationId xmlns:a16="http://schemas.microsoft.com/office/drawing/2014/main" id="{CA9385AC-213B-4CE1-A6A6-986D6243BE02}"/>
              </a:ext>
            </a:extLst>
          </p:cNvPr>
          <p:cNvSpPr/>
          <p:nvPr/>
        </p:nvSpPr>
        <p:spPr>
          <a:xfrm>
            <a:off x="2554920" y="4274201"/>
            <a:ext cx="2544178" cy="2544178"/>
          </a:xfrm>
          <a:prstGeom prst="blockArc">
            <a:avLst>
              <a:gd name="adj1" fmla="val 16288794"/>
              <a:gd name="adj2" fmla="val 16470703"/>
              <a:gd name="adj3" fmla="val 4067"/>
            </a:avLst>
          </a:prstGeom>
          <a:solidFill>
            <a:srgbClr val="FFD7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0" name="空心弧 19">
            <a:extLst>
              <a:ext uri="{FF2B5EF4-FFF2-40B4-BE49-F238E27FC236}">
                <a16:creationId xmlns:a16="http://schemas.microsoft.com/office/drawing/2014/main" id="{1EF8090F-0471-4037-A941-09E7C93F2E4B}"/>
              </a:ext>
            </a:extLst>
          </p:cNvPr>
          <p:cNvSpPr/>
          <p:nvPr/>
        </p:nvSpPr>
        <p:spPr>
          <a:xfrm>
            <a:off x="6968307" y="4313843"/>
            <a:ext cx="2544178" cy="2544178"/>
          </a:xfrm>
          <a:prstGeom prst="blockArc">
            <a:avLst>
              <a:gd name="adj1" fmla="val 7727781"/>
              <a:gd name="adj2" fmla="val 16470703"/>
              <a:gd name="adj3" fmla="val 4067"/>
            </a:avLst>
          </a:prstGeom>
          <a:solidFill>
            <a:srgbClr val="FFD7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1" name="空心弧 20">
            <a:extLst>
              <a:ext uri="{FF2B5EF4-FFF2-40B4-BE49-F238E27FC236}">
                <a16:creationId xmlns:a16="http://schemas.microsoft.com/office/drawing/2014/main" id="{7365E864-24E0-4C96-A65E-E53B649E5A3F}"/>
              </a:ext>
            </a:extLst>
          </p:cNvPr>
          <p:cNvSpPr/>
          <p:nvPr/>
        </p:nvSpPr>
        <p:spPr>
          <a:xfrm>
            <a:off x="4823911" y="1692956"/>
            <a:ext cx="2544178" cy="2544178"/>
          </a:xfrm>
          <a:prstGeom prst="blockArc">
            <a:avLst>
              <a:gd name="adj1" fmla="val 14896183"/>
              <a:gd name="adj2" fmla="val 16470703"/>
              <a:gd name="adj3" fmla="val 4067"/>
            </a:avLst>
          </a:prstGeom>
          <a:solidFill>
            <a:srgbClr val="FFD7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15114662-720F-4CEC-B02E-6769C9D314B6}"/>
              </a:ext>
            </a:extLst>
          </p:cNvPr>
          <p:cNvSpPr txBox="1"/>
          <p:nvPr/>
        </p:nvSpPr>
        <p:spPr>
          <a:xfrm>
            <a:off x="2044212" y="3916168"/>
            <a:ext cx="15711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800" dirty="0">
                <a:latin typeface="Garamond" panose="02020404030301010803" pitchFamily="18" charset="0"/>
              </a:rPr>
              <a:t>Term: 1</a:t>
            </a:r>
          </a:p>
          <a:p>
            <a:pPr algn="ctr"/>
            <a:r>
              <a:rPr lang="en-US" altLang="zh-CN" dirty="0">
                <a:latin typeface="Garamond" panose="02020404030301010803" pitchFamily="18" charset="0"/>
              </a:rPr>
              <a:t>Vote Count: 1</a:t>
            </a:r>
            <a:endParaRPr lang="zh-CN" altLang="en-US" sz="1800" dirty="0">
              <a:latin typeface="Garamond" panose="02020404030301010803" pitchFamily="18" charset="0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48A44BF7-B2C6-491E-8C27-924228EC4B69}"/>
              </a:ext>
            </a:extLst>
          </p:cNvPr>
          <p:cNvSpPr txBox="1"/>
          <p:nvPr/>
        </p:nvSpPr>
        <p:spPr>
          <a:xfrm>
            <a:off x="7184736" y="2780379"/>
            <a:ext cx="10541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800" dirty="0">
                <a:latin typeface="Garamond" panose="02020404030301010803" pitchFamily="18" charset="0"/>
              </a:rPr>
              <a:t>Term: </a:t>
            </a:r>
            <a:r>
              <a:rPr lang="en-US" altLang="zh-CN" dirty="0">
                <a:latin typeface="Garamond" panose="02020404030301010803" pitchFamily="18" charset="0"/>
              </a:rPr>
              <a:t>0</a:t>
            </a:r>
            <a:endParaRPr lang="en-US" altLang="zh-CN" sz="1800" dirty="0">
              <a:latin typeface="Garamond" panose="02020404030301010803" pitchFamily="18" charset="0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B720A2E8-C246-48C2-8DFE-D4CF872E9871}"/>
              </a:ext>
            </a:extLst>
          </p:cNvPr>
          <p:cNvSpPr txBox="1"/>
          <p:nvPr/>
        </p:nvSpPr>
        <p:spPr>
          <a:xfrm>
            <a:off x="9266519" y="5398691"/>
            <a:ext cx="10541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800" dirty="0">
                <a:latin typeface="Garamond" panose="02020404030301010803" pitchFamily="18" charset="0"/>
              </a:rPr>
              <a:t>Term: </a:t>
            </a:r>
            <a:r>
              <a:rPr lang="en-US" altLang="zh-CN" dirty="0">
                <a:latin typeface="Garamond" panose="02020404030301010803" pitchFamily="18" charset="0"/>
              </a:rPr>
              <a:t>0</a:t>
            </a:r>
            <a:endParaRPr lang="en-US" altLang="zh-CN" sz="1800" dirty="0">
              <a:latin typeface="Garamond" panose="020204040303010108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418758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9" grpId="0" animBg="1"/>
      <p:bldP spid="8" grpId="0" animBg="1"/>
      <p:bldP spid="10" grpId="0"/>
      <p:bldP spid="16" grpId="0"/>
      <p:bldP spid="17" grpId="0"/>
      <p:bldP spid="15" grpId="0" animBg="1"/>
      <p:bldP spid="20" grpId="0" animBg="1"/>
      <p:bldP spid="21" grpId="0" animBg="1"/>
      <p:bldP spid="23" grpId="0"/>
      <p:bldP spid="25" grpId="0"/>
      <p:bldP spid="26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领导人选举（</a:t>
            </a:r>
            <a:r>
              <a:rPr lang="en-US" altLang="zh-CN" dirty="0">
                <a:latin typeface="Garamond" panose="02020404030301010803" pitchFamily="18" charset="0"/>
                <a:ea typeface="微软雅黑" panose="020B0503020204020204" pitchFamily="34" charset="-122"/>
              </a:rPr>
              <a:t>Leader Election</a:t>
            </a:r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）</a:t>
            </a:r>
            <a:endParaRPr lang="en-US" altLang="zh-CN" dirty="0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1E41-7A09-AB4A-A4E1-09765ADA2698}" type="slidenum">
              <a:rPr kumimoji="1" lang="zh-CN" altLang="en-US" smtClean="0"/>
              <a:t>13</a:t>
            </a:fld>
            <a:endParaRPr kumimoji="1" lang="zh-CN" altLang="en-US" dirty="0"/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512BE87C-5429-4354-9525-19DDE97EAC61}"/>
              </a:ext>
            </a:extLst>
          </p:cNvPr>
          <p:cNvSpPr/>
          <p:nvPr/>
        </p:nvSpPr>
        <p:spPr>
          <a:xfrm>
            <a:off x="5007264" y="1886262"/>
            <a:ext cx="2177472" cy="2177472"/>
          </a:xfrm>
          <a:prstGeom prst="ellipse">
            <a:avLst/>
          </a:prstGeom>
          <a:solidFill>
            <a:srgbClr val="A40A5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latin typeface="Garamond" panose="02020404030301010803" pitchFamily="18" charset="0"/>
              </a:rPr>
              <a:t>Follower</a:t>
            </a:r>
            <a:endParaRPr lang="zh-CN" altLang="en-US" sz="2400" dirty="0">
              <a:latin typeface="Garamond" panose="02020404030301010803" pitchFamily="18" charset="0"/>
            </a:endParaRPr>
          </a:p>
        </p:txBody>
      </p:sp>
      <p:sp>
        <p:nvSpPr>
          <p:cNvPr id="19" name="椭圆 18">
            <a:extLst>
              <a:ext uri="{FF2B5EF4-FFF2-40B4-BE49-F238E27FC236}">
                <a16:creationId xmlns:a16="http://schemas.microsoft.com/office/drawing/2014/main" id="{12B19AD0-0DC2-46D5-AD68-5B0880B5FA94}"/>
              </a:ext>
            </a:extLst>
          </p:cNvPr>
          <p:cNvSpPr/>
          <p:nvPr/>
        </p:nvSpPr>
        <p:spPr>
          <a:xfrm>
            <a:off x="7184736" y="4494621"/>
            <a:ext cx="2177472" cy="2177472"/>
          </a:xfrm>
          <a:prstGeom prst="ellipse">
            <a:avLst/>
          </a:prstGeom>
          <a:solidFill>
            <a:srgbClr val="A40A5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latin typeface="Garamond" panose="02020404030301010803" pitchFamily="18" charset="0"/>
              </a:rPr>
              <a:t>Follower</a:t>
            </a:r>
            <a:endParaRPr lang="zh-CN" altLang="en-US" sz="2400" dirty="0">
              <a:latin typeface="Garamond" panose="02020404030301010803" pitchFamily="18" charset="0"/>
            </a:endParaRPr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EC5246C5-2737-490A-B4C3-1BEC2D6403EE}"/>
              </a:ext>
            </a:extLst>
          </p:cNvPr>
          <p:cNvSpPr/>
          <p:nvPr/>
        </p:nvSpPr>
        <p:spPr>
          <a:xfrm>
            <a:off x="2829792" y="4497196"/>
            <a:ext cx="2177472" cy="2177472"/>
          </a:xfrm>
          <a:prstGeom prst="ellipse">
            <a:avLst/>
          </a:prstGeom>
          <a:solidFill>
            <a:srgbClr val="A40A57"/>
          </a:solidFill>
          <a:ln w="38100">
            <a:solidFill>
              <a:srgbClr val="0000FF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latin typeface="Garamond" panose="02020404030301010803" pitchFamily="18" charset="0"/>
              </a:rPr>
              <a:t>Leader</a:t>
            </a:r>
            <a:endParaRPr lang="zh-CN" altLang="en-US" sz="2400" dirty="0">
              <a:latin typeface="Garamond" panose="02020404030301010803" pitchFamily="18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AF219D37-2DD9-4998-8BCB-C322C81F8BC5}"/>
              </a:ext>
            </a:extLst>
          </p:cNvPr>
          <p:cNvSpPr txBox="1"/>
          <p:nvPr/>
        </p:nvSpPr>
        <p:spPr>
          <a:xfrm>
            <a:off x="525319" y="1349793"/>
            <a:ext cx="4481945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其他</a:t>
            </a:r>
            <a:r>
              <a:rPr lang="en-US" altLang="zh-CN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Follower</a:t>
            </a:r>
            <a:r>
              <a:rPr lang="zh-CN" altLang="en-US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可以选择为其投票（仅能针对一个任期投</a:t>
            </a:r>
            <a:r>
              <a:rPr lang="zh-CN" altLang="en-US" sz="2200" b="1" dirty="0">
                <a:solidFill>
                  <a:srgbClr val="A40A57"/>
                </a:solidFill>
                <a:latin typeface="Garamond" panose="02020404030301010803" pitchFamily="18" charset="0"/>
                <a:ea typeface="微软雅黑" panose="020B0503020204020204" pitchFamily="34" charset="-122"/>
              </a:rPr>
              <a:t>一票</a:t>
            </a:r>
            <a:r>
              <a:rPr lang="zh-CN" altLang="en-US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）</a:t>
            </a:r>
            <a:endParaRPr lang="en-US" altLang="zh-CN" sz="2200" dirty="0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cxnSp>
        <p:nvCxnSpPr>
          <p:cNvPr id="4" name="直接箭头连接符 3">
            <a:extLst>
              <a:ext uri="{FF2B5EF4-FFF2-40B4-BE49-F238E27FC236}">
                <a16:creationId xmlns:a16="http://schemas.microsoft.com/office/drawing/2014/main" id="{F6B7D362-2801-4E90-BD60-AA9D90C82F8B}"/>
              </a:ext>
            </a:extLst>
          </p:cNvPr>
          <p:cNvCxnSpPr>
            <a:stCxn id="8" idx="7"/>
            <a:endCxn id="11" idx="3"/>
          </p:cNvCxnSpPr>
          <p:nvPr/>
        </p:nvCxnSpPr>
        <p:spPr>
          <a:xfrm flipV="1">
            <a:off x="4688381" y="3744851"/>
            <a:ext cx="637766" cy="1071228"/>
          </a:xfrm>
          <a:prstGeom prst="straightConnector1">
            <a:avLst/>
          </a:prstGeom>
          <a:ln w="38100">
            <a:solidFill>
              <a:srgbClr val="0000FF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5ABF0D9B-AA0C-4510-A580-58561EAA77E2}"/>
              </a:ext>
            </a:extLst>
          </p:cNvPr>
          <p:cNvCxnSpPr>
            <a:stCxn id="8" idx="6"/>
            <a:endCxn id="19" idx="2"/>
          </p:cNvCxnSpPr>
          <p:nvPr/>
        </p:nvCxnSpPr>
        <p:spPr>
          <a:xfrm flipV="1">
            <a:off x="5007264" y="5583357"/>
            <a:ext cx="2177472" cy="2575"/>
          </a:xfrm>
          <a:prstGeom prst="straightConnector1">
            <a:avLst/>
          </a:prstGeom>
          <a:ln w="38100">
            <a:solidFill>
              <a:srgbClr val="0000FF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本框 15">
            <a:extLst>
              <a:ext uri="{FF2B5EF4-FFF2-40B4-BE49-F238E27FC236}">
                <a16:creationId xmlns:a16="http://schemas.microsoft.com/office/drawing/2014/main" id="{28C3895E-1762-4104-97DA-67EAD2FDE3BA}"/>
              </a:ext>
            </a:extLst>
          </p:cNvPr>
          <p:cNvSpPr txBox="1"/>
          <p:nvPr/>
        </p:nvSpPr>
        <p:spPr>
          <a:xfrm>
            <a:off x="4369498" y="3911133"/>
            <a:ext cx="63776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dirty="0">
                <a:latin typeface="Garamond" panose="02020404030301010803" pitchFamily="18" charset="0"/>
                <a:ea typeface="微软雅黑" panose="020B0503020204020204" pitchFamily="34" charset="-122"/>
              </a:rPr>
              <a:t>Vote</a:t>
            </a:r>
            <a:endParaRPr lang="zh-CN" altLang="en-US" dirty="0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434E8B0D-6B57-48D8-A4F9-4ABC30FA0425}"/>
              </a:ext>
            </a:extLst>
          </p:cNvPr>
          <p:cNvSpPr txBox="1"/>
          <p:nvPr/>
        </p:nvSpPr>
        <p:spPr>
          <a:xfrm>
            <a:off x="5769726" y="5176958"/>
            <a:ext cx="65254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dirty="0">
                <a:latin typeface="Garamond" panose="02020404030301010803" pitchFamily="18" charset="0"/>
                <a:ea typeface="微软雅黑" panose="020B0503020204020204" pitchFamily="34" charset="-122"/>
              </a:rPr>
              <a:t>Vote</a:t>
            </a:r>
            <a:endParaRPr lang="zh-CN" altLang="en-US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2997782D-76B8-41C4-9BE9-0F942DE2F6B6}"/>
              </a:ext>
            </a:extLst>
          </p:cNvPr>
          <p:cNvSpPr txBox="1"/>
          <p:nvPr/>
        </p:nvSpPr>
        <p:spPr>
          <a:xfrm>
            <a:off x="525318" y="2681379"/>
            <a:ext cx="4481945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收到</a:t>
            </a:r>
            <a:r>
              <a:rPr lang="zh-CN" altLang="en-US" sz="2200" b="1" dirty="0">
                <a:solidFill>
                  <a:srgbClr val="A40A57"/>
                </a:solidFill>
                <a:latin typeface="Garamond" panose="02020404030301010803" pitchFamily="18" charset="0"/>
                <a:ea typeface="微软雅黑" panose="020B0503020204020204" pitchFamily="34" charset="-122"/>
              </a:rPr>
              <a:t>超过半数</a:t>
            </a:r>
            <a:r>
              <a:rPr lang="zh-CN" altLang="en-US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（包括自己）的</a:t>
            </a:r>
            <a:r>
              <a:rPr lang="en-US" altLang="zh-CN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Votes</a:t>
            </a:r>
            <a:r>
              <a:rPr lang="zh-CN" altLang="en-US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，</a:t>
            </a:r>
            <a:r>
              <a:rPr lang="en-US" altLang="zh-CN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Candidate</a:t>
            </a:r>
            <a:r>
              <a:rPr lang="zh-CN" altLang="en-US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当选为</a:t>
            </a:r>
            <a:r>
              <a:rPr lang="en-US" altLang="zh-CN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Leader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CC47BFF7-8D66-4642-A0FD-0FB996002BE0}"/>
              </a:ext>
            </a:extLst>
          </p:cNvPr>
          <p:cNvSpPr/>
          <p:nvPr/>
        </p:nvSpPr>
        <p:spPr>
          <a:xfrm>
            <a:off x="8963138" y="2076099"/>
            <a:ext cx="2703543" cy="36933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19050">
            <a:solidFill>
              <a:srgbClr val="002060"/>
            </a:solidFill>
            <a:prstDash val="dash"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zh-CN" altLang="en-US" dirty="0">
                <a:solidFill>
                  <a:srgbClr val="002060"/>
                </a:solidFill>
                <a:latin typeface="Garamond" panose="02020404030301010803" pitchFamily="18" charset="0"/>
                <a:ea typeface="微软雅黑" panose="020B0503020204020204" pitchFamily="34" charset="-122"/>
              </a:rPr>
              <a:t>能不能故意不给它投票？</a:t>
            </a:r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935B36B9-087C-4263-936E-D5EBA5D326D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66835" y="1959934"/>
            <a:ext cx="601662" cy="601662"/>
          </a:xfrm>
          <a:prstGeom prst="rect">
            <a:avLst/>
          </a:prstGeom>
        </p:spPr>
      </p:pic>
      <p:sp>
        <p:nvSpPr>
          <p:cNvPr id="21" name="文本框 20">
            <a:extLst>
              <a:ext uri="{FF2B5EF4-FFF2-40B4-BE49-F238E27FC236}">
                <a16:creationId xmlns:a16="http://schemas.microsoft.com/office/drawing/2014/main" id="{6F79CDD7-B953-4727-B485-AC9B9B53AA01}"/>
              </a:ext>
            </a:extLst>
          </p:cNvPr>
          <p:cNvSpPr txBox="1"/>
          <p:nvPr/>
        </p:nvSpPr>
        <p:spPr>
          <a:xfrm>
            <a:off x="2044212" y="3916168"/>
            <a:ext cx="15711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800" dirty="0">
                <a:latin typeface="Garamond" panose="02020404030301010803" pitchFamily="18" charset="0"/>
              </a:rPr>
              <a:t>Term: 1</a:t>
            </a:r>
          </a:p>
          <a:p>
            <a:pPr algn="ctr"/>
            <a:r>
              <a:rPr lang="en-US" altLang="zh-CN" dirty="0">
                <a:latin typeface="Garamond" panose="02020404030301010803" pitchFamily="18" charset="0"/>
              </a:rPr>
              <a:t>Vote Count: 3</a:t>
            </a:r>
            <a:endParaRPr lang="zh-CN" altLang="en-US" sz="1800" dirty="0">
              <a:latin typeface="Garamond" panose="02020404030301010803" pitchFamily="18" charset="0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8BE2CFD3-3D33-4777-937A-1C6541F87829}"/>
              </a:ext>
            </a:extLst>
          </p:cNvPr>
          <p:cNvSpPr txBox="1"/>
          <p:nvPr/>
        </p:nvSpPr>
        <p:spPr>
          <a:xfrm>
            <a:off x="7096506" y="2673938"/>
            <a:ext cx="127032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800" dirty="0">
                <a:latin typeface="Garamond" panose="02020404030301010803" pitchFamily="18" charset="0"/>
              </a:rPr>
              <a:t>Term: 1</a:t>
            </a:r>
          </a:p>
          <a:p>
            <a:pPr algn="ctr"/>
            <a:r>
              <a:rPr lang="en-US" altLang="zh-CN" dirty="0">
                <a:latin typeface="Garamond" panose="02020404030301010803" pitchFamily="18" charset="0"/>
              </a:rPr>
              <a:t>Vote A</a:t>
            </a:r>
            <a:endParaRPr lang="zh-CN" altLang="en-US" sz="1800" dirty="0">
              <a:latin typeface="Garamond" panose="02020404030301010803" pitchFamily="18" charset="0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55B33D24-22F6-46B9-B589-C1FCFFFFA4C7}"/>
              </a:ext>
            </a:extLst>
          </p:cNvPr>
          <p:cNvSpPr txBox="1"/>
          <p:nvPr/>
        </p:nvSpPr>
        <p:spPr>
          <a:xfrm>
            <a:off x="9362208" y="5260191"/>
            <a:ext cx="127032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800" dirty="0">
                <a:latin typeface="Garamond" panose="02020404030301010803" pitchFamily="18" charset="0"/>
              </a:rPr>
              <a:t>Term: 1</a:t>
            </a:r>
          </a:p>
          <a:p>
            <a:pPr algn="ctr"/>
            <a:r>
              <a:rPr lang="en-US" altLang="zh-CN">
                <a:latin typeface="Garamond" panose="02020404030301010803" pitchFamily="18" charset="0"/>
              </a:rPr>
              <a:t>Vote A</a:t>
            </a:r>
            <a:endParaRPr lang="zh-CN" altLang="en-US" sz="1800" dirty="0">
              <a:latin typeface="Garamond" panose="02020404030301010803" pitchFamily="18" charset="0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DCB7D842-DF0B-4913-85F3-42728A7939C9}"/>
              </a:ext>
            </a:extLst>
          </p:cNvPr>
          <p:cNvSpPr txBox="1"/>
          <p:nvPr/>
        </p:nvSpPr>
        <p:spPr>
          <a:xfrm>
            <a:off x="525319" y="2117071"/>
            <a:ext cx="4481945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CN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Follower</a:t>
            </a:r>
            <a:r>
              <a:rPr lang="zh-CN" altLang="en-US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重置自己的选举倒计时</a:t>
            </a:r>
            <a:endParaRPr lang="en-US" altLang="zh-CN" sz="2200" dirty="0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26" name="空心弧 25">
            <a:extLst>
              <a:ext uri="{FF2B5EF4-FFF2-40B4-BE49-F238E27FC236}">
                <a16:creationId xmlns:a16="http://schemas.microsoft.com/office/drawing/2014/main" id="{491B7033-D980-40B5-B4DC-7E2B0D57C0F5}"/>
              </a:ext>
            </a:extLst>
          </p:cNvPr>
          <p:cNvSpPr/>
          <p:nvPr/>
        </p:nvSpPr>
        <p:spPr>
          <a:xfrm>
            <a:off x="4823911" y="1692956"/>
            <a:ext cx="2544178" cy="2544178"/>
          </a:xfrm>
          <a:prstGeom prst="blockArc">
            <a:avLst>
              <a:gd name="adj1" fmla="val 2462446"/>
              <a:gd name="adj2" fmla="val 16470703"/>
              <a:gd name="adj3" fmla="val 4067"/>
            </a:avLst>
          </a:prstGeom>
          <a:solidFill>
            <a:srgbClr val="FFD7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7" name="空心弧 26">
            <a:extLst>
              <a:ext uri="{FF2B5EF4-FFF2-40B4-BE49-F238E27FC236}">
                <a16:creationId xmlns:a16="http://schemas.microsoft.com/office/drawing/2014/main" id="{1EF7F53B-8F19-411F-9A84-CEAD71020C32}"/>
              </a:ext>
            </a:extLst>
          </p:cNvPr>
          <p:cNvSpPr/>
          <p:nvPr/>
        </p:nvSpPr>
        <p:spPr>
          <a:xfrm>
            <a:off x="6968307" y="4313843"/>
            <a:ext cx="2544178" cy="2544178"/>
          </a:xfrm>
          <a:prstGeom prst="blockArc">
            <a:avLst>
              <a:gd name="adj1" fmla="val 16630007"/>
              <a:gd name="adj2" fmla="val 16470703"/>
              <a:gd name="adj3" fmla="val 4067"/>
            </a:avLst>
          </a:prstGeom>
          <a:solidFill>
            <a:srgbClr val="FFD7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653128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9" grpId="0" animBg="1"/>
      <p:bldP spid="8" grpId="0" animBg="1"/>
      <p:bldP spid="9" grpId="0"/>
      <p:bldP spid="16" grpId="0"/>
      <p:bldP spid="17" grpId="0"/>
      <p:bldP spid="14" grpId="0"/>
      <p:bldP spid="15" grpId="0" animBg="1"/>
      <p:bldP spid="21" grpId="0"/>
      <p:bldP spid="22" grpId="0"/>
      <p:bldP spid="23" grpId="0"/>
      <p:bldP spid="25" grpId="0"/>
      <p:bldP spid="26" grpId="0" animBg="1"/>
      <p:bldP spid="27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领导人选举</a:t>
            </a:r>
            <a:r>
              <a:rPr lang="en-US" altLang="zh-CN" dirty="0">
                <a:latin typeface="Garamond" panose="02020404030301010803" pitchFamily="18" charset="0"/>
                <a:ea typeface="微软雅黑" panose="020B0503020204020204" pitchFamily="34" charset="-122"/>
              </a:rPr>
              <a:t>——</a:t>
            </a:r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边界情况</a:t>
            </a:r>
            <a:endParaRPr lang="en-US" altLang="zh-CN" dirty="0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1E41-7A09-AB4A-A4E1-09765ADA2698}" type="slidenum">
              <a:rPr kumimoji="1" lang="zh-CN" altLang="en-US" smtClean="0"/>
              <a:t>14</a:t>
            </a:fld>
            <a:endParaRPr kumimoji="1" lang="zh-CN" altLang="en-US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AF219D37-2DD9-4998-8BCB-C322C81F8BC5}"/>
              </a:ext>
            </a:extLst>
          </p:cNvPr>
          <p:cNvSpPr txBox="1"/>
          <p:nvPr/>
        </p:nvSpPr>
        <p:spPr>
          <a:xfrm>
            <a:off x="525319" y="1349793"/>
            <a:ext cx="4481945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CN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Follower</a:t>
            </a:r>
            <a:r>
              <a:rPr lang="zh-CN" altLang="en-US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在收到</a:t>
            </a:r>
            <a:r>
              <a:rPr lang="en-US" altLang="zh-CN" sz="2200" dirty="0" err="1">
                <a:latin typeface="Garamond" panose="02020404030301010803" pitchFamily="18" charset="0"/>
                <a:ea typeface="微软雅黑" panose="020B0503020204020204" pitchFamily="34" charset="-122"/>
              </a:rPr>
              <a:t>RequestVote</a:t>
            </a:r>
            <a:r>
              <a:rPr lang="zh-CN" altLang="en-US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前，自己的选举倒计时已结束</a:t>
            </a:r>
            <a:endParaRPr lang="en-US" altLang="zh-CN" sz="2200" dirty="0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24" name="椭圆 23">
            <a:extLst>
              <a:ext uri="{FF2B5EF4-FFF2-40B4-BE49-F238E27FC236}">
                <a16:creationId xmlns:a16="http://schemas.microsoft.com/office/drawing/2014/main" id="{C682CF77-04B8-4A14-83D7-9188671F2B1F}"/>
              </a:ext>
            </a:extLst>
          </p:cNvPr>
          <p:cNvSpPr/>
          <p:nvPr/>
        </p:nvSpPr>
        <p:spPr>
          <a:xfrm>
            <a:off x="5007264" y="1886262"/>
            <a:ext cx="2177472" cy="2177472"/>
          </a:xfrm>
          <a:prstGeom prst="ellipse">
            <a:avLst/>
          </a:prstGeom>
          <a:solidFill>
            <a:srgbClr val="A40A57"/>
          </a:solidFill>
          <a:ln w="38100">
            <a:solidFill>
              <a:srgbClr val="0000FF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latin typeface="Garamond" panose="02020404030301010803" pitchFamily="18" charset="0"/>
              </a:rPr>
              <a:t>Candidate</a:t>
            </a:r>
            <a:endParaRPr lang="zh-CN" altLang="en-US" sz="2400" dirty="0">
              <a:latin typeface="Garamond" panose="02020404030301010803" pitchFamily="18" charset="0"/>
            </a:endParaRPr>
          </a:p>
        </p:txBody>
      </p:sp>
      <p:sp>
        <p:nvSpPr>
          <p:cNvPr id="28" name="椭圆 27">
            <a:extLst>
              <a:ext uri="{FF2B5EF4-FFF2-40B4-BE49-F238E27FC236}">
                <a16:creationId xmlns:a16="http://schemas.microsoft.com/office/drawing/2014/main" id="{BDDB689C-0DE5-4CCD-9F11-7F92397487B1}"/>
              </a:ext>
            </a:extLst>
          </p:cNvPr>
          <p:cNvSpPr/>
          <p:nvPr/>
        </p:nvSpPr>
        <p:spPr>
          <a:xfrm>
            <a:off x="7184736" y="4494621"/>
            <a:ext cx="2177472" cy="2177472"/>
          </a:xfrm>
          <a:prstGeom prst="ellipse">
            <a:avLst/>
          </a:prstGeom>
          <a:solidFill>
            <a:srgbClr val="A40A5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latin typeface="Garamond" panose="02020404030301010803" pitchFamily="18" charset="0"/>
              </a:rPr>
              <a:t>Follower</a:t>
            </a:r>
            <a:endParaRPr lang="zh-CN" altLang="en-US" sz="2400" dirty="0">
              <a:latin typeface="Garamond" panose="02020404030301010803" pitchFamily="18" charset="0"/>
            </a:endParaRPr>
          </a:p>
        </p:txBody>
      </p:sp>
      <p:sp>
        <p:nvSpPr>
          <p:cNvPr id="29" name="椭圆 28">
            <a:extLst>
              <a:ext uri="{FF2B5EF4-FFF2-40B4-BE49-F238E27FC236}">
                <a16:creationId xmlns:a16="http://schemas.microsoft.com/office/drawing/2014/main" id="{CE2150AF-0E70-490D-8FCF-8223F1D508DD}"/>
              </a:ext>
            </a:extLst>
          </p:cNvPr>
          <p:cNvSpPr/>
          <p:nvPr/>
        </p:nvSpPr>
        <p:spPr>
          <a:xfrm>
            <a:off x="2829792" y="4497196"/>
            <a:ext cx="2177472" cy="2177472"/>
          </a:xfrm>
          <a:prstGeom prst="ellipse">
            <a:avLst/>
          </a:prstGeom>
          <a:solidFill>
            <a:srgbClr val="A40A57"/>
          </a:solidFill>
          <a:ln w="38100">
            <a:solidFill>
              <a:srgbClr val="0000FF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latin typeface="Garamond" panose="02020404030301010803" pitchFamily="18" charset="0"/>
              </a:rPr>
              <a:t>Candidate</a:t>
            </a:r>
            <a:endParaRPr lang="zh-CN" altLang="en-US" sz="2400" dirty="0">
              <a:latin typeface="Garamond" panose="02020404030301010803" pitchFamily="18" charset="0"/>
            </a:endParaRPr>
          </a:p>
        </p:txBody>
      </p:sp>
      <p:cxnSp>
        <p:nvCxnSpPr>
          <p:cNvPr id="30" name="直接箭头连接符 29">
            <a:extLst>
              <a:ext uri="{FF2B5EF4-FFF2-40B4-BE49-F238E27FC236}">
                <a16:creationId xmlns:a16="http://schemas.microsoft.com/office/drawing/2014/main" id="{AEDA85FE-4EAD-48A6-96B9-CB3689471F55}"/>
              </a:ext>
            </a:extLst>
          </p:cNvPr>
          <p:cNvCxnSpPr>
            <a:stCxn id="29" idx="7"/>
            <a:endCxn id="24" idx="3"/>
          </p:cNvCxnSpPr>
          <p:nvPr/>
        </p:nvCxnSpPr>
        <p:spPr>
          <a:xfrm flipV="1">
            <a:off x="4688381" y="3744851"/>
            <a:ext cx="637766" cy="1071228"/>
          </a:xfrm>
          <a:prstGeom prst="straightConnector1">
            <a:avLst/>
          </a:prstGeom>
          <a:ln w="381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箭头连接符 30">
            <a:extLst>
              <a:ext uri="{FF2B5EF4-FFF2-40B4-BE49-F238E27FC236}">
                <a16:creationId xmlns:a16="http://schemas.microsoft.com/office/drawing/2014/main" id="{BE6F566E-F94A-49FE-9507-5D91D01B1097}"/>
              </a:ext>
            </a:extLst>
          </p:cNvPr>
          <p:cNvCxnSpPr>
            <a:stCxn id="29" idx="6"/>
            <a:endCxn id="28" idx="2"/>
          </p:cNvCxnSpPr>
          <p:nvPr/>
        </p:nvCxnSpPr>
        <p:spPr>
          <a:xfrm flipV="1">
            <a:off x="5007264" y="5583357"/>
            <a:ext cx="2177472" cy="2575"/>
          </a:xfrm>
          <a:prstGeom prst="straightConnector1">
            <a:avLst/>
          </a:prstGeom>
          <a:ln w="381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文本框 31">
            <a:extLst>
              <a:ext uri="{FF2B5EF4-FFF2-40B4-BE49-F238E27FC236}">
                <a16:creationId xmlns:a16="http://schemas.microsoft.com/office/drawing/2014/main" id="{AD9480F2-CF52-4C8B-948B-4CAA482F73D2}"/>
              </a:ext>
            </a:extLst>
          </p:cNvPr>
          <p:cNvSpPr txBox="1"/>
          <p:nvPr/>
        </p:nvSpPr>
        <p:spPr>
          <a:xfrm>
            <a:off x="3667991" y="3911133"/>
            <a:ext cx="133927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dirty="0" err="1">
                <a:latin typeface="Garamond" panose="02020404030301010803" pitchFamily="18" charset="0"/>
                <a:ea typeface="微软雅黑" panose="020B0503020204020204" pitchFamily="34" charset="-122"/>
              </a:rPr>
              <a:t>RequestVote</a:t>
            </a:r>
            <a:endParaRPr lang="zh-CN" altLang="en-US" dirty="0"/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C25E34DA-A84C-491C-9BA9-A62FAB78698F}"/>
              </a:ext>
            </a:extLst>
          </p:cNvPr>
          <p:cNvSpPr txBox="1"/>
          <p:nvPr/>
        </p:nvSpPr>
        <p:spPr>
          <a:xfrm>
            <a:off x="5326147" y="5176958"/>
            <a:ext cx="133927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dirty="0" err="1">
                <a:latin typeface="Garamond" panose="02020404030301010803" pitchFamily="18" charset="0"/>
                <a:ea typeface="微软雅黑" panose="020B0503020204020204" pitchFamily="34" charset="-122"/>
              </a:rPr>
              <a:t>RequestVote</a:t>
            </a:r>
            <a:endParaRPr lang="zh-CN" altLang="en-US" dirty="0"/>
          </a:p>
        </p:txBody>
      </p:sp>
      <p:sp>
        <p:nvSpPr>
          <p:cNvPr id="34" name="空心弧 33">
            <a:extLst>
              <a:ext uri="{FF2B5EF4-FFF2-40B4-BE49-F238E27FC236}">
                <a16:creationId xmlns:a16="http://schemas.microsoft.com/office/drawing/2014/main" id="{46F7DF77-D73B-4040-9DEA-F467B0DD1AA3}"/>
              </a:ext>
            </a:extLst>
          </p:cNvPr>
          <p:cNvSpPr/>
          <p:nvPr/>
        </p:nvSpPr>
        <p:spPr>
          <a:xfrm>
            <a:off x="2554920" y="4274201"/>
            <a:ext cx="2544178" cy="2544178"/>
          </a:xfrm>
          <a:prstGeom prst="blockArc">
            <a:avLst>
              <a:gd name="adj1" fmla="val 16288794"/>
              <a:gd name="adj2" fmla="val 16470703"/>
              <a:gd name="adj3" fmla="val 4067"/>
            </a:avLst>
          </a:prstGeom>
          <a:solidFill>
            <a:srgbClr val="FFD7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5" name="空心弧 34">
            <a:extLst>
              <a:ext uri="{FF2B5EF4-FFF2-40B4-BE49-F238E27FC236}">
                <a16:creationId xmlns:a16="http://schemas.microsoft.com/office/drawing/2014/main" id="{4AB7D30B-FF71-4443-831D-FB0CDC6C3EDD}"/>
              </a:ext>
            </a:extLst>
          </p:cNvPr>
          <p:cNvSpPr/>
          <p:nvPr/>
        </p:nvSpPr>
        <p:spPr>
          <a:xfrm>
            <a:off x="4823911" y="1692956"/>
            <a:ext cx="2544178" cy="2544178"/>
          </a:xfrm>
          <a:prstGeom prst="blockArc">
            <a:avLst>
              <a:gd name="adj1" fmla="val 16255904"/>
              <a:gd name="adj2" fmla="val 16470703"/>
              <a:gd name="adj3" fmla="val 4067"/>
            </a:avLst>
          </a:prstGeom>
          <a:solidFill>
            <a:srgbClr val="FFD7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DE01F180-4F23-4EA5-BDAB-DA281A811484}"/>
              </a:ext>
            </a:extLst>
          </p:cNvPr>
          <p:cNvSpPr txBox="1"/>
          <p:nvPr/>
        </p:nvSpPr>
        <p:spPr>
          <a:xfrm>
            <a:off x="2044212" y="3916168"/>
            <a:ext cx="15711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800" dirty="0">
                <a:latin typeface="Garamond" panose="02020404030301010803" pitchFamily="18" charset="0"/>
              </a:rPr>
              <a:t>Term: 1</a:t>
            </a:r>
          </a:p>
          <a:p>
            <a:pPr algn="ctr"/>
            <a:r>
              <a:rPr lang="en-US" altLang="zh-CN" dirty="0">
                <a:latin typeface="Garamond" panose="02020404030301010803" pitchFamily="18" charset="0"/>
              </a:rPr>
              <a:t>Vote Count: 1</a:t>
            </a:r>
            <a:endParaRPr lang="zh-CN" altLang="en-US" sz="1800" dirty="0">
              <a:latin typeface="Garamond" panose="02020404030301010803" pitchFamily="18" charset="0"/>
            </a:endParaRP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0099A5E9-2A49-4979-9DE8-DD3B57293494}"/>
              </a:ext>
            </a:extLst>
          </p:cNvPr>
          <p:cNvSpPr txBox="1"/>
          <p:nvPr/>
        </p:nvSpPr>
        <p:spPr>
          <a:xfrm>
            <a:off x="7184736" y="2651832"/>
            <a:ext cx="145021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800" dirty="0">
                <a:latin typeface="Garamond" panose="02020404030301010803" pitchFamily="18" charset="0"/>
              </a:rPr>
              <a:t>Term: </a:t>
            </a:r>
            <a:r>
              <a:rPr lang="en-US" altLang="zh-CN" dirty="0">
                <a:latin typeface="Garamond" panose="02020404030301010803" pitchFamily="18" charset="0"/>
              </a:rPr>
              <a:t>1</a:t>
            </a:r>
          </a:p>
          <a:p>
            <a:pPr algn="ctr"/>
            <a:r>
              <a:rPr lang="en-US" altLang="zh-CN" sz="1800" dirty="0">
                <a:latin typeface="Garamond" panose="02020404030301010803" pitchFamily="18" charset="0"/>
              </a:rPr>
              <a:t>Vote Count: 1</a:t>
            </a: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C9912676-E141-4D26-9EDC-71C6E8181EBF}"/>
              </a:ext>
            </a:extLst>
          </p:cNvPr>
          <p:cNvSpPr txBox="1"/>
          <p:nvPr/>
        </p:nvSpPr>
        <p:spPr>
          <a:xfrm>
            <a:off x="9266519" y="5398691"/>
            <a:ext cx="10541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800" dirty="0">
                <a:latin typeface="Garamond" panose="02020404030301010803" pitchFamily="18" charset="0"/>
              </a:rPr>
              <a:t>Term: </a:t>
            </a:r>
            <a:r>
              <a:rPr lang="en-US" altLang="zh-CN" dirty="0">
                <a:latin typeface="Garamond" panose="02020404030301010803" pitchFamily="18" charset="0"/>
              </a:rPr>
              <a:t>0</a:t>
            </a:r>
            <a:endParaRPr lang="en-US" altLang="zh-CN" sz="1800" dirty="0">
              <a:latin typeface="Garamond" panose="02020404030301010803" pitchFamily="18" charset="0"/>
            </a:endParaRP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DE8F97E3-043D-48F7-8976-DA7D0095D8ED}"/>
              </a:ext>
            </a:extLst>
          </p:cNvPr>
          <p:cNvSpPr txBox="1"/>
          <p:nvPr/>
        </p:nvSpPr>
        <p:spPr>
          <a:xfrm>
            <a:off x="519034" y="2106252"/>
            <a:ext cx="4481945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此时系统存在两个</a:t>
            </a:r>
            <a:r>
              <a:rPr lang="en-US" altLang="zh-CN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Candidate</a:t>
            </a:r>
          </a:p>
        </p:txBody>
      </p:sp>
      <p:cxnSp>
        <p:nvCxnSpPr>
          <p:cNvPr id="40" name="直接箭头连接符 39">
            <a:extLst>
              <a:ext uri="{FF2B5EF4-FFF2-40B4-BE49-F238E27FC236}">
                <a16:creationId xmlns:a16="http://schemas.microsoft.com/office/drawing/2014/main" id="{31115FE0-4319-4A34-B56F-525933A31190}"/>
              </a:ext>
            </a:extLst>
          </p:cNvPr>
          <p:cNvCxnSpPr>
            <a:cxnSpLocks/>
            <a:stCxn id="24" idx="5"/>
            <a:endCxn id="28" idx="1"/>
          </p:cNvCxnSpPr>
          <p:nvPr/>
        </p:nvCxnSpPr>
        <p:spPr>
          <a:xfrm>
            <a:off x="6865853" y="3744851"/>
            <a:ext cx="637766" cy="1068653"/>
          </a:xfrm>
          <a:prstGeom prst="straightConnector1">
            <a:avLst/>
          </a:prstGeom>
          <a:ln w="38100">
            <a:solidFill>
              <a:srgbClr val="FFD7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接箭头连接符 40">
            <a:extLst>
              <a:ext uri="{FF2B5EF4-FFF2-40B4-BE49-F238E27FC236}">
                <a16:creationId xmlns:a16="http://schemas.microsoft.com/office/drawing/2014/main" id="{7B6D930E-A104-4584-8CBC-4F18CD3448DE}"/>
              </a:ext>
            </a:extLst>
          </p:cNvPr>
          <p:cNvCxnSpPr>
            <a:cxnSpLocks/>
            <a:stCxn id="24" idx="4"/>
            <a:endCxn id="29" idx="7"/>
          </p:cNvCxnSpPr>
          <p:nvPr/>
        </p:nvCxnSpPr>
        <p:spPr>
          <a:xfrm flipH="1">
            <a:off x="4688381" y="4063734"/>
            <a:ext cx="1407619" cy="752345"/>
          </a:xfrm>
          <a:prstGeom prst="straightConnector1">
            <a:avLst/>
          </a:prstGeom>
          <a:ln w="38100">
            <a:solidFill>
              <a:srgbClr val="FFD7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文本框 41">
            <a:extLst>
              <a:ext uri="{FF2B5EF4-FFF2-40B4-BE49-F238E27FC236}">
                <a16:creationId xmlns:a16="http://schemas.microsoft.com/office/drawing/2014/main" id="{1FFAA0F2-A85E-4F47-9A01-6D608EFD2B44}"/>
              </a:ext>
            </a:extLst>
          </p:cNvPr>
          <p:cNvSpPr txBox="1"/>
          <p:nvPr/>
        </p:nvSpPr>
        <p:spPr>
          <a:xfrm>
            <a:off x="5207697" y="4337714"/>
            <a:ext cx="133927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dirty="0" err="1">
                <a:latin typeface="Garamond" panose="02020404030301010803" pitchFamily="18" charset="0"/>
                <a:ea typeface="微软雅黑" panose="020B0503020204020204" pitchFamily="34" charset="-122"/>
              </a:rPr>
              <a:t>RequestVote</a:t>
            </a:r>
            <a:endParaRPr lang="zh-CN" altLang="en-US" dirty="0"/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3DB12E3C-BC4D-4194-9FCD-DE1E59AFEDDF}"/>
              </a:ext>
            </a:extLst>
          </p:cNvPr>
          <p:cNvSpPr txBox="1"/>
          <p:nvPr/>
        </p:nvSpPr>
        <p:spPr>
          <a:xfrm>
            <a:off x="7152865" y="3935070"/>
            <a:ext cx="133927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dirty="0" err="1">
                <a:latin typeface="Garamond" panose="02020404030301010803" pitchFamily="18" charset="0"/>
                <a:ea typeface="微软雅黑" panose="020B0503020204020204" pitchFamily="34" charset="-122"/>
              </a:rPr>
              <a:t>RequestVote</a:t>
            </a:r>
            <a:endParaRPr lang="zh-CN" altLang="en-US" dirty="0"/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58A8A495-F279-4255-B555-0851CE076E75}"/>
              </a:ext>
            </a:extLst>
          </p:cNvPr>
          <p:cNvSpPr txBox="1"/>
          <p:nvPr/>
        </p:nvSpPr>
        <p:spPr>
          <a:xfrm>
            <a:off x="519034" y="2570878"/>
            <a:ext cx="4481945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最后一个</a:t>
            </a:r>
            <a:r>
              <a:rPr lang="en-US" altLang="zh-CN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Follower</a:t>
            </a:r>
            <a:r>
              <a:rPr lang="zh-CN" altLang="en-US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，仅向收到的</a:t>
            </a:r>
            <a:r>
              <a:rPr lang="zh-CN" altLang="en-US" sz="2200" b="1" dirty="0">
                <a:solidFill>
                  <a:srgbClr val="A40A57"/>
                </a:solidFill>
                <a:latin typeface="Garamond" panose="02020404030301010803" pitchFamily="18" charset="0"/>
                <a:ea typeface="微软雅黑" panose="020B0503020204020204" pitchFamily="34" charset="-122"/>
              </a:rPr>
              <a:t>第一个</a:t>
            </a:r>
            <a:r>
              <a:rPr lang="en-US" altLang="zh-CN" sz="2200" b="1" dirty="0" err="1">
                <a:solidFill>
                  <a:srgbClr val="A40A57"/>
                </a:solidFill>
                <a:latin typeface="Garamond" panose="02020404030301010803" pitchFamily="18" charset="0"/>
                <a:ea typeface="微软雅黑" panose="020B0503020204020204" pitchFamily="34" charset="-122"/>
              </a:rPr>
              <a:t>RequestVote</a:t>
            </a:r>
            <a:r>
              <a:rPr lang="zh-CN" altLang="en-US" sz="2200" b="1" dirty="0">
                <a:solidFill>
                  <a:srgbClr val="A40A57"/>
                </a:solidFill>
                <a:latin typeface="Garamond" panose="02020404030301010803" pitchFamily="18" charset="0"/>
                <a:ea typeface="微软雅黑" panose="020B0503020204020204" pitchFamily="34" charset="-122"/>
              </a:rPr>
              <a:t>投一票</a:t>
            </a:r>
            <a:endParaRPr lang="en-US" altLang="zh-CN" sz="2200" b="1" dirty="0">
              <a:solidFill>
                <a:srgbClr val="A40A57"/>
              </a:solidFill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2066816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24" grpId="0" animBg="1"/>
      <p:bldP spid="28" grpId="0" animBg="1"/>
      <p:bldP spid="29" grpId="0" animBg="1"/>
      <p:bldP spid="32" grpId="0"/>
      <p:bldP spid="33" grpId="0"/>
      <p:bldP spid="34" grpId="0" animBg="1"/>
      <p:bldP spid="35" grpId="0" animBg="1"/>
      <p:bldP spid="36" grpId="0"/>
      <p:bldP spid="37" grpId="0"/>
      <p:bldP spid="38" grpId="0"/>
      <p:bldP spid="39" grpId="0"/>
      <p:bldP spid="42" grpId="0"/>
      <p:bldP spid="43" grpId="0"/>
      <p:bldP spid="44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领导人选举</a:t>
            </a:r>
            <a:r>
              <a:rPr lang="en-US" altLang="zh-CN" dirty="0">
                <a:latin typeface="Garamond" panose="02020404030301010803" pitchFamily="18" charset="0"/>
                <a:ea typeface="微软雅黑" panose="020B0503020204020204" pitchFamily="34" charset="-122"/>
              </a:rPr>
              <a:t>——</a:t>
            </a:r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边界情况</a:t>
            </a:r>
            <a:endParaRPr lang="en-US" altLang="zh-CN" dirty="0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1E41-7A09-AB4A-A4E1-09765ADA2698}" type="slidenum">
              <a:rPr kumimoji="1" lang="zh-CN" altLang="en-US" smtClean="0"/>
              <a:t>15</a:t>
            </a:fld>
            <a:endParaRPr kumimoji="1" lang="zh-CN" altLang="en-US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AF219D37-2DD9-4998-8BCB-C322C81F8BC5}"/>
              </a:ext>
            </a:extLst>
          </p:cNvPr>
          <p:cNvSpPr txBox="1"/>
          <p:nvPr/>
        </p:nvSpPr>
        <p:spPr>
          <a:xfrm>
            <a:off x="525319" y="1349793"/>
            <a:ext cx="4481945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CN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Follower</a:t>
            </a:r>
            <a:r>
              <a:rPr lang="zh-CN" altLang="en-US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在收到</a:t>
            </a:r>
            <a:r>
              <a:rPr lang="en-US" altLang="zh-CN" sz="2200" dirty="0" err="1">
                <a:latin typeface="Garamond" panose="02020404030301010803" pitchFamily="18" charset="0"/>
                <a:ea typeface="微软雅黑" panose="020B0503020204020204" pitchFamily="34" charset="-122"/>
              </a:rPr>
              <a:t>RequestVote</a:t>
            </a:r>
            <a:r>
              <a:rPr lang="zh-CN" altLang="en-US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前，自己的选举倒计时已结束</a:t>
            </a:r>
            <a:endParaRPr lang="en-US" altLang="zh-CN" sz="2200" dirty="0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24" name="椭圆 23">
            <a:extLst>
              <a:ext uri="{FF2B5EF4-FFF2-40B4-BE49-F238E27FC236}">
                <a16:creationId xmlns:a16="http://schemas.microsoft.com/office/drawing/2014/main" id="{C682CF77-04B8-4A14-83D7-9188671F2B1F}"/>
              </a:ext>
            </a:extLst>
          </p:cNvPr>
          <p:cNvSpPr/>
          <p:nvPr/>
        </p:nvSpPr>
        <p:spPr>
          <a:xfrm>
            <a:off x="5007264" y="1886262"/>
            <a:ext cx="2177472" cy="2177472"/>
          </a:xfrm>
          <a:prstGeom prst="ellipse">
            <a:avLst/>
          </a:prstGeom>
          <a:solidFill>
            <a:srgbClr val="A40A57"/>
          </a:solidFill>
          <a:ln w="38100">
            <a:solidFill>
              <a:srgbClr val="0000FF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latin typeface="Garamond" panose="02020404030301010803" pitchFamily="18" charset="0"/>
              </a:rPr>
              <a:t>Candidate</a:t>
            </a:r>
            <a:endParaRPr lang="zh-CN" altLang="en-US" sz="2400" dirty="0">
              <a:latin typeface="Garamond" panose="02020404030301010803" pitchFamily="18" charset="0"/>
            </a:endParaRPr>
          </a:p>
        </p:txBody>
      </p:sp>
      <p:sp>
        <p:nvSpPr>
          <p:cNvPr id="28" name="椭圆 27">
            <a:extLst>
              <a:ext uri="{FF2B5EF4-FFF2-40B4-BE49-F238E27FC236}">
                <a16:creationId xmlns:a16="http://schemas.microsoft.com/office/drawing/2014/main" id="{BDDB689C-0DE5-4CCD-9F11-7F92397487B1}"/>
              </a:ext>
            </a:extLst>
          </p:cNvPr>
          <p:cNvSpPr/>
          <p:nvPr/>
        </p:nvSpPr>
        <p:spPr>
          <a:xfrm>
            <a:off x="7184736" y="4494621"/>
            <a:ext cx="2177472" cy="2177472"/>
          </a:xfrm>
          <a:prstGeom prst="ellipse">
            <a:avLst/>
          </a:prstGeom>
          <a:solidFill>
            <a:srgbClr val="A40A5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latin typeface="Garamond" panose="02020404030301010803" pitchFamily="18" charset="0"/>
              </a:rPr>
              <a:t>Follower</a:t>
            </a:r>
            <a:endParaRPr lang="zh-CN" altLang="en-US" sz="2400" dirty="0">
              <a:latin typeface="Garamond" panose="02020404030301010803" pitchFamily="18" charset="0"/>
            </a:endParaRPr>
          </a:p>
        </p:txBody>
      </p:sp>
      <p:sp>
        <p:nvSpPr>
          <p:cNvPr id="29" name="椭圆 28">
            <a:extLst>
              <a:ext uri="{FF2B5EF4-FFF2-40B4-BE49-F238E27FC236}">
                <a16:creationId xmlns:a16="http://schemas.microsoft.com/office/drawing/2014/main" id="{CE2150AF-0E70-490D-8FCF-8223F1D508DD}"/>
              </a:ext>
            </a:extLst>
          </p:cNvPr>
          <p:cNvSpPr/>
          <p:nvPr/>
        </p:nvSpPr>
        <p:spPr>
          <a:xfrm>
            <a:off x="2829792" y="4497196"/>
            <a:ext cx="2177472" cy="2177472"/>
          </a:xfrm>
          <a:prstGeom prst="ellipse">
            <a:avLst/>
          </a:prstGeom>
          <a:solidFill>
            <a:srgbClr val="A40A57"/>
          </a:solidFill>
          <a:ln w="38100">
            <a:solidFill>
              <a:srgbClr val="0000FF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latin typeface="Garamond" panose="02020404030301010803" pitchFamily="18" charset="0"/>
              </a:rPr>
              <a:t>Candidate</a:t>
            </a:r>
            <a:endParaRPr lang="zh-CN" altLang="en-US" sz="2400" dirty="0">
              <a:latin typeface="Garamond" panose="02020404030301010803" pitchFamily="18" charset="0"/>
            </a:endParaRPr>
          </a:p>
        </p:txBody>
      </p:sp>
      <p:sp>
        <p:nvSpPr>
          <p:cNvPr id="34" name="空心弧 33">
            <a:extLst>
              <a:ext uri="{FF2B5EF4-FFF2-40B4-BE49-F238E27FC236}">
                <a16:creationId xmlns:a16="http://schemas.microsoft.com/office/drawing/2014/main" id="{46F7DF77-D73B-4040-9DEA-F467B0DD1AA3}"/>
              </a:ext>
            </a:extLst>
          </p:cNvPr>
          <p:cNvSpPr/>
          <p:nvPr/>
        </p:nvSpPr>
        <p:spPr>
          <a:xfrm>
            <a:off x="2554920" y="4274201"/>
            <a:ext cx="2544178" cy="2544178"/>
          </a:xfrm>
          <a:prstGeom prst="blockArc">
            <a:avLst>
              <a:gd name="adj1" fmla="val 16288794"/>
              <a:gd name="adj2" fmla="val 16470703"/>
              <a:gd name="adj3" fmla="val 4067"/>
            </a:avLst>
          </a:prstGeom>
          <a:solidFill>
            <a:srgbClr val="FFD7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5" name="空心弧 34">
            <a:extLst>
              <a:ext uri="{FF2B5EF4-FFF2-40B4-BE49-F238E27FC236}">
                <a16:creationId xmlns:a16="http://schemas.microsoft.com/office/drawing/2014/main" id="{4AB7D30B-FF71-4443-831D-FB0CDC6C3EDD}"/>
              </a:ext>
            </a:extLst>
          </p:cNvPr>
          <p:cNvSpPr/>
          <p:nvPr/>
        </p:nvSpPr>
        <p:spPr>
          <a:xfrm>
            <a:off x="4823911" y="1692956"/>
            <a:ext cx="2544178" cy="2544178"/>
          </a:xfrm>
          <a:prstGeom prst="blockArc">
            <a:avLst>
              <a:gd name="adj1" fmla="val 16255904"/>
              <a:gd name="adj2" fmla="val 16470703"/>
              <a:gd name="adj3" fmla="val 4067"/>
            </a:avLst>
          </a:prstGeom>
          <a:solidFill>
            <a:srgbClr val="FFD7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DE01F180-4F23-4EA5-BDAB-DA281A811484}"/>
              </a:ext>
            </a:extLst>
          </p:cNvPr>
          <p:cNvSpPr txBox="1"/>
          <p:nvPr/>
        </p:nvSpPr>
        <p:spPr>
          <a:xfrm>
            <a:off x="2044212" y="3916168"/>
            <a:ext cx="15711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800" dirty="0">
                <a:latin typeface="Garamond" panose="02020404030301010803" pitchFamily="18" charset="0"/>
              </a:rPr>
              <a:t>Term: 1</a:t>
            </a:r>
          </a:p>
          <a:p>
            <a:pPr algn="ctr"/>
            <a:r>
              <a:rPr lang="en-US" altLang="zh-CN" dirty="0">
                <a:latin typeface="Garamond" panose="02020404030301010803" pitchFamily="18" charset="0"/>
              </a:rPr>
              <a:t>Vote Count: </a:t>
            </a:r>
            <a:r>
              <a:rPr lang="en-US" altLang="zh-CN" b="1" dirty="0">
                <a:solidFill>
                  <a:srgbClr val="A40A57"/>
                </a:solidFill>
                <a:latin typeface="Garamond" panose="02020404030301010803" pitchFamily="18" charset="0"/>
              </a:rPr>
              <a:t>2</a:t>
            </a:r>
            <a:endParaRPr lang="zh-CN" altLang="en-US" sz="1800" b="1" dirty="0">
              <a:solidFill>
                <a:srgbClr val="A40A57"/>
              </a:solidFill>
              <a:latin typeface="Garamond" panose="02020404030301010803" pitchFamily="18" charset="0"/>
            </a:endParaRP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0099A5E9-2A49-4979-9DE8-DD3B57293494}"/>
              </a:ext>
            </a:extLst>
          </p:cNvPr>
          <p:cNvSpPr txBox="1"/>
          <p:nvPr/>
        </p:nvSpPr>
        <p:spPr>
          <a:xfrm>
            <a:off x="7184736" y="2651832"/>
            <a:ext cx="145021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800" dirty="0">
                <a:latin typeface="Garamond" panose="02020404030301010803" pitchFamily="18" charset="0"/>
              </a:rPr>
              <a:t>Term: </a:t>
            </a:r>
            <a:r>
              <a:rPr lang="en-US" altLang="zh-CN" dirty="0">
                <a:latin typeface="Garamond" panose="02020404030301010803" pitchFamily="18" charset="0"/>
              </a:rPr>
              <a:t>1</a:t>
            </a:r>
          </a:p>
          <a:p>
            <a:pPr algn="ctr"/>
            <a:r>
              <a:rPr lang="en-US" altLang="zh-CN" sz="1800" dirty="0">
                <a:latin typeface="Garamond" panose="02020404030301010803" pitchFamily="18" charset="0"/>
              </a:rPr>
              <a:t>Vote Count: 1</a:t>
            </a: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C9912676-E141-4D26-9EDC-71C6E8181EBF}"/>
              </a:ext>
            </a:extLst>
          </p:cNvPr>
          <p:cNvSpPr txBox="1"/>
          <p:nvPr/>
        </p:nvSpPr>
        <p:spPr>
          <a:xfrm>
            <a:off x="9541693" y="5260191"/>
            <a:ext cx="10541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800" dirty="0">
                <a:latin typeface="Garamond" panose="02020404030301010803" pitchFamily="18" charset="0"/>
              </a:rPr>
              <a:t>Term: </a:t>
            </a:r>
            <a:r>
              <a:rPr lang="en-US" altLang="zh-CN" dirty="0">
                <a:latin typeface="Garamond" panose="02020404030301010803" pitchFamily="18" charset="0"/>
              </a:rPr>
              <a:t>1</a:t>
            </a:r>
          </a:p>
          <a:p>
            <a:pPr algn="ctr"/>
            <a:r>
              <a:rPr lang="en-US" altLang="zh-CN" sz="1800" dirty="0">
                <a:latin typeface="Garamond" panose="02020404030301010803" pitchFamily="18" charset="0"/>
              </a:rPr>
              <a:t>Vote A</a:t>
            </a: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DE8F97E3-043D-48F7-8976-DA7D0095D8ED}"/>
              </a:ext>
            </a:extLst>
          </p:cNvPr>
          <p:cNvSpPr txBox="1"/>
          <p:nvPr/>
        </p:nvSpPr>
        <p:spPr>
          <a:xfrm>
            <a:off x="519034" y="2106252"/>
            <a:ext cx="4481945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此时系统存在两个</a:t>
            </a:r>
            <a:r>
              <a:rPr lang="en-US" altLang="zh-CN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Candidate</a:t>
            </a: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58A8A495-F279-4255-B555-0851CE076E75}"/>
              </a:ext>
            </a:extLst>
          </p:cNvPr>
          <p:cNvSpPr txBox="1"/>
          <p:nvPr/>
        </p:nvSpPr>
        <p:spPr>
          <a:xfrm>
            <a:off x="519034" y="2570878"/>
            <a:ext cx="4481945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最后一个</a:t>
            </a:r>
            <a:r>
              <a:rPr lang="en-US" altLang="zh-CN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Follower</a:t>
            </a:r>
            <a:r>
              <a:rPr lang="zh-CN" altLang="en-US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，仅向收到的</a:t>
            </a:r>
            <a:r>
              <a:rPr lang="zh-CN" altLang="en-US" sz="2200" b="1" dirty="0">
                <a:solidFill>
                  <a:srgbClr val="A40A57"/>
                </a:solidFill>
                <a:latin typeface="Garamond" panose="02020404030301010803" pitchFamily="18" charset="0"/>
                <a:ea typeface="微软雅黑" panose="020B0503020204020204" pitchFamily="34" charset="-122"/>
              </a:rPr>
              <a:t>第一个</a:t>
            </a:r>
            <a:r>
              <a:rPr lang="en-US" altLang="zh-CN" sz="2200" b="1" dirty="0" err="1">
                <a:solidFill>
                  <a:srgbClr val="A40A57"/>
                </a:solidFill>
                <a:latin typeface="Garamond" panose="02020404030301010803" pitchFamily="18" charset="0"/>
                <a:ea typeface="微软雅黑" panose="020B0503020204020204" pitchFamily="34" charset="-122"/>
              </a:rPr>
              <a:t>RequestVote</a:t>
            </a:r>
            <a:r>
              <a:rPr lang="zh-CN" altLang="en-US" sz="2200" b="1" dirty="0">
                <a:solidFill>
                  <a:srgbClr val="A40A57"/>
                </a:solidFill>
                <a:latin typeface="Garamond" panose="02020404030301010803" pitchFamily="18" charset="0"/>
                <a:ea typeface="微软雅黑" panose="020B0503020204020204" pitchFamily="34" charset="-122"/>
              </a:rPr>
              <a:t>投一票</a:t>
            </a:r>
            <a:endParaRPr lang="en-US" altLang="zh-CN" sz="2200" b="1" dirty="0">
              <a:solidFill>
                <a:srgbClr val="A40A57"/>
              </a:solidFill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cxnSp>
        <p:nvCxnSpPr>
          <p:cNvPr id="23" name="直接箭头连接符 22">
            <a:extLst>
              <a:ext uri="{FF2B5EF4-FFF2-40B4-BE49-F238E27FC236}">
                <a16:creationId xmlns:a16="http://schemas.microsoft.com/office/drawing/2014/main" id="{4851CAE4-46E5-4758-BAAC-BA0DBF5BA714}"/>
              </a:ext>
            </a:extLst>
          </p:cNvPr>
          <p:cNvCxnSpPr/>
          <p:nvPr/>
        </p:nvCxnSpPr>
        <p:spPr>
          <a:xfrm flipV="1">
            <a:off x="5007264" y="5583357"/>
            <a:ext cx="2177472" cy="2575"/>
          </a:xfrm>
          <a:prstGeom prst="straightConnector1">
            <a:avLst/>
          </a:prstGeom>
          <a:ln w="38100">
            <a:solidFill>
              <a:srgbClr val="0000FF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文本框 24">
            <a:extLst>
              <a:ext uri="{FF2B5EF4-FFF2-40B4-BE49-F238E27FC236}">
                <a16:creationId xmlns:a16="http://schemas.microsoft.com/office/drawing/2014/main" id="{E183B024-78B6-4F7C-9C12-4F3D9C6D9526}"/>
              </a:ext>
            </a:extLst>
          </p:cNvPr>
          <p:cNvSpPr txBox="1"/>
          <p:nvPr/>
        </p:nvSpPr>
        <p:spPr>
          <a:xfrm>
            <a:off x="5769726" y="5176958"/>
            <a:ext cx="65254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dirty="0">
                <a:latin typeface="Garamond" panose="02020404030301010803" pitchFamily="18" charset="0"/>
                <a:ea typeface="微软雅黑" panose="020B0503020204020204" pitchFamily="34" charset="-122"/>
              </a:rPr>
              <a:t>Vote</a:t>
            </a:r>
            <a:endParaRPr lang="zh-CN" altLang="en-US" dirty="0"/>
          </a:p>
        </p:txBody>
      </p:sp>
      <p:sp>
        <p:nvSpPr>
          <p:cNvPr id="26" name="空心弧 25">
            <a:extLst>
              <a:ext uri="{FF2B5EF4-FFF2-40B4-BE49-F238E27FC236}">
                <a16:creationId xmlns:a16="http://schemas.microsoft.com/office/drawing/2014/main" id="{88431ABA-5CD5-4AFD-A24A-D4969914B196}"/>
              </a:ext>
            </a:extLst>
          </p:cNvPr>
          <p:cNvSpPr/>
          <p:nvPr/>
        </p:nvSpPr>
        <p:spPr>
          <a:xfrm>
            <a:off x="7005251" y="4313843"/>
            <a:ext cx="2544178" cy="2544178"/>
          </a:xfrm>
          <a:prstGeom prst="blockArc">
            <a:avLst>
              <a:gd name="adj1" fmla="val 16630007"/>
              <a:gd name="adj2" fmla="val 16470703"/>
              <a:gd name="adj3" fmla="val 4067"/>
            </a:avLst>
          </a:prstGeom>
          <a:solidFill>
            <a:srgbClr val="FFD7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721796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24" grpId="0" animBg="1"/>
      <p:bldP spid="28" grpId="0" animBg="1"/>
      <p:bldP spid="29" grpId="0" animBg="1"/>
      <p:bldP spid="34" grpId="0" animBg="1"/>
      <p:bldP spid="35" grpId="0" animBg="1"/>
      <p:bldP spid="36" grpId="0"/>
      <p:bldP spid="37" grpId="0"/>
      <p:bldP spid="38" grpId="0"/>
      <p:bldP spid="39" grpId="0"/>
      <p:bldP spid="44" grpId="0"/>
      <p:bldP spid="25" grpId="0"/>
      <p:bldP spid="26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领导人选举</a:t>
            </a:r>
            <a:r>
              <a:rPr lang="en-US" altLang="zh-CN" dirty="0">
                <a:latin typeface="Garamond" panose="02020404030301010803" pitchFamily="18" charset="0"/>
                <a:ea typeface="微软雅黑" panose="020B0503020204020204" pitchFamily="34" charset="-122"/>
              </a:rPr>
              <a:t>——</a:t>
            </a:r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边界情况</a:t>
            </a:r>
            <a:endParaRPr lang="en-US" altLang="zh-CN" dirty="0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1E41-7A09-AB4A-A4E1-09765ADA2698}" type="slidenum">
              <a:rPr kumimoji="1" lang="zh-CN" altLang="en-US" smtClean="0"/>
              <a:t>16</a:t>
            </a:fld>
            <a:endParaRPr kumimoji="1" lang="zh-CN" altLang="en-US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AF219D37-2DD9-4998-8BCB-C322C81F8BC5}"/>
              </a:ext>
            </a:extLst>
          </p:cNvPr>
          <p:cNvSpPr txBox="1"/>
          <p:nvPr/>
        </p:nvSpPr>
        <p:spPr>
          <a:xfrm>
            <a:off x="525319" y="1349793"/>
            <a:ext cx="4481945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CN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Candidate</a:t>
            </a:r>
            <a:r>
              <a:rPr lang="zh-CN" altLang="en-US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收到超过半数的投票，即升级为</a:t>
            </a:r>
            <a:r>
              <a:rPr lang="en-US" altLang="zh-CN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Leader</a:t>
            </a:r>
          </a:p>
        </p:txBody>
      </p:sp>
      <p:sp>
        <p:nvSpPr>
          <p:cNvPr id="24" name="椭圆 23">
            <a:extLst>
              <a:ext uri="{FF2B5EF4-FFF2-40B4-BE49-F238E27FC236}">
                <a16:creationId xmlns:a16="http://schemas.microsoft.com/office/drawing/2014/main" id="{C682CF77-04B8-4A14-83D7-9188671F2B1F}"/>
              </a:ext>
            </a:extLst>
          </p:cNvPr>
          <p:cNvSpPr/>
          <p:nvPr/>
        </p:nvSpPr>
        <p:spPr>
          <a:xfrm>
            <a:off x="5007264" y="1886262"/>
            <a:ext cx="2177472" cy="2177472"/>
          </a:xfrm>
          <a:prstGeom prst="ellipse">
            <a:avLst/>
          </a:prstGeom>
          <a:solidFill>
            <a:srgbClr val="A40A57"/>
          </a:solidFill>
          <a:ln w="38100">
            <a:solidFill>
              <a:srgbClr val="0000FF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latin typeface="Garamond" panose="02020404030301010803" pitchFamily="18" charset="0"/>
              </a:rPr>
              <a:t>Candidate</a:t>
            </a:r>
            <a:endParaRPr lang="zh-CN" altLang="en-US" sz="2400" dirty="0">
              <a:latin typeface="Garamond" panose="02020404030301010803" pitchFamily="18" charset="0"/>
            </a:endParaRPr>
          </a:p>
        </p:txBody>
      </p:sp>
      <p:sp>
        <p:nvSpPr>
          <p:cNvPr id="28" name="椭圆 27">
            <a:extLst>
              <a:ext uri="{FF2B5EF4-FFF2-40B4-BE49-F238E27FC236}">
                <a16:creationId xmlns:a16="http://schemas.microsoft.com/office/drawing/2014/main" id="{BDDB689C-0DE5-4CCD-9F11-7F92397487B1}"/>
              </a:ext>
            </a:extLst>
          </p:cNvPr>
          <p:cNvSpPr/>
          <p:nvPr/>
        </p:nvSpPr>
        <p:spPr>
          <a:xfrm>
            <a:off x="7184736" y="4494621"/>
            <a:ext cx="2177472" cy="2177472"/>
          </a:xfrm>
          <a:prstGeom prst="ellipse">
            <a:avLst/>
          </a:prstGeom>
          <a:solidFill>
            <a:srgbClr val="A40A5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latin typeface="Garamond" panose="02020404030301010803" pitchFamily="18" charset="0"/>
              </a:rPr>
              <a:t>Follower</a:t>
            </a:r>
            <a:endParaRPr lang="zh-CN" altLang="en-US" sz="2400" dirty="0">
              <a:latin typeface="Garamond" panose="02020404030301010803" pitchFamily="18" charset="0"/>
            </a:endParaRPr>
          </a:p>
        </p:txBody>
      </p:sp>
      <p:sp>
        <p:nvSpPr>
          <p:cNvPr id="29" name="椭圆 28">
            <a:extLst>
              <a:ext uri="{FF2B5EF4-FFF2-40B4-BE49-F238E27FC236}">
                <a16:creationId xmlns:a16="http://schemas.microsoft.com/office/drawing/2014/main" id="{CE2150AF-0E70-490D-8FCF-8223F1D508DD}"/>
              </a:ext>
            </a:extLst>
          </p:cNvPr>
          <p:cNvSpPr/>
          <p:nvPr/>
        </p:nvSpPr>
        <p:spPr>
          <a:xfrm>
            <a:off x="2829792" y="4497196"/>
            <a:ext cx="2177472" cy="2177472"/>
          </a:xfrm>
          <a:prstGeom prst="ellipse">
            <a:avLst/>
          </a:prstGeom>
          <a:solidFill>
            <a:srgbClr val="A40A57"/>
          </a:solidFill>
          <a:ln w="38100">
            <a:solidFill>
              <a:srgbClr val="0000FF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latin typeface="Garamond" panose="02020404030301010803" pitchFamily="18" charset="0"/>
              </a:rPr>
              <a:t>Leader</a:t>
            </a:r>
            <a:endParaRPr lang="zh-CN" altLang="en-US" sz="2400" dirty="0">
              <a:latin typeface="Garamond" panose="02020404030301010803" pitchFamily="18" charset="0"/>
            </a:endParaRPr>
          </a:p>
        </p:txBody>
      </p:sp>
      <p:sp>
        <p:nvSpPr>
          <p:cNvPr id="34" name="空心弧 33">
            <a:extLst>
              <a:ext uri="{FF2B5EF4-FFF2-40B4-BE49-F238E27FC236}">
                <a16:creationId xmlns:a16="http://schemas.microsoft.com/office/drawing/2014/main" id="{46F7DF77-D73B-4040-9DEA-F467B0DD1AA3}"/>
              </a:ext>
            </a:extLst>
          </p:cNvPr>
          <p:cNvSpPr/>
          <p:nvPr/>
        </p:nvSpPr>
        <p:spPr>
          <a:xfrm>
            <a:off x="2554920" y="4274201"/>
            <a:ext cx="2544178" cy="2544178"/>
          </a:xfrm>
          <a:prstGeom prst="blockArc">
            <a:avLst>
              <a:gd name="adj1" fmla="val 16288794"/>
              <a:gd name="adj2" fmla="val 16470703"/>
              <a:gd name="adj3" fmla="val 4067"/>
            </a:avLst>
          </a:prstGeom>
          <a:solidFill>
            <a:srgbClr val="FFD7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5" name="空心弧 34">
            <a:extLst>
              <a:ext uri="{FF2B5EF4-FFF2-40B4-BE49-F238E27FC236}">
                <a16:creationId xmlns:a16="http://schemas.microsoft.com/office/drawing/2014/main" id="{4AB7D30B-FF71-4443-831D-FB0CDC6C3EDD}"/>
              </a:ext>
            </a:extLst>
          </p:cNvPr>
          <p:cNvSpPr/>
          <p:nvPr/>
        </p:nvSpPr>
        <p:spPr>
          <a:xfrm>
            <a:off x="4823911" y="1692956"/>
            <a:ext cx="2544178" cy="2544178"/>
          </a:xfrm>
          <a:prstGeom prst="blockArc">
            <a:avLst>
              <a:gd name="adj1" fmla="val 16255904"/>
              <a:gd name="adj2" fmla="val 16470703"/>
              <a:gd name="adj3" fmla="val 4067"/>
            </a:avLst>
          </a:prstGeom>
          <a:solidFill>
            <a:srgbClr val="FFD7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DE01F180-4F23-4EA5-BDAB-DA281A811484}"/>
              </a:ext>
            </a:extLst>
          </p:cNvPr>
          <p:cNvSpPr txBox="1"/>
          <p:nvPr/>
        </p:nvSpPr>
        <p:spPr>
          <a:xfrm>
            <a:off x="2044212" y="3916168"/>
            <a:ext cx="15711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800" dirty="0">
                <a:latin typeface="Garamond" panose="02020404030301010803" pitchFamily="18" charset="0"/>
              </a:rPr>
              <a:t>Term: 1</a:t>
            </a:r>
          </a:p>
          <a:p>
            <a:pPr algn="ctr"/>
            <a:r>
              <a:rPr lang="en-US" altLang="zh-CN" dirty="0">
                <a:latin typeface="Garamond" panose="02020404030301010803" pitchFamily="18" charset="0"/>
              </a:rPr>
              <a:t>Vote Count: </a:t>
            </a:r>
            <a:r>
              <a:rPr lang="en-US" altLang="zh-CN" b="1" dirty="0">
                <a:solidFill>
                  <a:srgbClr val="A40A57"/>
                </a:solidFill>
                <a:latin typeface="Garamond" panose="02020404030301010803" pitchFamily="18" charset="0"/>
              </a:rPr>
              <a:t>2</a:t>
            </a:r>
            <a:endParaRPr lang="zh-CN" altLang="en-US" sz="1800" b="1" dirty="0">
              <a:solidFill>
                <a:srgbClr val="A40A57"/>
              </a:solidFill>
              <a:latin typeface="Garamond" panose="02020404030301010803" pitchFamily="18" charset="0"/>
            </a:endParaRP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0099A5E9-2A49-4979-9DE8-DD3B57293494}"/>
              </a:ext>
            </a:extLst>
          </p:cNvPr>
          <p:cNvSpPr txBox="1"/>
          <p:nvPr/>
        </p:nvSpPr>
        <p:spPr>
          <a:xfrm>
            <a:off x="7184736" y="2651832"/>
            <a:ext cx="145021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800" dirty="0">
                <a:latin typeface="Garamond" panose="02020404030301010803" pitchFamily="18" charset="0"/>
              </a:rPr>
              <a:t>Term: </a:t>
            </a:r>
            <a:r>
              <a:rPr lang="en-US" altLang="zh-CN" dirty="0">
                <a:latin typeface="Garamond" panose="02020404030301010803" pitchFamily="18" charset="0"/>
              </a:rPr>
              <a:t>1</a:t>
            </a:r>
          </a:p>
          <a:p>
            <a:pPr algn="ctr"/>
            <a:r>
              <a:rPr lang="en-US" altLang="zh-CN" sz="1800" dirty="0">
                <a:latin typeface="Garamond" panose="02020404030301010803" pitchFamily="18" charset="0"/>
              </a:rPr>
              <a:t>Vote Count: 1</a:t>
            </a: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C9912676-E141-4D26-9EDC-71C6E8181EBF}"/>
              </a:ext>
            </a:extLst>
          </p:cNvPr>
          <p:cNvSpPr txBox="1"/>
          <p:nvPr/>
        </p:nvSpPr>
        <p:spPr>
          <a:xfrm>
            <a:off x="9310391" y="5260191"/>
            <a:ext cx="10541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800" dirty="0">
                <a:latin typeface="Garamond" panose="02020404030301010803" pitchFamily="18" charset="0"/>
              </a:rPr>
              <a:t>Term: </a:t>
            </a:r>
            <a:r>
              <a:rPr lang="en-US" altLang="zh-CN" dirty="0">
                <a:latin typeface="Garamond" panose="02020404030301010803" pitchFamily="18" charset="0"/>
              </a:rPr>
              <a:t>1</a:t>
            </a:r>
          </a:p>
          <a:p>
            <a:pPr algn="ctr"/>
            <a:r>
              <a:rPr lang="en-US" altLang="zh-CN" sz="1800" dirty="0">
                <a:latin typeface="Garamond" panose="02020404030301010803" pitchFamily="18" charset="0"/>
              </a:rPr>
              <a:t>Vote A</a:t>
            </a:r>
          </a:p>
        </p:txBody>
      </p:sp>
      <p:sp>
        <p:nvSpPr>
          <p:cNvPr id="26" name="空心弧 25">
            <a:extLst>
              <a:ext uri="{FF2B5EF4-FFF2-40B4-BE49-F238E27FC236}">
                <a16:creationId xmlns:a16="http://schemas.microsoft.com/office/drawing/2014/main" id="{88431ABA-5CD5-4AFD-A24A-D4969914B196}"/>
              </a:ext>
            </a:extLst>
          </p:cNvPr>
          <p:cNvSpPr/>
          <p:nvPr/>
        </p:nvSpPr>
        <p:spPr>
          <a:xfrm>
            <a:off x="6968307" y="4313843"/>
            <a:ext cx="2544178" cy="2544178"/>
          </a:xfrm>
          <a:prstGeom prst="blockArc">
            <a:avLst>
              <a:gd name="adj1" fmla="val 16630007"/>
              <a:gd name="adj2" fmla="val 16470703"/>
              <a:gd name="adj3" fmla="val 4067"/>
            </a:avLst>
          </a:prstGeom>
          <a:solidFill>
            <a:srgbClr val="FFD7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220E6DA7-D17F-4C18-AA97-DC3F76D556AF}"/>
              </a:ext>
            </a:extLst>
          </p:cNvPr>
          <p:cNvSpPr txBox="1"/>
          <p:nvPr/>
        </p:nvSpPr>
        <p:spPr>
          <a:xfrm>
            <a:off x="525318" y="2128080"/>
            <a:ext cx="4481945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CN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Candidate</a:t>
            </a:r>
            <a:r>
              <a:rPr lang="zh-CN" altLang="en-US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在倒计时结束后，未收到超过半数投票，则退回</a:t>
            </a:r>
            <a:r>
              <a:rPr lang="en-US" altLang="zh-CN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Follower</a:t>
            </a:r>
            <a:r>
              <a:rPr lang="zh-CN" altLang="en-US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重新开始选举。</a:t>
            </a:r>
            <a:endParaRPr lang="en-US" altLang="zh-CN" sz="2200" dirty="0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54200870-63A6-4887-BC90-B5C58A83E13C}"/>
              </a:ext>
            </a:extLst>
          </p:cNvPr>
          <p:cNvCxnSpPr>
            <a:cxnSpLocks/>
          </p:cNvCxnSpPr>
          <p:nvPr/>
        </p:nvCxnSpPr>
        <p:spPr>
          <a:xfrm>
            <a:off x="6865853" y="3744851"/>
            <a:ext cx="637766" cy="1068653"/>
          </a:xfrm>
          <a:prstGeom prst="straightConnector1">
            <a:avLst/>
          </a:prstGeom>
          <a:ln w="38100">
            <a:solidFill>
              <a:srgbClr val="FFD7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箭头连接符 19">
            <a:extLst>
              <a:ext uri="{FF2B5EF4-FFF2-40B4-BE49-F238E27FC236}">
                <a16:creationId xmlns:a16="http://schemas.microsoft.com/office/drawing/2014/main" id="{B52DAF4F-0C8E-44D2-99DC-4FE43C0C346A}"/>
              </a:ext>
            </a:extLst>
          </p:cNvPr>
          <p:cNvCxnSpPr>
            <a:cxnSpLocks/>
            <a:stCxn id="24" idx="3"/>
          </p:cNvCxnSpPr>
          <p:nvPr/>
        </p:nvCxnSpPr>
        <p:spPr>
          <a:xfrm flipH="1">
            <a:off x="4688383" y="3744851"/>
            <a:ext cx="637764" cy="1071228"/>
          </a:xfrm>
          <a:prstGeom prst="straightConnector1">
            <a:avLst/>
          </a:prstGeom>
          <a:ln w="38100">
            <a:solidFill>
              <a:srgbClr val="FFD7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文本框 20">
            <a:extLst>
              <a:ext uri="{FF2B5EF4-FFF2-40B4-BE49-F238E27FC236}">
                <a16:creationId xmlns:a16="http://schemas.microsoft.com/office/drawing/2014/main" id="{5D672CD1-2510-408B-82DD-80569165988B}"/>
              </a:ext>
            </a:extLst>
          </p:cNvPr>
          <p:cNvSpPr txBox="1"/>
          <p:nvPr/>
        </p:nvSpPr>
        <p:spPr>
          <a:xfrm>
            <a:off x="3827009" y="3867802"/>
            <a:ext cx="133927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dirty="0" err="1">
                <a:latin typeface="Garamond" panose="02020404030301010803" pitchFamily="18" charset="0"/>
                <a:ea typeface="微软雅黑" panose="020B0503020204020204" pitchFamily="34" charset="-122"/>
              </a:rPr>
              <a:t>RequestVote</a:t>
            </a:r>
            <a:endParaRPr lang="zh-CN" altLang="en-US" dirty="0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9308022A-04B6-4228-AB05-2A752C50A26B}"/>
              </a:ext>
            </a:extLst>
          </p:cNvPr>
          <p:cNvSpPr txBox="1"/>
          <p:nvPr/>
        </p:nvSpPr>
        <p:spPr>
          <a:xfrm>
            <a:off x="7093640" y="3867802"/>
            <a:ext cx="133927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dirty="0" err="1">
                <a:latin typeface="Garamond" panose="02020404030301010803" pitchFamily="18" charset="0"/>
                <a:ea typeface="微软雅黑" panose="020B0503020204020204" pitchFamily="34" charset="-122"/>
              </a:rPr>
              <a:t>RequestVote</a:t>
            </a:r>
            <a:endParaRPr lang="zh-CN" altLang="en-US" dirty="0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B1AD7D33-7889-4E68-85CD-64942BA101C4}"/>
              </a:ext>
            </a:extLst>
          </p:cNvPr>
          <p:cNvSpPr/>
          <p:nvPr/>
        </p:nvSpPr>
        <p:spPr>
          <a:xfrm>
            <a:off x="9231256" y="3807965"/>
            <a:ext cx="1815435" cy="36933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19050">
            <a:solidFill>
              <a:srgbClr val="002060"/>
            </a:solidFill>
            <a:prstDash val="dash"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CN" dirty="0">
                <a:solidFill>
                  <a:srgbClr val="002060"/>
                </a:solidFill>
                <a:latin typeface="Garamond" panose="02020404030301010803" pitchFamily="18" charset="0"/>
                <a:ea typeface="微软雅黑" panose="020B0503020204020204" pitchFamily="34" charset="-122"/>
              </a:rPr>
              <a:t>C</a:t>
            </a:r>
            <a:r>
              <a:rPr kumimoji="1" lang="zh-CN" altLang="en-US" dirty="0">
                <a:solidFill>
                  <a:srgbClr val="002060"/>
                </a:solidFill>
                <a:latin typeface="Garamond" panose="02020404030301010803" pitchFamily="18" charset="0"/>
                <a:ea typeface="微软雅黑" panose="020B0503020204020204" pitchFamily="34" charset="-122"/>
              </a:rPr>
              <a:t>会给</a:t>
            </a:r>
            <a:r>
              <a:rPr kumimoji="1" lang="en-US" altLang="zh-CN" dirty="0">
                <a:solidFill>
                  <a:srgbClr val="002060"/>
                </a:solidFill>
                <a:latin typeface="Garamond" panose="02020404030301010803" pitchFamily="18" charset="0"/>
                <a:ea typeface="微软雅黑" panose="020B0503020204020204" pitchFamily="34" charset="-122"/>
              </a:rPr>
              <a:t>B</a:t>
            </a:r>
            <a:r>
              <a:rPr kumimoji="1" lang="zh-CN" altLang="en-US" dirty="0">
                <a:solidFill>
                  <a:srgbClr val="002060"/>
                </a:solidFill>
                <a:latin typeface="Garamond" panose="02020404030301010803" pitchFamily="18" charset="0"/>
                <a:ea typeface="微软雅黑" panose="020B0503020204020204" pitchFamily="34" charset="-122"/>
              </a:rPr>
              <a:t>投票吗？</a:t>
            </a:r>
          </a:p>
        </p:txBody>
      </p:sp>
      <p:pic>
        <p:nvPicPr>
          <p:cNvPr id="30" name="图片 29">
            <a:extLst>
              <a:ext uri="{FF2B5EF4-FFF2-40B4-BE49-F238E27FC236}">
                <a16:creationId xmlns:a16="http://schemas.microsoft.com/office/drawing/2014/main" id="{46F319F0-5CC1-47AD-875B-8E38EDA90AB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34953" y="3691800"/>
            <a:ext cx="601662" cy="601662"/>
          </a:xfrm>
          <a:prstGeom prst="rect">
            <a:avLst/>
          </a:prstGeom>
        </p:spPr>
      </p:pic>
      <p:sp>
        <p:nvSpPr>
          <p:cNvPr id="23" name="文本框 22">
            <a:extLst>
              <a:ext uri="{FF2B5EF4-FFF2-40B4-BE49-F238E27FC236}">
                <a16:creationId xmlns:a16="http://schemas.microsoft.com/office/drawing/2014/main" id="{CF88C572-6200-4E92-BE6B-1C96CFE73CAC}"/>
              </a:ext>
            </a:extLst>
          </p:cNvPr>
          <p:cNvSpPr txBox="1"/>
          <p:nvPr/>
        </p:nvSpPr>
        <p:spPr>
          <a:xfrm>
            <a:off x="7551442" y="1348891"/>
            <a:ext cx="4481945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半数以上投票保证了一个任期内，最多只可能选出一个</a:t>
            </a:r>
            <a:r>
              <a:rPr lang="en-US" altLang="zh-CN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Leader</a:t>
            </a:r>
          </a:p>
        </p:txBody>
      </p:sp>
    </p:spTree>
    <p:extLst>
      <p:ext uri="{BB962C8B-B14F-4D97-AF65-F5344CB8AC3E}">
        <p14:creationId xmlns:p14="http://schemas.microsoft.com/office/powerpoint/2010/main" val="28001772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24" grpId="0" animBg="1"/>
      <p:bldP spid="28" grpId="0" animBg="1"/>
      <p:bldP spid="29" grpId="0" animBg="1"/>
      <p:bldP spid="34" grpId="0" animBg="1"/>
      <p:bldP spid="35" grpId="0" animBg="1"/>
      <p:bldP spid="36" grpId="0"/>
      <p:bldP spid="37" grpId="0"/>
      <p:bldP spid="38" grpId="0"/>
      <p:bldP spid="26" grpId="0" animBg="1"/>
      <p:bldP spid="18" grpId="0"/>
      <p:bldP spid="21" grpId="0"/>
      <p:bldP spid="22" grpId="0"/>
      <p:bldP spid="27" grpId="0" animBg="1"/>
      <p:bldP spid="23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领导人心跳包</a:t>
            </a:r>
            <a:endParaRPr lang="en-US" altLang="zh-CN" dirty="0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1E41-7A09-AB4A-A4E1-09765ADA2698}" type="slidenum">
              <a:rPr kumimoji="1" lang="zh-CN" altLang="en-US" smtClean="0"/>
              <a:t>17</a:t>
            </a:fld>
            <a:endParaRPr kumimoji="1" lang="zh-CN" altLang="en-US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AF219D37-2DD9-4998-8BCB-C322C81F8BC5}"/>
              </a:ext>
            </a:extLst>
          </p:cNvPr>
          <p:cNvSpPr txBox="1"/>
          <p:nvPr/>
        </p:nvSpPr>
        <p:spPr>
          <a:xfrm>
            <a:off x="525319" y="1349793"/>
            <a:ext cx="4481945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CN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Leader</a:t>
            </a:r>
            <a:r>
              <a:rPr lang="zh-CN" altLang="en-US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向其他节点定期发送心跳包，声明</a:t>
            </a:r>
            <a:r>
              <a:rPr lang="en-US" altLang="zh-CN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Leader</a:t>
            </a:r>
            <a:r>
              <a:rPr lang="zh-CN" altLang="en-US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节点正常运行</a:t>
            </a:r>
            <a:endParaRPr lang="en-US" altLang="zh-CN" sz="2200" dirty="0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24" name="椭圆 23">
            <a:extLst>
              <a:ext uri="{FF2B5EF4-FFF2-40B4-BE49-F238E27FC236}">
                <a16:creationId xmlns:a16="http://schemas.microsoft.com/office/drawing/2014/main" id="{C682CF77-04B8-4A14-83D7-9188671F2B1F}"/>
              </a:ext>
            </a:extLst>
          </p:cNvPr>
          <p:cNvSpPr/>
          <p:nvPr/>
        </p:nvSpPr>
        <p:spPr>
          <a:xfrm>
            <a:off x="5007264" y="1886262"/>
            <a:ext cx="2177472" cy="2177472"/>
          </a:xfrm>
          <a:prstGeom prst="ellipse">
            <a:avLst/>
          </a:prstGeom>
          <a:solidFill>
            <a:srgbClr val="A40A57"/>
          </a:solidFill>
          <a:ln w="381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latin typeface="Garamond" panose="02020404030301010803" pitchFamily="18" charset="0"/>
              </a:rPr>
              <a:t>Follower</a:t>
            </a:r>
            <a:endParaRPr lang="zh-CN" altLang="en-US" sz="2400" dirty="0">
              <a:latin typeface="Garamond" panose="02020404030301010803" pitchFamily="18" charset="0"/>
            </a:endParaRPr>
          </a:p>
        </p:txBody>
      </p:sp>
      <p:sp>
        <p:nvSpPr>
          <p:cNvPr id="28" name="椭圆 27">
            <a:extLst>
              <a:ext uri="{FF2B5EF4-FFF2-40B4-BE49-F238E27FC236}">
                <a16:creationId xmlns:a16="http://schemas.microsoft.com/office/drawing/2014/main" id="{BDDB689C-0DE5-4CCD-9F11-7F92397487B1}"/>
              </a:ext>
            </a:extLst>
          </p:cNvPr>
          <p:cNvSpPr/>
          <p:nvPr/>
        </p:nvSpPr>
        <p:spPr>
          <a:xfrm>
            <a:off x="7184736" y="4494621"/>
            <a:ext cx="2177472" cy="2177472"/>
          </a:xfrm>
          <a:prstGeom prst="ellipse">
            <a:avLst/>
          </a:prstGeom>
          <a:solidFill>
            <a:srgbClr val="A40A5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latin typeface="Garamond" panose="02020404030301010803" pitchFamily="18" charset="0"/>
              </a:rPr>
              <a:t>Follower</a:t>
            </a:r>
            <a:endParaRPr lang="zh-CN" altLang="en-US" sz="2400" dirty="0">
              <a:latin typeface="Garamond" panose="02020404030301010803" pitchFamily="18" charset="0"/>
            </a:endParaRPr>
          </a:p>
        </p:txBody>
      </p:sp>
      <p:sp>
        <p:nvSpPr>
          <p:cNvPr id="29" name="椭圆 28">
            <a:extLst>
              <a:ext uri="{FF2B5EF4-FFF2-40B4-BE49-F238E27FC236}">
                <a16:creationId xmlns:a16="http://schemas.microsoft.com/office/drawing/2014/main" id="{CE2150AF-0E70-490D-8FCF-8223F1D508DD}"/>
              </a:ext>
            </a:extLst>
          </p:cNvPr>
          <p:cNvSpPr/>
          <p:nvPr/>
        </p:nvSpPr>
        <p:spPr>
          <a:xfrm>
            <a:off x="2829792" y="4497196"/>
            <a:ext cx="2177472" cy="2177472"/>
          </a:xfrm>
          <a:prstGeom prst="ellipse">
            <a:avLst/>
          </a:prstGeom>
          <a:solidFill>
            <a:srgbClr val="A40A57"/>
          </a:solidFill>
          <a:ln w="38100">
            <a:solidFill>
              <a:srgbClr val="0000FF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latin typeface="Garamond" panose="02020404030301010803" pitchFamily="18" charset="0"/>
              </a:rPr>
              <a:t>Leader</a:t>
            </a:r>
            <a:endParaRPr lang="zh-CN" altLang="en-US" sz="2400" dirty="0">
              <a:latin typeface="Garamond" panose="02020404030301010803" pitchFamily="18" charset="0"/>
            </a:endParaRP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DE01F180-4F23-4EA5-BDAB-DA281A811484}"/>
              </a:ext>
            </a:extLst>
          </p:cNvPr>
          <p:cNvSpPr txBox="1"/>
          <p:nvPr/>
        </p:nvSpPr>
        <p:spPr>
          <a:xfrm>
            <a:off x="1980711" y="4353485"/>
            <a:ext cx="15711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800" dirty="0">
                <a:latin typeface="Garamond" panose="02020404030301010803" pitchFamily="18" charset="0"/>
              </a:rPr>
              <a:t>Term: 1</a:t>
            </a: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0099A5E9-2A49-4979-9DE8-DD3B57293494}"/>
              </a:ext>
            </a:extLst>
          </p:cNvPr>
          <p:cNvSpPr txBox="1"/>
          <p:nvPr/>
        </p:nvSpPr>
        <p:spPr>
          <a:xfrm>
            <a:off x="7184736" y="2790332"/>
            <a:ext cx="145021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800" dirty="0">
                <a:latin typeface="Garamond" panose="02020404030301010803" pitchFamily="18" charset="0"/>
              </a:rPr>
              <a:t>Term: </a:t>
            </a:r>
            <a:r>
              <a:rPr lang="en-US" altLang="zh-CN" dirty="0">
                <a:latin typeface="Garamond" panose="02020404030301010803" pitchFamily="18" charset="0"/>
              </a:rPr>
              <a:t>1</a:t>
            </a:r>
          </a:p>
          <a:p>
            <a:pPr algn="ctr"/>
            <a:r>
              <a:rPr lang="en-US" altLang="zh-CN" dirty="0">
                <a:latin typeface="Garamond" panose="02020404030301010803" pitchFamily="18" charset="0"/>
              </a:rPr>
              <a:t>Leader: A</a:t>
            </a: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C9912676-E141-4D26-9EDC-71C6E8181EBF}"/>
              </a:ext>
            </a:extLst>
          </p:cNvPr>
          <p:cNvSpPr txBox="1"/>
          <p:nvPr/>
        </p:nvSpPr>
        <p:spPr>
          <a:xfrm>
            <a:off x="9528320" y="5231369"/>
            <a:ext cx="125489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800" dirty="0">
                <a:latin typeface="Garamond" panose="02020404030301010803" pitchFamily="18" charset="0"/>
              </a:rPr>
              <a:t>Term: </a:t>
            </a:r>
            <a:r>
              <a:rPr lang="en-US" altLang="zh-CN" dirty="0">
                <a:latin typeface="Garamond" panose="02020404030301010803" pitchFamily="18" charset="0"/>
              </a:rPr>
              <a:t>1</a:t>
            </a:r>
          </a:p>
          <a:p>
            <a:pPr algn="ctr"/>
            <a:r>
              <a:rPr lang="en-US" altLang="zh-CN" dirty="0">
                <a:latin typeface="Garamond" panose="02020404030301010803" pitchFamily="18" charset="0"/>
              </a:rPr>
              <a:t>Leader: A</a:t>
            </a:r>
          </a:p>
        </p:txBody>
      </p:sp>
      <p:sp>
        <p:nvSpPr>
          <p:cNvPr id="26" name="空心弧 25">
            <a:extLst>
              <a:ext uri="{FF2B5EF4-FFF2-40B4-BE49-F238E27FC236}">
                <a16:creationId xmlns:a16="http://schemas.microsoft.com/office/drawing/2014/main" id="{88431ABA-5CD5-4AFD-A24A-D4969914B196}"/>
              </a:ext>
            </a:extLst>
          </p:cNvPr>
          <p:cNvSpPr/>
          <p:nvPr/>
        </p:nvSpPr>
        <p:spPr>
          <a:xfrm>
            <a:off x="7005251" y="4313843"/>
            <a:ext cx="2544178" cy="2544178"/>
          </a:xfrm>
          <a:prstGeom prst="blockArc">
            <a:avLst>
              <a:gd name="adj1" fmla="val 16630007"/>
              <a:gd name="adj2" fmla="val 16470703"/>
              <a:gd name="adj3" fmla="val 4067"/>
            </a:avLst>
          </a:prstGeom>
          <a:solidFill>
            <a:srgbClr val="FFD7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220E6DA7-D17F-4C18-AA97-DC3F76D556AF}"/>
              </a:ext>
            </a:extLst>
          </p:cNvPr>
          <p:cNvSpPr txBox="1"/>
          <p:nvPr/>
        </p:nvSpPr>
        <p:spPr>
          <a:xfrm>
            <a:off x="514649" y="3012932"/>
            <a:ext cx="4194464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CN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Candidate</a:t>
            </a:r>
            <a:r>
              <a:rPr lang="zh-CN" altLang="en-US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或</a:t>
            </a:r>
            <a:r>
              <a:rPr lang="en-US" altLang="zh-CN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Follower</a:t>
            </a:r>
            <a:r>
              <a:rPr lang="zh-CN" altLang="en-US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收到心跳包后，退回</a:t>
            </a:r>
            <a:r>
              <a:rPr lang="en-US" altLang="zh-CN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Follower</a:t>
            </a:r>
            <a:r>
              <a:rPr lang="zh-CN" altLang="en-US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状态、重置选举计时器</a:t>
            </a:r>
            <a:endParaRPr lang="en-US" altLang="zh-CN" sz="2200" dirty="0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23" name="空心弧 22">
            <a:extLst>
              <a:ext uri="{FF2B5EF4-FFF2-40B4-BE49-F238E27FC236}">
                <a16:creationId xmlns:a16="http://schemas.microsoft.com/office/drawing/2014/main" id="{1F481557-2FC4-451A-94F3-7DD4693C1194}"/>
              </a:ext>
            </a:extLst>
          </p:cNvPr>
          <p:cNvSpPr/>
          <p:nvPr/>
        </p:nvSpPr>
        <p:spPr>
          <a:xfrm>
            <a:off x="4823911" y="1692956"/>
            <a:ext cx="2544178" cy="2544178"/>
          </a:xfrm>
          <a:prstGeom prst="blockArc">
            <a:avLst>
              <a:gd name="adj1" fmla="val 2462446"/>
              <a:gd name="adj2" fmla="val 16470703"/>
              <a:gd name="adj3" fmla="val 4067"/>
            </a:avLst>
          </a:prstGeom>
          <a:solidFill>
            <a:srgbClr val="FFD7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BE4206FD-2542-48CB-9208-A697CF2AA45C}"/>
              </a:ext>
            </a:extLst>
          </p:cNvPr>
          <p:cNvCxnSpPr/>
          <p:nvPr/>
        </p:nvCxnSpPr>
        <p:spPr>
          <a:xfrm flipV="1">
            <a:off x="4688381" y="3744851"/>
            <a:ext cx="637766" cy="1071228"/>
          </a:xfrm>
          <a:prstGeom prst="straightConnector1">
            <a:avLst/>
          </a:prstGeom>
          <a:ln w="381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箭头连接符 30">
            <a:extLst>
              <a:ext uri="{FF2B5EF4-FFF2-40B4-BE49-F238E27FC236}">
                <a16:creationId xmlns:a16="http://schemas.microsoft.com/office/drawing/2014/main" id="{99AC015B-4F13-4D00-9738-8E6BF89CBFF2}"/>
              </a:ext>
            </a:extLst>
          </p:cNvPr>
          <p:cNvCxnSpPr/>
          <p:nvPr/>
        </p:nvCxnSpPr>
        <p:spPr>
          <a:xfrm flipV="1">
            <a:off x="5007264" y="5583357"/>
            <a:ext cx="2177472" cy="2575"/>
          </a:xfrm>
          <a:prstGeom prst="straightConnector1">
            <a:avLst/>
          </a:prstGeom>
          <a:ln w="381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文本框 31">
            <a:extLst>
              <a:ext uri="{FF2B5EF4-FFF2-40B4-BE49-F238E27FC236}">
                <a16:creationId xmlns:a16="http://schemas.microsoft.com/office/drawing/2014/main" id="{95B05789-0E19-4514-8BA5-264C75054548}"/>
              </a:ext>
            </a:extLst>
          </p:cNvPr>
          <p:cNvSpPr txBox="1"/>
          <p:nvPr/>
        </p:nvSpPr>
        <p:spPr>
          <a:xfrm>
            <a:off x="3374839" y="4010066"/>
            <a:ext cx="158574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dirty="0" err="1">
                <a:latin typeface="Garamond" panose="02020404030301010803" pitchFamily="18" charset="0"/>
                <a:ea typeface="微软雅黑" panose="020B0503020204020204" pitchFamily="34" charset="-122"/>
              </a:rPr>
              <a:t>AppendEntries</a:t>
            </a:r>
            <a:endParaRPr lang="zh-CN" altLang="en-US" dirty="0"/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1B1CA1BA-6C36-41AD-AD47-32606F8AF9F3}"/>
              </a:ext>
            </a:extLst>
          </p:cNvPr>
          <p:cNvSpPr txBox="1"/>
          <p:nvPr/>
        </p:nvSpPr>
        <p:spPr>
          <a:xfrm>
            <a:off x="5182915" y="5165044"/>
            <a:ext cx="16466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dirty="0" err="1">
                <a:latin typeface="Garamond" panose="02020404030301010803" pitchFamily="18" charset="0"/>
                <a:ea typeface="微软雅黑" panose="020B0503020204020204" pitchFamily="34" charset="-122"/>
              </a:rPr>
              <a:t>AppendEntries</a:t>
            </a:r>
            <a:endParaRPr lang="zh-CN" altLang="en-US" dirty="0"/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1C2D2A31-BAB3-46F1-849C-36155F83C426}"/>
              </a:ext>
            </a:extLst>
          </p:cNvPr>
          <p:cNvSpPr txBox="1"/>
          <p:nvPr/>
        </p:nvSpPr>
        <p:spPr>
          <a:xfrm>
            <a:off x="525319" y="2222874"/>
            <a:ext cx="4481945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心跳包格式为空的</a:t>
            </a:r>
            <a:r>
              <a:rPr lang="en-US" altLang="zh-CN" sz="2200" dirty="0" err="1">
                <a:latin typeface="Garamond" panose="02020404030301010803" pitchFamily="18" charset="0"/>
                <a:ea typeface="微软雅黑" panose="020B0503020204020204" pitchFamily="34" charset="-122"/>
              </a:rPr>
              <a:t>AppendEntries</a:t>
            </a:r>
            <a:r>
              <a:rPr lang="zh-CN" altLang="en-US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消息</a:t>
            </a:r>
            <a:endParaRPr lang="en-US" altLang="zh-CN" sz="2200" dirty="0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562410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24" grpId="0" animBg="1"/>
      <p:bldP spid="28" grpId="0" animBg="1"/>
      <p:bldP spid="29" grpId="0" animBg="1"/>
      <p:bldP spid="36" grpId="0"/>
      <p:bldP spid="37" grpId="0"/>
      <p:bldP spid="38" grpId="0"/>
      <p:bldP spid="26" grpId="0" animBg="1"/>
      <p:bldP spid="18" grpId="0"/>
      <p:bldP spid="23" grpId="0" animBg="1"/>
      <p:bldP spid="32" grpId="0"/>
      <p:bldP spid="33" grpId="0"/>
      <p:bldP spid="39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领导人心跳包</a:t>
            </a:r>
            <a:endParaRPr lang="en-US" altLang="zh-CN" dirty="0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1E41-7A09-AB4A-A4E1-09765ADA2698}" type="slidenum">
              <a:rPr kumimoji="1" lang="zh-CN" altLang="en-US" smtClean="0"/>
              <a:t>18</a:t>
            </a:fld>
            <a:endParaRPr kumimoji="1" lang="zh-CN" altLang="en-US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AF219D37-2DD9-4998-8BCB-C322C81F8BC5}"/>
              </a:ext>
            </a:extLst>
          </p:cNvPr>
          <p:cNvSpPr txBox="1"/>
          <p:nvPr/>
        </p:nvSpPr>
        <p:spPr>
          <a:xfrm>
            <a:off x="525319" y="1349793"/>
            <a:ext cx="4481945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只有当</a:t>
            </a:r>
            <a:r>
              <a:rPr lang="en-US" altLang="zh-CN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Leader</a:t>
            </a:r>
            <a:r>
              <a:rPr lang="zh-CN" altLang="en-US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自己崩溃后，才会重新进入</a:t>
            </a:r>
            <a:r>
              <a:rPr lang="en-US" altLang="zh-CN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Leader</a:t>
            </a:r>
            <a:r>
              <a:rPr lang="zh-CN" altLang="en-US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选举流程</a:t>
            </a:r>
            <a:endParaRPr lang="en-US" altLang="zh-CN" sz="2200" dirty="0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24" name="椭圆 23">
            <a:extLst>
              <a:ext uri="{FF2B5EF4-FFF2-40B4-BE49-F238E27FC236}">
                <a16:creationId xmlns:a16="http://schemas.microsoft.com/office/drawing/2014/main" id="{C682CF77-04B8-4A14-83D7-9188671F2B1F}"/>
              </a:ext>
            </a:extLst>
          </p:cNvPr>
          <p:cNvSpPr/>
          <p:nvPr/>
        </p:nvSpPr>
        <p:spPr>
          <a:xfrm>
            <a:off x="5007264" y="1886262"/>
            <a:ext cx="2177472" cy="2177472"/>
          </a:xfrm>
          <a:prstGeom prst="ellipse">
            <a:avLst/>
          </a:prstGeom>
          <a:solidFill>
            <a:srgbClr val="A40A57"/>
          </a:solidFill>
          <a:ln w="38100">
            <a:solidFill>
              <a:srgbClr val="0000FF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latin typeface="Garamond" panose="02020404030301010803" pitchFamily="18" charset="0"/>
              </a:rPr>
              <a:t>Candidate</a:t>
            </a:r>
            <a:endParaRPr lang="zh-CN" altLang="en-US" sz="2400" dirty="0">
              <a:latin typeface="Garamond" panose="02020404030301010803" pitchFamily="18" charset="0"/>
            </a:endParaRPr>
          </a:p>
        </p:txBody>
      </p:sp>
      <p:sp>
        <p:nvSpPr>
          <p:cNvPr id="28" name="椭圆 27">
            <a:extLst>
              <a:ext uri="{FF2B5EF4-FFF2-40B4-BE49-F238E27FC236}">
                <a16:creationId xmlns:a16="http://schemas.microsoft.com/office/drawing/2014/main" id="{BDDB689C-0DE5-4CCD-9F11-7F92397487B1}"/>
              </a:ext>
            </a:extLst>
          </p:cNvPr>
          <p:cNvSpPr/>
          <p:nvPr/>
        </p:nvSpPr>
        <p:spPr>
          <a:xfrm>
            <a:off x="7184736" y="4494621"/>
            <a:ext cx="2177472" cy="2177472"/>
          </a:xfrm>
          <a:prstGeom prst="ellipse">
            <a:avLst/>
          </a:prstGeom>
          <a:solidFill>
            <a:srgbClr val="A40A5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latin typeface="Garamond" panose="02020404030301010803" pitchFamily="18" charset="0"/>
              </a:rPr>
              <a:t>Follower</a:t>
            </a:r>
            <a:endParaRPr lang="zh-CN" altLang="en-US" sz="2400" dirty="0">
              <a:latin typeface="Garamond" panose="02020404030301010803" pitchFamily="18" charset="0"/>
            </a:endParaRPr>
          </a:p>
        </p:txBody>
      </p:sp>
      <p:sp>
        <p:nvSpPr>
          <p:cNvPr id="29" name="椭圆 28">
            <a:extLst>
              <a:ext uri="{FF2B5EF4-FFF2-40B4-BE49-F238E27FC236}">
                <a16:creationId xmlns:a16="http://schemas.microsoft.com/office/drawing/2014/main" id="{CE2150AF-0E70-490D-8FCF-8223F1D508DD}"/>
              </a:ext>
            </a:extLst>
          </p:cNvPr>
          <p:cNvSpPr/>
          <p:nvPr/>
        </p:nvSpPr>
        <p:spPr>
          <a:xfrm>
            <a:off x="2829792" y="4497196"/>
            <a:ext cx="2177472" cy="21774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38100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latin typeface="Garamond" panose="02020404030301010803" pitchFamily="18" charset="0"/>
              </a:rPr>
              <a:t>Crash</a:t>
            </a:r>
            <a:endParaRPr lang="zh-CN" altLang="en-US" sz="2400" dirty="0">
              <a:solidFill>
                <a:schemeClr val="tx1"/>
              </a:solidFill>
              <a:latin typeface="Garamond" panose="02020404030301010803" pitchFamily="18" charset="0"/>
            </a:endParaRP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DE01F180-4F23-4EA5-BDAB-DA281A811484}"/>
              </a:ext>
            </a:extLst>
          </p:cNvPr>
          <p:cNvSpPr txBox="1"/>
          <p:nvPr/>
        </p:nvSpPr>
        <p:spPr>
          <a:xfrm>
            <a:off x="1980711" y="4353485"/>
            <a:ext cx="15711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800" dirty="0">
                <a:latin typeface="Garamond" panose="02020404030301010803" pitchFamily="18" charset="0"/>
              </a:rPr>
              <a:t>Term: 1</a:t>
            </a: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0099A5E9-2A49-4979-9DE8-DD3B57293494}"/>
              </a:ext>
            </a:extLst>
          </p:cNvPr>
          <p:cNvSpPr txBox="1"/>
          <p:nvPr/>
        </p:nvSpPr>
        <p:spPr>
          <a:xfrm>
            <a:off x="7184736" y="2790332"/>
            <a:ext cx="145021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800" dirty="0">
                <a:latin typeface="Garamond" panose="02020404030301010803" pitchFamily="18" charset="0"/>
              </a:rPr>
              <a:t>Term: </a:t>
            </a:r>
            <a:r>
              <a:rPr lang="en-US" altLang="zh-CN" dirty="0">
                <a:latin typeface="Garamond" panose="02020404030301010803" pitchFamily="18" charset="0"/>
              </a:rPr>
              <a:t>1</a:t>
            </a:r>
          </a:p>
          <a:p>
            <a:pPr algn="ctr"/>
            <a:r>
              <a:rPr lang="en-US" altLang="zh-CN" dirty="0">
                <a:latin typeface="Garamond" panose="02020404030301010803" pitchFamily="18" charset="0"/>
              </a:rPr>
              <a:t>Leader: A</a:t>
            </a: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C9912676-E141-4D26-9EDC-71C6E8181EBF}"/>
              </a:ext>
            </a:extLst>
          </p:cNvPr>
          <p:cNvSpPr txBox="1"/>
          <p:nvPr/>
        </p:nvSpPr>
        <p:spPr>
          <a:xfrm>
            <a:off x="9528320" y="5231369"/>
            <a:ext cx="125489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800" dirty="0">
                <a:latin typeface="Garamond" panose="02020404030301010803" pitchFamily="18" charset="0"/>
              </a:rPr>
              <a:t>Term: </a:t>
            </a:r>
            <a:r>
              <a:rPr lang="en-US" altLang="zh-CN" dirty="0">
                <a:latin typeface="Garamond" panose="02020404030301010803" pitchFamily="18" charset="0"/>
              </a:rPr>
              <a:t>1</a:t>
            </a:r>
          </a:p>
          <a:p>
            <a:pPr algn="ctr"/>
            <a:r>
              <a:rPr lang="en-US" altLang="zh-CN" dirty="0">
                <a:latin typeface="Garamond" panose="02020404030301010803" pitchFamily="18" charset="0"/>
              </a:rPr>
              <a:t>Leader: A</a:t>
            </a:r>
          </a:p>
        </p:txBody>
      </p:sp>
      <p:sp>
        <p:nvSpPr>
          <p:cNvPr id="26" name="空心弧 25">
            <a:extLst>
              <a:ext uri="{FF2B5EF4-FFF2-40B4-BE49-F238E27FC236}">
                <a16:creationId xmlns:a16="http://schemas.microsoft.com/office/drawing/2014/main" id="{88431ABA-5CD5-4AFD-A24A-D4969914B196}"/>
              </a:ext>
            </a:extLst>
          </p:cNvPr>
          <p:cNvSpPr/>
          <p:nvPr/>
        </p:nvSpPr>
        <p:spPr>
          <a:xfrm>
            <a:off x="7005251" y="4313843"/>
            <a:ext cx="2544178" cy="2544178"/>
          </a:xfrm>
          <a:prstGeom prst="blockArc">
            <a:avLst>
              <a:gd name="adj1" fmla="val 16630007"/>
              <a:gd name="adj2" fmla="val 16470703"/>
              <a:gd name="adj3" fmla="val 4067"/>
            </a:avLst>
          </a:prstGeom>
          <a:solidFill>
            <a:srgbClr val="FFD7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3" name="空心弧 22">
            <a:extLst>
              <a:ext uri="{FF2B5EF4-FFF2-40B4-BE49-F238E27FC236}">
                <a16:creationId xmlns:a16="http://schemas.microsoft.com/office/drawing/2014/main" id="{1F481557-2FC4-451A-94F3-7DD4693C1194}"/>
              </a:ext>
            </a:extLst>
          </p:cNvPr>
          <p:cNvSpPr/>
          <p:nvPr/>
        </p:nvSpPr>
        <p:spPr>
          <a:xfrm>
            <a:off x="4823911" y="1692956"/>
            <a:ext cx="2544178" cy="2544178"/>
          </a:xfrm>
          <a:prstGeom prst="blockArc">
            <a:avLst>
              <a:gd name="adj1" fmla="val 15835194"/>
              <a:gd name="adj2" fmla="val 16470703"/>
              <a:gd name="adj3" fmla="val 4067"/>
            </a:avLst>
          </a:prstGeom>
          <a:solidFill>
            <a:srgbClr val="FFD7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1C2D2A31-BAB3-46F1-849C-36155F83C426}"/>
              </a:ext>
            </a:extLst>
          </p:cNvPr>
          <p:cNvSpPr txBox="1"/>
          <p:nvPr/>
        </p:nvSpPr>
        <p:spPr>
          <a:xfrm>
            <a:off x="525319" y="2222874"/>
            <a:ext cx="4481945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CN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Follower</a:t>
            </a:r>
            <a:r>
              <a:rPr lang="zh-CN" altLang="en-US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收不到心跳包，在选举倒计时结束后，成为</a:t>
            </a:r>
            <a:r>
              <a:rPr lang="en-US" altLang="zh-CN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Candidate</a:t>
            </a:r>
            <a:r>
              <a:rPr lang="zh-CN" altLang="en-US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状态</a:t>
            </a:r>
            <a:endParaRPr lang="en-US" altLang="zh-CN" sz="2200" dirty="0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514436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24" grpId="0" animBg="1"/>
      <p:bldP spid="28" grpId="0" animBg="1"/>
      <p:bldP spid="29" grpId="0" animBg="1"/>
      <p:bldP spid="36" grpId="0"/>
      <p:bldP spid="37" grpId="0"/>
      <p:bldP spid="38" grpId="0"/>
      <p:bldP spid="26" grpId="0" animBg="1"/>
      <p:bldP spid="23" grpId="0" animBg="1"/>
      <p:bldP spid="39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日志复制（</a:t>
            </a:r>
            <a:r>
              <a:rPr lang="en-US" altLang="zh-CN" dirty="0">
                <a:latin typeface="Garamond" panose="02020404030301010803" pitchFamily="18" charset="0"/>
                <a:ea typeface="微软雅黑" panose="020B0503020204020204" pitchFamily="34" charset="-122"/>
              </a:rPr>
              <a:t>Log Replication</a:t>
            </a:r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）</a:t>
            </a:r>
            <a:endParaRPr lang="en-US" altLang="zh-CN" dirty="0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1E41-7A09-AB4A-A4E1-09765ADA2698}" type="slidenum">
              <a:rPr kumimoji="1" lang="zh-CN" altLang="en-US" smtClean="0"/>
              <a:t>19</a:t>
            </a:fld>
            <a:endParaRPr kumimoji="1" lang="zh-CN" altLang="en-US" dirty="0"/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512BE87C-5429-4354-9525-19DDE97EAC61}"/>
              </a:ext>
            </a:extLst>
          </p:cNvPr>
          <p:cNvSpPr/>
          <p:nvPr/>
        </p:nvSpPr>
        <p:spPr>
          <a:xfrm>
            <a:off x="5007264" y="1886262"/>
            <a:ext cx="2177472" cy="2177472"/>
          </a:xfrm>
          <a:prstGeom prst="ellipse">
            <a:avLst/>
          </a:prstGeom>
          <a:solidFill>
            <a:srgbClr val="A40A5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latin typeface="Garamond" panose="02020404030301010803" pitchFamily="18" charset="0"/>
              </a:rPr>
              <a:t>Follower</a:t>
            </a:r>
            <a:endParaRPr lang="zh-CN" altLang="en-US" sz="2400" dirty="0">
              <a:latin typeface="Garamond" panose="02020404030301010803" pitchFamily="18" charset="0"/>
            </a:endParaRPr>
          </a:p>
        </p:txBody>
      </p:sp>
      <p:sp>
        <p:nvSpPr>
          <p:cNvPr id="19" name="椭圆 18">
            <a:extLst>
              <a:ext uri="{FF2B5EF4-FFF2-40B4-BE49-F238E27FC236}">
                <a16:creationId xmlns:a16="http://schemas.microsoft.com/office/drawing/2014/main" id="{12B19AD0-0DC2-46D5-AD68-5B0880B5FA94}"/>
              </a:ext>
            </a:extLst>
          </p:cNvPr>
          <p:cNvSpPr/>
          <p:nvPr/>
        </p:nvSpPr>
        <p:spPr>
          <a:xfrm>
            <a:off x="7184736" y="4494621"/>
            <a:ext cx="2177472" cy="2177472"/>
          </a:xfrm>
          <a:prstGeom prst="ellipse">
            <a:avLst/>
          </a:prstGeom>
          <a:solidFill>
            <a:srgbClr val="A40A5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latin typeface="Garamond" panose="02020404030301010803" pitchFamily="18" charset="0"/>
              </a:rPr>
              <a:t>Follower</a:t>
            </a:r>
            <a:endParaRPr lang="zh-CN" altLang="en-US" sz="2400" dirty="0">
              <a:latin typeface="Garamond" panose="02020404030301010803" pitchFamily="18" charset="0"/>
            </a:endParaRPr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EC5246C5-2737-490A-B4C3-1BEC2D6403EE}"/>
              </a:ext>
            </a:extLst>
          </p:cNvPr>
          <p:cNvSpPr/>
          <p:nvPr/>
        </p:nvSpPr>
        <p:spPr>
          <a:xfrm>
            <a:off x="2829792" y="4497196"/>
            <a:ext cx="2177472" cy="2177472"/>
          </a:xfrm>
          <a:prstGeom prst="ellipse">
            <a:avLst/>
          </a:prstGeom>
          <a:solidFill>
            <a:srgbClr val="A40A57"/>
          </a:solidFill>
          <a:ln w="38100">
            <a:solidFill>
              <a:srgbClr val="0000FF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latin typeface="Garamond" panose="02020404030301010803" pitchFamily="18" charset="0"/>
              </a:rPr>
              <a:t>Leader</a:t>
            </a:r>
            <a:endParaRPr lang="zh-CN" altLang="en-US" sz="2400" dirty="0">
              <a:latin typeface="Garamond" panose="02020404030301010803" pitchFamily="18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AF219D37-2DD9-4998-8BCB-C322C81F8BC5}"/>
              </a:ext>
            </a:extLst>
          </p:cNvPr>
          <p:cNvSpPr txBox="1"/>
          <p:nvPr/>
        </p:nvSpPr>
        <p:spPr>
          <a:xfrm>
            <a:off x="525319" y="2042516"/>
            <a:ext cx="4481945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客户端</a:t>
            </a:r>
            <a:r>
              <a:rPr lang="zh-CN" altLang="en-US" sz="2200" b="1" dirty="0">
                <a:solidFill>
                  <a:srgbClr val="A40A57"/>
                </a:solidFill>
                <a:latin typeface="Garamond" panose="02020404030301010803" pitchFamily="18" charset="0"/>
                <a:ea typeface="微软雅黑" panose="020B0503020204020204" pitchFamily="34" charset="-122"/>
              </a:rPr>
              <a:t>只</a:t>
            </a:r>
            <a:r>
              <a:rPr lang="zh-CN" altLang="en-US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和</a:t>
            </a:r>
            <a:r>
              <a:rPr lang="en-US" altLang="zh-CN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Leader</a:t>
            </a:r>
            <a:r>
              <a:rPr lang="zh-CN" altLang="en-US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通信</a:t>
            </a:r>
            <a:endParaRPr lang="en-US" altLang="zh-CN" sz="2200" dirty="0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20" name="椭圆 19">
            <a:extLst>
              <a:ext uri="{FF2B5EF4-FFF2-40B4-BE49-F238E27FC236}">
                <a16:creationId xmlns:a16="http://schemas.microsoft.com/office/drawing/2014/main" id="{10139178-C8F6-4542-9CE2-83C772056915}"/>
              </a:ext>
            </a:extLst>
          </p:cNvPr>
          <p:cNvSpPr/>
          <p:nvPr/>
        </p:nvSpPr>
        <p:spPr>
          <a:xfrm>
            <a:off x="652320" y="5052266"/>
            <a:ext cx="1062182" cy="1062182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latin typeface="Garamond" panose="02020404030301010803" pitchFamily="18" charset="0"/>
              </a:rPr>
              <a:t>5</a:t>
            </a:r>
            <a:endParaRPr lang="zh-CN" altLang="en-US" sz="2400" dirty="0">
              <a:latin typeface="Garamond" panose="02020404030301010803" pitchFamily="18" charset="0"/>
            </a:endParaRPr>
          </a:p>
        </p:txBody>
      </p:sp>
      <p:cxnSp>
        <p:nvCxnSpPr>
          <p:cNvPr id="5" name="直接箭头连接符 4">
            <a:extLst>
              <a:ext uri="{FF2B5EF4-FFF2-40B4-BE49-F238E27FC236}">
                <a16:creationId xmlns:a16="http://schemas.microsoft.com/office/drawing/2014/main" id="{27F9CE9D-3771-47E6-B5D8-63B64DBE8F52}"/>
              </a:ext>
            </a:extLst>
          </p:cNvPr>
          <p:cNvCxnSpPr>
            <a:stCxn id="20" idx="6"/>
            <a:endCxn id="8" idx="2"/>
          </p:cNvCxnSpPr>
          <p:nvPr/>
        </p:nvCxnSpPr>
        <p:spPr>
          <a:xfrm>
            <a:off x="1714502" y="5583357"/>
            <a:ext cx="1115290" cy="2575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框 9">
            <a:extLst>
              <a:ext uri="{FF2B5EF4-FFF2-40B4-BE49-F238E27FC236}">
                <a16:creationId xmlns:a16="http://schemas.microsoft.com/office/drawing/2014/main" id="{997139DA-0BAE-45D1-996F-D23FCE66C20C}"/>
              </a:ext>
            </a:extLst>
          </p:cNvPr>
          <p:cNvSpPr txBox="1"/>
          <p:nvPr/>
        </p:nvSpPr>
        <p:spPr>
          <a:xfrm>
            <a:off x="4936011" y="6106654"/>
            <a:ext cx="1186543" cy="369332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Garamond" panose="02020404030301010803" pitchFamily="18" charset="0"/>
              </a:rPr>
              <a:t>SET X = 5</a:t>
            </a:r>
            <a:endParaRPr lang="zh-CN" altLang="en-US" dirty="0">
              <a:latin typeface="Garamond" panose="02020404030301010803" pitchFamily="18" charset="0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3F778AB8-7749-464E-9A4D-E71B4571DEF5}"/>
              </a:ext>
            </a:extLst>
          </p:cNvPr>
          <p:cNvSpPr txBox="1"/>
          <p:nvPr/>
        </p:nvSpPr>
        <p:spPr>
          <a:xfrm>
            <a:off x="525318" y="2598748"/>
            <a:ext cx="4481945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客户端操作保存在</a:t>
            </a:r>
            <a:r>
              <a:rPr lang="en-US" altLang="zh-CN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Leader</a:t>
            </a:r>
            <a:r>
              <a:rPr lang="zh-CN" altLang="en-US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节点的日志队列中</a:t>
            </a:r>
            <a:endParaRPr lang="en-US" altLang="zh-CN" sz="2200" dirty="0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2A1E9924-32D6-46D7-B544-386F1B29512C}"/>
              </a:ext>
            </a:extLst>
          </p:cNvPr>
          <p:cNvSpPr txBox="1"/>
          <p:nvPr/>
        </p:nvSpPr>
        <p:spPr>
          <a:xfrm>
            <a:off x="525319" y="1486284"/>
            <a:ext cx="8220812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CN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Leader</a:t>
            </a:r>
            <a:r>
              <a:rPr lang="zh-CN" altLang="en-US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负责系统全部日志处理，</a:t>
            </a:r>
            <a:r>
              <a:rPr lang="en-US" altLang="zh-CN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Follower</a:t>
            </a:r>
            <a:r>
              <a:rPr lang="zh-CN" altLang="en-US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完全跟随</a:t>
            </a:r>
            <a:r>
              <a:rPr lang="en-US" altLang="zh-CN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Leader</a:t>
            </a:r>
            <a:r>
              <a:rPr lang="zh-CN" altLang="en-US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的动作。</a:t>
            </a:r>
            <a:endParaRPr lang="en-US" altLang="zh-CN" sz="2200" dirty="0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447060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9" grpId="0" animBg="1"/>
      <p:bldP spid="8" grpId="0" animBg="1"/>
      <p:bldP spid="9" grpId="0"/>
      <p:bldP spid="20" grpId="0" animBg="1"/>
      <p:bldP spid="10" grpId="0" animBg="1"/>
      <p:bldP spid="21" grpId="0"/>
      <p:bldP spid="13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日志复制（</a:t>
            </a:r>
            <a:r>
              <a:rPr lang="en-US" altLang="zh-CN" dirty="0">
                <a:latin typeface="Garamond" panose="02020404030301010803" pitchFamily="18" charset="0"/>
                <a:ea typeface="微软雅黑" panose="020B0503020204020204" pitchFamily="34" charset="-122"/>
              </a:rPr>
              <a:t>Log Replication</a:t>
            </a:r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）</a:t>
            </a:r>
            <a:endParaRPr lang="en-US" altLang="zh-CN" dirty="0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1E41-7A09-AB4A-A4E1-09765ADA2698}" type="slidenum">
              <a:rPr kumimoji="1" lang="zh-CN" altLang="en-US" smtClean="0"/>
              <a:t>20</a:t>
            </a:fld>
            <a:endParaRPr kumimoji="1" lang="zh-CN" altLang="en-US" dirty="0"/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512BE87C-5429-4354-9525-19DDE97EAC61}"/>
              </a:ext>
            </a:extLst>
          </p:cNvPr>
          <p:cNvSpPr/>
          <p:nvPr/>
        </p:nvSpPr>
        <p:spPr>
          <a:xfrm>
            <a:off x="5007264" y="1886262"/>
            <a:ext cx="2177472" cy="2177472"/>
          </a:xfrm>
          <a:prstGeom prst="ellipse">
            <a:avLst/>
          </a:prstGeom>
          <a:solidFill>
            <a:srgbClr val="A40A5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latin typeface="Garamond" panose="02020404030301010803" pitchFamily="18" charset="0"/>
              </a:rPr>
              <a:t>Follower</a:t>
            </a:r>
            <a:endParaRPr lang="zh-CN" altLang="en-US" sz="2400" dirty="0">
              <a:latin typeface="Garamond" panose="02020404030301010803" pitchFamily="18" charset="0"/>
            </a:endParaRPr>
          </a:p>
        </p:txBody>
      </p:sp>
      <p:sp>
        <p:nvSpPr>
          <p:cNvPr id="19" name="椭圆 18">
            <a:extLst>
              <a:ext uri="{FF2B5EF4-FFF2-40B4-BE49-F238E27FC236}">
                <a16:creationId xmlns:a16="http://schemas.microsoft.com/office/drawing/2014/main" id="{12B19AD0-0DC2-46D5-AD68-5B0880B5FA94}"/>
              </a:ext>
            </a:extLst>
          </p:cNvPr>
          <p:cNvSpPr/>
          <p:nvPr/>
        </p:nvSpPr>
        <p:spPr>
          <a:xfrm>
            <a:off x="7184736" y="4494621"/>
            <a:ext cx="2177472" cy="2177472"/>
          </a:xfrm>
          <a:prstGeom prst="ellipse">
            <a:avLst/>
          </a:prstGeom>
          <a:solidFill>
            <a:srgbClr val="A40A5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latin typeface="Garamond" panose="02020404030301010803" pitchFamily="18" charset="0"/>
              </a:rPr>
              <a:t>Follower</a:t>
            </a:r>
            <a:endParaRPr lang="zh-CN" altLang="en-US" sz="2400" dirty="0">
              <a:latin typeface="Garamond" panose="02020404030301010803" pitchFamily="18" charset="0"/>
            </a:endParaRPr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EC5246C5-2737-490A-B4C3-1BEC2D6403EE}"/>
              </a:ext>
            </a:extLst>
          </p:cNvPr>
          <p:cNvSpPr/>
          <p:nvPr/>
        </p:nvSpPr>
        <p:spPr>
          <a:xfrm>
            <a:off x="2829792" y="4497196"/>
            <a:ext cx="2177472" cy="2177472"/>
          </a:xfrm>
          <a:prstGeom prst="ellipse">
            <a:avLst/>
          </a:prstGeom>
          <a:solidFill>
            <a:srgbClr val="A40A57"/>
          </a:solidFill>
          <a:ln w="38100">
            <a:solidFill>
              <a:srgbClr val="0000FF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latin typeface="Garamond" panose="02020404030301010803" pitchFamily="18" charset="0"/>
              </a:rPr>
              <a:t>Leader</a:t>
            </a:r>
            <a:endParaRPr lang="zh-CN" altLang="en-US" sz="2400" dirty="0">
              <a:latin typeface="Garamond" panose="02020404030301010803" pitchFamily="18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AF219D37-2DD9-4998-8BCB-C322C81F8BC5}"/>
              </a:ext>
            </a:extLst>
          </p:cNvPr>
          <p:cNvSpPr txBox="1"/>
          <p:nvPr/>
        </p:nvSpPr>
        <p:spPr>
          <a:xfrm>
            <a:off x="525319" y="1349793"/>
            <a:ext cx="4481945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CN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Leader</a:t>
            </a:r>
            <a:r>
              <a:rPr lang="zh-CN" altLang="en-US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向所有</a:t>
            </a:r>
            <a:r>
              <a:rPr lang="en-US" altLang="zh-CN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Follower</a:t>
            </a:r>
            <a:r>
              <a:rPr lang="zh-CN" altLang="en-US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发送日志复制请求（</a:t>
            </a:r>
            <a:r>
              <a:rPr lang="en-US" altLang="zh-CN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Log Replication</a:t>
            </a:r>
            <a:r>
              <a:rPr lang="zh-CN" altLang="en-US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）</a:t>
            </a:r>
            <a:endParaRPr lang="en-US" altLang="zh-CN" sz="2200" dirty="0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20" name="椭圆 19">
            <a:extLst>
              <a:ext uri="{FF2B5EF4-FFF2-40B4-BE49-F238E27FC236}">
                <a16:creationId xmlns:a16="http://schemas.microsoft.com/office/drawing/2014/main" id="{10139178-C8F6-4542-9CE2-83C772056915}"/>
              </a:ext>
            </a:extLst>
          </p:cNvPr>
          <p:cNvSpPr/>
          <p:nvPr/>
        </p:nvSpPr>
        <p:spPr>
          <a:xfrm>
            <a:off x="652320" y="5052266"/>
            <a:ext cx="1062182" cy="1062182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latin typeface="Garamond" panose="02020404030301010803" pitchFamily="18" charset="0"/>
              </a:rPr>
              <a:t>5</a:t>
            </a:r>
            <a:endParaRPr lang="zh-CN" altLang="en-US" sz="2400" dirty="0">
              <a:latin typeface="Garamond" panose="02020404030301010803" pitchFamily="18" charset="0"/>
            </a:endParaRPr>
          </a:p>
        </p:txBody>
      </p:sp>
      <p:cxnSp>
        <p:nvCxnSpPr>
          <p:cNvPr id="5" name="直接箭头连接符 4">
            <a:extLst>
              <a:ext uri="{FF2B5EF4-FFF2-40B4-BE49-F238E27FC236}">
                <a16:creationId xmlns:a16="http://schemas.microsoft.com/office/drawing/2014/main" id="{27F9CE9D-3771-47E6-B5D8-63B64DBE8F52}"/>
              </a:ext>
            </a:extLst>
          </p:cNvPr>
          <p:cNvCxnSpPr>
            <a:stCxn id="20" idx="6"/>
            <a:endCxn id="8" idx="2"/>
          </p:cNvCxnSpPr>
          <p:nvPr/>
        </p:nvCxnSpPr>
        <p:spPr>
          <a:xfrm>
            <a:off x="1714502" y="5583357"/>
            <a:ext cx="1115290" cy="2575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框 9">
            <a:extLst>
              <a:ext uri="{FF2B5EF4-FFF2-40B4-BE49-F238E27FC236}">
                <a16:creationId xmlns:a16="http://schemas.microsoft.com/office/drawing/2014/main" id="{997139DA-0BAE-45D1-996F-D23FCE66C20C}"/>
              </a:ext>
            </a:extLst>
          </p:cNvPr>
          <p:cNvSpPr txBox="1"/>
          <p:nvPr/>
        </p:nvSpPr>
        <p:spPr>
          <a:xfrm>
            <a:off x="4936011" y="6106654"/>
            <a:ext cx="1186543" cy="369332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Garamond" panose="02020404030301010803" pitchFamily="18" charset="0"/>
              </a:rPr>
              <a:t>SET X = 5</a:t>
            </a:r>
            <a:endParaRPr lang="zh-CN" altLang="en-US" dirty="0">
              <a:latin typeface="Garamond" panose="02020404030301010803" pitchFamily="18" charset="0"/>
            </a:endParaRPr>
          </a:p>
        </p:txBody>
      </p: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75C434CB-0D6F-4177-9E8E-97ED3B5D4648}"/>
              </a:ext>
            </a:extLst>
          </p:cNvPr>
          <p:cNvCxnSpPr/>
          <p:nvPr/>
        </p:nvCxnSpPr>
        <p:spPr>
          <a:xfrm flipV="1">
            <a:off x="4688381" y="3744851"/>
            <a:ext cx="637766" cy="1071228"/>
          </a:xfrm>
          <a:prstGeom prst="straightConnector1">
            <a:avLst/>
          </a:prstGeom>
          <a:ln w="381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D2E99ACD-B11E-45DB-BAE4-1A45B2BF700E}"/>
              </a:ext>
            </a:extLst>
          </p:cNvPr>
          <p:cNvCxnSpPr/>
          <p:nvPr/>
        </p:nvCxnSpPr>
        <p:spPr>
          <a:xfrm flipV="1">
            <a:off x="5007264" y="5583357"/>
            <a:ext cx="2177472" cy="2575"/>
          </a:xfrm>
          <a:prstGeom prst="straightConnector1">
            <a:avLst/>
          </a:prstGeom>
          <a:ln w="381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本框 13">
            <a:extLst>
              <a:ext uri="{FF2B5EF4-FFF2-40B4-BE49-F238E27FC236}">
                <a16:creationId xmlns:a16="http://schemas.microsoft.com/office/drawing/2014/main" id="{80463C1D-CBE2-4284-8B80-F8E70E35DF5B}"/>
              </a:ext>
            </a:extLst>
          </p:cNvPr>
          <p:cNvSpPr txBox="1"/>
          <p:nvPr/>
        </p:nvSpPr>
        <p:spPr>
          <a:xfrm>
            <a:off x="9362208" y="6101746"/>
            <a:ext cx="1186543" cy="369332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Garamond" panose="02020404030301010803" pitchFamily="18" charset="0"/>
              </a:rPr>
              <a:t>SET X = 5</a:t>
            </a:r>
            <a:endParaRPr lang="zh-CN" altLang="en-US" dirty="0">
              <a:latin typeface="Garamond" panose="02020404030301010803" pitchFamily="18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D8842262-9D60-4B2D-AAF0-199211A27F76}"/>
              </a:ext>
            </a:extLst>
          </p:cNvPr>
          <p:cNvSpPr txBox="1"/>
          <p:nvPr/>
        </p:nvSpPr>
        <p:spPr>
          <a:xfrm>
            <a:off x="7279408" y="2790332"/>
            <a:ext cx="1186543" cy="369332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Garamond" panose="02020404030301010803" pitchFamily="18" charset="0"/>
              </a:rPr>
              <a:t>SET X = 5</a:t>
            </a:r>
            <a:endParaRPr lang="zh-CN" altLang="en-US" dirty="0">
              <a:latin typeface="Garamond" panose="02020404030301010803" pitchFamily="18" charset="0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3BB6333-1AD1-4469-BBD1-19AF01866858}"/>
              </a:ext>
            </a:extLst>
          </p:cNvPr>
          <p:cNvSpPr txBox="1"/>
          <p:nvPr/>
        </p:nvSpPr>
        <p:spPr>
          <a:xfrm>
            <a:off x="3059875" y="3877342"/>
            <a:ext cx="1947389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200" dirty="0" err="1">
                <a:latin typeface="Garamond" panose="02020404030301010803" pitchFamily="18" charset="0"/>
                <a:ea typeface="微软雅黑" panose="020B0503020204020204" pitchFamily="34" charset="-122"/>
              </a:rPr>
              <a:t>AppendEntries</a:t>
            </a:r>
            <a:endParaRPr lang="en-US" altLang="zh-CN" sz="2200" dirty="0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965C6BF2-A3B2-494C-B784-D64D3882125F}"/>
              </a:ext>
            </a:extLst>
          </p:cNvPr>
          <p:cNvSpPr txBox="1"/>
          <p:nvPr/>
        </p:nvSpPr>
        <p:spPr>
          <a:xfrm>
            <a:off x="5122305" y="5138865"/>
            <a:ext cx="1947389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200" dirty="0" err="1">
                <a:latin typeface="Garamond" panose="02020404030301010803" pitchFamily="18" charset="0"/>
                <a:ea typeface="微软雅黑" panose="020B0503020204020204" pitchFamily="34" charset="-122"/>
              </a:rPr>
              <a:t>AppendEntries</a:t>
            </a:r>
            <a:endParaRPr lang="en-US" altLang="zh-CN" sz="2200" dirty="0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060991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9" grpId="0" animBg="1"/>
      <p:bldP spid="8" grpId="0" animBg="1"/>
      <p:bldP spid="9" grpId="0"/>
      <p:bldP spid="20" grpId="0" animBg="1"/>
      <p:bldP spid="10" grpId="0" animBg="1"/>
      <p:bldP spid="14" grpId="0" animBg="1"/>
      <p:bldP spid="15" grpId="0" animBg="1"/>
      <p:bldP spid="16" grpId="0"/>
      <p:bldP spid="17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日志复制（</a:t>
            </a:r>
            <a:r>
              <a:rPr lang="en-US" altLang="zh-CN" dirty="0">
                <a:latin typeface="Garamond" panose="02020404030301010803" pitchFamily="18" charset="0"/>
                <a:ea typeface="微软雅黑" panose="020B0503020204020204" pitchFamily="34" charset="-122"/>
              </a:rPr>
              <a:t>Log Replication</a:t>
            </a:r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）</a:t>
            </a:r>
            <a:endParaRPr lang="en-US" altLang="zh-CN" dirty="0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1E41-7A09-AB4A-A4E1-09765ADA2698}" type="slidenum">
              <a:rPr kumimoji="1" lang="zh-CN" altLang="en-US" smtClean="0"/>
              <a:t>21</a:t>
            </a:fld>
            <a:endParaRPr kumimoji="1" lang="zh-CN" altLang="en-US" dirty="0"/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512BE87C-5429-4354-9525-19DDE97EAC61}"/>
              </a:ext>
            </a:extLst>
          </p:cNvPr>
          <p:cNvSpPr/>
          <p:nvPr/>
        </p:nvSpPr>
        <p:spPr>
          <a:xfrm>
            <a:off x="5007264" y="1886262"/>
            <a:ext cx="2177472" cy="2177472"/>
          </a:xfrm>
          <a:prstGeom prst="ellipse">
            <a:avLst/>
          </a:prstGeom>
          <a:solidFill>
            <a:srgbClr val="A40A5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latin typeface="Garamond" panose="02020404030301010803" pitchFamily="18" charset="0"/>
              </a:rPr>
              <a:t>Follower</a:t>
            </a:r>
            <a:endParaRPr lang="zh-CN" altLang="en-US" sz="2400" dirty="0">
              <a:latin typeface="Garamond" panose="02020404030301010803" pitchFamily="18" charset="0"/>
            </a:endParaRPr>
          </a:p>
        </p:txBody>
      </p:sp>
      <p:sp>
        <p:nvSpPr>
          <p:cNvPr id="19" name="椭圆 18">
            <a:extLst>
              <a:ext uri="{FF2B5EF4-FFF2-40B4-BE49-F238E27FC236}">
                <a16:creationId xmlns:a16="http://schemas.microsoft.com/office/drawing/2014/main" id="{12B19AD0-0DC2-46D5-AD68-5B0880B5FA94}"/>
              </a:ext>
            </a:extLst>
          </p:cNvPr>
          <p:cNvSpPr/>
          <p:nvPr/>
        </p:nvSpPr>
        <p:spPr>
          <a:xfrm>
            <a:off x="7184736" y="4494621"/>
            <a:ext cx="2177472" cy="2177472"/>
          </a:xfrm>
          <a:prstGeom prst="ellipse">
            <a:avLst/>
          </a:prstGeom>
          <a:solidFill>
            <a:srgbClr val="A40A5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latin typeface="Garamond" panose="02020404030301010803" pitchFamily="18" charset="0"/>
              </a:rPr>
              <a:t>Follower</a:t>
            </a:r>
            <a:endParaRPr lang="zh-CN" altLang="en-US" sz="2400" dirty="0">
              <a:latin typeface="Garamond" panose="02020404030301010803" pitchFamily="18" charset="0"/>
            </a:endParaRPr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EC5246C5-2737-490A-B4C3-1BEC2D6403EE}"/>
              </a:ext>
            </a:extLst>
          </p:cNvPr>
          <p:cNvSpPr/>
          <p:nvPr/>
        </p:nvSpPr>
        <p:spPr>
          <a:xfrm>
            <a:off x="2829792" y="4497196"/>
            <a:ext cx="2177472" cy="2177472"/>
          </a:xfrm>
          <a:prstGeom prst="ellipse">
            <a:avLst/>
          </a:prstGeom>
          <a:solidFill>
            <a:srgbClr val="A40A57"/>
          </a:solidFill>
          <a:ln w="38100">
            <a:solidFill>
              <a:srgbClr val="0000FF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latin typeface="Garamond" panose="02020404030301010803" pitchFamily="18" charset="0"/>
              </a:rPr>
              <a:t>Leader</a:t>
            </a:r>
            <a:endParaRPr lang="zh-CN" altLang="en-US" sz="2400" dirty="0">
              <a:latin typeface="Garamond" panose="02020404030301010803" pitchFamily="18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AF219D37-2DD9-4998-8BCB-C322C81F8BC5}"/>
              </a:ext>
            </a:extLst>
          </p:cNvPr>
          <p:cNvSpPr txBox="1"/>
          <p:nvPr/>
        </p:nvSpPr>
        <p:spPr>
          <a:xfrm>
            <a:off x="525319" y="1349793"/>
            <a:ext cx="5127336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CN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Follower</a:t>
            </a:r>
            <a:r>
              <a:rPr lang="zh-CN" altLang="en-US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向</a:t>
            </a:r>
            <a:r>
              <a:rPr lang="en-US" altLang="zh-CN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Leader</a:t>
            </a:r>
            <a:r>
              <a:rPr lang="zh-CN" altLang="en-US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投票是否接受该日志</a:t>
            </a:r>
            <a:endParaRPr lang="en-US" altLang="zh-CN" sz="2200" dirty="0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20" name="椭圆 19">
            <a:extLst>
              <a:ext uri="{FF2B5EF4-FFF2-40B4-BE49-F238E27FC236}">
                <a16:creationId xmlns:a16="http://schemas.microsoft.com/office/drawing/2014/main" id="{10139178-C8F6-4542-9CE2-83C772056915}"/>
              </a:ext>
            </a:extLst>
          </p:cNvPr>
          <p:cNvSpPr/>
          <p:nvPr/>
        </p:nvSpPr>
        <p:spPr>
          <a:xfrm>
            <a:off x="652320" y="5052266"/>
            <a:ext cx="1062182" cy="1062182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latin typeface="Garamond" panose="02020404030301010803" pitchFamily="18" charset="0"/>
              </a:rPr>
              <a:t>5</a:t>
            </a:r>
            <a:endParaRPr lang="zh-CN" altLang="en-US" sz="2400" dirty="0">
              <a:latin typeface="Garamond" panose="02020404030301010803" pitchFamily="18" charset="0"/>
            </a:endParaRPr>
          </a:p>
        </p:txBody>
      </p:sp>
      <p:cxnSp>
        <p:nvCxnSpPr>
          <p:cNvPr id="5" name="直接箭头连接符 4">
            <a:extLst>
              <a:ext uri="{FF2B5EF4-FFF2-40B4-BE49-F238E27FC236}">
                <a16:creationId xmlns:a16="http://schemas.microsoft.com/office/drawing/2014/main" id="{27F9CE9D-3771-47E6-B5D8-63B64DBE8F52}"/>
              </a:ext>
            </a:extLst>
          </p:cNvPr>
          <p:cNvCxnSpPr>
            <a:stCxn id="20" idx="6"/>
            <a:endCxn id="8" idx="2"/>
          </p:cNvCxnSpPr>
          <p:nvPr/>
        </p:nvCxnSpPr>
        <p:spPr>
          <a:xfrm>
            <a:off x="1714502" y="5583357"/>
            <a:ext cx="1115290" cy="2575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框 9">
            <a:extLst>
              <a:ext uri="{FF2B5EF4-FFF2-40B4-BE49-F238E27FC236}">
                <a16:creationId xmlns:a16="http://schemas.microsoft.com/office/drawing/2014/main" id="{997139DA-0BAE-45D1-996F-D23FCE66C20C}"/>
              </a:ext>
            </a:extLst>
          </p:cNvPr>
          <p:cNvSpPr txBox="1"/>
          <p:nvPr/>
        </p:nvSpPr>
        <p:spPr>
          <a:xfrm>
            <a:off x="4936011" y="6106654"/>
            <a:ext cx="1186543" cy="369332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Garamond" panose="02020404030301010803" pitchFamily="18" charset="0"/>
              </a:rPr>
              <a:t>SET X = 5</a:t>
            </a:r>
            <a:endParaRPr lang="zh-CN" altLang="en-US" dirty="0">
              <a:latin typeface="Garamond" panose="02020404030301010803" pitchFamily="18" charset="0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80463C1D-CBE2-4284-8B80-F8E70E35DF5B}"/>
              </a:ext>
            </a:extLst>
          </p:cNvPr>
          <p:cNvSpPr txBox="1"/>
          <p:nvPr/>
        </p:nvSpPr>
        <p:spPr>
          <a:xfrm>
            <a:off x="9362208" y="6101746"/>
            <a:ext cx="1186543" cy="369332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Garamond" panose="02020404030301010803" pitchFamily="18" charset="0"/>
              </a:rPr>
              <a:t>SET X = 5</a:t>
            </a:r>
            <a:endParaRPr lang="zh-CN" altLang="en-US" dirty="0">
              <a:latin typeface="Garamond" panose="02020404030301010803" pitchFamily="18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D8842262-9D60-4B2D-AAF0-199211A27F76}"/>
              </a:ext>
            </a:extLst>
          </p:cNvPr>
          <p:cNvSpPr txBox="1"/>
          <p:nvPr/>
        </p:nvSpPr>
        <p:spPr>
          <a:xfrm>
            <a:off x="7279408" y="2790332"/>
            <a:ext cx="1186543" cy="369332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Garamond" panose="02020404030301010803" pitchFamily="18" charset="0"/>
              </a:rPr>
              <a:t>SET X = 5</a:t>
            </a:r>
            <a:endParaRPr lang="zh-CN" altLang="en-US" dirty="0">
              <a:latin typeface="Garamond" panose="02020404030301010803" pitchFamily="18" charset="0"/>
            </a:endParaRPr>
          </a:p>
        </p:txBody>
      </p: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C8051361-0C3A-4D21-B970-58F60BD6F4F1}"/>
              </a:ext>
            </a:extLst>
          </p:cNvPr>
          <p:cNvCxnSpPr/>
          <p:nvPr/>
        </p:nvCxnSpPr>
        <p:spPr>
          <a:xfrm flipV="1">
            <a:off x="4688381" y="3744851"/>
            <a:ext cx="637766" cy="1071228"/>
          </a:xfrm>
          <a:prstGeom prst="straightConnector1">
            <a:avLst/>
          </a:prstGeom>
          <a:ln w="38100">
            <a:solidFill>
              <a:srgbClr val="0000FF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32ED77D1-C05A-484E-8D43-72E652FADFE6}"/>
              </a:ext>
            </a:extLst>
          </p:cNvPr>
          <p:cNvCxnSpPr/>
          <p:nvPr/>
        </p:nvCxnSpPr>
        <p:spPr>
          <a:xfrm flipV="1">
            <a:off x="5007264" y="5583357"/>
            <a:ext cx="2177472" cy="2575"/>
          </a:xfrm>
          <a:prstGeom prst="straightConnector1">
            <a:avLst/>
          </a:prstGeom>
          <a:ln w="38100">
            <a:solidFill>
              <a:srgbClr val="0000FF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文本框 21">
            <a:extLst>
              <a:ext uri="{FF2B5EF4-FFF2-40B4-BE49-F238E27FC236}">
                <a16:creationId xmlns:a16="http://schemas.microsoft.com/office/drawing/2014/main" id="{F6B045F5-A2F7-45F0-AD95-F3F47CBBCFD5}"/>
              </a:ext>
            </a:extLst>
          </p:cNvPr>
          <p:cNvSpPr txBox="1"/>
          <p:nvPr/>
        </p:nvSpPr>
        <p:spPr>
          <a:xfrm>
            <a:off x="4369498" y="3911133"/>
            <a:ext cx="63776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dirty="0">
                <a:latin typeface="Garamond" panose="02020404030301010803" pitchFamily="18" charset="0"/>
                <a:ea typeface="微软雅黑" panose="020B0503020204020204" pitchFamily="34" charset="-122"/>
              </a:rPr>
              <a:t>Vote</a:t>
            </a:r>
            <a:endParaRPr lang="zh-CN" altLang="en-US" dirty="0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237CD095-8837-4961-93C4-74C218858A2A}"/>
              </a:ext>
            </a:extLst>
          </p:cNvPr>
          <p:cNvSpPr txBox="1"/>
          <p:nvPr/>
        </p:nvSpPr>
        <p:spPr>
          <a:xfrm>
            <a:off x="5769726" y="5176958"/>
            <a:ext cx="65254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dirty="0">
                <a:latin typeface="Garamond" panose="02020404030301010803" pitchFamily="18" charset="0"/>
                <a:ea typeface="微软雅黑" panose="020B0503020204020204" pitchFamily="34" charset="-122"/>
              </a:rPr>
              <a:t>Vote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075432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9" grpId="0" animBg="1"/>
      <p:bldP spid="8" grpId="0" animBg="1"/>
      <p:bldP spid="9" grpId="0"/>
      <p:bldP spid="20" grpId="0" animBg="1"/>
      <p:bldP spid="10" grpId="0" animBg="1"/>
      <p:bldP spid="14" grpId="0" animBg="1"/>
      <p:bldP spid="15" grpId="0" animBg="1"/>
      <p:bldP spid="22" grpId="0"/>
      <p:bldP spid="23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日志复制（</a:t>
            </a:r>
            <a:r>
              <a:rPr lang="en-US" altLang="zh-CN" dirty="0">
                <a:latin typeface="Garamond" panose="02020404030301010803" pitchFamily="18" charset="0"/>
                <a:ea typeface="微软雅黑" panose="020B0503020204020204" pitchFamily="34" charset="-122"/>
              </a:rPr>
              <a:t>Log Replication</a:t>
            </a:r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）</a:t>
            </a:r>
            <a:endParaRPr lang="en-US" altLang="zh-CN" dirty="0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1E41-7A09-AB4A-A4E1-09765ADA2698}" type="slidenum">
              <a:rPr kumimoji="1" lang="zh-CN" altLang="en-US" smtClean="0"/>
              <a:t>22</a:t>
            </a:fld>
            <a:endParaRPr kumimoji="1" lang="zh-CN" altLang="en-US" dirty="0"/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512BE87C-5429-4354-9525-19DDE97EAC61}"/>
              </a:ext>
            </a:extLst>
          </p:cNvPr>
          <p:cNvSpPr/>
          <p:nvPr/>
        </p:nvSpPr>
        <p:spPr>
          <a:xfrm>
            <a:off x="5007264" y="1886262"/>
            <a:ext cx="2177472" cy="2177472"/>
          </a:xfrm>
          <a:prstGeom prst="ellipse">
            <a:avLst/>
          </a:prstGeom>
          <a:solidFill>
            <a:srgbClr val="A40A5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latin typeface="Garamond" panose="02020404030301010803" pitchFamily="18" charset="0"/>
              </a:rPr>
              <a:t>Follower</a:t>
            </a:r>
          </a:p>
          <a:p>
            <a:pPr algn="ctr"/>
            <a:r>
              <a:rPr lang="en-US" altLang="zh-CN" sz="2400" dirty="0">
                <a:latin typeface="Garamond" panose="02020404030301010803" pitchFamily="18" charset="0"/>
              </a:rPr>
              <a:t>X: 5</a:t>
            </a:r>
            <a:endParaRPr lang="zh-CN" altLang="en-US" sz="2400" dirty="0">
              <a:latin typeface="Garamond" panose="02020404030301010803" pitchFamily="18" charset="0"/>
            </a:endParaRPr>
          </a:p>
        </p:txBody>
      </p:sp>
      <p:sp>
        <p:nvSpPr>
          <p:cNvPr id="19" name="椭圆 18">
            <a:extLst>
              <a:ext uri="{FF2B5EF4-FFF2-40B4-BE49-F238E27FC236}">
                <a16:creationId xmlns:a16="http://schemas.microsoft.com/office/drawing/2014/main" id="{12B19AD0-0DC2-46D5-AD68-5B0880B5FA94}"/>
              </a:ext>
            </a:extLst>
          </p:cNvPr>
          <p:cNvSpPr/>
          <p:nvPr/>
        </p:nvSpPr>
        <p:spPr>
          <a:xfrm>
            <a:off x="7184736" y="4494621"/>
            <a:ext cx="2177472" cy="2177472"/>
          </a:xfrm>
          <a:prstGeom prst="ellipse">
            <a:avLst/>
          </a:prstGeom>
          <a:solidFill>
            <a:srgbClr val="A40A5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latin typeface="Garamond" panose="02020404030301010803" pitchFamily="18" charset="0"/>
              </a:rPr>
              <a:t>Follower</a:t>
            </a:r>
          </a:p>
          <a:p>
            <a:pPr algn="ctr"/>
            <a:r>
              <a:rPr lang="en-US" altLang="zh-CN" sz="2400" dirty="0">
                <a:latin typeface="Garamond" panose="02020404030301010803" pitchFamily="18" charset="0"/>
              </a:rPr>
              <a:t>X: 5</a:t>
            </a:r>
            <a:endParaRPr lang="zh-CN" altLang="en-US" sz="2400" dirty="0">
              <a:latin typeface="Garamond" panose="02020404030301010803" pitchFamily="18" charset="0"/>
            </a:endParaRPr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EC5246C5-2737-490A-B4C3-1BEC2D6403EE}"/>
              </a:ext>
            </a:extLst>
          </p:cNvPr>
          <p:cNvSpPr/>
          <p:nvPr/>
        </p:nvSpPr>
        <p:spPr>
          <a:xfrm>
            <a:off x="2829792" y="4497196"/>
            <a:ext cx="2177472" cy="2177472"/>
          </a:xfrm>
          <a:prstGeom prst="ellipse">
            <a:avLst/>
          </a:prstGeom>
          <a:solidFill>
            <a:srgbClr val="A40A57"/>
          </a:solidFill>
          <a:ln w="38100">
            <a:solidFill>
              <a:srgbClr val="0000FF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latin typeface="Garamond" panose="02020404030301010803" pitchFamily="18" charset="0"/>
              </a:rPr>
              <a:t>Leader</a:t>
            </a:r>
          </a:p>
          <a:p>
            <a:pPr algn="ctr"/>
            <a:r>
              <a:rPr lang="en-US" altLang="zh-CN" sz="2400" dirty="0">
                <a:latin typeface="Garamond" panose="02020404030301010803" pitchFamily="18" charset="0"/>
              </a:rPr>
              <a:t>X: 5</a:t>
            </a:r>
            <a:endParaRPr lang="zh-CN" altLang="en-US" sz="2400" dirty="0">
              <a:latin typeface="Garamond" panose="02020404030301010803" pitchFamily="18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AF219D37-2DD9-4998-8BCB-C322C81F8BC5}"/>
              </a:ext>
            </a:extLst>
          </p:cNvPr>
          <p:cNvSpPr txBox="1"/>
          <p:nvPr/>
        </p:nvSpPr>
        <p:spPr>
          <a:xfrm>
            <a:off x="525319" y="1349793"/>
            <a:ext cx="5127336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CN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Leader</a:t>
            </a:r>
            <a:r>
              <a:rPr lang="zh-CN" altLang="en-US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收到超过半数（包括自己）的投票，则</a:t>
            </a:r>
            <a:r>
              <a:rPr lang="zh-CN" altLang="en-US" sz="2200" b="1" dirty="0">
                <a:solidFill>
                  <a:srgbClr val="A40A57"/>
                </a:solidFill>
                <a:latin typeface="Garamond" panose="02020404030301010803" pitchFamily="18" charset="0"/>
                <a:ea typeface="微软雅黑" panose="020B0503020204020204" pitchFamily="34" charset="-122"/>
              </a:rPr>
              <a:t>提交</a:t>
            </a:r>
            <a:r>
              <a:rPr lang="zh-CN" altLang="en-US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该日志。</a:t>
            </a:r>
            <a:endParaRPr lang="en-US" altLang="zh-CN" sz="2200" dirty="0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20" name="椭圆 19">
            <a:extLst>
              <a:ext uri="{FF2B5EF4-FFF2-40B4-BE49-F238E27FC236}">
                <a16:creationId xmlns:a16="http://schemas.microsoft.com/office/drawing/2014/main" id="{10139178-C8F6-4542-9CE2-83C772056915}"/>
              </a:ext>
            </a:extLst>
          </p:cNvPr>
          <p:cNvSpPr/>
          <p:nvPr/>
        </p:nvSpPr>
        <p:spPr>
          <a:xfrm>
            <a:off x="652320" y="5052266"/>
            <a:ext cx="1062182" cy="1062182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latin typeface="Garamond" panose="02020404030301010803" pitchFamily="18" charset="0"/>
              </a:rPr>
              <a:t>5</a:t>
            </a:r>
            <a:endParaRPr lang="zh-CN" altLang="en-US" sz="2400" dirty="0">
              <a:latin typeface="Garamond" panose="02020404030301010803" pitchFamily="18" charset="0"/>
            </a:endParaRPr>
          </a:p>
        </p:txBody>
      </p:sp>
      <p:cxnSp>
        <p:nvCxnSpPr>
          <p:cNvPr id="5" name="直接箭头连接符 4">
            <a:extLst>
              <a:ext uri="{FF2B5EF4-FFF2-40B4-BE49-F238E27FC236}">
                <a16:creationId xmlns:a16="http://schemas.microsoft.com/office/drawing/2014/main" id="{27F9CE9D-3771-47E6-B5D8-63B64DBE8F52}"/>
              </a:ext>
            </a:extLst>
          </p:cNvPr>
          <p:cNvCxnSpPr>
            <a:stCxn id="20" idx="6"/>
            <a:endCxn id="8" idx="2"/>
          </p:cNvCxnSpPr>
          <p:nvPr/>
        </p:nvCxnSpPr>
        <p:spPr>
          <a:xfrm>
            <a:off x="1714502" y="5583357"/>
            <a:ext cx="1115290" cy="2575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框 9">
            <a:extLst>
              <a:ext uri="{FF2B5EF4-FFF2-40B4-BE49-F238E27FC236}">
                <a16:creationId xmlns:a16="http://schemas.microsoft.com/office/drawing/2014/main" id="{997139DA-0BAE-45D1-996F-D23FCE66C20C}"/>
              </a:ext>
            </a:extLst>
          </p:cNvPr>
          <p:cNvSpPr txBox="1"/>
          <p:nvPr/>
        </p:nvSpPr>
        <p:spPr>
          <a:xfrm>
            <a:off x="4936011" y="6106654"/>
            <a:ext cx="1186543" cy="369332"/>
          </a:xfrm>
          <a:prstGeom prst="rect">
            <a:avLst/>
          </a:prstGeom>
          <a:noFill/>
          <a:ln w="38100">
            <a:solidFill>
              <a:srgbClr val="0000FF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Garamond" panose="02020404030301010803" pitchFamily="18" charset="0"/>
              </a:rPr>
              <a:t>SET X = 5</a:t>
            </a:r>
            <a:endParaRPr lang="zh-CN" altLang="en-US" dirty="0">
              <a:latin typeface="Garamond" panose="02020404030301010803" pitchFamily="18" charset="0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80463C1D-CBE2-4284-8B80-F8E70E35DF5B}"/>
              </a:ext>
            </a:extLst>
          </p:cNvPr>
          <p:cNvSpPr txBox="1"/>
          <p:nvPr/>
        </p:nvSpPr>
        <p:spPr>
          <a:xfrm>
            <a:off x="9362208" y="6101746"/>
            <a:ext cx="1186543" cy="369332"/>
          </a:xfrm>
          <a:prstGeom prst="rect">
            <a:avLst/>
          </a:prstGeom>
          <a:noFill/>
          <a:ln w="38100">
            <a:solidFill>
              <a:srgbClr val="0000FF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Garamond" panose="02020404030301010803" pitchFamily="18" charset="0"/>
              </a:rPr>
              <a:t>SET X = 5</a:t>
            </a:r>
            <a:endParaRPr lang="zh-CN" altLang="en-US" dirty="0">
              <a:latin typeface="Garamond" panose="02020404030301010803" pitchFamily="18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D8842262-9D60-4B2D-AAF0-199211A27F76}"/>
              </a:ext>
            </a:extLst>
          </p:cNvPr>
          <p:cNvSpPr txBox="1"/>
          <p:nvPr/>
        </p:nvSpPr>
        <p:spPr>
          <a:xfrm>
            <a:off x="7279408" y="2790332"/>
            <a:ext cx="1186543" cy="369332"/>
          </a:xfrm>
          <a:prstGeom prst="rect">
            <a:avLst/>
          </a:prstGeom>
          <a:noFill/>
          <a:ln w="38100">
            <a:solidFill>
              <a:srgbClr val="0000FF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Garamond" panose="02020404030301010803" pitchFamily="18" charset="0"/>
              </a:rPr>
              <a:t>SET X = 5</a:t>
            </a:r>
            <a:endParaRPr lang="zh-CN" altLang="en-US" dirty="0">
              <a:latin typeface="Garamond" panose="02020404030301010803" pitchFamily="18" charset="0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581943B2-5793-4EA7-A96A-8E4B5BCBF40C}"/>
              </a:ext>
            </a:extLst>
          </p:cNvPr>
          <p:cNvSpPr txBox="1"/>
          <p:nvPr/>
        </p:nvSpPr>
        <p:spPr>
          <a:xfrm>
            <a:off x="525319" y="2149205"/>
            <a:ext cx="4387273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CN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Leader</a:t>
            </a:r>
            <a:r>
              <a:rPr lang="zh-CN" altLang="en-US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向</a:t>
            </a:r>
            <a:r>
              <a:rPr lang="en-US" altLang="zh-CN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Follower</a:t>
            </a:r>
            <a:r>
              <a:rPr lang="zh-CN" altLang="en-US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发送</a:t>
            </a:r>
            <a:r>
              <a:rPr lang="en-US" altLang="zh-CN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Commit</a:t>
            </a:r>
            <a:r>
              <a:rPr lang="zh-CN" altLang="en-US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消息，提示</a:t>
            </a:r>
            <a:r>
              <a:rPr lang="en-US" altLang="zh-CN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Follower</a:t>
            </a:r>
            <a:r>
              <a:rPr lang="zh-CN" altLang="en-US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将该日志提交。</a:t>
            </a:r>
            <a:endParaRPr lang="en-US" altLang="zh-CN" sz="2200" dirty="0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cxnSp>
        <p:nvCxnSpPr>
          <p:cNvPr id="24" name="直接箭头连接符 23">
            <a:extLst>
              <a:ext uri="{FF2B5EF4-FFF2-40B4-BE49-F238E27FC236}">
                <a16:creationId xmlns:a16="http://schemas.microsoft.com/office/drawing/2014/main" id="{87D3908D-C1C9-4055-832D-9C3A08C077B6}"/>
              </a:ext>
            </a:extLst>
          </p:cNvPr>
          <p:cNvCxnSpPr/>
          <p:nvPr/>
        </p:nvCxnSpPr>
        <p:spPr>
          <a:xfrm flipV="1">
            <a:off x="4688381" y="3744851"/>
            <a:ext cx="637766" cy="1071228"/>
          </a:xfrm>
          <a:prstGeom prst="straightConnector1">
            <a:avLst/>
          </a:prstGeom>
          <a:ln w="381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BB67A7C5-C90F-4AEA-8F63-5338A89CF70B}"/>
              </a:ext>
            </a:extLst>
          </p:cNvPr>
          <p:cNvCxnSpPr/>
          <p:nvPr/>
        </p:nvCxnSpPr>
        <p:spPr>
          <a:xfrm flipV="1">
            <a:off x="5007264" y="5583357"/>
            <a:ext cx="2177472" cy="2575"/>
          </a:xfrm>
          <a:prstGeom prst="straightConnector1">
            <a:avLst/>
          </a:prstGeom>
          <a:ln w="381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文本框 25">
            <a:extLst>
              <a:ext uri="{FF2B5EF4-FFF2-40B4-BE49-F238E27FC236}">
                <a16:creationId xmlns:a16="http://schemas.microsoft.com/office/drawing/2014/main" id="{920E2D2C-38D8-44D5-82C9-881CA653AB3C}"/>
              </a:ext>
            </a:extLst>
          </p:cNvPr>
          <p:cNvSpPr txBox="1"/>
          <p:nvPr/>
        </p:nvSpPr>
        <p:spPr>
          <a:xfrm>
            <a:off x="3059875" y="3877342"/>
            <a:ext cx="1947389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200" dirty="0" err="1">
                <a:latin typeface="Garamond" panose="02020404030301010803" pitchFamily="18" charset="0"/>
                <a:ea typeface="微软雅黑" panose="020B0503020204020204" pitchFamily="34" charset="-122"/>
              </a:rPr>
              <a:t>AppendEntries</a:t>
            </a:r>
            <a:endParaRPr lang="en-US" altLang="zh-CN" sz="2200" dirty="0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52EAA8D9-3186-4B7A-90FA-DB18862548DC}"/>
              </a:ext>
            </a:extLst>
          </p:cNvPr>
          <p:cNvSpPr txBox="1"/>
          <p:nvPr/>
        </p:nvSpPr>
        <p:spPr>
          <a:xfrm>
            <a:off x="5122305" y="5138865"/>
            <a:ext cx="1947389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200" dirty="0" err="1">
                <a:latin typeface="Garamond" panose="02020404030301010803" pitchFamily="18" charset="0"/>
                <a:ea typeface="微软雅黑" panose="020B0503020204020204" pitchFamily="34" charset="-122"/>
              </a:rPr>
              <a:t>AppendEntries</a:t>
            </a:r>
            <a:endParaRPr lang="en-US" altLang="zh-CN" sz="2200" dirty="0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087F40E7-39C1-44FB-A1F3-9D8B846B916B}"/>
              </a:ext>
            </a:extLst>
          </p:cNvPr>
          <p:cNvSpPr txBox="1"/>
          <p:nvPr/>
        </p:nvSpPr>
        <p:spPr>
          <a:xfrm>
            <a:off x="8925378" y="1675099"/>
            <a:ext cx="3000333" cy="769441"/>
          </a:xfrm>
          <a:prstGeom prst="rect">
            <a:avLst/>
          </a:prstGeom>
          <a:solidFill>
            <a:srgbClr val="FFC000"/>
          </a:solidFill>
          <a:ln>
            <a:solidFill>
              <a:srgbClr val="002060"/>
            </a:solidFill>
            <a:prstDash val="dash"/>
          </a:ln>
        </p:spPr>
        <p:txBody>
          <a:bodyPr wrap="square">
            <a:spAutoFit/>
          </a:bodyPr>
          <a:lstStyle/>
          <a:p>
            <a:r>
              <a:rPr lang="en-US" altLang="zh-CN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RAFT</a:t>
            </a:r>
            <a:r>
              <a:rPr lang="zh-CN" altLang="en-US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中，经过提交的日志是确保永久一致的</a:t>
            </a:r>
            <a:endParaRPr lang="en-US" altLang="zh-CN" sz="2200" dirty="0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6E97C038-6E99-4987-84D5-5189CE9AF66C}"/>
              </a:ext>
            </a:extLst>
          </p:cNvPr>
          <p:cNvSpPr txBox="1"/>
          <p:nvPr/>
        </p:nvSpPr>
        <p:spPr>
          <a:xfrm>
            <a:off x="525318" y="2986958"/>
            <a:ext cx="4387273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至此，系统针对该请求</a:t>
            </a:r>
            <a:r>
              <a:rPr lang="zh-CN" altLang="en-US" sz="2200" b="1" dirty="0">
                <a:solidFill>
                  <a:srgbClr val="A40A57"/>
                </a:solidFill>
                <a:latin typeface="Garamond" panose="02020404030301010803" pitchFamily="18" charset="0"/>
                <a:ea typeface="微软雅黑" panose="020B0503020204020204" pitchFamily="34" charset="-122"/>
              </a:rPr>
              <a:t>达成一致</a:t>
            </a:r>
            <a:endParaRPr lang="en-US" altLang="zh-CN" sz="2200" b="1" dirty="0">
              <a:solidFill>
                <a:srgbClr val="A40A57"/>
              </a:solidFill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9E0F0F82-139C-4917-8815-DB43D3E3B3AC}"/>
              </a:ext>
            </a:extLst>
          </p:cNvPr>
          <p:cNvSpPr txBox="1"/>
          <p:nvPr/>
        </p:nvSpPr>
        <p:spPr>
          <a:xfrm>
            <a:off x="50594" y="3964660"/>
            <a:ext cx="268452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800" dirty="0">
                <a:latin typeface="Garamond" panose="02020404030301010803" pitchFamily="18" charset="0"/>
              </a:rPr>
              <a:t>Term: </a:t>
            </a:r>
            <a:r>
              <a:rPr lang="en-US" altLang="zh-CN" dirty="0">
                <a:latin typeface="Garamond" panose="02020404030301010803" pitchFamily="18" charset="0"/>
              </a:rPr>
              <a:t>1</a:t>
            </a:r>
          </a:p>
          <a:p>
            <a:pPr algn="ctr"/>
            <a:r>
              <a:rPr lang="en-US" altLang="zh-CN" dirty="0" err="1">
                <a:latin typeface="Garamond" panose="02020404030301010803" pitchFamily="18" charset="0"/>
              </a:rPr>
              <a:t>AppendEntries</a:t>
            </a:r>
            <a:r>
              <a:rPr lang="en-US" altLang="zh-CN" dirty="0">
                <a:latin typeface="Garamond" panose="02020404030301010803" pitchFamily="18" charset="0"/>
              </a:rPr>
              <a:t> vote count: </a:t>
            </a:r>
            <a:r>
              <a:rPr lang="en-US" altLang="zh-CN" b="1" dirty="0">
                <a:solidFill>
                  <a:srgbClr val="0000FF"/>
                </a:solidFill>
                <a:latin typeface="Garamond" panose="02020404030301010803" pitchFamily="18" charset="0"/>
              </a:rPr>
              <a:t>3 </a:t>
            </a:r>
            <a:r>
              <a:rPr lang="zh-CN" altLang="en-US" b="1" dirty="0">
                <a:solidFill>
                  <a:srgbClr val="0000FF"/>
                </a:solidFill>
                <a:latin typeface="Garamond" panose="02020404030301010803" pitchFamily="18" charset="0"/>
              </a:rPr>
              <a:t>（超半数）</a:t>
            </a:r>
            <a:endParaRPr lang="en-US" altLang="zh-CN" b="1" dirty="0">
              <a:solidFill>
                <a:srgbClr val="0000FF"/>
              </a:solidFill>
              <a:latin typeface="Garamond" panose="020204040303010108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455756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9" grpId="0" animBg="1"/>
      <p:bldP spid="8" grpId="0" animBg="1"/>
      <p:bldP spid="9" grpId="0"/>
      <p:bldP spid="20" grpId="0" animBg="1"/>
      <p:bldP spid="10" grpId="0" animBg="1"/>
      <p:bldP spid="14" grpId="0" animBg="1"/>
      <p:bldP spid="15" grpId="0" animBg="1"/>
      <p:bldP spid="17" grpId="0"/>
      <p:bldP spid="26" grpId="0"/>
      <p:bldP spid="27" grpId="0"/>
      <p:bldP spid="28" grpId="0" animBg="1"/>
      <p:bldP spid="29" grpId="0"/>
      <p:bldP spid="21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日志复制（</a:t>
            </a:r>
            <a:r>
              <a:rPr lang="en-US" altLang="zh-CN" dirty="0">
                <a:latin typeface="Garamond" panose="02020404030301010803" pitchFamily="18" charset="0"/>
                <a:ea typeface="微软雅黑" panose="020B0503020204020204" pitchFamily="34" charset="-122"/>
              </a:rPr>
              <a:t>Log Replication</a:t>
            </a:r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）</a:t>
            </a:r>
            <a:endParaRPr lang="en-US" altLang="zh-CN" dirty="0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1E41-7A09-AB4A-A4E1-09765ADA2698}" type="slidenum">
              <a:rPr kumimoji="1" lang="zh-CN" altLang="en-US" smtClean="0"/>
              <a:t>23</a:t>
            </a:fld>
            <a:endParaRPr kumimoji="1" lang="zh-CN" altLang="en-US" dirty="0"/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512BE87C-5429-4354-9525-19DDE97EAC61}"/>
              </a:ext>
            </a:extLst>
          </p:cNvPr>
          <p:cNvSpPr/>
          <p:nvPr/>
        </p:nvSpPr>
        <p:spPr>
          <a:xfrm>
            <a:off x="5007264" y="1886262"/>
            <a:ext cx="2177472" cy="2177472"/>
          </a:xfrm>
          <a:prstGeom prst="ellipse">
            <a:avLst/>
          </a:prstGeom>
          <a:solidFill>
            <a:srgbClr val="A40A5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latin typeface="Garamond" panose="02020404030301010803" pitchFamily="18" charset="0"/>
              </a:rPr>
              <a:t>Follower</a:t>
            </a:r>
          </a:p>
          <a:p>
            <a:pPr algn="ctr"/>
            <a:r>
              <a:rPr lang="en-US" altLang="zh-CN" sz="2400" dirty="0">
                <a:latin typeface="Garamond" panose="02020404030301010803" pitchFamily="18" charset="0"/>
              </a:rPr>
              <a:t>X: 5</a:t>
            </a:r>
            <a:endParaRPr lang="zh-CN" altLang="en-US" sz="2400" dirty="0">
              <a:latin typeface="Garamond" panose="02020404030301010803" pitchFamily="18" charset="0"/>
            </a:endParaRPr>
          </a:p>
        </p:txBody>
      </p:sp>
      <p:sp>
        <p:nvSpPr>
          <p:cNvPr id="19" name="椭圆 18">
            <a:extLst>
              <a:ext uri="{FF2B5EF4-FFF2-40B4-BE49-F238E27FC236}">
                <a16:creationId xmlns:a16="http://schemas.microsoft.com/office/drawing/2014/main" id="{12B19AD0-0DC2-46D5-AD68-5B0880B5FA94}"/>
              </a:ext>
            </a:extLst>
          </p:cNvPr>
          <p:cNvSpPr/>
          <p:nvPr/>
        </p:nvSpPr>
        <p:spPr>
          <a:xfrm>
            <a:off x="7184736" y="4494621"/>
            <a:ext cx="2177472" cy="2177472"/>
          </a:xfrm>
          <a:prstGeom prst="ellipse">
            <a:avLst/>
          </a:prstGeom>
          <a:solidFill>
            <a:srgbClr val="A40A5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latin typeface="Garamond" panose="02020404030301010803" pitchFamily="18" charset="0"/>
              </a:rPr>
              <a:t>Follower</a:t>
            </a:r>
          </a:p>
          <a:p>
            <a:pPr algn="ctr"/>
            <a:r>
              <a:rPr lang="en-US" altLang="zh-CN" sz="2400" dirty="0">
                <a:latin typeface="Garamond" panose="02020404030301010803" pitchFamily="18" charset="0"/>
              </a:rPr>
              <a:t>X: 5</a:t>
            </a:r>
            <a:endParaRPr lang="zh-CN" altLang="en-US" sz="2400" dirty="0">
              <a:latin typeface="Garamond" panose="02020404030301010803" pitchFamily="18" charset="0"/>
            </a:endParaRPr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EC5246C5-2737-490A-B4C3-1BEC2D6403EE}"/>
              </a:ext>
            </a:extLst>
          </p:cNvPr>
          <p:cNvSpPr/>
          <p:nvPr/>
        </p:nvSpPr>
        <p:spPr>
          <a:xfrm>
            <a:off x="2829792" y="4497196"/>
            <a:ext cx="2177472" cy="2177472"/>
          </a:xfrm>
          <a:prstGeom prst="ellipse">
            <a:avLst/>
          </a:prstGeom>
          <a:solidFill>
            <a:srgbClr val="A40A57"/>
          </a:solidFill>
          <a:ln w="38100">
            <a:solidFill>
              <a:srgbClr val="0000FF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latin typeface="Garamond" panose="02020404030301010803" pitchFamily="18" charset="0"/>
              </a:rPr>
              <a:t>Leader</a:t>
            </a:r>
          </a:p>
          <a:p>
            <a:pPr algn="ctr"/>
            <a:r>
              <a:rPr lang="en-US" altLang="zh-CN" sz="2400" dirty="0">
                <a:latin typeface="Garamond" panose="02020404030301010803" pitchFamily="18" charset="0"/>
              </a:rPr>
              <a:t>X: 5</a:t>
            </a:r>
            <a:endParaRPr lang="zh-CN" altLang="en-US" sz="2400" dirty="0">
              <a:latin typeface="Garamond" panose="02020404030301010803" pitchFamily="18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AF219D37-2DD9-4998-8BCB-C322C81F8BC5}"/>
              </a:ext>
            </a:extLst>
          </p:cNvPr>
          <p:cNvSpPr txBox="1"/>
          <p:nvPr/>
        </p:nvSpPr>
        <p:spPr>
          <a:xfrm>
            <a:off x="525319" y="1349793"/>
            <a:ext cx="5127336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CN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Leader</a:t>
            </a:r>
            <a:r>
              <a:rPr lang="zh-CN" altLang="en-US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向客户端响应修改完成。</a:t>
            </a:r>
            <a:endParaRPr lang="en-US" altLang="zh-CN" sz="2200" dirty="0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20" name="椭圆 19">
            <a:extLst>
              <a:ext uri="{FF2B5EF4-FFF2-40B4-BE49-F238E27FC236}">
                <a16:creationId xmlns:a16="http://schemas.microsoft.com/office/drawing/2014/main" id="{10139178-C8F6-4542-9CE2-83C772056915}"/>
              </a:ext>
            </a:extLst>
          </p:cNvPr>
          <p:cNvSpPr/>
          <p:nvPr/>
        </p:nvSpPr>
        <p:spPr>
          <a:xfrm>
            <a:off x="652320" y="5052266"/>
            <a:ext cx="1062182" cy="1062182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latin typeface="Garamond" panose="02020404030301010803" pitchFamily="18" charset="0"/>
              </a:rPr>
              <a:t>5</a:t>
            </a:r>
            <a:endParaRPr lang="zh-CN" altLang="en-US" sz="2400" dirty="0">
              <a:latin typeface="Garamond" panose="02020404030301010803" pitchFamily="18" charset="0"/>
            </a:endParaRPr>
          </a:p>
        </p:txBody>
      </p:sp>
      <p:cxnSp>
        <p:nvCxnSpPr>
          <p:cNvPr id="5" name="直接箭头连接符 4">
            <a:extLst>
              <a:ext uri="{FF2B5EF4-FFF2-40B4-BE49-F238E27FC236}">
                <a16:creationId xmlns:a16="http://schemas.microsoft.com/office/drawing/2014/main" id="{27F9CE9D-3771-47E6-B5D8-63B64DBE8F52}"/>
              </a:ext>
            </a:extLst>
          </p:cNvPr>
          <p:cNvCxnSpPr>
            <a:stCxn id="20" idx="6"/>
            <a:endCxn id="8" idx="2"/>
          </p:cNvCxnSpPr>
          <p:nvPr/>
        </p:nvCxnSpPr>
        <p:spPr>
          <a:xfrm>
            <a:off x="1714502" y="5583357"/>
            <a:ext cx="1115290" cy="2575"/>
          </a:xfrm>
          <a:prstGeom prst="straightConnector1">
            <a:avLst/>
          </a:prstGeom>
          <a:ln w="38100">
            <a:solidFill>
              <a:srgbClr val="0000FF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框 9">
            <a:extLst>
              <a:ext uri="{FF2B5EF4-FFF2-40B4-BE49-F238E27FC236}">
                <a16:creationId xmlns:a16="http://schemas.microsoft.com/office/drawing/2014/main" id="{997139DA-0BAE-45D1-996F-D23FCE66C20C}"/>
              </a:ext>
            </a:extLst>
          </p:cNvPr>
          <p:cNvSpPr txBox="1"/>
          <p:nvPr/>
        </p:nvSpPr>
        <p:spPr>
          <a:xfrm>
            <a:off x="4936011" y="6106654"/>
            <a:ext cx="1186543" cy="369332"/>
          </a:xfrm>
          <a:prstGeom prst="rect">
            <a:avLst/>
          </a:prstGeom>
          <a:noFill/>
          <a:ln w="38100">
            <a:solidFill>
              <a:srgbClr val="0000FF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Garamond" panose="02020404030301010803" pitchFamily="18" charset="0"/>
              </a:rPr>
              <a:t>SET X = 5</a:t>
            </a:r>
            <a:endParaRPr lang="zh-CN" altLang="en-US" dirty="0">
              <a:latin typeface="Garamond" panose="02020404030301010803" pitchFamily="18" charset="0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80463C1D-CBE2-4284-8B80-F8E70E35DF5B}"/>
              </a:ext>
            </a:extLst>
          </p:cNvPr>
          <p:cNvSpPr txBox="1"/>
          <p:nvPr/>
        </p:nvSpPr>
        <p:spPr>
          <a:xfrm>
            <a:off x="9362208" y="6101746"/>
            <a:ext cx="1186543" cy="369332"/>
          </a:xfrm>
          <a:prstGeom prst="rect">
            <a:avLst/>
          </a:prstGeom>
          <a:noFill/>
          <a:ln w="38100">
            <a:solidFill>
              <a:srgbClr val="0000FF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Garamond" panose="02020404030301010803" pitchFamily="18" charset="0"/>
              </a:rPr>
              <a:t>SET X = 5</a:t>
            </a:r>
            <a:endParaRPr lang="zh-CN" altLang="en-US" dirty="0">
              <a:latin typeface="Garamond" panose="02020404030301010803" pitchFamily="18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D8842262-9D60-4B2D-AAF0-199211A27F76}"/>
              </a:ext>
            </a:extLst>
          </p:cNvPr>
          <p:cNvSpPr txBox="1"/>
          <p:nvPr/>
        </p:nvSpPr>
        <p:spPr>
          <a:xfrm>
            <a:off x="7279408" y="2790332"/>
            <a:ext cx="1186543" cy="369332"/>
          </a:xfrm>
          <a:prstGeom prst="rect">
            <a:avLst/>
          </a:prstGeom>
          <a:noFill/>
          <a:ln w="38100">
            <a:solidFill>
              <a:srgbClr val="0000FF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Garamond" panose="02020404030301010803" pitchFamily="18" charset="0"/>
              </a:rPr>
              <a:t>SET X = 5</a:t>
            </a:r>
            <a:endParaRPr lang="zh-CN" altLang="en-US" dirty="0">
              <a:latin typeface="Garamond" panose="02020404030301010803" pitchFamily="18" charset="0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6ACB75A7-F29F-44C1-BF35-C794C36EC949}"/>
              </a:ext>
            </a:extLst>
          </p:cNvPr>
          <p:cNvSpPr txBox="1"/>
          <p:nvPr/>
        </p:nvSpPr>
        <p:spPr>
          <a:xfrm>
            <a:off x="2030038" y="5067912"/>
            <a:ext cx="537327" cy="369332"/>
          </a:xfrm>
          <a:prstGeom prst="rect">
            <a:avLst/>
          </a:prstGeom>
          <a:noFill/>
          <a:ln w="38100">
            <a:noFill/>
          </a:ln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Garamond" panose="02020404030301010803" pitchFamily="18" charset="0"/>
              </a:rPr>
              <a:t>OK</a:t>
            </a:r>
            <a:endParaRPr lang="zh-CN" altLang="en-US" dirty="0">
              <a:latin typeface="Garamond" panose="020204040303010108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41661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9" grpId="0" animBg="1"/>
      <p:bldP spid="8" grpId="0" animBg="1"/>
      <p:bldP spid="9" grpId="0"/>
      <p:bldP spid="20" grpId="0" animBg="1"/>
      <p:bldP spid="10" grpId="0" animBg="1"/>
      <p:bldP spid="14" grpId="0" animBg="1"/>
      <p:bldP spid="15" grpId="0" animBg="1"/>
      <p:bldP spid="21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脑裂</a:t>
            </a:r>
            <a:r>
              <a:rPr lang="en-US" altLang="zh-CN" dirty="0">
                <a:latin typeface="Garamond" panose="02020404030301010803" pitchFamily="18" charset="0"/>
                <a:ea typeface="微软雅黑" panose="020B0503020204020204" pitchFamily="34" charset="-122"/>
              </a:rPr>
              <a:t>(Split-brain)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1E41-7A09-AB4A-A4E1-09765ADA2698}" type="slidenum">
              <a:rPr kumimoji="1" lang="zh-CN" altLang="en-US" smtClean="0"/>
              <a:t>24</a:t>
            </a:fld>
            <a:endParaRPr kumimoji="1" lang="zh-CN" altLang="en-US" dirty="0"/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512BE87C-5429-4354-9525-19DDE97EAC61}"/>
              </a:ext>
            </a:extLst>
          </p:cNvPr>
          <p:cNvSpPr/>
          <p:nvPr/>
        </p:nvSpPr>
        <p:spPr>
          <a:xfrm>
            <a:off x="2429743" y="2224815"/>
            <a:ext cx="1289626" cy="1289626"/>
          </a:xfrm>
          <a:prstGeom prst="ellipse">
            <a:avLst/>
          </a:prstGeom>
          <a:solidFill>
            <a:srgbClr val="A40A57"/>
          </a:solidFill>
          <a:ln w="3810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latin typeface="Garamond" panose="02020404030301010803" pitchFamily="18" charset="0"/>
              </a:rPr>
              <a:t>A</a:t>
            </a:r>
            <a:endParaRPr lang="zh-CN" altLang="en-US" sz="2400" dirty="0">
              <a:latin typeface="Garamond" panose="02020404030301010803" pitchFamily="18" charset="0"/>
            </a:endParaRPr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EC5246C5-2737-490A-B4C3-1BEC2D6403EE}"/>
              </a:ext>
            </a:extLst>
          </p:cNvPr>
          <p:cNvSpPr/>
          <p:nvPr/>
        </p:nvSpPr>
        <p:spPr>
          <a:xfrm>
            <a:off x="473367" y="3490833"/>
            <a:ext cx="1289626" cy="1289626"/>
          </a:xfrm>
          <a:prstGeom prst="ellipse">
            <a:avLst/>
          </a:prstGeom>
          <a:solidFill>
            <a:srgbClr val="A40A57"/>
          </a:solidFill>
          <a:ln w="38100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latin typeface="Garamond" panose="02020404030301010803" pitchFamily="18" charset="0"/>
              </a:rPr>
              <a:t>B</a:t>
            </a:r>
            <a:endParaRPr lang="zh-CN" altLang="en-US" sz="2400" dirty="0">
              <a:latin typeface="Garamond" panose="02020404030301010803" pitchFamily="18" charset="0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B3D3AF4A-B961-4689-B075-A67219573BEE}"/>
              </a:ext>
            </a:extLst>
          </p:cNvPr>
          <p:cNvSpPr txBox="1"/>
          <p:nvPr/>
        </p:nvSpPr>
        <p:spPr>
          <a:xfrm>
            <a:off x="525318" y="1349793"/>
            <a:ext cx="8046027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脑裂：分布式系统由于网络故障，产生完全独立的分区、独立的</a:t>
            </a:r>
            <a:r>
              <a:rPr lang="en-US" altLang="zh-CN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Leader</a:t>
            </a:r>
            <a:r>
              <a:rPr lang="zh-CN" altLang="en-US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，分别对外提供服务，导致系统产生不一致性。</a:t>
            </a:r>
            <a:endParaRPr lang="en-US" altLang="zh-CN" sz="2200" dirty="0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495653BB-3708-4BF1-8FE1-3358B2759EFB}"/>
              </a:ext>
            </a:extLst>
          </p:cNvPr>
          <p:cNvSpPr/>
          <p:nvPr/>
        </p:nvSpPr>
        <p:spPr>
          <a:xfrm>
            <a:off x="4386121" y="3490833"/>
            <a:ext cx="1289626" cy="1289626"/>
          </a:xfrm>
          <a:prstGeom prst="ellipse">
            <a:avLst/>
          </a:prstGeom>
          <a:solidFill>
            <a:srgbClr val="A40A57"/>
          </a:solidFill>
          <a:ln w="38100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latin typeface="Garamond" panose="02020404030301010803" pitchFamily="18" charset="0"/>
              </a:rPr>
              <a:t>E</a:t>
            </a:r>
            <a:endParaRPr lang="zh-CN" altLang="en-US" sz="2400" dirty="0">
              <a:latin typeface="Garamond" panose="02020404030301010803" pitchFamily="18" charset="0"/>
            </a:endParaRPr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2AFFCDA8-54B1-496F-80C3-F9DB848A3DA3}"/>
              </a:ext>
            </a:extLst>
          </p:cNvPr>
          <p:cNvSpPr/>
          <p:nvPr/>
        </p:nvSpPr>
        <p:spPr>
          <a:xfrm>
            <a:off x="1558636" y="5432248"/>
            <a:ext cx="1289626" cy="1289626"/>
          </a:xfrm>
          <a:prstGeom prst="ellipse">
            <a:avLst/>
          </a:prstGeom>
          <a:solidFill>
            <a:srgbClr val="A40A57"/>
          </a:solidFill>
          <a:ln w="38100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latin typeface="Garamond" panose="02020404030301010803" pitchFamily="18" charset="0"/>
              </a:rPr>
              <a:t>C</a:t>
            </a:r>
            <a:endParaRPr lang="zh-CN" altLang="en-US" sz="2400" dirty="0">
              <a:latin typeface="Garamond" panose="02020404030301010803" pitchFamily="18" charset="0"/>
            </a:endParaRPr>
          </a:p>
        </p:txBody>
      </p:sp>
      <p:sp>
        <p:nvSpPr>
          <p:cNvPr id="22" name="椭圆 21">
            <a:extLst>
              <a:ext uri="{FF2B5EF4-FFF2-40B4-BE49-F238E27FC236}">
                <a16:creationId xmlns:a16="http://schemas.microsoft.com/office/drawing/2014/main" id="{40F3BC1D-02D0-4648-AF54-B030E72E3209}"/>
              </a:ext>
            </a:extLst>
          </p:cNvPr>
          <p:cNvSpPr/>
          <p:nvPr/>
        </p:nvSpPr>
        <p:spPr>
          <a:xfrm>
            <a:off x="3271987" y="5432248"/>
            <a:ext cx="1289626" cy="1289626"/>
          </a:xfrm>
          <a:prstGeom prst="ellipse">
            <a:avLst/>
          </a:prstGeom>
          <a:solidFill>
            <a:srgbClr val="A40A57"/>
          </a:solidFill>
          <a:ln w="38100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latin typeface="Garamond" panose="02020404030301010803" pitchFamily="18" charset="0"/>
              </a:rPr>
              <a:t>D</a:t>
            </a:r>
            <a:endParaRPr lang="zh-CN" altLang="en-US" sz="2400" dirty="0">
              <a:latin typeface="Garamond" panose="02020404030301010803" pitchFamily="18" charset="0"/>
            </a:endParaRPr>
          </a:p>
        </p:txBody>
      </p:sp>
      <p:cxnSp>
        <p:nvCxnSpPr>
          <p:cNvPr id="23" name="直接箭头连接符 22">
            <a:extLst>
              <a:ext uri="{FF2B5EF4-FFF2-40B4-BE49-F238E27FC236}">
                <a16:creationId xmlns:a16="http://schemas.microsoft.com/office/drawing/2014/main" id="{FB44FAFF-B036-495D-A237-4A46AAFB5B5E}"/>
              </a:ext>
            </a:extLst>
          </p:cNvPr>
          <p:cNvCxnSpPr>
            <a:cxnSpLocks/>
            <a:stCxn id="11" idx="2"/>
            <a:endCxn id="8" idx="7"/>
          </p:cNvCxnSpPr>
          <p:nvPr/>
        </p:nvCxnSpPr>
        <p:spPr>
          <a:xfrm flipH="1">
            <a:off x="1574132" y="2869628"/>
            <a:ext cx="855611" cy="810066"/>
          </a:xfrm>
          <a:prstGeom prst="straightConnector1">
            <a:avLst/>
          </a:prstGeom>
          <a:ln w="381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箭头连接符 23">
            <a:extLst>
              <a:ext uri="{FF2B5EF4-FFF2-40B4-BE49-F238E27FC236}">
                <a16:creationId xmlns:a16="http://schemas.microsoft.com/office/drawing/2014/main" id="{E641D0D9-92DD-409E-ABD0-8B3A9FAE7804}"/>
              </a:ext>
            </a:extLst>
          </p:cNvPr>
          <p:cNvCxnSpPr>
            <a:cxnSpLocks/>
            <a:stCxn id="11" idx="3"/>
            <a:endCxn id="18" idx="0"/>
          </p:cNvCxnSpPr>
          <p:nvPr/>
        </p:nvCxnSpPr>
        <p:spPr>
          <a:xfrm flipH="1">
            <a:off x="2203449" y="3325580"/>
            <a:ext cx="415155" cy="2106668"/>
          </a:xfrm>
          <a:prstGeom prst="straightConnector1">
            <a:avLst/>
          </a:prstGeom>
          <a:ln w="381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E376D524-3821-4566-8055-95E55435AA66}"/>
              </a:ext>
            </a:extLst>
          </p:cNvPr>
          <p:cNvCxnSpPr>
            <a:cxnSpLocks/>
            <a:stCxn id="11" idx="5"/>
            <a:endCxn id="22" idx="0"/>
          </p:cNvCxnSpPr>
          <p:nvPr/>
        </p:nvCxnSpPr>
        <p:spPr>
          <a:xfrm>
            <a:off x="3530508" y="3325580"/>
            <a:ext cx="386292" cy="2106668"/>
          </a:xfrm>
          <a:prstGeom prst="straightConnector1">
            <a:avLst/>
          </a:prstGeom>
          <a:ln w="381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箭头连接符 27">
            <a:extLst>
              <a:ext uri="{FF2B5EF4-FFF2-40B4-BE49-F238E27FC236}">
                <a16:creationId xmlns:a16="http://schemas.microsoft.com/office/drawing/2014/main" id="{C41208BE-AC90-4AFC-9F65-0ECA8DBAC9F9}"/>
              </a:ext>
            </a:extLst>
          </p:cNvPr>
          <p:cNvCxnSpPr>
            <a:cxnSpLocks/>
            <a:stCxn id="11" idx="6"/>
            <a:endCxn id="17" idx="1"/>
          </p:cNvCxnSpPr>
          <p:nvPr/>
        </p:nvCxnSpPr>
        <p:spPr>
          <a:xfrm>
            <a:off x="3719369" y="2869628"/>
            <a:ext cx="855613" cy="810066"/>
          </a:xfrm>
          <a:prstGeom prst="straightConnector1">
            <a:avLst/>
          </a:prstGeom>
          <a:ln w="381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椭圆 30">
            <a:extLst>
              <a:ext uri="{FF2B5EF4-FFF2-40B4-BE49-F238E27FC236}">
                <a16:creationId xmlns:a16="http://schemas.microsoft.com/office/drawing/2014/main" id="{FCB4E5B1-3E24-4E3E-B6A7-E06AA928E335}"/>
              </a:ext>
            </a:extLst>
          </p:cNvPr>
          <p:cNvSpPr/>
          <p:nvPr/>
        </p:nvSpPr>
        <p:spPr>
          <a:xfrm>
            <a:off x="8760206" y="2119234"/>
            <a:ext cx="1289626" cy="1289626"/>
          </a:xfrm>
          <a:prstGeom prst="ellipse">
            <a:avLst/>
          </a:prstGeom>
          <a:solidFill>
            <a:srgbClr val="A40A57"/>
          </a:solidFill>
          <a:ln w="3810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latin typeface="Garamond" panose="02020404030301010803" pitchFamily="18" charset="0"/>
              </a:rPr>
              <a:t>A</a:t>
            </a:r>
            <a:endParaRPr lang="zh-CN" altLang="en-US" sz="2400" dirty="0">
              <a:latin typeface="Garamond" panose="02020404030301010803" pitchFamily="18" charset="0"/>
            </a:endParaRPr>
          </a:p>
        </p:txBody>
      </p:sp>
      <p:sp>
        <p:nvSpPr>
          <p:cNvPr id="32" name="椭圆 31">
            <a:extLst>
              <a:ext uri="{FF2B5EF4-FFF2-40B4-BE49-F238E27FC236}">
                <a16:creationId xmlns:a16="http://schemas.microsoft.com/office/drawing/2014/main" id="{0FB11653-5FB4-4A8B-BFDD-199AC71ED46C}"/>
              </a:ext>
            </a:extLst>
          </p:cNvPr>
          <p:cNvSpPr/>
          <p:nvPr/>
        </p:nvSpPr>
        <p:spPr>
          <a:xfrm>
            <a:off x="6803830" y="3385252"/>
            <a:ext cx="1289626" cy="1289626"/>
          </a:xfrm>
          <a:prstGeom prst="ellipse">
            <a:avLst/>
          </a:prstGeom>
          <a:solidFill>
            <a:srgbClr val="A40A57"/>
          </a:solidFill>
          <a:ln w="38100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latin typeface="Garamond" panose="02020404030301010803" pitchFamily="18" charset="0"/>
              </a:rPr>
              <a:t>B</a:t>
            </a:r>
            <a:endParaRPr lang="zh-CN" altLang="en-US" sz="2400" dirty="0">
              <a:latin typeface="Garamond" panose="02020404030301010803" pitchFamily="18" charset="0"/>
            </a:endParaRPr>
          </a:p>
        </p:txBody>
      </p:sp>
      <p:sp>
        <p:nvSpPr>
          <p:cNvPr id="33" name="椭圆 32">
            <a:extLst>
              <a:ext uri="{FF2B5EF4-FFF2-40B4-BE49-F238E27FC236}">
                <a16:creationId xmlns:a16="http://schemas.microsoft.com/office/drawing/2014/main" id="{AFA522E5-6619-4D29-B0CD-BAAB3A4094E5}"/>
              </a:ext>
            </a:extLst>
          </p:cNvPr>
          <p:cNvSpPr/>
          <p:nvPr/>
        </p:nvSpPr>
        <p:spPr>
          <a:xfrm>
            <a:off x="10716584" y="3385252"/>
            <a:ext cx="1289626" cy="1289626"/>
          </a:xfrm>
          <a:prstGeom prst="ellipse">
            <a:avLst/>
          </a:prstGeom>
          <a:solidFill>
            <a:srgbClr val="A40A57"/>
          </a:solidFill>
          <a:ln w="38100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latin typeface="Garamond" panose="02020404030301010803" pitchFamily="18" charset="0"/>
              </a:rPr>
              <a:t>E</a:t>
            </a:r>
            <a:endParaRPr lang="zh-CN" altLang="en-US" sz="2400" dirty="0">
              <a:latin typeface="Garamond" panose="02020404030301010803" pitchFamily="18" charset="0"/>
            </a:endParaRPr>
          </a:p>
        </p:txBody>
      </p:sp>
      <p:sp>
        <p:nvSpPr>
          <p:cNvPr id="34" name="椭圆 33">
            <a:extLst>
              <a:ext uri="{FF2B5EF4-FFF2-40B4-BE49-F238E27FC236}">
                <a16:creationId xmlns:a16="http://schemas.microsoft.com/office/drawing/2014/main" id="{417ED046-32E5-4B14-83E4-DDCCAE506481}"/>
              </a:ext>
            </a:extLst>
          </p:cNvPr>
          <p:cNvSpPr/>
          <p:nvPr/>
        </p:nvSpPr>
        <p:spPr>
          <a:xfrm>
            <a:off x="7889099" y="5326667"/>
            <a:ext cx="1289626" cy="1289626"/>
          </a:xfrm>
          <a:prstGeom prst="ellipse">
            <a:avLst/>
          </a:prstGeom>
          <a:solidFill>
            <a:srgbClr val="A40A57"/>
          </a:solidFill>
          <a:ln w="38100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latin typeface="Garamond" panose="02020404030301010803" pitchFamily="18" charset="0"/>
              </a:rPr>
              <a:t>C</a:t>
            </a:r>
            <a:endParaRPr lang="zh-CN" altLang="en-US" sz="2400" dirty="0">
              <a:latin typeface="Garamond" panose="02020404030301010803" pitchFamily="18" charset="0"/>
            </a:endParaRPr>
          </a:p>
        </p:txBody>
      </p:sp>
      <p:sp>
        <p:nvSpPr>
          <p:cNvPr id="35" name="椭圆 34">
            <a:extLst>
              <a:ext uri="{FF2B5EF4-FFF2-40B4-BE49-F238E27FC236}">
                <a16:creationId xmlns:a16="http://schemas.microsoft.com/office/drawing/2014/main" id="{DD39FA3D-7E1D-4D1D-B086-07FCF5E09A41}"/>
              </a:ext>
            </a:extLst>
          </p:cNvPr>
          <p:cNvSpPr/>
          <p:nvPr/>
        </p:nvSpPr>
        <p:spPr>
          <a:xfrm>
            <a:off x="9602450" y="5326667"/>
            <a:ext cx="1289626" cy="1289626"/>
          </a:xfrm>
          <a:prstGeom prst="ellipse">
            <a:avLst/>
          </a:prstGeom>
          <a:solidFill>
            <a:srgbClr val="A40A57"/>
          </a:solidFill>
          <a:ln w="38100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latin typeface="Garamond" panose="02020404030301010803" pitchFamily="18" charset="0"/>
              </a:rPr>
              <a:t>D</a:t>
            </a:r>
            <a:endParaRPr lang="zh-CN" altLang="en-US" sz="2400" dirty="0">
              <a:latin typeface="Garamond" panose="02020404030301010803" pitchFamily="18" charset="0"/>
            </a:endParaRPr>
          </a:p>
        </p:txBody>
      </p:sp>
      <p:cxnSp>
        <p:nvCxnSpPr>
          <p:cNvPr id="36" name="直接箭头连接符 35">
            <a:extLst>
              <a:ext uri="{FF2B5EF4-FFF2-40B4-BE49-F238E27FC236}">
                <a16:creationId xmlns:a16="http://schemas.microsoft.com/office/drawing/2014/main" id="{310F36EB-B2EF-4AB3-9375-03CC6A473709}"/>
              </a:ext>
            </a:extLst>
          </p:cNvPr>
          <p:cNvCxnSpPr>
            <a:cxnSpLocks/>
            <a:stCxn id="31" idx="2"/>
            <a:endCxn id="32" idx="7"/>
          </p:cNvCxnSpPr>
          <p:nvPr/>
        </p:nvCxnSpPr>
        <p:spPr>
          <a:xfrm flipH="1">
            <a:off x="7904595" y="2764047"/>
            <a:ext cx="855611" cy="810066"/>
          </a:xfrm>
          <a:prstGeom prst="straightConnector1">
            <a:avLst/>
          </a:prstGeom>
          <a:ln w="381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箭头连接符 36">
            <a:extLst>
              <a:ext uri="{FF2B5EF4-FFF2-40B4-BE49-F238E27FC236}">
                <a16:creationId xmlns:a16="http://schemas.microsoft.com/office/drawing/2014/main" id="{1B6574AE-D69B-45F2-AEBD-45AEE93F82DB}"/>
              </a:ext>
            </a:extLst>
          </p:cNvPr>
          <p:cNvCxnSpPr>
            <a:cxnSpLocks/>
            <a:stCxn id="31" idx="3"/>
            <a:endCxn id="34" idx="0"/>
          </p:cNvCxnSpPr>
          <p:nvPr/>
        </p:nvCxnSpPr>
        <p:spPr>
          <a:xfrm flipH="1">
            <a:off x="8533912" y="3219999"/>
            <a:ext cx="415155" cy="2106668"/>
          </a:xfrm>
          <a:prstGeom prst="straightConnector1">
            <a:avLst/>
          </a:prstGeom>
          <a:ln w="381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箭头连接符 37">
            <a:extLst>
              <a:ext uri="{FF2B5EF4-FFF2-40B4-BE49-F238E27FC236}">
                <a16:creationId xmlns:a16="http://schemas.microsoft.com/office/drawing/2014/main" id="{1E9F355B-161F-4A5E-A401-C7718FF87D32}"/>
              </a:ext>
            </a:extLst>
          </p:cNvPr>
          <p:cNvCxnSpPr>
            <a:cxnSpLocks/>
            <a:stCxn id="31" idx="5"/>
            <a:endCxn id="35" idx="0"/>
          </p:cNvCxnSpPr>
          <p:nvPr/>
        </p:nvCxnSpPr>
        <p:spPr>
          <a:xfrm>
            <a:off x="9860971" y="3219999"/>
            <a:ext cx="386292" cy="2106668"/>
          </a:xfrm>
          <a:prstGeom prst="straightConnector1">
            <a:avLst/>
          </a:prstGeom>
          <a:ln w="381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接箭头连接符 38">
            <a:extLst>
              <a:ext uri="{FF2B5EF4-FFF2-40B4-BE49-F238E27FC236}">
                <a16:creationId xmlns:a16="http://schemas.microsoft.com/office/drawing/2014/main" id="{02ACCE04-7A42-4696-9B37-9A9A063458C6}"/>
              </a:ext>
            </a:extLst>
          </p:cNvPr>
          <p:cNvCxnSpPr>
            <a:cxnSpLocks/>
            <a:stCxn id="31" idx="6"/>
            <a:endCxn id="33" idx="1"/>
          </p:cNvCxnSpPr>
          <p:nvPr/>
        </p:nvCxnSpPr>
        <p:spPr>
          <a:xfrm>
            <a:off x="10049832" y="2764047"/>
            <a:ext cx="855613" cy="810066"/>
          </a:xfrm>
          <a:prstGeom prst="straightConnector1">
            <a:avLst/>
          </a:prstGeom>
          <a:ln w="381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乘号 41">
            <a:extLst>
              <a:ext uri="{FF2B5EF4-FFF2-40B4-BE49-F238E27FC236}">
                <a16:creationId xmlns:a16="http://schemas.microsoft.com/office/drawing/2014/main" id="{C9110D2F-BF94-418A-B839-654112879EFE}"/>
              </a:ext>
            </a:extLst>
          </p:cNvPr>
          <p:cNvSpPr/>
          <p:nvPr/>
        </p:nvSpPr>
        <p:spPr>
          <a:xfrm>
            <a:off x="8447547" y="3679694"/>
            <a:ext cx="656309" cy="656309"/>
          </a:xfrm>
          <a:prstGeom prst="mathMultiply">
            <a:avLst>
              <a:gd name="adj1" fmla="val 6194"/>
            </a:avLst>
          </a:prstGeom>
          <a:solidFill>
            <a:srgbClr val="FFD7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乘号 42">
            <a:extLst>
              <a:ext uri="{FF2B5EF4-FFF2-40B4-BE49-F238E27FC236}">
                <a16:creationId xmlns:a16="http://schemas.microsoft.com/office/drawing/2014/main" id="{41D378A7-0B50-41A9-9C2F-7B3A948840F9}"/>
              </a:ext>
            </a:extLst>
          </p:cNvPr>
          <p:cNvSpPr/>
          <p:nvPr/>
        </p:nvSpPr>
        <p:spPr>
          <a:xfrm>
            <a:off x="9675137" y="3701910"/>
            <a:ext cx="656309" cy="656309"/>
          </a:xfrm>
          <a:prstGeom prst="mathMultiply">
            <a:avLst>
              <a:gd name="adj1" fmla="val 6194"/>
            </a:avLst>
          </a:prstGeom>
          <a:solidFill>
            <a:srgbClr val="FFD7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61" name="组合 60">
            <a:extLst>
              <a:ext uri="{FF2B5EF4-FFF2-40B4-BE49-F238E27FC236}">
                <a16:creationId xmlns:a16="http://schemas.microsoft.com/office/drawing/2014/main" id="{B2EA84FB-0E28-4E84-92C1-7D54568B843C}"/>
              </a:ext>
            </a:extLst>
          </p:cNvPr>
          <p:cNvGrpSpPr/>
          <p:nvPr/>
        </p:nvGrpSpPr>
        <p:grpSpPr>
          <a:xfrm>
            <a:off x="8072455" y="4674878"/>
            <a:ext cx="2650351" cy="403519"/>
            <a:chOff x="5030934" y="2466108"/>
            <a:chExt cx="2650351" cy="403519"/>
          </a:xfrm>
        </p:grpSpPr>
        <p:cxnSp>
          <p:nvCxnSpPr>
            <p:cNvPr id="45" name="直接连接符 44">
              <a:extLst>
                <a:ext uri="{FF2B5EF4-FFF2-40B4-BE49-F238E27FC236}">
                  <a16:creationId xmlns:a16="http://schemas.microsoft.com/office/drawing/2014/main" id="{7B215EE2-9147-426D-AE90-8F0CF120544D}"/>
                </a:ext>
              </a:extLst>
            </p:cNvPr>
            <p:cNvCxnSpPr>
              <a:cxnSpLocks/>
            </p:cNvCxnSpPr>
            <p:nvPr/>
          </p:nvCxnSpPr>
          <p:spPr>
            <a:xfrm>
              <a:off x="5030934" y="2466108"/>
              <a:ext cx="0" cy="403519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直接连接符 45">
              <a:extLst>
                <a:ext uri="{FF2B5EF4-FFF2-40B4-BE49-F238E27FC236}">
                  <a16:creationId xmlns:a16="http://schemas.microsoft.com/office/drawing/2014/main" id="{27D67C06-3C9D-40C8-B1A8-CE2AC67F9A86}"/>
                </a:ext>
              </a:extLst>
            </p:cNvPr>
            <p:cNvCxnSpPr>
              <a:cxnSpLocks/>
            </p:cNvCxnSpPr>
            <p:nvPr/>
          </p:nvCxnSpPr>
          <p:spPr>
            <a:xfrm>
              <a:off x="5207624" y="2466108"/>
              <a:ext cx="0" cy="403519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接连接符 46">
              <a:extLst>
                <a:ext uri="{FF2B5EF4-FFF2-40B4-BE49-F238E27FC236}">
                  <a16:creationId xmlns:a16="http://schemas.microsoft.com/office/drawing/2014/main" id="{669E2777-51D2-4933-BE5E-F1D0FBD6D0A3}"/>
                </a:ext>
              </a:extLst>
            </p:cNvPr>
            <p:cNvCxnSpPr>
              <a:cxnSpLocks/>
            </p:cNvCxnSpPr>
            <p:nvPr/>
          </p:nvCxnSpPr>
          <p:spPr>
            <a:xfrm>
              <a:off x="5384314" y="2466108"/>
              <a:ext cx="0" cy="403519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直接连接符 47">
              <a:extLst>
                <a:ext uri="{FF2B5EF4-FFF2-40B4-BE49-F238E27FC236}">
                  <a16:creationId xmlns:a16="http://schemas.microsoft.com/office/drawing/2014/main" id="{96D009AB-23E1-488C-8566-7E0FB7CCEA89}"/>
                </a:ext>
              </a:extLst>
            </p:cNvPr>
            <p:cNvCxnSpPr>
              <a:cxnSpLocks/>
            </p:cNvCxnSpPr>
            <p:nvPr/>
          </p:nvCxnSpPr>
          <p:spPr>
            <a:xfrm>
              <a:off x="5561004" y="2466108"/>
              <a:ext cx="0" cy="403519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直接连接符 48">
              <a:extLst>
                <a:ext uri="{FF2B5EF4-FFF2-40B4-BE49-F238E27FC236}">
                  <a16:creationId xmlns:a16="http://schemas.microsoft.com/office/drawing/2014/main" id="{F237A720-F78E-410A-9CD7-2AFB5FD27165}"/>
                </a:ext>
              </a:extLst>
            </p:cNvPr>
            <p:cNvCxnSpPr>
              <a:cxnSpLocks/>
            </p:cNvCxnSpPr>
            <p:nvPr/>
          </p:nvCxnSpPr>
          <p:spPr>
            <a:xfrm>
              <a:off x="5737694" y="2466108"/>
              <a:ext cx="0" cy="403519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连接符 49">
              <a:extLst>
                <a:ext uri="{FF2B5EF4-FFF2-40B4-BE49-F238E27FC236}">
                  <a16:creationId xmlns:a16="http://schemas.microsoft.com/office/drawing/2014/main" id="{016E045B-E7CC-4985-A4C2-15D975C52CCA}"/>
                </a:ext>
              </a:extLst>
            </p:cNvPr>
            <p:cNvCxnSpPr>
              <a:cxnSpLocks/>
            </p:cNvCxnSpPr>
            <p:nvPr/>
          </p:nvCxnSpPr>
          <p:spPr>
            <a:xfrm>
              <a:off x="5914384" y="2466108"/>
              <a:ext cx="0" cy="403519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直接连接符 50">
              <a:extLst>
                <a:ext uri="{FF2B5EF4-FFF2-40B4-BE49-F238E27FC236}">
                  <a16:creationId xmlns:a16="http://schemas.microsoft.com/office/drawing/2014/main" id="{56BEB3C3-DE0A-4278-86DF-D90E6284897C}"/>
                </a:ext>
              </a:extLst>
            </p:cNvPr>
            <p:cNvCxnSpPr>
              <a:cxnSpLocks/>
            </p:cNvCxnSpPr>
            <p:nvPr/>
          </p:nvCxnSpPr>
          <p:spPr>
            <a:xfrm>
              <a:off x="6091074" y="2466108"/>
              <a:ext cx="0" cy="403519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直接连接符 51">
              <a:extLst>
                <a:ext uri="{FF2B5EF4-FFF2-40B4-BE49-F238E27FC236}">
                  <a16:creationId xmlns:a16="http://schemas.microsoft.com/office/drawing/2014/main" id="{00C07501-8F5B-4797-9EAD-37071E3E57E4}"/>
                </a:ext>
              </a:extLst>
            </p:cNvPr>
            <p:cNvCxnSpPr>
              <a:cxnSpLocks/>
            </p:cNvCxnSpPr>
            <p:nvPr/>
          </p:nvCxnSpPr>
          <p:spPr>
            <a:xfrm>
              <a:off x="6267764" y="2466108"/>
              <a:ext cx="0" cy="403519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直接连接符 52">
              <a:extLst>
                <a:ext uri="{FF2B5EF4-FFF2-40B4-BE49-F238E27FC236}">
                  <a16:creationId xmlns:a16="http://schemas.microsoft.com/office/drawing/2014/main" id="{CE2B422B-70A2-48E3-A270-928626146B7F}"/>
                </a:ext>
              </a:extLst>
            </p:cNvPr>
            <p:cNvCxnSpPr>
              <a:cxnSpLocks/>
            </p:cNvCxnSpPr>
            <p:nvPr/>
          </p:nvCxnSpPr>
          <p:spPr>
            <a:xfrm>
              <a:off x="6444454" y="2466108"/>
              <a:ext cx="0" cy="403519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直接连接符 53">
              <a:extLst>
                <a:ext uri="{FF2B5EF4-FFF2-40B4-BE49-F238E27FC236}">
                  <a16:creationId xmlns:a16="http://schemas.microsoft.com/office/drawing/2014/main" id="{5CE43C9F-A432-4153-BEAF-F6BAC876CE3E}"/>
                </a:ext>
              </a:extLst>
            </p:cNvPr>
            <p:cNvCxnSpPr>
              <a:cxnSpLocks/>
            </p:cNvCxnSpPr>
            <p:nvPr/>
          </p:nvCxnSpPr>
          <p:spPr>
            <a:xfrm>
              <a:off x="6621144" y="2466108"/>
              <a:ext cx="0" cy="403519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直接连接符 54">
              <a:extLst>
                <a:ext uri="{FF2B5EF4-FFF2-40B4-BE49-F238E27FC236}">
                  <a16:creationId xmlns:a16="http://schemas.microsoft.com/office/drawing/2014/main" id="{00802CBD-A342-4F25-8CC8-D73FAD19526E}"/>
                </a:ext>
              </a:extLst>
            </p:cNvPr>
            <p:cNvCxnSpPr>
              <a:cxnSpLocks/>
            </p:cNvCxnSpPr>
            <p:nvPr/>
          </p:nvCxnSpPr>
          <p:spPr>
            <a:xfrm>
              <a:off x="6797834" y="2466108"/>
              <a:ext cx="0" cy="403519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直接连接符 55">
              <a:extLst>
                <a:ext uri="{FF2B5EF4-FFF2-40B4-BE49-F238E27FC236}">
                  <a16:creationId xmlns:a16="http://schemas.microsoft.com/office/drawing/2014/main" id="{22CC721F-8A72-400A-87E1-D86D6AC8708E}"/>
                </a:ext>
              </a:extLst>
            </p:cNvPr>
            <p:cNvCxnSpPr>
              <a:cxnSpLocks/>
            </p:cNvCxnSpPr>
            <p:nvPr/>
          </p:nvCxnSpPr>
          <p:spPr>
            <a:xfrm>
              <a:off x="6974524" y="2466108"/>
              <a:ext cx="0" cy="403519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直接连接符 56">
              <a:extLst>
                <a:ext uri="{FF2B5EF4-FFF2-40B4-BE49-F238E27FC236}">
                  <a16:creationId xmlns:a16="http://schemas.microsoft.com/office/drawing/2014/main" id="{33479155-9DD0-4F94-9751-EF0E511B7844}"/>
                </a:ext>
              </a:extLst>
            </p:cNvPr>
            <p:cNvCxnSpPr>
              <a:cxnSpLocks/>
            </p:cNvCxnSpPr>
            <p:nvPr/>
          </p:nvCxnSpPr>
          <p:spPr>
            <a:xfrm>
              <a:off x="7151214" y="2466108"/>
              <a:ext cx="0" cy="403519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直接连接符 57">
              <a:extLst>
                <a:ext uri="{FF2B5EF4-FFF2-40B4-BE49-F238E27FC236}">
                  <a16:creationId xmlns:a16="http://schemas.microsoft.com/office/drawing/2014/main" id="{9E1418C0-7FF7-4680-9CF8-6F04E01213E7}"/>
                </a:ext>
              </a:extLst>
            </p:cNvPr>
            <p:cNvCxnSpPr>
              <a:cxnSpLocks/>
            </p:cNvCxnSpPr>
            <p:nvPr/>
          </p:nvCxnSpPr>
          <p:spPr>
            <a:xfrm>
              <a:off x="7327904" y="2466108"/>
              <a:ext cx="0" cy="403519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直接连接符 58">
              <a:extLst>
                <a:ext uri="{FF2B5EF4-FFF2-40B4-BE49-F238E27FC236}">
                  <a16:creationId xmlns:a16="http://schemas.microsoft.com/office/drawing/2014/main" id="{DA909AEB-453D-4516-B25B-7098234EB5F1}"/>
                </a:ext>
              </a:extLst>
            </p:cNvPr>
            <p:cNvCxnSpPr>
              <a:cxnSpLocks/>
            </p:cNvCxnSpPr>
            <p:nvPr/>
          </p:nvCxnSpPr>
          <p:spPr>
            <a:xfrm>
              <a:off x="7504594" y="2466108"/>
              <a:ext cx="0" cy="403519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直接连接符 59">
              <a:extLst>
                <a:ext uri="{FF2B5EF4-FFF2-40B4-BE49-F238E27FC236}">
                  <a16:creationId xmlns:a16="http://schemas.microsoft.com/office/drawing/2014/main" id="{4B8BE7BD-9971-44A2-A089-3D56884C0375}"/>
                </a:ext>
              </a:extLst>
            </p:cNvPr>
            <p:cNvCxnSpPr>
              <a:cxnSpLocks/>
            </p:cNvCxnSpPr>
            <p:nvPr/>
          </p:nvCxnSpPr>
          <p:spPr>
            <a:xfrm>
              <a:off x="7681285" y="2466108"/>
              <a:ext cx="0" cy="403519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2" name="箭头: 右 61">
            <a:extLst>
              <a:ext uri="{FF2B5EF4-FFF2-40B4-BE49-F238E27FC236}">
                <a16:creationId xmlns:a16="http://schemas.microsoft.com/office/drawing/2014/main" id="{06587776-A986-40C0-9540-E8FAF2812368}"/>
              </a:ext>
            </a:extLst>
          </p:cNvPr>
          <p:cNvSpPr/>
          <p:nvPr/>
        </p:nvSpPr>
        <p:spPr>
          <a:xfrm>
            <a:off x="6022905" y="3750925"/>
            <a:ext cx="518969" cy="769441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080265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8" grpId="0" animBg="1"/>
      <p:bldP spid="16" grpId="0"/>
      <p:bldP spid="17" grpId="0" animBg="1"/>
      <p:bldP spid="18" grpId="0" animBg="1"/>
      <p:bldP spid="22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42" grpId="0" animBg="1"/>
      <p:bldP spid="43" grpId="0" animBg="1"/>
      <p:bldP spid="62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脑裂</a:t>
            </a:r>
            <a:r>
              <a:rPr lang="en-US" altLang="zh-CN" dirty="0">
                <a:latin typeface="Garamond" panose="02020404030301010803" pitchFamily="18" charset="0"/>
                <a:ea typeface="微软雅黑" panose="020B0503020204020204" pitchFamily="34" charset="-122"/>
              </a:rPr>
              <a:t>(Split-brain)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1E41-7A09-AB4A-A4E1-09765ADA2698}" type="slidenum">
              <a:rPr kumimoji="1" lang="zh-CN" altLang="en-US" smtClean="0"/>
              <a:t>25</a:t>
            </a:fld>
            <a:endParaRPr kumimoji="1" lang="zh-CN" altLang="en-US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B3D3AF4A-B961-4689-B075-A67219573BEE}"/>
              </a:ext>
            </a:extLst>
          </p:cNvPr>
          <p:cNvSpPr txBox="1"/>
          <p:nvPr/>
        </p:nvSpPr>
        <p:spPr>
          <a:xfrm>
            <a:off x="525319" y="1349793"/>
            <a:ext cx="3790468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CN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RAFT</a:t>
            </a:r>
            <a:r>
              <a:rPr lang="zh-CN" altLang="en-US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能够对抗脑裂问题</a:t>
            </a:r>
            <a:endParaRPr lang="en-US" altLang="zh-CN" sz="2200" dirty="0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31" name="椭圆 30">
            <a:extLst>
              <a:ext uri="{FF2B5EF4-FFF2-40B4-BE49-F238E27FC236}">
                <a16:creationId xmlns:a16="http://schemas.microsoft.com/office/drawing/2014/main" id="{FCB4E5B1-3E24-4E3E-B6A7-E06AA928E335}"/>
              </a:ext>
            </a:extLst>
          </p:cNvPr>
          <p:cNvSpPr/>
          <p:nvPr/>
        </p:nvSpPr>
        <p:spPr>
          <a:xfrm>
            <a:off x="2183916" y="1780680"/>
            <a:ext cx="1289626" cy="1289626"/>
          </a:xfrm>
          <a:prstGeom prst="ellipse">
            <a:avLst/>
          </a:prstGeom>
          <a:solidFill>
            <a:srgbClr val="A40A57"/>
          </a:solidFill>
          <a:ln w="3810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latin typeface="Garamond" panose="02020404030301010803" pitchFamily="18" charset="0"/>
              </a:rPr>
              <a:t>Leader</a:t>
            </a:r>
            <a:endParaRPr lang="zh-CN" altLang="en-US" sz="2000" dirty="0">
              <a:latin typeface="Garamond" panose="02020404030301010803" pitchFamily="18" charset="0"/>
            </a:endParaRPr>
          </a:p>
        </p:txBody>
      </p:sp>
      <p:sp>
        <p:nvSpPr>
          <p:cNvPr id="32" name="椭圆 31">
            <a:extLst>
              <a:ext uri="{FF2B5EF4-FFF2-40B4-BE49-F238E27FC236}">
                <a16:creationId xmlns:a16="http://schemas.microsoft.com/office/drawing/2014/main" id="{0FB11653-5FB4-4A8B-BFDD-199AC71ED46C}"/>
              </a:ext>
            </a:extLst>
          </p:cNvPr>
          <p:cNvSpPr/>
          <p:nvPr/>
        </p:nvSpPr>
        <p:spPr>
          <a:xfrm>
            <a:off x="227540" y="3046698"/>
            <a:ext cx="1289626" cy="1289626"/>
          </a:xfrm>
          <a:prstGeom prst="ellipse">
            <a:avLst/>
          </a:prstGeom>
          <a:solidFill>
            <a:srgbClr val="A40A57"/>
          </a:solidFill>
          <a:ln w="38100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latin typeface="Garamond" panose="02020404030301010803" pitchFamily="18" charset="0"/>
            </a:endParaRPr>
          </a:p>
        </p:txBody>
      </p:sp>
      <p:sp>
        <p:nvSpPr>
          <p:cNvPr id="33" name="椭圆 32">
            <a:extLst>
              <a:ext uri="{FF2B5EF4-FFF2-40B4-BE49-F238E27FC236}">
                <a16:creationId xmlns:a16="http://schemas.microsoft.com/office/drawing/2014/main" id="{AFA522E5-6619-4D29-B0CD-BAAB3A4094E5}"/>
              </a:ext>
            </a:extLst>
          </p:cNvPr>
          <p:cNvSpPr/>
          <p:nvPr/>
        </p:nvSpPr>
        <p:spPr>
          <a:xfrm>
            <a:off x="4140294" y="3046698"/>
            <a:ext cx="1289626" cy="1289626"/>
          </a:xfrm>
          <a:prstGeom prst="ellipse">
            <a:avLst/>
          </a:prstGeom>
          <a:solidFill>
            <a:srgbClr val="A40A57"/>
          </a:solidFill>
          <a:ln w="38100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latin typeface="Garamond" panose="02020404030301010803" pitchFamily="18" charset="0"/>
            </a:endParaRPr>
          </a:p>
        </p:txBody>
      </p:sp>
      <p:sp>
        <p:nvSpPr>
          <p:cNvPr id="34" name="椭圆 33">
            <a:extLst>
              <a:ext uri="{FF2B5EF4-FFF2-40B4-BE49-F238E27FC236}">
                <a16:creationId xmlns:a16="http://schemas.microsoft.com/office/drawing/2014/main" id="{417ED046-32E5-4B14-83E4-DDCCAE506481}"/>
              </a:ext>
            </a:extLst>
          </p:cNvPr>
          <p:cNvSpPr/>
          <p:nvPr/>
        </p:nvSpPr>
        <p:spPr>
          <a:xfrm>
            <a:off x="1312809" y="4988113"/>
            <a:ext cx="1289626" cy="1289626"/>
          </a:xfrm>
          <a:prstGeom prst="ellipse">
            <a:avLst/>
          </a:prstGeom>
          <a:solidFill>
            <a:srgbClr val="A40A57"/>
          </a:solidFill>
          <a:ln w="38100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latin typeface="Garamond" panose="02020404030301010803" pitchFamily="18" charset="0"/>
            </a:endParaRPr>
          </a:p>
        </p:txBody>
      </p:sp>
      <p:sp>
        <p:nvSpPr>
          <p:cNvPr id="35" name="椭圆 34">
            <a:extLst>
              <a:ext uri="{FF2B5EF4-FFF2-40B4-BE49-F238E27FC236}">
                <a16:creationId xmlns:a16="http://schemas.microsoft.com/office/drawing/2014/main" id="{DD39FA3D-7E1D-4D1D-B086-07FCF5E09A41}"/>
              </a:ext>
            </a:extLst>
          </p:cNvPr>
          <p:cNvSpPr/>
          <p:nvPr/>
        </p:nvSpPr>
        <p:spPr>
          <a:xfrm>
            <a:off x="3026160" y="4988113"/>
            <a:ext cx="1289626" cy="1289626"/>
          </a:xfrm>
          <a:prstGeom prst="ellipse">
            <a:avLst/>
          </a:prstGeom>
          <a:solidFill>
            <a:srgbClr val="A40A57"/>
          </a:solidFill>
          <a:ln w="38100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latin typeface="Garamond" panose="02020404030301010803" pitchFamily="18" charset="0"/>
            </a:endParaRPr>
          </a:p>
        </p:txBody>
      </p:sp>
      <p:grpSp>
        <p:nvGrpSpPr>
          <p:cNvPr id="61" name="组合 60">
            <a:extLst>
              <a:ext uri="{FF2B5EF4-FFF2-40B4-BE49-F238E27FC236}">
                <a16:creationId xmlns:a16="http://schemas.microsoft.com/office/drawing/2014/main" id="{B2EA84FB-0E28-4E84-92C1-7D54568B843C}"/>
              </a:ext>
            </a:extLst>
          </p:cNvPr>
          <p:cNvGrpSpPr/>
          <p:nvPr/>
        </p:nvGrpSpPr>
        <p:grpSpPr>
          <a:xfrm>
            <a:off x="1496165" y="4336324"/>
            <a:ext cx="2650351" cy="403519"/>
            <a:chOff x="5030934" y="2466108"/>
            <a:chExt cx="2650351" cy="403519"/>
          </a:xfrm>
        </p:grpSpPr>
        <p:cxnSp>
          <p:nvCxnSpPr>
            <p:cNvPr id="45" name="直接连接符 44">
              <a:extLst>
                <a:ext uri="{FF2B5EF4-FFF2-40B4-BE49-F238E27FC236}">
                  <a16:creationId xmlns:a16="http://schemas.microsoft.com/office/drawing/2014/main" id="{7B215EE2-9147-426D-AE90-8F0CF120544D}"/>
                </a:ext>
              </a:extLst>
            </p:cNvPr>
            <p:cNvCxnSpPr>
              <a:cxnSpLocks/>
            </p:cNvCxnSpPr>
            <p:nvPr/>
          </p:nvCxnSpPr>
          <p:spPr>
            <a:xfrm>
              <a:off x="5030934" y="2466108"/>
              <a:ext cx="0" cy="403519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直接连接符 45">
              <a:extLst>
                <a:ext uri="{FF2B5EF4-FFF2-40B4-BE49-F238E27FC236}">
                  <a16:creationId xmlns:a16="http://schemas.microsoft.com/office/drawing/2014/main" id="{27D67C06-3C9D-40C8-B1A8-CE2AC67F9A86}"/>
                </a:ext>
              </a:extLst>
            </p:cNvPr>
            <p:cNvCxnSpPr>
              <a:cxnSpLocks/>
            </p:cNvCxnSpPr>
            <p:nvPr/>
          </p:nvCxnSpPr>
          <p:spPr>
            <a:xfrm>
              <a:off x="5207624" y="2466108"/>
              <a:ext cx="0" cy="403519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接连接符 46">
              <a:extLst>
                <a:ext uri="{FF2B5EF4-FFF2-40B4-BE49-F238E27FC236}">
                  <a16:creationId xmlns:a16="http://schemas.microsoft.com/office/drawing/2014/main" id="{669E2777-51D2-4933-BE5E-F1D0FBD6D0A3}"/>
                </a:ext>
              </a:extLst>
            </p:cNvPr>
            <p:cNvCxnSpPr>
              <a:cxnSpLocks/>
            </p:cNvCxnSpPr>
            <p:nvPr/>
          </p:nvCxnSpPr>
          <p:spPr>
            <a:xfrm>
              <a:off x="5384314" y="2466108"/>
              <a:ext cx="0" cy="403519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直接连接符 47">
              <a:extLst>
                <a:ext uri="{FF2B5EF4-FFF2-40B4-BE49-F238E27FC236}">
                  <a16:creationId xmlns:a16="http://schemas.microsoft.com/office/drawing/2014/main" id="{96D009AB-23E1-488C-8566-7E0FB7CCEA89}"/>
                </a:ext>
              </a:extLst>
            </p:cNvPr>
            <p:cNvCxnSpPr>
              <a:cxnSpLocks/>
            </p:cNvCxnSpPr>
            <p:nvPr/>
          </p:nvCxnSpPr>
          <p:spPr>
            <a:xfrm>
              <a:off x="5561004" y="2466108"/>
              <a:ext cx="0" cy="403519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直接连接符 48">
              <a:extLst>
                <a:ext uri="{FF2B5EF4-FFF2-40B4-BE49-F238E27FC236}">
                  <a16:creationId xmlns:a16="http://schemas.microsoft.com/office/drawing/2014/main" id="{F237A720-F78E-410A-9CD7-2AFB5FD27165}"/>
                </a:ext>
              </a:extLst>
            </p:cNvPr>
            <p:cNvCxnSpPr>
              <a:cxnSpLocks/>
            </p:cNvCxnSpPr>
            <p:nvPr/>
          </p:nvCxnSpPr>
          <p:spPr>
            <a:xfrm>
              <a:off x="5737694" y="2466108"/>
              <a:ext cx="0" cy="403519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连接符 49">
              <a:extLst>
                <a:ext uri="{FF2B5EF4-FFF2-40B4-BE49-F238E27FC236}">
                  <a16:creationId xmlns:a16="http://schemas.microsoft.com/office/drawing/2014/main" id="{016E045B-E7CC-4985-A4C2-15D975C52CCA}"/>
                </a:ext>
              </a:extLst>
            </p:cNvPr>
            <p:cNvCxnSpPr>
              <a:cxnSpLocks/>
            </p:cNvCxnSpPr>
            <p:nvPr/>
          </p:nvCxnSpPr>
          <p:spPr>
            <a:xfrm>
              <a:off x="5914384" y="2466108"/>
              <a:ext cx="0" cy="403519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直接连接符 50">
              <a:extLst>
                <a:ext uri="{FF2B5EF4-FFF2-40B4-BE49-F238E27FC236}">
                  <a16:creationId xmlns:a16="http://schemas.microsoft.com/office/drawing/2014/main" id="{56BEB3C3-DE0A-4278-86DF-D90E6284897C}"/>
                </a:ext>
              </a:extLst>
            </p:cNvPr>
            <p:cNvCxnSpPr>
              <a:cxnSpLocks/>
            </p:cNvCxnSpPr>
            <p:nvPr/>
          </p:nvCxnSpPr>
          <p:spPr>
            <a:xfrm>
              <a:off x="6091074" y="2466108"/>
              <a:ext cx="0" cy="403519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直接连接符 51">
              <a:extLst>
                <a:ext uri="{FF2B5EF4-FFF2-40B4-BE49-F238E27FC236}">
                  <a16:creationId xmlns:a16="http://schemas.microsoft.com/office/drawing/2014/main" id="{00C07501-8F5B-4797-9EAD-37071E3E57E4}"/>
                </a:ext>
              </a:extLst>
            </p:cNvPr>
            <p:cNvCxnSpPr>
              <a:cxnSpLocks/>
            </p:cNvCxnSpPr>
            <p:nvPr/>
          </p:nvCxnSpPr>
          <p:spPr>
            <a:xfrm>
              <a:off x="6267764" y="2466108"/>
              <a:ext cx="0" cy="403519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直接连接符 52">
              <a:extLst>
                <a:ext uri="{FF2B5EF4-FFF2-40B4-BE49-F238E27FC236}">
                  <a16:creationId xmlns:a16="http://schemas.microsoft.com/office/drawing/2014/main" id="{CE2B422B-70A2-48E3-A270-928626146B7F}"/>
                </a:ext>
              </a:extLst>
            </p:cNvPr>
            <p:cNvCxnSpPr>
              <a:cxnSpLocks/>
            </p:cNvCxnSpPr>
            <p:nvPr/>
          </p:nvCxnSpPr>
          <p:spPr>
            <a:xfrm>
              <a:off x="6444454" y="2466108"/>
              <a:ext cx="0" cy="403519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直接连接符 53">
              <a:extLst>
                <a:ext uri="{FF2B5EF4-FFF2-40B4-BE49-F238E27FC236}">
                  <a16:creationId xmlns:a16="http://schemas.microsoft.com/office/drawing/2014/main" id="{5CE43C9F-A432-4153-BEAF-F6BAC876CE3E}"/>
                </a:ext>
              </a:extLst>
            </p:cNvPr>
            <p:cNvCxnSpPr>
              <a:cxnSpLocks/>
            </p:cNvCxnSpPr>
            <p:nvPr/>
          </p:nvCxnSpPr>
          <p:spPr>
            <a:xfrm>
              <a:off x="6621144" y="2466108"/>
              <a:ext cx="0" cy="403519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直接连接符 54">
              <a:extLst>
                <a:ext uri="{FF2B5EF4-FFF2-40B4-BE49-F238E27FC236}">
                  <a16:creationId xmlns:a16="http://schemas.microsoft.com/office/drawing/2014/main" id="{00802CBD-A342-4F25-8CC8-D73FAD19526E}"/>
                </a:ext>
              </a:extLst>
            </p:cNvPr>
            <p:cNvCxnSpPr>
              <a:cxnSpLocks/>
            </p:cNvCxnSpPr>
            <p:nvPr/>
          </p:nvCxnSpPr>
          <p:spPr>
            <a:xfrm>
              <a:off x="6797834" y="2466108"/>
              <a:ext cx="0" cy="403519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直接连接符 55">
              <a:extLst>
                <a:ext uri="{FF2B5EF4-FFF2-40B4-BE49-F238E27FC236}">
                  <a16:creationId xmlns:a16="http://schemas.microsoft.com/office/drawing/2014/main" id="{22CC721F-8A72-400A-87E1-D86D6AC8708E}"/>
                </a:ext>
              </a:extLst>
            </p:cNvPr>
            <p:cNvCxnSpPr>
              <a:cxnSpLocks/>
            </p:cNvCxnSpPr>
            <p:nvPr/>
          </p:nvCxnSpPr>
          <p:spPr>
            <a:xfrm>
              <a:off x="6974524" y="2466108"/>
              <a:ext cx="0" cy="403519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直接连接符 56">
              <a:extLst>
                <a:ext uri="{FF2B5EF4-FFF2-40B4-BE49-F238E27FC236}">
                  <a16:creationId xmlns:a16="http://schemas.microsoft.com/office/drawing/2014/main" id="{33479155-9DD0-4F94-9751-EF0E511B7844}"/>
                </a:ext>
              </a:extLst>
            </p:cNvPr>
            <p:cNvCxnSpPr>
              <a:cxnSpLocks/>
            </p:cNvCxnSpPr>
            <p:nvPr/>
          </p:nvCxnSpPr>
          <p:spPr>
            <a:xfrm>
              <a:off x="7151214" y="2466108"/>
              <a:ext cx="0" cy="403519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直接连接符 57">
              <a:extLst>
                <a:ext uri="{FF2B5EF4-FFF2-40B4-BE49-F238E27FC236}">
                  <a16:creationId xmlns:a16="http://schemas.microsoft.com/office/drawing/2014/main" id="{9E1418C0-7FF7-4680-9CF8-6F04E01213E7}"/>
                </a:ext>
              </a:extLst>
            </p:cNvPr>
            <p:cNvCxnSpPr>
              <a:cxnSpLocks/>
            </p:cNvCxnSpPr>
            <p:nvPr/>
          </p:nvCxnSpPr>
          <p:spPr>
            <a:xfrm>
              <a:off x="7327904" y="2466108"/>
              <a:ext cx="0" cy="403519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直接连接符 58">
              <a:extLst>
                <a:ext uri="{FF2B5EF4-FFF2-40B4-BE49-F238E27FC236}">
                  <a16:creationId xmlns:a16="http://schemas.microsoft.com/office/drawing/2014/main" id="{DA909AEB-453D-4516-B25B-7098234EB5F1}"/>
                </a:ext>
              </a:extLst>
            </p:cNvPr>
            <p:cNvCxnSpPr>
              <a:cxnSpLocks/>
            </p:cNvCxnSpPr>
            <p:nvPr/>
          </p:nvCxnSpPr>
          <p:spPr>
            <a:xfrm>
              <a:off x="7504594" y="2466108"/>
              <a:ext cx="0" cy="403519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直接连接符 59">
              <a:extLst>
                <a:ext uri="{FF2B5EF4-FFF2-40B4-BE49-F238E27FC236}">
                  <a16:creationId xmlns:a16="http://schemas.microsoft.com/office/drawing/2014/main" id="{4B8BE7BD-9971-44A2-A089-3D56884C0375}"/>
                </a:ext>
              </a:extLst>
            </p:cNvPr>
            <p:cNvCxnSpPr>
              <a:cxnSpLocks/>
            </p:cNvCxnSpPr>
            <p:nvPr/>
          </p:nvCxnSpPr>
          <p:spPr>
            <a:xfrm>
              <a:off x="7681285" y="2466108"/>
              <a:ext cx="0" cy="403519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4" name="空心弧 43">
            <a:extLst>
              <a:ext uri="{FF2B5EF4-FFF2-40B4-BE49-F238E27FC236}">
                <a16:creationId xmlns:a16="http://schemas.microsoft.com/office/drawing/2014/main" id="{086ECDB0-A590-4220-AF73-56C8C87CF564}"/>
              </a:ext>
            </a:extLst>
          </p:cNvPr>
          <p:cNvSpPr/>
          <p:nvPr/>
        </p:nvSpPr>
        <p:spPr>
          <a:xfrm>
            <a:off x="1152214" y="4801884"/>
            <a:ext cx="1662084" cy="1662084"/>
          </a:xfrm>
          <a:prstGeom prst="blockArc">
            <a:avLst>
              <a:gd name="adj1" fmla="val 12531603"/>
              <a:gd name="adj2" fmla="val 16470703"/>
              <a:gd name="adj3" fmla="val 4067"/>
            </a:avLst>
          </a:prstGeom>
          <a:solidFill>
            <a:srgbClr val="FFD7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63" name="空心弧 62">
            <a:extLst>
              <a:ext uri="{FF2B5EF4-FFF2-40B4-BE49-F238E27FC236}">
                <a16:creationId xmlns:a16="http://schemas.microsoft.com/office/drawing/2014/main" id="{12E22086-D5D6-4F89-9539-35B781488424}"/>
              </a:ext>
            </a:extLst>
          </p:cNvPr>
          <p:cNvSpPr/>
          <p:nvPr/>
        </p:nvSpPr>
        <p:spPr>
          <a:xfrm>
            <a:off x="2828729" y="4801884"/>
            <a:ext cx="1662084" cy="1662084"/>
          </a:xfrm>
          <a:prstGeom prst="blockArc">
            <a:avLst>
              <a:gd name="adj1" fmla="val 6157370"/>
              <a:gd name="adj2" fmla="val 16470703"/>
              <a:gd name="adj3" fmla="val 4067"/>
            </a:avLst>
          </a:prstGeom>
          <a:solidFill>
            <a:srgbClr val="FFD7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64" name="椭圆 63">
            <a:extLst>
              <a:ext uri="{FF2B5EF4-FFF2-40B4-BE49-F238E27FC236}">
                <a16:creationId xmlns:a16="http://schemas.microsoft.com/office/drawing/2014/main" id="{C82E6E3A-F26B-429B-93ED-3C770AA43E3F}"/>
              </a:ext>
            </a:extLst>
          </p:cNvPr>
          <p:cNvSpPr/>
          <p:nvPr/>
        </p:nvSpPr>
        <p:spPr>
          <a:xfrm>
            <a:off x="651257" y="2106627"/>
            <a:ext cx="614123" cy="614123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latin typeface="Garamond" panose="02020404030301010803" pitchFamily="18" charset="0"/>
              </a:rPr>
              <a:t>5</a:t>
            </a:r>
            <a:endParaRPr lang="zh-CN" altLang="en-US" sz="2400" dirty="0">
              <a:latin typeface="Garamond" panose="02020404030301010803" pitchFamily="18" charset="0"/>
            </a:endParaRPr>
          </a:p>
        </p:txBody>
      </p:sp>
      <p:cxnSp>
        <p:nvCxnSpPr>
          <p:cNvPr id="65" name="直接箭头连接符 64">
            <a:extLst>
              <a:ext uri="{FF2B5EF4-FFF2-40B4-BE49-F238E27FC236}">
                <a16:creationId xmlns:a16="http://schemas.microsoft.com/office/drawing/2014/main" id="{ABA37896-7DB4-4230-86C5-44B751CD8981}"/>
              </a:ext>
            </a:extLst>
          </p:cNvPr>
          <p:cNvCxnSpPr>
            <a:cxnSpLocks/>
            <a:stCxn id="64" idx="6"/>
            <a:endCxn id="31" idx="2"/>
          </p:cNvCxnSpPr>
          <p:nvPr/>
        </p:nvCxnSpPr>
        <p:spPr>
          <a:xfrm>
            <a:off x="1265380" y="2413689"/>
            <a:ext cx="918536" cy="11804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文本框 65">
            <a:extLst>
              <a:ext uri="{FF2B5EF4-FFF2-40B4-BE49-F238E27FC236}">
                <a16:creationId xmlns:a16="http://schemas.microsoft.com/office/drawing/2014/main" id="{12AEB1FD-1A73-4040-B1C8-B35EB784F5F7}"/>
              </a:ext>
            </a:extLst>
          </p:cNvPr>
          <p:cNvSpPr txBox="1"/>
          <p:nvPr/>
        </p:nvSpPr>
        <p:spPr>
          <a:xfrm>
            <a:off x="6075716" y="1349792"/>
            <a:ext cx="4749302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CN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Leader</a:t>
            </a:r>
            <a:r>
              <a:rPr lang="zh-CN" altLang="en-US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所在簇继续进行日志复制</a:t>
            </a:r>
            <a:endParaRPr lang="en-US" altLang="zh-CN" sz="2200" dirty="0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67" name="椭圆 66">
            <a:extLst>
              <a:ext uri="{FF2B5EF4-FFF2-40B4-BE49-F238E27FC236}">
                <a16:creationId xmlns:a16="http://schemas.microsoft.com/office/drawing/2014/main" id="{2D05A189-30BF-4848-8CB4-150A9CEDE417}"/>
              </a:ext>
            </a:extLst>
          </p:cNvPr>
          <p:cNvSpPr/>
          <p:nvPr/>
        </p:nvSpPr>
        <p:spPr>
          <a:xfrm>
            <a:off x="8369054" y="1780680"/>
            <a:ext cx="1289626" cy="1289626"/>
          </a:xfrm>
          <a:prstGeom prst="ellipse">
            <a:avLst/>
          </a:prstGeom>
          <a:solidFill>
            <a:srgbClr val="A40A57"/>
          </a:solidFill>
          <a:ln w="3810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latin typeface="Garamond" panose="02020404030301010803" pitchFamily="18" charset="0"/>
            </a:endParaRPr>
          </a:p>
        </p:txBody>
      </p:sp>
      <p:sp>
        <p:nvSpPr>
          <p:cNvPr id="68" name="椭圆 67">
            <a:extLst>
              <a:ext uri="{FF2B5EF4-FFF2-40B4-BE49-F238E27FC236}">
                <a16:creationId xmlns:a16="http://schemas.microsoft.com/office/drawing/2014/main" id="{F8EEBCA4-FD69-420E-B43E-ACC01C578C0E}"/>
              </a:ext>
            </a:extLst>
          </p:cNvPr>
          <p:cNvSpPr/>
          <p:nvPr/>
        </p:nvSpPr>
        <p:spPr>
          <a:xfrm>
            <a:off x="6412678" y="3046698"/>
            <a:ext cx="1289626" cy="1289626"/>
          </a:xfrm>
          <a:prstGeom prst="ellipse">
            <a:avLst/>
          </a:prstGeom>
          <a:solidFill>
            <a:srgbClr val="A40A57"/>
          </a:solidFill>
          <a:ln w="38100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latin typeface="Garamond" panose="02020404030301010803" pitchFamily="18" charset="0"/>
            </a:endParaRPr>
          </a:p>
        </p:txBody>
      </p:sp>
      <p:sp>
        <p:nvSpPr>
          <p:cNvPr id="69" name="椭圆 68">
            <a:extLst>
              <a:ext uri="{FF2B5EF4-FFF2-40B4-BE49-F238E27FC236}">
                <a16:creationId xmlns:a16="http://schemas.microsoft.com/office/drawing/2014/main" id="{C66C5FCC-5A59-419A-AF32-80951E819B99}"/>
              </a:ext>
            </a:extLst>
          </p:cNvPr>
          <p:cNvSpPr/>
          <p:nvPr/>
        </p:nvSpPr>
        <p:spPr>
          <a:xfrm>
            <a:off x="10325432" y="3046698"/>
            <a:ext cx="1289626" cy="1289626"/>
          </a:xfrm>
          <a:prstGeom prst="ellipse">
            <a:avLst/>
          </a:prstGeom>
          <a:solidFill>
            <a:srgbClr val="A40A57"/>
          </a:solidFill>
          <a:ln w="38100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latin typeface="Garamond" panose="02020404030301010803" pitchFamily="18" charset="0"/>
            </a:endParaRPr>
          </a:p>
        </p:txBody>
      </p:sp>
      <p:sp>
        <p:nvSpPr>
          <p:cNvPr id="70" name="椭圆 69">
            <a:extLst>
              <a:ext uri="{FF2B5EF4-FFF2-40B4-BE49-F238E27FC236}">
                <a16:creationId xmlns:a16="http://schemas.microsoft.com/office/drawing/2014/main" id="{DCAA37C4-CB09-428F-9785-C5E242A318F5}"/>
              </a:ext>
            </a:extLst>
          </p:cNvPr>
          <p:cNvSpPr/>
          <p:nvPr/>
        </p:nvSpPr>
        <p:spPr>
          <a:xfrm>
            <a:off x="7497947" y="4988113"/>
            <a:ext cx="1289626" cy="1289626"/>
          </a:xfrm>
          <a:prstGeom prst="ellipse">
            <a:avLst/>
          </a:prstGeom>
          <a:solidFill>
            <a:srgbClr val="A40A57"/>
          </a:solidFill>
          <a:ln w="38100">
            <a:solidFill>
              <a:srgbClr val="0000FF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latin typeface="Garamond" panose="02020404030301010803" pitchFamily="18" charset="0"/>
              </a:rPr>
              <a:t>Candidate</a:t>
            </a:r>
            <a:endParaRPr lang="zh-CN" altLang="en-US" sz="1600" dirty="0">
              <a:latin typeface="Garamond" panose="02020404030301010803" pitchFamily="18" charset="0"/>
            </a:endParaRPr>
          </a:p>
        </p:txBody>
      </p:sp>
      <p:sp>
        <p:nvSpPr>
          <p:cNvPr id="71" name="椭圆 70">
            <a:extLst>
              <a:ext uri="{FF2B5EF4-FFF2-40B4-BE49-F238E27FC236}">
                <a16:creationId xmlns:a16="http://schemas.microsoft.com/office/drawing/2014/main" id="{530DD54F-80CC-4792-9F24-0BD94FE7DCA2}"/>
              </a:ext>
            </a:extLst>
          </p:cNvPr>
          <p:cNvSpPr/>
          <p:nvPr/>
        </p:nvSpPr>
        <p:spPr>
          <a:xfrm>
            <a:off x="9211298" y="4988113"/>
            <a:ext cx="1289626" cy="1289626"/>
          </a:xfrm>
          <a:prstGeom prst="ellipse">
            <a:avLst/>
          </a:prstGeom>
          <a:solidFill>
            <a:srgbClr val="A40A57"/>
          </a:solidFill>
          <a:ln w="38100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latin typeface="Garamond" panose="02020404030301010803" pitchFamily="18" charset="0"/>
            </a:endParaRPr>
          </a:p>
        </p:txBody>
      </p:sp>
      <p:cxnSp>
        <p:nvCxnSpPr>
          <p:cNvPr id="72" name="直接箭头连接符 71">
            <a:extLst>
              <a:ext uri="{FF2B5EF4-FFF2-40B4-BE49-F238E27FC236}">
                <a16:creationId xmlns:a16="http://schemas.microsoft.com/office/drawing/2014/main" id="{83C4A668-97B2-467D-9639-127ACE0A813A}"/>
              </a:ext>
            </a:extLst>
          </p:cNvPr>
          <p:cNvCxnSpPr>
            <a:cxnSpLocks/>
            <a:stCxn id="67" idx="2"/>
            <a:endCxn id="68" idx="7"/>
          </p:cNvCxnSpPr>
          <p:nvPr/>
        </p:nvCxnSpPr>
        <p:spPr>
          <a:xfrm flipH="1">
            <a:off x="7513443" y="2425493"/>
            <a:ext cx="855611" cy="810066"/>
          </a:xfrm>
          <a:prstGeom prst="straightConnector1">
            <a:avLst/>
          </a:prstGeom>
          <a:ln w="381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直接箭头连接符 72">
            <a:extLst>
              <a:ext uri="{FF2B5EF4-FFF2-40B4-BE49-F238E27FC236}">
                <a16:creationId xmlns:a16="http://schemas.microsoft.com/office/drawing/2014/main" id="{7611A6EC-FF56-4596-9E49-650E3FDB7E79}"/>
              </a:ext>
            </a:extLst>
          </p:cNvPr>
          <p:cNvCxnSpPr>
            <a:cxnSpLocks/>
            <a:stCxn id="67" idx="6"/>
            <a:endCxn id="69" idx="1"/>
          </p:cNvCxnSpPr>
          <p:nvPr/>
        </p:nvCxnSpPr>
        <p:spPr>
          <a:xfrm>
            <a:off x="9658680" y="2425493"/>
            <a:ext cx="855613" cy="810066"/>
          </a:xfrm>
          <a:prstGeom prst="straightConnector1">
            <a:avLst/>
          </a:prstGeom>
          <a:ln w="381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4" name="组合 73">
            <a:extLst>
              <a:ext uri="{FF2B5EF4-FFF2-40B4-BE49-F238E27FC236}">
                <a16:creationId xmlns:a16="http://schemas.microsoft.com/office/drawing/2014/main" id="{DED220CE-208C-4EBC-A775-19CBF928EF4C}"/>
              </a:ext>
            </a:extLst>
          </p:cNvPr>
          <p:cNvGrpSpPr/>
          <p:nvPr/>
        </p:nvGrpSpPr>
        <p:grpSpPr>
          <a:xfrm>
            <a:off x="7681303" y="4336324"/>
            <a:ext cx="2650351" cy="403519"/>
            <a:chOff x="5030934" y="2466108"/>
            <a:chExt cx="2650351" cy="403519"/>
          </a:xfrm>
        </p:grpSpPr>
        <p:cxnSp>
          <p:nvCxnSpPr>
            <p:cNvPr id="75" name="直接连接符 74">
              <a:extLst>
                <a:ext uri="{FF2B5EF4-FFF2-40B4-BE49-F238E27FC236}">
                  <a16:creationId xmlns:a16="http://schemas.microsoft.com/office/drawing/2014/main" id="{EE7D5459-F048-4AF4-BCCB-8064AC5FB149}"/>
                </a:ext>
              </a:extLst>
            </p:cNvPr>
            <p:cNvCxnSpPr>
              <a:cxnSpLocks/>
            </p:cNvCxnSpPr>
            <p:nvPr/>
          </p:nvCxnSpPr>
          <p:spPr>
            <a:xfrm>
              <a:off x="5030934" y="2466108"/>
              <a:ext cx="0" cy="403519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直接连接符 75">
              <a:extLst>
                <a:ext uri="{FF2B5EF4-FFF2-40B4-BE49-F238E27FC236}">
                  <a16:creationId xmlns:a16="http://schemas.microsoft.com/office/drawing/2014/main" id="{1E47B65F-714D-4291-9750-6A20E32E7EAA}"/>
                </a:ext>
              </a:extLst>
            </p:cNvPr>
            <p:cNvCxnSpPr>
              <a:cxnSpLocks/>
            </p:cNvCxnSpPr>
            <p:nvPr/>
          </p:nvCxnSpPr>
          <p:spPr>
            <a:xfrm>
              <a:off x="5207624" y="2466108"/>
              <a:ext cx="0" cy="403519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直接连接符 76">
              <a:extLst>
                <a:ext uri="{FF2B5EF4-FFF2-40B4-BE49-F238E27FC236}">
                  <a16:creationId xmlns:a16="http://schemas.microsoft.com/office/drawing/2014/main" id="{E5E8FCAC-98BD-44F6-8F63-2633AEAD291E}"/>
                </a:ext>
              </a:extLst>
            </p:cNvPr>
            <p:cNvCxnSpPr>
              <a:cxnSpLocks/>
            </p:cNvCxnSpPr>
            <p:nvPr/>
          </p:nvCxnSpPr>
          <p:spPr>
            <a:xfrm>
              <a:off x="5384314" y="2466108"/>
              <a:ext cx="0" cy="403519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直接连接符 77">
              <a:extLst>
                <a:ext uri="{FF2B5EF4-FFF2-40B4-BE49-F238E27FC236}">
                  <a16:creationId xmlns:a16="http://schemas.microsoft.com/office/drawing/2014/main" id="{127965E0-87D1-49FA-8F9E-1007704C4349}"/>
                </a:ext>
              </a:extLst>
            </p:cNvPr>
            <p:cNvCxnSpPr>
              <a:cxnSpLocks/>
            </p:cNvCxnSpPr>
            <p:nvPr/>
          </p:nvCxnSpPr>
          <p:spPr>
            <a:xfrm>
              <a:off x="5561004" y="2466108"/>
              <a:ext cx="0" cy="403519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直接连接符 78">
              <a:extLst>
                <a:ext uri="{FF2B5EF4-FFF2-40B4-BE49-F238E27FC236}">
                  <a16:creationId xmlns:a16="http://schemas.microsoft.com/office/drawing/2014/main" id="{0B178E70-C91A-479D-BC52-ED8E1CCF76B3}"/>
                </a:ext>
              </a:extLst>
            </p:cNvPr>
            <p:cNvCxnSpPr>
              <a:cxnSpLocks/>
            </p:cNvCxnSpPr>
            <p:nvPr/>
          </p:nvCxnSpPr>
          <p:spPr>
            <a:xfrm>
              <a:off x="5737694" y="2466108"/>
              <a:ext cx="0" cy="403519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直接连接符 79">
              <a:extLst>
                <a:ext uri="{FF2B5EF4-FFF2-40B4-BE49-F238E27FC236}">
                  <a16:creationId xmlns:a16="http://schemas.microsoft.com/office/drawing/2014/main" id="{D71486CD-C716-41B6-B00D-CD387FF57418}"/>
                </a:ext>
              </a:extLst>
            </p:cNvPr>
            <p:cNvCxnSpPr>
              <a:cxnSpLocks/>
            </p:cNvCxnSpPr>
            <p:nvPr/>
          </p:nvCxnSpPr>
          <p:spPr>
            <a:xfrm>
              <a:off x="5914384" y="2466108"/>
              <a:ext cx="0" cy="403519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直接连接符 80">
              <a:extLst>
                <a:ext uri="{FF2B5EF4-FFF2-40B4-BE49-F238E27FC236}">
                  <a16:creationId xmlns:a16="http://schemas.microsoft.com/office/drawing/2014/main" id="{FA0B7776-D8E0-4FB4-B9A2-8A62770B224E}"/>
                </a:ext>
              </a:extLst>
            </p:cNvPr>
            <p:cNvCxnSpPr>
              <a:cxnSpLocks/>
            </p:cNvCxnSpPr>
            <p:nvPr/>
          </p:nvCxnSpPr>
          <p:spPr>
            <a:xfrm>
              <a:off x="6091074" y="2466108"/>
              <a:ext cx="0" cy="403519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直接连接符 81">
              <a:extLst>
                <a:ext uri="{FF2B5EF4-FFF2-40B4-BE49-F238E27FC236}">
                  <a16:creationId xmlns:a16="http://schemas.microsoft.com/office/drawing/2014/main" id="{06D5A45C-3B9E-45BB-9468-CF76F9AB1AAD}"/>
                </a:ext>
              </a:extLst>
            </p:cNvPr>
            <p:cNvCxnSpPr>
              <a:cxnSpLocks/>
            </p:cNvCxnSpPr>
            <p:nvPr/>
          </p:nvCxnSpPr>
          <p:spPr>
            <a:xfrm>
              <a:off x="6267764" y="2466108"/>
              <a:ext cx="0" cy="403519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直接连接符 82">
              <a:extLst>
                <a:ext uri="{FF2B5EF4-FFF2-40B4-BE49-F238E27FC236}">
                  <a16:creationId xmlns:a16="http://schemas.microsoft.com/office/drawing/2014/main" id="{1C35E2A9-5374-4AEA-BA83-76DF023A45E4}"/>
                </a:ext>
              </a:extLst>
            </p:cNvPr>
            <p:cNvCxnSpPr>
              <a:cxnSpLocks/>
            </p:cNvCxnSpPr>
            <p:nvPr/>
          </p:nvCxnSpPr>
          <p:spPr>
            <a:xfrm>
              <a:off x="6444454" y="2466108"/>
              <a:ext cx="0" cy="403519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直接连接符 83">
              <a:extLst>
                <a:ext uri="{FF2B5EF4-FFF2-40B4-BE49-F238E27FC236}">
                  <a16:creationId xmlns:a16="http://schemas.microsoft.com/office/drawing/2014/main" id="{46F30D72-543D-42D1-90C9-374C7E30CF9C}"/>
                </a:ext>
              </a:extLst>
            </p:cNvPr>
            <p:cNvCxnSpPr>
              <a:cxnSpLocks/>
            </p:cNvCxnSpPr>
            <p:nvPr/>
          </p:nvCxnSpPr>
          <p:spPr>
            <a:xfrm>
              <a:off x="6621144" y="2466108"/>
              <a:ext cx="0" cy="403519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直接连接符 84">
              <a:extLst>
                <a:ext uri="{FF2B5EF4-FFF2-40B4-BE49-F238E27FC236}">
                  <a16:creationId xmlns:a16="http://schemas.microsoft.com/office/drawing/2014/main" id="{E8EC09CB-472A-4785-8320-F64977B1B679}"/>
                </a:ext>
              </a:extLst>
            </p:cNvPr>
            <p:cNvCxnSpPr>
              <a:cxnSpLocks/>
            </p:cNvCxnSpPr>
            <p:nvPr/>
          </p:nvCxnSpPr>
          <p:spPr>
            <a:xfrm>
              <a:off x="6797834" y="2466108"/>
              <a:ext cx="0" cy="403519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直接连接符 85">
              <a:extLst>
                <a:ext uri="{FF2B5EF4-FFF2-40B4-BE49-F238E27FC236}">
                  <a16:creationId xmlns:a16="http://schemas.microsoft.com/office/drawing/2014/main" id="{3644D382-6926-4313-B5E5-4887299141A8}"/>
                </a:ext>
              </a:extLst>
            </p:cNvPr>
            <p:cNvCxnSpPr>
              <a:cxnSpLocks/>
            </p:cNvCxnSpPr>
            <p:nvPr/>
          </p:nvCxnSpPr>
          <p:spPr>
            <a:xfrm>
              <a:off x="6974524" y="2466108"/>
              <a:ext cx="0" cy="403519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直接连接符 86">
              <a:extLst>
                <a:ext uri="{FF2B5EF4-FFF2-40B4-BE49-F238E27FC236}">
                  <a16:creationId xmlns:a16="http://schemas.microsoft.com/office/drawing/2014/main" id="{09558EEE-B328-461E-92EB-2249170002A1}"/>
                </a:ext>
              </a:extLst>
            </p:cNvPr>
            <p:cNvCxnSpPr>
              <a:cxnSpLocks/>
            </p:cNvCxnSpPr>
            <p:nvPr/>
          </p:nvCxnSpPr>
          <p:spPr>
            <a:xfrm>
              <a:off x="7151214" y="2466108"/>
              <a:ext cx="0" cy="403519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直接连接符 87">
              <a:extLst>
                <a:ext uri="{FF2B5EF4-FFF2-40B4-BE49-F238E27FC236}">
                  <a16:creationId xmlns:a16="http://schemas.microsoft.com/office/drawing/2014/main" id="{8488B8EA-47E8-4A3E-ACAC-FED46D98B877}"/>
                </a:ext>
              </a:extLst>
            </p:cNvPr>
            <p:cNvCxnSpPr>
              <a:cxnSpLocks/>
            </p:cNvCxnSpPr>
            <p:nvPr/>
          </p:nvCxnSpPr>
          <p:spPr>
            <a:xfrm>
              <a:off x="7327904" y="2466108"/>
              <a:ext cx="0" cy="403519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直接连接符 88">
              <a:extLst>
                <a:ext uri="{FF2B5EF4-FFF2-40B4-BE49-F238E27FC236}">
                  <a16:creationId xmlns:a16="http://schemas.microsoft.com/office/drawing/2014/main" id="{FA2D74A5-33DE-40D0-8AF7-05B703B8C82F}"/>
                </a:ext>
              </a:extLst>
            </p:cNvPr>
            <p:cNvCxnSpPr>
              <a:cxnSpLocks/>
            </p:cNvCxnSpPr>
            <p:nvPr/>
          </p:nvCxnSpPr>
          <p:spPr>
            <a:xfrm>
              <a:off x="7504594" y="2466108"/>
              <a:ext cx="0" cy="403519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直接连接符 89">
              <a:extLst>
                <a:ext uri="{FF2B5EF4-FFF2-40B4-BE49-F238E27FC236}">
                  <a16:creationId xmlns:a16="http://schemas.microsoft.com/office/drawing/2014/main" id="{201895F2-99DE-4D53-A0B0-8CEA54EB4374}"/>
                </a:ext>
              </a:extLst>
            </p:cNvPr>
            <p:cNvCxnSpPr>
              <a:cxnSpLocks/>
            </p:cNvCxnSpPr>
            <p:nvPr/>
          </p:nvCxnSpPr>
          <p:spPr>
            <a:xfrm>
              <a:off x="7681285" y="2466108"/>
              <a:ext cx="0" cy="403519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1" name="空心弧 90">
            <a:extLst>
              <a:ext uri="{FF2B5EF4-FFF2-40B4-BE49-F238E27FC236}">
                <a16:creationId xmlns:a16="http://schemas.microsoft.com/office/drawing/2014/main" id="{2922D28E-F1BB-496B-8D1B-83C10BA4B6F1}"/>
              </a:ext>
            </a:extLst>
          </p:cNvPr>
          <p:cNvSpPr/>
          <p:nvPr/>
        </p:nvSpPr>
        <p:spPr>
          <a:xfrm>
            <a:off x="7337352" y="4801884"/>
            <a:ext cx="1662084" cy="1662084"/>
          </a:xfrm>
          <a:prstGeom prst="blockArc">
            <a:avLst>
              <a:gd name="adj1" fmla="val 16077540"/>
              <a:gd name="adj2" fmla="val 16470703"/>
              <a:gd name="adj3" fmla="val 4067"/>
            </a:avLst>
          </a:prstGeom>
          <a:solidFill>
            <a:srgbClr val="FFD7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92" name="空心弧 91">
            <a:extLst>
              <a:ext uri="{FF2B5EF4-FFF2-40B4-BE49-F238E27FC236}">
                <a16:creationId xmlns:a16="http://schemas.microsoft.com/office/drawing/2014/main" id="{8D9DD065-8598-4B34-9B6A-6684CFCD7835}"/>
              </a:ext>
            </a:extLst>
          </p:cNvPr>
          <p:cNvSpPr/>
          <p:nvPr/>
        </p:nvSpPr>
        <p:spPr>
          <a:xfrm>
            <a:off x="9013867" y="4801884"/>
            <a:ext cx="1662084" cy="1662084"/>
          </a:xfrm>
          <a:prstGeom prst="blockArc">
            <a:avLst>
              <a:gd name="adj1" fmla="val 6157370"/>
              <a:gd name="adj2" fmla="val 16470703"/>
              <a:gd name="adj3" fmla="val 4067"/>
            </a:avLst>
          </a:prstGeom>
          <a:solidFill>
            <a:srgbClr val="FFD7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93" name="椭圆 92">
            <a:extLst>
              <a:ext uri="{FF2B5EF4-FFF2-40B4-BE49-F238E27FC236}">
                <a16:creationId xmlns:a16="http://schemas.microsoft.com/office/drawing/2014/main" id="{80AE2134-457A-4F0E-B025-D0592EC71CF6}"/>
              </a:ext>
            </a:extLst>
          </p:cNvPr>
          <p:cNvSpPr/>
          <p:nvPr/>
        </p:nvSpPr>
        <p:spPr>
          <a:xfrm>
            <a:off x="6836395" y="2106627"/>
            <a:ext cx="614123" cy="614123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latin typeface="Garamond" panose="02020404030301010803" pitchFamily="18" charset="0"/>
              </a:rPr>
              <a:t>5</a:t>
            </a:r>
            <a:endParaRPr lang="zh-CN" altLang="en-US" sz="2400" dirty="0">
              <a:latin typeface="Garamond" panose="02020404030301010803" pitchFamily="18" charset="0"/>
            </a:endParaRPr>
          </a:p>
        </p:txBody>
      </p:sp>
      <p:cxnSp>
        <p:nvCxnSpPr>
          <p:cNvPr id="94" name="直接箭头连接符 93">
            <a:extLst>
              <a:ext uri="{FF2B5EF4-FFF2-40B4-BE49-F238E27FC236}">
                <a16:creationId xmlns:a16="http://schemas.microsoft.com/office/drawing/2014/main" id="{8BD1275D-30C9-49E9-8E9D-6BCD73A52B6C}"/>
              </a:ext>
            </a:extLst>
          </p:cNvPr>
          <p:cNvCxnSpPr>
            <a:cxnSpLocks/>
            <a:stCxn id="93" idx="6"/>
            <a:endCxn id="67" idx="2"/>
          </p:cNvCxnSpPr>
          <p:nvPr/>
        </p:nvCxnSpPr>
        <p:spPr>
          <a:xfrm>
            <a:off x="7450518" y="2413689"/>
            <a:ext cx="918536" cy="11804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文本框 94">
            <a:extLst>
              <a:ext uri="{FF2B5EF4-FFF2-40B4-BE49-F238E27FC236}">
                <a16:creationId xmlns:a16="http://schemas.microsoft.com/office/drawing/2014/main" id="{2585AD0B-0DBF-4149-996C-57B92E1C16F9}"/>
              </a:ext>
            </a:extLst>
          </p:cNvPr>
          <p:cNvSpPr txBox="1"/>
          <p:nvPr/>
        </p:nvSpPr>
        <p:spPr>
          <a:xfrm>
            <a:off x="6219340" y="6405706"/>
            <a:ext cx="5750966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新分区收不到</a:t>
            </a:r>
            <a:r>
              <a:rPr lang="en-US" altLang="zh-CN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Leader</a:t>
            </a:r>
            <a:r>
              <a:rPr lang="zh-CN" altLang="en-US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的心跳，进入选举阶段</a:t>
            </a:r>
            <a:endParaRPr lang="en-US" altLang="zh-CN" sz="2200" dirty="0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96" name="文本框 95">
            <a:extLst>
              <a:ext uri="{FF2B5EF4-FFF2-40B4-BE49-F238E27FC236}">
                <a16:creationId xmlns:a16="http://schemas.microsoft.com/office/drawing/2014/main" id="{87882433-FD68-4767-8881-DD779CB5563A}"/>
              </a:ext>
            </a:extLst>
          </p:cNvPr>
          <p:cNvSpPr txBox="1"/>
          <p:nvPr/>
        </p:nvSpPr>
        <p:spPr>
          <a:xfrm>
            <a:off x="8121140" y="3061976"/>
            <a:ext cx="1947389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200" dirty="0" err="1">
                <a:latin typeface="Garamond" panose="02020404030301010803" pitchFamily="18" charset="0"/>
                <a:ea typeface="微软雅黑" panose="020B0503020204020204" pitchFamily="34" charset="-122"/>
              </a:rPr>
              <a:t>AppendEntries</a:t>
            </a:r>
            <a:endParaRPr lang="en-US" altLang="zh-CN" sz="2200" dirty="0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97" name="文本框 96">
            <a:extLst>
              <a:ext uri="{FF2B5EF4-FFF2-40B4-BE49-F238E27FC236}">
                <a16:creationId xmlns:a16="http://schemas.microsoft.com/office/drawing/2014/main" id="{54673D64-0329-42DF-AD3E-C19AD20E739A}"/>
              </a:ext>
            </a:extLst>
          </p:cNvPr>
          <p:cNvSpPr txBox="1"/>
          <p:nvPr/>
        </p:nvSpPr>
        <p:spPr>
          <a:xfrm>
            <a:off x="6265812" y="4623938"/>
            <a:ext cx="1662084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200" dirty="0" err="1">
                <a:latin typeface="Garamond" panose="02020404030301010803" pitchFamily="18" charset="0"/>
                <a:ea typeface="微软雅黑" panose="020B0503020204020204" pitchFamily="34" charset="-122"/>
              </a:rPr>
              <a:t>RequestVote</a:t>
            </a:r>
            <a:endParaRPr lang="en-US" altLang="zh-CN" sz="2200" dirty="0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98" name="箭头: 右 97">
            <a:extLst>
              <a:ext uri="{FF2B5EF4-FFF2-40B4-BE49-F238E27FC236}">
                <a16:creationId xmlns:a16="http://schemas.microsoft.com/office/drawing/2014/main" id="{53D5ACB1-5898-4C76-8EA4-5644D641DEB1}"/>
              </a:ext>
            </a:extLst>
          </p:cNvPr>
          <p:cNvSpPr/>
          <p:nvPr/>
        </p:nvSpPr>
        <p:spPr>
          <a:xfrm>
            <a:off x="5661814" y="3426024"/>
            <a:ext cx="518969" cy="769441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400752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31" grpId="0" animBg="1"/>
      <p:bldP spid="32" grpId="0" animBg="1"/>
      <p:bldP spid="33" grpId="0" animBg="1"/>
      <p:bldP spid="34" grpId="0" animBg="1"/>
      <p:bldP spid="35" grpId="0" animBg="1"/>
      <p:bldP spid="44" grpId="0" animBg="1"/>
      <p:bldP spid="63" grpId="0" animBg="1"/>
      <p:bldP spid="64" grpId="0" animBg="1"/>
      <p:bldP spid="66" grpId="0"/>
      <p:bldP spid="67" grpId="0" animBg="1"/>
      <p:bldP spid="68" grpId="0" animBg="1"/>
      <p:bldP spid="69" grpId="0" animBg="1"/>
      <p:bldP spid="70" grpId="0" animBg="1"/>
      <p:bldP spid="71" grpId="0" animBg="1"/>
      <p:bldP spid="91" grpId="0" animBg="1"/>
      <p:bldP spid="92" grpId="0" animBg="1"/>
      <p:bldP spid="93" grpId="0" animBg="1"/>
      <p:bldP spid="95" grpId="0"/>
      <p:bldP spid="96" grpId="0"/>
      <p:bldP spid="97" grpId="0"/>
      <p:bldP spid="98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脑裂</a:t>
            </a:r>
            <a:r>
              <a:rPr lang="en-US" altLang="zh-CN" dirty="0">
                <a:latin typeface="Garamond" panose="02020404030301010803" pitchFamily="18" charset="0"/>
                <a:ea typeface="微软雅黑" panose="020B0503020204020204" pitchFamily="34" charset="-122"/>
              </a:rPr>
              <a:t>(Split-brain)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1E41-7A09-AB4A-A4E1-09765ADA2698}" type="slidenum">
              <a:rPr kumimoji="1" lang="zh-CN" altLang="en-US" smtClean="0"/>
              <a:t>26</a:t>
            </a:fld>
            <a:endParaRPr kumimoji="1" lang="zh-CN" altLang="en-US" dirty="0"/>
          </a:p>
        </p:txBody>
      </p:sp>
      <p:sp>
        <p:nvSpPr>
          <p:cNvPr id="67" name="椭圆 66">
            <a:extLst>
              <a:ext uri="{FF2B5EF4-FFF2-40B4-BE49-F238E27FC236}">
                <a16:creationId xmlns:a16="http://schemas.microsoft.com/office/drawing/2014/main" id="{2D05A189-30BF-4848-8CB4-150A9CEDE417}"/>
              </a:ext>
            </a:extLst>
          </p:cNvPr>
          <p:cNvSpPr/>
          <p:nvPr/>
        </p:nvSpPr>
        <p:spPr>
          <a:xfrm>
            <a:off x="2254581" y="2068294"/>
            <a:ext cx="1289626" cy="1289626"/>
          </a:xfrm>
          <a:prstGeom prst="ellipse">
            <a:avLst/>
          </a:prstGeom>
          <a:solidFill>
            <a:srgbClr val="A40A57"/>
          </a:solidFill>
          <a:ln w="3810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latin typeface="Garamond" panose="02020404030301010803" pitchFamily="18" charset="0"/>
              </a:rPr>
              <a:t>X: 5</a:t>
            </a:r>
            <a:endParaRPr lang="zh-CN" altLang="en-US" sz="2400" dirty="0">
              <a:latin typeface="Garamond" panose="02020404030301010803" pitchFamily="18" charset="0"/>
            </a:endParaRPr>
          </a:p>
        </p:txBody>
      </p:sp>
      <p:sp>
        <p:nvSpPr>
          <p:cNvPr id="68" name="椭圆 67">
            <a:extLst>
              <a:ext uri="{FF2B5EF4-FFF2-40B4-BE49-F238E27FC236}">
                <a16:creationId xmlns:a16="http://schemas.microsoft.com/office/drawing/2014/main" id="{F8EEBCA4-FD69-420E-B43E-ACC01C578C0E}"/>
              </a:ext>
            </a:extLst>
          </p:cNvPr>
          <p:cNvSpPr/>
          <p:nvPr/>
        </p:nvSpPr>
        <p:spPr>
          <a:xfrm>
            <a:off x="298205" y="3334312"/>
            <a:ext cx="1289626" cy="1289626"/>
          </a:xfrm>
          <a:prstGeom prst="ellipse">
            <a:avLst/>
          </a:prstGeom>
          <a:solidFill>
            <a:srgbClr val="A40A57"/>
          </a:solidFill>
          <a:ln w="38100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latin typeface="Garamond" panose="02020404030301010803" pitchFamily="18" charset="0"/>
              </a:rPr>
              <a:t>X: 5</a:t>
            </a:r>
            <a:endParaRPr lang="zh-CN" altLang="en-US" sz="2400" dirty="0">
              <a:latin typeface="Garamond" panose="02020404030301010803" pitchFamily="18" charset="0"/>
            </a:endParaRPr>
          </a:p>
        </p:txBody>
      </p:sp>
      <p:sp>
        <p:nvSpPr>
          <p:cNvPr id="69" name="椭圆 68">
            <a:extLst>
              <a:ext uri="{FF2B5EF4-FFF2-40B4-BE49-F238E27FC236}">
                <a16:creationId xmlns:a16="http://schemas.microsoft.com/office/drawing/2014/main" id="{C66C5FCC-5A59-419A-AF32-80951E819B99}"/>
              </a:ext>
            </a:extLst>
          </p:cNvPr>
          <p:cNvSpPr/>
          <p:nvPr/>
        </p:nvSpPr>
        <p:spPr>
          <a:xfrm>
            <a:off x="4210959" y="3334312"/>
            <a:ext cx="1289626" cy="1289626"/>
          </a:xfrm>
          <a:prstGeom prst="ellipse">
            <a:avLst/>
          </a:prstGeom>
          <a:solidFill>
            <a:srgbClr val="A40A57"/>
          </a:solidFill>
          <a:ln w="38100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latin typeface="Garamond" panose="02020404030301010803" pitchFamily="18" charset="0"/>
              </a:rPr>
              <a:t>X: 5</a:t>
            </a:r>
            <a:endParaRPr lang="zh-CN" altLang="en-US" sz="2400" dirty="0">
              <a:latin typeface="Garamond" panose="02020404030301010803" pitchFamily="18" charset="0"/>
            </a:endParaRPr>
          </a:p>
        </p:txBody>
      </p:sp>
      <p:sp>
        <p:nvSpPr>
          <p:cNvPr id="70" name="椭圆 69">
            <a:extLst>
              <a:ext uri="{FF2B5EF4-FFF2-40B4-BE49-F238E27FC236}">
                <a16:creationId xmlns:a16="http://schemas.microsoft.com/office/drawing/2014/main" id="{DCAA37C4-CB09-428F-9785-C5E242A318F5}"/>
              </a:ext>
            </a:extLst>
          </p:cNvPr>
          <p:cNvSpPr/>
          <p:nvPr/>
        </p:nvSpPr>
        <p:spPr>
          <a:xfrm>
            <a:off x="1383474" y="5275727"/>
            <a:ext cx="1289626" cy="1289626"/>
          </a:xfrm>
          <a:prstGeom prst="ellipse">
            <a:avLst/>
          </a:prstGeom>
          <a:solidFill>
            <a:srgbClr val="A40A57"/>
          </a:solidFill>
          <a:ln w="38100">
            <a:solidFill>
              <a:srgbClr val="0000FF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latin typeface="Garamond" panose="02020404030301010803" pitchFamily="18" charset="0"/>
              </a:rPr>
              <a:t>Candidate</a:t>
            </a:r>
            <a:endParaRPr lang="zh-CN" altLang="en-US" sz="1600" dirty="0">
              <a:latin typeface="Garamond" panose="02020404030301010803" pitchFamily="18" charset="0"/>
            </a:endParaRPr>
          </a:p>
        </p:txBody>
      </p:sp>
      <p:sp>
        <p:nvSpPr>
          <p:cNvPr id="71" name="椭圆 70">
            <a:extLst>
              <a:ext uri="{FF2B5EF4-FFF2-40B4-BE49-F238E27FC236}">
                <a16:creationId xmlns:a16="http://schemas.microsoft.com/office/drawing/2014/main" id="{530DD54F-80CC-4792-9F24-0BD94FE7DCA2}"/>
              </a:ext>
            </a:extLst>
          </p:cNvPr>
          <p:cNvSpPr/>
          <p:nvPr/>
        </p:nvSpPr>
        <p:spPr>
          <a:xfrm>
            <a:off x="3096825" y="5275727"/>
            <a:ext cx="1289626" cy="1289626"/>
          </a:xfrm>
          <a:prstGeom prst="ellipse">
            <a:avLst/>
          </a:prstGeom>
          <a:solidFill>
            <a:srgbClr val="A40A57"/>
          </a:solidFill>
          <a:ln w="38100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latin typeface="Garamond" panose="02020404030301010803" pitchFamily="18" charset="0"/>
            </a:endParaRPr>
          </a:p>
        </p:txBody>
      </p:sp>
      <p:cxnSp>
        <p:nvCxnSpPr>
          <p:cNvPr id="72" name="直接箭头连接符 71">
            <a:extLst>
              <a:ext uri="{FF2B5EF4-FFF2-40B4-BE49-F238E27FC236}">
                <a16:creationId xmlns:a16="http://schemas.microsoft.com/office/drawing/2014/main" id="{83C4A668-97B2-467D-9639-127ACE0A813A}"/>
              </a:ext>
            </a:extLst>
          </p:cNvPr>
          <p:cNvCxnSpPr>
            <a:cxnSpLocks/>
            <a:stCxn id="67" idx="2"/>
            <a:endCxn id="68" idx="7"/>
          </p:cNvCxnSpPr>
          <p:nvPr/>
        </p:nvCxnSpPr>
        <p:spPr>
          <a:xfrm flipH="1">
            <a:off x="1398970" y="2713107"/>
            <a:ext cx="855611" cy="810066"/>
          </a:xfrm>
          <a:prstGeom prst="straightConnector1">
            <a:avLst/>
          </a:prstGeom>
          <a:ln w="381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直接箭头连接符 72">
            <a:extLst>
              <a:ext uri="{FF2B5EF4-FFF2-40B4-BE49-F238E27FC236}">
                <a16:creationId xmlns:a16="http://schemas.microsoft.com/office/drawing/2014/main" id="{7611A6EC-FF56-4596-9E49-650E3FDB7E79}"/>
              </a:ext>
            </a:extLst>
          </p:cNvPr>
          <p:cNvCxnSpPr>
            <a:cxnSpLocks/>
            <a:stCxn id="67" idx="6"/>
            <a:endCxn id="69" idx="1"/>
          </p:cNvCxnSpPr>
          <p:nvPr/>
        </p:nvCxnSpPr>
        <p:spPr>
          <a:xfrm>
            <a:off x="3544207" y="2713107"/>
            <a:ext cx="855613" cy="810066"/>
          </a:xfrm>
          <a:prstGeom prst="straightConnector1">
            <a:avLst/>
          </a:prstGeom>
          <a:ln w="381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4" name="组合 73">
            <a:extLst>
              <a:ext uri="{FF2B5EF4-FFF2-40B4-BE49-F238E27FC236}">
                <a16:creationId xmlns:a16="http://schemas.microsoft.com/office/drawing/2014/main" id="{DED220CE-208C-4EBC-A775-19CBF928EF4C}"/>
              </a:ext>
            </a:extLst>
          </p:cNvPr>
          <p:cNvGrpSpPr/>
          <p:nvPr/>
        </p:nvGrpSpPr>
        <p:grpSpPr>
          <a:xfrm>
            <a:off x="1566830" y="4623938"/>
            <a:ext cx="2650351" cy="403519"/>
            <a:chOff x="5030934" y="2466108"/>
            <a:chExt cx="2650351" cy="403519"/>
          </a:xfrm>
        </p:grpSpPr>
        <p:cxnSp>
          <p:nvCxnSpPr>
            <p:cNvPr id="75" name="直接连接符 74">
              <a:extLst>
                <a:ext uri="{FF2B5EF4-FFF2-40B4-BE49-F238E27FC236}">
                  <a16:creationId xmlns:a16="http://schemas.microsoft.com/office/drawing/2014/main" id="{EE7D5459-F048-4AF4-BCCB-8064AC5FB149}"/>
                </a:ext>
              </a:extLst>
            </p:cNvPr>
            <p:cNvCxnSpPr>
              <a:cxnSpLocks/>
            </p:cNvCxnSpPr>
            <p:nvPr/>
          </p:nvCxnSpPr>
          <p:spPr>
            <a:xfrm>
              <a:off x="5030934" y="2466108"/>
              <a:ext cx="0" cy="403519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直接连接符 75">
              <a:extLst>
                <a:ext uri="{FF2B5EF4-FFF2-40B4-BE49-F238E27FC236}">
                  <a16:creationId xmlns:a16="http://schemas.microsoft.com/office/drawing/2014/main" id="{1E47B65F-714D-4291-9750-6A20E32E7EAA}"/>
                </a:ext>
              </a:extLst>
            </p:cNvPr>
            <p:cNvCxnSpPr>
              <a:cxnSpLocks/>
            </p:cNvCxnSpPr>
            <p:nvPr/>
          </p:nvCxnSpPr>
          <p:spPr>
            <a:xfrm>
              <a:off x="5207624" y="2466108"/>
              <a:ext cx="0" cy="403519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直接连接符 76">
              <a:extLst>
                <a:ext uri="{FF2B5EF4-FFF2-40B4-BE49-F238E27FC236}">
                  <a16:creationId xmlns:a16="http://schemas.microsoft.com/office/drawing/2014/main" id="{E5E8FCAC-98BD-44F6-8F63-2633AEAD291E}"/>
                </a:ext>
              </a:extLst>
            </p:cNvPr>
            <p:cNvCxnSpPr>
              <a:cxnSpLocks/>
            </p:cNvCxnSpPr>
            <p:nvPr/>
          </p:nvCxnSpPr>
          <p:spPr>
            <a:xfrm>
              <a:off x="5384314" y="2466108"/>
              <a:ext cx="0" cy="403519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直接连接符 77">
              <a:extLst>
                <a:ext uri="{FF2B5EF4-FFF2-40B4-BE49-F238E27FC236}">
                  <a16:creationId xmlns:a16="http://schemas.microsoft.com/office/drawing/2014/main" id="{127965E0-87D1-49FA-8F9E-1007704C4349}"/>
                </a:ext>
              </a:extLst>
            </p:cNvPr>
            <p:cNvCxnSpPr>
              <a:cxnSpLocks/>
            </p:cNvCxnSpPr>
            <p:nvPr/>
          </p:nvCxnSpPr>
          <p:spPr>
            <a:xfrm>
              <a:off x="5561004" y="2466108"/>
              <a:ext cx="0" cy="403519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直接连接符 78">
              <a:extLst>
                <a:ext uri="{FF2B5EF4-FFF2-40B4-BE49-F238E27FC236}">
                  <a16:creationId xmlns:a16="http://schemas.microsoft.com/office/drawing/2014/main" id="{0B178E70-C91A-479D-BC52-ED8E1CCF76B3}"/>
                </a:ext>
              </a:extLst>
            </p:cNvPr>
            <p:cNvCxnSpPr>
              <a:cxnSpLocks/>
            </p:cNvCxnSpPr>
            <p:nvPr/>
          </p:nvCxnSpPr>
          <p:spPr>
            <a:xfrm>
              <a:off x="5737694" y="2466108"/>
              <a:ext cx="0" cy="403519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直接连接符 79">
              <a:extLst>
                <a:ext uri="{FF2B5EF4-FFF2-40B4-BE49-F238E27FC236}">
                  <a16:creationId xmlns:a16="http://schemas.microsoft.com/office/drawing/2014/main" id="{D71486CD-C716-41B6-B00D-CD387FF57418}"/>
                </a:ext>
              </a:extLst>
            </p:cNvPr>
            <p:cNvCxnSpPr>
              <a:cxnSpLocks/>
            </p:cNvCxnSpPr>
            <p:nvPr/>
          </p:nvCxnSpPr>
          <p:spPr>
            <a:xfrm>
              <a:off x="5914384" y="2466108"/>
              <a:ext cx="0" cy="403519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直接连接符 80">
              <a:extLst>
                <a:ext uri="{FF2B5EF4-FFF2-40B4-BE49-F238E27FC236}">
                  <a16:creationId xmlns:a16="http://schemas.microsoft.com/office/drawing/2014/main" id="{FA0B7776-D8E0-4FB4-B9A2-8A62770B224E}"/>
                </a:ext>
              </a:extLst>
            </p:cNvPr>
            <p:cNvCxnSpPr>
              <a:cxnSpLocks/>
            </p:cNvCxnSpPr>
            <p:nvPr/>
          </p:nvCxnSpPr>
          <p:spPr>
            <a:xfrm>
              <a:off x="6091074" y="2466108"/>
              <a:ext cx="0" cy="403519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直接连接符 81">
              <a:extLst>
                <a:ext uri="{FF2B5EF4-FFF2-40B4-BE49-F238E27FC236}">
                  <a16:creationId xmlns:a16="http://schemas.microsoft.com/office/drawing/2014/main" id="{06D5A45C-3B9E-45BB-9468-CF76F9AB1AAD}"/>
                </a:ext>
              </a:extLst>
            </p:cNvPr>
            <p:cNvCxnSpPr>
              <a:cxnSpLocks/>
            </p:cNvCxnSpPr>
            <p:nvPr/>
          </p:nvCxnSpPr>
          <p:spPr>
            <a:xfrm>
              <a:off x="6267764" y="2466108"/>
              <a:ext cx="0" cy="403519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直接连接符 82">
              <a:extLst>
                <a:ext uri="{FF2B5EF4-FFF2-40B4-BE49-F238E27FC236}">
                  <a16:creationId xmlns:a16="http://schemas.microsoft.com/office/drawing/2014/main" id="{1C35E2A9-5374-4AEA-BA83-76DF023A45E4}"/>
                </a:ext>
              </a:extLst>
            </p:cNvPr>
            <p:cNvCxnSpPr>
              <a:cxnSpLocks/>
            </p:cNvCxnSpPr>
            <p:nvPr/>
          </p:nvCxnSpPr>
          <p:spPr>
            <a:xfrm>
              <a:off x="6444454" y="2466108"/>
              <a:ext cx="0" cy="403519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直接连接符 83">
              <a:extLst>
                <a:ext uri="{FF2B5EF4-FFF2-40B4-BE49-F238E27FC236}">
                  <a16:creationId xmlns:a16="http://schemas.microsoft.com/office/drawing/2014/main" id="{46F30D72-543D-42D1-90C9-374C7E30CF9C}"/>
                </a:ext>
              </a:extLst>
            </p:cNvPr>
            <p:cNvCxnSpPr>
              <a:cxnSpLocks/>
            </p:cNvCxnSpPr>
            <p:nvPr/>
          </p:nvCxnSpPr>
          <p:spPr>
            <a:xfrm>
              <a:off x="6621144" y="2466108"/>
              <a:ext cx="0" cy="403519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直接连接符 84">
              <a:extLst>
                <a:ext uri="{FF2B5EF4-FFF2-40B4-BE49-F238E27FC236}">
                  <a16:creationId xmlns:a16="http://schemas.microsoft.com/office/drawing/2014/main" id="{E8EC09CB-472A-4785-8320-F64977B1B679}"/>
                </a:ext>
              </a:extLst>
            </p:cNvPr>
            <p:cNvCxnSpPr>
              <a:cxnSpLocks/>
            </p:cNvCxnSpPr>
            <p:nvPr/>
          </p:nvCxnSpPr>
          <p:spPr>
            <a:xfrm>
              <a:off x="6797834" y="2466108"/>
              <a:ext cx="0" cy="403519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直接连接符 85">
              <a:extLst>
                <a:ext uri="{FF2B5EF4-FFF2-40B4-BE49-F238E27FC236}">
                  <a16:creationId xmlns:a16="http://schemas.microsoft.com/office/drawing/2014/main" id="{3644D382-6926-4313-B5E5-4887299141A8}"/>
                </a:ext>
              </a:extLst>
            </p:cNvPr>
            <p:cNvCxnSpPr>
              <a:cxnSpLocks/>
            </p:cNvCxnSpPr>
            <p:nvPr/>
          </p:nvCxnSpPr>
          <p:spPr>
            <a:xfrm>
              <a:off x="6974524" y="2466108"/>
              <a:ext cx="0" cy="403519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直接连接符 86">
              <a:extLst>
                <a:ext uri="{FF2B5EF4-FFF2-40B4-BE49-F238E27FC236}">
                  <a16:creationId xmlns:a16="http://schemas.microsoft.com/office/drawing/2014/main" id="{09558EEE-B328-461E-92EB-2249170002A1}"/>
                </a:ext>
              </a:extLst>
            </p:cNvPr>
            <p:cNvCxnSpPr>
              <a:cxnSpLocks/>
            </p:cNvCxnSpPr>
            <p:nvPr/>
          </p:nvCxnSpPr>
          <p:spPr>
            <a:xfrm>
              <a:off x="7151214" y="2466108"/>
              <a:ext cx="0" cy="403519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直接连接符 87">
              <a:extLst>
                <a:ext uri="{FF2B5EF4-FFF2-40B4-BE49-F238E27FC236}">
                  <a16:creationId xmlns:a16="http://schemas.microsoft.com/office/drawing/2014/main" id="{8488B8EA-47E8-4A3E-ACAC-FED46D98B877}"/>
                </a:ext>
              </a:extLst>
            </p:cNvPr>
            <p:cNvCxnSpPr>
              <a:cxnSpLocks/>
            </p:cNvCxnSpPr>
            <p:nvPr/>
          </p:nvCxnSpPr>
          <p:spPr>
            <a:xfrm>
              <a:off x="7327904" y="2466108"/>
              <a:ext cx="0" cy="403519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直接连接符 88">
              <a:extLst>
                <a:ext uri="{FF2B5EF4-FFF2-40B4-BE49-F238E27FC236}">
                  <a16:creationId xmlns:a16="http://schemas.microsoft.com/office/drawing/2014/main" id="{FA2D74A5-33DE-40D0-8AF7-05B703B8C82F}"/>
                </a:ext>
              </a:extLst>
            </p:cNvPr>
            <p:cNvCxnSpPr>
              <a:cxnSpLocks/>
            </p:cNvCxnSpPr>
            <p:nvPr/>
          </p:nvCxnSpPr>
          <p:spPr>
            <a:xfrm>
              <a:off x="7504594" y="2466108"/>
              <a:ext cx="0" cy="403519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直接连接符 89">
              <a:extLst>
                <a:ext uri="{FF2B5EF4-FFF2-40B4-BE49-F238E27FC236}">
                  <a16:creationId xmlns:a16="http://schemas.microsoft.com/office/drawing/2014/main" id="{201895F2-99DE-4D53-A0B0-8CEA54EB4374}"/>
                </a:ext>
              </a:extLst>
            </p:cNvPr>
            <p:cNvCxnSpPr>
              <a:cxnSpLocks/>
            </p:cNvCxnSpPr>
            <p:nvPr/>
          </p:nvCxnSpPr>
          <p:spPr>
            <a:xfrm>
              <a:off x="7681285" y="2466108"/>
              <a:ext cx="0" cy="403519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1" name="空心弧 90">
            <a:extLst>
              <a:ext uri="{FF2B5EF4-FFF2-40B4-BE49-F238E27FC236}">
                <a16:creationId xmlns:a16="http://schemas.microsoft.com/office/drawing/2014/main" id="{2922D28E-F1BB-496B-8D1B-83C10BA4B6F1}"/>
              </a:ext>
            </a:extLst>
          </p:cNvPr>
          <p:cNvSpPr/>
          <p:nvPr/>
        </p:nvSpPr>
        <p:spPr>
          <a:xfrm>
            <a:off x="1222879" y="5089498"/>
            <a:ext cx="1662084" cy="1662084"/>
          </a:xfrm>
          <a:prstGeom prst="blockArc">
            <a:avLst>
              <a:gd name="adj1" fmla="val 16077540"/>
              <a:gd name="adj2" fmla="val 16470703"/>
              <a:gd name="adj3" fmla="val 4067"/>
            </a:avLst>
          </a:prstGeom>
          <a:solidFill>
            <a:srgbClr val="FFD7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92" name="空心弧 91">
            <a:extLst>
              <a:ext uri="{FF2B5EF4-FFF2-40B4-BE49-F238E27FC236}">
                <a16:creationId xmlns:a16="http://schemas.microsoft.com/office/drawing/2014/main" id="{8D9DD065-8598-4B34-9B6A-6684CFCD7835}"/>
              </a:ext>
            </a:extLst>
          </p:cNvPr>
          <p:cNvSpPr/>
          <p:nvPr/>
        </p:nvSpPr>
        <p:spPr>
          <a:xfrm>
            <a:off x="2899394" y="5089498"/>
            <a:ext cx="1662084" cy="1662084"/>
          </a:xfrm>
          <a:prstGeom prst="blockArc">
            <a:avLst>
              <a:gd name="adj1" fmla="val 6157370"/>
              <a:gd name="adj2" fmla="val 16470703"/>
              <a:gd name="adj3" fmla="val 4067"/>
            </a:avLst>
          </a:prstGeom>
          <a:solidFill>
            <a:srgbClr val="FFD7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93" name="椭圆 92">
            <a:extLst>
              <a:ext uri="{FF2B5EF4-FFF2-40B4-BE49-F238E27FC236}">
                <a16:creationId xmlns:a16="http://schemas.microsoft.com/office/drawing/2014/main" id="{80AE2134-457A-4F0E-B025-D0592EC71CF6}"/>
              </a:ext>
            </a:extLst>
          </p:cNvPr>
          <p:cNvSpPr/>
          <p:nvPr/>
        </p:nvSpPr>
        <p:spPr>
          <a:xfrm>
            <a:off x="1336045" y="2087180"/>
            <a:ext cx="614123" cy="614123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latin typeface="Garamond" panose="02020404030301010803" pitchFamily="18" charset="0"/>
              </a:rPr>
              <a:t>5</a:t>
            </a:r>
            <a:endParaRPr lang="zh-CN" altLang="en-US" sz="2400" dirty="0">
              <a:latin typeface="Garamond" panose="02020404030301010803" pitchFamily="18" charset="0"/>
            </a:endParaRPr>
          </a:p>
        </p:txBody>
      </p:sp>
      <p:cxnSp>
        <p:nvCxnSpPr>
          <p:cNvPr id="94" name="直接箭头连接符 93">
            <a:extLst>
              <a:ext uri="{FF2B5EF4-FFF2-40B4-BE49-F238E27FC236}">
                <a16:creationId xmlns:a16="http://schemas.microsoft.com/office/drawing/2014/main" id="{8BD1275D-30C9-49E9-8E9D-6BCD73A52B6C}"/>
              </a:ext>
            </a:extLst>
          </p:cNvPr>
          <p:cNvCxnSpPr>
            <a:cxnSpLocks/>
            <a:stCxn id="93" idx="6"/>
            <a:endCxn id="67" idx="2"/>
          </p:cNvCxnSpPr>
          <p:nvPr/>
        </p:nvCxnSpPr>
        <p:spPr>
          <a:xfrm>
            <a:off x="1950168" y="2394242"/>
            <a:ext cx="304413" cy="318865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文本框 95">
            <a:extLst>
              <a:ext uri="{FF2B5EF4-FFF2-40B4-BE49-F238E27FC236}">
                <a16:creationId xmlns:a16="http://schemas.microsoft.com/office/drawing/2014/main" id="{87882433-FD68-4767-8881-DD779CB5563A}"/>
              </a:ext>
            </a:extLst>
          </p:cNvPr>
          <p:cNvSpPr txBox="1"/>
          <p:nvPr/>
        </p:nvSpPr>
        <p:spPr>
          <a:xfrm>
            <a:off x="2302097" y="3377315"/>
            <a:ext cx="1183092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Commit</a:t>
            </a:r>
          </a:p>
        </p:txBody>
      </p:sp>
      <p:sp>
        <p:nvSpPr>
          <p:cNvPr id="98" name="文本框 97">
            <a:extLst>
              <a:ext uri="{FF2B5EF4-FFF2-40B4-BE49-F238E27FC236}">
                <a16:creationId xmlns:a16="http://schemas.microsoft.com/office/drawing/2014/main" id="{E0349DC8-A2FA-46AD-AE66-6D631BC198EB}"/>
              </a:ext>
            </a:extLst>
          </p:cNvPr>
          <p:cNvSpPr txBox="1"/>
          <p:nvPr/>
        </p:nvSpPr>
        <p:spPr>
          <a:xfrm>
            <a:off x="1008909" y="1359264"/>
            <a:ext cx="394288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800" dirty="0">
                <a:latin typeface="Garamond" panose="02020404030301010803" pitchFamily="18" charset="0"/>
              </a:rPr>
              <a:t>Term: </a:t>
            </a:r>
            <a:r>
              <a:rPr lang="en-US" altLang="zh-CN" dirty="0">
                <a:latin typeface="Garamond" panose="02020404030301010803" pitchFamily="18" charset="0"/>
              </a:rPr>
              <a:t>1</a:t>
            </a:r>
          </a:p>
          <a:p>
            <a:pPr algn="ctr"/>
            <a:r>
              <a:rPr lang="en-US" altLang="zh-CN" dirty="0" err="1">
                <a:latin typeface="Garamond" panose="02020404030301010803" pitchFamily="18" charset="0"/>
              </a:rPr>
              <a:t>AppendEntries</a:t>
            </a:r>
            <a:r>
              <a:rPr lang="en-US" altLang="zh-CN" dirty="0">
                <a:latin typeface="Garamond" panose="02020404030301010803" pitchFamily="18" charset="0"/>
              </a:rPr>
              <a:t> vote count: </a:t>
            </a:r>
            <a:r>
              <a:rPr lang="en-US" altLang="zh-CN" b="1" dirty="0">
                <a:solidFill>
                  <a:srgbClr val="0000FF"/>
                </a:solidFill>
                <a:latin typeface="Garamond" panose="02020404030301010803" pitchFamily="18" charset="0"/>
              </a:rPr>
              <a:t>3 </a:t>
            </a:r>
            <a:r>
              <a:rPr lang="zh-CN" altLang="en-US" b="1" dirty="0">
                <a:solidFill>
                  <a:srgbClr val="0000FF"/>
                </a:solidFill>
                <a:latin typeface="Garamond" panose="02020404030301010803" pitchFamily="18" charset="0"/>
              </a:rPr>
              <a:t>（超半数）</a:t>
            </a:r>
            <a:endParaRPr lang="en-US" altLang="zh-CN" b="1" dirty="0">
              <a:solidFill>
                <a:srgbClr val="0000FF"/>
              </a:solidFill>
              <a:latin typeface="Garamond" panose="02020404030301010803" pitchFamily="18" charset="0"/>
            </a:endParaRPr>
          </a:p>
        </p:txBody>
      </p:sp>
      <p:sp>
        <p:nvSpPr>
          <p:cNvPr id="99" name="文本框 98">
            <a:extLst>
              <a:ext uri="{FF2B5EF4-FFF2-40B4-BE49-F238E27FC236}">
                <a16:creationId xmlns:a16="http://schemas.microsoft.com/office/drawing/2014/main" id="{5778452B-2D29-46B9-82AD-05B1A1B4ACB9}"/>
              </a:ext>
            </a:extLst>
          </p:cNvPr>
          <p:cNvSpPr txBox="1"/>
          <p:nvPr/>
        </p:nvSpPr>
        <p:spPr>
          <a:xfrm>
            <a:off x="4130663" y="2685198"/>
            <a:ext cx="145021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800" dirty="0">
                <a:latin typeface="Garamond" panose="02020404030301010803" pitchFamily="18" charset="0"/>
              </a:rPr>
              <a:t>Term: </a:t>
            </a:r>
            <a:r>
              <a:rPr lang="en-US" altLang="zh-CN" dirty="0">
                <a:latin typeface="Garamond" panose="02020404030301010803" pitchFamily="18" charset="0"/>
              </a:rPr>
              <a:t>1</a:t>
            </a:r>
          </a:p>
          <a:p>
            <a:pPr algn="ctr"/>
            <a:r>
              <a:rPr lang="en-US" altLang="zh-CN" dirty="0">
                <a:latin typeface="Garamond" panose="02020404030301010803" pitchFamily="18" charset="0"/>
              </a:rPr>
              <a:t>Leader A</a:t>
            </a:r>
            <a:endParaRPr lang="en-US" altLang="zh-CN" b="1" dirty="0">
              <a:solidFill>
                <a:srgbClr val="0000FF"/>
              </a:solidFill>
              <a:latin typeface="Garamond" panose="02020404030301010803" pitchFamily="18" charset="0"/>
            </a:endParaRPr>
          </a:p>
        </p:txBody>
      </p:sp>
      <p:sp>
        <p:nvSpPr>
          <p:cNvPr id="100" name="文本框 99">
            <a:extLst>
              <a:ext uri="{FF2B5EF4-FFF2-40B4-BE49-F238E27FC236}">
                <a16:creationId xmlns:a16="http://schemas.microsoft.com/office/drawing/2014/main" id="{3DD3936A-4A13-48D3-8DDA-CC0CC01C0210}"/>
              </a:ext>
            </a:extLst>
          </p:cNvPr>
          <p:cNvSpPr txBox="1"/>
          <p:nvPr/>
        </p:nvSpPr>
        <p:spPr>
          <a:xfrm>
            <a:off x="128808" y="2720826"/>
            <a:ext cx="145021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800" dirty="0">
                <a:latin typeface="Garamond" panose="02020404030301010803" pitchFamily="18" charset="0"/>
              </a:rPr>
              <a:t>Term: </a:t>
            </a:r>
            <a:r>
              <a:rPr lang="en-US" altLang="zh-CN" dirty="0">
                <a:latin typeface="Garamond" panose="02020404030301010803" pitchFamily="18" charset="0"/>
              </a:rPr>
              <a:t>1</a:t>
            </a:r>
          </a:p>
          <a:p>
            <a:pPr algn="ctr"/>
            <a:r>
              <a:rPr lang="en-US" altLang="zh-CN" dirty="0">
                <a:latin typeface="Garamond" panose="02020404030301010803" pitchFamily="18" charset="0"/>
              </a:rPr>
              <a:t>Leader A</a:t>
            </a:r>
            <a:endParaRPr lang="en-US" altLang="zh-CN" b="1" dirty="0">
              <a:solidFill>
                <a:srgbClr val="0000FF"/>
              </a:solidFill>
              <a:latin typeface="Garamond" panose="02020404030301010803" pitchFamily="18" charset="0"/>
            </a:endParaRPr>
          </a:p>
        </p:txBody>
      </p:sp>
      <p:sp>
        <p:nvSpPr>
          <p:cNvPr id="101" name="文本框 100">
            <a:extLst>
              <a:ext uri="{FF2B5EF4-FFF2-40B4-BE49-F238E27FC236}">
                <a16:creationId xmlns:a16="http://schemas.microsoft.com/office/drawing/2014/main" id="{E896164A-2B2C-4B1F-AAD0-A0216F8BCFB8}"/>
              </a:ext>
            </a:extLst>
          </p:cNvPr>
          <p:cNvSpPr txBox="1"/>
          <p:nvPr/>
        </p:nvSpPr>
        <p:spPr>
          <a:xfrm>
            <a:off x="0" y="5517346"/>
            <a:ext cx="145021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800" dirty="0">
                <a:latin typeface="Garamond" panose="02020404030301010803" pitchFamily="18" charset="0"/>
              </a:rPr>
              <a:t>Term: </a:t>
            </a:r>
            <a:r>
              <a:rPr lang="en-US" altLang="zh-CN" b="1" dirty="0">
                <a:solidFill>
                  <a:srgbClr val="A40A57"/>
                </a:solidFill>
                <a:latin typeface="Garamond" panose="02020404030301010803" pitchFamily="18" charset="0"/>
              </a:rPr>
              <a:t>2</a:t>
            </a:r>
          </a:p>
          <a:p>
            <a:pPr algn="ctr"/>
            <a:r>
              <a:rPr lang="en-US" altLang="zh-CN" dirty="0">
                <a:latin typeface="Garamond" panose="02020404030301010803" pitchFamily="18" charset="0"/>
              </a:rPr>
              <a:t>Vote count: 2</a:t>
            </a:r>
            <a:r>
              <a:rPr lang="zh-CN" altLang="en-US" b="1" dirty="0">
                <a:solidFill>
                  <a:srgbClr val="0000FF"/>
                </a:solidFill>
                <a:latin typeface="Garamond" panose="02020404030301010803" pitchFamily="18" charset="0"/>
              </a:rPr>
              <a:t> （没超半数）</a:t>
            </a:r>
            <a:endParaRPr lang="en-US" altLang="zh-CN" dirty="0">
              <a:latin typeface="Garamond" panose="02020404030301010803" pitchFamily="18" charset="0"/>
            </a:endParaRPr>
          </a:p>
        </p:txBody>
      </p:sp>
      <p:sp>
        <p:nvSpPr>
          <p:cNvPr id="102" name="文本框 101">
            <a:extLst>
              <a:ext uri="{FF2B5EF4-FFF2-40B4-BE49-F238E27FC236}">
                <a16:creationId xmlns:a16="http://schemas.microsoft.com/office/drawing/2014/main" id="{009E24B4-4FC5-469F-819C-56255C11B6F8}"/>
              </a:ext>
            </a:extLst>
          </p:cNvPr>
          <p:cNvSpPr txBox="1"/>
          <p:nvPr/>
        </p:nvSpPr>
        <p:spPr>
          <a:xfrm>
            <a:off x="4312363" y="5597374"/>
            <a:ext cx="145021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800" dirty="0">
                <a:latin typeface="Garamond" panose="02020404030301010803" pitchFamily="18" charset="0"/>
              </a:rPr>
              <a:t>Term: </a:t>
            </a:r>
            <a:r>
              <a:rPr lang="en-US" altLang="zh-CN" b="1" dirty="0">
                <a:solidFill>
                  <a:srgbClr val="A40A57"/>
                </a:solidFill>
                <a:latin typeface="Garamond" panose="02020404030301010803" pitchFamily="18" charset="0"/>
              </a:rPr>
              <a:t>2</a:t>
            </a:r>
          </a:p>
          <a:p>
            <a:pPr algn="ctr"/>
            <a:r>
              <a:rPr lang="en-US" altLang="zh-CN" dirty="0">
                <a:latin typeface="Garamond" panose="02020404030301010803" pitchFamily="18" charset="0"/>
              </a:rPr>
              <a:t>Vote for C</a:t>
            </a:r>
          </a:p>
        </p:txBody>
      </p:sp>
      <p:sp>
        <p:nvSpPr>
          <p:cNvPr id="103" name="箭头: 右 102">
            <a:extLst>
              <a:ext uri="{FF2B5EF4-FFF2-40B4-BE49-F238E27FC236}">
                <a16:creationId xmlns:a16="http://schemas.microsoft.com/office/drawing/2014/main" id="{134DE819-F463-43B7-96B6-A2F56FB3DCAF}"/>
              </a:ext>
            </a:extLst>
          </p:cNvPr>
          <p:cNvSpPr/>
          <p:nvPr/>
        </p:nvSpPr>
        <p:spPr>
          <a:xfrm>
            <a:off x="5762580" y="3523173"/>
            <a:ext cx="518969" cy="769441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4" name="椭圆 103">
            <a:extLst>
              <a:ext uri="{FF2B5EF4-FFF2-40B4-BE49-F238E27FC236}">
                <a16:creationId xmlns:a16="http://schemas.microsoft.com/office/drawing/2014/main" id="{ADAF4F3C-91C8-465B-8415-3D5389ED5B4C}"/>
              </a:ext>
            </a:extLst>
          </p:cNvPr>
          <p:cNvSpPr/>
          <p:nvPr/>
        </p:nvSpPr>
        <p:spPr>
          <a:xfrm>
            <a:off x="8492102" y="2034465"/>
            <a:ext cx="1289626" cy="1289626"/>
          </a:xfrm>
          <a:prstGeom prst="ellipse">
            <a:avLst/>
          </a:prstGeom>
          <a:solidFill>
            <a:srgbClr val="A40A57"/>
          </a:solidFill>
          <a:ln w="3810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latin typeface="Garamond" panose="02020404030301010803" pitchFamily="18" charset="0"/>
              </a:rPr>
              <a:t>X: 5</a:t>
            </a:r>
            <a:endParaRPr lang="zh-CN" altLang="en-US" sz="2400" dirty="0">
              <a:latin typeface="Garamond" panose="02020404030301010803" pitchFamily="18" charset="0"/>
            </a:endParaRPr>
          </a:p>
        </p:txBody>
      </p:sp>
      <p:sp>
        <p:nvSpPr>
          <p:cNvPr id="105" name="椭圆 104">
            <a:extLst>
              <a:ext uri="{FF2B5EF4-FFF2-40B4-BE49-F238E27FC236}">
                <a16:creationId xmlns:a16="http://schemas.microsoft.com/office/drawing/2014/main" id="{EDF85AEB-83B3-4B87-A833-C0DFF07F98A3}"/>
              </a:ext>
            </a:extLst>
          </p:cNvPr>
          <p:cNvSpPr/>
          <p:nvPr/>
        </p:nvSpPr>
        <p:spPr>
          <a:xfrm>
            <a:off x="6535726" y="3300483"/>
            <a:ext cx="1289626" cy="1289626"/>
          </a:xfrm>
          <a:prstGeom prst="ellipse">
            <a:avLst/>
          </a:prstGeom>
          <a:solidFill>
            <a:srgbClr val="A40A57"/>
          </a:solidFill>
          <a:ln w="38100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latin typeface="Garamond" panose="02020404030301010803" pitchFamily="18" charset="0"/>
              </a:rPr>
              <a:t>X: 5</a:t>
            </a:r>
            <a:endParaRPr lang="zh-CN" altLang="en-US" sz="2400" dirty="0">
              <a:latin typeface="Garamond" panose="02020404030301010803" pitchFamily="18" charset="0"/>
            </a:endParaRPr>
          </a:p>
        </p:txBody>
      </p:sp>
      <p:sp>
        <p:nvSpPr>
          <p:cNvPr id="106" name="椭圆 105">
            <a:extLst>
              <a:ext uri="{FF2B5EF4-FFF2-40B4-BE49-F238E27FC236}">
                <a16:creationId xmlns:a16="http://schemas.microsoft.com/office/drawing/2014/main" id="{A6A5AD27-EAF9-4408-B8A8-01541CDEBE11}"/>
              </a:ext>
            </a:extLst>
          </p:cNvPr>
          <p:cNvSpPr/>
          <p:nvPr/>
        </p:nvSpPr>
        <p:spPr>
          <a:xfrm>
            <a:off x="10448480" y="3300483"/>
            <a:ext cx="1289626" cy="1289626"/>
          </a:xfrm>
          <a:prstGeom prst="ellipse">
            <a:avLst/>
          </a:prstGeom>
          <a:solidFill>
            <a:srgbClr val="A40A57"/>
          </a:solidFill>
          <a:ln w="38100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latin typeface="Garamond" panose="02020404030301010803" pitchFamily="18" charset="0"/>
              </a:rPr>
              <a:t>X: 5</a:t>
            </a:r>
            <a:endParaRPr lang="zh-CN" altLang="en-US" sz="2400" dirty="0">
              <a:latin typeface="Garamond" panose="02020404030301010803" pitchFamily="18" charset="0"/>
            </a:endParaRPr>
          </a:p>
        </p:txBody>
      </p:sp>
      <p:sp>
        <p:nvSpPr>
          <p:cNvPr id="107" name="椭圆 106">
            <a:extLst>
              <a:ext uri="{FF2B5EF4-FFF2-40B4-BE49-F238E27FC236}">
                <a16:creationId xmlns:a16="http://schemas.microsoft.com/office/drawing/2014/main" id="{852E113E-3960-4155-998D-0D51CEEBF074}"/>
              </a:ext>
            </a:extLst>
          </p:cNvPr>
          <p:cNvSpPr/>
          <p:nvPr/>
        </p:nvSpPr>
        <p:spPr>
          <a:xfrm>
            <a:off x="7620995" y="5241898"/>
            <a:ext cx="1289626" cy="1289626"/>
          </a:xfrm>
          <a:prstGeom prst="ellipse">
            <a:avLst/>
          </a:prstGeom>
          <a:solidFill>
            <a:srgbClr val="A40A57"/>
          </a:solidFill>
          <a:ln w="381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dirty="0">
              <a:latin typeface="Garamond" panose="02020404030301010803" pitchFamily="18" charset="0"/>
            </a:endParaRPr>
          </a:p>
        </p:txBody>
      </p:sp>
      <p:sp>
        <p:nvSpPr>
          <p:cNvPr id="108" name="椭圆 107">
            <a:extLst>
              <a:ext uri="{FF2B5EF4-FFF2-40B4-BE49-F238E27FC236}">
                <a16:creationId xmlns:a16="http://schemas.microsoft.com/office/drawing/2014/main" id="{C4C40514-EF60-430C-9058-180D2D7C8604}"/>
              </a:ext>
            </a:extLst>
          </p:cNvPr>
          <p:cNvSpPr/>
          <p:nvPr/>
        </p:nvSpPr>
        <p:spPr>
          <a:xfrm>
            <a:off x="9334346" y="5241898"/>
            <a:ext cx="1289626" cy="1289626"/>
          </a:xfrm>
          <a:prstGeom prst="ellipse">
            <a:avLst/>
          </a:prstGeom>
          <a:solidFill>
            <a:srgbClr val="A40A57"/>
          </a:solidFill>
          <a:ln w="38100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latin typeface="Garamond" panose="02020404030301010803" pitchFamily="18" charset="0"/>
            </a:endParaRPr>
          </a:p>
        </p:txBody>
      </p:sp>
      <p:cxnSp>
        <p:nvCxnSpPr>
          <p:cNvPr id="109" name="直接箭头连接符 108">
            <a:extLst>
              <a:ext uri="{FF2B5EF4-FFF2-40B4-BE49-F238E27FC236}">
                <a16:creationId xmlns:a16="http://schemas.microsoft.com/office/drawing/2014/main" id="{5CD7F143-F9D0-4B2B-8781-822E3063BB00}"/>
              </a:ext>
            </a:extLst>
          </p:cNvPr>
          <p:cNvCxnSpPr>
            <a:cxnSpLocks/>
            <a:stCxn id="104" idx="2"/>
            <a:endCxn id="105" idx="7"/>
          </p:cNvCxnSpPr>
          <p:nvPr/>
        </p:nvCxnSpPr>
        <p:spPr>
          <a:xfrm flipH="1">
            <a:off x="7636491" y="2679278"/>
            <a:ext cx="855611" cy="810066"/>
          </a:xfrm>
          <a:prstGeom prst="straightConnector1">
            <a:avLst/>
          </a:prstGeom>
          <a:ln w="381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直接箭头连接符 109">
            <a:extLst>
              <a:ext uri="{FF2B5EF4-FFF2-40B4-BE49-F238E27FC236}">
                <a16:creationId xmlns:a16="http://schemas.microsoft.com/office/drawing/2014/main" id="{99A9C8BA-692C-4E1E-8E8E-4866B680EC4A}"/>
              </a:ext>
            </a:extLst>
          </p:cNvPr>
          <p:cNvCxnSpPr>
            <a:cxnSpLocks/>
            <a:stCxn id="104" idx="6"/>
            <a:endCxn id="106" idx="1"/>
          </p:cNvCxnSpPr>
          <p:nvPr/>
        </p:nvCxnSpPr>
        <p:spPr>
          <a:xfrm>
            <a:off x="9781728" y="2679278"/>
            <a:ext cx="855613" cy="810066"/>
          </a:xfrm>
          <a:prstGeom prst="straightConnector1">
            <a:avLst/>
          </a:prstGeom>
          <a:ln w="381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1" name="组合 110">
            <a:extLst>
              <a:ext uri="{FF2B5EF4-FFF2-40B4-BE49-F238E27FC236}">
                <a16:creationId xmlns:a16="http://schemas.microsoft.com/office/drawing/2014/main" id="{20E2F7A7-8DF9-41D0-B5D5-46936769584E}"/>
              </a:ext>
            </a:extLst>
          </p:cNvPr>
          <p:cNvGrpSpPr/>
          <p:nvPr/>
        </p:nvGrpSpPr>
        <p:grpSpPr>
          <a:xfrm>
            <a:off x="7804351" y="4590109"/>
            <a:ext cx="2650351" cy="403519"/>
            <a:chOff x="5030934" y="2466108"/>
            <a:chExt cx="2650351" cy="403519"/>
          </a:xfrm>
        </p:grpSpPr>
        <p:cxnSp>
          <p:nvCxnSpPr>
            <p:cNvPr id="112" name="直接连接符 111">
              <a:extLst>
                <a:ext uri="{FF2B5EF4-FFF2-40B4-BE49-F238E27FC236}">
                  <a16:creationId xmlns:a16="http://schemas.microsoft.com/office/drawing/2014/main" id="{A2995C51-A21D-4E6A-8B77-AB763A705873}"/>
                </a:ext>
              </a:extLst>
            </p:cNvPr>
            <p:cNvCxnSpPr>
              <a:cxnSpLocks/>
            </p:cNvCxnSpPr>
            <p:nvPr/>
          </p:nvCxnSpPr>
          <p:spPr>
            <a:xfrm>
              <a:off x="5030934" y="2466108"/>
              <a:ext cx="0" cy="403519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直接连接符 112">
              <a:extLst>
                <a:ext uri="{FF2B5EF4-FFF2-40B4-BE49-F238E27FC236}">
                  <a16:creationId xmlns:a16="http://schemas.microsoft.com/office/drawing/2014/main" id="{802BF9F4-4873-48D8-A915-DA8FE5EAA60A}"/>
                </a:ext>
              </a:extLst>
            </p:cNvPr>
            <p:cNvCxnSpPr>
              <a:cxnSpLocks/>
            </p:cNvCxnSpPr>
            <p:nvPr/>
          </p:nvCxnSpPr>
          <p:spPr>
            <a:xfrm>
              <a:off x="5207624" y="2466108"/>
              <a:ext cx="0" cy="403519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直接连接符 113">
              <a:extLst>
                <a:ext uri="{FF2B5EF4-FFF2-40B4-BE49-F238E27FC236}">
                  <a16:creationId xmlns:a16="http://schemas.microsoft.com/office/drawing/2014/main" id="{AC3CA6FF-FE9E-4225-A2ED-5D9B10BE1AC7}"/>
                </a:ext>
              </a:extLst>
            </p:cNvPr>
            <p:cNvCxnSpPr>
              <a:cxnSpLocks/>
            </p:cNvCxnSpPr>
            <p:nvPr/>
          </p:nvCxnSpPr>
          <p:spPr>
            <a:xfrm>
              <a:off x="5384314" y="2466108"/>
              <a:ext cx="0" cy="403519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直接连接符 114">
              <a:extLst>
                <a:ext uri="{FF2B5EF4-FFF2-40B4-BE49-F238E27FC236}">
                  <a16:creationId xmlns:a16="http://schemas.microsoft.com/office/drawing/2014/main" id="{69130C4A-3CAC-40E4-A752-EC5FBC9E18CF}"/>
                </a:ext>
              </a:extLst>
            </p:cNvPr>
            <p:cNvCxnSpPr>
              <a:cxnSpLocks/>
            </p:cNvCxnSpPr>
            <p:nvPr/>
          </p:nvCxnSpPr>
          <p:spPr>
            <a:xfrm>
              <a:off x="5561004" y="2466108"/>
              <a:ext cx="0" cy="403519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直接连接符 115">
              <a:extLst>
                <a:ext uri="{FF2B5EF4-FFF2-40B4-BE49-F238E27FC236}">
                  <a16:creationId xmlns:a16="http://schemas.microsoft.com/office/drawing/2014/main" id="{654982E2-4F14-422B-B22E-C1DBCA87686A}"/>
                </a:ext>
              </a:extLst>
            </p:cNvPr>
            <p:cNvCxnSpPr>
              <a:cxnSpLocks/>
            </p:cNvCxnSpPr>
            <p:nvPr/>
          </p:nvCxnSpPr>
          <p:spPr>
            <a:xfrm>
              <a:off x="5737694" y="2466108"/>
              <a:ext cx="0" cy="403519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直接连接符 116">
              <a:extLst>
                <a:ext uri="{FF2B5EF4-FFF2-40B4-BE49-F238E27FC236}">
                  <a16:creationId xmlns:a16="http://schemas.microsoft.com/office/drawing/2014/main" id="{66188700-C6B2-472D-A556-B0976FAD0E48}"/>
                </a:ext>
              </a:extLst>
            </p:cNvPr>
            <p:cNvCxnSpPr>
              <a:cxnSpLocks/>
            </p:cNvCxnSpPr>
            <p:nvPr/>
          </p:nvCxnSpPr>
          <p:spPr>
            <a:xfrm>
              <a:off x="5914384" y="2466108"/>
              <a:ext cx="0" cy="403519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直接连接符 117">
              <a:extLst>
                <a:ext uri="{FF2B5EF4-FFF2-40B4-BE49-F238E27FC236}">
                  <a16:creationId xmlns:a16="http://schemas.microsoft.com/office/drawing/2014/main" id="{B73A6592-70CF-40B2-B2F4-CBCED51E38CF}"/>
                </a:ext>
              </a:extLst>
            </p:cNvPr>
            <p:cNvCxnSpPr>
              <a:cxnSpLocks/>
            </p:cNvCxnSpPr>
            <p:nvPr/>
          </p:nvCxnSpPr>
          <p:spPr>
            <a:xfrm>
              <a:off x="6091074" y="2466108"/>
              <a:ext cx="0" cy="403519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直接连接符 118">
              <a:extLst>
                <a:ext uri="{FF2B5EF4-FFF2-40B4-BE49-F238E27FC236}">
                  <a16:creationId xmlns:a16="http://schemas.microsoft.com/office/drawing/2014/main" id="{1723B604-E8A5-4318-A2C9-4B4A4F3B7D3B}"/>
                </a:ext>
              </a:extLst>
            </p:cNvPr>
            <p:cNvCxnSpPr>
              <a:cxnSpLocks/>
            </p:cNvCxnSpPr>
            <p:nvPr/>
          </p:nvCxnSpPr>
          <p:spPr>
            <a:xfrm>
              <a:off x="6267764" y="2466108"/>
              <a:ext cx="0" cy="403519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直接连接符 119">
              <a:extLst>
                <a:ext uri="{FF2B5EF4-FFF2-40B4-BE49-F238E27FC236}">
                  <a16:creationId xmlns:a16="http://schemas.microsoft.com/office/drawing/2014/main" id="{432F91C8-C8FB-4AD9-8941-37D8A65EC231}"/>
                </a:ext>
              </a:extLst>
            </p:cNvPr>
            <p:cNvCxnSpPr>
              <a:cxnSpLocks/>
            </p:cNvCxnSpPr>
            <p:nvPr/>
          </p:nvCxnSpPr>
          <p:spPr>
            <a:xfrm>
              <a:off x="6444454" y="2466108"/>
              <a:ext cx="0" cy="403519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直接连接符 120">
              <a:extLst>
                <a:ext uri="{FF2B5EF4-FFF2-40B4-BE49-F238E27FC236}">
                  <a16:creationId xmlns:a16="http://schemas.microsoft.com/office/drawing/2014/main" id="{048F0002-CB28-4B54-B503-BBA56FB970BA}"/>
                </a:ext>
              </a:extLst>
            </p:cNvPr>
            <p:cNvCxnSpPr>
              <a:cxnSpLocks/>
            </p:cNvCxnSpPr>
            <p:nvPr/>
          </p:nvCxnSpPr>
          <p:spPr>
            <a:xfrm>
              <a:off x="6621144" y="2466108"/>
              <a:ext cx="0" cy="403519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直接连接符 121">
              <a:extLst>
                <a:ext uri="{FF2B5EF4-FFF2-40B4-BE49-F238E27FC236}">
                  <a16:creationId xmlns:a16="http://schemas.microsoft.com/office/drawing/2014/main" id="{663F3D42-7AB0-473B-AFC9-10E2F06C37B7}"/>
                </a:ext>
              </a:extLst>
            </p:cNvPr>
            <p:cNvCxnSpPr>
              <a:cxnSpLocks/>
            </p:cNvCxnSpPr>
            <p:nvPr/>
          </p:nvCxnSpPr>
          <p:spPr>
            <a:xfrm>
              <a:off x="6797834" y="2466108"/>
              <a:ext cx="0" cy="403519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直接连接符 122">
              <a:extLst>
                <a:ext uri="{FF2B5EF4-FFF2-40B4-BE49-F238E27FC236}">
                  <a16:creationId xmlns:a16="http://schemas.microsoft.com/office/drawing/2014/main" id="{119A4666-4E65-4A1E-9BBE-1733DEBF1B1A}"/>
                </a:ext>
              </a:extLst>
            </p:cNvPr>
            <p:cNvCxnSpPr>
              <a:cxnSpLocks/>
            </p:cNvCxnSpPr>
            <p:nvPr/>
          </p:nvCxnSpPr>
          <p:spPr>
            <a:xfrm>
              <a:off x="6974524" y="2466108"/>
              <a:ext cx="0" cy="403519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直接连接符 123">
              <a:extLst>
                <a:ext uri="{FF2B5EF4-FFF2-40B4-BE49-F238E27FC236}">
                  <a16:creationId xmlns:a16="http://schemas.microsoft.com/office/drawing/2014/main" id="{90746B17-6FEA-4593-94FC-0270B048739F}"/>
                </a:ext>
              </a:extLst>
            </p:cNvPr>
            <p:cNvCxnSpPr>
              <a:cxnSpLocks/>
            </p:cNvCxnSpPr>
            <p:nvPr/>
          </p:nvCxnSpPr>
          <p:spPr>
            <a:xfrm>
              <a:off x="7151214" y="2466108"/>
              <a:ext cx="0" cy="403519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直接连接符 124">
              <a:extLst>
                <a:ext uri="{FF2B5EF4-FFF2-40B4-BE49-F238E27FC236}">
                  <a16:creationId xmlns:a16="http://schemas.microsoft.com/office/drawing/2014/main" id="{D7BFF0C6-F1F1-4B6F-A7F5-0C2AF52596A1}"/>
                </a:ext>
              </a:extLst>
            </p:cNvPr>
            <p:cNvCxnSpPr>
              <a:cxnSpLocks/>
            </p:cNvCxnSpPr>
            <p:nvPr/>
          </p:nvCxnSpPr>
          <p:spPr>
            <a:xfrm>
              <a:off x="7327904" y="2466108"/>
              <a:ext cx="0" cy="403519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直接连接符 125">
              <a:extLst>
                <a:ext uri="{FF2B5EF4-FFF2-40B4-BE49-F238E27FC236}">
                  <a16:creationId xmlns:a16="http://schemas.microsoft.com/office/drawing/2014/main" id="{1F839739-2699-4062-906C-6F6430F33239}"/>
                </a:ext>
              </a:extLst>
            </p:cNvPr>
            <p:cNvCxnSpPr>
              <a:cxnSpLocks/>
            </p:cNvCxnSpPr>
            <p:nvPr/>
          </p:nvCxnSpPr>
          <p:spPr>
            <a:xfrm>
              <a:off x="7504594" y="2466108"/>
              <a:ext cx="0" cy="403519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直接连接符 126">
              <a:extLst>
                <a:ext uri="{FF2B5EF4-FFF2-40B4-BE49-F238E27FC236}">
                  <a16:creationId xmlns:a16="http://schemas.microsoft.com/office/drawing/2014/main" id="{8D74383E-1215-488E-BD7B-5D1394FA1D96}"/>
                </a:ext>
              </a:extLst>
            </p:cNvPr>
            <p:cNvCxnSpPr>
              <a:cxnSpLocks/>
            </p:cNvCxnSpPr>
            <p:nvPr/>
          </p:nvCxnSpPr>
          <p:spPr>
            <a:xfrm>
              <a:off x="7681285" y="2466108"/>
              <a:ext cx="0" cy="403519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8" name="空心弧 127">
            <a:extLst>
              <a:ext uri="{FF2B5EF4-FFF2-40B4-BE49-F238E27FC236}">
                <a16:creationId xmlns:a16="http://schemas.microsoft.com/office/drawing/2014/main" id="{E59BDA36-863C-488D-86C7-273E4DF6B87F}"/>
              </a:ext>
            </a:extLst>
          </p:cNvPr>
          <p:cNvSpPr/>
          <p:nvPr/>
        </p:nvSpPr>
        <p:spPr>
          <a:xfrm>
            <a:off x="9136915" y="5055669"/>
            <a:ext cx="1662084" cy="1662084"/>
          </a:xfrm>
          <a:prstGeom prst="blockArc">
            <a:avLst>
              <a:gd name="adj1" fmla="val 14027483"/>
              <a:gd name="adj2" fmla="val 16470703"/>
              <a:gd name="adj3" fmla="val 4067"/>
            </a:avLst>
          </a:prstGeom>
          <a:solidFill>
            <a:srgbClr val="FFD7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29" name="椭圆 128">
            <a:extLst>
              <a:ext uri="{FF2B5EF4-FFF2-40B4-BE49-F238E27FC236}">
                <a16:creationId xmlns:a16="http://schemas.microsoft.com/office/drawing/2014/main" id="{4A793124-E99F-4938-AFA6-A33F7B375174}"/>
              </a:ext>
            </a:extLst>
          </p:cNvPr>
          <p:cNvSpPr/>
          <p:nvPr/>
        </p:nvSpPr>
        <p:spPr>
          <a:xfrm>
            <a:off x="7573566" y="2053351"/>
            <a:ext cx="614123" cy="614123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latin typeface="Garamond" panose="02020404030301010803" pitchFamily="18" charset="0"/>
              </a:rPr>
              <a:t>5</a:t>
            </a:r>
            <a:endParaRPr lang="zh-CN" altLang="en-US" sz="2400" dirty="0">
              <a:latin typeface="Garamond" panose="02020404030301010803" pitchFamily="18" charset="0"/>
            </a:endParaRPr>
          </a:p>
        </p:txBody>
      </p:sp>
      <p:cxnSp>
        <p:nvCxnSpPr>
          <p:cNvPr id="130" name="直接箭头连接符 129">
            <a:extLst>
              <a:ext uri="{FF2B5EF4-FFF2-40B4-BE49-F238E27FC236}">
                <a16:creationId xmlns:a16="http://schemas.microsoft.com/office/drawing/2014/main" id="{24EA3263-F6D4-4FAB-B0DE-7C56BD9CFE32}"/>
              </a:ext>
            </a:extLst>
          </p:cNvPr>
          <p:cNvCxnSpPr>
            <a:cxnSpLocks/>
            <a:stCxn id="129" idx="6"/>
            <a:endCxn id="104" idx="2"/>
          </p:cNvCxnSpPr>
          <p:nvPr/>
        </p:nvCxnSpPr>
        <p:spPr>
          <a:xfrm>
            <a:off x="8187689" y="2360413"/>
            <a:ext cx="304413" cy="318865"/>
          </a:xfrm>
          <a:prstGeom prst="straightConnector1">
            <a:avLst/>
          </a:prstGeom>
          <a:ln w="38100">
            <a:solidFill>
              <a:srgbClr val="00B05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1" name="文本框 130">
            <a:extLst>
              <a:ext uri="{FF2B5EF4-FFF2-40B4-BE49-F238E27FC236}">
                <a16:creationId xmlns:a16="http://schemas.microsoft.com/office/drawing/2014/main" id="{7ACDA4ED-D310-49C8-AB68-1DE4D3B0592A}"/>
              </a:ext>
            </a:extLst>
          </p:cNvPr>
          <p:cNvSpPr txBox="1"/>
          <p:nvPr/>
        </p:nvSpPr>
        <p:spPr>
          <a:xfrm>
            <a:off x="8348750" y="3415709"/>
            <a:ext cx="1413514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Heartbeat</a:t>
            </a:r>
          </a:p>
        </p:txBody>
      </p:sp>
      <p:sp>
        <p:nvSpPr>
          <p:cNvPr id="132" name="文本框 131">
            <a:extLst>
              <a:ext uri="{FF2B5EF4-FFF2-40B4-BE49-F238E27FC236}">
                <a16:creationId xmlns:a16="http://schemas.microsoft.com/office/drawing/2014/main" id="{A7BE6201-A55D-4268-BD30-043F02C0DC01}"/>
              </a:ext>
            </a:extLst>
          </p:cNvPr>
          <p:cNvSpPr txBox="1"/>
          <p:nvPr/>
        </p:nvSpPr>
        <p:spPr>
          <a:xfrm>
            <a:off x="7670203" y="1645820"/>
            <a:ext cx="29334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800" dirty="0">
                <a:latin typeface="Garamond" panose="02020404030301010803" pitchFamily="18" charset="0"/>
              </a:rPr>
              <a:t>Term: </a:t>
            </a:r>
            <a:r>
              <a:rPr lang="en-US" altLang="zh-CN" dirty="0">
                <a:latin typeface="Garamond" panose="02020404030301010803" pitchFamily="18" charset="0"/>
              </a:rPr>
              <a:t>1</a:t>
            </a:r>
          </a:p>
        </p:txBody>
      </p:sp>
      <p:sp>
        <p:nvSpPr>
          <p:cNvPr id="133" name="文本框 132">
            <a:extLst>
              <a:ext uri="{FF2B5EF4-FFF2-40B4-BE49-F238E27FC236}">
                <a16:creationId xmlns:a16="http://schemas.microsoft.com/office/drawing/2014/main" id="{17AF594F-CF09-43BA-9FC2-B7CB9EA0FF1D}"/>
              </a:ext>
            </a:extLst>
          </p:cNvPr>
          <p:cNvSpPr txBox="1"/>
          <p:nvPr/>
        </p:nvSpPr>
        <p:spPr>
          <a:xfrm>
            <a:off x="10368184" y="2651369"/>
            <a:ext cx="145021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800" dirty="0">
                <a:latin typeface="Garamond" panose="02020404030301010803" pitchFamily="18" charset="0"/>
              </a:rPr>
              <a:t>Term: </a:t>
            </a:r>
            <a:r>
              <a:rPr lang="en-US" altLang="zh-CN" dirty="0">
                <a:latin typeface="Garamond" panose="02020404030301010803" pitchFamily="18" charset="0"/>
              </a:rPr>
              <a:t>1</a:t>
            </a:r>
          </a:p>
          <a:p>
            <a:pPr algn="ctr"/>
            <a:r>
              <a:rPr lang="en-US" altLang="zh-CN" dirty="0">
                <a:latin typeface="Garamond" panose="02020404030301010803" pitchFamily="18" charset="0"/>
              </a:rPr>
              <a:t>Leader A</a:t>
            </a:r>
            <a:endParaRPr lang="en-US" altLang="zh-CN" b="1" dirty="0">
              <a:solidFill>
                <a:srgbClr val="0000FF"/>
              </a:solidFill>
              <a:latin typeface="Garamond" panose="02020404030301010803" pitchFamily="18" charset="0"/>
            </a:endParaRPr>
          </a:p>
        </p:txBody>
      </p:sp>
      <p:sp>
        <p:nvSpPr>
          <p:cNvPr id="134" name="文本框 133">
            <a:extLst>
              <a:ext uri="{FF2B5EF4-FFF2-40B4-BE49-F238E27FC236}">
                <a16:creationId xmlns:a16="http://schemas.microsoft.com/office/drawing/2014/main" id="{5498B28B-7CED-49EB-A9A3-346F1F2E757C}"/>
              </a:ext>
            </a:extLst>
          </p:cNvPr>
          <p:cNvSpPr txBox="1"/>
          <p:nvPr/>
        </p:nvSpPr>
        <p:spPr>
          <a:xfrm>
            <a:off x="6366329" y="2686997"/>
            <a:ext cx="145021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800" dirty="0">
                <a:latin typeface="Garamond" panose="02020404030301010803" pitchFamily="18" charset="0"/>
              </a:rPr>
              <a:t>Term: </a:t>
            </a:r>
            <a:r>
              <a:rPr lang="en-US" altLang="zh-CN" dirty="0">
                <a:latin typeface="Garamond" panose="02020404030301010803" pitchFamily="18" charset="0"/>
              </a:rPr>
              <a:t>1</a:t>
            </a:r>
          </a:p>
          <a:p>
            <a:pPr algn="ctr"/>
            <a:r>
              <a:rPr lang="en-US" altLang="zh-CN" dirty="0">
                <a:latin typeface="Garamond" panose="02020404030301010803" pitchFamily="18" charset="0"/>
              </a:rPr>
              <a:t>Leader A</a:t>
            </a:r>
            <a:endParaRPr lang="en-US" altLang="zh-CN" b="1" dirty="0">
              <a:solidFill>
                <a:srgbClr val="0000FF"/>
              </a:solidFill>
              <a:latin typeface="Garamond" panose="02020404030301010803" pitchFamily="18" charset="0"/>
            </a:endParaRPr>
          </a:p>
        </p:txBody>
      </p:sp>
      <p:sp>
        <p:nvSpPr>
          <p:cNvPr id="137" name="空心弧 136">
            <a:extLst>
              <a:ext uri="{FF2B5EF4-FFF2-40B4-BE49-F238E27FC236}">
                <a16:creationId xmlns:a16="http://schemas.microsoft.com/office/drawing/2014/main" id="{5893116D-53A2-40E7-B7A5-126DC99FCDCF}"/>
              </a:ext>
            </a:extLst>
          </p:cNvPr>
          <p:cNvSpPr/>
          <p:nvPr/>
        </p:nvSpPr>
        <p:spPr>
          <a:xfrm>
            <a:off x="7433346" y="5039279"/>
            <a:ext cx="1662084" cy="1662084"/>
          </a:xfrm>
          <a:prstGeom prst="blockArc">
            <a:avLst>
              <a:gd name="adj1" fmla="val 3494841"/>
              <a:gd name="adj2" fmla="val 16470703"/>
              <a:gd name="adj3" fmla="val 4067"/>
            </a:avLst>
          </a:prstGeom>
          <a:solidFill>
            <a:srgbClr val="FFD7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928026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" grpId="0" animBg="1"/>
      <p:bldP spid="68" grpId="0" animBg="1"/>
      <p:bldP spid="69" grpId="0" animBg="1"/>
      <p:bldP spid="70" grpId="0" animBg="1"/>
      <p:bldP spid="71" grpId="0" animBg="1"/>
      <p:bldP spid="91" grpId="0" animBg="1"/>
      <p:bldP spid="92" grpId="0" animBg="1"/>
      <p:bldP spid="93" grpId="0" animBg="1"/>
      <p:bldP spid="96" grpId="0"/>
      <p:bldP spid="98" grpId="0"/>
      <p:bldP spid="99" grpId="0"/>
      <p:bldP spid="100" grpId="0"/>
      <p:bldP spid="101" grpId="0"/>
      <p:bldP spid="102" grpId="0"/>
      <p:bldP spid="103" grpId="0" animBg="1"/>
      <p:bldP spid="104" grpId="0" animBg="1"/>
      <p:bldP spid="105" grpId="0" animBg="1"/>
      <p:bldP spid="106" grpId="0" animBg="1"/>
      <p:bldP spid="107" grpId="0" animBg="1"/>
      <p:bldP spid="108" grpId="0" animBg="1"/>
      <p:bldP spid="128" grpId="0" animBg="1"/>
      <p:bldP spid="129" grpId="0" animBg="1"/>
      <p:bldP spid="131" grpId="0"/>
      <p:bldP spid="132" grpId="0"/>
      <p:bldP spid="133" grpId="0"/>
      <p:bldP spid="134" grpId="0"/>
      <p:bldP spid="137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脑裂</a:t>
            </a:r>
            <a:r>
              <a:rPr lang="en-US" altLang="zh-CN" dirty="0">
                <a:latin typeface="Garamond" panose="02020404030301010803" pitchFamily="18" charset="0"/>
                <a:ea typeface="微软雅黑" panose="020B0503020204020204" pitchFamily="34" charset="-122"/>
              </a:rPr>
              <a:t>(Split-brain)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1E41-7A09-AB4A-A4E1-09765ADA2698}" type="slidenum">
              <a:rPr kumimoji="1" lang="zh-CN" altLang="en-US" smtClean="0"/>
              <a:t>27</a:t>
            </a:fld>
            <a:endParaRPr kumimoji="1" lang="zh-CN" altLang="en-US" dirty="0"/>
          </a:p>
        </p:txBody>
      </p:sp>
      <p:sp>
        <p:nvSpPr>
          <p:cNvPr id="67" name="椭圆 66">
            <a:extLst>
              <a:ext uri="{FF2B5EF4-FFF2-40B4-BE49-F238E27FC236}">
                <a16:creationId xmlns:a16="http://schemas.microsoft.com/office/drawing/2014/main" id="{2D05A189-30BF-4848-8CB4-150A9CEDE417}"/>
              </a:ext>
            </a:extLst>
          </p:cNvPr>
          <p:cNvSpPr/>
          <p:nvPr/>
        </p:nvSpPr>
        <p:spPr>
          <a:xfrm>
            <a:off x="2254581" y="1905824"/>
            <a:ext cx="1289626" cy="1289626"/>
          </a:xfrm>
          <a:prstGeom prst="ellipse">
            <a:avLst/>
          </a:prstGeom>
          <a:solidFill>
            <a:srgbClr val="A40A57"/>
          </a:solidFill>
          <a:ln w="3810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latin typeface="Garamond" panose="02020404030301010803" pitchFamily="18" charset="0"/>
              </a:rPr>
              <a:t>X: 5</a:t>
            </a:r>
            <a:endParaRPr lang="zh-CN" altLang="en-US" sz="2400" dirty="0">
              <a:latin typeface="Garamond" panose="02020404030301010803" pitchFamily="18" charset="0"/>
            </a:endParaRPr>
          </a:p>
        </p:txBody>
      </p:sp>
      <p:sp>
        <p:nvSpPr>
          <p:cNvPr id="68" name="椭圆 67">
            <a:extLst>
              <a:ext uri="{FF2B5EF4-FFF2-40B4-BE49-F238E27FC236}">
                <a16:creationId xmlns:a16="http://schemas.microsoft.com/office/drawing/2014/main" id="{F8EEBCA4-FD69-420E-B43E-ACC01C578C0E}"/>
              </a:ext>
            </a:extLst>
          </p:cNvPr>
          <p:cNvSpPr/>
          <p:nvPr/>
        </p:nvSpPr>
        <p:spPr>
          <a:xfrm>
            <a:off x="298205" y="3171842"/>
            <a:ext cx="1289626" cy="1289626"/>
          </a:xfrm>
          <a:prstGeom prst="ellipse">
            <a:avLst/>
          </a:prstGeom>
          <a:solidFill>
            <a:srgbClr val="A40A57"/>
          </a:solidFill>
          <a:ln w="38100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latin typeface="Garamond" panose="02020404030301010803" pitchFamily="18" charset="0"/>
              </a:rPr>
              <a:t>X: 5</a:t>
            </a:r>
            <a:endParaRPr lang="zh-CN" altLang="en-US" sz="2400" dirty="0">
              <a:latin typeface="Garamond" panose="02020404030301010803" pitchFamily="18" charset="0"/>
            </a:endParaRPr>
          </a:p>
        </p:txBody>
      </p:sp>
      <p:sp>
        <p:nvSpPr>
          <p:cNvPr id="69" name="椭圆 68">
            <a:extLst>
              <a:ext uri="{FF2B5EF4-FFF2-40B4-BE49-F238E27FC236}">
                <a16:creationId xmlns:a16="http://schemas.microsoft.com/office/drawing/2014/main" id="{C66C5FCC-5A59-419A-AF32-80951E819B99}"/>
              </a:ext>
            </a:extLst>
          </p:cNvPr>
          <p:cNvSpPr/>
          <p:nvPr/>
        </p:nvSpPr>
        <p:spPr>
          <a:xfrm>
            <a:off x="4210959" y="3171842"/>
            <a:ext cx="1289626" cy="1289626"/>
          </a:xfrm>
          <a:prstGeom prst="ellipse">
            <a:avLst/>
          </a:prstGeom>
          <a:solidFill>
            <a:srgbClr val="A40A57"/>
          </a:solidFill>
          <a:ln w="38100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latin typeface="Garamond" panose="02020404030301010803" pitchFamily="18" charset="0"/>
              </a:rPr>
              <a:t>X: 5</a:t>
            </a:r>
            <a:endParaRPr lang="zh-CN" altLang="en-US" sz="2400" dirty="0">
              <a:latin typeface="Garamond" panose="02020404030301010803" pitchFamily="18" charset="0"/>
            </a:endParaRPr>
          </a:p>
        </p:txBody>
      </p:sp>
      <p:sp>
        <p:nvSpPr>
          <p:cNvPr id="70" name="椭圆 69">
            <a:extLst>
              <a:ext uri="{FF2B5EF4-FFF2-40B4-BE49-F238E27FC236}">
                <a16:creationId xmlns:a16="http://schemas.microsoft.com/office/drawing/2014/main" id="{DCAA37C4-CB09-428F-9785-C5E242A318F5}"/>
              </a:ext>
            </a:extLst>
          </p:cNvPr>
          <p:cNvSpPr/>
          <p:nvPr/>
        </p:nvSpPr>
        <p:spPr>
          <a:xfrm>
            <a:off x="1383474" y="5113257"/>
            <a:ext cx="1289626" cy="1289626"/>
          </a:xfrm>
          <a:prstGeom prst="ellipse">
            <a:avLst/>
          </a:prstGeom>
          <a:solidFill>
            <a:srgbClr val="A40A57"/>
          </a:solidFill>
          <a:ln w="381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latin typeface="Garamond" panose="02020404030301010803" pitchFamily="18" charset="0"/>
              </a:rPr>
              <a:t>X: 5</a:t>
            </a:r>
            <a:endParaRPr lang="zh-CN" altLang="en-US" sz="2400" dirty="0">
              <a:latin typeface="Garamond" panose="02020404030301010803" pitchFamily="18" charset="0"/>
            </a:endParaRPr>
          </a:p>
        </p:txBody>
      </p:sp>
      <p:sp>
        <p:nvSpPr>
          <p:cNvPr id="71" name="椭圆 70">
            <a:extLst>
              <a:ext uri="{FF2B5EF4-FFF2-40B4-BE49-F238E27FC236}">
                <a16:creationId xmlns:a16="http://schemas.microsoft.com/office/drawing/2014/main" id="{530DD54F-80CC-4792-9F24-0BD94FE7DCA2}"/>
              </a:ext>
            </a:extLst>
          </p:cNvPr>
          <p:cNvSpPr/>
          <p:nvPr/>
        </p:nvSpPr>
        <p:spPr>
          <a:xfrm>
            <a:off x="3096825" y="5113257"/>
            <a:ext cx="1289626" cy="1289626"/>
          </a:xfrm>
          <a:prstGeom prst="ellipse">
            <a:avLst/>
          </a:prstGeom>
          <a:solidFill>
            <a:srgbClr val="A40A57"/>
          </a:solidFill>
          <a:ln w="38100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latin typeface="Garamond" panose="02020404030301010803" pitchFamily="18" charset="0"/>
              </a:rPr>
              <a:t>X: 5</a:t>
            </a:r>
            <a:endParaRPr lang="zh-CN" altLang="en-US" sz="2400" dirty="0">
              <a:latin typeface="Garamond" panose="02020404030301010803" pitchFamily="18" charset="0"/>
            </a:endParaRPr>
          </a:p>
        </p:txBody>
      </p:sp>
      <p:sp>
        <p:nvSpPr>
          <p:cNvPr id="98" name="文本框 97">
            <a:extLst>
              <a:ext uri="{FF2B5EF4-FFF2-40B4-BE49-F238E27FC236}">
                <a16:creationId xmlns:a16="http://schemas.microsoft.com/office/drawing/2014/main" id="{E0349DC8-A2FA-46AD-AE66-6D631BC198EB}"/>
              </a:ext>
            </a:extLst>
          </p:cNvPr>
          <p:cNvSpPr txBox="1"/>
          <p:nvPr/>
        </p:nvSpPr>
        <p:spPr>
          <a:xfrm>
            <a:off x="2407407" y="1488075"/>
            <a:ext cx="9839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800" dirty="0">
                <a:latin typeface="Garamond" panose="02020404030301010803" pitchFamily="18" charset="0"/>
              </a:rPr>
              <a:t>Term: </a:t>
            </a:r>
            <a:r>
              <a:rPr lang="en-US" altLang="zh-CN" dirty="0">
                <a:latin typeface="Garamond" panose="02020404030301010803" pitchFamily="18" charset="0"/>
              </a:rPr>
              <a:t>1</a:t>
            </a:r>
          </a:p>
        </p:txBody>
      </p:sp>
      <p:sp>
        <p:nvSpPr>
          <p:cNvPr id="99" name="文本框 98">
            <a:extLst>
              <a:ext uri="{FF2B5EF4-FFF2-40B4-BE49-F238E27FC236}">
                <a16:creationId xmlns:a16="http://schemas.microsoft.com/office/drawing/2014/main" id="{5778452B-2D29-46B9-82AD-05B1A1B4ACB9}"/>
              </a:ext>
            </a:extLst>
          </p:cNvPr>
          <p:cNvSpPr txBox="1"/>
          <p:nvPr/>
        </p:nvSpPr>
        <p:spPr>
          <a:xfrm>
            <a:off x="4130663" y="2522728"/>
            <a:ext cx="145021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800" dirty="0">
                <a:latin typeface="Garamond" panose="02020404030301010803" pitchFamily="18" charset="0"/>
              </a:rPr>
              <a:t>Term: </a:t>
            </a:r>
            <a:r>
              <a:rPr lang="en-US" altLang="zh-CN" dirty="0">
                <a:latin typeface="Garamond" panose="02020404030301010803" pitchFamily="18" charset="0"/>
              </a:rPr>
              <a:t>1</a:t>
            </a:r>
          </a:p>
          <a:p>
            <a:pPr algn="ctr"/>
            <a:r>
              <a:rPr lang="en-US" altLang="zh-CN" dirty="0">
                <a:latin typeface="Garamond" panose="02020404030301010803" pitchFamily="18" charset="0"/>
              </a:rPr>
              <a:t>Leader A</a:t>
            </a:r>
            <a:endParaRPr lang="en-US" altLang="zh-CN" b="1" dirty="0">
              <a:solidFill>
                <a:srgbClr val="0000FF"/>
              </a:solidFill>
              <a:latin typeface="Garamond" panose="02020404030301010803" pitchFamily="18" charset="0"/>
            </a:endParaRPr>
          </a:p>
        </p:txBody>
      </p:sp>
      <p:sp>
        <p:nvSpPr>
          <p:cNvPr id="100" name="文本框 99">
            <a:extLst>
              <a:ext uri="{FF2B5EF4-FFF2-40B4-BE49-F238E27FC236}">
                <a16:creationId xmlns:a16="http://schemas.microsoft.com/office/drawing/2014/main" id="{3DD3936A-4A13-48D3-8DDA-CC0CC01C0210}"/>
              </a:ext>
            </a:extLst>
          </p:cNvPr>
          <p:cNvSpPr txBox="1"/>
          <p:nvPr/>
        </p:nvSpPr>
        <p:spPr>
          <a:xfrm>
            <a:off x="128808" y="2558356"/>
            <a:ext cx="145021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800" dirty="0">
                <a:latin typeface="Garamond" panose="02020404030301010803" pitchFamily="18" charset="0"/>
              </a:rPr>
              <a:t>Term: </a:t>
            </a:r>
            <a:r>
              <a:rPr lang="en-US" altLang="zh-CN" dirty="0">
                <a:latin typeface="Garamond" panose="02020404030301010803" pitchFamily="18" charset="0"/>
              </a:rPr>
              <a:t>1</a:t>
            </a:r>
          </a:p>
          <a:p>
            <a:pPr algn="ctr"/>
            <a:r>
              <a:rPr lang="en-US" altLang="zh-CN" dirty="0">
                <a:latin typeface="Garamond" panose="02020404030301010803" pitchFamily="18" charset="0"/>
              </a:rPr>
              <a:t>Leader A</a:t>
            </a:r>
            <a:endParaRPr lang="en-US" altLang="zh-CN" b="1" dirty="0">
              <a:solidFill>
                <a:srgbClr val="0000FF"/>
              </a:solidFill>
              <a:latin typeface="Garamond" panose="02020404030301010803" pitchFamily="18" charset="0"/>
            </a:endParaRPr>
          </a:p>
        </p:txBody>
      </p:sp>
      <p:sp>
        <p:nvSpPr>
          <p:cNvPr id="101" name="文本框 100">
            <a:extLst>
              <a:ext uri="{FF2B5EF4-FFF2-40B4-BE49-F238E27FC236}">
                <a16:creationId xmlns:a16="http://schemas.microsoft.com/office/drawing/2014/main" id="{E896164A-2B2C-4B1F-AAD0-A0216F8BCFB8}"/>
              </a:ext>
            </a:extLst>
          </p:cNvPr>
          <p:cNvSpPr txBox="1"/>
          <p:nvPr/>
        </p:nvSpPr>
        <p:spPr>
          <a:xfrm>
            <a:off x="0" y="5354876"/>
            <a:ext cx="145021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800" dirty="0">
                <a:latin typeface="Garamond" panose="02020404030301010803" pitchFamily="18" charset="0"/>
              </a:rPr>
              <a:t>Term: </a:t>
            </a:r>
            <a:r>
              <a:rPr lang="en-US" altLang="zh-CN" b="1" dirty="0">
                <a:solidFill>
                  <a:srgbClr val="A40A57"/>
                </a:solidFill>
                <a:latin typeface="Garamond" panose="02020404030301010803" pitchFamily="18" charset="0"/>
              </a:rPr>
              <a:t>1</a:t>
            </a:r>
          </a:p>
          <a:p>
            <a:pPr algn="ctr"/>
            <a:r>
              <a:rPr lang="en-US" altLang="zh-CN" dirty="0">
                <a:latin typeface="Garamond" panose="02020404030301010803" pitchFamily="18" charset="0"/>
              </a:rPr>
              <a:t>Leader A</a:t>
            </a:r>
          </a:p>
        </p:txBody>
      </p:sp>
      <p:sp>
        <p:nvSpPr>
          <p:cNvPr id="102" name="文本框 101">
            <a:extLst>
              <a:ext uri="{FF2B5EF4-FFF2-40B4-BE49-F238E27FC236}">
                <a16:creationId xmlns:a16="http://schemas.microsoft.com/office/drawing/2014/main" id="{009E24B4-4FC5-469F-819C-56255C11B6F8}"/>
              </a:ext>
            </a:extLst>
          </p:cNvPr>
          <p:cNvSpPr txBox="1"/>
          <p:nvPr/>
        </p:nvSpPr>
        <p:spPr>
          <a:xfrm>
            <a:off x="4226682" y="5384685"/>
            <a:ext cx="145021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800" dirty="0">
                <a:latin typeface="Garamond" panose="02020404030301010803" pitchFamily="18" charset="0"/>
              </a:rPr>
              <a:t>Term: </a:t>
            </a:r>
            <a:r>
              <a:rPr lang="en-US" altLang="zh-CN" b="1" dirty="0">
                <a:solidFill>
                  <a:srgbClr val="A40A57"/>
                </a:solidFill>
                <a:latin typeface="Garamond" panose="02020404030301010803" pitchFamily="18" charset="0"/>
              </a:rPr>
              <a:t>1</a:t>
            </a:r>
          </a:p>
          <a:p>
            <a:pPr algn="ctr"/>
            <a:r>
              <a:rPr lang="en-US" altLang="zh-CN" dirty="0">
                <a:latin typeface="Garamond" panose="02020404030301010803" pitchFamily="18" charset="0"/>
              </a:rPr>
              <a:t>Leader A</a:t>
            </a:r>
          </a:p>
        </p:txBody>
      </p:sp>
      <p:cxnSp>
        <p:nvCxnSpPr>
          <p:cNvPr id="95" name="直接箭头连接符 94">
            <a:extLst>
              <a:ext uri="{FF2B5EF4-FFF2-40B4-BE49-F238E27FC236}">
                <a16:creationId xmlns:a16="http://schemas.microsoft.com/office/drawing/2014/main" id="{FDBA4D3C-C8AF-4301-896D-FBA9573598CD}"/>
              </a:ext>
            </a:extLst>
          </p:cNvPr>
          <p:cNvCxnSpPr>
            <a:cxnSpLocks/>
          </p:cNvCxnSpPr>
          <p:nvPr/>
        </p:nvCxnSpPr>
        <p:spPr>
          <a:xfrm flipH="1">
            <a:off x="2038199" y="3032980"/>
            <a:ext cx="415155" cy="2106668"/>
          </a:xfrm>
          <a:prstGeom prst="straightConnector1">
            <a:avLst/>
          </a:prstGeom>
          <a:ln w="381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直接箭头连接符 96">
            <a:extLst>
              <a:ext uri="{FF2B5EF4-FFF2-40B4-BE49-F238E27FC236}">
                <a16:creationId xmlns:a16="http://schemas.microsoft.com/office/drawing/2014/main" id="{57028219-CA9B-4E60-A7A1-C10849DA7127}"/>
              </a:ext>
            </a:extLst>
          </p:cNvPr>
          <p:cNvCxnSpPr>
            <a:cxnSpLocks/>
          </p:cNvCxnSpPr>
          <p:nvPr/>
        </p:nvCxnSpPr>
        <p:spPr>
          <a:xfrm>
            <a:off x="3365258" y="3032980"/>
            <a:ext cx="386292" cy="2106668"/>
          </a:xfrm>
          <a:prstGeom prst="straightConnector1">
            <a:avLst/>
          </a:prstGeom>
          <a:ln w="381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5" name="文本框 134">
            <a:extLst>
              <a:ext uri="{FF2B5EF4-FFF2-40B4-BE49-F238E27FC236}">
                <a16:creationId xmlns:a16="http://schemas.microsoft.com/office/drawing/2014/main" id="{B16BC32E-9745-49CE-957A-5E38D90AA4C9}"/>
              </a:ext>
            </a:extLst>
          </p:cNvPr>
          <p:cNvSpPr txBox="1"/>
          <p:nvPr/>
        </p:nvSpPr>
        <p:spPr>
          <a:xfrm>
            <a:off x="1947606" y="3998630"/>
            <a:ext cx="1903575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200" dirty="0" err="1">
                <a:latin typeface="Garamond" panose="02020404030301010803" pitchFamily="18" charset="0"/>
                <a:ea typeface="微软雅黑" panose="020B0503020204020204" pitchFamily="34" charset="-122"/>
              </a:rPr>
              <a:t>AppendEntries</a:t>
            </a:r>
            <a:endParaRPr lang="en-US" altLang="zh-CN" sz="2200" dirty="0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136" name="文本框 135">
            <a:extLst>
              <a:ext uri="{FF2B5EF4-FFF2-40B4-BE49-F238E27FC236}">
                <a16:creationId xmlns:a16="http://schemas.microsoft.com/office/drawing/2014/main" id="{E6DC8A7B-6E26-47C1-B8BA-D1A4B4217F2F}"/>
              </a:ext>
            </a:extLst>
          </p:cNvPr>
          <p:cNvSpPr txBox="1"/>
          <p:nvPr/>
        </p:nvSpPr>
        <p:spPr>
          <a:xfrm>
            <a:off x="6070325" y="2087454"/>
            <a:ext cx="5726820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网络恢复后，</a:t>
            </a:r>
            <a:r>
              <a:rPr lang="en-US" altLang="zh-CN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Leader</a:t>
            </a:r>
            <a:r>
              <a:rPr lang="zh-CN" altLang="en-US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向其他节点发送</a:t>
            </a:r>
            <a:r>
              <a:rPr lang="en-US" altLang="zh-CN" sz="2200" dirty="0" err="1">
                <a:latin typeface="Garamond" panose="02020404030301010803" pitchFamily="18" charset="0"/>
                <a:ea typeface="微软雅黑" panose="020B0503020204020204" pitchFamily="34" charset="-122"/>
              </a:rPr>
              <a:t>AppendEntries</a:t>
            </a:r>
            <a:r>
              <a:rPr lang="zh-CN" altLang="en-US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，用于同步网络分区期间的日志。</a:t>
            </a:r>
            <a:endParaRPr lang="en-US" altLang="zh-CN" sz="2200" dirty="0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4D1C1862-81E6-4AAA-886B-7E664E598A9F}"/>
                  </a:ext>
                </a:extLst>
              </p:cNvPr>
              <p:cNvSpPr txBox="1"/>
              <p:nvPr/>
            </p:nvSpPr>
            <p:spPr>
              <a:xfrm>
                <a:off x="6070325" y="3816655"/>
                <a:ext cx="5726820" cy="143936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sz="2200" dirty="0">
                    <a:latin typeface="Garamond" panose="02020404030301010803" pitchFamily="18" charset="0"/>
                    <a:ea typeface="微软雅黑" panose="020B0503020204020204" pitchFamily="34" charset="-122"/>
                  </a:rPr>
                  <a:t>CFT</a:t>
                </a:r>
                <a:r>
                  <a:rPr lang="zh-CN" altLang="en-US" sz="2200" dirty="0">
                    <a:latin typeface="Garamond" panose="02020404030301010803" pitchFamily="18" charset="0"/>
                    <a:ea typeface="微软雅黑" panose="020B0503020204020204" pitchFamily="34" charset="-122"/>
                  </a:rPr>
                  <a:t>能力：</a:t>
                </a:r>
                <a:r>
                  <a:rPr lang="en-US" altLang="zh-CN" sz="2200" dirty="0">
                    <a:latin typeface="Garamond" panose="02020404030301010803" pitchFamily="18" charset="0"/>
                    <a:ea typeface="微软雅黑" panose="020B0503020204020204" pitchFamily="34" charset="-122"/>
                  </a:rPr>
                  <a:t>n</a:t>
                </a:r>
                <a:r>
                  <a:rPr lang="zh-CN" altLang="en-US" sz="2200" dirty="0">
                    <a:latin typeface="Garamond" panose="02020404030301010803" pitchFamily="18" charset="0"/>
                    <a:ea typeface="微软雅黑" panose="020B0503020204020204" pitchFamily="34" charset="-122"/>
                  </a:rPr>
                  <a:t>个节点，需要超半数节点正常，即</a:t>
                </a:r>
                <a14:m>
                  <m:oMath xmlns:m="http://schemas.openxmlformats.org/officeDocument/2006/math">
                    <m:d>
                      <m:dPr>
                        <m:begChr m:val="⌊"/>
                        <m:endChr m:val="⌋"/>
                        <m:ctrlPr>
                          <a:rPr lang="zh-CN" altLang="en-US" sz="220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20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fPr>
                          <m:num>
                            <m:r>
                              <a:rPr lang="en-US" altLang="zh-CN" sz="22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𝑛</m:t>
                            </m:r>
                          </m:num>
                          <m:den>
                            <m:r>
                              <a:rPr lang="en-US" altLang="zh-CN" sz="22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a:rPr lang="en-US" altLang="zh-CN" sz="22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+1</m:t>
                    </m:r>
                  </m:oMath>
                </a14:m>
                <a:r>
                  <a:rPr lang="zh-CN" altLang="en-US" sz="2200" dirty="0">
                    <a:latin typeface="Garamond" panose="02020404030301010803" pitchFamily="18" charset="0"/>
                    <a:ea typeface="微软雅黑" panose="020B0503020204020204" pitchFamily="34" charset="-122"/>
                  </a:rPr>
                  <a:t>个节点，</a:t>
                </a:r>
                <a14:m>
                  <m:oMath xmlns:m="http://schemas.openxmlformats.org/officeDocument/2006/math">
                    <m:d>
                      <m:dPr>
                        <m:begChr m:val="⌊"/>
                        <m:endChr m:val="⌋"/>
                        <m:ctrlPr>
                          <a:rPr lang="zh-CN" altLang="en-US" sz="220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r>
                          <a:rPr lang="zh-CN" altLang="en-US" sz="220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∙</m:t>
                        </m:r>
                      </m:e>
                    </m:d>
                  </m:oMath>
                </a14:m>
                <a:r>
                  <a:rPr lang="zh-CN" altLang="en-US" sz="2200" dirty="0">
                    <a:latin typeface="Garamond" panose="02020404030301010803" pitchFamily="18" charset="0"/>
                    <a:ea typeface="微软雅黑" panose="020B0503020204020204" pitchFamily="34" charset="-122"/>
                  </a:rPr>
                  <a:t>为向下取整，因而能够容忍</a:t>
                </a:r>
                <a14:m>
                  <m:oMath xmlns:m="http://schemas.openxmlformats.org/officeDocument/2006/math">
                    <m:r>
                      <a:rPr lang="en-US" altLang="zh-CN" sz="22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𝑛</m:t>
                    </m:r>
                    <m:r>
                      <a:rPr lang="en-US" altLang="zh-CN" sz="2200" b="0" i="0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 − </m:t>
                    </m:r>
                    <m:d>
                      <m:dPr>
                        <m:begChr m:val="⌊"/>
                        <m:endChr m:val="⌋"/>
                        <m:ctrlPr>
                          <a:rPr lang="zh-CN" altLang="en-US" sz="22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2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fPr>
                          <m:num>
                            <m:r>
                              <a:rPr lang="en-US" altLang="zh-CN" sz="22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𝑛</m:t>
                            </m:r>
                          </m:num>
                          <m:den>
                            <m:r>
                              <a:rPr lang="en-US" altLang="zh-CN" sz="22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a:rPr lang="en-US" altLang="zh-CN" sz="22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−1</m:t>
                    </m:r>
                  </m:oMath>
                </a14:m>
                <a:r>
                  <a:rPr lang="zh-CN" altLang="en-US" sz="2200" dirty="0">
                    <a:latin typeface="Garamond" panose="02020404030301010803" pitchFamily="18" charset="0"/>
                    <a:ea typeface="微软雅黑" panose="020B0503020204020204" pitchFamily="34" charset="-122"/>
                  </a:rPr>
                  <a:t>个错误。</a:t>
                </a:r>
                <a:endParaRPr lang="en-US" altLang="zh-CN" sz="2200" dirty="0">
                  <a:latin typeface="Garamond" panose="02020404030301010803" pitchFamily="18" charset="0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4D1C1862-81E6-4AAA-886B-7E664E598A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70325" y="3816655"/>
                <a:ext cx="5726820" cy="1439368"/>
              </a:xfrm>
              <a:prstGeom prst="rect">
                <a:avLst/>
              </a:prstGeom>
              <a:blipFill>
                <a:blip r:embed="rId3"/>
                <a:stretch>
                  <a:fillRect l="-1384" t="-3390" b="-211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953362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" grpId="0" animBg="1"/>
      <p:bldP spid="68" grpId="0" animBg="1"/>
      <p:bldP spid="69" grpId="0" animBg="1"/>
      <p:bldP spid="70" grpId="0" animBg="1"/>
      <p:bldP spid="71" grpId="0" animBg="1"/>
      <p:bldP spid="98" grpId="0"/>
      <p:bldP spid="99" grpId="0"/>
      <p:bldP spid="100" grpId="0"/>
      <p:bldP spid="101" grpId="0"/>
      <p:bldP spid="102" grpId="0"/>
      <p:bldP spid="135" grpId="0"/>
      <p:bldP spid="136" grpId="0"/>
      <p:bldP spid="18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演示系统</a:t>
            </a:r>
            <a:endParaRPr lang="en-US" altLang="zh-CN" dirty="0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1E41-7A09-AB4A-A4E1-09765ADA2698}" type="slidenum">
              <a:rPr kumimoji="1" lang="zh-CN" altLang="en-US" smtClean="0"/>
              <a:t>28</a:t>
            </a:fld>
            <a:endParaRPr kumimoji="1" lang="zh-CN" altLang="en-US" dirty="0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59E84070-6913-40D7-B305-13F3E9321571}"/>
              </a:ext>
            </a:extLst>
          </p:cNvPr>
          <p:cNvSpPr txBox="1"/>
          <p:nvPr/>
        </p:nvSpPr>
        <p:spPr>
          <a:xfrm>
            <a:off x="3048000" y="3388119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dirty="0">
                <a:latin typeface="Garamond" panose="02020404030301010803" pitchFamily="18" charset="0"/>
                <a:hlinkClick r:id="rId3"/>
              </a:rPr>
              <a:t>https://thesecretlivesofdata.com/raft/</a:t>
            </a:r>
            <a:r>
              <a:rPr lang="zh-CN" altLang="en-US" sz="2800" dirty="0">
                <a:latin typeface="Garamond" panose="02020404030301010803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256623050"/>
      </p:ext>
    </p:extLst>
  </p:cSld>
  <p:clrMapOvr>
    <a:masterClrMapping/>
  </p:clrMapOvr>
</p:sld>
</file>

<file path=ppt/theme/theme1.xml><?xml version="1.0" encoding="utf-8"?>
<a:theme xmlns:a="http://schemas.openxmlformats.org/drawingml/2006/main" name="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灰度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4164</TotalTime>
  <Words>1263</Words>
  <Application>Microsoft Office PowerPoint</Application>
  <PresentationFormat>宽屏</PresentationFormat>
  <Paragraphs>352</Paragraphs>
  <Slides>29</Slides>
  <Notes>29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29</vt:i4>
      </vt:variant>
    </vt:vector>
  </HeadingPairs>
  <TitlesOfParts>
    <vt:vector size="38" baseType="lpstr">
      <vt:lpstr>等线</vt:lpstr>
      <vt:lpstr>Microsoft YaHei</vt:lpstr>
      <vt:lpstr>Microsoft YaHei</vt:lpstr>
      <vt:lpstr>Arial</vt:lpstr>
      <vt:lpstr>Cambria Math</vt:lpstr>
      <vt:lpstr>Garamond</vt:lpstr>
      <vt:lpstr>Wingdings</vt:lpstr>
      <vt:lpstr>webwppDefTheme</vt:lpstr>
      <vt:lpstr>Office 主题​​</vt:lpstr>
      <vt:lpstr>第四章 分布式系统 ——RAFT共识机制（上）</vt:lpstr>
      <vt:lpstr>本章内容</vt:lpstr>
      <vt:lpstr>PAXOS &amp; RAFT</vt:lpstr>
      <vt:lpstr>RAFT</vt:lpstr>
      <vt:lpstr>RAFT</vt:lpstr>
      <vt:lpstr>RAFT</vt:lpstr>
      <vt:lpstr>RAFT</vt:lpstr>
      <vt:lpstr>RAFT</vt:lpstr>
      <vt:lpstr>RAFT</vt:lpstr>
      <vt:lpstr>RAFT节点状态</vt:lpstr>
      <vt:lpstr>领导人选举（Leader Election）</vt:lpstr>
      <vt:lpstr>领导人选举（Leader Election）</vt:lpstr>
      <vt:lpstr>领导人选举（Leader Election）</vt:lpstr>
      <vt:lpstr>领导人选举（Leader Election）</vt:lpstr>
      <vt:lpstr>领导人选举——边界情况</vt:lpstr>
      <vt:lpstr>领导人选举——边界情况</vt:lpstr>
      <vt:lpstr>领导人选举——边界情况</vt:lpstr>
      <vt:lpstr>领导人心跳包</vt:lpstr>
      <vt:lpstr>领导人心跳包</vt:lpstr>
      <vt:lpstr>日志复制（Log Replication）</vt:lpstr>
      <vt:lpstr>日志复制（Log Replication）</vt:lpstr>
      <vt:lpstr>日志复制（Log Replication）</vt:lpstr>
      <vt:lpstr>日志复制（Log Replication）</vt:lpstr>
      <vt:lpstr>日志复制（Log Replication）</vt:lpstr>
      <vt:lpstr>脑裂(Split-brain)</vt:lpstr>
      <vt:lpstr>脑裂(Split-brain)</vt:lpstr>
      <vt:lpstr>脑裂(Split-brain)</vt:lpstr>
      <vt:lpstr>脑裂(Split-brain)</vt:lpstr>
      <vt:lpstr>演示系统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第二章 比特币</dc:title>
  <dc:creator>Yong Cui</dc:creator>
  <cp:lastModifiedBy>侯璐 h</cp:lastModifiedBy>
  <cp:revision>914</cp:revision>
  <dcterms:created xsi:type="dcterms:W3CDTF">2021-04-18T13:48:02Z</dcterms:created>
  <dcterms:modified xsi:type="dcterms:W3CDTF">2025-04-22T10:47:36Z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2052-0.0.0.0</vt:lpwstr>
  </property>
</Properties>
</file>