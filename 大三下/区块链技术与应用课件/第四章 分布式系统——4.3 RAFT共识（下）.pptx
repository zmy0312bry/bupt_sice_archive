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 bookmarkIdSeed="2">
  <p:sldMasterIdLst>
    <p:sldMasterId id="2147483648" r:id="rId1"/>
    <p:sldMasterId id="2147483657" r:id="rId2"/>
  </p:sldMasterIdLst>
  <p:notesMasterIdLst>
    <p:notesMasterId r:id="rId36"/>
  </p:notesMasterIdLst>
  <p:sldIdLst>
    <p:sldId id="1257" r:id="rId3"/>
    <p:sldId id="1062" r:id="rId4"/>
    <p:sldId id="1451" r:id="rId5"/>
    <p:sldId id="1312" r:id="rId6"/>
    <p:sldId id="1426" r:id="rId7"/>
    <p:sldId id="1428" r:id="rId8"/>
    <p:sldId id="1429" r:id="rId9"/>
    <p:sldId id="1430" r:id="rId10"/>
    <p:sldId id="1431" r:id="rId11"/>
    <p:sldId id="1432" r:id="rId12"/>
    <p:sldId id="1433" r:id="rId13"/>
    <p:sldId id="1434" r:id="rId14"/>
    <p:sldId id="1435" r:id="rId15"/>
    <p:sldId id="1427" r:id="rId16"/>
    <p:sldId id="1436" r:id="rId17"/>
    <p:sldId id="1437" r:id="rId18"/>
    <p:sldId id="1438" r:id="rId19"/>
    <p:sldId id="1439" r:id="rId20"/>
    <p:sldId id="1440" r:id="rId21"/>
    <p:sldId id="1441" r:id="rId22"/>
    <p:sldId id="1442" r:id="rId23"/>
    <p:sldId id="1443" r:id="rId24"/>
    <p:sldId id="1444" r:id="rId25"/>
    <p:sldId id="1445" r:id="rId26"/>
    <p:sldId id="1446" r:id="rId27"/>
    <p:sldId id="1384" r:id="rId28"/>
    <p:sldId id="1452" r:id="rId29"/>
    <p:sldId id="1447" r:id="rId30"/>
    <p:sldId id="1448" r:id="rId31"/>
    <p:sldId id="1449" r:id="rId32"/>
    <p:sldId id="1450" r:id="rId33"/>
    <p:sldId id="1454" r:id="rId34"/>
    <p:sldId id="1453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062"/>
            <p14:sldId id="1451"/>
            <p14:sldId id="1312"/>
            <p14:sldId id="1426"/>
            <p14:sldId id="1428"/>
            <p14:sldId id="1429"/>
            <p14:sldId id="1430"/>
            <p14:sldId id="1431"/>
            <p14:sldId id="1432"/>
            <p14:sldId id="1433"/>
            <p14:sldId id="1434"/>
            <p14:sldId id="1435"/>
            <p14:sldId id="1427"/>
            <p14:sldId id="1436"/>
            <p14:sldId id="1437"/>
            <p14:sldId id="1438"/>
            <p14:sldId id="1439"/>
            <p14:sldId id="1440"/>
            <p14:sldId id="1441"/>
            <p14:sldId id="1442"/>
            <p14:sldId id="1443"/>
            <p14:sldId id="1444"/>
            <p14:sldId id="1445"/>
            <p14:sldId id="1446"/>
            <p14:sldId id="1384"/>
            <p14:sldId id="1452"/>
            <p14:sldId id="1447"/>
            <p14:sldId id="1448"/>
            <p14:sldId id="1449"/>
            <p14:sldId id="1450"/>
            <p14:sldId id="1454"/>
            <p14:sldId id="14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307E"/>
    <a:srgbClr val="0000FF"/>
    <a:srgbClr val="A40A57"/>
    <a:srgbClr val="FFD801"/>
    <a:srgbClr val="FFD700"/>
    <a:srgbClr val="0000CC"/>
    <a:srgbClr val="A2A2A2"/>
    <a:srgbClr val="B962FF"/>
    <a:srgbClr val="FDCB0B"/>
    <a:srgbClr val="F9B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7" autoAdjust="0"/>
    <p:restoredTop sz="96005" autoAdjust="0"/>
  </p:normalViewPr>
  <p:slideViewPr>
    <p:cSldViewPr snapToGrid="0" snapToObjects="1">
      <p:cViewPr>
        <p:scale>
          <a:sx n="100" d="100"/>
          <a:sy n="100" d="100"/>
        </p:scale>
        <p:origin x="288" y="180"/>
      </p:cViewPr>
      <p:guideLst/>
    </p:cSldViewPr>
  </p:slideViewPr>
  <p:outlineViewPr>
    <p:cViewPr>
      <p:scale>
        <a:sx n="33" d="100"/>
        <a:sy n="33" d="100"/>
      </p:scale>
      <p:origin x="0" y="-2640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2025/4/29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8264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6498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1332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6845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5559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268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9992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5942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3080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9754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5154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7737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14193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1198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7813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97200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4788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7071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5823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754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578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9774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6842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92063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7150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28268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58542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90950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84351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4842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939" y="-8628"/>
            <a:ext cx="8755906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区块链技术与应用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B135FE-0B53-4AC4-B659-90621587F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71879" y="0"/>
            <a:ext cx="3012141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680" indent="-36068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4CEC7B-57FC-4F9E-AA77-21D3AC7B4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841371-3C71-4398-BE31-04FC89440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raft.github.io/?algorith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28749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第四章 分布式系统</a:t>
            </a:r>
            <a:br>
              <a:rPr kumimoji="1" lang="en-US" altLang="zh-CN" dirty="0"/>
            </a:br>
            <a:r>
              <a:rPr kumimoji="1" lang="en-US" altLang="zh-CN" sz="3600" dirty="0"/>
              <a:t>——RAFT</a:t>
            </a:r>
            <a:r>
              <a:rPr kumimoji="1" lang="zh-CN" altLang="en-US" sz="3600"/>
              <a:t>共识机制（下）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/>
              <a:t>信息与通信工程学院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4.3 RAFT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共识机制（下）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任期（</a:t>
            </a: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Term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）与索引（</a:t>
            </a: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Index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）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崩溃容错分析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任期切换（</a:t>
            </a: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Leader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重新选举）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一些细节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日志所处阶段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FEF85E-448F-3A91-B80F-BC40787DE0F3}"/>
              </a:ext>
            </a:extLst>
          </p:cNvPr>
          <p:cNvSpPr txBox="1"/>
          <p:nvPr/>
        </p:nvSpPr>
        <p:spPr>
          <a:xfrm>
            <a:off x="329363" y="4957136"/>
            <a:ext cx="79664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被应用状态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：当集群中的任意节点意识到某一个</a:t>
            </a:r>
            <a:r>
              <a:rPr lang="en-US" altLang="zh-CN" dirty="0">
                <a:solidFill>
                  <a:srgbClr val="191B1F"/>
                </a:solidFill>
                <a:latin typeface="Garamond" panose="02020404030301010803" pitchFamily="18" charset="0"/>
              </a:rPr>
              <a:t>E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ntry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已经被标记为已提交，而且自身也持有这个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Log </a:t>
            </a:r>
            <a:r>
              <a:rPr lang="en-US" altLang="zh-CN" dirty="0">
                <a:solidFill>
                  <a:srgbClr val="191B1F"/>
                </a:solidFill>
                <a:latin typeface="Garamond" panose="02020404030301010803" pitchFamily="18" charset="0"/>
              </a:rPr>
              <a:t>E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ntry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，就会将其</a:t>
            </a:r>
            <a:r>
              <a:rPr lang="zh-CN" altLang="en-US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应用进状态机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，对于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KV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数据库可能是写、删除操作等，此时一个请求才真正被完成，可以被外部验证其已被执行。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0AE35D-B210-C108-EE9A-D9B7D6722799}"/>
              </a:ext>
            </a:extLst>
          </p:cNvPr>
          <p:cNvSpPr txBox="1"/>
          <p:nvPr/>
        </p:nvSpPr>
        <p:spPr>
          <a:xfrm>
            <a:off x="329363" y="1377190"/>
            <a:ext cx="79664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提案阶段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：是一个初始阶段，当</a:t>
            </a:r>
            <a:r>
              <a:rPr lang="en-US" altLang="zh-CN" dirty="0">
                <a:solidFill>
                  <a:srgbClr val="191B1F"/>
                </a:solidFill>
                <a:latin typeface="Garamond" panose="02020404030301010803" pitchFamily="18" charset="0"/>
              </a:rPr>
              <a:t>L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eader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收到来自客户端的一条请求后，会将请求打包成为一个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Log Entry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，等待复制。它是不稳定的，</a:t>
            </a:r>
            <a:r>
              <a:rPr lang="zh-CN" altLang="en-US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集群没有办法保证此</a:t>
            </a:r>
            <a:r>
              <a:rPr lang="en-US" altLang="zh-CN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entry</a:t>
            </a:r>
            <a:r>
              <a:rPr lang="zh-CN" altLang="en-US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会被集群接受还是抛弃（网络、机器原因），需要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经过</a:t>
            </a:r>
            <a:r>
              <a:rPr lang="zh-CN" altLang="en-US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共识来确定。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8DCDA4-8769-26E9-8FAA-7F9FC0BAF803}"/>
              </a:ext>
            </a:extLst>
          </p:cNvPr>
          <p:cNvSpPr txBox="1"/>
          <p:nvPr/>
        </p:nvSpPr>
        <p:spPr>
          <a:xfrm>
            <a:off x="329363" y="2542941"/>
            <a:ext cx="79664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达成共识阶段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/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可提交阶段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：</a:t>
            </a:r>
            <a:r>
              <a:rPr lang="zh-CN" altLang="en-US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一旦某一</a:t>
            </a:r>
            <a:r>
              <a:rPr lang="en-US" altLang="zh-CN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Log Entry</a:t>
            </a:r>
            <a:r>
              <a:rPr lang="zh-CN" altLang="en-US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被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复制到</a:t>
            </a:r>
            <a:r>
              <a:rPr lang="zh-CN" altLang="en-US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集群内大多数节点，该</a:t>
            </a:r>
            <a:r>
              <a:rPr lang="en-US" altLang="zh-CN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L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og</a:t>
            </a:r>
            <a:r>
              <a:rPr lang="zh-CN" altLang="en-US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就已经处于达成共识阶段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，它已经能够确定将会被集群接受（提交），但具体何时写入状态机，外部客户端何时能够验证此命令已经生效，则是没有办法保证的（网络延迟、机器故障都会影响）</a:t>
            </a:r>
            <a:r>
              <a:rPr lang="zh-CN" altLang="en-US" dirty="0">
                <a:solidFill>
                  <a:srgbClr val="191B1F"/>
                </a:solidFill>
                <a:latin typeface="Garamond" panose="02020404030301010803" pitchFamily="18" charset="0"/>
              </a:rPr>
              <a:t>。</a:t>
            </a:r>
            <a:endParaRPr lang="zh-CN" altLang="en-US" b="0" i="0" dirty="0">
              <a:solidFill>
                <a:srgbClr val="191B1F"/>
              </a:solidFill>
              <a:effectLst/>
              <a:latin typeface="Garamond" panose="02020404030301010803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7F2C390-E5ED-BE72-1F25-0D940873AA2C}"/>
              </a:ext>
            </a:extLst>
          </p:cNvPr>
          <p:cNvSpPr txBox="1"/>
          <p:nvPr/>
        </p:nvSpPr>
        <p:spPr>
          <a:xfrm>
            <a:off x="329363" y="3840785"/>
            <a:ext cx="79664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被提交阶段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：</a:t>
            </a:r>
            <a:r>
              <a:rPr lang="zh-CN" altLang="en-US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显式达成共识阶段。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当</a:t>
            </a:r>
            <a:r>
              <a:rPr lang="en-US" altLang="zh-CN" dirty="0">
                <a:solidFill>
                  <a:srgbClr val="191B1F"/>
                </a:solidFill>
                <a:latin typeface="Garamond" panose="02020404030301010803" pitchFamily="18" charset="0"/>
              </a:rPr>
              <a:t>L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eader</a:t>
            </a:r>
            <a:r>
              <a:rPr lang="zh-CN" altLang="en-US" dirty="0">
                <a:solidFill>
                  <a:srgbClr val="191B1F"/>
                </a:solidFill>
                <a:latin typeface="Garamond" panose="02020404030301010803" pitchFamily="18" charset="0"/>
              </a:rPr>
              <a:t>收到超半数投票确认已复制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Log entry</a:t>
            </a:r>
            <a:r>
              <a:rPr lang="zh-CN" altLang="en-US" dirty="0">
                <a:solidFill>
                  <a:srgbClr val="191B1F"/>
                </a:solidFill>
                <a:latin typeface="Garamond" panose="02020404030301010803" pitchFamily="18" charset="0"/>
              </a:rPr>
              <a:t>时，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leader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将会将它标记为被提交状态，并将此信息广播给集群中的其他节点声明该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entry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</a:rPr>
              <a:t>已经被集群接受，可以将其应用进状态机了。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F350EA9-2AAD-07A1-74D2-4EAB112C5A37}"/>
              </a:ext>
            </a:extLst>
          </p:cNvPr>
          <p:cNvSpPr/>
          <p:nvPr/>
        </p:nvSpPr>
        <p:spPr>
          <a:xfrm>
            <a:off x="8981574" y="1526840"/>
            <a:ext cx="2616868" cy="655721"/>
          </a:xfrm>
          <a:prstGeom prst="roundRect">
            <a:avLst/>
          </a:prstGeom>
          <a:solidFill>
            <a:srgbClr val="A40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Garamond" panose="02020404030301010803" pitchFamily="18" charset="0"/>
              </a:rPr>
              <a:t>客户端请求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4F5055A-97B2-34CC-140D-B170CBCC0715}"/>
              </a:ext>
            </a:extLst>
          </p:cNvPr>
          <p:cNvSpPr/>
          <p:nvPr/>
        </p:nvSpPr>
        <p:spPr>
          <a:xfrm>
            <a:off x="8981574" y="2527466"/>
            <a:ext cx="2616868" cy="655721"/>
          </a:xfrm>
          <a:prstGeom prst="roundRect">
            <a:avLst/>
          </a:prstGeom>
          <a:solidFill>
            <a:srgbClr val="A40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Log Replication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F206324-ED8E-9AF7-D288-7294E8456349}"/>
              </a:ext>
            </a:extLst>
          </p:cNvPr>
          <p:cNvSpPr/>
          <p:nvPr/>
        </p:nvSpPr>
        <p:spPr>
          <a:xfrm>
            <a:off x="8981574" y="3532428"/>
            <a:ext cx="2616868" cy="655721"/>
          </a:xfrm>
          <a:prstGeom prst="roundRect">
            <a:avLst/>
          </a:prstGeom>
          <a:solidFill>
            <a:srgbClr val="A40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Vote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C0AD127-35EA-5311-0F64-EA874C157A3B}"/>
              </a:ext>
            </a:extLst>
          </p:cNvPr>
          <p:cNvSpPr/>
          <p:nvPr/>
        </p:nvSpPr>
        <p:spPr>
          <a:xfrm>
            <a:off x="8981574" y="4537390"/>
            <a:ext cx="2616868" cy="655721"/>
          </a:xfrm>
          <a:prstGeom prst="roundRect">
            <a:avLst/>
          </a:prstGeom>
          <a:solidFill>
            <a:srgbClr val="A40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Log Commit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293EFBF-3ADF-ED20-F5FE-DB9183CA148B}"/>
              </a:ext>
            </a:extLst>
          </p:cNvPr>
          <p:cNvSpPr/>
          <p:nvPr/>
        </p:nvSpPr>
        <p:spPr>
          <a:xfrm>
            <a:off x="8981574" y="5542352"/>
            <a:ext cx="2616868" cy="655721"/>
          </a:xfrm>
          <a:prstGeom prst="roundRect">
            <a:avLst/>
          </a:prstGeom>
          <a:solidFill>
            <a:srgbClr val="A40A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Log Apply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B352CF7-E15B-0048-F4B0-8591983983FD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10290008" y="2182561"/>
            <a:ext cx="0" cy="344905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5CF2BBC-8491-44C4-A141-EED71F3B7197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10290008" y="3183187"/>
            <a:ext cx="0" cy="34924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32D2D79-D9F5-1812-AF93-7678EF7D1920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10290008" y="4188149"/>
            <a:ext cx="0" cy="34924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AE56BD7-7DEA-ABD6-50F6-3016E8BDBB03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10290008" y="5193111"/>
            <a:ext cx="0" cy="34924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93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5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任期（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Term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）与索引（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Index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2A8710-7F99-4E3D-94DA-2D61F075F906}"/>
              </a:ext>
            </a:extLst>
          </p:cNvPr>
          <p:cNvSpPr txBox="1"/>
          <p:nvPr/>
        </p:nvSpPr>
        <p:spPr>
          <a:xfrm>
            <a:off x="665018" y="1455375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Term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：一个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正常运行过程为一个任期，只要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成功选举，任期就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+1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5F5BFC-33D7-4D17-A73E-EFD651BB3EF6}"/>
              </a:ext>
            </a:extLst>
          </p:cNvPr>
          <p:cNvSpPr txBox="1"/>
          <p:nvPr/>
        </p:nvSpPr>
        <p:spPr>
          <a:xfrm>
            <a:off x="665018" y="1905505"/>
            <a:ext cx="37776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Index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：日志的顺序号。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EEF072-B617-4274-9B1C-42E9CA94D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47" y="2379039"/>
            <a:ext cx="5907916" cy="4342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D4663A0-D9D8-4E54-878D-3A453A1E0F4C}"/>
              </a:ext>
            </a:extLst>
          </p:cNvPr>
          <p:cNvSpPr txBox="1"/>
          <p:nvPr/>
        </p:nvSpPr>
        <p:spPr>
          <a:xfrm>
            <a:off x="6608616" y="2316538"/>
            <a:ext cx="37776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实线表示已提交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E8DEEF-E817-4CB1-899B-EED9A2B89FEB}"/>
              </a:ext>
            </a:extLst>
          </p:cNvPr>
          <p:cNvSpPr txBox="1"/>
          <p:nvPr/>
        </p:nvSpPr>
        <p:spPr>
          <a:xfrm>
            <a:off x="6608615" y="2899825"/>
            <a:ext cx="37776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虚线表示未提交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E1EA2A-52A7-4E55-B54A-976A93FFFEF4}"/>
              </a:ext>
            </a:extLst>
          </p:cNvPr>
          <p:cNvSpPr txBox="1"/>
          <p:nvPr/>
        </p:nvSpPr>
        <p:spPr>
          <a:xfrm>
            <a:off x="6608614" y="3483112"/>
            <a:ext cx="45766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已提交的日志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永远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不会被回滚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75119D-E0E4-4DA5-A9DA-57B104957D1D}"/>
              </a:ext>
            </a:extLst>
          </p:cNvPr>
          <p:cNvSpPr txBox="1"/>
          <p:nvPr/>
        </p:nvSpPr>
        <p:spPr>
          <a:xfrm>
            <a:off x="6608616" y="4066399"/>
            <a:ext cx="45766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未提交的日志有可能被删除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AAB38AB-ED4B-4BCD-8E0F-0770A39463FF}"/>
              </a:ext>
            </a:extLst>
          </p:cNvPr>
          <p:cNvSpPr txBox="1"/>
          <p:nvPr/>
        </p:nvSpPr>
        <p:spPr>
          <a:xfrm>
            <a:off x="6608616" y="4649686"/>
            <a:ext cx="45766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系统达成的一致性是安全的（唯一的），同一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index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下的日志在所有节点中都是唯一的。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51C1DD-0E80-4E8C-9026-58184723ADC3}"/>
              </a:ext>
            </a:extLst>
          </p:cNvPr>
          <p:cNvSpPr txBox="1"/>
          <p:nvPr/>
        </p:nvSpPr>
        <p:spPr>
          <a:xfrm>
            <a:off x="6608616" y="5802352"/>
            <a:ext cx="45766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日志不同步的节点可以同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一次性同步全部日志。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9" grpId="0"/>
      <p:bldP spid="10" grpId="0"/>
      <p:bldP spid="11" grpId="0"/>
      <p:bldP spid="12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——Follower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768"/>
              </p:ext>
            </p:extLst>
          </p:nvPr>
        </p:nvGraphicFramePr>
        <p:xfrm>
          <a:off x="346075" y="1953604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457271"/>
            <a:ext cx="66452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崩溃；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任期为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，收到消息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x = 1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8059FEE-FB4C-46F4-AF7F-C2DD8F85D890}"/>
              </a:ext>
            </a:extLst>
          </p:cNvPr>
          <p:cNvCxnSpPr>
            <a:cxnSpLocks/>
            <a:stCxn id="9" idx="7"/>
            <a:endCxn id="8" idx="3"/>
          </p:cNvCxnSpPr>
          <p:nvPr/>
        </p:nvCxnSpPr>
        <p:spPr>
          <a:xfrm flipV="1">
            <a:off x="7937985" y="2458697"/>
            <a:ext cx="1044472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2A5ED6B-1159-4144-83BA-656B01EFFEB2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8567302" y="2647558"/>
            <a:ext cx="871107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6EA768C-614F-4DC8-8C3E-F3664427872F}"/>
              </a:ext>
            </a:extLst>
          </p:cNvPr>
          <p:cNvCxnSpPr>
            <a:cxnSpLocks/>
            <a:stCxn id="12" idx="0"/>
            <a:endCxn id="8" idx="4"/>
          </p:cNvCxnSpPr>
          <p:nvPr/>
        </p:nvCxnSpPr>
        <p:spPr>
          <a:xfrm flipH="1" flipV="1"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BE710E9-6030-4137-A917-2D3BEB0C683B}"/>
              </a:ext>
            </a:extLst>
          </p:cNvPr>
          <p:cNvCxnSpPr>
            <a:cxnSpLocks/>
            <a:stCxn id="10" idx="1"/>
            <a:endCxn id="8" idx="5"/>
          </p:cNvCxnSpPr>
          <p:nvPr/>
        </p:nvCxnSpPr>
        <p:spPr>
          <a:xfrm flipH="1" flipV="1"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858C11-889B-A128-E6A1-3CDCABC2687B}"/>
              </a:ext>
            </a:extLst>
          </p:cNvPr>
          <p:cNvSpPr txBox="1"/>
          <p:nvPr/>
        </p:nvSpPr>
        <p:spPr>
          <a:xfrm>
            <a:off x="6991350" y="6356350"/>
            <a:ext cx="5019069" cy="430887"/>
          </a:xfrm>
          <a:prstGeom prst="rect">
            <a:avLst/>
          </a:prstGeom>
          <a:solidFill>
            <a:srgbClr val="FFD801"/>
          </a:solidFill>
          <a:ln w="19050">
            <a:solidFill>
              <a:srgbClr val="0000FF"/>
            </a:solidFill>
            <a:prstDash val="dash"/>
          </a:ln>
        </p:spPr>
        <p:txBody>
          <a:bodyPr wrap="square">
            <a:spAutoFit/>
          </a:bodyPr>
          <a:lstStyle/>
          <a:p>
            <a:pPr marL="0" lvl="1"/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注：任何节点可能在任意时刻产生故障</a:t>
            </a:r>
          </a:p>
        </p:txBody>
      </p:sp>
    </p:spTree>
    <p:extLst>
      <p:ext uri="{BB962C8B-B14F-4D97-AF65-F5344CB8AC3E}">
        <p14:creationId xmlns:p14="http://schemas.microsoft.com/office/powerpoint/2010/main" val="213606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——Follower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514747"/>
              </p:ext>
            </p:extLst>
          </p:nvPr>
        </p:nvGraphicFramePr>
        <p:xfrm>
          <a:off x="346075" y="1953604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5" y="1457271"/>
            <a:ext cx="79692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票投票，确认提交，发送提交请求，返回客户端。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8059FEE-FB4C-46F4-AF7F-C2DD8F85D890}"/>
              </a:ext>
            </a:extLst>
          </p:cNvPr>
          <p:cNvCxnSpPr>
            <a:cxnSpLocks/>
            <a:stCxn id="9" idx="7"/>
            <a:endCxn id="8" idx="3"/>
          </p:cNvCxnSpPr>
          <p:nvPr/>
        </p:nvCxnSpPr>
        <p:spPr>
          <a:xfrm flipV="1">
            <a:off x="7937985" y="2458697"/>
            <a:ext cx="1044472" cy="782739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2A5ED6B-1159-4144-83BA-656B01EFFEB2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8567302" y="2647558"/>
            <a:ext cx="871107" cy="2346432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BE710E9-6030-4137-A917-2D3BEB0C683B}"/>
              </a:ext>
            </a:extLst>
          </p:cNvPr>
          <p:cNvCxnSpPr>
            <a:cxnSpLocks/>
            <a:stCxn id="10" idx="1"/>
            <a:endCxn id="8" idx="5"/>
          </p:cNvCxnSpPr>
          <p:nvPr/>
        </p:nvCxnSpPr>
        <p:spPr>
          <a:xfrm flipH="1" flipV="1"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2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——Follower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3116"/>
              </p:ext>
            </p:extLst>
          </p:nvPr>
        </p:nvGraphicFramePr>
        <p:xfrm>
          <a:off x="346075" y="1953604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5" y="1457271"/>
            <a:ext cx="79692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S4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均崩溃；客户端发送新请求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7524E68-50BF-464D-B3B7-B16A93A43AEF}"/>
              </a:ext>
            </a:extLst>
          </p:cNvPr>
          <p:cNvCxnSpPr>
            <a:cxnSpLocks/>
          </p:cNvCxnSpPr>
          <p:nvPr/>
        </p:nvCxnSpPr>
        <p:spPr>
          <a:xfrm flipV="1">
            <a:off x="7937985" y="2458697"/>
            <a:ext cx="1044472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FA43849-6239-4806-849B-573893897246}"/>
              </a:ext>
            </a:extLst>
          </p:cNvPr>
          <p:cNvCxnSpPr>
            <a:cxnSpLocks/>
          </p:cNvCxnSpPr>
          <p:nvPr/>
        </p:nvCxnSpPr>
        <p:spPr>
          <a:xfrm flipV="1">
            <a:off x="8567302" y="2647558"/>
            <a:ext cx="871107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532029B-842B-463B-9FA0-A8E9DA710255}"/>
              </a:ext>
            </a:extLst>
          </p:cNvPr>
          <p:cNvCxnSpPr>
            <a:cxnSpLocks/>
          </p:cNvCxnSpPr>
          <p:nvPr/>
        </p:nvCxnSpPr>
        <p:spPr>
          <a:xfrm flipH="1" flipV="1"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EFA8683-7738-4E37-B6E6-3564C78C504B}"/>
              </a:ext>
            </a:extLst>
          </p:cNvPr>
          <p:cNvCxnSpPr>
            <a:cxnSpLocks/>
          </p:cNvCxnSpPr>
          <p:nvPr/>
        </p:nvCxnSpPr>
        <p:spPr>
          <a:xfrm flipH="1" flipV="1"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18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——Follower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54733"/>
              </p:ext>
            </p:extLst>
          </p:nvPr>
        </p:nvGraphicFramePr>
        <p:xfrm>
          <a:off x="346075" y="2210779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5" y="1457271"/>
            <a:ext cx="79692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票，未超过半数，不能提交；等待超时后，重新发送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S4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575C7DD-2CD1-4687-9599-22E61EE150EF}"/>
              </a:ext>
            </a:extLst>
          </p:cNvPr>
          <p:cNvCxnSpPr>
            <a:cxnSpLocks/>
          </p:cNvCxnSpPr>
          <p:nvPr/>
        </p:nvCxnSpPr>
        <p:spPr>
          <a:xfrm flipV="1">
            <a:off x="7937985" y="2458697"/>
            <a:ext cx="1044472" cy="782739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197FAF4-EEBD-4A4D-8388-0A6A973C63AB}"/>
              </a:ext>
            </a:extLst>
          </p:cNvPr>
          <p:cNvCxnSpPr>
            <a:cxnSpLocks/>
          </p:cNvCxnSpPr>
          <p:nvPr/>
        </p:nvCxnSpPr>
        <p:spPr>
          <a:xfrm flipV="1">
            <a:off x="8567302" y="2647558"/>
            <a:ext cx="871107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C7D2C66-521D-4FCB-9984-F62B985024D4}"/>
              </a:ext>
            </a:extLst>
          </p:cNvPr>
          <p:cNvCxnSpPr>
            <a:cxnSpLocks/>
          </p:cNvCxnSpPr>
          <p:nvPr/>
        </p:nvCxnSpPr>
        <p:spPr>
          <a:xfrm flipH="1" flipV="1"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32999A-066D-43DC-BD71-1D51C72C5193}"/>
              </a:ext>
            </a:extLst>
          </p:cNvPr>
          <p:cNvCxnSpPr>
            <a:cxnSpLocks/>
          </p:cNvCxnSpPr>
          <p:nvPr/>
        </p:nvCxnSpPr>
        <p:spPr>
          <a:xfrm flipH="1" flipV="1"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5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——Follower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57281"/>
              </p:ext>
            </p:extLst>
          </p:nvPr>
        </p:nvGraphicFramePr>
        <p:xfrm>
          <a:off x="346075" y="1981923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5" y="1373659"/>
            <a:ext cx="79692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又收到新的客户端请求，继续进行日志复制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197FAF4-EEBD-4A4D-8388-0A6A973C63AB}"/>
              </a:ext>
            </a:extLst>
          </p:cNvPr>
          <p:cNvCxnSpPr>
            <a:cxnSpLocks/>
          </p:cNvCxnSpPr>
          <p:nvPr/>
        </p:nvCxnSpPr>
        <p:spPr>
          <a:xfrm flipV="1">
            <a:off x="8567302" y="2647558"/>
            <a:ext cx="871107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C7D2C66-521D-4FCB-9984-F62B985024D4}"/>
              </a:ext>
            </a:extLst>
          </p:cNvPr>
          <p:cNvCxnSpPr>
            <a:cxnSpLocks/>
          </p:cNvCxnSpPr>
          <p:nvPr/>
        </p:nvCxnSpPr>
        <p:spPr>
          <a:xfrm flipH="1" flipV="1"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32999A-066D-43DC-BD71-1D51C72C5193}"/>
              </a:ext>
            </a:extLst>
          </p:cNvPr>
          <p:cNvCxnSpPr>
            <a:cxnSpLocks/>
          </p:cNvCxnSpPr>
          <p:nvPr/>
        </p:nvCxnSpPr>
        <p:spPr>
          <a:xfrm flipH="1" flipV="1"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D808C24-9609-402E-8F54-7A7EE90E4E10}"/>
              </a:ext>
            </a:extLst>
          </p:cNvPr>
          <p:cNvCxnSpPr>
            <a:cxnSpLocks/>
          </p:cNvCxnSpPr>
          <p:nvPr/>
        </p:nvCxnSpPr>
        <p:spPr>
          <a:xfrm flipV="1">
            <a:off x="7937985" y="2458697"/>
            <a:ext cx="1044472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81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——Follower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206981"/>
              </p:ext>
            </p:extLst>
          </p:nvPr>
        </p:nvGraphicFramePr>
        <p:xfrm>
          <a:off x="346075" y="1981923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5" y="1373659"/>
            <a:ext cx="79692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票数依旧未过半，不能提交。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197FAF4-EEBD-4A4D-8388-0A6A973C63AB}"/>
              </a:ext>
            </a:extLst>
          </p:cNvPr>
          <p:cNvCxnSpPr>
            <a:cxnSpLocks/>
          </p:cNvCxnSpPr>
          <p:nvPr/>
        </p:nvCxnSpPr>
        <p:spPr>
          <a:xfrm flipV="1">
            <a:off x="8567302" y="2647558"/>
            <a:ext cx="871107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C7D2C66-521D-4FCB-9984-F62B985024D4}"/>
              </a:ext>
            </a:extLst>
          </p:cNvPr>
          <p:cNvCxnSpPr>
            <a:cxnSpLocks/>
          </p:cNvCxnSpPr>
          <p:nvPr/>
        </p:nvCxnSpPr>
        <p:spPr>
          <a:xfrm flipH="1" flipV="1"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32999A-066D-43DC-BD71-1D51C72C5193}"/>
              </a:ext>
            </a:extLst>
          </p:cNvPr>
          <p:cNvCxnSpPr>
            <a:cxnSpLocks/>
          </p:cNvCxnSpPr>
          <p:nvPr/>
        </p:nvCxnSpPr>
        <p:spPr>
          <a:xfrm flipH="1" flipV="1"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30C2B5A-98B9-4830-8A75-09E4F7C1F77D}"/>
              </a:ext>
            </a:extLst>
          </p:cNvPr>
          <p:cNvCxnSpPr>
            <a:cxnSpLocks/>
          </p:cNvCxnSpPr>
          <p:nvPr/>
        </p:nvCxnSpPr>
        <p:spPr>
          <a:xfrm flipV="1">
            <a:off x="7937985" y="2458697"/>
            <a:ext cx="1044472" cy="782739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26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——Follower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173934"/>
              </p:ext>
            </p:extLst>
          </p:nvPr>
        </p:nvGraphicFramePr>
        <p:xfrm>
          <a:off x="346075" y="2172423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5" y="1373659"/>
            <a:ext cx="79692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S4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恢复，收到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最新的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后，对其中包含的日志进行投票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197FAF4-EEBD-4A4D-8388-0A6A973C63AB}"/>
              </a:ext>
            </a:extLst>
          </p:cNvPr>
          <p:cNvCxnSpPr>
            <a:cxnSpLocks/>
          </p:cNvCxnSpPr>
          <p:nvPr/>
        </p:nvCxnSpPr>
        <p:spPr>
          <a:xfrm flipV="1">
            <a:off x="8567302" y="2647558"/>
            <a:ext cx="871107" cy="2346432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C7D2C66-521D-4FCB-9984-F62B985024D4}"/>
              </a:ext>
            </a:extLst>
          </p:cNvPr>
          <p:cNvCxnSpPr>
            <a:cxnSpLocks/>
          </p:cNvCxnSpPr>
          <p:nvPr/>
        </p:nvCxnSpPr>
        <p:spPr>
          <a:xfrm flipH="1" flipV="1"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32999A-066D-43DC-BD71-1D51C72C5193}"/>
              </a:ext>
            </a:extLst>
          </p:cNvPr>
          <p:cNvCxnSpPr>
            <a:cxnSpLocks/>
          </p:cNvCxnSpPr>
          <p:nvPr/>
        </p:nvCxnSpPr>
        <p:spPr>
          <a:xfrm flipH="1" flipV="1"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29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——Follower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749758"/>
              </p:ext>
            </p:extLst>
          </p:nvPr>
        </p:nvGraphicFramePr>
        <p:xfrm>
          <a:off x="346075" y="2172423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5" y="1373659"/>
            <a:ext cx="79692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票，超过半数，日志能够提交。向全部节点发送提交请求，向客户端恢复消息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FFD80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C7D2C66-521D-4FCB-9984-F62B985024D4}"/>
              </a:ext>
            </a:extLst>
          </p:cNvPr>
          <p:cNvCxnSpPr>
            <a:cxnSpLocks/>
          </p:cNvCxnSpPr>
          <p:nvPr/>
        </p:nvCxnSpPr>
        <p:spPr>
          <a:xfrm flipH="1" flipV="1"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32999A-066D-43DC-BD71-1D51C72C5193}"/>
              </a:ext>
            </a:extLst>
          </p:cNvPr>
          <p:cNvCxnSpPr>
            <a:cxnSpLocks/>
          </p:cNvCxnSpPr>
          <p:nvPr/>
        </p:nvCxnSpPr>
        <p:spPr>
          <a:xfrm flipH="1" flipV="1"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81F29517-3C94-4CA5-9805-F92A663F20E7}"/>
              </a:ext>
            </a:extLst>
          </p:cNvPr>
          <p:cNvSpPr/>
          <p:nvPr/>
        </p:nvSpPr>
        <p:spPr>
          <a:xfrm>
            <a:off x="10526281" y="1116518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1CE25E8-C679-4EBB-BACF-6CF69E886B8C}"/>
              </a:ext>
            </a:extLst>
          </p:cNvPr>
          <p:cNvCxnSpPr>
            <a:cxnSpLocks/>
            <a:stCxn id="16" idx="3"/>
            <a:endCxn id="8" idx="6"/>
          </p:cNvCxnSpPr>
          <p:nvPr/>
        </p:nvCxnSpPr>
        <p:spPr>
          <a:xfrm flipH="1">
            <a:off x="10083222" y="1664381"/>
            <a:ext cx="534911" cy="338364"/>
          </a:xfrm>
          <a:prstGeom prst="straightConnector1">
            <a:avLst/>
          </a:prstGeom>
          <a:ln w="38100">
            <a:solidFill>
              <a:srgbClr val="FFD80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338E249-717C-4BC9-A025-71CC6BBEC491}"/>
              </a:ext>
            </a:extLst>
          </p:cNvPr>
          <p:cNvCxnSpPr>
            <a:cxnSpLocks/>
          </p:cNvCxnSpPr>
          <p:nvPr/>
        </p:nvCxnSpPr>
        <p:spPr>
          <a:xfrm flipV="1">
            <a:off x="7937985" y="2458697"/>
            <a:ext cx="1044472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A308884-03E2-45D1-83BA-4E86C73536A1}"/>
              </a:ext>
            </a:extLst>
          </p:cNvPr>
          <p:cNvCxnSpPr>
            <a:cxnSpLocks/>
          </p:cNvCxnSpPr>
          <p:nvPr/>
        </p:nvCxnSpPr>
        <p:spPr>
          <a:xfrm flipV="1">
            <a:off x="8567302" y="2647558"/>
            <a:ext cx="871107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81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——Follower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119132"/>
              </p:ext>
            </p:extLst>
          </p:nvPr>
        </p:nvGraphicFramePr>
        <p:xfrm>
          <a:off x="346075" y="2096223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="0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1</a:t>
                      </a:r>
                      <a:endParaRPr lang="zh-CN" altLang="en-US" b="0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2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3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5" y="1373659"/>
            <a:ext cx="79692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恢复，强制与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同步数据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C7D2C66-521D-4FCB-9984-F62B985024D4}"/>
              </a:ext>
            </a:extLst>
          </p:cNvPr>
          <p:cNvCxnSpPr>
            <a:cxnSpLocks/>
          </p:cNvCxnSpPr>
          <p:nvPr/>
        </p:nvCxnSpPr>
        <p:spPr>
          <a:xfrm flipH="1" flipV="1"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75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364796"/>
              </p:ext>
            </p:extLst>
          </p:nvPr>
        </p:nvGraphicFramePr>
        <p:xfrm>
          <a:off x="346075" y="2267929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357932"/>
            <a:ext cx="66452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情况</a:t>
            </a:r>
            <a:r>
              <a:rPr lang="en-US" altLang="zh-CN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在客户端请求未到达时崩溃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触发重新选举流程，没有影响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10668000" y="2002745"/>
            <a:ext cx="413183" cy="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82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749940"/>
              </p:ext>
            </p:extLst>
          </p:nvPr>
        </p:nvGraphicFramePr>
        <p:xfrm>
          <a:off x="279400" y="2137877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357932"/>
            <a:ext cx="66452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情况</a:t>
            </a:r>
            <a:r>
              <a:rPr lang="en-US" altLang="zh-CN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在客户端请求到达，还未发起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时崩溃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46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72931"/>
              </p:ext>
            </p:extLst>
          </p:nvPr>
        </p:nvGraphicFramePr>
        <p:xfrm>
          <a:off x="279400" y="2137877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357932"/>
            <a:ext cx="66452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重新触发选举流程（假设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当选），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Term + 1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2"/>
            <a:endCxn id="8" idx="6"/>
          </p:cNvCxnSpPr>
          <p:nvPr/>
        </p:nvCxnSpPr>
        <p:spPr>
          <a:xfrm flipH="1">
            <a:off x="10083222" y="2002745"/>
            <a:ext cx="997961" cy="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25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935753"/>
              </p:ext>
            </p:extLst>
          </p:nvPr>
        </p:nvGraphicFramePr>
        <p:xfrm>
          <a:off x="279400" y="2137877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357932"/>
            <a:ext cx="66452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客户端未收到响应后超时，重新向新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发起请求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>
            <a:off x="11394787" y="2323675"/>
            <a:ext cx="0" cy="72890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87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752346"/>
              </p:ext>
            </p:extLst>
          </p:nvPr>
        </p:nvGraphicFramePr>
        <p:xfrm>
          <a:off x="279400" y="2137877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5" y="1357932"/>
            <a:ext cx="74495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发起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，收到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票，超半数，能够提交日志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>
            <a:off x="11394787" y="2323675"/>
            <a:ext cx="0" cy="72890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E35D888-25BC-4CF8-BADD-FC9CD26D4A21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8126846" y="3697388"/>
            <a:ext cx="2623128" cy="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ACF97FE-2A23-447B-9F02-1C860D3FCBBB}"/>
              </a:ext>
            </a:extLst>
          </p:cNvPr>
          <p:cNvCxnSpPr>
            <a:cxnSpLocks/>
            <a:stCxn id="11" idx="0"/>
            <a:endCxn id="10" idx="3"/>
          </p:cNvCxnSpPr>
          <p:nvPr/>
        </p:nvCxnSpPr>
        <p:spPr>
          <a:xfrm flipV="1">
            <a:off x="8567302" y="4153340"/>
            <a:ext cx="2371533" cy="84065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22F06E5-3F99-4F38-8537-F7EF652F504F}"/>
              </a:ext>
            </a:extLst>
          </p:cNvPr>
          <p:cNvCxnSpPr>
            <a:cxnSpLocks/>
            <a:stCxn id="12" idx="7"/>
            <a:endCxn id="10" idx="4"/>
          </p:cNvCxnSpPr>
          <p:nvPr/>
        </p:nvCxnSpPr>
        <p:spPr>
          <a:xfrm flipV="1">
            <a:off x="10736605" y="4342201"/>
            <a:ext cx="658182" cy="84065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5908AD1-D99A-462B-BECC-52AB106215E2}"/>
              </a:ext>
            </a:extLst>
          </p:cNvPr>
          <p:cNvCxnSpPr>
            <a:cxnSpLocks/>
          </p:cNvCxnSpPr>
          <p:nvPr/>
        </p:nvCxnSpPr>
        <p:spPr>
          <a:xfrm>
            <a:off x="8126846" y="3849788"/>
            <a:ext cx="2623128" cy="0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24AE55D-B965-4395-99BC-951E165969A8}"/>
              </a:ext>
            </a:extLst>
          </p:cNvPr>
          <p:cNvCxnSpPr>
            <a:cxnSpLocks/>
          </p:cNvCxnSpPr>
          <p:nvPr/>
        </p:nvCxnSpPr>
        <p:spPr>
          <a:xfrm flipV="1">
            <a:off x="8771659" y="4270114"/>
            <a:ext cx="2371533" cy="840650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A2150CF-8056-4185-86D3-E6AFB13BA043}"/>
              </a:ext>
            </a:extLst>
          </p:cNvPr>
          <p:cNvCxnSpPr>
            <a:cxnSpLocks/>
          </p:cNvCxnSpPr>
          <p:nvPr/>
        </p:nvCxnSpPr>
        <p:spPr>
          <a:xfrm flipV="1">
            <a:off x="10889005" y="4440354"/>
            <a:ext cx="658182" cy="840650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99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940534"/>
              </p:ext>
            </p:extLst>
          </p:nvPr>
        </p:nvGraphicFramePr>
        <p:xfrm>
          <a:off x="279400" y="2137877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357932"/>
            <a:ext cx="66452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发起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，提交日志，并返回客户端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8E759-6B7A-4CF4-89EE-DF8368A5B7BA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8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AFD141-CBC7-4552-804A-6EE69C32E524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>
            <a:off x="11394787" y="2323675"/>
            <a:ext cx="0" cy="72890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E35D888-25BC-4CF8-BADD-FC9CD26D4A21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8126846" y="3697388"/>
            <a:ext cx="2623128" cy="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ACF97FE-2A23-447B-9F02-1C860D3FCBBB}"/>
              </a:ext>
            </a:extLst>
          </p:cNvPr>
          <p:cNvCxnSpPr>
            <a:cxnSpLocks/>
            <a:stCxn id="11" idx="0"/>
            <a:endCxn id="10" idx="3"/>
          </p:cNvCxnSpPr>
          <p:nvPr/>
        </p:nvCxnSpPr>
        <p:spPr>
          <a:xfrm flipV="1">
            <a:off x="8567302" y="4153340"/>
            <a:ext cx="2371533" cy="84065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22F06E5-3F99-4F38-8537-F7EF652F504F}"/>
              </a:ext>
            </a:extLst>
          </p:cNvPr>
          <p:cNvCxnSpPr>
            <a:cxnSpLocks/>
            <a:stCxn id="12" idx="0"/>
            <a:endCxn id="10" idx="3"/>
          </p:cNvCxnSpPr>
          <p:nvPr/>
        </p:nvCxnSpPr>
        <p:spPr>
          <a:xfrm flipV="1">
            <a:off x="10280653" y="4153340"/>
            <a:ext cx="658182" cy="84065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99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805111"/>
              </p:ext>
            </p:extLst>
          </p:nvPr>
        </p:nvGraphicFramePr>
        <p:xfrm>
          <a:off x="279400" y="2137877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357932"/>
            <a:ext cx="66452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恢复后，收到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的心跳包发现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index 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的日志的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Term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大于自己的待提交消息，直接与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同步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908677A-AB17-4069-81BF-E412BBD3A6C2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55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20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98326"/>
              </p:ext>
            </p:extLst>
          </p:nvPr>
        </p:nvGraphicFramePr>
        <p:xfrm>
          <a:off x="279400" y="2137877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357932"/>
            <a:ext cx="66452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情况</a:t>
            </a:r>
            <a:r>
              <a:rPr lang="en-US" altLang="zh-CN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收到超半数同意提交的投票后崩溃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908677A-AB17-4069-81BF-E412BBD3A6C2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A899B50F-F2C3-4B0C-8353-A3DA8EB76930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6D8AC5-0725-4E77-B93C-3422DD3F91B9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11394787" y="2323675"/>
            <a:ext cx="0" cy="72890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476103C-CC00-49D4-8D8D-508C9868E58B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8126846" y="3697388"/>
            <a:ext cx="2623128" cy="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7928C41-9956-4155-81B0-DF6933961DE9}"/>
              </a:ext>
            </a:extLst>
          </p:cNvPr>
          <p:cNvCxnSpPr>
            <a:cxnSpLocks/>
            <a:stCxn id="11" idx="7"/>
            <a:endCxn id="10" idx="3"/>
          </p:cNvCxnSpPr>
          <p:nvPr/>
        </p:nvCxnSpPr>
        <p:spPr>
          <a:xfrm flipV="1">
            <a:off x="9023254" y="4153340"/>
            <a:ext cx="1915581" cy="1029511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5988959-ADAA-4C25-B25D-86AE21B0C8D3}"/>
              </a:ext>
            </a:extLst>
          </p:cNvPr>
          <p:cNvCxnSpPr>
            <a:cxnSpLocks/>
            <a:stCxn id="12" idx="7"/>
            <a:endCxn id="10" idx="4"/>
          </p:cNvCxnSpPr>
          <p:nvPr/>
        </p:nvCxnSpPr>
        <p:spPr>
          <a:xfrm flipV="1">
            <a:off x="10736605" y="4342201"/>
            <a:ext cx="658182" cy="84065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18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374591"/>
              </p:ext>
            </p:extLst>
          </p:nvPr>
        </p:nvGraphicFramePr>
        <p:xfrm>
          <a:off x="279400" y="2137877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357932"/>
            <a:ext cx="66452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所有节点已经复制了日志，但是无法提交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908677A-AB17-4069-81BF-E412BBD3A6C2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A899B50F-F2C3-4B0C-8353-A3DA8EB76930}"/>
              </a:ext>
            </a:extLst>
          </p:cNvPr>
          <p:cNvSpPr/>
          <p:nvPr/>
        </p:nvSpPr>
        <p:spPr>
          <a:xfrm>
            <a:off x="11081183" y="1681814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6D8AC5-0725-4E77-B93C-3422DD3F91B9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11394787" y="2323675"/>
            <a:ext cx="0" cy="72890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476103C-CC00-49D4-8D8D-508C9868E58B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8126846" y="3697388"/>
            <a:ext cx="2623128" cy="0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7928C41-9956-4155-81B0-DF6933961DE9}"/>
              </a:ext>
            </a:extLst>
          </p:cNvPr>
          <p:cNvCxnSpPr>
            <a:cxnSpLocks/>
            <a:stCxn id="11" idx="7"/>
            <a:endCxn id="10" idx="3"/>
          </p:cNvCxnSpPr>
          <p:nvPr/>
        </p:nvCxnSpPr>
        <p:spPr>
          <a:xfrm flipV="1">
            <a:off x="9023254" y="4153340"/>
            <a:ext cx="1915581" cy="1029511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5988959-ADAA-4C25-B25D-86AE21B0C8D3}"/>
              </a:ext>
            </a:extLst>
          </p:cNvPr>
          <p:cNvCxnSpPr>
            <a:cxnSpLocks/>
            <a:stCxn id="12" idx="7"/>
            <a:endCxn id="10" idx="4"/>
          </p:cNvCxnSpPr>
          <p:nvPr/>
        </p:nvCxnSpPr>
        <p:spPr>
          <a:xfrm flipV="1">
            <a:off x="10736605" y="4342201"/>
            <a:ext cx="658182" cy="840650"/>
          </a:xfrm>
          <a:prstGeom prst="straightConnector1">
            <a:avLst/>
          </a:prstGeom>
          <a:ln w="38100">
            <a:solidFill>
              <a:srgbClr val="5B307E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8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22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020967"/>
              </p:ext>
            </p:extLst>
          </p:nvPr>
        </p:nvGraphicFramePr>
        <p:xfrm>
          <a:off x="279400" y="2253141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3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272207"/>
            <a:ext cx="6054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触发新的选举流程，假设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当选。</a:t>
            </a:r>
            <a:r>
              <a:rPr lang="en-US" altLang="zh-CN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没有</a:t>
            </a:r>
            <a:r>
              <a:rPr lang="en-US" altLang="zh-CN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index 2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日志的投票结果，因此不能提交</a:t>
            </a:r>
            <a:endParaRPr lang="en-US" altLang="zh-CN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899B50F-F2C3-4B0C-8353-A3DA8EB76930}"/>
              </a:ext>
            </a:extLst>
          </p:cNvPr>
          <p:cNvSpPr/>
          <p:nvPr/>
        </p:nvSpPr>
        <p:spPr>
          <a:xfrm>
            <a:off x="11285392" y="4509106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6D8AC5-0725-4E77-B93C-3422DD3F91B9}"/>
              </a:ext>
            </a:extLst>
          </p:cNvPr>
          <p:cNvCxnSpPr>
            <a:cxnSpLocks/>
            <a:stCxn id="19" idx="2"/>
            <a:endCxn id="12" idx="6"/>
          </p:cNvCxnSpPr>
          <p:nvPr/>
        </p:nvCxnSpPr>
        <p:spPr>
          <a:xfrm flipH="1">
            <a:off x="10925466" y="5638803"/>
            <a:ext cx="359926" cy="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5B9A9704-82ED-4CA1-8702-C33E1F2134AD}"/>
              </a:ext>
            </a:extLst>
          </p:cNvPr>
          <p:cNvSpPr/>
          <p:nvPr/>
        </p:nvSpPr>
        <p:spPr>
          <a:xfrm>
            <a:off x="11285392" y="5317872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6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F441AB-E8BB-4300-8DD2-B3D64C15C4D7}"/>
              </a:ext>
            </a:extLst>
          </p:cNvPr>
          <p:cNvSpPr txBox="1"/>
          <p:nvPr/>
        </p:nvSpPr>
        <p:spPr>
          <a:xfrm>
            <a:off x="346076" y="1917020"/>
            <a:ext cx="6054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收到客户端新请求</a:t>
            </a:r>
            <a:endParaRPr lang="en-US" altLang="zh-CN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7E3BD4-5811-4011-BBEB-D3C6C1789DB6}"/>
              </a:ext>
            </a:extLst>
          </p:cNvPr>
          <p:cNvSpPr/>
          <p:nvPr/>
        </p:nvSpPr>
        <p:spPr>
          <a:xfrm>
            <a:off x="8828844" y="3365104"/>
            <a:ext cx="1815435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为什么不能直接提交两条消息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42120C3-1000-4C3C-9988-4B1ACFBF8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41" y="3390969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7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9" grpId="0" animBg="1"/>
      <p:bldP spid="21" grpId="0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23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691817"/>
              </p:ext>
            </p:extLst>
          </p:nvPr>
        </p:nvGraphicFramePr>
        <p:xfrm>
          <a:off x="279400" y="2326405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3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3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3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3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186482"/>
            <a:ext cx="6054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发起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；</a:t>
            </a:r>
            <a:endParaRPr lang="en-US" altLang="zh-CN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899B50F-F2C3-4B0C-8353-A3DA8EB76930}"/>
              </a:ext>
            </a:extLst>
          </p:cNvPr>
          <p:cNvSpPr/>
          <p:nvPr/>
        </p:nvSpPr>
        <p:spPr>
          <a:xfrm>
            <a:off x="11285392" y="4509106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6D8AC5-0725-4E77-B93C-3422DD3F91B9}"/>
              </a:ext>
            </a:extLst>
          </p:cNvPr>
          <p:cNvCxnSpPr>
            <a:cxnSpLocks/>
            <a:stCxn id="19" idx="2"/>
            <a:endCxn id="12" idx="6"/>
          </p:cNvCxnSpPr>
          <p:nvPr/>
        </p:nvCxnSpPr>
        <p:spPr>
          <a:xfrm flipH="1">
            <a:off x="10925466" y="5638803"/>
            <a:ext cx="359926" cy="0"/>
          </a:xfrm>
          <a:prstGeom prst="straightConnector1">
            <a:avLst/>
          </a:prstGeom>
          <a:ln w="38100">
            <a:solidFill>
              <a:srgbClr val="FFD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5B9A9704-82ED-4CA1-8702-C33E1F2134AD}"/>
              </a:ext>
            </a:extLst>
          </p:cNvPr>
          <p:cNvSpPr/>
          <p:nvPr/>
        </p:nvSpPr>
        <p:spPr>
          <a:xfrm>
            <a:off x="11285392" y="5317872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6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2AF443D-9962-4C8E-939C-E6395E510F09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>
            <a:off x="9212115" y="5638803"/>
            <a:ext cx="423725" cy="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0A77DCB-A256-4730-B3F3-3548D076284B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7937985" y="4153340"/>
            <a:ext cx="1886716" cy="1029511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E90D7DF-8FC4-4F87-ACC7-E02B1C8F7B12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2C6DFA9-A765-4FA9-A28D-14F60967AE8D}"/>
              </a:ext>
            </a:extLst>
          </p:cNvPr>
          <p:cNvSpPr txBox="1"/>
          <p:nvPr/>
        </p:nvSpPr>
        <p:spPr>
          <a:xfrm>
            <a:off x="346076" y="1645364"/>
            <a:ext cx="6054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其他节点同意提交，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表明所有节点认可了</a:t>
            </a:r>
            <a:r>
              <a:rPr lang="en-US" altLang="zh-CN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index 3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以前所有消息都是一致的</a:t>
            </a:r>
            <a:endParaRPr lang="en-US" altLang="zh-CN" sz="2200" b="1" dirty="0">
              <a:solidFill>
                <a:srgbClr val="A40A57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6D6C477-0894-4A96-A155-F5807B2A986F}"/>
              </a:ext>
            </a:extLst>
          </p:cNvPr>
          <p:cNvCxnSpPr>
            <a:cxnSpLocks/>
          </p:cNvCxnSpPr>
          <p:nvPr/>
        </p:nvCxnSpPr>
        <p:spPr>
          <a:xfrm>
            <a:off x="8006914" y="4047018"/>
            <a:ext cx="1886716" cy="1029511"/>
          </a:xfrm>
          <a:prstGeom prst="straightConnector1">
            <a:avLst/>
          </a:prstGeom>
          <a:ln w="38100">
            <a:solidFill>
              <a:srgbClr val="A40A57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C06B161-F4E6-45F6-9914-62DD0BBB8B12}"/>
              </a:ext>
            </a:extLst>
          </p:cNvPr>
          <p:cNvCxnSpPr>
            <a:cxnSpLocks/>
          </p:cNvCxnSpPr>
          <p:nvPr/>
        </p:nvCxnSpPr>
        <p:spPr>
          <a:xfrm>
            <a:off x="9212115" y="5772156"/>
            <a:ext cx="423725" cy="0"/>
          </a:xfrm>
          <a:prstGeom prst="straightConnector1">
            <a:avLst/>
          </a:prstGeom>
          <a:ln w="38100">
            <a:solidFill>
              <a:srgbClr val="A40A57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E4F602B-6711-4FF4-85C2-5670FBDCA608}"/>
              </a:ext>
            </a:extLst>
          </p:cNvPr>
          <p:cNvCxnSpPr>
            <a:cxnSpLocks/>
          </p:cNvCxnSpPr>
          <p:nvPr/>
        </p:nvCxnSpPr>
        <p:spPr>
          <a:xfrm>
            <a:off x="9600904" y="2621351"/>
            <a:ext cx="842244" cy="2346432"/>
          </a:xfrm>
          <a:prstGeom prst="straightConnector1">
            <a:avLst/>
          </a:prstGeom>
          <a:ln w="38100">
            <a:solidFill>
              <a:srgbClr val="A40A57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2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9" grpId="0" animBg="1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24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253646"/>
              </p:ext>
            </p:extLst>
          </p:nvPr>
        </p:nvGraphicFramePr>
        <p:xfrm>
          <a:off x="266383" y="2108431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3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6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3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6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3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6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3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6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229345"/>
            <a:ext cx="6054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发起提交请求，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index 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及以前未提交的消息一并提交。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S5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返回客户端。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899B50F-F2C3-4B0C-8353-A3DA8EB76930}"/>
              </a:ext>
            </a:extLst>
          </p:cNvPr>
          <p:cNvSpPr/>
          <p:nvPr/>
        </p:nvSpPr>
        <p:spPr>
          <a:xfrm>
            <a:off x="11285392" y="4509106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6D8AC5-0725-4E77-B93C-3422DD3F91B9}"/>
              </a:ext>
            </a:extLst>
          </p:cNvPr>
          <p:cNvCxnSpPr>
            <a:cxnSpLocks/>
            <a:stCxn id="19" idx="2"/>
            <a:endCxn id="12" idx="6"/>
          </p:cNvCxnSpPr>
          <p:nvPr/>
        </p:nvCxnSpPr>
        <p:spPr>
          <a:xfrm flipH="1">
            <a:off x="10925466" y="5638803"/>
            <a:ext cx="359926" cy="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5B9A9704-82ED-4CA1-8702-C33E1F2134AD}"/>
              </a:ext>
            </a:extLst>
          </p:cNvPr>
          <p:cNvSpPr/>
          <p:nvPr/>
        </p:nvSpPr>
        <p:spPr>
          <a:xfrm>
            <a:off x="11285392" y="5317872"/>
            <a:ext cx="627208" cy="64186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6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2AF443D-9962-4C8E-939C-E6395E510F09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>
            <a:off x="9212115" y="5638803"/>
            <a:ext cx="423725" cy="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0A77DCB-A256-4730-B3F3-3548D076284B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7937985" y="4153340"/>
            <a:ext cx="1886716" cy="1029511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E90D7DF-8FC4-4F87-ACC7-E02B1C8F7B12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CB7F99E-3583-4E46-B3E6-2C1A2B8FA070}"/>
              </a:ext>
            </a:extLst>
          </p:cNvPr>
          <p:cNvCxnSpPr>
            <a:cxnSpLocks/>
            <a:stCxn id="14" idx="2"/>
            <a:endCxn id="12" idx="6"/>
          </p:cNvCxnSpPr>
          <p:nvPr/>
        </p:nvCxnSpPr>
        <p:spPr>
          <a:xfrm flipH="1">
            <a:off x="10925466" y="4830037"/>
            <a:ext cx="359926" cy="808766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61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重新选举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25</a:t>
            </a:fld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41EC96-0EFD-4775-B5D7-6774E15CCC09}"/>
              </a:ext>
            </a:extLst>
          </p:cNvPr>
          <p:cNvSpPr txBox="1"/>
          <p:nvPr/>
        </p:nvSpPr>
        <p:spPr>
          <a:xfrm>
            <a:off x="665018" y="1455375"/>
            <a:ext cx="74950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在收到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时，满足如下条件后才会投票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59BA7A7-CFBA-4216-805F-97262FD14112}"/>
              </a:ext>
            </a:extLst>
          </p:cNvPr>
          <p:cNvSpPr txBox="1"/>
          <p:nvPr/>
        </p:nvSpPr>
        <p:spPr>
          <a:xfrm>
            <a:off x="665018" y="2040032"/>
            <a:ext cx="74950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</a:t>
            </a:r>
            <a:r>
              <a:rPr lang="zh-CN" altLang="en-US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任期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大于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自己保存的当前任期数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F62B4C-00F4-48D8-8F8C-013F39B21DAE}"/>
              </a:ext>
            </a:extLst>
          </p:cNvPr>
          <p:cNvSpPr txBox="1"/>
          <p:nvPr/>
        </p:nvSpPr>
        <p:spPr>
          <a:xfrm>
            <a:off x="665017" y="2564455"/>
            <a:ext cx="89962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</a:t>
            </a:r>
            <a:r>
              <a:rPr lang="zh-CN" altLang="en-US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日志的最大索引号</a:t>
            </a: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大于等于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自己的最新索引号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71CFA6-E6F0-4DB5-AE21-890A3CD24969}"/>
              </a:ext>
            </a:extLst>
          </p:cNvPr>
          <p:cNvSpPr/>
          <p:nvPr/>
        </p:nvSpPr>
        <p:spPr>
          <a:xfrm>
            <a:off x="2282398" y="3817539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E9C679D-64CF-48D2-B183-4C5B82624E39}"/>
              </a:ext>
            </a:extLst>
          </p:cNvPr>
          <p:cNvSpPr/>
          <p:nvPr/>
        </p:nvSpPr>
        <p:spPr>
          <a:xfrm>
            <a:off x="2834271" y="3817539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A70A97-7041-47A4-8B00-8DD77E9D92E1}"/>
              </a:ext>
            </a:extLst>
          </p:cNvPr>
          <p:cNvSpPr/>
          <p:nvPr/>
        </p:nvSpPr>
        <p:spPr>
          <a:xfrm>
            <a:off x="3386144" y="3817539"/>
            <a:ext cx="551873" cy="551873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FD3FF9-6BF9-4E29-AD0C-336B9C46C228}"/>
              </a:ext>
            </a:extLst>
          </p:cNvPr>
          <p:cNvSpPr/>
          <p:nvPr/>
        </p:nvSpPr>
        <p:spPr>
          <a:xfrm>
            <a:off x="3938017" y="3817539"/>
            <a:ext cx="551873" cy="55187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98DD7E-1BB6-41A1-B5FD-5E88D1BF79E9}"/>
              </a:ext>
            </a:extLst>
          </p:cNvPr>
          <p:cNvSpPr/>
          <p:nvPr/>
        </p:nvSpPr>
        <p:spPr>
          <a:xfrm>
            <a:off x="2282398" y="4870414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DDC50AB-6EF5-4AF5-9808-6EAAB28C45CD}"/>
              </a:ext>
            </a:extLst>
          </p:cNvPr>
          <p:cNvSpPr/>
          <p:nvPr/>
        </p:nvSpPr>
        <p:spPr>
          <a:xfrm>
            <a:off x="2834271" y="4870414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3503206-A1F9-4FA1-93E8-79671B2C899D}"/>
              </a:ext>
            </a:extLst>
          </p:cNvPr>
          <p:cNvSpPr/>
          <p:nvPr/>
        </p:nvSpPr>
        <p:spPr>
          <a:xfrm>
            <a:off x="2282398" y="5923289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E5A2BE-4CD7-4A4E-87BB-071597E606B6}"/>
              </a:ext>
            </a:extLst>
          </p:cNvPr>
          <p:cNvSpPr/>
          <p:nvPr/>
        </p:nvSpPr>
        <p:spPr>
          <a:xfrm>
            <a:off x="2834271" y="5923289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70F0E89-D87C-4DE6-8621-28D14987296B}"/>
              </a:ext>
            </a:extLst>
          </p:cNvPr>
          <p:cNvSpPr/>
          <p:nvPr/>
        </p:nvSpPr>
        <p:spPr>
          <a:xfrm>
            <a:off x="3386144" y="5923289"/>
            <a:ext cx="551873" cy="551873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F07437B-565C-4FA0-9628-2B8998916D2F}"/>
              </a:ext>
            </a:extLst>
          </p:cNvPr>
          <p:cNvSpPr/>
          <p:nvPr/>
        </p:nvSpPr>
        <p:spPr>
          <a:xfrm>
            <a:off x="3938017" y="5923289"/>
            <a:ext cx="551873" cy="55187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F7AC7E-4B0A-4136-BCD2-4B6777776D80}"/>
              </a:ext>
            </a:extLst>
          </p:cNvPr>
          <p:cNvSpPr txBox="1"/>
          <p:nvPr/>
        </p:nvSpPr>
        <p:spPr>
          <a:xfrm>
            <a:off x="1782847" y="3832843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448A49C-A74A-4D8A-A241-5632D93F7F2B}"/>
              </a:ext>
            </a:extLst>
          </p:cNvPr>
          <p:cNvSpPr txBox="1"/>
          <p:nvPr/>
        </p:nvSpPr>
        <p:spPr>
          <a:xfrm>
            <a:off x="1782847" y="4920977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0B7B484-510F-46FA-AB0A-D7023D712AAA}"/>
              </a:ext>
            </a:extLst>
          </p:cNvPr>
          <p:cNvSpPr txBox="1"/>
          <p:nvPr/>
        </p:nvSpPr>
        <p:spPr>
          <a:xfrm>
            <a:off x="1782847" y="598378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53EEB19-48F4-470D-8BA6-5498D12E6EEA}"/>
              </a:ext>
            </a:extLst>
          </p:cNvPr>
          <p:cNvSpPr txBox="1"/>
          <p:nvPr/>
        </p:nvSpPr>
        <p:spPr>
          <a:xfrm>
            <a:off x="2371263" y="3376263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1FE44E2-4746-4614-AF43-2A41328ECAE4}"/>
              </a:ext>
            </a:extLst>
          </p:cNvPr>
          <p:cNvSpPr txBox="1"/>
          <p:nvPr/>
        </p:nvSpPr>
        <p:spPr>
          <a:xfrm>
            <a:off x="2924483" y="3376262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2D4C26E-3740-44C8-888F-898C08B617C9}"/>
              </a:ext>
            </a:extLst>
          </p:cNvPr>
          <p:cNvSpPr txBox="1"/>
          <p:nvPr/>
        </p:nvSpPr>
        <p:spPr>
          <a:xfrm>
            <a:off x="3477703" y="337626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B576D0C-B2C0-4E19-AB8E-D4CC49BE27A1}"/>
              </a:ext>
            </a:extLst>
          </p:cNvPr>
          <p:cNvSpPr txBox="1"/>
          <p:nvPr/>
        </p:nvSpPr>
        <p:spPr>
          <a:xfrm>
            <a:off x="4030923" y="3376260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5D97092-5BCA-498F-9D52-58F96FD8E2F6}"/>
              </a:ext>
            </a:extLst>
          </p:cNvPr>
          <p:cNvSpPr txBox="1"/>
          <p:nvPr/>
        </p:nvSpPr>
        <p:spPr>
          <a:xfrm>
            <a:off x="4725800" y="3862659"/>
            <a:ext cx="70563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或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将最终成为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，取决于谁的选举倒计时先到期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933DEE-1691-4BDF-AE95-FF8397700BDC}"/>
              </a:ext>
            </a:extLst>
          </p:cNvPr>
          <p:cNvSpPr txBox="1"/>
          <p:nvPr/>
        </p:nvSpPr>
        <p:spPr>
          <a:xfrm>
            <a:off x="4725800" y="5983781"/>
            <a:ext cx="7056370" cy="430887"/>
          </a:xfrm>
          <a:prstGeom prst="rect">
            <a:avLst/>
          </a:prstGeom>
          <a:solidFill>
            <a:srgbClr val="FFD801"/>
          </a:solidFill>
          <a:ln w="1270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pPr marL="0" lvl="1"/>
            <a:r>
              <a:rPr lang="zh-CN" altLang="en-US" sz="2200" b="1" dirty="0">
                <a:latin typeface="Garamond" panose="02020404030301010803" pitchFamily="18" charset="0"/>
                <a:ea typeface="微软雅黑" panose="020B0503020204020204" pitchFamily="34" charset="-122"/>
              </a:rPr>
              <a:t>成为</a:t>
            </a:r>
            <a:r>
              <a:rPr lang="en-US" altLang="zh-CN" sz="2200" b="1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b="1" dirty="0">
                <a:latin typeface="Garamond" panose="02020404030301010803" pitchFamily="18" charset="0"/>
                <a:ea typeface="微软雅黑" panose="020B0503020204020204" pitchFamily="34" charset="-122"/>
              </a:rPr>
              <a:t>的必要条件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：保持有最全的日志记录的节点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D10985-8340-9B8C-B6DD-DF1B781D0C6F}"/>
              </a:ext>
            </a:extLst>
          </p:cNvPr>
          <p:cNvSpPr/>
          <p:nvPr/>
        </p:nvSpPr>
        <p:spPr>
          <a:xfrm>
            <a:off x="9053945" y="4596481"/>
            <a:ext cx="1815435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为什么不直接采用最长日志的节点作为</a:t>
            </a:r>
            <a:r>
              <a:rPr kumimoji="1" lang="en-US" altLang="zh-CN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59EBA7-C5E9-5050-CC27-E45447318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581" y="4760845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9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4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4" grpId="0"/>
      <p:bldP spid="47" grpId="0"/>
      <p:bldP spid="48" grpId="0"/>
      <p:bldP spid="49" grpId="0"/>
      <p:bldP spid="50" grpId="0"/>
      <p:bldP spid="52" grpId="0"/>
      <p:bldP spid="25" grpId="0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崩溃容错分析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重新选举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26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71CFA6-E6F0-4DB5-AE21-890A3CD24969}"/>
              </a:ext>
            </a:extLst>
          </p:cNvPr>
          <p:cNvSpPr/>
          <p:nvPr/>
        </p:nvSpPr>
        <p:spPr>
          <a:xfrm>
            <a:off x="992927" y="2049093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E9C679D-64CF-48D2-B183-4C5B82624E39}"/>
              </a:ext>
            </a:extLst>
          </p:cNvPr>
          <p:cNvSpPr/>
          <p:nvPr/>
        </p:nvSpPr>
        <p:spPr>
          <a:xfrm>
            <a:off x="1544800" y="2049093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A70A97-7041-47A4-8B00-8DD77E9D92E1}"/>
              </a:ext>
            </a:extLst>
          </p:cNvPr>
          <p:cNvSpPr/>
          <p:nvPr/>
        </p:nvSpPr>
        <p:spPr>
          <a:xfrm>
            <a:off x="2096673" y="2049093"/>
            <a:ext cx="551873" cy="551873"/>
          </a:xfrm>
          <a:prstGeom prst="rect">
            <a:avLst/>
          </a:prstGeom>
          <a:solidFill>
            <a:srgbClr val="FFD700"/>
          </a:solidFill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FD3FF9-6BF9-4E29-AD0C-336B9C46C228}"/>
              </a:ext>
            </a:extLst>
          </p:cNvPr>
          <p:cNvSpPr/>
          <p:nvPr/>
        </p:nvSpPr>
        <p:spPr>
          <a:xfrm>
            <a:off x="2648546" y="2049093"/>
            <a:ext cx="551873" cy="551873"/>
          </a:xfrm>
          <a:prstGeom prst="rect">
            <a:avLst/>
          </a:prstGeom>
          <a:solidFill>
            <a:srgbClr val="00B050"/>
          </a:solidFill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98DD7E-1BB6-41A1-B5FD-5E88D1BF79E9}"/>
              </a:ext>
            </a:extLst>
          </p:cNvPr>
          <p:cNvSpPr/>
          <p:nvPr/>
        </p:nvSpPr>
        <p:spPr>
          <a:xfrm>
            <a:off x="992927" y="3101968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DDC50AB-6EF5-4AF5-9808-6EAAB28C45CD}"/>
              </a:ext>
            </a:extLst>
          </p:cNvPr>
          <p:cNvSpPr/>
          <p:nvPr/>
        </p:nvSpPr>
        <p:spPr>
          <a:xfrm>
            <a:off x="1544800" y="3101968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3503206-A1F9-4FA1-93E8-79671B2C899D}"/>
              </a:ext>
            </a:extLst>
          </p:cNvPr>
          <p:cNvSpPr/>
          <p:nvPr/>
        </p:nvSpPr>
        <p:spPr>
          <a:xfrm>
            <a:off x="992927" y="4154843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E5A2BE-4CD7-4A4E-87BB-071597E606B6}"/>
              </a:ext>
            </a:extLst>
          </p:cNvPr>
          <p:cNvSpPr/>
          <p:nvPr/>
        </p:nvSpPr>
        <p:spPr>
          <a:xfrm>
            <a:off x="1544800" y="4154843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F7AC7E-4B0A-4136-BCD2-4B6777776D80}"/>
              </a:ext>
            </a:extLst>
          </p:cNvPr>
          <p:cNvSpPr txBox="1"/>
          <p:nvPr/>
        </p:nvSpPr>
        <p:spPr>
          <a:xfrm>
            <a:off x="493376" y="2064397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448A49C-A74A-4D8A-A241-5632D93F7F2B}"/>
              </a:ext>
            </a:extLst>
          </p:cNvPr>
          <p:cNvSpPr txBox="1"/>
          <p:nvPr/>
        </p:nvSpPr>
        <p:spPr>
          <a:xfrm>
            <a:off x="493376" y="315253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0B7B484-510F-46FA-AB0A-D7023D712AAA}"/>
              </a:ext>
            </a:extLst>
          </p:cNvPr>
          <p:cNvSpPr txBox="1"/>
          <p:nvPr/>
        </p:nvSpPr>
        <p:spPr>
          <a:xfrm>
            <a:off x="493376" y="4215335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53EEB19-48F4-470D-8BA6-5498D12E6EEA}"/>
              </a:ext>
            </a:extLst>
          </p:cNvPr>
          <p:cNvSpPr txBox="1"/>
          <p:nvPr/>
        </p:nvSpPr>
        <p:spPr>
          <a:xfrm>
            <a:off x="1081792" y="1607817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1FE44E2-4746-4614-AF43-2A41328ECAE4}"/>
              </a:ext>
            </a:extLst>
          </p:cNvPr>
          <p:cNvSpPr txBox="1"/>
          <p:nvPr/>
        </p:nvSpPr>
        <p:spPr>
          <a:xfrm>
            <a:off x="1635012" y="1607816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2D4C26E-3740-44C8-888F-898C08B617C9}"/>
              </a:ext>
            </a:extLst>
          </p:cNvPr>
          <p:cNvSpPr txBox="1"/>
          <p:nvPr/>
        </p:nvSpPr>
        <p:spPr>
          <a:xfrm>
            <a:off x="2188232" y="1607815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B576D0C-B2C0-4E19-AB8E-D4CC49BE27A1}"/>
              </a:ext>
            </a:extLst>
          </p:cNvPr>
          <p:cNvSpPr txBox="1"/>
          <p:nvPr/>
        </p:nvSpPr>
        <p:spPr>
          <a:xfrm>
            <a:off x="2741452" y="1607814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5D97092-5BCA-498F-9D52-58F96FD8E2F6}"/>
              </a:ext>
            </a:extLst>
          </p:cNvPr>
          <p:cNvSpPr txBox="1"/>
          <p:nvPr/>
        </p:nvSpPr>
        <p:spPr>
          <a:xfrm>
            <a:off x="3932717" y="2014928"/>
            <a:ext cx="782213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日志形成原因：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在任期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收到请求后立即崩溃，恢复后被选为任期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，在收到请求后立即崩溃。（均未发起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AppendEntries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消息）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9FAE00-0342-CBE3-6F97-4EAF4D8C6BDB}"/>
              </a:ext>
            </a:extLst>
          </p:cNvPr>
          <p:cNvSpPr/>
          <p:nvPr/>
        </p:nvSpPr>
        <p:spPr>
          <a:xfrm>
            <a:off x="2096673" y="3101968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93CAD2-D4BA-1D21-067F-5B1457B7C73C}"/>
              </a:ext>
            </a:extLst>
          </p:cNvPr>
          <p:cNvSpPr/>
          <p:nvPr/>
        </p:nvSpPr>
        <p:spPr>
          <a:xfrm>
            <a:off x="2096672" y="4152894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3F219E-9F87-935B-7483-2D21324B374E}"/>
              </a:ext>
            </a:extLst>
          </p:cNvPr>
          <p:cNvSpPr txBox="1"/>
          <p:nvPr/>
        </p:nvSpPr>
        <p:spPr>
          <a:xfrm>
            <a:off x="3932716" y="3312260"/>
            <a:ext cx="78221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在任期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选出一个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，并收到新请求。由于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共两票，超过半数，新请求能够被提交。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6D272E-0B7F-79E7-6CC7-11CA69ABCEFC}"/>
              </a:ext>
            </a:extLst>
          </p:cNvPr>
          <p:cNvSpPr txBox="1"/>
          <p:nvPr/>
        </p:nvSpPr>
        <p:spPr>
          <a:xfrm>
            <a:off x="3932715" y="4081701"/>
            <a:ext cx="78221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拥有最长的日志记录，若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当选，则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需要复制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index 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的消息，这与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已提交的消息冲突。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C32F4F-7D64-D30B-A8D1-AC7CD888DF1C}"/>
              </a:ext>
            </a:extLst>
          </p:cNvPr>
          <p:cNvSpPr txBox="1"/>
          <p:nvPr/>
        </p:nvSpPr>
        <p:spPr>
          <a:xfrm>
            <a:off x="2253310" y="5624669"/>
            <a:ext cx="7056370" cy="430887"/>
          </a:xfrm>
          <a:prstGeom prst="rect">
            <a:avLst/>
          </a:prstGeom>
          <a:solidFill>
            <a:srgbClr val="FFD801"/>
          </a:solidFill>
          <a:ln w="1270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2200" b="1" dirty="0">
                <a:latin typeface="Garamond" panose="02020404030301010803" pitchFamily="18" charset="0"/>
                <a:ea typeface="微软雅黑" panose="020B0503020204020204" pitchFamily="34" charset="-122"/>
              </a:rPr>
              <a:t>RAFT</a:t>
            </a:r>
            <a:r>
              <a:rPr lang="zh-CN" altLang="en-US" sz="2200" b="1">
                <a:latin typeface="Garamond" panose="02020404030301010803" pitchFamily="18" charset="0"/>
                <a:ea typeface="微软雅黑" panose="020B0503020204020204" pitchFamily="34" charset="-122"/>
              </a:rPr>
              <a:t>保证已提交的消息不会被修改或回滚。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866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8" grpId="0" animBg="1"/>
      <p:bldP spid="39" grpId="0" animBg="1"/>
      <p:bldP spid="42" grpId="0"/>
      <p:bldP spid="43" grpId="0"/>
      <p:bldP spid="44" grpId="0"/>
      <p:bldP spid="47" grpId="0"/>
      <p:bldP spid="48" grpId="0"/>
      <p:bldP spid="49" grpId="0"/>
      <p:bldP spid="50" grpId="0"/>
      <p:bldP spid="52" grpId="0"/>
      <p:bldP spid="6" grpId="0" animBg="1"/>
      <p:bldP spid="8" grpId="0" animBg="1"/>
      <p:bldP spid="9" grpId="0"/>
      <p:bldP spid="10" grpId="0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重新选举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任期低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27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730571"/>
              </p:ext>
            </p:extLst>
          </p:nvPr>
        </p:nvGraphicFramePr>
        <p:xfrm>
          <a:off x="266383" y="2108431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1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EFC4E-C6AD-4077-84BC-EC963C7A48A7}"/>
              </a:ext>
            </a:extLst>
          </p:cNvPr>
          <p:cNvSpPr txBox="1"/>
          <p:nvPr/>
        </p:nvSpPr>
        <p:spPr>
          <a:xfrm>
            <a:off x="346076" y="1229345"/>
            <a:ext cx="6054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崩溃，同时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复活，且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的选举倒计时最先结束，成为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Candidate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2AF443D-9962-4C8E-939C-E6395E510F09}"/>
              </a:ext>
            </a:extLst>
          </p:cNvPr>
          <p:cNvCxnSpPr>
            <a:cxnSpLocks/>
            <a:stCxn id="9" idx="7"/>
            <a:endCxn id="8" idx="3"/>
          </p:cNvCxnSpPr>
          <p:nvPr/>
        </p:nvCxnSpPr>
        <p:spPr>
          <a:xfrm flipV="1">
            <a:off x="7937985" y="2458697"/>
            <a:ext cx="1044472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0882DBD-5A71-4139-BC46-C2C7789926F3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8567302" y="2647558"/>
            <a:ext cx="871107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3BA39D0-D8A1-4041-A1AA-5CF910085318}"/>
              </a:ext>
            </a:extLst>
          </p:cNvPr>
          <p:cNvCxnSpPr>
            <a:cxnSpLocks/>
            <a:stCxn id="12" idx="0"/>
            <a:endCxn id="8" idx="4"/>
          </p:cNvCxnSpPr>
          <p:nvPr/>
        </p:nvCxnSpPr>
        <p:spPr>
          <a:xfrm flipH="1" flipV="1">
            <a:off x="9438409" y="2647558"/>
            <a:ext cx="842244" cy="2346432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CA070F5-A6D3-4E2E-B33E-12FC553520D1}"/>
              </a:ext>
            </a:extLst>
          </p:cNvPr>
          <p:cNvCxnSpPr>
            <a:cxnSpLocks/>
            <a:stCxn id="10" idx="1"/>
            <a:endCxn id="8" idx="5"/>
          </p:cNvCxnSpPr>
          <p:nvPr/>
        </p:nvCxnSpPr>
        <p:spPr>
          <a:xfrm flipH="1" flipV="1"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B16C33A-C96E-4788-9DA8-9C4948A84075}"/>
              </a:ext>
            </a:extLst>
          </p:cNvPr>
          <p:cNvSpPr txBox="1"/>
          <p:nvPr/>
        </p:nvSpPr>
        <p:spPr>
          <a:xfrm>
            <a:off x="7328120" y="1818079"/>
            <a:ext cx="1357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E542425-002E-4827-8CCB-905B814FDC95}"/>
              </a:ext>
            </a:extLst>
          </p:cNvPr>
          <p:cNvSpPr txBox="1"/>
          <p:nvPr/>
        </p:nvSpPr>
        <p:spPr>
          <a:xfrm>
            <a:off x="7513183" y="2092038"/>
            <a:ext cx="987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Term: 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67F4298-1180-45CF-BEB3-C1915DBF1416}"/>
              </a:ext>
            </a:extLst>
          </p:cNvPr>
          <p:cNvSpPr txBox="1"/>
          <p:nvPr/>
        </p:nvSpPr>
        <p:spPr>
          <a:xfrm>
            <a:off x="6626230" y="4361490"/>
            <a:ext cx="182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Current Term: 2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8F78F15-5332-45BB-A5D4-7CC469613534}"/>
              </a:ext>
            </a:extLst>
          </p:cNvPr>
          <p:cNvSpPr txBox="1"/>
          <p:nvPr/>
        </p:nvSpPr>
        <p:spPr>
          <a:xfrm>
            <a:off x="7656657" y="6246079"/>
            <a:ext cx="182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Current Term: 2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C9D0ADD-6A7D-4D62-83A6-78BD270B9FCF}"/>
              </a:ext>
            </a:extLst>
          </p:cNvPr>
          <p:cNvSpPr txBox="1"/>
          <p:nvPr/>
        </p:nvSpPr>
        <p:spPr>
          <a:xfrm>
            <a:off x="9370008" y="6251029"/>
            <a:ext cx="182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Current Term: 2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BAB24DC-EF4D-4CBA-BCF0-093BD1396D0D}"/>
              </a:ext>
            </a:extLst>
          </p:cNvPr>
          <p:cNvSpPr txBox="1"/>
          <p:nvPr/>
        </p:nvSpPr>
        <p:spPr>
          <a:xfrm>
            <a:off x="7040707" y="4596305"/>
            <a:ext cx="99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Reject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1C990A7-2834-4029-A8C1-B5975576E01A}"/>
              </a:ext>
            </a:extLst>
          </p:cNvPr>
          <p:cNvSpPr txBox="1"/>
          <p:nvPr/>
        </p:nvSpPr>
        <p:spPr>
          <a:xfrm>
            <a:off x="8079118" y="6457464"/>
            <a:ext cx="99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Reject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76728B-47C8-429A-A86A-8028ABB2A949}"/>
              </a:ext>
            </a:extLst>
          </p:cNvPr>
          <p:cNvSpPr txBox="1"/>
          <p:nvPr/>
        </p:nvSpPr>
        <p:spPr>
          <a:xfrm>
            <a:off x="9784485" y="6457464"/>
            <a:ext cx="99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Reject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5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重新选举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日志索引低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28</a:t>
            </a:fld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13DBF-F118-4CA6-8D35-00641D850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549739"/>
              </p:ext>
            </p:extLst>
          </p:nvPr>
        </p:nvGraphicFramePr>
        <p:xfrm>
          <a:off x="266383" y="2108431"/>
          <a:ext cx="6207760" cy="4511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940">
                  <a:extLst>
                    <a:ext uri="{9D8B030D-6E8A-4147-A177-3AD203B41FA5}">
                      <a16:colId xmlns:a16="http://schemas.microsoft.com/office/drawing/2014/main" val="2323163849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40667595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1433186221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3736065774"/>
                    </a:ext>
                  </a:extLst>
                </a:gridCol>
              </a:tblGrid>
              <a:tr h="839883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           Index</a:t>
                      </a: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节点</a:t>
                      </a:r>
                      <a:endParaRPr lang="en-US" altLang="zh-CN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83686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2504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25989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87943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9910"/>
                  </a:ext>
                </a:extLst>
              </a:tr>
              <a:tr h="719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8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Term: 2</a:t>
                      </a:r>
                    </a:p>
                    <a:p>
                      <a:pPr algn="ctr"/>
                      <a:r>
                        <a:rPr lang="en-US" altLang="zh-CN" baseline="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X = 5</a:t>
                      </a:r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aseline="0" dirty="0">
                        <a:solidFill>
                          <a:srgbClr val="FF0000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682692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B981C752-BE54-4C62-9B1E-3A2BB3B66E39}"/>
              </a:ext>
            </a:extLst>
          </p:cNvPr>
          <p:cNvSpPr/>
          <p:nvPr/>
        </p:nvSpPr>
        <p:spPr>
          <a:xfrm>
            <a:off x="8793596" y="1357932"/>
            <a:ext cx="1289626" cy="128962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S1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4D2ED-FA53-483F-BD93-1316B44AD048}"/>
              </a:ext>
            </a:extLst>
          </p:cNvPr>
          <p:cNvSpPr/>
          <p:nvPr/>
        </p:nvSpPr>
        <p:spPr>
          <a:xfrm>
            <a:off x="6837220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S2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3EE0C9-BEB6-47E4-B4D2-B5FA6F7A703A}"/>
              </a:ext>
            </a:extLst>
          </p:cNvPr>
          <p:cNvSpPr/>
          <p:nvPr/>
        </p:nvSpPr>
        <p:spPr>
          <a:xfrm>
            <a:off x="10749974" y="3052575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S3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206317-9A86-48CB-93EF-800ADAC01B84}"/>
              </a:ext>
            </a:extLst>
          </p:cNvPr>
          <p:cNvSpPr/>
          <p:nvPr/>
        </p:nvSpPr>
        <p:spPr>
          <a:xfrm>
            <a:off x="7922489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S4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8A36D5-93D2-43CE-AE28-2C65E075C1DE}"/>
              </a:ext>
            </a:extLst>
          </p:cNvPr>
          <p:cNvSpPr/>
          <p:nvPr/>
        </p:nvSpPr>
        <p:spPr>
          <a:xfrm>
            <a:off x="9635840" y="4993990"/>
            <a:ext cx="1289626" cy="1289626"/>
          </a:xfrm>
          <a:prstGeom prst="ellipse">
            <a:avLst/>
          </a:prstGeom>
          <a:solidFill>
            <a:srgbClr val="A40A57"/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aramond" panose="02020404030301010803" pitchFamily="18" charset="0"/>
              </a:rPr>
              <a:t>S5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F976B1-DF53-4834-88B9-CD87643F6884}"/>
              </a:ext>
            </a:extLst>
          </p:cNvPr>
          <p:cNvSpPr txBox="1"/>
          <p:nvPr/>
        </p:nvSpPr>
        <p:spPr>
          <a:xfrm>
            <a:off x="346076" y="1229345"/>
            <a:ext cx="6054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在接收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Index 2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的提交消息前崩溃，原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在发送完提交消息后崩溃，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恢复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99CB9AB-030B-4C3B-9A72-52DA842FA8B2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8126846" y="3697388"/>
            <a:ext cx="2623128" cy="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AFC1A21-F3E9-4975-A1AB-EDFFF83AABCF}"/>
              </a:ext>
            </a:extLst>
          </p:cNvPr>
          <p:cNvCxnSpPr>
            <a:cxnSpLocks/>
            <a:stCxn id="12" idx="0"/>
            <a:endCxn id="10" idx="3"/>
          </p:cNvCxnSpPr>
          <p:nvPr/>
        </p:nvCxnSpPr>
        <p:spPr>
          <a:xfrm flipV="1">
            <a:off x="10280653" y="4153340"/>
            <a:ext cx="658182" cy="840650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A440C60-B930-4632-9A23-02C19539DFFC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9053945" y="3697388"/>
            <a:ext cx="1696029" cy="1449004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FB0D581-E83D-4845-8784-13E1959DBC3B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9894361" y="2458697"/>
            <a:ext cx="1044474" cy="782739"/>
          </a:xfrm>
          <a:prstGeom prst="straightConnector1">
            <a:avLst/>
          </a:prstGeom>
          <a:ln w="3810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45455B6-E840-45CB-964A-A7A5A38075E9}"/>
              </a:ext>
            </a:extLst>
          </p:cNvPr>
          <p:cNvSpPr txBox="1"/>
          <p:nvPr/>
        </p:nvSpPr>
        <p:spPr>
          <a:xfrm>
            <a:off x="10681855" y="2080857"/>
            <a:ext cx="1357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543CE11-CEE4-4707-975B-56453DD1677F}"/>
              </a:ext>
            </a:extLst>
          </p:cNvPr>
          <p:cNvSpPr txBox="1"/>
          <p:nvPr/>
        </p:nvSpPr>
        <p:spPr>
          <a:xfrm>
            <a:off x="10866918" y="2354816"/>
            <a:ext cx="987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Term: 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F6799BD-9A0E-49FC-A644-82F57729AA96}"/>
              </a:ext>
            </a:extLst>
          </p:cNvPr>
          <p:cNvSpPr txBox="1"/>
          <p:nvPr/>
        </p:nvSpPr>
        <p:spPr>
          <a:xfrm>
            <a:off x="6626230" y="4361490"/>
            <a:ext cx="182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Current Term: 2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0F36A6A-F8A4-427F-882D-D5FAC1B5D590}"/>
              </a:ext>
            </a:extLst>
          </p:cNvPr>
          <p:cNvSpPr txBox="1"/>
          <p:nvPr/>
        </p:nvSpPr>
        <p:spPr>
          <a:xfrm>
            <a:off x="7031177" y="4921256"/>
            <a:ext cx="99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Reject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225A0BB-AF33-4AF4-A332-85539DF38315}"/>
              </a:ext>
            </a:extLst>
          </p:cNvPr>
          <p:cNvSpPr txBox="1"/>
          <p:nvPr/>
        </p:nvSpPr>
        <p:spPr>
          <a:xfrm>
            <a:off x="6626230" y="4642206"/>
            <a:ext cx="182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Current Index: 2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932DEA7-7B45-4ABA-B87E-185450C469BE}"/>
              </a:ext>
            </a:extLst>
          </p:cNvPr>
          <p:cNvSpPr txBox="1"/>
          <p:nvPr/>
        </p:nvSpPr>
        <p:spPr>
          <a:xfrm>
            <a:off x="10902877" y="2646876"/>
            <a:ext cx="987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Index: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9E20899-6FBC-424F-A622-E5398820EDFC}"/>
              </a:ext>
            </a:extLst>
          </p:cNvPr>
          <p:cNvSpPr txBox="1"/>
          <p:nvPr/>
        </p:nvSpPr>
        <p:spPr>
          <a:xfrm>
            <a:off x="6395035" y="5824022"/>
            <a:ext cx="182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Current Term: 2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EF7BCD2-AC03-4499-B110-2A9987CA3933}"/>
              </a:ext>
            </a:extLst>
          </p:cNvPr>
          <p:cNvSpPr txBox="1"/>
          <p:nvPr/>
        </p:nvSpPr>
        <p:spPr>
          <a:xfrm>
            <a:off x="6799982" y="6383788"/>
            <a:ext cx="99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Reject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3511C52-BB49-4F6E-87B2-86F9626A3C93}"/>
              </a:ext>
            </a:extLst>
          </p:cNvPr>
          <p:cNvSpPr txBox="1"/>
          <p:nvPr/>
        </p:nvSpPr>
        <p:spPr>
          <a:xfrm>
            <a:off x="6395035" y="6104738"/>
            <a:ext cx="182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Current Index: 2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4D8803D-35CB-42D5-8F1B-59919381DF89}"/>
              </a:ext>
            </a:extLst>
          </p:cNvPr>
          <p:cNvSpPr txBox="1"/>
          <p:nvPr/>
        </p:nvSpPr>
        <p:spPr>
          <a:xfrm>
            <a:off x="10438546" y="5912638"/>
            <a:ext cx="182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Current Term: 2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706A4D7-FBA0-403F-89A4-FB3477134A9D}"/>
              </a:ext>
            </a:extLst>
          </p:cNvPr>
          <p:cNvSpPr txBox="1"/>
          <p:nvPr/>
        </p:nvSpPr>
        <p:spPr>
          <a:xfrm>
            <a:off x="10843493" y="6472404"/>
            <a:ext cx="99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Reject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96EA16F-4BD6-432D-97F5-0169D9BD004B}"/>
              </a:ext>
            </a:extLst>
          </p:cNvPr>
          <p:cNvSpPr txBox="1"/>
          <p:nvPr/>
        </p:nvSpPr>
        <p:spPr>
          <a:xfrm>
            <a:off x="10438546" y="6193354"/>
            <a:ext cx="182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Current Index: 2</a:t>
            </a:r>
            <a:endParaRPr lang="zh-CN" altLang="en-US" b="1" dirty="0">
              <a:solidFill>
                <a:srgbClr val="5B30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56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8" grpId="0"/>
      <p:bldP spid="35" grpId="0"/>
      <p:bldP spid="3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演示页面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29</a:t>
            </a:fld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F23F0C-9D22-4E1D-B90D-A92CF697921D}"/>
              </a:ext>
            </a:extLst>
          </p:cNvPr>
          <p:cNvSpPr txBox="1"/>
          <p:nvPr/>
        </p:nvSpPr>
        <p:spPr>
          <a:xfrm>
            <a:off x="3048000" y="324664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Garamond" panose="02020404030301010803" pitchFamily="18" charset="0"/>
                <a:hlinkClick r:id="rId3"/>
              </a:rPr>
              <a:t>https://raft.github.io/?algorithm</a:t>
            </a:r>
            <a:r>
              <a:rPr lang="zh-CN" altLang="en-US" sz="2800" dirty="0"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1815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日志快速同步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30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6E151D-842B-4F82-81F6-6DBCC9744775}"/>
              </a:ext>
            </a:extLst>
          </p:cNvPr>
          <p:cNvSpPr/>
          <p:nvPr/>
        </p:nvSpPr>
        <p:spPr>
          <a:xfrm>
            <a:off x="992927" y="2056745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B363E1-73B6-49AC-90C1-4FA98E3D2FD7}"/>
              </a:ext>
            </a:extLst>
          </p:cNvPr>
          <p:cNvSpPr/>
          <p:nvPr/>
        </p:nvSpPr>
        <p:spPr>
          <a:xfrm>
            <a:off x="1544800" y="2056745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6A7D18-949F-412C-9A84-0D08969E66DF}"/>
              </a:ext>
            </a:extLst>
          </p:cNvPr>
          <p:cNvSpPr/>
          <p:nvPr/>
        </p:nvSpPr>
        <p:spPr>
          <a:xfrm>
            <a:off x="2096673" y="2056745"/>
            <a:ext cx="551873" cy="551873"/>
          </a:xfrm>
          <a:prstGeom prst="rect">
            <a:avLst/>
          </a:prstGeom>
          <a:solidFill>
            <a:srgbClr val="FFD70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EB68FC-F66E-45A6-8E58-F9ECA07CFAD2}"/>
              </a:ext>
            </a:extLst>
          </p:cNvPr>
          <p:cNvSpPr/>
          <p:nvPr/>
        </p:nvSpPr>
        <p:spPr>
          <a:xfrm>
            <a:off x="2648546" y="2056745"/>
            <a:ext cx="551873" cy="551873"/>
          </a:xfrm>
          <a:prstGeom prst="rect">
            <a:avLst/>
          </a:prstGeom>
          <a:solidFill>
            <a:srgbClr val="00B05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1BB65E-3158-4CFE-A6BB-5F8691AEC707}"/>
              </a:ext>
            </a:extLst>
          </p:cNvPr>
          <p:cNvSpPr/>
          <p:nvPr/>
        </p:nvSpPr>
        <p:spPr>
          <a:xfrm>
            <a:off x="992927" y="3101968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F57AEC-5B03-43CE-A270-783EBEDCA318}"/>
              </a:ext>
            </a:extLst>
          </p:cNvPr>
          <p:cNvSpPr/>
          <p:nvPr/>
        </p:nvSpPr>
        <p:spPr>
          <a:xfrm>
            <a:off x="1544800" y="3101968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25FA89-DE9C-4519-B27D-CCE3A4609F42}"/>
              </a:ext>
            </a:extLst>
          </p:cNvPr>
          <p:cNvSpPr/>
          <p:nvPr/>
        </p:nvSpPr>
        <p:spPr>
          <a:xfrm>
            <a:off x="992927" y="4154843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D48D38-9677-40C1-AA67-4A68DC1F8BA0}"/>
              </a:ext>
            </a:extLst>
          </p:cNvPr>
          <p:cNvSpPr/>
          <p:nvPr/>
        </p:nvSpPr>
        <p:spPr>
          <a:xfrm>
            <a:off x="1544800" y="4154843"/>
            <a:ext cx="551873" cy="551873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F14863-3EA9-4954-BBEC-8509744742D6}"/>
              </a:ext>
            </a:extLst>
          </p:cNvPr>
          <p:cNvSpPr txBox="1"/>
          <p:nvPr/>
        </p:nvSpPr>
        <p:spPr>
          <a:xfrm>
            <a:off x="493376" y="2064397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E6600-4104-4F04-A7E3-2F1D9C9FF98C}"/>
              </a:ext>
            </a:extLst>
          </p:cNvPr>
          <p:cNvSpPr txBox="1"/>
          <p:nvPr/>
        </p:nvSpPr>
        <p:spPr>
          <a:xfrm>
            <a:off x="493376" y="315253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03D4B4-2F9D-44DC-84A7-5F6F791594E7}"/>
              </a:ext>
            </a:extLst>
          </p:cNvPr>
          <p:cNvSpPr txBox="1"/>
          <p:nvPr/>
        </p:nvSpPr>
        <p:spPr>
          <a:xfrm>
            <a:off x="493376" y="4215335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F2A899-F37B-464D-9B2E-89BDE3C5A6D3}"/>
              </a:ext>
            </a:extLst>
          </p:cNvPr>
          <p:cNvSpPr txBox="1"/>
          <p:nvPr/>
        </p:nvSpPr>
        <p:spPr>
          <a:xfrm>
            <a:off x="1081792" y="159385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DBE562-19B4-4FA3-AB1B-F3C22773C291}"/>
              </a:ext>
            </a:extLst>
          </p:cNvPr>
          <p:cNvSpPr txBox="1"/>
          <p:nvPr/>
        </p:nvSpPr>
        <p:spPr>
          <a:xfrm>
            <a:off x="1635012" y="159385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55AE47-507C-4DB1-8573-370F901C6851}"/>
              </a:ext>
            </a:extLst>
          </p:cNvPr>
          <p:cNvSpPr txBox="1"/>
          <p:nvPr/>
        </p:nvSpPr>
        <p:spPr>
          <a:xfrm>
            <a:off x="2188232" y="159385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4009BA-2C0C-4200-87E7-CFE5E4C3BAB7}"/>
              </a:ext>
            </a:extLst>
          </p:cNvPr>
          <p:cNvSpPr txBox="1"/>
          <p:nvPr/>
        </p:nvSpPr>
        <p:spPr>
          <a:xfrm>
            <a:off x="2741452" y="159385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4055AB-F3DC-41CF-8800-AFB2376CA47A}"/>
              </a:ext>
            </a:extLst>
          </p:cNvPr>
          <p:cNvSpPr/>
          <p:nvPr/>
        </p:nvSpPr>
        <p:spPr>
          <a:xfrm>
            <a:off x="4856038" y="2056744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873796-E0FC-4882-9B59-43B8A1AD4D06}"/>
              </a:ext>
            </a:extLst>
          </p:cNvPr>
          <p:cNvSpPr/>
          <p:nvPr/>
        </p:nvSpPr>
        <p:spPr>
          <a:xfrm>
            <a:off x="3200419" y="2056745"/>
            <a:ext cx="551873" cy="551873"/>
          </a:xfrm>
          <a:prstGeom prst="rect">
            <a:avLst/>
          </a:prstGeom>
          <a:solidFill>
            <a:srgbClr val="00B05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3C820B-ABB7-41A6-A0A9-E2E121A9DA23}"/>
              </a:ext>
            </a:extLst>
          </p:cNvPr>
          <p:cNvSpPr/>
          <p:nvPr/>
        </p:nvSpPr>
        <p:spPr>
          <a:xfrm>
            <a:off x="3752292" y="2056745"/>
            <a:ext cx="551873" cy="551873"/>
          </a:xfrm>
          <a:prstGeom prst="rect">
            <a:avLst/>
          </a:prstGeom>
          <a:solidFill>
            <a:srgbClr val="00B05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5B4160-E925-47D5-986D-7BD075CB4FC5}"/>
              </a:ext>
            </a:extLst>
          </p:cNvPr>
          <p:cNvSpPr/>
          <p:nvPr/>
        </p:nvSpPr>
        <p:spPr>
          <a:xfrm>
            <a:off x="4304165" y="2056745"/>
            <a:ext cx="551873" cy="551873"/>
          </a:xfrm>
          <a:prstGeom prst="rect">
            <a:avLst/>
          </a:prstGeom>
          <a:solidFill>
            <a:srgbClr val="00B05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EEF7C2C-0831-43BF-BE9B-AE33B7546516}"/>
              </a:ext>
            </a:extLst>
          </p:cNvPr>
          <p:cNvSpPr/>
          <p:nvPr/>
        </p:nvSpPr>
        <p:spPr>
          <a:xfrm>
            <a:off x="5405622" y="2056743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9369107-882E-4A70-8957-DDEACD814377}"/>
              </a:ext>
            </a:extLst>
          </p:cNvPr>
          <p:cNvSpPr/>
          <p:nvPr/>
        </p:nvSpPr>
        <p:spPr>
          <a:xfrm>
            <a:off x="5957495" y="2056744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070CFEA-57F4-4AA6-988D-D978742D76D3}"/>
              </a:ext>
            </a:extLst>
          </p:cNvPr>
          <p:cNvSpPr/>
          <p:nvPr/>
        </p:nvSpPr>
        <p:spPr>
          <a:xfrm>
            <a:off x="6507079" y="2056743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78FED94-FA42-4B96-8BF5-15CF6ACFDD2A}"/>
              </a:ext>
            </a:extLst>
          </p:cNvPr>
          <p:cNvSpPr/>
          <p:nvPr/>
        </p:nvSpPr>
        <p:spPr>
          <a:xfrm>
            <a:off x="2096673" y="4154843"/>
            <a:ext cx="551873" cy="551873"/>
          </a:xfrm>
          <a:prstGeom prst="rect">
            <a:avLst/>
          </a:prstGeom>
          <a:solidFill>
            <a:srgbClr val="FFD70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A09E40D-8CDA-41B4-B369-C1928BE93CFF}"/>
              </a:ext>
            </a:extLst>
          </p:cNvPr>
          <p:cNvSpPr/>
          <p:nvPr/>
        </p:nvSpPr>
        <p:spPr>
          <a:xfrm>
            <a:off x="2648546" y="4154843"/>
            <a:ext cx="551873" cy="551873"/>
          </a:xfrm>
          <a:prstGeom prst="rect">
            <a:avLst/>
          </a:prstGeom>
          <a:solidFill>
            <a:srgbClr val="00B05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33016DB-FCA0-4E7D-946B-52CC3B14FA42}"/>
              </a:ext>
            </a:extLst>
          </p:cNvPr>
          <p:cNvSpPr/>
          <p:nvPr/>
        </p:nvSpPr>
        <p:spPr>
          <a:xfrm>
            <a:off x="4856038" y="4154842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44458D3-3918-4426-8436-BB7B506BB2DC}"/>
              </a:ext>
            </a:extLst>
          </p:cNvPr>
          <p:cNvSpPr/>
          <p:nvPr/>
        </p:nvSpPr>
        <p:spPr>
          <a:xfrm>
            <a:off x="3200419" y="4154843"/>
            <a:ext cx="551873" cy="551873"/>
          </a:xfrm>
          <a:prstGeom prst="rect">
            <a:avLst/>
          </a:prstGeom>
          <a:solidFill>
            <a:srgbClr val="00B05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72E1183-9A69-4D1D-8EB8-898E7084603D}"/>
              </a:ext>
            </a:extLst>
          </p:cNvPr>
          <p:cNvSpPr/>
          <p:nvPr/>
        </p:nvSpPr>
        <p:spPr>
          <a:xfrm>
            <a:off x="3752292" y="4154843"/>
            <a:ext cx="551873" cy="551873"/>
          </a:xfrm>
          <a:prstGeom prst="rect">
            <a:avLst/>
          </a:prstGeom>
          <a:solidFill>
            <a:srgbClr val="00B05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ACA0676-FE3F-4C7F-A781-442E0A70C772}"/>
              </a:ext>
            </a:extLst>
          </p:cNvPr>
          <p:cNvSpPr/>
          <p:nvPr/>
        </p:nvSpPr>
        <p:spPr>
          <a:xfrm>
            <a:off x="4304165" y="4154843"/>
            <a:ext cx="551873" cy="551873"/>
          </a:xfrm>
          <a:prstGeom prst="rect">
            <a:avLst/>
          </a:prstGeom>
          <a:solidFill>
            <a:srgbClr val="00B050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829C05C-8695-4BD4-AE6A-169419646863}"/>
              </a:ext>
            </a:extLst>
          </p:cNvPr>
          <p:cNvSpPr/>
          <p:nvPr/>
        </p:nvSpPr>
        <p:spPr>
          <a:xfrm>
            <a:off x="5405622" y="4154841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500467A-DDEA-4792-BDCB-F1DB7C7F646F}"/>
              </a:ext>
            </a:extLst>
          </p:cNvPr>
          <p:cNvSpPr/>
          <p:nvPr/>
        </p:nvSpPr>
        <p:spPr>
          <a:xfrm>
            <a:off x="5957495" y="4154842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0BBA3A0-2AAD-4C92-9845-47204652AE42}"/>
              </a:ext>
            </a:extLst>
          </p:cNvPr>
          <p:cNvSpPr/>
          <p:nvPr/>
        </p:nvSpPr>
        <p:spPr>
          <a:xfrm>
            <a:off x="6507079" y="4154841"/>
            <a:ext cx="551873" cy="551873"/>
          </a:xfrm>
          <a:prstGeom prst="rect">
            <a:avLst/>
          </a:prstGeom>
          <a:solidFill>
            <a:srgbClr val="00B0F0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001AB31-B2F6-41CD-BF4E-1A1184070E73}"/>
              </a:ext>
            </a:extLst>
          </p:cNvPr>
          <p:cNvSpPr txBox="1"/>
          <p:nvPr/>
        </p:nvSpPr>
        <p:spPr>
          <a:xfrm>
            <a:off x="3267993" y="159385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5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128044C-C70A-40EA-ACCD-E8A320EBE05D}"/>
              </a:ext>
            </a:extLst>
          </p:cNvPr>
          <p:cNvSpPr txBox="1"/>
          <p:nvPr/>
        </p:nvSpPr>
        <p:spPr>
          <a:xfrm>
            <a:off x="3821213" y="159385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6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6C93084-C24D-4F78-BA62-EB94E54A7A34}"/>
              </a:ext>
            </a:extLst>
          </p:cNvPr>
          <p:cNvSpPr txBox="1"/>
          <p:nvPr/>
        </p:nvSpPr>
        <p:spPr>
          <a:xfrm>
            <a:off x="4393030" y="159385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7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5468F8B-2DB2-4315-A9DA-923F0C763A62}"/>
              </a:ext>
            </a:extLst>
          </p:cNvPr>
          <p:cNvSpPr txBox="1"/>
          <p:nvPr/>
        </p:nvSpPr>
        <p:spPr>
          <a:xfrm>
            <a:off x="4927653" y="159385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8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CF6D606-00CA-45C2-A0AF-76994A782B02}"/>
              </a:ext>
            </a:extLst>
          </p:cNvPr>
          <p:cNvSpPr txBox="1"/>
          <p:nvPr/>
        </p:nvSpPr>
        <p:spPr>
          <a:xfrm>
            <a:off x="5461455" y="1593851"/>
            <a:ext cx="374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9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6C11F77-D3D5-441B-AFC9-EA853582CFFC}"/>
              </a:ext>
            </a:extLst>
          </p:cNvPr>
          <p:cNvSpPr txBox="1"/>
          <p:nvPr/>
        </p:nvSpPr>
        <p:spPr>
          <a:xfrm>
            <a:off x="6003682" y="1593851"/>
            <a:ext cx="4612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10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4C353D7-9D33-40A6-91AA-40D390B5A21B}"/>
              </a:ext>
            </a:extLst>
          </p:cNvPr>
          <p:cNvSpPr txBox="1"/>
          <p:nvPr/>
        </p:nvSpPr>
        <p:spPr>
          <a:xfrm>
            <a:off x="6552388" y="1593851"/>
            <a:ext cx="4612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DEDC9DD-55C2-4B1B-9AD3-9A90EBCB2E54}"/>
              </a:ext>
            </a:extLst>
          </p:cNvPr>
          <p:cNvSpPr txBox="1"/>
          <p:nvPr/>
        </p:nvSpPr>
        <p:spPr>
          <a:xfrm>
            <a:off x="7391904" y="1600194"/>
            <a:ext cx="42159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出现条件：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Index 3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起一直故障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2720450-167A-48CF-A2A3-6F5AD6F00591}"/>
              </a:ext>
            </a:extLst>
          </p:cNvPr>
          <p:cNvSpPr txBox="1"/>
          <p:nvPr/>
        </p:nvSpPr>
        <p:spPr>
          <a:xfrm>
            <a:off x="7388414" y="2397944"/>
            <a:ext cx="42159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当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恢复后，需要向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同步全部日志队列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7A4B728-2EAF-4872-B753-0ED34FE20145}"/>
              </a:ext>
            </a:extLst>
          </p:cNvPr>
          <p:cNvSpPr txBox="1"/>
          <p:nvPr/>
        </p:nvSpPr>
        <p:spPr>
          <a:xfrm>
            <a:off x="7388414" y="3211832"/>
            <a:ext cx="431021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试探得到匹配点：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以倒序的方式向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依次发送询问日志，寻找与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节点失衡位置。通过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MatchIndex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NextIndex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记录，最后将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MatchIndex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之后的日志全部复制。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0D423FB-0785-4B07-BF99-BE3EAA901CCC}"/>
              </a:ext>
            </a:extLst>
          </p:cNvPr>
          <p:cNvSpPr txBox="1"/>
          <p:nvPr/>
        </p:nvSpPr>
        <p:spPr>
          <a:xfrm>
            <a:off x="532342" y="5558911"/>
            <a:ext cx="110754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MatchIndex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匹配的日志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Index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。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初始时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MatchIndex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均为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AA5029B-7AF6-421E-8B16-0B7075047CE8}"/>
              </a:ext>
            </a:extLst>
          </p:cNvPr>
          <p:cNvSpPr txBox="1"/>
          <p:nvPr/>
        </p:nvSpPr>
        <p:spPr>
          <a:xfrm>
            <a:off x="532342" y="6185238"/>
            <a:ext cx="110720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NextIndex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：下一次试探的点位，从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最新日志开始，每次试探失败后减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66A8C41-626C-4B0B-964B-AEC78FFEF59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820737" y="4706716"/>
            <a:ext cx="0" cy="290220"/>
          </a:xfrm>
          <a:prstGeom prst="straightConnector1">
            <a:avLst/>
          </a:prstGeom>
          <a:ln w="28575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588970E9-6B86-41F9-BBA7-F75FDB4E3740}"/>
              </a:ext>
            </a:extLst>
          </p:cNvPr>
          <p:cNvSpPr txBox="1"/>
          <p:nvPr/>
        </p:nvSpPr>
        <p:spPr>
          <a:xfrm>
            <a:off x="1148222" y="5007693"/>
            <a:ext cx="1345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MatchIndex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63CB297-8CB3-44FF-B22E-476BA30218AE}"/>
              </a:ext>
            </a:extLst>
          </p:cNvPr>
          <p:cNvSpPr txBox="1"/>
          <p:nvPr/>
        </p:nvSpPr>
        <p:spPr>
          <a:xfrm>
            <a:off x="6110500" y="5007693"/>
            <a:ext cx="1345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NextIndex</a:t>
            </a:r>
            <a:endParaRPr lang="zh-CN" altLang="en-US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322BA0A-6A90-4077-B6FA-B0B2CA354AF1}"/>
              </a:ext>
            </a:extLst>
          </p:cNvPr>
          <p:cNvCxnSpPr>
            <a:stCxn id="58" idx="0"/>
            <a:endCxn id="37" idx="2"/>
          </p:cNvCxnSpPr>
          <p:nvPr/>
        </p:nvCxnSpPr>
        <p:spPr>
          <a:xfrm flipV="1">
            <a:off x="6783015" y="4706714"/>
            <a:ext cx="1" cy="300979"/>
          </a:xfrm>
          <a:prstGeom prst="straightConnector1">
            <a:avLst/>
          </a:prstGeom>
          <a:ln w="28575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16FAF50-34F8-4007-A501-729A2AA133FB}"/>
              </a:ext>
            </a:extLst>
          </p:cNvPr>
          <p:cNvCxnSpPr>
            <a:stCxn id="58" idx="1"/>
            <a:endCxn id="57" idx="3"/>
          </p:cNvCxnSpPr>
          <p:nvPr/>
        </p:nvCxnSpPr>
        <p:spPr>
          <a:xfrm flipH="1">
            <a:off x="2493252" y="5192359"/>
            <a:ext cx="3617248" cy="0"/>
          </a:xfrm>
          <a:prstGeom prst="straightConnector1">
            <a:avLst/>
          </a:prstGeom>
          <a:ln w="28575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39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0" grpId="0"/>
      <p:bldP spid="51" grpId="0"/>
      <p:bldP spid="57" grpId="0"/>
      <p:bldP spid="5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节点恢复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31</a:t>
            </a:fld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DEDC9DD-55C2-4B1B-9AD3-9A90EBCB2E54}"/>
              </a:ext>
            </a:extLst>
          </p:cNvPr>
          <p:cNvSpPr txBox="1"/>
          <p:nvPr/>
        </p:nvSpPr>
        <p:spPr>
          <a:xfrm>
            <a:off x="572004" y="1540954"/>
            <a:ext cx="42159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节点需要持久化的内容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58DD00A-541A-4255-8AF0-38623452D55B}"/>
              </a:ext>
            </a:extLst>
          </p:cNvPr>
          <p:cNvSpPr txBox="1"/>
          <p:nvPr/>
        </p:nvSpPr>
        <p:spPr>
          <a:xfrm>
            <a:off x="572004" y="2086307"/>
            <a:ext cx="91815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indent="-4572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Log 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：全体日志队列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02BE1BD-4B92-49FD-AE53-3B36CF9244BD}"/>
              </a:ext>
            </a:extLst>
          </p:cNvPr>
          <p:cNvSpPr txBox="1"/>
          <p:nvPr/>
        </p:nvSpPr>
        <p:spPr>
          <a:xfrm>
            <a:off x="572004" y="2631660"/>
            <a:ext cx="91815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indent="-4572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Current Term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：崩溃前的任期号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3C8ADDB-41D4-41CD-89E9-CA84410B8548}"/>
              </a:ext>
            </a:extLst>
          </p:cNvPr>
          <p:cNvSpPr txBox="1"/>
          <p:nvPr/>
        </p:nvSpPr>
        <p:spPr>
          <a:xfrm>
            <a:off x="572004" y="3177013"/>
            <a:ext cx="91815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indent="-4572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Voted For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：崩溃前投票情况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5F801D0-850A-4BE2-B531-3FB9976D4412}"/>
              </a:ext>
            </a:extLst>
          </p:cNvPr>
          <p:cNvSpPr txBox="1"/>
          <p:nvPr/>
        </p:nvSpPr>
        <p:spPr>
          <a:xfrm>
            <a:off x="572004" y="3790441"/>
            <a:ext cx="42159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节点恢复后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254D973-A5AC-4C27-A762-8063A4918500}"/>
              </a:ext>
            </a:extLst>
          </p:cNvPr>
          <p:cNvSpPr txBox="1"/>
          <p:nvPr/>
        </p:nvSpPr>
        <p:spPr>
          <a:xfrm>
            <a:off x="572004" y="4347913"/>
            <a:ext cx="91815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indent="-4572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Log 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Log Entries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恢复复制状态机的状态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D87B652-0966-4178-BE5F-31E11CF4544E}"/>
              </a:ext>
            </a:extLst>
          </p:cNvPr>
          <p:cNvSpPr txBox="1"/>
          <p:nvPr/>
        </p:nvSpPr>
        <p:spPr>
          <a:xfrm>
            <a:off x="572003" y="4801434"/>
            <a:ext cx="104865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indent="-4572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Current Term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：根据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Current Term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号，在集群无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情况下参与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Leader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选举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DAA16C7-2911-40AB-AA93-46D5C329D78C}"/>
              </a:ext>
            </a:extLst>
          </p:cNvPr>
          <p:cNvSpPr txBox="1"/>
          <p:nvPr/>
        </p:nvSpPr>
        <p:spPr>
          <a:xfrm>
            <a:off x="572004" y="5254955"/>
            <a:ext cx="104865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indent="-457200"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Voted For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：根据是否已投过票，确定在收到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RequestVote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后是否要投票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005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快照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Snapshot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32</a:t>
            </a:fld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31DDE97-BF49-4E45-A983-77C04E9D0474}"/>
              </a:ext>
            </a:extLst>
          </p:cNvPr>
          <p:cNvSpPr txBox="1"/>
          <p:nvPr/>
        </p:nvSpPr>
        <p:spPr>
          <a:xfrm>
            <a:off x="457704" y="1495757"/>
            <a:ext cx="48286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通过日志队列恢复状态机的状态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5BBEB96-65E0-4A53-906B-AA0CB35D741B}"/>
              </a:ext>
            </a:extLst>
          </p:cNvPr>
          <p:cNvSpPr txBox="1"/>
          <p:nvPr/>
        </p:nvSpPr>
        <p:spPr>
          <a:xfrm>
            <a:off x="457703" y="2072113"/>
            <a:ext cx="84005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问题：日志过长（数百亿条日志），恢复时间过慢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F0FB79F-3372-4CF0-A05B-72EC67517820}"/>
              </a:ext>
            </a:extLst>
          </p:cNvPr>
          <p:cNvSpPr txBox="1"/>
          <p:nvPr/>
        </p:nvSpPr>
        <p:spPr>
          <a:xfrm>
            <a:off x="457703" y="2648469"/>
            <a:ext cx="114104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-4572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快照：在状态机某个状态下，将全体状态进行存储，代替该状态以前的全部日志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DF61642-8D8F-4C72-A6F8-0DF43011A9D5}"/>
              </a:ext>
            </a:extLst>
          </p:cNvPr>
          <p:cNvSpPr/>
          <p:nvPr/>
        </p:nvSpPr>
        <p:spPr>
          <a:xfrm>
            <a:off x="1054007" y="3633665"/>
            <a:ext cx="197494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快照应由谁发起？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9D61D963-AAED-4A9F-A39B-FA35D1EE8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04" y="3517500"/>
            <a:ext cx="601662" cy="601662"/>
          </a:xfrm>
          <a:prstGeom prst="rect">
            <a:avLst/>
          </a:prstGeom>
        </p:spPr>
      </p:pic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729E2053-15E4-46E4-988B-72D11FE27E74}"/>
              </a:ext>
            </a:extLst>
          </p:cNvPr>
          <p:cNvSpPr/>
          <p:nvPr/>
        </p:nvSpPr>
        <p:spPr>
          <a:xfrm>
            <a:off x="276729" y="4409424"/>
            <a:ext cx="933450" cy="4693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2759433-09FE-485D-8619-6CC3AD949CCC}"/>
              </a:ext>
            </a:extLst>
          </p:cNvPr>
          <p:cNvSpPr/>
          <p:nvPr/>
        </p:nvSpPr>
        <p:spPr>
          <a:xfrm>
            <a:off x="1972179" y="4409424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4B6A7B4-3094-45CC-9453-8973F4836940}"/>
              </a:ext>
            </a:extLst>
          </p:cNvPr>
          <p:cNvSpPr/>
          <p:nvPr/>
        </p:nvSpPr>
        <p:spPr>
          <a:xfrm>
            <a:off x="3665517" y="4409424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211F27E6-67C7-4A0C-90DD-B9158F2BF97B}"/>
              </a:ext>
            </a:extLst>
          </p:cNvPr>
          <p:cNvSpPr/>
          <p:nvPr/>
        </p:nvSpPr>
        <p:spPr>
          <a:xfrm>
            <a:off x="5358855" y="4409424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86492E5-3D89-41D9-8EF2-E68CA432B121}"/>
              </a:ext>
            </a:extLst>
          </p:cNvPr>
          <p:cNvSpPr/>
          <p:nvPr/>
        </p:nvSpPr>
        <p:spPr>
          <a:xfrm>
            <a:off x="7052193" y="4416549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9" name="文本框 51">
            <a:extLst>
              <a:ext uri="{FF2B5EF4-FFF2-40B4-BE49-F238E27FC236}">
                <a16:creationId xmlns:a16="http://schemas.microsoft.com/office/drawing/2014/main" id="{5F04B90C-571E-48BA-97E1-7185F5223A2B}"/>
              </a:ext>
            </a:extLst>
          </p:cNvPr>
          <p:cNvSpPr txBox="1"/>
          <p:nvPr/>
        </p:nvSpPr>
        <p:spPr>
          <a:xfrm>
            <a:off x="276730" y="4449924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S0</a:t>
            </a:r>
            <a:endParaRPr lang="zh-CN" altLang="en-US" dirty="0"/>
          </a:p>
        </p:txBody>
      </p:sp>
      <p:sp>
        <p:nvSpPr>
          <p:cNvPr id="60" name="文本框 53">
            <a:extLst>
              <a:ext uri="{FF2B5EF4-FFF2-40B4-BE49-F238E27FC236}">
                <a16:creationId xmlns:a16="http://schemas.microsoft.com/office/drawing/2014/main" id="{6787D656-8D9D-4EC9-9AE3-39384414D90E}"/>
              </a:ext>
            </a:extLst>
          </p:cNvPr>
          <p:cNvSpPr txBox="1"/>
          <p:nvPr/>
        </p:nvSpPr>
        <p:spPr>
          <a:xfrm>
            <a:off x="1970067" y="4449924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endParaRPr lang="zh-CN" altLang="en-US" dirty="0"/>
          </a:p>
        </p:txBody>
      </p:sp>
      <p:sp>
        <p:nvSpPr>
          <p:cNvPr id="61" name="文本框 54">
            <a:extLst>
              <a:ext uri="{FF2B5EF4-FFF2-40B4-BE49-F238E27FC236}">
                <a16:creationId xmlns:a16="http://schemas.microsoft.com/office/drawing/2014/main" id="{C74678A8-F0AB-4678-882B-31D852D6E668}"/>
              </a:ext>
            </a:extLst>
          </p:cNvPr>
          <p:cNvSpPr txBox="1"/>
          <p:nvPr/>
        </p:nvSpPr>
        <p:spPr>
          <a:xfrm>
            <a:off x="3665517" y="4449924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S2</a:t>
            </a:r>
            <a:endParaRPr lang="zh-CN" altLang="en-US" dirty="0"/>
          </a:p>
        </p:txBody>
      </p:sp>
      <p:sp>
        <p:nvSpPr>
          <p:cNvPr id="62" name="文本框 55">
            <a:extLst>
              <a:ext uri="{FF2B5EF4-FFF2-40B4-BE49-F238E27FC236}">
                <a16:creationId xmlns:a16="http://schemas.microsoft.com/office/drawing/2014/main" id="{F3CF8C2C-50F8-4E13-871E-D6FFBC87FA98}"/>
              </a:ext>
            </a:extLst>
          </p:cNvPr>
          <p:cNvSpPr txBox="1"/>
          <p:nvPr/>
        </p:nvSpPr>
        <p:spPr>
          <a:xfrm>
            <a:off x="5358855" y="4449924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endParaRPr lang="zh-CN" altLang="en-US" dirty="0"/>
          </a:p>
        </p:txBody>
      </p:sp>
      <p:sp>
        <p:nvSpPr>
          <p:cNvPr id="63" name="文本框 56">
            <a:extLst>
              <a:ext uri="{FF2B5EF4-FFF2-40B4-BE49-F238E27FC236}">
                <a16:creationId xmlns:a16="http://schemas.microsoft.com/office/drawing/2014/main" id="{FC79C06D-0715-48AE-BDEA-703347EFD0EC}"/>
              </a:ext>
            </a:extLst>
          </p:cNvPr>
          <p:cNvSpPr txBox="1"/>
          <p:nvPr/>
        </p:nvSpPr>
        <p:spPr>
          <a:xfrm>
            <a:off x="7050081" y="4449924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S4</a:t>
            </a:r>
            <a:endParaRPr lang="zh-CN" altLang="en-US" dirty="0"/>
          </a:p>
        </p:txBody>
      </p:sp>
      <p:sp>
        <p:nvSpPr>
          <p:cNvPr id="64" name="文本框 57">
            <a:extLst>
              <a:ext uri="{FF2B5EF4-FFF2-40B4-BE49-F238E27FC236}">
                <a16:creationId xmlns:a16="http://schemas.microsoft.com/office/drawing/2014/main" id="{EADED792-EB9D-4BE4-9D15-DEB7A00369FF}"/>
              </a:ext>
            </a:extLst>
          </p:cNvPr>
          <p:cNvSpPr txBox="1"/>
          <p:nvPr/>
        </p:nvSpPr>
        <p:spPr>
          <a:xfrm>
            <a:off x="7750813" y="4437534"/>
            <a:ext cx="93345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… </a:t>
            </a:r>
            <a:endParaRPr lang="zh-CN" altLang="en-US" dirty="0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B1EDA8D-9B4A-4375-9890-6D1E69FCE79B}"/>
              </a:ext>
            </a:extLst>
          </p:cNvPr>
          <p:cNvCxnSpPr>
            <a:stCxn id="59" idx="3"/>
            <a:endCxn id="60" idx="1"/>
          </p:cNvCxnSpPr>
          <p:nvPr/>
        </p:nvCxnSpPr>
        <p:spPr>
          <a:xfrm>
            <a:off x="1210180" y="4634590"/>
            <a:ext cx="759887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498E89F1-84B2-4E14-B5F9-C3D7DACDB6BA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903517" y="4634590"/>
            <a:ext cx="762000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BE640C5-701F-4C13-8EA5-D0960FA7A336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4598967" y="4634590"/>
            <a:ext cx="759888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B297310-BB12-4CC7-9755-CEC53FA567DE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6292305" y="4634590"/>
            <a:ext cx="757776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86">
            <a:extLst>
              <a:ext uri="{FF2B5EF4-FFF2-40B4-BE49-F238E27FC236}">
                <a16:creationId xmlns:a16="http://schemas.microsoft.com/office/drawing/2014/main" id="{93F50525-23EF-4C9B-8261-3176C062ABDD}"/>
              </a:ext>
            </a:extLst>
          </p:cNvPr>
          <p:cNvSpPr txBox="1"/>
          <p:nvPr/>
        </p:nvSpPr>
        <p:spPr>
          <a:xfrm>
            <a:off x="1123398" y="4620265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OP1</a:t>
            </a:r>
            <a:endParaRPr lang="zh-CN" altLang="en-US" dirty="0"/>
          </a:p>
        </p:txBody>
      </p:sp>
      <p:sp>
        <p:nvSpPr>
          <p:cNvPr id="70" name="文本框 87">
            <a:extLst>
              <a:ext uri="{FF2B5EF4-FFF2-40B4-BE49-F238E27FC236}">
                <a16:creationId xmlns:a16="http://schemas.microsoft.com/office/drawing/2014/main" id="{1B049D7D-9260-4D55-95DA-895361B3AA1B}"/>
              </a:ext>
            </a:extLst>
          </p:cNvPr>
          <p:cNvSpPr txBox="1"/>
          <p:nvPr/>
        </p:nvSpPr>
        <p:spPr>
          <a:xfrm>
            <a:off x="2814624" y="4614356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OP2</a:t>
            </a:r>
            <a:endParaRPr lang="zh-CN" altLang="en-US" dirty="0"/>
          </a:p>
        </p:txBody>
      </p:sp>
      <p:sp>
        <p:nvSpPr>
          <p:cNvPr id="71" name="文本框 88">
            <a:extLst>
              <a:ext uri="{FF2B5EF4-FFF2-40B4-BE49-F238E27FC236}">
                <a16:creationId xmlns:a16="http://schemas.microsoft.com/office/drawing/2014/main" id="{6680A3E5-FFCD-4BD6-ABCC-A14973009821}"/>
              </a:ext>
            </a:extLst>
          </p:cNvPr>
          <p:cNvSpPr txBox="1"/>
          <p:nvPr/>
        </p:nvSpPr>
        <p:spPr>
          <a:xfrm>
            <a:off x="4512186" y="4620265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OP3</a:t>
            </a:r>
            <a:endParaRPr lang="zh-CN" altLang="en-US" dirty="0"/>
          </a:p>
        </p:txBody>
      </p:sp>
      <p:sp>
        <p:nvSpPr>
          <p:cNvPr id="72" name="文本框 89">
            <a:extLst>
              <a:ext uri="{FF2B5EF4-FFF2-40B4-BE49-F238E27FC236}">
                <a16:creationId xmlns:a16="http://schemas.microsoft.com/office/drawing/2014/main" id="{C0BE7871-F05C-4A24-8708-EC1A14CB4DF3}"/>
              </a:ext>
            </a:extLst>
          </p:cNvPr>
          <p:cNvSpPr txBox="1"/>
          <p:nvPr/>
        </p:nvSpPr>
        <p:spPr>
          <a:xfrm>
            <a:off x="6194954" y="4628681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OP4</a:t>
            </a:r>
            <a:endParaRPr lang="zh-CN" altLang="en-US" dirty="0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4B95ED4-A9A2-4BBF-BB72-F305F0868B61}"/>
              </a:ext>
            </a:extLst>
          </p:cNvPr>
          <p:cNvSpPr/>
          <p:nvPr/>
        </p:nvSpPr>
        <p:spPr>
          <a:xfrm>
            <a:off x="9336092" y="4419724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4" name="文本框 56">
            <a:extLst>
              <a:ext uri="{FF2B5EF4-FFF2-40B4-BE49-F238E27FC236}">
                <a16:creationId xmlns:a16="http://schemas.microsoft.com/office/drawing/2014/main" id="{E1BE5BFB-5B81-4453-B0EE-A69C59A469F5}"/>
              </a:ext>
            </a:extLst>
          </p:cNvPr>
          <p:cNvSpPr txBox="1"/>
          <p:nvPr/>
        </p:nvSpPr>
        <p:spPr>
          <a:xfrm>
            <a:off x="9333980" y="4453099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S10000</a:t>
            </a:r>
            <a:endParaRPr lang="zh-CN" altLang="en-US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2B411D1D-B0B0-4D94-B913-8FE63ACF8923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8576204" y="4637765"/>
            <a:ext cx="757776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89">
            <a:extLst>
              <a:ext uri="{FF2B5EF4-FFF2-40B4-BE49-F238E27FC236}">
                <a16:creationId xmlns:a16="http://schemas.microsoft.com/office/drawing/2014/main" id="{ED685BF4-CCB5-451B-8764-219D22035C7A}"/>
              </a:ext>
            </a:extLst>
          </p:cNvPr>
          <p:cNvSpPr txBox="1"/>
          <p:nvPr/>
        </p:nvSpPr>
        <p:spPr>
          <a:xfrm>
            <a:off x="8339262" y="4656949"/>
            <a:ext cx="1070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OP10000</a:t>
            </a:r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712E278-0EB4-4369-9B9F-39BA70DF6FA8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9802817" y="4002997"/>
            <a:ext cx="0" cy="416727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1E67291-AF40-4573-8AAC-6FDFA96F20DE}"/>
              </a:ext>
            </a:extLst>
          </p:cNvPr>
          <p:cNvSpPr/>
          <p:nvPr/>
        </p:nvSpPr>
        <p:spPr>
          <a:xfrm>
            <a:off x="9110402" y="3506192"/>
            <a:ext cx="1380605" cy="469382"/>
          </a:xfrm>
          <a:prstGeom prst="roundRect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err="1">
                <a:latin typeface="Garamond" panose="02020404030301010803" pitchFamily="18" charset="0"/>
              </a:rPr>
              <a:t>SnapShot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CF99B8EB-7ED9-435E-AD7B-07C7CA77FDB9}"/>
              </a:ext>
            </a:extLst>
          </p:cNvPr>
          <p:cNvCxnSpPr>
            <a:cxnSpLocks/>
          </p:cNvCxnSpPr>
          <p:nvPr/>
        </p:nvCxnSpPr>
        <p:spPr>
          <a:xfrm>
            <a:off x="10288125" y="4651956"/>
            <a:ext cx="757776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89">
            <a:extLst>
              <a:ext uri="{FF2B5EF4-FFF2-40B4-BE49-F238E27FC236}">
                <a16:creationId xmlns:a16="http://schemas.microsoft.com/office/drawing/2014/main" id="{8630841C-C82C-490B-AFFC-BE1333F227A0}"/>
              </a:ext>
            </a:extLst>
          </p:cNvPr>
          <p:cNvSpPr txBox="1"/>
          <p:nvPr/>
        </p:nvSpPr>
        <p:spPr>
          <a:xfrm>
            <a:off x="10120145" y="4651956"/>
            <a:ext cx="1070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OP10001</a:t>
            </a:r>
            <a:endParaRPr lang="zh-CN" altLang="en-US" dirty="0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46C48176-AFD2-458F-ACDA-5797B5DF36C8}"/>
              </a:ext>
            </a:extLst>
          </p:cNvPr>
          <p:cNvSpPr/>
          <p:nvPr/>
        </p:nvSpPr>
        <p:spPr>
          <a:xfrm>
            <a:off x="11045901" y="4422258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S10001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D210E8F-2BF7-469D-AC37-5349713B1EAE}"/>
              </a:ext>
            </a:extLst>
          </p:cNvPr>
          <p:cNvSpPr txBox="1"/>
          <p:nvPr/>
        </p:nvSpPr>
        <p:spPr>
          <a:xfrm>
            <a:off x="457702" y="5346177"/>
            <a:ext cx="114104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-457200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InstallSnapshot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Follower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在落后很多日志的情况下，可以通过</a:t>
            </a:r>
            <a:r>
              <a:rPr lang="en-US" altLang="zh-CN" sz="22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InstallSnapshot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指令直接从最新的快照进行快速同步。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6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/>
      <p:bldP spid="60" grpId="0"/>
      <p:bldP spid="61" grpId="0"/>
      <p:bldP spid="62" grpId="0"/>
      <p:bldP spid="63" grpId="0"/>
      <p:bldP spid="64" grpId="0"/>
      <p:bldP spid="69" grpId="0"/>
      <p:bldP spid="70" grpId="0"/>
      <p:bldP spid="71" grpId="0"/>
      <p:bldP spid="72" grpId="0"/>
      <p:bldP spid="73" grpId="0" animBg="1"/>
      <p:bldP spid="74" grpId="0"/>
      <p:bldP spid="76" grpId="0"/>
      <p:bldP spid="78" grpId="0" animBg="1"/>
      <p:bldP spid="80" grpId="0"/>
      <p:bldP spid="81" grpId="0" animBg="1"/>
      <p:bldP spid="82" grpId="0"/>
    </p:bld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4423</TotalTime>
  <Words>2990</Words>
  <Application>Microsoft Office PowerPoint</Application>
  <PresentationFormat>宽屏</PresentationFormat>
  <Paragraphs>984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等线</vt:lpstr>
      <vt:lpstr>Microsoft YaHei</vt:lpstr>
      <vt:lpstr>Microsoft YaHei</vt:lpstr>
      <vt:lpstr>Arial</vt:lpstr>
      <vt:lpstr>Garamond</vt:lpstr>
      <vt:lpstr>Wingdings</vt:lpstr>
      <vt:lpstr>webwppDefTheme</vt:lpstr>
      <vt:lpstr>Office 主题​​</vt:lpstr>
      <vt:lpstr>第四章 分布式系统 ——RAFT共识机制（下）</vt:lpstr>
      <vt:lpstr>本章内容</vt:lpstr>
      <vt:lpstr>日志所处阶段</vt:lpstr>
      <vt:lpstr>任期（Term）与索引（Index）</vt:lpstr>
      <vt:lpstr>崩溃容错分析——Follower崩溃</vt:lpstr>
      <vt:lpstr>崩溃容错分析——Follower崩溃</vt:lpstr>
      <vt:lpstr>崩溃容错分析——Follower崩溃</vt:lpstr>
      <vt:lpstr>崩溃容错分析——Follower崩溃</vt:lpstr>
      <vt:lpstr>崩溃容错分析——Follower崩溃</vt:lpstr>
      <vt:lpstr>崩溃容错分析——Follower崩溃</vt:lpstr>
      <vt:lpstr>崩溃容错分析——Follower崩溃</vt:lpstr>
      <vt:lpstr>崩溃容错分析——Follower崩溃</vt:lpstr>
      <vt:lpstr>崩溃容错分析——Follower崩溃</vt:lpstr>
      <vt:lpstr>崩溃容错分析——Leader崩溃</vt:lpstr>
      <vt:lpstr>崩溃容错分析——Leader崩溃</vt:lpstr>
      <vt:lpstr>崩溃容错分析——Leader崩溃</vt:lpstr>
      <vt:lpstr>崩溃容错分析——Leader崩溃</vt:lpstr>
      <vt:lpstr>崩溃容错分析——Leader崩溃</vt:lpstr>
      <vt:lpstr>崩溃容错分析——Leader崩溃</vt:lpstr>
      <vt:lpstr>崩溃容错分析——Leader崩溃</vt:lpstr>
      <vt:lpstr>崩溃容错分析——Leader崩溃</vt:lpstr>
      <vt:lpstr>崩溃容错分析——Leader崩溃</vt:lpstr>
      <vt:lpstr>崩溃容错分析——Leader崩溃</vt:lpstr>
      <vt:lpstr>崩溃容错分析——Leader崩溃</vt:lpstr>
      <vt:lpstr>崩溃容错分析——Leader崩溃</vt:lpstr>
      <vt:lpstr>崩溃容错分析——Leader重新选举</vt:lpstr>
      <vt:lpstr>崩溃容错分析——Leader重新选举</vt:lpstr>
      <vt:lpstr>Leader重新选举——任期低</vt:lpstr>
      <vt:lpstr>Leader重新选举——日志索引低</vt:lpstr>
      <vt:lpstr>演示页面</vt:lpstr>
      <vt:lpstr>日志快速同步</vt:lpstr>
      <vt:lpstr>节点恢复</vt:lpstr>
      <vt:lpstr>快照Snapshot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比特币</dc:title>
  <dc:creator>Yong Cui</dc:creator>
  <cp:lastModifiedBy>h 侯璐</cp:lastModifiedBy>
  <cp:revision>1180</cp:revision>
  <dcterms:created xsi:type="dcterms:W3CDTF">2021-04-18T13:48:02Z</dcterms:created>
  <dcterms:modified xsi:type="dcterms:W3CDTF">2025-04-29T15:51:48Z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